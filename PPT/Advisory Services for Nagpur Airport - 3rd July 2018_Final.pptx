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2.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media/image3.bin" ContentType="image/jpeg"/>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 id="2147483818" r:id="rId6"/>
    <p:sldMasterId id="2147483865" r:id="rId7"/>
  </p:sldMasterIdLst>
  <p:notesMasterIdLst>
    <p:notesMasterId r:id="rId89"/>
  </p:notesMasterIdLst>
  <p:handoutMasterIdLst>
    <p:handoutMasterId r:id="rId90"/>
  </p:handoutMasterIdLst>
  <p:sldIdLst>
    <p:sldId id="358" r:id="rId8"/>
    <p:sldId id="452" r:id="rId9"/>
    <p:sldId id="479" r:id="rId10"/>
    <p:sldId id="439" r:id="rId11"/>
    <p:sldId id="493" r:id="rId12"/>
    <p:sldId id="494" r:id="rId13"/>
    <p:sldId id="495" r:id="rId14"/>
    <p:sldId id="496" r:id="rId15"/>
    <p:sldId id="505" r:id="rId16"/>
    <p:sldId id="547" r:id="rId17"/>
    <p:sldId id="500" r:id="rId18"/>
    <p:sldId id="506" r:id="rId19"/>
    <p:sldId id="507" r:id="rId20"/>
    <p:sldId id="509" r:id="rId21"/>
    <p:sldId id="508" r:id="rId22"/>
    <p:sldId id="513" r:id="rId23"/>
    <p:sldId id="628" r:id="rId24"/>
    <p:sldId id="514" r:id="rId25"/>
    <p:sldId id="629" r:id="rId26"/>
    <p:sldId id="630" r:id="rId27"/>
    <p:sldId id="518" r:id="rId28"/>
    <p:sldId id="515" r:id="rId29"/>
    <p:sldId id="521" r:id="rId30"/>
    <p:sldId id="631" r:id="rId31"/>
    <p:sldId id="632" r:id="rId32"/>
    <p:sldId id="635" r:id="rId33"/>
    <p:sldId id="634" r:id="rId34"/>
    <p:sldId id="522" r:id="rId35"/>
    <p:sldId id="525" r:id="rId36"/>
    <p:sldId id="530" r:id="rId37"/>
    <p:sldId id="526" r:id="rId38"/>
    <p:sldId id="527" r:id="rId39"/>
    <p:sldId id="528" r:id="rId40"/>
    <p:sldId id="535" r:id="rId41"/>
    <p:sldId id="646" r:id="rId42"/>
    <p:sldId id="537" r:id="rId43"/>
    <p:sldId id="536" r:id="rId44"/>
    <p:sldId id="538" r:id="rId45"/>
    <p:sldId id="548" r:id="rId46"/>
    <p:sldId id="549" r:id="rId47"/>
    <p:sldId id="649" r:id="rId48"/>
    <p:sldId id="650" r:id="rId49"/>
    <p:sldId id="616" r:id="rId50"/>
    <p:sldId id="620" r:id="rId51"/>
    <p:sldId id="617" r:id="rId52"/>
    <p:sldId id="651" r:id="rId53"/>
    <p:sldId id="619" r:id="rId54"/>
    <p:sldId id="618" r:id="rId55"/>
    <p:sldId id="558" r:id="rId56"/>
    <p:sldId id="559" r:id="rId57"/>
    <p:sldId id="642" r:id="rId58"/>
    <p:sldId id="560" r:id="rId59"/>
    <p:sldId id="563" r:id="rId60"/>
    <p:sldId id="637" r:id="rId61"/>
    <p:sldId id="639" r:id="rId62"/>
    <p:sldId id="640" r:id="rId63"/>
    <p:sldId id="645" r:id="rId64"/>
    <p:sldId id="644" r:id="rId65"/>
    <p:sldId id="641" r:id="rId66"/>
    <p:sldId id="564" r:id="rId67"/>
    <p:sldId id="565" r:id="rId68"/>
    <p:sldId id="636" r:id="rId69"/>
    <p:sldId id="652" r:id="rId70"/>
    <p:sldId id="643" r:id="rId71"/>
    <p:sldId id="578" r:id="rId72"/>
    <p:sldId id="627" r:id="rId73"/>
    <p:sldId id="624" r:id="rId74"/>
    <p:sldId id="648" r:id="rId75"/>
    <p:sldId id="574" r:id="rId76"/>
    <p:sldId id="575" r:id="rId77"/>
    <p:sldId id="584" r:id="rId78"/>
    <p:sldId id="589" r:id="rId79"/>
    <p:sldId id="590" r:id="rId80"/>
    <p:sldId id="591" r:id="rId81"/>
    <p:sldId id="592" r:id="rId82"/>
    <p:sldId id="647" r:id="rId83"/>
    <p:sldId id="593" r:id="rId84"/>
    <p:sldId id="594" r:id="rId85"/>
    <p:sldId id="595" r:id="rId86"/>
    <p:sldId id="599" r:id="rId87"/>
    <p:sldId id="600" r:id="rId88"/>
  </p:sldIdLst>
  <p:sldSz cx="10688638" cy="7562850"/>
  <p:notesSz cx="7315200" cy="9601200"/>
  <p:custDataLst>
    <p:tags r:id="rId91"/>
  </p:custDataLst>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269"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pta, Amit (IN - Delhi)" initials="GA(-D" lastIdx="18" clrIdx="1">
    <p:extLst>
      <p:ext uri="{19B8F6BF-5375-455C-9EA6-DF929625EA0E}">
        <p15:presenceInfo xmlns:p15="http://schemas.microsoft.com/office/powerpoint/2012/main" userId="S-1-5-21-776561741-1482476501-682003330-387957" providerId="AD"/>
      </p:ext>
    </p:extLst>
  </p:cmAuthor>
  <p:cmAuthor id="2" name="Gupta, Saurabh (IN - Delhi)" initials="GS(-D" lastIdx="16" clrIdx="2">
    <p:extLst>
      <p:ext uri="{19B8F6BF-5375-455C-9EA6-DF929625EA0E}">
        <p15:presenceInfo xmlns:p15="http://schemas.microsoft.com/office/powerpoint/2012/main" userId="S-1-5-21-776561741-1482476501-682003330-1109800" providerId="AD"/>
      </p:ext>
    </p:extLst>
  </p:cmAuthor>
  <p:cmAuthor id="3" name="Sood, Kartik (IN - Delhi)" initials="SK(-D" lastIdx="23" clrIdx="3">
    <p:extLst>
      <p:ext uri="{19B8F6BF-5375-455C-9EA6-DF929625EA0E}">
        <p15:presenceInfo xmlns:p15="http://schemas.microsoft.com/office/powerpoint/2012/main" userId="Sood, Kartik (IN - Delh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7F"/>
    <a:srgbClr val="012169"/>
    <a:srgbClr val="DB291C"/>
    <a:srgbClr val="000000"/>
    <a:srgbClr val="FFCD00"/>
    <a:srgbClr val="ED8B00"/>
    <a:srgbClr val="FF9900"/>
    <a:srgbClr val="C00000"/>
    <a:srgbClr val="3C8A2E"/>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7" autoAdjust="0"/>
    <p:restoredTop sz="95332" autoAdjust="0"/>
  </p:normalViewPr>
  <p:slideViewPr>
    <p:cSldViewPr snapToGrid="0" showGuides="1">
      <p:cViewPr varScale="1">
        <p:scale>
          <a:sx n="70" d="100"/>
          <a:sy n="70" d="100"/>
        </p:scale>
        <p:origin x="1570" y="58"/>
      </p:cViewPr>
      <p:guideLst>
        <p:guide/>
        <p:guide orient="horz" pos="2269"/>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notesMaster" Target="notesMasters/notesMaster1.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5" Type="http://schemas.openxmlformats.org/officeDocument/2006/relationships/slideMaster" Target="slideMasters/slideMaster1.xml"/><Relationship Id="rId90" Type="http://schemas.openxmlformats.org/officeDocument/2006/relationships/handoutMaster" Target="handoutMasters/handoutMaster1.xml"/><Relationship Id="rId95" Type="http://schemas.openxmlformats.org/officeDocument/2006/relationships/theme" Target="theme/theme1.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slide" Target="slides/slide73.xml"/><Relationship Id="rId85" Type="http://schemas.openxmlformats.org/officeDocument/2006/relationships/slide" Target="slides/slide78.xml"/><Relationship Id="rId9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tags" Target="tags/tag1.xml"/><Relationship Id="rId96" Type="http://schemas.openxmlformats.org/officeDocument/2006/relationships/tableStyles" Target="tableStyles.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3.xml"/><Relationship Id="rId71" Type="http://schemas.openxmlformats.org/officeDocument/2006/relationships/slide" Target="slides/slide64.xml"/><Relationship Id="rId92"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mbarind\Desktop\Nagpur%20Airport%20-%20Essel%20Infra\Scope%20-%20Checklis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Passenger Traffic and Freight</a:t>
            </a:r>
            <a:r>
              <a:rPr lang="en-IN" baseline="0" dirty="0"/>
              <a:t> Data</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758886425455775"/>
          <c:y val="0.19070258848388802"/>
          <c:w val="0.74413786425166717"/>
          <c:h val="0.57723440275195392"/>
        </c:manualLayout>
      </c:layout>
      <c:barChart>
        <c:barDir val="col"/>
        <c:grouping val="clustered"/>
        <c:varyColors val="0"/>
        <c:ser>
          <c:idx val="0"/>
          <c:order val="0"/>
          <c:tx>
            <c:strRef>
              <c:f>Sheet2!$B$2</c:f>
              <c:strCache>
                <c:ptCount val="1"/>
                <c:pt idx="0">
                  <c:v>Passenger Traffic (in Lakh)</c:v>
                </c:pt>
              </c:strCache>
            </c:strRef>
          </c:tx>
          <c:spPr>
            <a:solidFill>
              <a:schemeClr val="accent2"/>
            </a:solidFill>
            <a:ln>
              <a:noFill/>
            </a:ln>
            <a:effectLst/>
          </c:spPr>
          <c:invertIfNegative val="0"/>
          <c:cat>
            <c:strRef>
              <c:f>Sheet2!$A$3:$A$8</c:f>
              <c:strCache>
                <c:ptCount val="6"/>
                <c:pt idx="0">
                  <c:v>2010-11</c:v>
                </c:pt>
                <c:pt idx="1">
                  <c:v>2011-12</c:v>
                </c:pt>
                <c:pt idx="2">
                  <c:v>2012-13</c:v>
                </c:pt>
                <c:pt idx="3">
                  <c:v>2013-14</c:v>
                </c:pt>
                <c:pt idx="4">
                  <c:v>2014-15</c:v>
                </c:pt>
                <c:pt idx="5">
                  <c:v>2015-16</c:v>
                </c:pt>
              </c:strCache>
            </c:strRef>
          </c:cat>
          <c:val>
            <c:numRef>
              <c:f>Sheet2!$B$3:$B$8</c:f>
              <c:numCache>
                <c:formatCode>General</c:formatCode>
                <c:ptCount val="6"/>
                <c:pt idx="0">
                  <c:v>1236732</c:v>
                </c:pt>
                <c:pt idx="1">
                  <c:v>1415739</c:v>
                </c:pt>
                <c:pt idx="2">
                  <c:v>1262921</c:v>
                </c:pt>
                <c:pt idx="3">
                  <c:v>1263837</c:v>
                </c:pt>
                <c:pt idx="4">
                  <c:v>1401147</c:v>
                </c:pt>
                <c:pt idx="5">
                  <c:v>1595241</c:v>
                </c:pt>
              </c:numCache>
            </c:numRef>
          </c:val>
          <c:extLst>
            <c:ext xmlns:c16="http://schemas.microsoft.com/office/drawing/2014/chart" uri="{C3380CC4-5D6E-409C-BE32-E72D297353CC}">
              <c16:uniqueId val="{00000000-503B-4957-9EDE-53451B73590E}"/>
            </c:ext>
          </c:extLst>
        </c:ser>
        <c:dLbls>
          <c:showLegendKey val="0"/>
          <c:showVal val="0"/>
          <c:showCatName val="0"/>
          <c:showSerName val="0"/>
          <c:showPercent val="0"/>
          <c:showBubbleSize val="0"/>
        </c:dLbls>
        <c:gapWidth val="219"/>
        <c:axId val="408132280"/>
        <c:axId val="408127032"/>
      </c:barChart>
      <c:lineChart>
        <c:grouping val="standard"/>
        <c:varyColors val="0"/>
        <c:ser>
          <c:idx val="1"/>
          <c:order val="1"/>
          <c:tx>
            <c:strRef>
              <c:f>Sheet2!$C$2</c:f>
              <c:strCache>
                <c:ptCount val="1"/>
                <c:pt idx="0">
                  <c:v>Freight Traffic (in Tonnes)</c:v>
                </c:pt>
              </c:strCache>
            </c:strRef>
          </c:tx>
          <c:spPr>
            <a:ln w="28575" cap="rnd">
              <a:solidFill>
                <a:srgbClr val="012169"/>
              </a:solidFill>
              <a:round/>
            </a:ln>
            <a:effectLst/>
          </c:spPr>
          <c:marker>
            <c:symbol val="none"/>
          </c:marker>
          <c:cat>
            <c:strRef>
              <c:f>Sheet2!$A$3:$A$8</c:f>
              <c:strCache>
                <c:ptCount val="6"/>
                <c:pt idx="0">
                  <c:v>2010-11</c:v>
                </c:pt>
                <c:pt idx="1">
                  <c:v>2011-12</c:v>
                </c:pt>
                <c:pt idx="2">
                  <c:v>2012-13</c:v>
                </c:pt>
                <c:pt idx="3">
                  <c:v>2013-14</c:v>
                </c:pt>
                <c:pt idx="4">
                  <c:v>2014-15</c:v>
                </c:pt>
                <c:pt idx="5">
                  <c:v>2015-16</c:v>
                </c:pt>
              </c:strCache>
            </c:strRef>
          </c:cat>
          <c:val>
            <c:numRef>
              <c:f>Sheet2!$C$3:$C$8</c:f>
              <c:numCache>
                <c:formatCode>General</c:formatCode>
                <c:ptCount val="6"/>
                <c:pt idx="0">
                  <c:v>9491</c:v>
                </c:pt>
                <c:pt idx="1">
                  <c:v>4976</c:v>
                </c:pt>
                <c:pt idx="2">
                  <c:v>5206</c:v>
                </c:pt>
                <c:pt idx="3">
                  <c:v>5524</c:v>
                </c:pt>
                <c:pt idx="4">
                  <c:v>6063</c:v>
                </c:pt>
                <c:pt idx="5">
                  <c:v>6391</c:v>
                </c:pt>
              </c:numCache>
            </c:numRef>
          </c:val>
          <c:smooth val="0"/>
          <c:extLst>
            <c:ext xmlns:c16="http://schemas.microsoft.com/office/drawing/2014/chart" uri="{C3380CC4-5D6E-409C-BE32-E72D297353CC}">
              <c16:uniqueId val="{00000001-503B-4957-9EDE-53451B73590E}"/>
            </c:ext>
          </c:extLst>
        </c:ser>
        <c:dLbls>
          <c:showLegendKey val="0"/>
          <c:showVal val="0"/>
          <c:showCatName val="0"/>
          <c:showSerName val="0"/>
          <c:showPercent val="0"/>
          <c:showBubbleSize val="0"/>
        </c:dLbls>
        <c:marker val="1"/>
        <c:smooth val="0"/>
        <c:axId val="419320720"/>
        <c:axId val="419319736"/>
      </c:lineChart>
      <c:catAx>
        <c:axId val="408132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8127032"/>
        <c:crosses val="autoZero"/>
        <c:auto val="1"/>
        <c:lblAlgn val="ctr"/>
        <c:lblOffset val="100"/>
        <c:noMultiLvlLbl val="0"/>
      </c:catAx>
      <c:valAx>
        <c:axId val="4081270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8132280"/>
        <c:crosses val="autoZero"/>
        <c:crossBetween val="between"/>
        <c:dispUnits>
          <c:builtInUnit val="hundredThousands"/>
        </c:dispUnits>
      </c:valAx>
      <c:valAx>
        <c:axId val="419319736"/>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9320720"/>
        <c:crosses val="max"/>
        <c:crossBetween val="between"/>
      </c:valAx>
      <c:catAx>
        <c:axId val="419320720"/>
        <c:scaling>
          <c:orientation val="minMax"/>
        </c:scaling>
        <c:delete val="1"/>
        <c:axPos val="b"/>
        <c:numFmt formatCode="General" sourceLinked="1"/>
        <c:majorTickMark val="out"/>
        <c:minorTickMark val="none"/>
        <c:tickLblPos val="nextTo"/>
        <c:crossAx val="41931973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w="19050">
      <a:solidFill>
        <a:schemeClr val="accent4"/>
      </a:solid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369377895849744E-2"/>
          <c:y val="5.9094864950354681E-2"/>
          <c:w val="0.88750825888110507"/>
          <c:h val="0.73806658190708097"/>
        </c:manualLayout>
      </c:layout>
      <c:barChart>
        <c:barDir val="bar"/>
        <c:grouping val="stacked"/>
        <c:varyColors val="0"/>
        <c:ser>
          <c:idx val="0"/>
          <c:order val="0"/>
          <c:tx>
            <c:strRef>
              <c:f>Sheet1!$B$1</c:f>
              <c:strCache>
                <c:ptCount val="1"/>
                <c:pt idx="0">
                  <c:v>Invisible</c:v>
                </c:pt>
              </c:strCache>
            </c:strRef>
          </c:tx>
          <c:spPr>
            <a:noFill/>
            <a:ln>
              <a:noFill/>
            </a:ln>
          </c:spPr>
          <c:invertIfNegative val="0"/>
          <c:dLbls>
            <c:delete val="1"/>
          </c:dLbls>
          <c:cat>
            <c:strRef>
              <c:f>Sheet1!$A$2:$A$7</c:f>
              <c:strCache>
                <c:ptCount val="6"/>
                <c:pt idx="0">
                  <c:v>Tax Free Bonds</c:v>
                </c:pt>
                <c:pt idx="1">
                  <c:v>FI /LIC</c:v>
                </c:pt>
                <c:pt idx="2">
                  <c:v>ECB</c:v>
                </c:pt>
                <c:pt idx="3">
                  <c:v>Masala Bond</c:v>
                </c:pt>
                <c:pt idx="4">
                  <c:v>Corporate Bonds</c:v>
                </c:pt>
                <c:pt idx="5">
                  <c:v>Term Loan</c:v>
                </c:pt>
              </c:strCache>
            </c:strRef>
          </c:cat>
          <c:val>
            <c:numRef>
              <c:f>Sheet1!$B$2:$B$7</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0-FA68-4427-905C-F36CAF3E885C}"/>
            </c:ext>
          </c:extLst>
        </c:ser>
        <c:ser>
          <c:idx val="1"/>
          <c:order val="1"/>
          <c:tx>
            <c:strRef>
              <c:f>Sheet1!$C$1</c:f>
              <c:strCache>
                <c:ptCount val="1"/>
                <c:pt idx="0">
                  <c:v>Visible</c:v>
                </c:pt>
              </c:strCache>
            </c:strRef>
          </c:tx>
          <c:spPr>
            <a:solidFill>
              <a:schemeClr val="accent5"/>
            </a:solidFill>
            <a:ln w="12700">
              <a:noFill/>
            </a:ln>
          </c:spPr>
          <c:invertIfNegative val="0"/>
          <c:dLbls>
            <c:dLbl>
              <c:idx val="0"/>
              <c:layout>
                <c:manualLayout>
                  <c:x val="0.16066484955373833"/>
                  <c:y val="-2.893509131278752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A68-4427-905C-F36CAF3E885C}"/>
                </c:ext>
              </c:extLst>
            </c:dLbl>
            <c:dLbl>
              <c:idx val="1"/>
              <c:layout>
                <c:manualLayout>
                  <c:x val="7.6481761575162441E-2"/>
                  <c:y val="-1.1444787698564386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A68-4427-905C-F36CAF3E885C}"/>
                </c:ext>
              </c:extLst>
            </c:dLbl>
            <c:dLbl>
              <c:idx val="2"/>
              <c:layout>
                <c:manualLayout>
                  <c:x val="6.4009940676607285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A68-4427-905C-F36CAF3E885C}"/>
                </c:ext>
              </c:extLst>
            </c:dLbl>
            <c:dLbl>
              <c:idx val="3"/>
              <c:layout>
                <c:manualLayout>
                  <c:x val="1.3792154347709903E-2"/>
                  <c:y val="2.3700083710966055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A68-4427-905C-F36CAF3E885C}"/>
                </c:ext>
              </c:extLst>
            </c:dLbl>
            <c:dLbl>
              <c:idx val="4"/>
              <c:layout>
                <c:manualLayout>
                  <c:x val="0.15716396771952326"/>
                  <c:y val="3.121342560710084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A68-4427-905C-F36CAF3E885C}"/>
                </c:ext>
              </c:extLst>
            </c:dLbl>
            <c:numFmt formatCode="#,##0.0" sourceLinked="0"/>
            <c:spPr>
              <a:noFill/>
              <a:ln>
                <a:noFill/>
              </a:ln>
              <a:effectLst/>
            </c:spPr>
            <c:txPr>
              <a:bodyPr/>
              <a:lstStyle/>
              <a:p>
                <a:pPr>
                  <a:defRPr sz="900" b="0">
                    <a:solidFill>
                      <a:schemeClr val="bg1"/>
                    </a:solidFil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Tax Free Bonds</c:v>
                </c:pt>
                <c:pt idx="1">
                  <c:v>FI /LIC</c:v>
                </c:pt>
                <c:pt idx="2">
                  <c:v>ECB</c:v>
                </c:pt>
                <c:pt idx="3">
                  <c:v>Masala Bond</c:v>
                </c:pt>
                <c:pt idx="4">
                  <c:v>Corporate Bonds</c:v>
                </c:pt>
                <c:pt idx="5">
                  <c:v>Term Loan</c:v>
                </c:pt>
              </c:strCache>
            </c:strRef>
          </c:cat>
          <c:val>
            <c:numRef>
              <c:f>Sheet1!$C$2:$C$7</c:f>
              <c:numCache>
                <c:formatCode>General</c:formatCode>
                <c:ptCount val="6"/>
                <c:pt idx="0">
                  <c:v>20</c:v>
                </c:pt>
                <c:pt idx="1">
                  <c:v>30</c:v>
                </c:pt>
                <c:pt idx="2">
                  <c:v>10</c:v>
                </c:pt>
                <c:pt idx="3">
                  <c:v>5</c:v>
                </c:pt>
                <c:pt idx="4">
                  <c:v>20</c:v>
                </c:pt>
                <c:pt idx="5">
                  <c:v>10</c:v>
                </c:pt>
              </c:numCache>
            </c:numRef>
          </c:val>
          <c:extLst>
            <c:ext xmlns:c16="http://schemas.microsoft.com/office/drawing/2014/chart" uri="{C3380CC4-5D6E-409C-BE32-E72D297353CC}">
              <c16:uniqueId val="{00000006-FA68-4427-905C-F36CAF3E885C}"/>
            </c:ext>
          </c:extLst>
        </c:ser>
        <c:dLbls>
          <c:showLegendKey val="0"/>
          <c:showVal val="1"/>
          <c:showCatName val="0"/>
          <c:showSerName val="0"/>
          <c:showPercent val="0"/>
          <c:showBubbleSize val="0"/>
        </c:dLbls>
        <c:gapWidth val="100"/>
        <c:overlap val="100"/>
        <c:axId val="448832784"/>
        <c:axId val="448838664"/>
      </c:barChart>
      <c:catAx>
        <c:axId val="448832784"/>
        <c:scaling>
          <c:orientation val="minMax"/>
        </c:scaling>
        <c:delete val="0"/>
        <c:axPos val="l"/>
        <c:numFmt formatCode="General" sourceLinked="0"/>
        <c:majorTickMark val="none"/>
        <c:minorTickMark val="none"/>
        <c:tickLblPos val="nextTo"/>
        <c:spPr>
          <a:ln w="6350">
            <a:solidFill>
              <a:srgbClr val="BBBCBC"/>
            </a:solidFill>
          </a:ln>
        </c:spPr>
        <c:txPr>
          <a:bodyPr/>
          <a:lstStyle/>
          <a:p>
            <a:pPr>
              <a:defRPr sz="900">
                <a:solidFill>
                  <a:schemeClr val="tx1"/>
                </a:solidFill>
              </a:defRPr>
            </a:pPr>
            <a:endParaRPr lang="en-US"/>
          </a:p>
        </c:txPr>
        <c:crossAx val="448838664"/>
        <c:crosses val="autoZero"/>
        <c:auto val="1"/>
        <c:lblAlgn val="ctr"/>
        <c:lblOffset val="100"/>
        <c:noMultiLvlLbl val="0"/>
      </c:catAx>
      <c:valAx>
        <c:axId val="448838664"/>
        <c:scaling>
          <c:orientation val="minMax"/>
          <c:max val="30"/>
        </c:scaling>
        <c:delete val="0"/>
        <c:axPos val="b"/>
        <c:majorGridlines>
          <c:spPr>
            <a:ln w="6350">
              <a:solidFill>
                <a:srgbClr val="BBBCBC"/>
              </a:solidFill>
            </a:ln>
          </c:spPr>
        </c:majorGridlines>
        <c:title>
          <c:tx>
            <c:rich>
              <a:bodyPr/>
              <a:lstStyle/>
              <a:p>
                <a:pPr>
                  <a:defRPr/>
                </a:pPr>
                <a:r>
                  <a:rPr lang="en-US" dirty="0"/>
                  <a:t>Tenure</a:t>
                </a:r>
                <a:endParaRPr lang="en-IN" dirty="0"/>
              </a:p>
            </c:rich>
          </c:tx>
          <c:layout>
            <c:manualLayout>
              <c:xMode val="edge"/>
              <c:yMode val="edge"/>
              <c:x val="0.44683181016514351"/>
              <c:y val="0.85677950833231897"/>
            </c:manualLayout>
          </c:layout>
          <c:overlay val="0"/>
        </c:title>
        <c:numFmt formatCode="General" sourceLinked="1"/>
        <c:majorTickMark val="none"/>
        <c:minorTickMark val="none"/>
        <c:tickLblPos val="nextTo"/>
        <c:spPr>
          <a:ln>
            <a:noFill/>
          </a:ln>
        </c:spPr>
        <c:txPr>
          <a:bodyPr/>
          <a:lstStyle/>
          <a:p>
            <a:pPr>
              <a:defRPr sz="900">
                <a:solidFill>
                  <a:schemeClr val="tx1"/>
                </a:solidFill>
              </a:defRPr>
            </a:pPr>
            <a:endParaRPr lang="en-US"/>
          </a:p>
        </c:txPr>
        <c:crossAx val="448832784"/>
        <c:crosses val="autoZero"/>
        <c:crossBetween val="between"/>
        <c:majorUnit val="10"/>
      </c:valAx>
    </c:plotArea>
    <c:plotVisOnly val="1"/>
    <c:dispBlanksAs val="gap"/>
    <c:showDLblsOverMax val="0"/>
  </c:chart>
  <c:txPr>
    <a:bodyPr/>
    <a:lstStyle/>
    <a:p>
      <a:pPr>
        <a:defRPr sz="12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9/24/2022</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9/24/2022</a:t>
            </a:fld>
            <a:endParaRPr lang="en-US" dirty="0"/>
          </a:p>
        </p:txBody>
      </p:sp>
      <p:sp>
        <p:nvSpPr>
          <p:cNvPr id="4" name="Slide Image Placeholder 3"/>
          <p:cNvSpPr>
            <a:spLocks noGrp="1" noRot="1" noChangeAspect="1"/>
          </p:cNvSpPr>
          <p:nvPr>
            <p:ph type="sldImg" idx="2"/>
          </p:nvPr>
        </p:nvSpPr>
        <p:spPr>
          <a:xfrm>
            <a:off x="1116013" y="720725"/>
            <a:ext cx="508317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042873" rtl="0" eaLnBrk="1" latinLnBrk="0" hangingPunct="1">
      <a:defRPr sz="1369" kern="1200">
        <a:solidFill>
          <a:schemeClr val="tx1"/>
        </a:solidFill>
        <a:latin typeface="Arial" panose="020B0604020202020204" pitchFamily="34" charset="0"/>
        <a:ea typeface="+mn-ea"/>
        <a:cs typeface="+mn-cs"/>
      </a:defRPr>
    </a:lvl1pPr>
    <a:lvl2pPr marL="521437" algn="l" defTabSz="1042873" rtl="0" eaLnBrk="1" latinLnBrk="0" hangingPunct="1">
      <a:defRPr sz="1369" kern="1200">
        <a:solidFill>
          <a:schemeClr val="tx1"/>
        </a:solidFill>
        <a:latin typeface="Arial" panose="020B0604020202020204" pitchFamily="34" charset="0"/>
        <a:ea typeface="+mn-ea"/>
        <a:cs typeface="+mn-cs"/>
      </a:defRPr>
    </a:lvl2pPr>
    <a:lvl3pPr marL="1042873" algn="l" defTabSz="1042873" rtl="0" eaLnBrk="1" latinLnBrk="0" hangingPunct="1">
      <a:defRPr sz="1369" kern="1200">
        <a:solidFill>
          <a:schemeClr val="tx1"/>
        </a:solidFill>
        <a:latin typeface="Arial" panose="020B0604020202020204" pitchFamily="34" charset="0"/>
        <a:ea typeface="+mn-ea"/>
        <a:cs typeface="+mn-cs"/>
      </a:defRPr>
    </a:lvl3pPr>
    <a:lvl4pPr marL="1564310" algn="l" defTabSz="1042873" rtl="0" eaLnBrk="1" latinLnBrk="0" hangingPunct="1">
      <a:defRPr sz="1369" kern="1200">
        <a:solidFill>
          <a:schemeClr val="tx1"/>
        </a:solidFill>
        <a:latin typeface="Arial" panose="020B0604020202020204" pitchFamily="34" charset="0"/>
        <a:ea typeface="+mn-ea"/>
        <a:cs typeface="+mn-cs"/>
      </a:defRPr>
    </a:lvl4pPr>
    <a:lvl5pPr marL="2085746" algn="l" defTabSz="1042873" rtl="0" eaLnBrk="1" latinLnBrk="0" hangingPunct="1">
      <a:defRPr sz="1369" kern="1200">
        <a:solidFill>
          <a:schemeClr val="tx1"/>
        </a:solidFill>
        <a:latin typeface="Arial" panose="020B0604020202020204" pitchFamily="34" charset="0"/>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www.gvk.com/investorrelations/financialinformation/financialannualreports.aspx" TargetMode="External"/><Relationship Id="rId13" Type="http://schemas.openxmlformats.org/officeDocument/2006/relationships/hyperlink" Target="http://tril.co.in/infrastructure" TargetMode="External"/><Relationship Id="rId3" Type="http://schemas.openxmlformats.org/officeDocument/2006/relationships/hyperlink" Target="http://www.gmrgroup.in/airports.aspx" TargetMode="External"/><Relationship Id="rId7" Type="http://schemas.openxmlformats.org/officeDocument/2006/relationships/hyperlink" Target="http://investor.gmrgroup.in/Investors/quarterly-results.html" TargetMode="External"/><Relationship Id="rId12" Type="http://schemas.openxmlformats.org/officeDocument/2006/relationships/hyperlink" Target="http://tril.co.in/profile" TargetMode="External"/><Relationship Id="rId17" Type="http://schemas.openxmlformats.org/officeDocument/2006/relationships/hyperlink" Target="http://www.pncinfratech.com/activities.html#presence" TargetMode="External"/><Relationship Id="rId2" Type="http://schemas.openxmlformats.org/officeDocument/2006/relationships/slide" Target="../slides/slide13.xml"/><Relationship Id="rId16" Type="http://schemas.openxmlformats.org/officeDocument/2006/relationships/hyperlink" Target="http://www.pncinfratech.com/financials.html" TargetMode="External"/><Relationship Id="rId1" Type="http://schemas.openxmlformats.org/officeDocument/2006/relationships/notesMaster" Target="../notesMasters/notesMaster1.xml"/><Relationship Id="rId6" Type="http://schemas.openxmlformats.org/officeDocument/2006/relationships/hyperlink" Target="http://investor.gmrgroup.in/Investors/annual-report.html" TargetMode="External"/><Relationship Id="rId11" Type="http://schemas.openxmlformats.org/officeDocument/2006/relationships/hyperlink" Target="https://www.gvk.com/aboutus/our-presence.aspx" TargetMode="External"/><Relationship Id="rId5" Type="http://schemas.openxmlformats.org/officeDocument/2006/relationships/hyperlink" Target="http://www.gmrgroup.in/about-us-our-presence.aspx" TargetMode="External"/><Relationship Id="rId15" Type="http://schemas.openxmlformats.org/officeDocument/2006/relationships/hyperlink" Target="http://www.pncinfratech.com/highway-constructions.html" TargetMode="External"/><Relationship Id="rId10" Type="http://schemas.openxmlformats.org/officeDocument/2006/relationships/hyperlink" Target="https://www.gvk.com/ourbusiness/transportation/transportation.aspx" TargetMode="External"/><Relationship Id="rId4" Type="http://schemas.openxmlformats.org/officeDocument/2006/relationships/hyperlink" Target="http://www.gmrgroup.in/Transportation.aspx" TargetMode="External"/><Relationship Id="rId9" Type="http://schemas.openxmlformats.org/officeDocument/2006/relationships/hyperlink" Target="https://www.gvk.com/ourbusiness/airports/airport.aspx" TargetMode="External"/><Relationship Id="rId14" Type="http://schemas.openxmlformats.org/officeDocument/2006/relationships/hyperlink" Target="http://tril.co.in/airport"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55032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916511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42873" rtl="0" eaLnBrk="1" fontAlgn="auto" latinLnBrk="0" hangingPunct="1">
              <a:lnSpc>
                <a:spcPct val="100000"/>
              </a:lnSpc>
              <a:spcBef>
                <a:spcPts val="0"/>
              </a:spcBef>
              <a:spcAft>
                <a:spcPts val="0"/>
              </a:spcAft>
              <a:buClrTx/>
              <a:buSzTx/>
              <a:buFontTx/>
              <a:buNone/>
              <a:tabLst/>
              <a:defRPr/>
            </a:pPr>
            <a:r>
              <a:rPr lang="en-IN" dirty="0"/>
              <a:t>https://madc.maharashtra.gov.in/index.php/information/mihan_airport</a:t>
            </a:r>
          </a:p>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5</a:t>
            </a:fld>
            <a:endParaRPr lang="en-US" dirty="0"/>
          </a:p>
        </p:txBody>
      </p:sp>
    </p:spTree>
    <p:extLst>
      <p:ext uri="{BB962C8B-B14F-4D97-AF65-F5344CB8AC3E}">
        <p14:creationId xmlns:p14="http://schemas.microsoft.com/office/powerpoint/2010/main" val="2794009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42873" rtl="0" eaLnBrk="1" fontAlgn="auto" latinLnBrk="0" hangingPunct="1">
              <a:lnSpc>
                <a:spcPct val="100000"/>
              </a:lnSpc>
              <a:spcBef>
                <a:spcPts val="0"/>
              </a:spcBef>
              <a:spcAft>
                <a:spcPts val="0"/>
              </a:spcAft>
              <a:buClrTx/>
              <a:buSzTx/>
              <a:buFontTx/>
              <a:buNone/>
              <a:tabLst/>
              <a:defRPr/>
            </a:pPr>
            <a:r>
              <a:rPr lang="en-IN" dirty="0"/>
              <a:t>http://www.esselinfraprojects.com/aboutus</a:t>
            </a:r>
          </a:p>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6</a:t>
            </a:fld>
            <a:endParaRPr lang="en-US" dirty="0"/>
          </a:p>
        </p:txBody>
      </p:sp>
    </p:spTree>
    <p:extLst>
      <p:ext uri="{BB962C8B-B14F-4D97-AF65-F5344CB8AC3E}">
        <p14:creationId xmlns:p14="http://schemas.microsoft.com/office/powerpoint/2010/main" val="3187246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https://madc.maharashtra.gov.in/documents/corrigendum/pim_new.pdf</a:t>
            </a:r>
          </a:p>
          <a:p>
            <a:r>
              <a:rPr lang="en-US" dirty="0"/>
              <a:t>http://mihanindia.in/airlines</a:t>
            </a:r>
          </a:p>
          <a:p>
            <a:r>
              <a:rPr lang="en-US" dirty="0"/>
              <a:t>https://madc.maharashtra.gov.in/index.php/information/nagpur_generalinfo</a:t>
            </a:r>
          </a:p>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11</a:t>
            </a:fld>
            <a:endParaRPr lang="en-US" dirty="0"/>
          </a:p>
        </p:txBody>
      </p:sp>
    </p:spTree>
    <p:extLst>
      <p:ext uri="{BB962C8B-B14F-4D97-AF65-F5344CB8AC3E}">
        <p14:creationId xmlns:p14="http://schemas.microsoft.com/office/powerpoint/2010/main" val="2863346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https://madc.maharashtra.gov.in/documents/corrigendum/pim_new.pdf</a:t>
            </a:r>
          </a:p>
        </p:txBody>
      </p:sp>
      <p:sp>
        <p:nvSpPr>
          <p:cNvPr id="4" name="Slide Number Placeholder 3"/>
          <p:cNvSpPr>
            <a:spLocks noGrp="1"/>
          </p:cNvSpPr>
          <p:nvPr>
            <p:ph type="sldNum" sz="quarter" idx="10"/>
          </p:nvPr>
        </p:nvSpPr>
        <p:spPr/>
        <p:txBody>
          <a:bodyPr/>
          <a:lstStyle/>
          <a:p>
            <a:fld id="{C0F4A2C8-6C88-4E71-83EE-698B9D4FE22F}" type="slidenum">
              <a:rPr lang="en-US" smtClean="0"/>
              <a:pPr/>
              <a:t>12</a:t>
            </a:fld>
            <a:endParaRPr lang="en-US" dirty="0"/>
          </a:p>
        </p:txBody>
      </p:sp>
    </p:spTree>
    <p:extLst>
      <p:ext uri="{BB962C8B-B14F-4D97-AF65-F5344CB8AC3E}">
        <p14:creationId xmlns:p14="http://schemas.microsoft.com/office/powerpoint/2010/main" val="3574533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hlinkClick r:id="rId3"/>
              </a:rPr>
              <a:t>http://www.gmrgroup.in/airports.aspx</a:t>
            </a:r>
            <a:endParaRPr lang="en-US" dirty="0"/>
          </a:p>
          <a:p>
            <a:pPr marL="285750" indent="-285750">
              <a:buFont typeface="Arial" panose="020B0604020202020204" pitchFamily="34" charset="0"/>
              <a:buChar char="•"/>
            </a:pPr>
            <a:r>
              <a:rPr lang="en-US" dirty="0">
                <a:hlinkClick r:id="rId4"/>
              </a:rPr>
              <a:t>http://www.gmrgroup.in/Transportation.aspx</a:t>
            </a:r>
            <a:endParaRPr lang="en-US" dirty="0"/>
          </a:p>
          <a:p>
            <a:pPr marL="285750" indent="-285750">
              <a:buFont typeface="Arial" panose="020B0604020202020204" pitchFamily="34" charset="0"/>
              <a:buChar char="•"/>
            </a:pPr>
            <a:r>
              <a:rPr lang="en-US" dirty="0">
                <a:hlinkClick r:id="rId5"/>
              </a:rPr>
              <a:t>http://www.gmrgroup.in/about-us-our-presence.aspx</a:t>
            </a:r>
            <a:endParaRPr lang="en-US" dirty="0"/>
          </a:p>
          <a:p>
            <a:pPr marL="285750" indent="-285750">
              <a:buFont typeface="Arial" panose="020B0604020202020204" pitchFamily="34" charset="0"/>
              <a:buChar char="•"/>
            </a:pPr>
            <a:r>
              <a:rPr lang="en-US" dirty="0">
                <a:hlinkClick r:id="rId6"/>
              </a:rPr>
              <a:t>http://investor.gmrgroup.in/Investors/annual-report.html</a:t>
            </a:r>
            <a:endParaRPr lang="en-US" dirty="0"/>
          </a:p>
          <a:p>
            <a:pPr marL="285750" indent="-285750">
              <a:buFont typeface="Arial" panose="020B0604020202020204" pitchFamily="34" charset="0"/>
              <a:buChar char="•"/>
            </a:pPr>
            <a:r>
              <a:rPr lang="en-US" dirty="0">
                <a:hlinkClick r:id="rId7"/>
              </a:rPr>
              <a:t>http://investor.gmrgroup.in/Investors/quarterly-results.html</a:t>
            </a:r>
            <a:endParaRPr lang="en-US" dirty="0"/>
          </a:p>
          <a:p>
            <a:pPr marL="285750" indent="-285750">
              <a:buFont typeface="Arial" panose="020B0604020202020204" pitchFamily="34" charset="0"/>
              <a:buChar char="•"/>
            </a:pPr>
            <a:r>
              <a:rPr lang="en-US" dirty="0">
                <a:hlinkClick r:id="rId8"/>
              </a:rPr>
              <a:t>https://www.gvk.com/investorrelations/financialinformation/financialannualreports.aspx</a:t>
            </a:r>
            <a:endParaRPr lang="en-US" dirty="0"/>
          </a:p>
          <a:p>
            <a:pPr marL="285750" indent="-285750">
              <a:buFont typeface="Arial" panose="020B0604020202020204" pitchFamily="34" charset="0"/>
              <a:buChar char="•"/>
            </a:pPr>
            <a:r>
              <a:rPr lang="en-US" dirty="0">
                <a:hlinkClick r:id="rId9"/>
              </a:rPr>
              <a:t>https://www.gvk.com/ourbusiness/airports/airport.aspx</a:t>
            </a:r>
            <a:endParaRPr lang="en-US" dirty="0"/>
          </a:p>
          <a:p>
            <a:pPr marL="285750" indent="-285750">
              <a:buFont typeface="Arial" panose="020B0604020202020204" pitchFamily="34" charset="0"/>
              <a:buChar char="•"/>
            </a:pPr>
            <a:r>
              <a:rPr lang="en-US" dirty="0">
                <a:hlinkClick r:id="rId10"/>
              </a:rPr>
              <a:t>https://www.gvk.com/ourbusiness/transportation/transportation.aspx</a:t>
            </a:r>
            <a:endParaRPr lang="en-US" dirty="0"/>
          </a:p>
          <a:p>
            <a:pPr marL="285750" indent="-285750">
              <a:buFont typeface="Arial" panose="020B0604020202020204" pitchFamily="34" charset="0"/>
              <a:buChar char="•"/>
            </a:pPr>
            <a:r>
              <a:rPr lang="en-US" dirty="0">
                <a:hlinkClick r:id="rId11"/>
              </a:rPr>
              <a:t>https://www.gvk.com/aboutus/our-presence.aspx</a:t>
            </a:r>
            <a:endParaRPr lang="en-US" dirty="0"/>
          </a:p>
          <a:p>
            <a:pPr marL="285750" indent="-285750">
              <a:buFont typeface="Arial" panose="020B0604020202020204" pitchFamily="34" charset="0"/>
              <a:buChar char="•"/>
            </a:pPr>
            <a:r>
              <a:rPr lang="en-US" dirty="0">
                <a:hlinkClick r:id="rId12"/>
              </a:rPr>
              <a:t>http://tril.co.in/profile</a:t>
            </a:r>
            <a:endParaRPr lang="en-US" dirty="0"/>
          </a:p>
          <a:p>
            <a:pPr marL="285750" indent="-285750">
              <a:buFont typeface="Arial" panose="020B0604020202020204" pitchFamily="34" charset="0"/>
              <a:buChar char="•"/>
            </a:pPr>
            <a:r>
              <a:rPr lang="en-US" dirty="0">
                <a:hlinkClick r:id="rId13"/>
              </a:rPr>
              <a:t>http://tril.co.in/infrastructure</a:t>
            </a:r>
            <a:endParaRPr lang="en-US" dirty="0"/>
          </a:p>
          <a:p>
            <a:pPr marL="285750" indent="-285750">
              <a:buFont typeface="Arial" panose="020B0604020202020204" pitchFamily="34" charset="0"/>
              <a:buChar char="•"/>
            </a:pPr>
            <a:r>
              <a:rPr lang="en-US" dirty="0">
                <a:hlinkClick r:id="rId14"/>
              </a:rPr>
              <a:t>http://tril.co.in/airport</a:t>
            </a:r>
            <a:endParaRPr lang="en-US" dirty="0"/>
          </a:p>
          <a:p>
            <a:pPr marL="285750" indent="-285750">
              <a:buFont typeface="Arial" panose="020B0604020202020204" pitchFamily="34" charset="0"/>
              <a:buChar char="•"/>
            </a:pPr>
            <a:r>
              <a:rPr lang="en-US" dirty="0">
                <a:hlinkClick r:id="rId15"/>
              </a:rPr>
              <a:t>http://www.pncinfratech.com/highway-constructions.html</a:t>
            </a:r>
            <a:endParaRPr lang="en-US" dirty="0"/>
          </a:p>
          <a:p>
            <a:pPr marL="285750" indent="-285750">
              <a:buFont typeface="Arial" panose="020B0604020202020204" pitchFamily="34" charset="0"/>
              <a:buChar char="•"/>
            </a:pPr>
            <a:r>
              <a:rPr lang="en-US" dirty="0">
                <a:hlinkClick r:id="rId16"/>
              </a:rPr>
              <a:t>http://www.pncinfratech.com/financials.html</a:t>
            </a:r>
            <a:endParaRPr lang="en-US" dirty="0"/>
          </a:p>
          <a:p>
            <a:pPr marL="285750" indent="-285750">
              <a:buFont typeface="Arial" panose="020B0604020202020204" pitchFamily="34" charset="0"/>
              <a:buChar char="•"/>
            </a:pPr>
            <a:r>
              <a:rPr lang="en-US" dirty="0">
                <a:hlinkClick r:id="rId17"/>
              </a:rPr>
              <a:t>http://www.pncinfratech.com/activities.html#presence</a:t>
            </a:r>
            <a:endParaRPr lang="en-US" dirty="0"/>
          </a:p>
          <a:p>
            <a:pPr marL="285750" indent="-285750">
              <a:buFont typeface="Arial" panose="020B0604020202020204" pitchFamily="34" charset="0"/>
              <a:buChar char="•"/>
            </a:pPr>
            <a:r>
              <a:rPr lang="en-US" dirty="0"/>
              <a:t>http://www.pncinfratech.com/airport-runway.html</a:t>
            </a:r>
          </a:p>
          <a:p>
            <a:pPr marL="285750" indent="-285750">
              <a:buFont typeface="Arial" panose="020B0604020202020204" pitchFamily="34" charset="0"/>
              <a:buChar char="•"/>
            </a:pPr>
            <a:r>
              <a:rPr lang="en-US" dirty="0"/>
              <a:t>http://www.pncinfratech.com/pdfs/investor-update-financial-performance-for-q4fy2017-18.pdf</a:t>
            </a:r>
          </a:p>
          <a:p>
            <a:pPr marL="285750" indent="-285750">
              <a:buFont typeface="Arial" panose="020B0604020202020204" pitchFamily="34" charset="0"/>
              <a:buChar char="•"/>
            </a:pPr>
            <a:endParaRPr lang="en-US" dirty="0"/>
          </a:p>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13</a:t>
            </a:fld>
            <a:endParaRPr lang="en-US" dirty="0"/>
          </a:p>
        </p:txBody>
      </p:sp>
    </p:spTree>
    <p:extLst>
      <p:ext uri="{BB962C8B-B14F-4D97-AF65-F5344CB8AC3E}">
        <p14:creationId xmlns:p14="http://schemas.microsoft.com/office/powerpoint/2010/main" val="3958597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26</a:t>
            </a:fld>
            <a:endParaRPr lang="en-US" dirty="0"/>
          </a:p>
        </p:txBody>
      </p:sp>
    </p:spTree>
    <p:extLst>
      <p:ext uri="{BB962C8B-B14F-4D97-AF65-F5344CB8AC3E}">
        <p14:creationId xmlns:p14="http://schemas.microsoft.com/office/powerpoint/2010/main" val="3168694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42873" rtl="0" eaLnBrk="1" fontAlgn="auto" latinLnBrk="0" hangingPunct="1">
              <a:lnSpc>
                <a:spcPct val="100000"/>
              </a:lnSpc>
              <a:spcBef>
                <a:spcPts val="0"/>
              </a:spcBef>
              <a:spcAft>
                <a:spcPts val="0"/>
              </a:spcAft>
              <a:buClrTx/>
              <a:buSzTx/>
              <a:buFontTx/>
              <a:buNone/>
              <a:tabLst/>
              <a:defRPr/>
            </a:pPr>
            <a:r>
              <a:rPr lang="en-US" dirty="0"/>
              <a:t>https://madc.maharashtra.gov.in/index.php/information/mihan_airport</a:t>
            </a:r>
          </a:p>
          <a:p>
            <a:endParaRPr lang="en-IN"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28</a:t>
            </a:fld>
            <a:endParaRPr lang="en-US" dirty="0"/>
          </a:p>
        </p:txBody>
      </p:sp>
    </p:spTree>
    <p:extLst>
      <p:ext uri="{BB962C8B-B14F-4D97-AF65-F5344CB8AC3E}">
        <p14:creationId xmlns:p14="http://schemas.microsoft.com/office/powerpoint/2010/main" val="927192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383260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443295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504489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981534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995415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31365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875393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014408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165181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99036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654403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2344287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6200763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5934034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439109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369018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130996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3481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1143000"/>
            <a:ext cx="4362450" cy="308610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09629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7127020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7026293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84251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1625376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958240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7880575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5848584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54527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691523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693738"/>
            <a:ext cx="4892675" cy="3462337"/>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a:xfrm>
            <a:off x="3936566" y="8773355"/>
            <a:ext cx="3012001" cy="462720"/>
          </a:xfrm>
          <a:prstGeom prst="rect">
            <a:avLst/>
          </a:prstGeom>
        </p:spPr>
        <p:txBody>
          <a:bodyPr/>
          <a:lstStyle/>
          <a:p>
            <a:fld id="{B1FEB637-BC42-497E-9119-65CA0380A6EE}" type="slidenum">
              <a:rPr lang="en-GB" smtClean="0"/>
              <a:t>81</a:t>
            </a:fld>
            <a:endParaRPr lang="en-GB" dirty="0"/>
          </a:p>
        </p:txBody>
      </p:sp>
    </p:spTree>
    <p:extLst>
      <p:ext uri="{BB962C8B-B14F-4D97-AF65-F5344CB8AC3E}">
        <p14:creationId xmlns:p14="http://schemas.microsoft.com/office/powerpoint/2010/main" val="777991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bin"/><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hyperlink" Target="http://www.deloitte.com/about" TargetMode="Externa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96866" y="801940"/>
            <a:ext cx="6312188" cy="5955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bg1"/>
                </a:solidFill>
              </a:defRPr>
            </a:lvl1pPr>
            <a:lvl2pPr marL="0" marR="0" indent="0" algn="l" defTabSz="1008400" rtl="0" eaLnBrk="1" fontAlgn="auto" latinLnBrk="0" hangingPunct="1">
              <a:lnSpc>
                <a:spcPct val="100000"/>
              </a:lnSpc>
              <a:spcBef>
                <a:spcPts val="0"/>
              </a:spcBef>
              <a:spcAft>
                <a:spcPts val="0"/>
              </a:spcAft>
              <a:buClrTx/>
              <a:buSzPct val="100000"/>
              <a:buFont typeface="Arial"/>
              <a:buNone/>
              <a:tabLst/>
              <a:defRPr sz="1764" b="0">
                <a:solidFill>
                  <a:schemeClr val="bg1"/>
                </a:solidFill>
              </a:defRPr>
            </a:lvl2pPr>
            <a:lvl3pPr marL="0" indent="0" algn="l">
              <a:spcAft>
                <a:spcPts val="0"/>
              </a:spcAft>
              <a:buNone/>
              <a:defRPr sz="1764">
                <a:solidFill>
                  <a:schemeClr val="bg1"/>
                </a:solidFill>
              </a:defRPr>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marL="0" marR="0" lvl="1" indent="0" algn="l" defTabSz="1008400"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182801" y="801940"/>
            <a:ext cx="6312188" cy="5955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985" b="1">
                <a:solidFill>
                  <a:schemeClr val="tx1"/>
                </a:solidFill>
              </a:defRPr>
            </a:lvl1pPr>
            <a:lvl2pPr marL="0" indent="0" algn="l">
              <a:buNone/>
              <a:defRPr sz="1764" b="0"/>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441843" y="416850"/>
            <a:ext cx="1893656" cy="339629"/>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64" noProof="0" dirty="0">
                <a:solidFill>
                  <a:schemeClr val="bg1"/>
                </a:solidFill>
              </a:endParaRPr>
            </a:p>
          </p:txBody>
        </p:sp>
      </p:gr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41844" y="6466942"/>
            <a:ext cx="4902475"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bg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39792" y="416850"/>
            <a:ext cx="1892808"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2924647" y="1508600"/>
            <a:ext cx="4839344" cy="4565500"/>
          </a:xfrm>
          <a:prstGeom prst="ellipse">
            <a:avLst/>
          </a:prstGeom>
          <a:ln w="25400">
            <a:solidFill>
              <a:schemeClr val="accent1"/>
            </a:solidFill>
          </a:ln>
        </p:spPr>
        <p:txBody>
          <a:bodyPr lIns="108000" tIns="108000" rIns="108000" bIns="108000" anchor="ctr" anchorCtr="0">
            <a:normAutofit/>
          </a:bodyPr>
          <a:lstStyle>
            <a:lvl1pPr algn="ctr">
              <a:lnSpc>
                <a:spcPts val="4632"/>
              </a:lnSpc>
              <a:defRPr sz="397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39794" y="6466942"/>
            <a:ext cx="4904524" cy="557614"/>
          </a:xfrm>
          <a:prstGeom prst="rect">
            <a:avLst/>
          </a:prstGeom>
        </p:spPr>
        <p:txBody>
          <a:bodyPr lIns="0" tIns="0" rIns="0" bIns="0" anchor="b" anchorCtr="0">
            <a:noAutofit/>
          </a:bodyPr>
          <a:lstStyle>
            <a:lvl1pPr marL="0" indent="0" algn="l">
              <a:lnSpc>
                <a:spcPct val="100000"/>
              </a:lnSpc>
              <a:spcAft>
                <a:spcPts val="0"/>
              </a:spcAft>
              <a:buNone/>
              <a:defRPr sz="1764">
                <a:solidFill>
                  <a:schemeClr val="tx1"/>
                </a:solidFill>
              </a:defRPr>
            </a:lvl1pPr>
            <a:lvl2pPr marL="504200" indent="0" algn="ctr">
              <a:buNone/>
              <a:defRPr sz="2206"/>
            </a:lvl2pPr>
            <a:lvl3pPr marL="1008400" indent="0" algn="ctr">
              <a:buNone/>
              <a:defRPr sz="1985"/>
            </a:lvl3pPr>
            <a:lvl4pPr marL="1512600" indent="0" algn="ctr">
              <a:buNone/>
              <a:defRPr sz="1764"/>
            </a:lvl4pPr>
            <a:lvl5pPr marL="2016801" indent="0" algn="ctr">
              <a:buNone/>
              <a:defRPr sz="1764"/>
            </a:lvl5pPr>
            <a:lvl6pPr marL="2521001" indent="0" algn="ctr">
              <a:buNone/>
              <a:defRPr sz="1764"/>
            </a:lvl6pPr>
            <a:lvl7pPr marL="3025201" indent="0" algn="ctr">
              <a:buNone/>
              <a:defRPr sz="1764"/>
            </a:lvl7pPr>
            <a:lvl8pPr marL="3529401" indent="0" algn="ctr">
              <a:buNone/>
              <a:defRPr sz="1764"/>
            </a:lvl8pPr>
            <a:lvl9pPr marL="4033601" indent="0" algn="ctr">
              <a:buNone/>
              <a:defRPr sz="1764"/>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39794" y="7037652"/>
            <a:ext cx="4904525" cy="329124"/>
          </a:xfrm>
          <a:prstGeom prst="rect">
            <a:avLst/>
          </a:prstGeom>
        </p:spPr>
        <p:txBody>
          <a:bodyPr/>
          <a:lstStyle>
            <a:lvl1pPr>
              <a:spcAft>
                <a:spcPts val="0"/>
              </a:spcAft>
              <a:defRPr sz="110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439792" y="416850"/>
            <a:ext cx="1892808"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noProof="0" dirty="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7" name="TextBox 6"/>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8" name="TextBox 7"/>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3" y="3781425"/>
            <a:ext cx="9243907"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bg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39794" y="1880974"/>
            <a:ext cx="9241218" cy="1756067"/>
          </a:xfrm>
        </p:spPr>
        <p:txBody>
          <a:bodyPr anchor="b"/>
          <a:lstStyle>
            <a:lvl1pPr>
              <a:lnSpc>
                <a:spcPct val="95000"/>
              </a:lnSpc>
              <a:defRPr sz="390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39794" y="3781425"/>
            <a:ext cx="9241218" cy="1727537"/>
          </a:xfrm>
        </p:spPr>
        <p:txBody>
          <a:bodyPr lIns="0" tIns="0" rIns="0" bIns="0">
            <a:noAutofit/>
          </a:bodyPr>
          <a:lstStyle>
            <a:lvl1pPr marL="0" indent="0">
              <a:lnSpc>
                <a:spcPct val="95000"/>
              </a:lnSpc>
              <a:spcAft>
                <a:spcPts val="0"/>
              </a:spcAft>
              <a:buNone/>
              <a:defRPr sz="3900">
                <a:solidFill>
                  <a:schemeClr val="tx1"/>
                </a:solidFill>
              </a:defRPr>
            </a:lvl1pPr>
            <a:lvl2pPr marL="504200" indent="0">
              <a:buNone/>
              <a:defRPr sz="2206">
                <a:solidFill>
                  <a:schemeClr val="tx1">
                    <a:tint val="75000"/>
                  </a:schemeClr>
                </a:solidFill>
              </a:defRPr>
            </a:lvl2pPr>
            <a:lvl3pPr marL="1008400" indent="0">
              <a:buNone/>
              <a:defRPr sz="1985">
                <a:solidFill>
                  <a:schemeClr val="tx1">
                    <a:tint val="75000"/>
                  </a:schemeClr>
                </a:solidFill>
              </a:defRPr>
            </a:lvl3pPr>
            <a:lvl4pPr marL="1512600" indent="0">
              <a:buNone/>
              <a:defRPr sz="1764">
                <a:solidFill>
                  <a:schemeClr val="tx1">
                    <a:tint val="75000"/>
                  </a:schemeClr>
                </a:solidFill>
              </a:defRPr>
            </a:lvl4pPr>
            <a:lvl5pPr marL="2016801" indent="0">
              <a:buNone/>
              <a:defRPr sz="1764">
                <a:solidFill>
                  <a:schemeClr val="tx1">
                    <a:tint val="75000"/>
                  </a:schemeClr>
                </a:solidFill>
              </a:defRPr>
            </a:lvl5pPr>
            <a:lvl6pPr marL="2521001" indent="0">
              <a:buNone/>
              <a:defRPr sz="1764">
                <a:solidFill>
                  <a:schemeClr val="tx1">
                    <a:tint val="75000"/>
                  </a:schemeClr>
                </a:solidFill>
              </a:defRPr>
            </a:lvl6pPr>
            <a:lvl7pPr marL="3025201" indent="0">
              <a:buNone/>
              <a:defRPr sz="1764">
                <a:solidFill>
                  <a:schemeClr val="tx1">
                    <a:tint val="75000"/>
                  </a:schemeClr>
                </a:solidFill>
              </a:defRPr>
            </a:lvl7pPr>
            <a:lvl8pPr marL="3529401" indent="0">
              <a:buNone/>
              <a:defRPr sz="1764">
                <a:solidFill>
                  <a:schemeClr val="tx1">
                    <a:tint val="75000"/>
                  </a:schemeClr>
                </a:solidFill>
              </a:defRPr>
            </a:lvl8pPr>
            <a:lvl9pPr marL="4033601" indent="0">
              <a:buNone/>
              <a:defRPr sz="176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4" y="1796176"/>
            <a:ext cx="8023816"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4440"/>
            <a:ext cx="8133385" cy="5248763"/>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bg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
        <p:nvSpPr>
          <p:cNvPr id="10" name="TextBox 9"/>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1" name="TextBox 10"/>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2" name="TextBox 11"/>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39793" y="1796176"/>
            <a:ext cx="8133385" cy="5241475"/>
          </a:xfrm>
          <a:prstGeom prst="rect">
            <a:avLst/>
          </a:prstGeom>
        </p:spPr>
        <p:txBody>
          <a:bodyPr>
            <a:noAutofit/>
          </a:bodyPr>
          <a:lstStyle>
            <a:lvl1pPr>
              <a:spcBef>
                <a:spcPts val="3970"/>
              </a:spcBef>
              <a:defRPr sz="3000">
                <a:solidFill>
                  <a:schemeClr val="tx1"/>
                </a:solidFill>
              </a:defRPr>
            </a:lvl1pPr>
            <a:lvl2pPr marL="504200" indent="-504200">
              <a:defRPr sz="3308">
                <a:solidFill>
                  <a:schemeClr val="bg2"/>
                </a:solidFill>
              </a:defRPr>
            </a:lvl2pPr>
            <a:lvl3pPr>
              <a:defRPr sz="3308">
                <a:solidFill>
                  <a:schemeClr val="bg2"/>
                </a:solidFill>
              </a:defRPr>
            </a:lvl3pPr>
            <a:lvl4pPr>
              <a:defRPr sz="3308">
                <a:solidFill>
                  <a:schemeClr val="bg2"/>
                </a:solidFill>
              </a:defRPr>
            </a:lvl4pPr>
            <a:lvl5pPr>
              <a:defRPr sz="3308">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39793" y="1836443"/>
            <a:ext cx="8133385" cy="5201211"/>
          </a:xfrm>
          <a:prstGeom prst="rect">
            <a:avLst/>
          </a:prstGeom>
        </p:spPr>
        <p:txBody>
          <a:bodyPr/>
          <a:lstStyle>
            <a:lvl1pPr>
              <a:tabLst>
                <a:tab pos="7421197" algn="r"/>
              </a:tabLst>
              <a:defRPr/>
            </a:lvl1pPr>
            <a:lvl2pPr>
              <a:tabLst>
                <a:tab pos="7421197" algn="r"/>
              </a:tabLst>
              <a:defRPr/>
            </a:lvl2pPr>
            <a:lvl3pPr>
              <a:tabLst>
                <a:tab pos="7421197" algn="r"/>
              </a:tabLst>
              <a:defRPr/>
            </a:lvl3pPr>
            <a:lvl4pPr>
              <a:tabLst>
                <a:tab pos="7421197" algn="r"/>
              </a:tabLst>
              <a:defRPr/>
            </a:lvl4pPr>
            <a:lvl5pPr>
              <a:tabLst>
                <a:tab pos="5546202" algn="r"/>
              </a:tabLst>
              <a:defRPr baseline="0"/>
            </a:lvl5pPr>
            <a:lvl6pPr>
              <a:tabLst>
                <a:tab pos="7421197" algn="r"/>
              </a:tabLst>
              <a:defRPr/>
            </a:lvl6pPr>
            <a:lvl7pPr>
              <a:tabLst>
                <a:tab pos="7421197" algn="r"/>
              </a:tabLst>
              <a:defRPr/>
            </a:lvl7pPr>
            <a:lvl8pPr>
              <a:tabLst>
                <a:tab pos="7421197" algn="r"/>
              </a:tabLst>
              <a:defRPr/>
            </a:lvl8pPr>
            <a:lvl9pPr>
              <a:tabLst>
                <a:tab pos="7421197"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439795" y="350132"/>
            <a:ext cx="9801628"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3"/>
            <a:ext cx="9809052"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4778283" y="1876708"/>
            <a:ext cx="5470563" cy="5160945"/>
          </a:xfrm>
        </p:spPr>
        <p:txBody>
          <a:bodyPr/>
          <a:lstStyle/>
          <a:p>
            <a:r>
              <a:rPr lang="en-US" noProof="0" dirty="0"/>
              <a:t>Click icon to add picture</a:t>
            </a:r>
          </a:p>
        </p:txBody>
      </p:sp>
      <p:sp>
        <p:nvSpPr>
          <p:cNvPr id="6" name="Content Placeholder 3"/>
          <p:cNvSpPr>
            <a:spLocks noGrp="1"/>
          </p:cNvSpPr>
          <p:nvPr>
            <p:ph sz="quarter" idx="10"/>
          </p:nvPr>
        </p:nvSpPr>
        <p:spPr>
          <a:xfrm>
            <a:off x="439794" y="1836443"/>
            <a:ext cx="3906919"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3"/>
            <a:ext cx="9809052" cy="77029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439794" y="1836443"/>
            <a:ext cx="9788639"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36443"/>
            <a:ext cx="9788639"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39793" y="350131"/>
            <a:ext cx="9785951"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74957"/>
            <a:ext cx="9788639" cy="5159882"/>
          </a:xfrm>
          <a:prstGeom prst="rect">
            <a:avLst/>
          </a:prstGeom>
        </p:spPr>
        <p:txBody>
          <a:bodyPr vert="horz" lIns="0" tIns="0" rIns="0" bIns="0" rtlCol="0">
            <a:noAutofit/>
          </a:bodyPr>
          <a:lstStyle>
            <a:lvl1pPr>
              <a:defRPr sz="1764"/>
            </a:lvl1pPr>
            <a:lvl2pPr>
              <a:defRPr sz="1764"/>
            </a:lvl2pPr>
            <a:lvl3pPr>
              <a:defRPr sz="1764"/>
            </a:lvl3pPr>
            <a:lvl4pPr>
              <a:defRPr sz="1764"/>
            </a:lvl4pPr>
            <a:lvl5pPr>
              <a:defRPr sz="1764"/>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39795" y="2262900"/>
            <a:ext cx="9809051" cy="4487217"/>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5" y="1836444"/>
            <a:ext cx="9809051" cy="4324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39794" y="6750118"/>
            <a:ext cx="980905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439794"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441853" y="2262899"/>
            <a:ext cx="3111864" cy="4487218"/>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439793" y="1836444"/>
            <a:ext cx="312308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3772570" y="2262899"/>
            <a:ext cx="3122443" cy="4487218"/>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3772571" y="1836444"/>
            <a:ext cx="3122442"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7124353" y="2262899"/>
            <a:ext cx="3124492" cy="4487218"/>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7124353" y="1829668"/>
            <a:ext cx="3124493"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439792" y="6750118"/>
            <a:ext cx="9788642" cy="287535"/>
          </a:xfrm>
        </p:spPr>
        <p:txBody>
          <a:bodyPr>
            <a:no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39793" y="350131"/>
            <a:ext cx="982129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439793" y="718571"/>
            <a:ext cx="9821299"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439794" y="1836443"/>
            <a:ext cx="4651362"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5594649" y="1836443"/>
            <a:ext cx="4666444" cy="5201208"/>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439793"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439793" y="1836443"/>
            <a:ext cx="4651364"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5596806" y="1836443"/>
            <a:ext cx="4652039" cy="5201208"/>
          </a:xfrm>
          <a:prstGeom prst="rect">
            <a:avLst/>
          </a:prstGeom>
        </p:spPr>
        <p:txBody>
          <a:bodyPr>
            <a:noAutofit/>
          </a:bodyPr>
          <a:lstStyle>
            <a:lvl1pPr>
              <a:tabLst>
                <a:tab pos="5546202" algn="r"/>
              </a:tabLst>
              <a:defRPr sz="1764"/>
            </a:lvl1pPr>
            <a:lvl2pPr>
              <a:tabLst>
                <a:tab pos="5546202" algn="r"/>
              </a:tabLst>
              <a:defRPr sz="1764"/>
            </a:lvl2pPr>
            <a:lvl3pPr>
              <a:tabLst>
                <a:tab pos="5546202" algn="r"/>
              </a:tabLst>
              <a:defRPr sz="1764"/>
            </a:lvl3pPr>
            <a:lvl4pPr>
              <a:tabLst>
                <a:tab pos="5546202" algn="r"/>
              </a:tabLst>
              <a:defRPr sz="1764"/>
            </a:lvl4pPr>
            <a:lvl5pPr>
              <a:tabLst>
                <a:tab pos="5546202" algn="r"/>
              </a:tabLst>
              <a:defRPr baseline="0"/>
            </a:lvl5pPr>
            <a:lvl6pPr>
              <a:defRPr sz="1764"/>
            </a:lvl6pPr>
            <a:lvl7pPr>
              <a:defRPr sz="1764"/>
            </a:lvl7pPr>
            <a:lvl8pPr>
              <a:defRPr sz="1764"/>
            </a:lvl8pPr>
            <a:lvl9pPr>
              <a:defRPr sz="1764"/>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39794" y="1836443"/>
            <a:ext cx="4694835" cy="491367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5559304" y="2343417"/>
            <a:ext cx="4689542"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4" y="1836443"/>
            <a:ext cx="4689542"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3" y="6750118"/>
            <a:ext cx="9809052" cy="287535"/>
          </a:xfrm>
        </p:spPr>
        <p:txBody>
          <a:bodyPr>
            <a:normAutofit/>
          </a:bodyPr>
          <a:lstStyle>
            <a:lvl1pPr>
              <a:spcAft>
                <a:spcPts val="0"/>
              </a:spcAft>
              <a:defRPr sz="1000"/>
            </a:lvl1pPr>
          </a:lstStyle>
          <a:p>
            <a:pPr lvl="0"/>
            <a:r>
              <a:rPr lang="en-US" noProof="0"/>
              <a:t>Click to edit Master text styles</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559302" y="2343417"/>
            <a:ext cx="4689543" cy="4406700"/>
          </a:xfrm>
        </p:spPr>
        <p:txBody>
          <a:bodyPr/>
          <a:lstStyle/>
          <a:p>
            <a:r>
              <a:rPr lang="en-US" noProof="0" dirty="0"/>
              <a:t>Click icon to add chart</a:t>
            </a:r>
          </a:p>
        </p:txBody>
      </p:sp>
      <p:sp>
        <p:nvSpPr>
          <p:cNvPr id="6" name="Text Placeholder 5"/>
          <p:cNvSpPr>
            <a:spLocks noGrp="1"/>
          </p:cNvSpPr>
          <p:nvPr>
            <p:ph type="body" sz="quarter" idx="22"/>
          </p:nvPr>
        </p:nvSpPr>
        <p:spPr>
          <a:xfrm>
            <a:off x="5559303" y="1836443"/>
            <a:ext cx="4689543"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439792" y="6750118"/>
            <a:ext cx="9788642" cy="287535"/>
          </a:xfrm>
        </p:spPr>
        <p:txBody>
          <a:bodyPr>
            <a:normAutofit/>
          </a:bodyPr>
          <a:lstStyle>
            <a:lvl1pPr>
              <a:spcAft>
                <a:spcPts val="0"/>
              </a:spcAft>
              <a:defRPr sz="1000"/>
            </a:lvl1pPr>
          </a:lstStyle>
          <a:p>
            <a:pPr lvl="0"/>
            <a:r>
              <a:rPr lang="en-US" noProof="0"/>
              <a:t>Click to edit Master text styles</a:t>
            </a:r>
          </a:p>
        </p:txBody>
      </p:sp>
      <p:sp>
        <p:nvSpPr>
          <p:cNvPr id="9" name="Chart Placeholder 2"/>
          <p:cNvSpPr>
            <a:spLocks noGrp="1"/>
          </p:cNvSpPr>
          <p:nvPr>
            <p:ph type="chart" sz="quarter" idx="24"/>
          </p:nvPr>
        </p:nvSpPr>
        <p:spPr>
          <a:xfrm>
            <a:off x="439794" y="2343417"/>
            <a:ext cx="4680718" cy="4406700"/>
          </a:xfrm>
        </p:spPr>
        <p:txBody>
          <a:bodyPr/>
          <a:lstStyle/>
          <a:p>
            <a:r>
              <a:rPr lang="en-US" noProof="0" dirty="0"/>
              <a:t>Click icon to add chart</a:t>
            </a:r>
          </a:p>
        </p:txBody>
      </p:sp>
      <p:sp>
        <p:nvSpPr>
          <p:cNvPr id="12" name="Text Placeholder 5"/>
          <p:cNvSpPr>
            <a:spLocks noGrp="1"/>
          </p:cNvSpPr>
          <p:nvPr>
            <p:ph type="body" sz="quarter" idx="25"/>
          </p:nvPr>
        </p:nvSpPr>
        <p:spPr>
          <a:xfrm>
            <a:off x="439792" y="1836443"/>
            <a:ext cx="4680719" cy="463924"/>
          </a:xfrm>
        </p:spPr>
        <p:txBody>
          <a:bodyPr/>
          <a:lstStyle/>
          <a:p>
            <a:pPr lvl="0"/>
            <a:r>
              <a:rPr lang="en-US" noProof="0"/>
              <a:t>Click to edit Master text styles</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5" y="350131"/>
            <a:ext cx="9809051"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439793" y="1836443"/>
            <a:ext cx="3885377" cy="5201211"/>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4778282" y="1874958"/>
            <a:ext cx="5470563" cy="5162695"/>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439794" y="350132"/>
            <a:ext cx="9809052"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6643474" y="1829155"/>
            <a:ext cx="3605371" cy="5208499"/>
          </a:xfrm>
          <a:prstGeom prst="rect">
            <a:avLst/>
          </a:prstGeom>
        </p:spPr>
        <p:txBody>
          <a:bodyPr>
            <a:noAutofit/>
          </a:bodyPr>
          <a:lstStyle>
            <a:lvl1pPr>
              <a:tabLst>
                <a:tab pos="5546202" algn="r"/>
              </a:tabLst>
              <a:defRPr sz="2647">
                <a:solidFill>
                  <a:schemeClr val="accent3"/>
                </a:solidFill>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39794" y="1836443"/>
            <a:ext cx="5704068" cy="5201209"/>
          </a:xfrm>
          <a:prstGeom prst="rect">
            <a:avLst/>
          </a:prstGeom>
        </p:spPr>
        <p:txBody>
          <a:bodyPr/>
          <a:lstStyle>
            <a:lvl1pPr>
              <a:tabLst>
                <a:tab pos="5546202" algn="r"/>
              </a:tabLst>
              <a:defRPr/>
            </a:lvl1pPr>
            <a:lvl2pPr>
              <a:tabLst>
                <a:tab pos="5546202" algn="r"/>
              </a:tabLst>
              <a:defRPr/>
            </a:lvl2pPr>
            <a:lvl3pPr>
              <a:tabLst>
                <a:tab pos="5546202" algn="r"/>
              </a:tabLst>
              <a:defRPr/>
            </a:lvl3pPr>
            <a:lvl4pPr>
              <a:tabLst>
                <a:tab pos="5546202" algn="r"/>
              </a:tabLst>
              <a:defRPr/>
            </a:lvl4pPr>
            <a:lvl5pPr>
              <a:tabLst>
                <a:tab pos="554620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39795" y="718571"/>
            <a:ext cx="98090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439792" y="1874957"/>
            <a:ext cx="2377591" cy="13895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2916946" y="1874957"/>
            <a:ext cx="2377591" cy="13895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5394100" y="1874957"/>
            <a:ext cx="2377591" cy="13895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7871255" y="1874957"/>
            <a:ext cx="2377591" cy="13895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439793" y="3445298"/>
            <a:ext cx="2385015" cy="3592352"/>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5391628" y="3441274"/>
            <a:ext cx="2377591" cy="3596378"/>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2919422" y="3445298"/>
            <a:ext cx="2377591" cy="3592353"/>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7884246" y="3427994"/>
            <a:ext cx="2364600" cy="3609656"/>
          </a:xfrm>
        </p:spPr>
        <p:txBody>
          <a:bodyPr/>
          <a:lstStyle>
            <a:lvl1pPr>
              <a:defRPr b="1">
                <a:solidFill>
                  <a:schemeClr val="accent1"/>
                </a:solidFill>
              </a:defRPr>
            </a:lvl1pPr>
            <a:lvl2pPr>
              <a:spcAft>
                <a:spcPts val="0"/>
              </a:spcAft>
              <a:defRPr/>
            </a:lvl2pPr>
            <a:lvl3pPr marL="0" indent="0">
              <a:spcAft>
                <a:spcPts val="0"/>
              </a:spcAft>
              <a:buNone/>
              <a:defRPr/>
            </a:lvl3pPr>
            <a:lvl4pPr marL="194534" indent="-194534">
              <a:spcAft>
                <a:spcPts val="0"/>
              </a:spcAft>
              <a:buFont typeface="Arial" panose="020B0604020202020204" pitchFamily="34" charset="0"/>
              <a:buChar char="•"/>
              <a:defRPr/>
            </a:lvl4pPr>
            <a:lvl5pPr marL="393038" indent="-194534">
              <a:spcAft>
                <a:spcPts val="0"/>
              </a:spcAft>
              <a:defRPr baseline="0"/>
            </a:lvl5pPr>
            <a:lvl6pPr marL="393038" indent="-194534">
              <a:spcAft>
                <a:spcPts val="0"/>
              </a:spcAft>
              <a:buFont typeface="Verdana" panose="020B0604030504040204" pitchFamily="34" charset="0"/>
              <a:buChar char="−"/>
              <a:defRPr/>
            </a:lvl6pPr>
            <a:lvl7pPr marL="393038" indent="-194534">
              <a:spcAft>
                <a:spcPts val="0"/>
              </a:spcAft>
              <a:defRPr/>
            </a:lvl7pPr>
            <a:lvl8pPr marL="393038" indent="-194534">
              <a:spcAft>
                <a:spcPts val="0"/>
              </a:spcAft>
              <a:defRPr/>
            </a:lvl8pPr>
            <a:lvl9pPr marL="393038" indent="-19453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439793" y="718571"/>
            <a:ext cx="9809053"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2"/>
            <a:ext cx="9809052" cy="368438"/>
          </a:xfrm>
        </p:spPr>
        <p:txBody>
          <a:bodyPr/>
          <a:lstStyle/>
          <a:p>
            <a:r>
              <a:rPr lang="en-US" noProof="0"/>
              <a:t>Click to edit Master title style</a:t>
            </a:r>
            <a:endParaRPr lang="en-US" noProof="0" dirty="0"/>
          </a:p>
        </p:txBody>
      </p:sp>
      <p:sp>
        <p:nvSpPr>
          <p:cNvPr id="4" name="Rectangle 3"/>
          <p:cNvSpPr/>
          <p:nvPr userDrawn="1"/>
        </p:nvSpPr>
        <p:spPr>
          <a:xfrm>
            <a:off x="441853" y="188263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5" name="Rectangle 4"/>
          <p:cNvSpPr/>
          <p:nvPr userDrawn="1"/>
        </p:nvSpPr>
        <p:spPr>
          <a:xfrm>
            <a:off x="5456611" y="1874957"/>
            <a:ext cx="4799951"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6" name="Rectangle 5"/>
          <p:cNvSpPr/>
          <p:nvPr userDrawn="1"/>
        </p:nvSpPr>
        <p:spPr>
          <a:xfrm>
            <a:off x="441853" y="4482982"/>
            <a:ext cx="481830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7" name="Rectangle 6"/>
          <p:cNvSpPr/>
          <p:nvPr userDrawn="1"/>
        </p:nvSpPr>
        <p:spPr>
          <a:xfrm>
            <a:off x="5456611" y="4482982"/>
            <a:ext cx="479995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13" noProof="0" dirty="0">
              <a:solidFill>
                <a:schemeClr val="bg1"/>
              </a:solidFill>
            </a:endParaRPr>
          </a:p>
        </p:txBody>
      </p:sp>
      <p:sp>
        <p:nvSpPr>
          <p:cNvPr id="8" name="Picture Placeholder 11"/>
          <p:cNvSpPr>
            <a:spLocks noGrp="1"/>
          </p:cNvSpPr>
          <p:nvPr>
            <p:ph type="pic" sz="quarter" idx="25"/>
          </p:nvPr>
        </p:nvSpPr>
        <p:spPr>
          <a:xfrm>
            <a:off x="441853" y="2073457"/>
            <a:ext cx="1725331" cy="16277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5456611" y="2073457"/>
            <a:ext cx="1725331" cy="16277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441853" y="4693657"/>
            <a:ext cx="1725331" cy="16277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5456611" y="4693657"/>
            <a:ext cx="1725331" cy="16277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352590" y="2073457"/>
            <a:ext cx="2882566" cy="21438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7361204" y="20734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352590" y="4693657"/>
            <a:ext cx="2882566"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7361204" y="4693657"/>
            <a:ext cx="2895358"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439794" y="1874958"/>
            <a:ext cx="3239993" cy="2174319"/>
          </a:xfrm>
        </p:spPr>
        <p:txBody>
          <a:bodyPr/>
          <a:lstStyle/>
          <a:p>
            <a:r>
              <a:rPr lang="en-US" noProof="0" dirty="0"/>
              <a:t>Click icon to add picture</a:t>
            </a:r>
          </a:p>
        </p:txBody>
      </p:sp>
      <p:sp>
        <p:nvSpPr>
          <p:cNvPr id="5" name="Picture Placeholder 7"/>
          <p:cNvSpPr>
            <a:spLocks noGrp="1"/>
          </p:cNvSpPr>
          <p:nvPr>
            <p:ph type="pic" sz="quarter" idx="14"/>
          </p:nvPr>
        </p:nvSpPr>
        <p:spPr>
          <a:xfrm>
            <a:off x="7019151" y="1874958"/>
            <a:ext cx="3229695" cy="2174319"/>
          </a:xfrm>
        </p:spPr>
        <p:txBody>
          <a:bodyPr/>
          <a:lstStyle/>
          <a:p>
            <a:r>
              <a:rPr lang="en-US" noProof="0" dirty="0"/>
              <a:t>Click icon to add picture</a:t>
            </a:r>
          </a:p>
        </p:txBody>
      </p:sp>
      <p:sp>
        <p:nvSpPr>
          <p:cNvPr id="6" name="Picture Placeholder 7"/>
          <p:cNvSpPr>
            <a:spLocks noGrp="1"/>
          </p:cNvSpPr>
          <p:nvPr>
            <p:ph type="pic" sz="quarter" idx="15"/>
          </p:nvPr>
        </p:nvSpPr>
        <p:spPr>
          <a:xfrm>
            <a:off x="3746174" y="1874958"/>
            <a:ext cx="3206591" cy="2174319"/>
          </a:xfrm>
        </p:spPr>
        <p:txBody>
          <a:bodyPr/>
          <a:lstStyle/>
          <a:p>
            <a:r>
              <a:rPr lang="en-US" noProof="0" dirty="0"/>
              <a:t>Click icon to add picture</a:t>
            </a:r>
          </a:p>
        </p:txBody>
      </p:sp>
      <p:sp>
        <p:nvSpPr>
          <p:cNvPr id="9" name="Text Placeholder 18"/>
          <p:cNvSpPr>
            <a:spLocks noGrp="1"/>
          </p:cNvSpPr>
          <p:nvPr>
            <p:ph idx="1" hasCustomPrompt="1"/>
          </p:nvPr>
        </p:nvSpPr>
        <p:spPr>
          <a:xfrm>
            <a:off x="439793" y="4226093"/>
            <a:ext cx="322969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3741024" y="4226093"/>
            <a:ext cx="320659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7019151" y="4226093"/>
            <a:ext cx="3229695"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5475994" y="2048842"/>
            <a:ext cx="4772852"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6"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41853" y="2048842"/>
            <a:ext cx="4794581"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5475994" y="2048842"/>
            <a:ext cx="4782068"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Rectangle 3"/>
          <p:cNvSpPr/>
          <p:nvPr userDrawn="1"/>
        </p:nvSpPr>
        <p:spPr>
          <a:xfrm>
            <a:off x="441853" y="1880653"/>
            <a:ext cx="479272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5" name="Rectangle 4"/>
          <p:cNvSpPr/>
          <p:nvPr userDrawn="1"/>
        </p:nvSpPr>
        <p:spPr>
          <a:xfrm>
            <a:off x="5475994" y="1880653"/>
            <a:ext cx="4780568"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7" name="Picture Placeholder 29"/>
          <p:cNvSpPr>
            <a:spLocks noGrp="1"/>
          </p:cNvSpPr>
          <p:nvPr>
            <p:ph type="pic" sz="quarter" idx="20" hasCustomPrompt="1"/>
          </p:nvPr>
        </p:nvSpPr>
        <p:spPr>
          <a:xfrm>
            <a:off x="9139186" y="2048843"/>
            <a:ext cx="109074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41853" y="4686455"/>
            <a:ext cx="4792725"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5475993" y="4686455"/>
            <a:ext cx="4780569" cy="1869705"/>
          </a:xfrm>
        </p:spPr>
        <p:txBody>
          <a:bodyPr/>
          <a:lstStyle>
            <a:lvl1pPr>
              <a:spcAft>
                <a:spcPts val="1103"/>
              </a:spcAft>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441854" y="4525268"/>
            <a:ext cx="479458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3" name="Rectangle 12"/>
          <p:cNvSpPr/>
          <p:nvPr userDrawn="1"/>
        </p:nvSpPr>
        <p:spPr>
          <a:xfrm>
            <a:off x="5475993" y="4525268"/>
            <a:ext cx="477334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03"/>
              </a:spcAft>
            </a:pPr>
            <a:endParaRPr lang="en-US" sz="1213" noProof="0" dirty="0">
              <a:solidFill>
                <a:schemeClr val="bg1"/>
              </a:solidFill>
            </a:endParaRPr>
          </a:p>
        </p:txBody>
      </p:sp>
      <p:sp>
        <p:nvSpPr>
          <p:cNvPr id="14" name="Picture Placeholder 29"/>
          <p:cNvSpPr>
            <a:spLocks noGrp="1"/>
          </p:cNvSpPr>
          <p:nvPr>
            <p:ph type="pic" sz="quarter" idx="24" hasCustomPrompt="1"/>
          </p:nvPr>
        </p:nvSpPr>
        <p:spPr>
          <a:xfrm>
            <a:off x="4168230" y="4693099"/>
            <a:ext cx="1086557"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9139186" y="4686456"/>
            <a:ext cx="1090746"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439794" y="718571"/>
            <a:ext cx="9816768"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181379" y="2055486"/>
            <a:ext cx="1060979" cy="605728"/>
          </a:xfrm>
        </p:spPr>
        <p:txBody>
          <a:bodyPr/>
          <a:lstStyle>
            <a:lvl1pPr marL="0" marR="0" indent="0" algn="l" defTabSz="1008400" rtl="0" eaLnBrk="1" fontAlgn="auto" latinLnBrk="0" hangingPunct="1">
              <a:lnSpc>
                <a:spcPct val="100000"/>
              </a:lnSpc>
              <a:spcBef>
                <a:spcPts val="0"/>
              </a:spcBef>
              <a:spcAft>
                <a:spcPts val="1103"/>
              </a:spcAft>
              <a:buClrTx/>
              <a:buSzTx/>
              <a:buFont typeface="Arial" panose="020B0604020202020204" pitchFamily="34" charset="0"/>
              <a:buNone/>
              <a:tabLst/>
              <a:defRPr sz="993"/>
            </a:lvl1pPr>
          </a:lstStyle>
          <a:p>
            <a:pPr>
              <a:spcBef>
                <a:spcPct val="0"/>
              </a:spcBef>
            </a:pPr>
            <a:r>
              <a:rPr lang="en-US" sz="1323" noProof="0" dirty="0">
                <a:solidFill>
                  <a:schemeClr val="bg1"/>
                </a:solidFill>
              </a:rPr>
              <a:t>Co-brand</a:t>
            </a:r>
            <a:br>
              <a:rPr lang="en-US" sz="1323" noProof="0" dirty="0">
                <a:solidFill>
                  <a:schemeClr val="bg1"/>
                </a:solidFill>
              </a:rPr>
            </a:br>
            <a:r>
              <a:rPr lang="en-US" sz="1323" noProof="0" dirty="0">
                <a:solidFill>
                  <a:schemeClr val="bg1"/>
                </a:solidFill>
              </a:rPr>
              <a:t>Logo</a:t>
            </a:r>
          </a:p>
          <a:p>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7" name="Text Placeholder 8"/>
          <p:cNvSpPr>
            <a:spLocks noGrp="1"/>
          </p:cNvSpPr>
          <p:nvPr>
            <p:ph type="body" sz="quarter" idx="17"/>
          </p:nvPr>
        </p:nvSpPr>
        <p:spPr>
          <a:xfrm>
            <a:off x="3792320" y="2041728"/>
            <a:ext cx="3103998"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41853" y="2041728"/>
            <a:ext cx="3121026"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7125758" y="2041728"/>
            <a:ext cx="3130804" cy="4241012"/>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39793" y="718571"/>
            <a:ext cx="9785951"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439794" y="350134"/>
            <a:ext cx="9809052" cy="368437"/>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7975130"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2952945"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4038" y="2818700"/>
            <a:ext cx="2272388" cy="3743710"/>
          </a:xfrm>
        </p:spPr>
        <p:txBody>
          <a:bodyPr/>
          <a:lstStyle>
            <a:lvl1pPr>
              <a:defRPr b="1">
                <a:solidFill>
                  <a:schemeClr val="accent1"/>
                </a:solidFill>
              </a:defRPr>
            </a:lvl1pPr>
            <a:lvl2pPr>
              <a:spcAft>
                <a:spcPts val="1103"/>
              </a:spcAft>
              <a:defRPr/>
            </a:lvl2pPr>
            <a:lvl3pPr marL="0" indent="0">
              <a:spcAft>
                <a:spcPts val="1103"/>
              </a:spcAft>
              <a:buNone/>
              <a:defRPr/>
            </a:lvl3pPr>
            <a:lvl4pPr marL="194534" indent="-194534">
              <a:spcAft>
                <a:spcPts val="1103"/>
              </a:spcAft>
              <a:buFont typeface="Arial" panose="020B0604020202020204" pitchFamily="34" charset="0"/>
              <a:buChar char="•"/>
              <a:defRPr/>
            </a:lvl4pPr>
            <a:lvl5pPr marL="393038" indent="-194534">
              <a:spcAft>
                <a:spcPts val="1103"/>
              </a:spcAft>
              <a:defRPr baseline="0"/>
            </a:lvl5pPr>
            <a:lvl6pPr marL="393038" indent="-194534">
              <a:spcAft>
                <a:spcPts val="1103"/>
              </a:spcAft>
              <a:buFont typeface="Verdana" panose="020B0604030504040204" pitchFamily="34" charset="0"/>
              <a:buChar char="−"/>
              <a:defRPr/>
            </a:lvl6pPr>
            <a:lvl7pPr marL="393038" indent="-194534">
              <a:spcAft>
                <a:spcPts val="1103"/>
              </a:spcAft>
              <a:defRPr/>
            </a:lvl7pPr>
            <a:lvl8pPr marL="393038" indent="-194534">
              <a:spcAft>
                <a:spcPts val="1103"/>
              </a:spcAft>
              <a:defRPr/>
            </a:lvl8pPr>
            <a:lvl9pPr marL="393038" indent="-194534">
              <a:spcAft>
                <a:spcPts val="110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793" y="350132"/>
            <a:ext cx="9809053" cy="408241"/>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44185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7978563"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2954090"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5466326" y="2818700"/>
            <a:ext cx="2272388" cy="3743710"/>
          </a:xfrm>
        </p:spPr>
        <p:txBody>
          <a:bodyPr/>
          <a:lstStyle>
            <a:lvl1pPr>
              <a:defRPr b="1">
                <a:solidFill>
                  <a:schemeClr val="bg1"/>
                </a:solidFill>
              </a:defRPr>
            </a:lvl1pPr>
            <a:lvl2pPr>
              <a:spcAft>
                <a:spcPts val="1103"/>
              </a:spcAft>
              <a:defRPr>
                <a:solidFill>
                  <a:schemeClr val="bg1"/>
                </a:solidFill>
              </a:defRPr>
            </a:lvl2pPr>
            <a:lvl3pPr marL="0" indent="0">
              <a:spcAft>
                <a:spcPts val="1103"/>
              </a:spcAft>
              <a:buNone/>
              <a:defRPr>
                <a:solidFill>
                  <a:schemeClr val="bg1"/>
                </a:solidFill>
              </a:defRPr>
            </a:lvl3pPr>
            <a:lvl4pPr marL="194534" indent="-194534">
              <a:spcAft>
                <a:spcPts val="1103"/>
              </a:spcAft>
              <a:buFont typeface="Arial" panose="020B0604020202020204" pitchFamily="34" charset="0"/>
              <a:buChar char="•"/>
              <a:defRPr>
                <a:solidFill>
                  <a:schemeClr val="bg1"/>
                </a:solidFill>
              </a:defRPr>
            </a:lvl4pPr>
            <a:lvl5pPr marL="393038" indent="-194534">
              <a:spcAft>
                <a:spcPts val="1103"/>
              </a:spcAft>
              <a:defRPr baseline="0">
                <a:solidFill>
                  <a:schemeClr val="bg1"/>
                </a:solidFill>
              </a:defRPr>
            </a:lvl5pPr>
            <a:lvl6pPr marL="393038" indent="-194534">
              <a:spcAft>
                <a:spcPts val="1103"/>
              </a:spcAft>
              <a:buFont typeface="Verdana" panose="020B0604030504040204" pitchFamily="34" charset="0"/>
              <a:buChar char="−"/>
              <a:defRPr>
                <a:solidFill>
                  <a:schemeClr val="bg1"/>
                </a:solidFill>
              </a:defRPr>
            </a:lvl6pPr>
            <a:lvl7pPr marL="393038" indent="-194534">
              <a:spcAft>
                <a:spcPts val="1103"/>
              </a:spcAft>
              <a:defRPr>
                <a:solidFill>
                  <a:schemeClr val="bg1"/>
                </a:solidFill>
              </a:defRPr>
            </a:lvl7pPr>
            <a:lvl8pPr marL="393038" indent="-194534">
              <a:spcAft>
                <a:spcPts val="1103"/>
              </a:spcAft>
              <a:defRPr>
                <a:solidFill>
                  <a:schemeClr val="bg1"/>
                </a:solidFill>
              </a:defRPr>
            </a:lvl8pPr>
            <a:lvl9pPr marL="393038" indent="-194534">
              <a:spcAft>
                <a:spcPts val="1103"/>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439793" y="758374"/>
            <a:ext cx="9809053" cy="835084"/>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3" name="TextBox 12"/>
          <p:cNvSpPr txBox="1"/>
          <p:nvPr userDrawn="1"/>
        </p:nvSpPr>
        <p:spPr>
          <a:xfrm>
            <a:off x="5554010" y="7142692"/>
            <a:ext cx="4292779" cy="220701"/>
          </a:xfrm>
          <a:prstGeom prst="rect">
            <a:avLst/>
          </a:prstGeom>
          <a:noFill/>
        </p:spPr>
        <p:txBody>
          <a:bodyPr wrap="square" lIns="0" tIns="0" rIns="0" bIns="0" rtlCol="0">
            <a:spAutoFit/>
          </a:bodyPr>
          <a:lstStyle/>
          <a:p>
            <a:pPr marL="0" indent="0" algn="r">
              <a:spcBef>
                <a:spcPts val="0"/>
              </a:spcBef>
              <a:buSzPct val="100000"/>
              <a:buFont typeface="Arial"/>
              <a:buNone/>
            </a:pPr>
            <a:r>
              <a:rPr lang="en-US" sz="717" noProof="0" dirty="0">
                <a:solidFill>
                  <a:schemeClr val="bg1"/>
                </a:solidFill>
              </a:rPr>
              <a:t>Presentation title</a:t>
            </a:r>
            <a:br>
              <a:rPr lang="en-US" sz="717" noProof="0" dirty="0">
                <a:solidFill>
                  <a:schemeClr val="bg1"/>
                </a:solidFill>
              </a:rPr>
            </a:br>
            <a:r>
              <a:rPr lang="en-US" sz="717" noProof="0" dirty="0">
                <a:solidFill>
                  <a:schemeClr val="bg1"/>
                </a:solidFill>
              </a:rPr>
              <a:t>[To edit, click View &gt; Slide Master &gt; Slide Master]</a:t>
            </a:r>
          </a:p>
        </p:txBody>
      </p:sp>
      <p:sp>
        <p:nvSpPr>
          <p:cNvPr id="14" name="TextBox 13"/>
          <p:cNvSpPr txBox="1"/>
          <p:nvPr userDrawn="1"/>
        </p:nvSpPr>
        <p:spPr>
          <a:xfrm>
            <a:off x="439794" y="7142692"/>
            <a:ext cx="4694836" cy="110351"/>
          </a:xfrm>
          <a:prstGeom prst="rect">
            <a:avLst/>
          </a:prstGeom>
          <a:noFill/>
        </p:spPr>
        <p:txBody>
          <a:bodyPr wrap="square" lIns="0" tIns="0" rIns="0" bIns="0" rtlCol="0">
            <a:spAutoFit/>
          </a:bodyPr>
          <a:lstStyle/>
          <a:p>
            <a:pPr marL="0" indent="0">
              <a:spcBef>
                <a:spcPts val="662"/>
              </a:spcBef>
              <a:buSzPct val="100000"/>
              <a:buFont typeface="Arial"/>
              <a:buNone/>
            </a:pPr>
            <a:r>
              <a:rPr lang="fr-FR" sz="717" noProof="0" dirty="0">
                <a:solidFill>
                  <a:schemeClr val="bg1"/>
                </a:solidFill>
              </a:rPr>
              <a:t>© 2018 Deloitte Touche Tohmatsu India LLP</a:t>
            </a:r>
          </a:p>
        </p:txBody>
      </p:sp>
      <p:sp>
        <p:nvSpPr>
          <p:cNvPr id="15" name="TextBox 14"/>
          <p:cNvSpPr txBox="1"/>
          <p:nvPr userDrawn="1"/>
        </p:nvSpPr>
        <p:spPr>
          <a:xfrm>
            <a:off x="9978847" y="7142692"/>
            <a:ext cx="269999" cy="110351"/>
          </a:xfrm>
          <a:prstGeom prst="rect">
            <a:avLst/>
          </a:prstGeom>
          <a:noFill/>
        </p:spPr>
        <p:txBody>
          <a:bodyPr wrap="square" lIns="0" tIns="0" rIns="0" bIns="0" rtlCol="0">
            <a:spAutoFit/>
          </a:bodyPr>
          <a:lstStyle/>
          <a:p>
            <a:pPr marL="0" indent="0" algn="r">
              <a:spcBef>
                <a:spcPts val="662"/>
              </a:spcBef>
              <a:buSzPct val="100000"/>
              <a:buFont typeface="Arial"/>
              <a:buNone/>
            </a:pPr>
            <a:fld id="{C58DF478-B544-4ED8-9ED4-6A2648E2D233}" type="slidenum">
              <a:rPr lang="en-US" sz="717" noProof="0" smtClean="0">
                <a:solidFill>
                  <a:schemeClr val="bg1"/>
                </a:solidFill>
              </a:rPr>
              <a:pPr marL="0" indent="0" algn="r">
                <a:spcBef>
                  <a:spcPts val="662"/>
                </a:spcBef>
                <a:buSzPct val="100000"/>
                <a:buFont typeface="Arial"/>
                <a:buNone/>
              </a:pPr>
              <a:t>‹#›</a:t>
            </a:fld>
            <a:endParaRPr lang="en-US" sz="717" noProof="0" dirty="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439793" y="718571"/>
            <a:ext cx="9809052" cy="835084"/>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439793" y="350131"/>
            <a:ext cx="9809052"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439793" y="1836443"/>
            <a:ext cx="4904527"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39795" y="4644850"/>
            <a:ext cx="7477256" cy="2392803"/>
          </a:xfrm>
        </p:spPr>
        <p:txBody>
          <a:bodyPr anchor="b" anchorCtr="0"/>
          <a:lstStyle>
            <a:lvl1pPr>
              <a:lnSpc>
                <a:spcPct val="100000"/>
              </a:lnSpc>
              <a:spcAft>
                <a:spcPts val="624"/>
              </a:spcAft>
              <a:defRPr sz="944"/>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©2016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20" name="Group 19"/>
          <p:cNvGrpSpPr/>
          <p:nvPr userDrawn="1"/>
        </p:nvGrpSpPr>
        <p:grpSpPr>
          <a:xfrm>
            <a:off x="439792" y="416851"/>
            <a:ext cx="1892808" cy="359839"/>
            <a:chOff x="439792" y="416850"/>
            <a:chExt cx="1892808" cy="359839"/>
          </a:xfrm>
        </p:grpSpPr>
        <p:sp>
          <p:nvSpPr>
            <p:cNvPr id="21"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2"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3"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4"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5"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6"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7"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8"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29"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sp>
          <p:nvSpPr>
            <p:cNvPr id="30"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defTabSz="983894"/>
              <a:endParaRPr lang="en-US" sz="1937" dirty="0">
                <a:solidFill>
                  <a:prstClr val="white"/>
                </a:solidFill>
              </a:endParaRPr>
            </a:p>
          </p:txBody>
        </p:sp>
      </p:grpSp>
    </p:spTree>
    <p:extLst>
      <p:ext uri="{BB962C8B-B14F-4D97-AF65-F5344CB8AC3E}">
        <p14:creationId xmlns:p14="http://schemas.microsoft.com/office/powerpoint/2010/main" val="29142212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4" y="718571"/>
            <a:ext cx="9785950" cy="835084"/>
          </a:xfrm>
          <a:prstGeom prst="rect">
            <a:avLst/>
          </a:prstGeom>
        </p:spPr>
        <p:txBody>
          <a:bodyPr lIns="0" tIns="0" rIns="0" bIns="0">
            <a:noAutofit/>
          </a:bodyPr>
          <a:lstStyle>
            <a:lvl1pPr marL="0" indent="0">
              <a:buNone/>
              <a:defRPr sz="1753" b="0">
                <a:solidFill>
                  <a:schemeClr val="tx2"/>
                </a:solidFill>
              </a:defRPr>
            </a:lvl1pPr>
          </a:lstStyle>
          <a:p>
            <a:pPr lvl="0"/>
            <a:r>
              <a:rPr lang="en-US" noProof="0" dirty="0"/>
              <a:t>Click to add subtitle</a:t>
            </a:r>
          </a:p>
        </p:txBody>
      </p:sp>
      <p:sp>
        <p:nvSpPr>
          <p:cNvPr id="8" name="Text Placeholder 18"/>
          <p:cNvSpPr>
            <a:spLocks noGrp="1"/>
          </p:cNvSpPr>
          <p:nvPr>
            <p:ph idx="1"/>
          </p:nvPr>
        </p:nvSpPr>
        <p:spPr>
          <a:xfrm>
            <a:off x="439794" y="1836444"/>
            <a:ext cx="9788639"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09303615"/>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0686534" cy="7562850"/>
          </a:xfrm>
          <a:prstGeom prst="rect">
            <a:avLst/>
          </a:prstGeom>
        </p:spPr>
      </p:pic>
      <p:sp>
        <p:nvSpPr>
          <p:cNvPr id="33" name="Picture Placeholder 8"/>
          <p:cNvSpPr>
            <a:spLocks noGrp="1"/>
          </p:cNvSpPr>
          <p:nvPr>
            <p:ph type="pic" sz="quarter" idx="11"/>
          </p:nvPr>
        </p:nvSpPr>
        <p:spPr>
          <a:xfrm>
            <a:off x="2975246" y="802376"/>
            <a:ext cx="4734141" cy="5955000"/>
          </a:xfrm>
          <a:prstGeom prst="rect">
            <a:avLst/>
          </a:prstGeom>
        </p:spPr>
        <p:txBody>
          <a:bodyPr/>
          <a:lstStyle>
            <a:lvl1pPr>
              <a:defRPr>
                <a:solidFill>
                  <a:schemeClr val="tx1"/>
                </a:solidFill>
              </a:defRPr>
            </a:lvl1pPr>
          </a:lstStyle>
          <a:p>
            <a:r>
              <a:rPr lang="en-GB" noProof="0" dirty="0"/>
              <a:t>Click icon to add picture</a:t>
            </a:r>
          </a:p>
        </p:txBody>
      </p:sp>
      <p:sp>
        <p:nvSpPr>
          <p:cNvPr id="2" name="Title"/>
          <p:cNvSpPr>
            <a:spLocks noGrp="1"/>
          </p:cNvSpPr>
          <p:nvPr>
            <p:ph type="ctrTitle" hasCustomPrompt="1"/>
          </p:nvPr>
        </p:nvSpPr>
        <p:spPr bwMode="gray">
          <a:xfrm>
            <a:off x="416604" y="6043860"/>
            <a:ext cx="4927715" cy="357300"/>
          </a:xfrm>
        </p:spPr>
        <p:txBody>
          <a:bodyPr anchor="b" anchorCtr="0">
            <a:noAutofit/>
          </a:bodyPr>
          <a:lstStyle>
            <a:lvl1pPr algn="l">
              <a:lnSpc>
                <a:spcPct val="100000"/>
              </a:lnSpc>
              <a:defRPr sz="1578"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16604" y="6445935"/>
            <a:ext cx="4927715" cy="557614"/>
          </a:xfrm>
          <a:prstGeom prst="rect">
            <a:avLst/>
          </a:prstGeom>
        </p:spPr>
        <p:txBody>
          <a:bodyPr lIns="0" tIns="0" rIns="0" bIns="0">
            <a:noAutofit/>
          </a:bodyPr>
          <a:lstStyle>
            <a:lvl1pPr marL="0" indent="0" algn="l">
              <a:lnSpc>
                <a:spcPct val="100000"/>
              </a:lnSpc>
              <a:spcAft>
                <a:spcPts val="0"/>
              </a:spcAft>
              <a:buNone/>
              <a:defRPr sz="1403">
                <a:solidFill>
                  <a:schemeClr val="tx1"/>
                </a:solidFill>
              </a:defRPr>
            </a:lvl1pPr>
            <a:lvl2pPr marL="534423" indent="0" algn="ctr">
              <a:buNone/>
              <a:defRPr sz="2338"/>
            </a:lvl2pPr>
            <a:lvl3pPr marL="1068846" indent="0" algn="ctr">
              <a:buNone/>
              <a:defRPr sz="2104"/>
            </a:lvl3pPr>
            <a:lvl4pPr marL="1603269" indent="0" algn="ctr">
              <a:buNone/>
              <a:defRPr sz="1870"/>
            </a:lvl4pPr>
            <a:lvl5pPr marL="2137692" indent="0" algn="ctr">
              <a:buNone/>
              <a:defRPr sz="1870"/>
            </a:lvl5pPr>
            <a:lvl6pPr marL="2672115" indent="0" algn="ctr">
              <a:buNone/>
              <a:defRPr sz="1870"/>
            </a:lvl6pPr>
            <a:lvl7pPr marL="3206538" indent="0" algn="ctr">
              <a:buNone/>
              <a:defRPr sz="1870"/>
            </a:lvl7pPr>
            <a:lvl8pPr marL="3740960" indent="0" algn="ctr">
              <a:buNone/>
              <a:defRPr sz="1870"/>
            </a:lvl8pPr>
            <a:lvl9pPr marL="4275384" indent="0" algn="ctr">
              <a:buNone/>
              <a:defRPr sz="1870"/>
            </a:lvl9pPr>
          </a:lstStyle>
          <a:p>
            <a:pPr lvl="0"/>
            <a:r>
              <a:rPr lang="en-GB" dirty="0"/>
              <a:t>Subtitle here two lines max</a:t>
            </a:r>
            <a:endParaRPr lang="en-GB"/>
          </a:p>
        </p:txBody>
      </p:sp>
      <p:sp>
        <p:nvSpPr>
          <p:cNvPr id="18" name="SD_ART_Logo_White"/>
          <p:cNvSpPr/>
          <p:nvPr userDrawn="1"/>
        </p:nvSpPr>
        <p:spPr>
          <a:xfrm>
            <a:off x="416813" y="512130"/>
            <a:ext cx="2004120" cy="1103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2078221963" name="LogoFrontSlide"/>
          <p:cNvPicPr>
            <a:picLocks noChangeAspect="1"/>
          </p:cNvPicPr>
          <p:nvPr/>
        </p:nvPicPr>
        <p:blipFill>
          <a:blip r:embed="rId3"/>
          <a:stretch>
            <a:fillRect/>
          </a:stretch>
        </p:blipFill>
        <p:spPr>
          <a:xfrm>
            <a:off x="362951" y="555799"/>
            <a:ext cx="1451802" cy="800470"/>
          </a:xfrm>
          <a:prstGeom prst="rect">
            <a:avLst/>
          </a:prstGeom>
        </p:spPr>
      </p:pic>
      <p:sp>
        <p:nvSpPr>
          <p:cNvPr id="4" name="Footer Placeholder 3" hidden="1"/>
          <p:cNvSpPr>
            <a:spLocks noGrp="1"/>
          </p:cNvSpPr>
          <p:nvPr>
            <p:ph type="ftr" sz="quarter" idx="12"/>
          </p:nvPr>
        </p:nvSpPr>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2233564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0686534" cy="7562850"/>
          </a:xfrm>
          <a:prstGeom prst="rect">
            <a:avLst/>
          </a:prstGeom>
          <a:solidFill>
            <a:srgbClr val="86BC25"/>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2" name="Title 1"/>
          <p:cNvSpPr>
            <a:spLocks noGrp="1"/>
          </p:cNvSpPr>
          <p:nvPr>
            <p:ph type="title"/>
          </p:nvPr>
        </p:nvSpPr>
        <p:spPr bwMode="gray">
          <a:xfrm>
            <a:off x="411959" y="1874957"/>
            <a:ext cx="9133589" cy="1756067"/>
          </a:xfrm>
        </p:spPr>
        <p:txBody>
          <a:bodyPr anchor="b"/>
          <a:lstStyle>
            <a:lvl1pPr>
              <a:lnSpc>
                <a:spcPct val="95000"/>
              </a:lnSpc>
              <a:defRPr sz="3375"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11958" y="3775409"/>
            <a:ext cx="9133591" cy="1727537"/>
          </a:xfrm>
        </p:spPr>
        <p:txBody>
          <a:bodyPr lIns="0" tIns="0" rIns="0" bIns="0">
            <a:noAutofit/>
          </a:bodyPr>
          <a:lstStyle>
            <a:lvl1pPr marL="0" indent="0">
              <a:lnSpc>
                <a:spcPct val="95000"/>
              </a:lnSpc>
              <a:spcAft>
                <a:spcPts val="0"/>
              </a:spcAft>
              <a:buNone/>
              <a:defRPr sz="3375">
                <a:solidFill>
                  <a:schemeClr val="tx1"/>
                </a:solidFill>
              </a:defRPr>
            </a:lvl1pPr>
            <a:lvl2pPr marL="534423" indent="0">
              <a:buNone/>
              <a:defRPr sz="2338">
                <a:solidFill>
                  <a:schemeClr val="tx1">
                    <a:tint val="75000"/>
                  </a:schemeClr>
                </a:solidFill>
              </a:defRPr>
            </a:lvl2pPr>
            <a:lvl3pPr marL="1068846" indent="0">
              <a:buNone/>
              <a:defRPr sz="2104">
                <a:solidFill>
                  <a:schemeClr val="tx1">
                    <a:tint val="75000"/>
                  </a:schemeClr>
                </a:solidFill>
              </a:defRPr>
            </a:lvl3pPr>
            <a:lvl4pPr marL="1603269" indent="0">
              <a:buNone/>
              <a:defRPr sz="1870">
                <a:solidFill>
                  <a:schemeClr val="tx1">
                    <a:tint val="75000"/>
                  </a:schemeClr>
                </a:solidFill>
              </a:defRPr>
            </a:lvl4pPr>
            <a:lvl5pPr marL="2137692" indent="0">
              <a:buNone/>
              <a:defRPr sz="1870">
                <a:solidFill>
                  <a:schemeClr val="tx1">
                    <a:tint val="75000"/>
                  </a:schemeClr>
                </a:solidFill>
              </a:defRPr>
            </a:lvl5pPr>
            <a:lvl6pPr marL="2672115" indent="0">
              <a:buNone/>
              <a:defRPr sz="1870">
                <a:solidFill>
                  <a:schemeClr val="tx1">
                    <a:tint val="75000"/>
                  </a:schemeClr>
                </a:solidFill>
              </a:defRPr>
            </a:lvl6pPr>
            <a:lvl7pPr marL="3206538" indent="0">
              <a:buNone/>
              <a:defRPr sz="1870">
                <a:solidFill>
                  <a:schemeClr val="tx1">
                    <a:tint val="75000"/>
                  </a:schemeClr>
                </a:solidFill>
              </a:defRPr>
            </a:lvl7pPr>
            <a:lvl8pPr marL="3740960" indent="0">
              <a:buNone/>
              <a:defRPr sz="1870">
                <a:solidFill>
                  <a:schemeClr val="tx1">
                    <a:tint val="75000"/>
                  </a:schemeClr>
                </a:solidFill>
              </a:defRPr>
            </a:lvl8pPr>
            <a:lvl9pPr marL="4275384" indent="0">
              <a:buNone/>
              <a:defRPr sz="1870">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4" name="Footer Placeholder 3"/>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242042882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0686534" cy="7562850"/>
          </a:xfrm>
          <a:prstGeom prst="rect">
            <a:avLst/>
          </a:prstGeom>
          <a:solidFill>
            <a:srgbClr val="046A38"/>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18" name="Title 1"/>
          <p:cNvSpPr>
            <a:spLocks noGrp="1"/>
          </p:cNvSpPr>
          <p:nvPr>
            <p:ph type="title"/>
          </p:nvPr>
        </p:nvSpPr>
        <p:spPr bwMode="gray">
          <a:xfrm>
            <a:off x="411959" y="1880973"/>
            <a:ext cx="9133589" cy="1756067"/>
          </a:xfrm>
        </p:spPr>
        <p:txBody>
          <a:bodyPr anchor="b"/>
          <a:lstStyle>
            <a:lvl1pPr>
              <a:lnSpc>
                <a:spcPct val="95000"/>
              </a:lnSpc>
              <a:defRPr sz="3375"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11959" y="3781425"/>
            <a:ext cx="9133589" cy="1727537"/>
          </a:xfrm>
        </p:spPr>
        <p:txBody>
          <a:bodyPr lIns="0" tIns="0" rIns="0" bIns="0">
            <a:noAutofit/>
          </a:bodyPr>
          <a:lstStyle>
            <a:lvl1pPr marL="0" indent="0">
              <a:lnSpc>
                <a:spcPct val="95000"/>
              </a:lnSpc>
              <a:spcAft>
                <a:spcPts val="0"/>
              </a:spcAft>
              <a:buNone/>
              <a:defRPr sz="3375">
                <a:solidFill>
                  <a:schemeClr val="tx1"/>
                </a:solidFill>
              </a:defRPr>
            </a:lvl1pPr>
            <a:lvl2pPr marL="534423" indent="0">
              <a:buNone/>
              <a:defRPr sz="2338">
                <a:solidFill>
                  <a:schemeClr val="tx1">
                    <a:tint val="75000"/>
                  </a:schemeClr>
                </a:solidFill>
              </a:defRPr>
            </a:lvl2pPr>
            <a:lvl3pPr marL="1068846" indent="0">
              <a:buNone/>
              <a:defRPr sz="2104">
                <a:solidFill>
                  <a:schemeClr val="tx1">
                    <a:tint val="75000"/>
                  </a:schemeClr>
                </a:solidFill>
              </a:defRPr>
            </a:lvl3pPr>
            <a:lvl4pPr marL="1603269" indent="0">
              <a:buNone/>
              <a:defRPr sz="1870">
                <a:solidFill>
                  <a:schemeClr val="tx1">
                    <a:tint val="75000"/>
                  </a:schemeClr>
                </a:solidFill>
              </a:defRPr>
            </a:lvl4pPr>
            <a:lvl5pPr marL="2137692" indent="0">
              <a:buNone/>
              <a:defRPr sz="1870">
                <a:solidFill>
                  <a:schemeClr val="tx1">
                    <a:tint val="75000"/>
                  </a:schemeClr>
                </a:solidFill>
              </a:defRPr>
            </a:lvl5pPr>
            <a:lvl6pPr marL="2672115" indent="0">
              <a:buNone/>
              <a:defRPr sz="1870">
                <a:solidFill>
                  <a:schemeClr val="tx1">
                    <a:tint val="75000"/>
                  </a:schemeClr>
                </a:solidFill>
              </a:defRPr>
            </a:lvl6pPr>
            <a:lvl7pPr marL="3206538" indent="0">
              <a:buNone/>
              <a:defRPr sz="1870">
                <a:solidFill>
                  <a:schemeClr val="tx1">
                    <a:tint val="75000"/>
                  </a:schemeClr>
                </a:solidFill>
              </a:defRPr>
            </a:lvl7pPr>
            <a:lvl8pPr marL="3740960" indent="0">
              <a:buNone/>
              <a:defRPr sz="1870">
                <a:solidFill>
                  <a:schemeClr val="tx1">
                    <a:tint val="75000"/>
                  </a:schemeClr>
                </a:solidFill>
              </a:defRPr>
            </a:lvl8pPr>
            <a:lvl9pPr marL="4275384" indent="0">
              <a:buNone/>
              <a:defRPr sz="1870">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358168677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0686534" cy="7562850"/>
          </a:xfrm>
          <a:prstGeom prst="rect">
            <a:avLst/>
          </a:prstGeom>
          <a:solidFill>
            <a:srgbClr val="62B5E5"/>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2" name="Title 1"/>
          <p:cNvSpPr>
            <a:spLocks noGrp="1"/>
          </p:cNvSpPr>
          <p:nvPr>
            <p:ph type="title"/>
          </p:nvPr>
        </p:nvSpPr>
        <p:spPr bwMode="gray">
          <a:xfrm>
            <a:off x="411959" y="1880973"/>
            <a:ext cx="9133589" cy="1756067"/>
          </a:xfrm>
        </p:spPr>
        <p:txBody>
          <a:bodyPr anchor="b"/>
          <a:lstStyle>
            <a:lvl1pPr>
              <a:lnSpc>
                <a:spcPct val="95000"/>
              </a:lnSpc>
              <a:defRPr sz="3375"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11959" y="3781425"/>
            <a:ext cx="9133589" cy="1727537"/>
          </a:xfrm>
        </p:spPr>
        <p:txBody>
          <a:bodyPr lIns="0" tIns="0" rIns="0" bIns="0">
            <a:noAutofit/>
          </a:bodyPr>
          <a:lstStyle>
            <a:lvl1pPr marL="0" indent="0">
              <a:lnSpc>
                <a:spcPct val="95000"/>
              </a:lnSpc>
              <a:spcAft>
                <a:spcPts val="0"/>
              </a:spcAft>
              <a:buNone/>
              <a:defRPr sz="3375">
                <a:solidFill>
                  <a:schemeClr val="tx1"/>
                </a:solidFill>
              </a:defRPr>
            </a:lvl1pPr>
            <a:lvl2pPr marL="534423" indent="0">
              <a:buNone/>
              <a:defRPr sz="2338">
                <a:solidFill>
                  <a:schemeClr val="tx1">
                    <a:tint val="75000"/>
                  </a:schemeClr>
                </a:solidFill>
              </a:defRPr>
            </a:lvl2pPr>
            <a:lvl3pPr marL="1068846" indent="0">
              <a:buNone/>
              <a:defRPr sz="2104">
                <a:solidFill>
                  <a:schemeClr val="tx1">
                    <a:tint val="75000"/>
                  </a:schemeClr>
                </a:solidFill>
              </a:defRPr>
            </a:lvl3pPr>
            <a:lvl4pPr marL="1603269" indent="0">
              <a:buNone/>
              <a:defRPr sz="1870">
                <a:solidFill>
                  <a:schemeClr val="tx1">
                    <a:tint val="75000"/>
                  </a:schemeClr>
                </a:solidFill>
              </a:defRPr>
            </a:lvl4pPr>
            <a:lvl5pPr marL="2137692" indent="0">
              <a:buNone/>
              <a:defRPr sz="1870">
                <a:solidFill>
                  <a:schemeClr val="tx1">
                    <a:tint val="75000"/>
                  </a:schemeClr>
                </a:solidFill>
              </a:defRPr>
            </a:lvl5pPr>
            <a:lvl6pPr marL="2672115" indent="0">
              <a:buNone/>
              <a:defRPr sz="1870">
                <a:solidFill>
                  <a:schemeClr val="tx1">
                    <a:tint val="75000"/>
                  </a:schemeClr>
                </a:solidFill>
              </a:defRPr>
            </a:lvl6pPr>
            <a:lvl7pPr marL="3206538" indent="0">
              <a:buNone/>
              <a:defRPr sz="1870">
                <a:solidFill>
                  <a:schemeClr val="tx1">
                    <a:tint val="75000"/>
                  </a:schemeClr>
                </a:solidFill>
              </a:defRPr>
            </a:lvl7pPr>
            <a:lvl8pPr marL="3740960" indent="0">
              <a:buNone/>
              <a:defRPr sz="1870">
                <a:solidFill>
                  <a:schemeClr val="tx1">
                    <a:tint val="75000"/>
                  </a:schemeClr>
                </a:solidFill>
              </a:defRPr>
            </a:lvl8pPr>
            <a:lvl9pPr marL="4275384" indent="0">
              <a:buNone/>
              <a:defRPr sz="1870">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4" name="Footer Placeholder 3"/>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14577411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0686534" cy="7562850"/>
          </a:xfrm>
          <a:prstGeom prst="rect">
            <a:avLst/>
          </a:prstGeom>
          <a:solidFill>
            <a:srgbClr val="012169"/>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18" name="Title 1"/>
          <p:cNvSpPr>
            <a:spLocks noGrp="1"/>
          </p:cNvSpPr>
          <p:nvPr>
            <p:ph type="title"/>
          </p:nvPr>
        </p:nvSpPr>
        <p:spPr bwMode="gray">
          <a:xfrm>
            <a:off x="411959" y="1880973"/>
            <a:ext cx="9133589" cy="1756067"/>
          </a:xfrm>
        </p:spPr>
        <p:txBody>
          <a:bodyPr anchor="b"/>
          <a:lstStyle>
            <a:lvl1pPr>
              <a:lnSpc>
                <a:spcPct val="95000"/>
              </a:lnSpc>
              <a:defRPr sz="3375"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11959" y="3781425"/>
            <a:ext cx="9133589" cy="1727537"/>
          </a:xfrm>
        </p:spPr>
        <p:txBody>
          <a:bodyPr lIns="0" tIns="0" rIns="0" bIns="0">
            <a:noAutofit/>
          </a:bodyPr>
          <a:lstStyle>
            <a:lvl1pPr marL="0" indent="0">
              <a:lnSpc>
                <a:spcPct val="95000"/>
              </a:lnSpc>
              <a:spcAft>
                <a:spcPts val="0"/>
              </a:spcAft>
              <a:buNone/>
              <a:defRPr sz="3375">
                <a:solidFill>
                  <a:schemeClr val="tx1"/>
                </a:solidFill>
              </a:defRPr>
            </a:lvl1pPr>
            <a:lvl2pPr marL="534423" indent="0">
              <a:buNone/>
              <a:defRPr sz="2338">
                <a:solidFill>
                  <a:schemeClr val="tx1">
                    <a:tint val="75000"/>
                  </a:schemeClr>
                </a:solidFill>
              </a:defRPr>
            </a:lvl2pPr>
            <a:lvl3pPr marL="1068846" indent="0">
              <a:buNone/>
              <a:defRPr sz="2104">
                <a:solidFill>
                  <a:schemeClr val="tx1">
                    <a:tint val="75000"/>
                  </a:schemeClr>
                </a:solidFill>
              </a:defRPr>
            </a:lvl3pPr>
            <a:lvl4pPr marL="1603269" indent="0">
              <a:buNone/>
              <a:defRPr sz="1870">
                <a:solidFill>
                  <a:schemeClr val="tx1">
                    <a:tint val="75000"/>
                  </a:schemeClr>
                </a:solidFill>
              </a:defRPr>
            </a:lvl4pPr>
            <a:lvl5pPr marL="2137692" indent="0">
              <a:buNone/>
              <a:defRPr sz="1870">
                <a:solidFill>
                  <a:schemeClr val="tx1">
                    <a:tint val="75000"/>
                  </a:schemeClr>
                </a:solidFill>
              </a:defRPr>
            </a:lvl5pPr>
            <a:lvl6pPr marL="2672115" indent="0">
              <a:buNone/>
              <a:defRPr sz="1870">
                <a:solidFill>
                  <a:schemeClr val="tx1">
                    <a:tint val="75000"/>
                  </a:schemeClr>
                </a:solidFill>
              </a:defRPr>
            </a:lvl6pPr>
            <a:lvl7pPr marL="3206538" indent="0">
              <a:buNone/>
              <a:defRPr sz="1870">
                <a:solidFill>
                  <a:schemeClr val="tx1">
                    <a:tint val="75000"/>
                  </a:schemeClr>
                </a:solidFill>
              </a:defRPr>
            </a:lvl7pPr>
            <a:lvl8pPr marL="3740960" indent="0">
              <a:buNone/>
              <a:defRPr sz="1870">
                <a:solidFill>
                  <a:schemeClr val="tx1">
                    <a:tint val="75000"/>
                  </a:schemeClr>
                </a:solidFill>
              </a:defRPr>
            </a:lvl8pPr>
            <a:lvl9pPr marL="4275384" indent="0">
              <a:buNone/>
              <a:defRPr sz="1870">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224565988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0686534" cy="7562850"/>
          </a:xfrm>
          <a:prstGeom prst="rect">
            <a:avLst/>
          </a:prstGeom>
          <a:solidFill>
            <a:srgbClr val="000000"/>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18" name="Title 1"/>
          <p:cNvSpPr>
            <a:spLocks noGrp="1"/>
          </p:cNvSpPr>
          <p:nvPr>
            <p:ph type="title"/>
          </p:nvPr>
        </p:nvSpPr>
        <p:spPr bwMode="gray">
          <a:xfrm>
            <a:off x="411959" y="1880973"/>
            <a:ext cx="9133589" cy="1756067"/>
          </a:xfrm>
        </p:spPr>
        <p:txBody>
          <a:bodyPr anchor="b"/>
          <a:lstStyle>
            <a:lvl1pPr>
              <a:lnSpc>
                <a:spcPct val="95000"/>
              </a:lnSpc>
              <a:defRPr sz="3375"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11959" y="3781425"/>
            <a:ext cx="9133589" cy="1727537"/>
          </a:xfrm>
        </p:spPr>
        <p:txBody>
          <a:bodyPr lIns="0" tIns="0" rIns="0" bIns="0">
            <a:noAutofit/>
          </a:bodyPr>
          <a:lstStyle>
            <a:lvl1pPr marL="0" indent="0">
              <a:lnSpc>
                <a:spcPct val="95000"/>
              </a:lnSpc>
              <a:spcAft>
                <a:spcPts val="0"/>
              </a:spcAft>
              <a:buNone/>
              <a:defRPr sz="3375">
                <a:solidFill>
                  <a:schemeClr val="tx1"/>
                </a:solidFill>
              </a:defRPr>
            </a:lvl1pPr>
            <a:lvl2pPr marL="534423" indent="0">
              <a:buNone/>
              <a:defRPr sz="2338">
                <a:solidFill>
                  <a:schemeClr val="tx1">
                    <a:tint val="75000"/>
                  </a:schemeClr>
                </a:solidFill>
              </a:defRPr>
            </a:lvl2pPr>
            <a:lvl3pPr marL="1068846" indent="0">
              <a:buNone/>
              <a:defRPr sz="2104">
                <a:solidFill>
                  <a:schemeClr val="tx1">
                    <a:tint val="75000"/>
                  </a:schemeClr>
                </a:solidFill>
              </a:defRPr>
            </a:lvl3pPr>
            <a:lvl4pPr marL="1603269" indent="0">
              <a:buNone/>
              <a:defRPr sz="1870">
                <a:solidFill>
                  <a:schemeClr val="tx1">
                    <a:tint val="75000"/>
                  </a:schemeClr>
                </a:solidFill>
              </a:defRPr>
            </a:lvl4pPr>
            <a:lvl5pPr marL="2137692" indent="0">
              <a:buNone/>
              <a:defRPr sz="1870">
                <a:solidFill>
                  <a:schemeClr val="tx1">
                    <a:tint val="75000"/>
                  </a:schemeClr>
                </a:solidFill>
              </a:defRPr>
            </a:lvl5pPr>
            <a:lvl6pPr marL="2672115" indent="0">
              <a:buNone/>
              <a:defRPr sz="1870">
                <a:solidFill>
                  <a:schemeClr val="tx1">
                    <a:tint val="75000"/>
                  </a:schemeClr>
                </a:solidFill>
              </a:defRPr>
            </a:lvl6pPr>
            <a:lvl7pPr marL="3206538" indent="0">
              <a:buNone/>
              <a:defRPr sz="1870">
                <a:solidFill>
                  <a:schemeClr val="tx1">
                    <a:tint val="75000"/>
                  </a:schemeClr>
                </a:solidFill>
              </a:defRPr>
            </a:lvl7pPr>
            <a:lvl8pPr marL="3740960" indent="0">
              <a:buNone/>
              <a:defRPr sz="1870">
                <a:solidFill>
                  <a:schemeClr val="tx1">
                    <a:tint val="75000"/>
                  </a:schemeClr>
                </a:solidFill>
              </a:defRPr>
            </a:lvl8pPr>
            <a:lvl9pPr marL="4275384" indent="0">
              <a:buNone/>
              <a:defRPr sz="1870">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366833163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11959" y="1880973"/>
            <a:ext cx="9133589" cy="1756067"/>
          </a:xfrm>
        </p:spPr>
        <p:txBody>
          <a:bodyPr anchor="b"/>
          <a:lstStyle>
            <a:lvl1pPr>
              <a:lnSpc>
                <a:spcPct val="95000"/>
              </a:lnSpc>
              <a:defRPr sz="3375"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11958" y="3781425"/>
            <a:ext cx="9241218" cy="1727537"/>
          </a:xfrm>
        </p:spPr>
        <p:txBody>
          <a:bodyPr lIns="0" tIns="0" rIns="0" bIns="0">
            <a:noAutofit/>
          </a:bodyPr>
          <a:lstStyle>
            <a:lvl1pPr marL="0" indent="0">
              <a:lnSpc>
                <a:spcPct val="95000"/>
              </a:lnSpc>
              <a:spcAft>
                <a:spcPts val="0"/>
              </a:spcAft>
              <a:buNone/>
              <a:defRPr sz="3375">
                <a:solidFill>
                  <a:schemeClr val="tx1"/>
                </a:solidFill>
              </a:defRPr>
            </a:lvl1pPr>
            <a:lvl2pPr marL="534423" indent="0">
              <a:buNone/>
              <a:defRPr sz="2338">
                <a:solidFill>
                  <a:schemeClr val="tx1">
                    <a:tint val="75000"/>
                  </a:schemeClr>
                </a:solidFill>
              </a:defRPr>
            </a:lvl2pPr>
            <a:lvl3pPr marL="1068846" indent="0">
              <a:buNone/>
              <a:defRPr sz="2104">
                <a:solidFill>
                  <a:schemeClr val="tx1">
                    <a:tint val="75000"/>
                  </a:schemeClr>
                </a:solidFill>
              </a:defRPr>
            </a:lvl3pPr>
            <a:lvl4pPr marL="1603269" indent="0">
              <a:buNone/>
              <a:defRPr sz="1870">
                <a:solidFill>
                  <a:schemeClr val="tx1">
                    <a:tint val="75000"/>
                  </a:schemeClr>
                </a:solidFill>
              </a:defRPr>
            </a:lvl4pPr>
            <a:lvl5pPr marL="2137692" indent="0">
              <a:buNone/>
              <a:defRPr sz="1870">
                <a:solidFill>
                  <a:schemeClr val="tx1">
                    <a:tint val="75000"/>
                  </a:schemeClr>
                </a:solidFill>
              </a:defRPr>
            </a:lvl5pPr>
            <a:lvl6pPr marL="2672115" indent="0">
              <a:buNone/>
              <a:defRPr sz="1870">
                <a:solidFill>
                  <a:schemeClr val="tx1">
                    <a:tint val="75000"/>
                  </a:schemeClr>
                </a:solidFill>
              </a:defRPr>
            </a:lvl6pPr>
            <a:lvl7pPr marL="3206538" indent="0">
              <a:buNone/>
              <a:defRPr sz="1870">
                <a:solidFill>
                  <a:schemeClr val="tx1">
                    <a:tint val="75000"/>
                  </a:schemeClr>
                </a:solidFill>
              </a:defRPr>
            </a:lvl7pPr>
            <a:lvl8pPr marL="3740960" indent="0">
              <a:buNone/>
              <a:defRPr sz="1870">
                <a:solidFill>
                  <a:schemeClr val="tx1">
                    <a:tint val="75000"/>
                  </a:schemeClr>
                </a:solidFill>
              </a:defRPr>
            </a:lvl8pPr>
            <a:lvl9pPr marL="4275384" indent="0">
              <a:buNone/>
              <a:defRPr sz="1870">
                <a:solidFill>
                  <a:schemeClr val="tx1">
                    <a:tint val="75000"/>
                  </a:schemeClr>
                </a:solidFill>
              </a:defRPr>
            </a:lvl9pPr>
          </a:lstStyle>
          <a:p>
            <a:pPr lvl="0"/>
            <a:r>
              <a:rPr lang="en-GB" noProof="0"/>
              <a:t>Edit Master text styles</a:t>
            </a:r>
            <a:endParaRPr lang="en-GB"/>
          </a:p>
        </p:txBody>
      </p:sp>
      <p:sp>
        <p:nvSpPr>
          <p:cNvPr id="4" name="Footer Placeholder 3"/>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288245175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0686534" cy="7562850"/>
          </a:xfrm>
          <a:prstGeom prst="rect">
            <a:avLst/>
          </a:prstGeom>
          <a:solidFill>
            <a:srgbClr val="046A38"/>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4" name="Text Placeholder 3"/>
          <p:cNvSpPr>
            <a:spLocks noGrp="1"/>
          </p:cNvSpPr>
          <p:nvPr>
            <p:ph type="body" sz="quarter" idx="10"/>
          </p:nvPr>
        </p:nvSpPr>
        <p:spPr>
          <a:xfrm>
            <a:off x="421237" y="1754161"/>
            <a:ext cx="7916188" cy="5192457"/>
          </a:xfrm>
          <a:prstGeom prst="rect">
            <a:avLst/>
          </a:prstGeom>
        </p:spPr>
        <p:txBody>
          <a:bodyPr>
            <a:normAutofit/>
          </a:bodyPr>
          <a:lstStyle>
            <a:lvl1pPr>
              <a:spcBef>
                <a:spcPts val="4208"/>
              </a:spcBef>
              <a:defRPr sz="2455">
                <a:solidFill>
                  <a:schemeClr val="tx1"/>
                </a:solidFill>
              </a:defRPr>
            </a:lvl1pPr>
            <a:lvl2pPr marL="534423" indent="-534423">
              <a:defRPr sz="3507">
                <a:solidFill>
                  <a:schemeClr val="bg2"/>
                </a:solidFill>
              </a:defRPr>
            </a:lvl2pPr>
            <a:lvl3pPr>
              <a:defRPr sz="3507">
                <a:solidFill>
                  <a:schemeClr val="bg2"/>
                </a:solidFill>
              </a:defRPr>
            </a:lvl3pPr>
            <a:lvl4pPr>
              <a:defRPr sz="3507">
                <a:solidFill>
                  <a:schemeClr val="bg2"/>
                </a:solidFill>
              </a:defRPr>
            </a:lvl4pPr>
            <a:lvl5pPr>
              <a:defRPr sz="3507">
                <a:solidFill>
                  <a:schemeClr val="bg2"/>
                </a:solidFill>
              </a:defRPr>
            </a:lvl5pPr>
          </a:lstStyle>
          <a:p>
            <a:pPr lvl="0"/>
            <a:r>
              <a:rPr lang="en-GB" noProof="0"/>
              <a:t>Edit Master text styles</a:t>
            </a:r>
            <a:endParaRPr lang="en-GB"/>
          </a:p>
        </p:txBody>
      </p:sp>
      <p:sp>
        <p:nvSpPr>
          <p:cNvPr id="14" name="TextBox 13"/>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7417843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0686534" cy="7562850"/>
          </a:xfrm>
          <a:prstGeom prst="rect">
            <a:avLst/>
          </a:prstGeom>
          <a:solidFill>
            <a:srgbClr val="012169"/>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13" name="Text Placeholder 3"/>
          <p:cNvSpPr>
            <a:spLocks noGrp="1"/>
          </p:cNvSpPr>
          <p:nvPr>
            <p:ph type="body" sz="quarter" idx="10"/>
          </p:nvPr>
        </p:nvSpPr>
        <p:spPr>
          <a:xfrm>
            <a:off x="421237" y="1754161"/>
            <a:ext cx="7916188" cy="5192457"/>
          </a:xfrm>
          <a:prstGeom prst="rect">
            <a:avLst/>
          </a:prstGeom>
        </p:spPr>
        <p:txBody>
          <a:bodyPr>
            <a:normAutofit/>
          </a:bodyPr>
          <a:lstStyle>
            <a:lvl1pPr>
              <a:spcBef>
                <a:spcPts val="4208"/>
              </a:spcBef>
              <a:defRPr sz="2455">
                <a:solidFill>
                  <a:schemeClr val="tx1"/>
                </a:solidFill>
              </a:defRPr>
            </a:lvl1pPr>
            <a:lvl2pPr marL="534423" indent="-534423">
              <a:defRPr sz="3507">
                <a:solidFill>
                  <a:schemeClr val="bg2"/>
                </a:solidFill>
              </a:defRPr>
            </a:lvl2pPr>
            <a:lvl3pPr>
              <a:defRPr sz="3507">
                <a:solidFill>
                  <a:schemeClr val="bg2"/>
                </a:solidFill>
              </a:defRPr>
            </a:lvl3pPr>
            <a:lvl4pPr>
              <a:defRPr sz="3507">
                <a:solidFill>
                  <a:schemeClr val="bg2"/>
                </a:solidFill>
              </a:defRPr>
            </a:lvl4pPr>
            <a:lvl5pPr>
              <a:defRPr sz="3507">
                <a:solidFill>
                  <a:schemeClr val="bg2"/>
                </a:solidFill>
              </a:defRPr>
            </a:lvl5pPr>
          </a:lstStyle>
          <a:p>
            <a:pPr lvl="0"/>
            <a:r>
              <a:rPr lang="en-GB" noProof="0"/>
              <a:t>Edit Master text styles</a:t>
            </a:r>
            <a:endParaRPr lang="en-GB"/>
          </a:p>
        </p:txBody>
      </p:sp>
      <p:sp>
        <p:nvSpPr>
          <p:cNvPr id="16" name="TextBox 15"/>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115936463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0686534" cy="7562850"/>
          </a:xfrm>
          <a:prstGeom prst="rect">
            <a:avLst/>
          </a:prstGeom>
          <a:solidFill>
            <a:srgbClr val="0097A9"/>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17" name="Text Placeholder 3"/>
          <p:cNvSpPr>
            <a:spLocks noGrp="1"/>
          </p:cNvSpPr>
          <p:nvPr>
            <p:ph type="body" sz="quarter" idx="10"/>
          </p:nvPr>
        </p:nvSpPr>
        <p:spPr>
          <a:xfrm>
            <a:off x="421237" y="1754161"/>
            <a:ext cx="7916188" cy="5192457"/>
          </a:xfrm>
          <a:prstGeom prst="rect">
            <a:avLst/>
          </a:prstGeom>
        </p:spPr>
        <p:txBody>
          <a:bodyPr>
            <a:normAutofit/>
          </a:bodyPr>
          <a:lstStyle>
            <a:lvl1pPr>
              <a:spcBef>
                <a:spcPts val="4208"/>
              </a:spcBef>
              <a:defRPr sz="2455">
                <a:solidFill>
                  <a:schemeClr val="tx1"/>
                </a:solidFill>
              </a:defRPr>
            </a:lvl1pPr>
            <a:lvl2pPr marL="534423" indent="-534423">
              <a:defRPr sz="3507">
                <a:solidFill>
                  <a:schemeClr val="bg2"/>
                </a:solidFill>
              </a:defRPr>
            </a:lvl2pPr>
            <a:lvl3pPr>
              <a:defRPr sz="3507">
                <a:solidFill>
                  <a:schemeClr val="bg2"/>
                </a:solidFill>
              </a:defRPr>
            </a:lvl3pPr>
            <a:lvl4pPr>
              <a:defRPr sz="3507">
                <a:solidFill>
                  <a:schemeClr val="bg2"/>
                </a:solidFill>
              </a:defRPr>
            </a:lvl4pPr>
            <a:lvl5pPr>
              <a:defRPr sz="3507">
                <a:solidFill>
                  <a:schemeClr val="bg2"/>
                </a:solidFill>
              </a:defRPr>
            </a:lvl5pPr>
          </a:lstStyle>
          <a:p>
            <a:pPr lvl="0"/>
            <a:r>
              <a:rPr lang="en-GB" noProof="0"/>
              <a:t>Edit Master text styles</a:t>
            </a:r>
            <a:endParaRPr lang="en-GB"/>
          </a:p>
        </p:txBody>
      </p:sp>
      <p:sp>
        <p:nvSpPr>
          <p:cNvPr id="20" name="TextBox 19"/>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5358974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0686534" cy="7562850"/>
          </a:xfrm>
          <a:prstGeom prst="rect">
            <a:avLst/>
          </a:prstGeom>
          <a:solidFill>
            <a:srgbClr val="000000"/>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13" name="Text Placeholder 3"/>
          <p:cNvSpPr>
            <a:spLocks noGrp="1"/>
          </p:cNvSpPr>
          <p:nvPr>
            <p:ph type="body" sz="quarter" idx="10"/>
          </p:nvPr>
        </p:nvSpPr>
        <p:spPr>
          <a:xfrm>
            <a:off x="421237" y="1754161"/>
            <a:ext cx="7916188" cy="5192457"/>
          </a:xfrm>
          <a:prstGeom prst="rect">
            <a:avLst/>
          </a:prstGeom>
        </p:spPr>
        <p:txBody>
          <a:bodyPr>
            <a:normAutofit/>
          </a:bodyPr>
          <a:lstStyle>
            <a:lvl1pPr>
              <a:spcBef>
                <a:spcPts val="4208"/>
              </a:spcBef>
              <a:defRPr sz="2455">
                <a:solidFill>
                  <a:schemeClr val="tx1"/>
                </a:solidFill>
              </a:defRPr>
            </a:lvl1pPr>
            <a:lvl2pPr marL="534423" indent="-534423">
              <a:defRPr sz="3507">
                <a:solidFill>
                  <a:schemeClr val="bg2"/>
                </a:solidFill>
              </a:defRPr>
            </a:lvl2pPr>
            <a:lvl3pPr>
              <a:defRPr sz="3507">
                <a:solidFill>
                  <a:schemeClr val="bg2"/>
                </a:solidFill>
              </a:defRPr>
            </a:lvl3pPr>
            <a:lvl4pPr>
              <a:defRPr sz="3507">
                <a:solidFill>
                  <a:schemeClr val="bg2"/>
                </a:solidFill>
              </a:defRPr>
            </a:lvl4pPr>
            <a:lvl5pPr>
              <a:defRPr sz="3507">
                <a:solidFill>
                  <a:schemeClr val="bg2"/>
                </a:solidFill>
              </a:defRPr>
            </a:lvl5pPr>
          </a:lstStyle>
          <a:p>
            <a:pPr lvl="0"/>
            <a:r>
              <a:rPr lang="en-GB" noProof="0"/>
              <a:t>Edit Master text styles</a:t>
            </a:r>
            <a:endParaRPr lang="en-GB"/>
          </a:p>
        </p:txBody>
      </p:sp>
      <p:sp>
        <p:nvSpPr>
          <p:cNvPr id="16" name="TextBox 15"/>
          <p:cNvSpPr txBox="1"/>
          <p:nvPr userDrawn="1"/>
        </p:nvSpPr>
        <p:spPr>
          <a:xfrm>
            <a:off x="10006681"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2" name="Footer Placeholder 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0394364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11958" y="1754161"/>
            <a:ext cx="7916188" cy="5192457"/>
          </a:xfrm>
          <a:prstGeom prst="rect">
            <a:avLst/>
          </a:prstGeom>
        </p:spPr>
        <p:txBody>
          <a:bodyPr>
            <a:normAutofit/>
          </a:bodyPr>
          <a:lstStyle>
            <a:lvl1pPr>
              <a:spcBef>
                <a:spcPts val="4208"/>
              </a:spcBef>
              <a:defRPr sz="2455">
                <a:solidFill>
                  <a:schemeClr val="tx1"/>
                </a:solidFill>
              </a:defRPr>
            </a:lvl1pPr>
            <a:lvl2pPr marL="534423" indent="-534423">
              <a:defRPr sz="3507">
                <a:solidFill>
                  <a:schemeClr val="bg2"/>
                </a:solidFill>
              </a:defRPr>
            </a:lvl2pPr>
            <a:lvl3pPr>
              <a:defRPr sz="3507">
                <a:solidFill>
                  <a:schemeClr val="bg2"/>
                </a:solidFill>
              </a:defRPr>
            </a:lvl3pPr>
            <a:lvl4pPr>
              <a:defRPr sz="3507">
                <a:solidFill>
                  <a:schemeClr val="bg2"/>
                </a:solidFill>
              </a:defRPr>
            </a:lvl4pPr>
            <a:lvl5pPr>
              <a:defRPr sz="3507">
                <a:solidFill>
                  <a:schemeClr val="bg2"/>
                </a:solidFill>
              </a:defRPr>
            </a:lvl5pPr>
          </a:lstStyle>
          <a:p>
            <a:pPr lvl="0"/>
            <a:r>
              <a:rPr lang="en-GB" noProof="0"/>
              <a:t>Edit Master text styles</a:t>
            </a:r>
            <a:endParaRPr lang="en-GB"/>
          </a:p>
        </p:txBody>
      </p:sp>
      <p:sp>
        <p:nvSpPr>
          <p:cNvPr id="2" name="Footer Placeholder 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296287930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11958" y="1836446"/>
            <a:ext cx="8196014" cy="5110173"/>
          </a:xfrm>
          <a:prstGeom prst="rect">
            <a:avLst/>
          </a:prstGeom>
        </p:spPr>
        <p:txBody>
          <a:bodyPr/>
          <a:lstStyle>
            <a:lvl1pPr>
              <a:tabLst>
                <a:tab pos="7866038" algn="r"/>
              </a:tabLst>
              <a:defRPr/>
            </a:lvl1pPr>
            <a:lvl2pPr>
              <a:tabLst>
                <a:tab pos="7866038" algn="r"/>
              </a:tabLst>
              <a:defRPr/>
            </a:lvl2pPr>
            <a:lvl3pPr>
              <a:tabLst>
                <a:tab pos="7866038" algn="r"/>
              </a:tabLst>
              <a:defRPr/>
            </a:lvl3pPr>
            <a:lvl4pPr>
              <a:tabLst>
                <a:tab pos="7866038" algn="r"/>
              </a:tabLst>
              <a:defRPr/>
            </a:lvl4pPr>
            <a:lvl5pPr>
              <a:tabLst>
                <a:tab pos="5878652" algn="r"/>
              </a:tabLst>
              <a:defRPr baseline="0"/>
            </a:lvl5pPr>
            <a:lvl6pPr marL="416597" indent="0">
              <a:buNone/>
              <a:tabLst>
                <a:tab pos="7866038" algn="r"/>
              </a:tabLst>
              <a:defRPr/>
            </a:lvl6pPr>
            <a:lvl7pPr>
              <a:tabLst>
                <a:tab pos="7866038" algn="r"/>
              </a:tabLst>
              <a:defRPr/>
            </a:lvl7pPr>
            <a:lvl8pPr>
              <a:tabLst>
                <a:tab pos="7866038" algn="r"/>
              </a:tabLst>
              <a:defRPr/>
            </a:lvl8pPr>
            <a:lvl9pPr>
              <a:tabLst>
                <a:tab pos="7866038"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807778827"/>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5" name="Picture Placeholder 9"/>
          <p:cNvSpPr>
            <a:spLocks noGrp="1"/>
          </p:cNvSpPr>
          <p:nvPr>
            <p:ph type="pic" sz="quarter" idx="15"/>
          </p:nvPr>
        </p:nvSpPr>
        <p:spPr>
          <a:xfrm>
            <a:off x="4913747" y="1874957"/>
            <a:ext cx="5362934" cy="5071662"/>
          </a:xfrm>
        </p:spPr>
        <p:txBody>
          <a:bodyPr/>
          <a:lstStyle/>
          <a:p>
            <a:r>
              <a:rPr lang="en-GB" noProof="0" dirty="0"/>
              <a:t>Click icon to add picture</a:t>
            </a:r>
          </a:p>
        </p:txBody>
      </p:sp>
      <p:sp>
        <p:nvSpPr>
          <p:cNvPr id="6" name="Content Placeholder 3"/>
          <p:cNvSpPr>
            <a:spLocks noGrp="1"/>
          </p:cNvSpPr>
          <p:nvPr>
            <p:ph sz="quarter" idx="10"/>
          </p:nvPr>
        </p:nvSpPr>
        <p:spPr>
          <a:xfrm>
            <a:off x="411958" y="1836445"/>
            <a:ext cx="3799291" cy="5110174"/>
          </a:xfrm>
          <a:prstGeom prst="rect">
            <a:avLst/>
          </a:prstGeom>
        </p:spPr>
        <p:txBody>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258831828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11958" y="1836445"/>
            <a:ext cx="9864722" cy="5110174"/>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18319571"/>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11958" y="1837028"/>
            <a:ext cx="9864722" cy="5109592"/>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502884800"/>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11958" y="1848699"/>
            <a:ext cx="9864722" cy="5097920"/>
          </a:xfrm>
          <a:prstGeom prst="rect">
            <a:avLst/>
          </a:prstGeom>
        </p:spPr>
        <p:txBody>
          <a:bodyPr vert="horz" lIns="0" tIns="0" rIns="0" bIns="0" rtlCol="0">
            <a:noAutofit/>
          </a:bodyPr>
          <a:lstStyle>
            <a:lvl1pPr>
              <a:defRPr sz="1403"/>
            </a:lvl1pPr>
            <a:lvl2pPr>
              <a:defRPr sz="1403"/>
            </a:lvl2pPr>
            <a:lvl3pPr>
              <a:defRPr sz="1403"/>
            </a:lvl3pPr>
            <a:lvl4pPr>
              <a:defRPr sz="1403"/>
            </a:lvl4pPr>
            <a:lvl5pPr>
              <a:defRPr sz="1403"/>
            </a:lvl5pPr>
            <a:lvl6pPr>
              <a:defRPr sz="1403"/>
            </a:lvl6pPr>
            <a:lvl7pPr>
              <a:defRPr sz="1403"/>
            </a:lvl7pPr>
            <a:lvl8pPr>
              <a:defRPr sz="1403"/>
            </a:lvl8pPr>
            <a:lvl9pPr>
              <a:defRPr sz="1403"/>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489236252"/>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10292" y="1858035"/>
            <a:ext cx="9864722" cy="393898"/>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10293" y="6597688"/>
            <a:ext cx="9864723" cy="348931"/>
          </a:xfrm>
        </p:spPr>
        <p:txBody>
          <a:bodyPr>
            <a:noAutofit/>
          </a:bodyPr>
          <a:lstStyle>
            <a:lvl1pPr>
              <a:spcAft>
                <a:spcPts val="0"/>
              </a:spcAft>
              <a:defRPr sz="789"/>
            </a:lvl1pPr>
          </a:lstStyle>
          <a:p>
            <a:pPr lvl="0"/>
            <a:r>
              <a:rPr lang="en-GB" noProof="0"/>
              <a:t>Edit Master text styles</a:t>
            </a:r>
            <a:endParaRPr lang="en-GB"/>
          </a:p>
        </p:txBody>
      </p:sp>
      <p:sp>
        <p:nvSpPr>
          <p:cNvPr id="17" name="Chart Placeholder 3"/>
          <p:cNvSpPr>
            <a:spLocks noGrp="1"/>
          </p:cNvSpPr>
          <p:nvPr>
            <p:ph type="chart" sz="quarter" idx="15"/>
          </p:nvPr>
        </p:nvSpPr>
        <p:spPr>
          <a:xfrm>
            <a:off x="410292" y="2245979"/>
            <a:ext cx="9864722" cy="4351709"/>
          </a:xfrm>
          <a:prstGeom prst="rect">
            <a:avLst/>
          </a:prstGeom>
        </p:spPr>
        <p:txBody>
          <a:bodyPr/>
          <a:lstStyle/>
          <a:p>
            <a:r>
              <a:rPr lang="en-GB" noProof="0" dirty="0"/>
              <a:t>Click icon to add chart</a:t>
            </a:r>
          </a:p>
        </p:txBody>
      </p:sp>
      <p:sp>
        <p:nvSpPr>
          <p:cNvPr id="2" name="Footer Placeholder 1"/>
          <p:cNvSpPr>
            <a:spLocks noGrp="1"/>
          </p:cNvSpPr>
          <p:nvPr>
            <p:ph type="ftr" sz="quarter" idx="24"/>
          </p:nvPr>
        </p:nvSpPr>
        <p:spPr/>
        <p:txBody>
          <a:bodyPr/>
          <a:lstStyle/>
          <a:p>
            <a:endParaRPr lang="en-GB" dirty="0"/>
          </a:p>
        </p:txBody>
      </p:sp>
    </p:spTree>
    <p:extLst>
      <p:ext uri="{BB962C8B-B14F-4D97-AF65-F5344CB8AC3E}">
        <p14:creationId xmlns:p14="http://schemas.microsoft.com/office/powerpoint/2010/main" val="1195368370"/>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10292" y="1836444"/>
            <a:ext cx="3156094" cy="4324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10292" y="2262899"/>
            <a:ext cx="3156094" cy="4334789"/>
          </a:xfrm>
          <a:prstGeom prst="rect">
            <a:avLst/>
          </a:prstGeom>
        </p:spPr>
        <p:txBody>
          <a:bodyPr/>
          <a:lstStyle/>
          <a:p>
            <a:r>
              <a:rPr lang="en-GB" noProof="0" dirty="0"/>
              <a:t>Click icon to add chart</a:t>
            </a:r>
          </a:p>
        </p:txBody>
      </p:sp>
      <p:sp>
        <p:nvSpPr>
          <p:cNvPr id="7" name="Chart Placeholder 3"/>
          <p:cNvSpPr>
            <a:spLocks noGrp="1"/>
          </p:cNvSpPr>
          <p:nvPr>
            <p:ph type="chart" sz="quarter" idx="19"/>
          </p:nvPr>
        </p:nvSpPr>
        <p:spPr>
          <a:xfrm>
            <a:off x="3766272" y="2262898"/>
            <a:ext cx="3156094" cy="4334789"/>
          </a:xfrm>
          <a:prstGeom prst="rect">
            <a:avLst/>
          </a:prstGeom>
        </p:spPr>
        <p:txBody>
          <a:bodyPr/>
          <a:lstStyle/>
          <a:p>
            <a:r>
              <a:rPr lang="en-GB" noProof="0" dirty="0"/>
              <a:t>Click icon to add chart</a:t>
            </a:r>
          </a:p>
        </p:txBody>
      </p:sp>
      <p:sp>
        <p:nvSpPr>
          <p:cNvPr id="8" name="Text Placeholder 8"/>
          <p:cNvSpPr>
            <a:spLocks noGrp="1"/>
          </p:cNvSpPr>
          <p:nvPr>
            <p:ph type="body" sz="quarter" idx="20"/>
          </p:nvPr>
        </p:nvSpPr>
        <p:spPr>
          <a:xfrm>
            <a:off x="3766275" y="1836443"/>
            <a:ext cx="3156094" cy="4324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7089779" y="2262899"/>
            <a:ext cx="3156094" cy="4334789"/>
          </a:xfrm>
          <a:prstGeom prst="rect">
            <a:avLst/>
          </a:prstGeom>
        </p:spPr>
        <p:txBody>
          <a:bodyPr/>
          <a:lstStyle/>
          <a:p>
            <a:r>
              <a:rPr lang="en-GB" noProof="0" dirty="0"/>
              <a:t>Click icon to add chart</a:t>
            </a:r>
          </a:p>
        </p:txBody>
      </p:sp>
      <p:sp>
        <p:nvSpPr>
          <p:cNvPr id="10" name="Text Placeholder 8"/>
          <p:cNvSpPr>
            <a:spLocks noGrp="1"/>
          </p:cNvSpPr>
          <p:nvPr>
            <p:ph type="body" sz="quarter" idx="22"/>
          </p:nvPr>
        </p:nvSpPr>
        <p:spPr>
          <a:xfrm>
            <a:off x="7089778" y="1829668"/>
            <a:ext cx="3156094" cy="439188"/>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10293" y="6597688"/>
            <a:ext cx="9864723" cy="348931"/>
          </a:xfrm>
        </p:spPr>
        <p:txBody>
          <a:bodyPr>
            <a:noAutofit/>
          </a:bodyPr>
          <a:lstStyle>
            <a:lvl1pPr>
              <a:spcAft>
                <a:spcPts val="0"/>
              </a:spcAft>
              <a:defRPr sz="789"/>
            </a:lvl1pPr>
          </a:lstStyle>
          <a:p>
            <a:pPr lvl="0"/>
            <a:r>
              <a:rPr lang="en-GB" noProof="0"/>
              <a:t>Edit Master text styles</a:t>
            </a:r>
            <a:endParaRPr lang="en-GB"/>
          </a:p>
        </p:txBody>
      </p:sp>
      <p:sp>
        <p:nvSpPr>
          <p:cNvPr id="14"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3"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p:txBody>
          <a:bodyPr/>
          <a:lstStyle/>
          <a:p>
            <a:endParaRPr lang="en-GB" dirty="0"/>
          </a:p>
        </p:txBody>
      </p:sp>
    </p:spTree>
    <p:extLst>
      <p:ext uri="{BB962C8B-B14F-4D97-AF65-F5344CB8AC3E}">
        <p14:creationId xmlns:p14="http://schemas.microsoft.com/office/powerpoint/2010/main" val="165703143"/>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10292" y="1836443"/>
            <a:ext cx="4671019" cy="5097598"/>
          </a:xfrm>
          <a:prstGeom prst="rect">
            <a:avLst/>
          </a:prstGeom>
        </p:spPr>
        <p:txBody>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Content Placeholder 3"/>
          <p:cNvSpPr>
            <a:spLocks noGrp="1"/>
          </p:cNvSpPr>
          <p:nvPr>
            <p:ph sz="quarter" idx="20"/>
          </p:nvPr>
        </p:nvSpPr>
        <p:spPr>
          <a:xfrm>
            <a:off x="5605661" y="1826200"/>
            <a:ext cx="4671019" cy="5107841"/>
          </a:xfrm>
          <a:prstGeom prst="rect">
            <a:avLst/>
          </a:prstGeom>
        </p:spPr>
        <p:txBody>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p:txBody>
          <a:bodyPr/>
          <a:lstStyle/>
          <a:p>
            <a:endParaRPr lang="en-GB" dirty="0"/>
          </a:p>
        </p:txBody>
      </p:sp>
    </p:spTree>
    <p:extLst>
      <p:ext uri="{BB962C8B-B14F-4D97-AF65-F5344CB8AC3E}">
        <p14:creationId xmlns:p14="http://schemas.microsoft.com/office/powerpoint/2010/main" val="132931571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11958" y="1836443"/>
            <a:ext cx="4671019" cy="5110175"/>
          </a:xfrm>
          <a:prstGeom prst="rect">
            <a:avLst/>
          </a:prstGeom>
        </p:spPr>
        <p:txBody>
          <a:bodyPr>
            <a:noAutofit/>
          </a:bodyPr>
          <a:lstStyle>
            <a:lvl1pPr>
              <a:tabLst>
                <a:tab pos="5878652" algn="r"/>
              </a:tabLst>
              <a:defRPr sz="1403"/>
            </a:lvl1pPr>
            <a:lvl2pPr>
              <a:tabLst>
                <a:tab pos="5878652" algn="r"/>
              </a:tabLst>
              <a:defRPr sz="1403"/>
            </a:lvl2pPr>
            <a:lvl3pPr>
              <a:tabLst>
                <a:tab pos="5878652" algn="r"/>
              </a:tabLst>
              <a:defRPr sz="1403"/>
            </a:lvl3pPr>
            <a:lvl4pPr>
              <a:tabLst>
                <a:tab pos="5878652" algn="r"/>
              </a:tabLst>
              <a:defRPr sz="1403"/>
            </a:lvl4pPr>
            <a:lvl5pPr>
              <a:tabLst>
                <a:tab pos="5878652" algn="r"/>
              </a:tabLst>
              <a:defRPr sz="877" baseline="0"/>
            </a:lvl5pPr>
            <a:lvl6pPr>
              <a:defRPr sz="877"/>
            </a:lvl6pPr>
            <a:lvl7pPr>
              <a:defRPr sz="877"/>
            </a:lvl7pPr>
            <a:lvl8pPr>
              <a:defRPr sz="877"/>
            </a:lvl8pPr>
            <a:lvl9pPr>
              <a:defRPr sz="877"/>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3"/>
          <p:cNvSpPr>
            <a:spLocks noGrp="1"/>
          </p:cNvSpPr>
          <p:nvPr>
            <p:ph sz="quarter" idx="20"/>
          </p:nvPr>
        </p:nvSpPr>
        <p:spPr>
          <a:xfrm>
            <a:off x="5605661" y="1836443"/>
            <a:ext cx="4671019" cy="5110175"/>
          </a:xfrm>
          <a:prstGeom prst="rect">
            <a:avLst/>
          </a:prstGeom>
        </p:spPr>
        <p:txBody>
          <a:bodyPr>
            <a:noAutofit/>
          </a:bodyPr>
          <a:lstStyle>
            <a:lvl1pPr>
              <a:tabLst>
                <a:tab pos="5878652" algn="r"/>
              </a:tabLst>
              <a:defRPr sz="1403"/>
            </a:lvl1pPr>
            <a:lvl2pPr>
              <a:tabLst>
                <a:tab pos="5878652" algn="r"/>
              </a:tabLst>
              <a:defRPr sz="1403"/>
            </a:lvl2pPr>
            <a:lvl3pPr>
              <a:tabLst>
                <a:tab pos="5878652" algn="r"/>
              </a:tabLst>
              <a:defRPr sz="1403"/>
            </a:lvl3pPr>
            <a:lvl4pPr>
              <a:tabLst>
                <a:tab pos="5878652" algn="r"/>
              </a:tabLst>
              <a:defRPr sz="1403"/>
            </a:lvl4pPr>
            <a:lvl5pPr>
              <a:tabLst>
                <a:tab pos="5878652" algn="r"/>
              </a:tabLst>
              <a:defRPr sz="877" baseline="0"/>
            </a:lvl5pPr>
            <a:lvl6pPr>
              <a:defRPr sz="877"/>
            </a:lvl6pPr>
            <a:lvl7pPr>
              <a:defRPr sz="877"/>
            </a:lvl7pPr>
            <a:lvl8pPr>
              <a:defRPr sz="877"/>
            </a:lvl8pPr>
            <a:lvl9pPr>
              <a:defRPr sz="877"/>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p:txBody>
          <a:bodyPr/>
          <a:lstStyle/>
          <a:p>
            <a:endParaRPr lang="en-GB" dirty="0"/>
          </a:p>
        </p:txBody>
      </p:sp>
    </p:spTree>
    <p:extLst>
      <p:ext uri="{BB962C8B-B14F-4D97-AF65-F5344CB8AC3E}">
        <p14:creationId xmlns:p14="http://schemas.microsoft.com/office/powerpoint/2010/main" val="44290781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11958" y="1836443"/>
            <a:ext cx="4804627" cy="4761245"/>
          </a:xfrm>
          <a:prstGeom prst="rect">
            <a:avLst/>
          </a:prstGeom>
        </p:spPr>
        <p:txBody>
          <a:bodyPr>
            <a:noAutofit/>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vl6pPr marL="416597"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3" name="Chart Placeholder 2"/>
          <p:cNvSpPr>
            <a:spLocks noGrp="1"/>
          </p:cNvSpPr>
          <p:nvPr>
            <p:ph type="chart" sz="quarter" idx="21"/>
          </p:nvPr>
        </p:nvSpPr>
        <p:spPr>
          <a:xfrm>
            <a:off x="5470198" y="2343418"/>
            <a:ext cx="4806482" cy="4254271"/>
          </a:xfrm>
        </p:spPr>
        <p:txBody>
          <a:bodyPr>
            <a:noAutofit/>
          </a:bodyPr>
          <a:lstStyle/>
          <a:p>
            <a:r>
              <a:rPr lang="en-GB" noProof="0" dirty="0"/>
              <a:t>Click icon to add chart</a:t>
            </a:r>
          </a:p>
        </p:txBody>
      </p:sp>
      <p:sp>
        <p:nvSpPr>
          <p:cNvPr id="6" name="Text Placeholder 5"/>
          <p:cNvSpPr>
            <a:spLocks noGrp="1"/>
          </p:cNvSpPr>
          <p:nvPr>
            <p:ph type="body" sz="quarter" idx="22"/>
          </p:nvPr>
        </p:nvSpPr>
        <p:spPr>
          <a:xfrm>
            <a:off x="5470198" y="1825939"/>
            <a:ext cx="4806482" cy="463924"/>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10293" y="6597688"/>
            <a:ext cx="9864723" cy="348931"/>
          </a:xfrm>
        </p:spPr>
        <p:txBody>
          <a:bodyPr>
            <a:noAutofit/>
          </a:bodyPr>
          <a:lstStyle>
            <a:lvl1pPr>
              <a:spcAft>
                <a:spcPts val="0"/>
              </a:spcAft>
              <a:defRPr sz="789"/>
            </a:lvl1pPr>
          </a:lstStyle>
          <a:p>
            <a:pPr lvl="0"/>
            <a:r>
              <a:rPr lang="en-GB" noProof="0"/>
              <a:t>Edit Master text styles</a:t>
            </a:r>
            <a:endParaRPr lang="en-GB"/>
          </a:p>
        </p:txBody>
      </p:sp>
      <p:sp>
        <p:nvSpPr>
          <p:cNvPr id="14"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2"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p:txBody>
          <a:bodyPr/>
          <a:lstStyle/>
          <a:p>
            <a:endParaRPr lang="en-GB" dirty="0"/>
          </a:p>
        </p:txBody>
      </p:sp>
    </p:spTree>
    <p:extLst>
      <p:ext uri="{BB962C8B-B14F-4D97-AF65-F5344CB8AC3E}">
        <p14:creationId xmlns:p14="http://schemas.microsoft.com/office/powerpoint/2010/main" val="143982341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5470198" y="2343418"/>
            <a:ext cx="4806482" cy="4254271"/>
          </a:xfrm>
        </p:spPr>
        <p:txBody>
          <a:bodyPr>
            <a:noAutofit/>
          </a:bodyPr>
          <a:lstStyle/>
          <a:p>
            <a:r>
              <a:rPr lang="en-GB" noProof="0" dirty="0"/>
              <a:t>Click icon to add chart</a:t>
            </a:r>
          </a:p>
        </p:txBody>
      </p:sp>
      <p:sp>
        <p:nvSpPr>
          <p:cNvPr id="6" name="Text Placeholder 5"/>
          <p:cNvSpPr>
            <a:spLocks noGrp="1"/>
          </p:cNvSpPr>
          <p:nvPr>
            <p:ph type="body" sz="quarter" idx="22"/>
          </p:nvPr>
        </p:nvSpPr>
        <p:spPr>
          <a:xfrm>
            <a:off x="5470199" y="1824026"/>
            <a:ext cx="4806482" cy="463924"/>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11958" y="2343418"/>
            <a:ext cx="4806483" cy="4254271"/>
          </a:xfrm>
        </p:spPr>
        <p:txBody>
          <a:bodyPr>
            <a:noAutofit/>
          </a:bodyPr>
          <a:lstStyle/>
          <a:p>
            <a:r>
              <a:rPr lang="en-GB" noProof="0" dirty="0"/>
              <a:t>Click icon to add chart</a:t>
            </a:r>
          </a:p>
        </p:txBody>
      </p:sp>
      <p:sp>
        <p:nvSpPr>
          <p:cNvPr id="12" name="Text Placeholder 5"/>
          <p:cNvSpPr>
            <a:spLocks noGrp="1"/>
          </p:cNvSpPr>
          <p:nvPr>
            <p:ph type="body" sz="quarter" idx="25"/>
          </p:nvPr>
        </p:nvSpPr>
        <p:spPr>
          <a:xfrm>
            <a:off x="411957" y="1836443"/>
            <a:ext cx="4806483" cy="45150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10293" y="6597688"/>
            <a:ext cx="9864723" cy="348931"/>
          </a:xfrm>
        </p:spPr>
        <p:txBody>
          <a:bodyPr>
            <a:noAutofit/>
          </a:bodyPr>
          <a:lstStyle>
            <a:lvl1pPr>
              <a:spcAft>
                <a:spcPts val="0"/>
              </a:spcAft>
              <a:defRPr sz="789"/>
            </a:lvl1pPr>
          </a:lstStyle>
          <a:p>
            <a:pPr lvl="0"/>
            <a:r>
              <a:rPr lang="en-GB" noProof="0"/>
              <a:t>Edit Master text styles</a:t>
            </a:r>
            <a:endParaRPr lang="en-GB"/>
          </a:p>
        </p:txBody>
      </p:sp>
      <p:sp>
        <p:nvSpPr>
          <p:cNvPr id="17"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p:txBody>
          <a:bodyPr/>
          <a:lstStyle/>
          <a:p>
            <a:endParaRPr lang="en-GB" dirty="0"/>
          </a:p>
        </p:txBody>
      </p:sp>
    </p:spTree>
    <p:extLst>
      <p:ext uri="{BB962C8B-B14F-4D97-AF65-F5344CB8AC3E}">
        <p14:creationId xmlns:p14="http://schemas.microsoft.com/office/powerpoint/2010/main" val="166521234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11958" y="1836444"/>
            <a:ext cx="3885377" cy="5110176"/>
          </a:xfrm>
          <a:prstGeom prst="rect">
            <a:avLst/>
          </a:prstGeom>
        </p:spPr>
        <p:txBody>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Content Placeholder 3"/>
          <p:cNvSpPr>
            <a:spLocks noGrp="1"/>
          </p:cNvSpPr>
          <p:nvPr>
            <p:ph sz="quarter" idx="16"/>
          </p:nvPr>
        </p:nvSpPr>
        <p:spPr>
          <a:xfrm>
            <a:off x="4806117" y="1874958"/>
            <a:ext cx="5470563" cy="5071663"/>
          </a:xfrm>
          <a:prstGeom prst="rect">
            <a:avLst/>
          </a:prstGeom>
        </p:spPr>
        <p:txBody>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p:txBody>
          <a:bodyPr/>
          <a:lstStyle/>
          <a:p>
            <a:endParaRPr lang="en-GB" dirty="0"/>
          </a:p>
        </p:txBody>
      </p:sp>
    </p:spTree>
    <p:extLst>
      <p:ext uri="{BB962C8B-B14F-4D97-AF65-F5344CB8AC3E}">
        <p14:creationId xmlns:p14="http://schemas.microsoft.com/office/powerpoint/2010/main" val="387897883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6535847" y="1793226"/>
            <a:ext cx="3740833" cy="5153392"/>
          </a:xfrm>
          <a:prstGeom prst="rect">
            <a:avLst/>
          </a:prstGeom>
        </p:spPr>
        <p:txBody>
          <a:bodyPr>
            <a:noAutofit/>
          </a:bodyPr>
          <a:lstStyle>
            <a:lvl1pPr>
              <a:tabLst>
                <a:tab pos="5878652" algn="r"/>
              </a:tabLst>
              <a:defRPr sz="2104">
                <a:solidFill>
                  <a:schemeClr val="accent3"/>
                </a:solidFill>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11958" y="1836443"/>
            <a:ext cx="5839533" cy="5110176"/>
          </a:xfrm>
          <a:prstGeom prst="rect">
            <a:avLst/>
          </a:prstGeom>
        </p:spPr>
        <p:txBody>
          <a:bodyPr>
            <a:noAutofit/>
          </a:bodyPr>
          <a:lstStyle>
            <a:lvl1pPr>
              <a:tabLst>
                <a:tab pos="5878652" algn="r"/>
              </a:tabLst>
              <a:defRPr/>
            </a:lvl1pPr>
            <a:lvl2pPr>
              <a:tabLst>
                <a:tab pos="5878652" algn="r"/>
              </a:tabLst>
              <a:defRPr/>
            </a:lvl2pPr>
            <a:lvl3pPr>
              <a:tabLst>
                <a:tab pos="5878652" algn="r"/>
              </a:tabLst>
              <a:defRPr/>
            </a:lvl3pPr>
            <a:lvl4pPr>
              <a:tabLst>
                <a:tab pos="5878652" algn="r"/>
              </a:tabLst>
              <a:defRPr/>
            </a:lvl4pPr>
            <a:lvl5pPr>
              <a:tabLst>
                <a:tab pos="587865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p:txBody>
          <a:bodyPr/>
          <a:lstStyle/>
          <a:p>
            <a:endParaRPr lang="en-GB" dirty="0"/>
          </a:p>
        </p:txBody>
      </p:sp>
    </p:spTree>
    <p:extLst>
      <p:ext uri="{BB962C8B-B14F-4D97-AF65-F5344CB8AC3E}">
        <p14:creationId xmlns:p14="http://schemas.microsoft.com/office/powerpoint/2010/main" val="376637594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28477" y="1874957"/>
            <a:ext cx="2335509" cy="1389500"/>
          </a:xfrm>
        </p:spPr>
        <p:txBody>
          <a:bodyPr lIns="0" tIns="0" rIns="0" bIns="0">
            <a:noAutofit/>
          </a:bodyPr>
          <a:lstStyle/>
          <a:p>
            <a:r>
              <a:rPr lang="en-GB" noProof="0" dirty="0"/>
              <a:t>Click icon to add picture</a:t>
            </a:r>
          </a:p>
        </p:txBody>
      </p:sp>
      <p:sp>
        <p:nvSpPr>
          <p:cNvPr id="5" name="Picture Placeholder 6"/>
          <p:cNvSpPr>
            <a:spLocks noGrp="1"/>
          </p:cNvSpPr>
          <p:nvPr>
            <p:ph type="pic" sz="quarter" idx="14"/>
          </p:nvPr>
        </p:nvSpPr>
        <p:spPr>
          <a:xfrm>
            <a:off x="2929066" y="1874956"/>
            <a:ext cx="2335509" cy="1389500"/>
          </a:xfrm>
        </p:spPr>
        <p:txBody>
          <a:bodyPr lIns="0" tIns="0" rIns="0" bIns="0">
            <a:noAutofit/>
          </a:bodyPr>
          <a:lstStyle/>
          <a:p>
            <a:r>
              <a:rPr lang="en-GB" noProof="0" dirty="0"/>
              <a:t>Click icon to add picture</a:t>
            </a:r>
          </a:p>
        </p:txBody>
      </p:sp>
      <p:sp>
        <p:nvSpPr>
          <p:cNvPr id="6" name="Picture Placeholder 6"/>
          <p:cNvSpPr>
            <a:spLocks noGrp="1"/>
          </p:cNvSpPr>
          <p:nvPr>
            <p:ph type="pic" sz="quarter" idx="15"/>
          </p:nvPr>
        </p:nvSpPr>
        <p:spPr>
          <a:xfrm>
            <a:off x="5429655" y="1874956"/>
            <a:ext cx="2335509" cy="1389500"/>
          </a:xfrm>
        </p:spPr>
        <p:txBody>
          <a:bodyPr lIns="0" tIns="0" rIns="0" bIns="0">
            <a:noAutofit/>
          </a:bodyPr>
          <a:lstStyle/>
          <a:p>
            <a:r>
              <a:rPr lang="en-GB" noProof="0" dirty="0"/>
              <a:t>Click icon to add picture</a:t>
            </a:r>
          </a:p>
        </p:txBody>
      </p:sp>
      <p:sp>
        <p:nvSpPr>
          <p:cNvPr id="7" name="Picture Placeholder 6"/>
          <p:cNvSpPr>
            <a:spLocks noGrp="1"/>
          </p:cNvSpPr>
          <p:nvPr>
            <p:ph type="pic" sz="quarter" idx="16"/>
          </p:nvPr>
        </p:nvSpPr>
        <p:spPr>
          <a:xfrm>
            <a:off x="7930244" y="1874956"/>
            <a:ext cx="2335509" cy="1389500"/>
          </a:xfrm>
        </p:spPr>
        <p:txBody>
          <a:bodyPr lIns="0" tIns="0" rIns="0" bIns="0">
            <a:noAutofit/>
          </a:bodyPr>
          <a:lstStyle/>
          <a:p>
            <a:r>
              <a:rPr lang="en-GB" noProof="0" dirty="0"/>
              <a:t>Click icon to add picture</a:t>
            </a:r>
          </a:p>
        </p:txBody>
      </p:sp>
      <p:sp>
        <p:nvSpPr>
          <p:cNvPr id="9" name="Text Placeholder 8"/>
          <p:cNvSpPr>
            <a:spLocks noGrp="1"/>
          </p:cNvSpPr>
          <p:nvPr>
            <p:ph type="body" sz="quarter" idx="17"/>
          </p:nvPr>
        </p:nvSpPr>
        <p:spPr>
          <a:xfrm>
            <a:off x="422884" y="3392776"/>
            <a:ext cx="2314469" cy="3553843"/>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06195" indent="-206195">
              <a:spcAft>
                <a:spcPts val="0"/>
              </a:spcAft>
              <a:buFont typeface="Arial" panose="020B0604020202020204" pitchFamily="34" charset="0"/>
              <a:buChar char="•"/>
              <a:defRPr/>
            </a:lvl4pPr>
            <a:lvl5pPr marL="416597" indent="-206195">
              <a:spcAft>
                <a:spcPts val="0"/>
              </a:spcAft>
              <a:defRPr baseline="0"/>
            </a:lvl5pPr>
            <a:lvl6pPr marL="210413" indent="0">
              <a:spcAft>
                <a:spcPts val="0"/>
              </a:spcAft>
              <a:buFont typeface="Verdana" panose="020B0604030504040204" pitchFamily="34" charset="0"/>
              <a:buNone/>
              <a:defRPr/>
            </a:lvl6pPr>
            <a:lvl7pPr marL="416597" indent="-206195">
              <a:spcAft>
                <a:spcPts val="0"/>
              </a:spcAft>
              <a:defRPr/>
            </a:lvl7pPr>
            <a:lvl8pPr marL="416597" indent="-206195">
              <a:spcAft>
                <a:spcPts val="0"/>
              </a:spcAft>
              <a:defRPr/>
            </a:lvl8pPr>
            <a:lvl9pPr marL="416597" indent="-206195">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ext Placeholder 8"/>
          <p:cNvSpPr>
            <a:spLocks noGrp="1"/>
          </p:cNvSpPr>
          <p:nvPr>
            <p:ph type="body" sz="quarter" idx="18"/>
          </p:nvPr>
        </p:nvSpPr>
        <p:spPr>
          <a:xfrm>
            <a:off x="5441817" y="3396271"/>
            <a:ext cx="2314469" cy="3553843"/>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06195" indent="-206195">
              <a:spcAft>
                <a:spcPts val="0"/>
              </a:spcAft>
              <a:buFont typeface="Arial" panose="020B0604020202020204" pitchFamily="34" charset="0"/>
              <a:buChar char="•"/>
              <a:defRPr/>
            </a:lvl4pPr>
            <a:lvl5pPr marL="416597" indent="-206195">
              <a:spcAft>
                <a:spcPts val="0"/>
              </a:spcAft>
              <a:defRPr baseline="0"/>
            </a:lvl5pPr>
            <a:lvl6pPr marL="416597" indent="-206195">
              <a:spcAft>
                <a:spcPts val="0"/>
              </a:spcAft>
              <a:buFont typeface="Verdana" panose="020B0604030504040204" pitchFamily="34" charset="0"/>
              <a:buChar char="−"/>
              <a:defRPr/>
            </a:lvl6pPr>
            <a:lvl7pPr marL="416597" indent="-206195">
              <a:spcAft>
                <a:spcPts val="0"/>
              </a:spcAft>
              <a:defRPr/>
            </a:lvl7pPr>
            <a:lvl8pPr marL="416597" indent="-206195">
              <a:spcAft>
                <a:spcPts val="0"/>
              </a:spcAft>
              <a:defRPr/>
            </a:lvl8pPr>
            <a:lvl9pPr marL="416597" indent="-206195">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ext Placeholder 8"/>
          <p:cNvSpPr>
            <a:spLocks noGrp="1"/>
          </p:cNvSpPr>
          <p:nvPr>
            <p:ph type="body" sz="quarter" idx="19"/>
          </p:nvPr>
        </p:nvSpPr>
        <p:spPr>
          <a:xfrm>
            <a:off x="2932350" y="3392776"/>
            <a:ext cx="2314469" cy="3553843"/>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06195" indent="-206195">
              <a:spcAft>
                <a:spcPts val="0"/>
              </a:spcAft>
              <a:buFont typeface="Arial" panose="020B0604020202020204" pitchFamily="34" charset="0"/>
              <a:buChar char="•"/>
              <a:defRPr/>
            </a:lvl4pPr>
            <a:lvl5pPr marL="416597" indent="-206195">
              <a:spcAft>
                <a:spcPts val="0"/>
              </a:spcAft>
              <a:defRPr baseline="0"/>
            </a:lvl5pPr>
            <a:lvl6pPr marL="416597" indent="-206195">
              <a:spcAft>
                <a:spcPts val="0"/>
              </a:spcAft>
              <a:buFont typeface="Verdana" panose="020B0604030504040204" pitchFamily="34" charset="0"/>
              <a:buChar char="−"/>
              <a:defRPr/>
            </a:lvl6pPr>
            <a:lvl7pPr marL="416597" indent="-206195">
              <a:spcAft>
                <a:spcPts val="0"/>
              </a:spcAft>
              <a:defRPr/>
            </a:lvl7pPr>
            <a:lvl8pPr marL="416597" indent="-206195">
              <a:spcAft>
                <a:spcPts val="0"/>
              </a:spcAft>
              <a:defRPr/>
            </a:lvl8pPr>
            <a:lvl9pPr marL="416597" indent="-206195">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 Placeholder 8"/>
          <p:cNvSpPr>
            <a:spLocks noGrp="1"/>
          </p:cNvSpPr>
          <p:nvPr>
            <p:ph type="body" sz="quarter" idx="20"/>
          </p:nvPr>
        </p:nvSpPr>
        <p:spPr>
          <a:xfrm>
            <a:off x="7951284" y="3396271"/>
            <a:ext cx="2314469" cy="3553843"/>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06195" indent="-206195">
              <a:spcAft>
                <a:spcPts val="0"/>
              </a:spcAft>
              <a:buFont typeface="Arial" panose="020B0604020202020204" pitchFamily="34" charset="0"/>
              <a:buChar char="•"/>
              <a:defRPr/>
            </a:lvl4pPr>
            <a:lvl5pPr marL="416597" indent="-206195">
              <a:spcAft>
                <a:spcPts val="0"/>
              </a:spcAft>
              <a:defRPr baseline="0"/>
            </a:lvl5pPr>
            <a:lvl6pPr marL="416597" indent="-206195">
              <a:spcAft>
                <a:spcPts val="0"/>
              </a:spcAft>
              <a:buFont typeface="Verdana" panose="020B0604030504040204" pitchFamily="34" charset="0"/>
              <a:buChar char="−"/>
              <a:defRPr/>
            </a:lvl6pPr>
            <a:lvl7pPr marL="416597" indent="-206195">
              <a:spcAft>
                <a:spcPts val="0"/>
              </a:spcAft>
              <a:defRPr/>
            </a:lvl7pPr>
            <a:lvl8pPr marL="416597" indent="-206195">
              <a:spcAft>
                <a:spcPts val="0"/>
              </a:spcAft>
              <a:defRPr/>
            </a:lvl8pPr>
            <a:lvl9pPr marL="416597" indent="-206195">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4" name="Text Placeholder 8"/>
          <p:cNvSpPr>
            <a:spLocks noGrp="1"/>
          </p:cNvSpPr>
          <p:nvPr>
            <p:ph type="body" sz="quarter" idx="21"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2"/>
          </p:nvPr>
        </p:nvSpPr>
        <p:spPr/>
        <p:txBody>
          <a:bodyPr/>
          <a:lstStyle/>
          <a:p>
            <a:endParaRPr lang="en-GB" dirty="0"/>
          </a:p>
        </p:txBody>
      </p:sp>
    </p:spTree>
    <p:extLst>
      <p:ext uri="{BB962C8B-B14F-4D97-AF65-F5344CB8AC3E}">
        <p14:creationId xmlns:p14="http://schemas.microsoft.com/office/powerpoint/2010/main" val="3586402106"/>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17990" y="1878982"/>
            <a:ext cx="485407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5" name="Rectangle 4"/>
          <p:cNvSpPr/>
          <p:nvPr userDrawn="1"/>
        </p:nvSpPr>
        <p:spPr>
          <a:xfrm>
            <a:off x="5422257" y="1878982"/>
            <a:ext cx="485407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6" name="Rectangle 5"/>
          <p:cNvSpPr/>
          <p:nvPr userDrawn="1"/>
        </p:nvSpPr>
        <p:spPr>
          <a:xfrm>
            <a:off x="411958" y="4482982"/>
            <a:ext cx="485407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7" name="Rectangle 6"/>
          <p:cNvSpPr/>
          <p:nvPr userDrawn="1"/>
        </p:nvSpPr>
        <p:spPr>
          <a:xfrm>
            <a:off x="5422257" y="4482982"/>
            <a:ext cx="4854072"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8" name="Picture Placeholder 11"/>
          <p:cNvSpPr>
            <a:spLocks noGrp="1"/>
          </p:cNvSpPr>
          <p:nvPr>
            <p:ph type="pic" sz="quarter" idx="25"/>
          </p:nvPr>
        </p:nvSpPr>
        <p:spPr>
          <a:xfrm>
            <a:off x="417990" y="2073457"/>
            <a:ext cx="1855783" cy="1754740"/>
          </a:xfrm>
        </p:spPr>
        <p:txBody>
          <a:bodyPr/>
          <a:lstStyle>
            <a:lvl1pPr algn="ctr">
              <a:defRPr/>
            </a:lvl1pPr>
          </a:lstStyle>
          <a:p>
            <a:r>
              <a:rPr lang="en-GB" noProof="0" dirty="0"/>
              <a:t>Click icon to add picture</a:t>
            </a:r>
          </a:p>
        </p:txBody>
      </p:sp>
      <p:sp>
        <p:nvSpPr>
          <p:cNvPr id="9" name="Picture Placeholder 11"/>
          <p:cNvSpPr>
            <a:spLocks noGrp="1"/>
          </p:cNvSpPr>
          <p:nvPr>
            <p:ph type="pic" sz="quarter" idx="27"/>
          </p:nvPr>
        </p:nvSpPr>
        <p:spPr>
          <a:xfrm>
            <a:off x="5439087" y="2073456"/>
            <a:ext cx="1855783" cy="1754740"/>
          </a:xfrm>
        </p:spPr>
        <p:txBody>
          <a:bodyPr/>
          <a:lstStyle>
            <a:lvl1pPr algn="ctr">
              <a:defRPr/>
            </a:lvl1pPr>
          </a:lstStyle>
          <a:p>
            <a:r>
              <a:rPr lang="en-GB" noProof="0" dirty="0"/>
              <a:t>Click icon to add picture</a:t>
            </a:r>
          </a:p>
        </p:txBody>
      </p:sp>
      <p:sp>
        <p:nvSpPr>
          <p:cNvPr id="10" name="Picture Placeholder 11"/>
          <p:cNvSpPr>
            <a:spLocks noGrp="1"/>
          </p:cNvSpPr>
          <p:nvPr>
            <p:ph type="pic" sz="quarter" idx="29"/>
          </p:nvPr>
        </p:nvSpPr>
        <p:spPr>
          <a:xfrm>
            <a:off x="422372" y="4693655"/>
            <a:ext cx="1855783" cy="1754740"/>
          </a:xfrm>
        </p:spPr>
        <p:txBody>
          <a:bodyPr/>
          <a:lstStyle>
            <a:lvl1pPr algn="ctr">
              <a:defRPr/>
            </a:lvl1pPr>
          </a:lstStyle>
          <a:p>
            <a:r>
              <a:rPr lang="en-GB" noProof="0" dirty="0"/>
              <a:t>Click icon to add picture</a:t>
            </a:r>
          </a:p>
        </p:txBody>
      </p:sp>
      <p:sp>
        <p:nvSpPr>
          <p:cNvPr id="11" name="Picture Placeholder 11"/>
          <p:cNvSpPr>
            <a:spLocks noGrp="1"/>
          </p:cNvSpPr>
          <p:nvPr>
            <p:ph type="pic" sz="quarter" idx="31"/>
          </p:nvPr>
        </p:nvSpPr>
        <p:spPr>
          <a:xfrm>
            <a:off x="5439087" y="4693655"/>
            <a:ext cx="1855783" cy="1754740"/>
          </a:xfrm>
        </p:spPr>
        <p:txBody>
          <a:bodyPr/>
          <a:lstStyle>
            <a:lvl1pPr algn="ctr">
              <a:defRPr/>
            </a:lvl1pPr>
          </a:lstStyle>
          <a:p>
            <a:r>
              <a:rPr lang="en-GB" noProof="0" dirty="0"/>
              <a:t>Click icon to add picture</a:t>
            </a:r>
          </a:p>
        </p:txBody>
      </p:sp>
      <p:sp>
        <p:nvSpPr>
          <p:cNvPr id="13" name="Text Placeholder 12"/>
          <p:cNvSpPr>
            <a:spLocks noGrp="1"/>
          </p:cNvSpPr>
          <p:nvPr>
            <p:ph type="body" sz="quarter" idx="32"/>
          </p:nvPr>
        </p:nvSpPr>
        <p:spPr>
          <a:xfrm>
            <a:off x="2490491" y="2073457"/>
            <a:ext cx="2781571" cy="21438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7496316" y="2073457"/>
            <a:ext cx="2780014" cy="21438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456976" y="4693657"/>
            <a:ext cx="2781571" cy="21438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7494759" y="4693656"/>
            <a:ext cx="2781571" cy="21438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36"/>
          </p:nvPr>
        </p:nvSpPr>
        <p:spPr/>
        <p:txBody>
          <a:bodyPr/>
          <a:lstStyle/>
          <a:p>
            <a:endParaRPr lang="en-GB" dirty="0"/>
          </a:p>
        </p:txBody>
      </p:sp>
    </p:spTree>
    <p:extLst>
      <p:ext uri="{BB962C8B-B14F-4D97-AF65-F5344CB8AC3E}">
        <p14:creationId xmlns:p14="http://schemas.microsoft.com/office/powerpoint/2010/main" val="35056848"/>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11958" y="1874957"/>
            <a:ext cx="3180149" cy="2263815"/>
          </a:xfrm>
        </p:spPr>
        <p:txBody>
          <a:bodyPr/>
          <a:lstStyle/>
          <a:p>
            <a:r>
              <a:rPr lang="en-GB" noProof="0" dirty="0"/>
              <a:t>Click icon to add picture</a:t>
            </a:r>
          </a:p>
        </p:txBody>
      </p:sp>
      <p:sp>
        <p:nvSpPr>
          <p:cNvPr id="5" name="Picture Placeholder 7"/>
          <p:cNvSpPr>
            <a:spLocks noGrp="1"/>
          </p:cNvSpPr>
          <p:nvPr>
            <p:ph type="pic" sz="quarter" idx="14"/>
          </p:nvPr>
        </p:nvSpPr>
        <p:spPr>
          <a:xfrm>
            <a:off x="7086118" y="1874957"/>
            <a:ext cx="3190562" cy="2270729"/>
          </a:xfrm>
        </p:spPr>
        <p:txBody>
          <a:bodyPr/>
          <a:lstStyle/>
          <a:p>
            <a:r>
              <a:rPr lang="en-GB" noProof="0" dirty="0"/>
              <a:t>Click icon to add picture</a:t>
            </a:r>
          </a:p>
        </p:txBody>
      </p:sp>
      <p:sp>
        <p:nvSpPr>
          <p:cNvPr id="6" name="Picture Placeholder 7"/>
          <p:cNvSpPr>
            <a:spLocks noGrp="1"/>
          </p:cNvSpPr>
          <p:nvPr>
            <p:ph type="pic" sz="quarter" idx="15"/>
          </p:nvPr>
        </p:nvSpPr>
        <p:spPr>
          <a:xfrm>
            <a:off x="3755917" y="1874956"/>
            <a:ext cx="3188498" cy="2269260"/>
          </a:xfrm>
        </p:spPr>
        <p:txBody>
          <a:bodyPr/>
          <a:lstStyle/>
          <a:p>
            <a:r>
              <a:rPr lang="en-GB" noProof="0" dirty="0"/>
              <a:t>Click icon to add picture</a:t>
            </a:r>
          </a:p>
        </p:txBody>
      </p:sp>
      <p:sp>
        <p:nvSpPr>
          <p:cNvPr id="9" name="Text Placeholder 18"/>
          <p:cNvSpPr>
            <a:spLocks noGrp="1"/>
          </p:cNvSpPr>
          <p:nvPr>
            <p:ph idx="1" hasCustomPrompt="1"/>
          </p:nvPr>
        </p:nvSpPr>
        <p:spPr>
          <a:xfrm>
            <a:off x="411958" y="4226092"/>
            <a:ext cx="3180149" cy="2405644"/>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3" name="Text Placeholder 18"/>
          <p:cNvSpPr>
            <a:spLocks noGrp="1"/>
          </p:cNvSpPr>
          <p:nvPr>
            <p:ph idx="16" hasCustomPrompt="1"/>
          </p:nvPr>
        </p:nvSpPr>
        <p:spPr>
          <a:xfrm>
            <a:off x="3750766" y="4226091"/>
            <a:ext cx="3188498" cy="2411429"/>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4" name="Text Placeholder 18"/>
          <p:cNvSpPr>
            <a:spLocks noGrp="1"/>
          </p:cNvSpPr>
          <p:nvPr>
            <p:ph idx="17" hasCustomPrompt="1"/>
          </p:nvPr>
        </p:nvSpPr>
        <p:spPr>
          <a:xfrm>
            <a:off x="7086118" y="4226092"/>
            <a:ext cx="3190562" cy="2412989"/>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2"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1" name="Text Placeholder 8"/>
          <p:cNvSpPr>
            <a:spLocks noGrp="1"/>
          </p:cNvSpPr>
          <p:nvPr>
            <p:ph type="body" sz="quarter" idx="18"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9"/>
          </p:nvPr>
        </p:nvSpPr>
        <p:spPr/>
        <p:txBody>
          <a:bodyPr/>
          <a:lstStyle/>
          <a:p>
            <a:endParaRPr lang="en-GB" dirty="0"/>
          </a:p>
        </p:txBody>
      </p:sp>
    </p:spTree>
    <p:extLst>
      <p:ext uri="{BB962C8B-B14F-4D97-AF65-F5344CB8AC3E}">
        <p14:creationId xmlns:p14="http://schemas.microsoft.com/office/powerpoint/2010/main" val="342340157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749731184"/>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14" name="Text Placeholder 8"/>
          <p:cNvSpPr>
            <a:spLocks noGrp="1"/>
          </p:cNvSpPr>
          <p:nvPr>
            <p:ph type="body" sz="quarter" idx="17"/>
          </p:nvPr>
        </p:nvSpPr>
        <p:spPr>
          <a:xfrm>
            <a:off x="411957" y="2048842"/>
            <a:ext cx="4860385" cy="1869706"/>
          </a:xfrm>
        </p:spPr>
        <p:txBody>
          <a:bodyPr/>
          <a:lstStyle>
            <a:lvl1pPr>
              <a:spcAft>
                <a:spcPts val="1169"/>
              </a:spcAft>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210403" indent="0">
              <a:spcAft>
                <a:spcPts val="1169"/>
              </a:spcAft>
              <a:buFont typeface="Verdana" panose="020B0604030504040204" pitchFamily="34" charset="0"/>
              <a:buNone/>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Content Placeholder 9"/>
          <p:cNvSpPr>
            <a:spLocks noGrp="1"/>
          </p:cNvSpPr>
          <p:nvPr>
            <p:ph sz="quarter" idx="22" hasCustomPrompt="1"/>
          </p:nvPr>
        </p:nvSpPr>
        <p:spPr>
          <a:xfrm>
            <a:off x="4150961" y="2048841"/>
            <a:ext cx="1114029" cy="794000"/>
          </a:xfrm>
        </p:spPr>
        <p:txBody>
          <a:bodyPr>
            <a:noAutofit/>
          </a:bodyPr>
          <a:lstStyle>
            <a:lvl1pPr algn="ctr">
              <a:defRPr sz="789" baseline="0"/>
            </a:lvl1pPr>
          </a:lstStyle>
          <a:p>
            <a:pPr lvl="0"/>
            <a:r>
              <a:rPr lang="en-GB" dirty="0"/>
              <a:t>Click here, go to INSERT tab and choose Pictures to insert Co-brand Logo</a:t>
            </a:r>
            <a:endParaRPr lang="en-GB"/>
          </a:p>
        </p:txBody>
      </p:sp>
      <p:sp>
        <p:nvSpPr>
          <p:cNvPr id="15" name="Text Placeholder 8"/>
          <p:cNvSpPr>
            <a:spLocks noGrp="1"/>
          </p:cNvSpPr>
          <p:nvPr>
            <p:ph type="body" sz="quarter" idx="21"/>
          </p:nvPr>
        </p:nvSpPr>
        <p:spPr>
          <a:xfrm>
            <a:off x="5415736" y="2048842"/>
            <a:ext cx="4860385" cy="1869706"/>
          </a:xfrm>
        </p:spPr>
        <p:txBody>
          <a:bodyPr/>
          <a:lstStyle>
            <a:lvl1pPr>
              <a:spcAft>
                <a:spcPts val="1169"/>
              </a:spcAft>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10"/>
          <p:cNvSpPr>
            <a:spLocks noGrp="1"/>
          </p:cNvSpPr>
          <p:nvPr>
            <p:ph sz="quarter" idx="23" hasCustomPrompt="1"/>
          </p:nvPr>
        </p:nvSpPr>
        <p:spPr>
          <a:xfrm>
            <a:off x="9162651" y="2048841"/>
            <a:ext cx="1114029" cy="794000"/>
          </a:xfrm>
        </p:spPr>
        <p:txBody>
          <a:bodyPr>
            <a:noAutofit/>
          </a:bodyPr>
          <a:lstStyle>
            <a:lvl1pPr algn="ctr">
              <a:defRPr sz="789" baseline="0"/>
            </a:lvl1pPr>
          </a:lstStyle>
          <a:p>
            <a:pPr lvl="0"/>
            <a:r>
              <a:rPr lang="en-GB" dirty="0"/>
              <a:t>Click here, go to INSERT tab and choose Pictures to insert Co-brand Logo</a:t>
            </a:r>
            <a:endParaRPr lang="en-GB"/>
          </a:p>
        </p:txBody>
      </p:sp>
      <p:sp>
        <p:nvSpPr>
          <p:cNvPr id="17" name="Rectangle 16"/>
          <p:cNvSpPr/>
          <p:nvPr userDrawn="1"/>
        </p:nvSpPr>
        <p:spPr>
          <a:xfrm>
            <a:off x="411957" y="1880654"/>
            <a:ext cx="486038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69"/>
              </a:spcAft>
            </a:pPr>
            <a:endParaRPr lang="en-GB" sz="1286" noProof="0" dirty="0">
              <a:solidFill>
                <a:schemeClr val="bg1"/>
              </a:solidFill>
            </a:endParaRPr>
          </a:p>
        </p:txBody>
      </p:sp>
      <p:sp>
        <p:nvSpPr>
          <p:cNvPr id="18" name="Rectangle 17"/>
          <p:cNvSpPr/>
          <p:nvPr userDrawn="1"/>
        </p:nvSpPr>
        <p:spPr>
          <a:xfrm>
            <a:off x="5407262" y="1880654"/>
            <a:ext cx="486038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169"/>
              </a:spcAft>
            </a:pPr>
            <a:endParaRPr lang="en-GB" sz="1286" noProof="0" dirty="0">
              <a:solidFill>
                <a:schemeClr val="bg1"/>
              </a:solidFill>
            </a:endParaRPr>
          </a:p>
        </p:txBody>
      </p:sp>
      <p:sp>
        <p:nvSpPr>
          <p:cNvPr id="2" name="Footer Placeholder 1"/>
          <p:cNvSpPr>
            <a:spLocks noGrp="1"/>
          </p:cNvSpPr>
          <p:nvPr>
            <p:ph type="ftr" sz="quarter" idx="24"/>
          </p:nvPr>
        </p:nvSpPr>
        <p:spPr/>
        <p:txBody>
          <a:bodyPr/>
          <a:lstStyle/>
          <a:p>
            <a:endParaRPr lang="en-GB" dirty="0"/>
          </a:p>
        </p:txBody>
      </p:sp>
    </p:spTree>
    <p:extLst>
      <p:ext uri="{BB962C8B-B14F-4D97-AF65-F5344CB8AC3E}">
        <p14:creationId xmlns:p14="http://schemas.microsoft.com/office/powerpoint/2010/main" val="91134185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8" name="Text Placeholder 8"/>
          <p:cNvSpPr>
            <a:spLocks noGrp="1"/>
          </p:cNvSpPr>
          <p:nvPr>
            <p:ph type="body" sz="quarter" idx="17"/>
          </p:nvPr>
        </p:nvSpPr>
        <p:spPr>
          <a:xfrm>
            <a:off x="411957" y="2048842"/>
            <a:ext cx="4860385" cy="1869706"/>
          </a:xfrm>
        </p:spPr>
        <p:txBody>
          <a:bodyPr>
            <a:noAutofit/>
          </a:bodyPr>
          <a:lstStyle>
            <a:lvl1pPr>
              <a:spcAft>
                <a:spcPts val="1169"/>
              </a:spcAft>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6" name="Content Placeholder 9"/>
          <p:cNvSpPr>
            <a:spLocks noGrp="1"/>
          </p:cNvSpPr>
          <p:nvPr>
            <p:ph sz="quarter" idx="26" hasCustomPrompt="1"/>
          </p:nvPr>
        </p:nvSpPr>
        <p:spPr>
          <a:xfrm>
            <a:off x="4150961" y="2048841"/>
            <a:ext cx="1114029" cy="794000"/>
          </a:xfrm>
        </p:spPr>
        <p:txBody>
          <a:bodyPr>
            <a:noAutofit/>
          </a:bodyPr>
          <a:lstStyle>
            <a:lvl1pPr algn="ctr">
              <a:defRPr sz="789" baseline="0"/>
            </a:lvl1pPr>
          </a:lstStyle>
          <a:p>
            <a:pPr lvl="0"/>
            <a:r>
              <a:rPr lang="en-GB" dirty="0"/>
              <a:t>Click here, go to INSERT tab and choose Pictures to insert Co-brand Logo</a:t>
            </a:r>
            <a:endParaRPr lang="en-GB"/>
          </a:p>
        </p:txBody>
      </p:sp>
      <p:sp>
        <p:nvSpPr>
          <p:cNvPr id="9" name="Text Placeholder 8"/>
          <p:cNvSpPr>
            <a:spLocks noGrp="1"/>
          </p:cNvSpPr>
          <p:nvPr>
            <p:ph type="body" sz="quarter" idx="21"/>
          </p:nvPr>
        </p:nvSpPr>
        <p:spPr>
          <a:xfrm>
            <a:off x="5415736" y="2048842"/>
            <a:ext cx="4860385" cy="1869706"/>
          </a:xfrm>
        </p:spPr>
        <p:txBody>
          <a:bodyPr>
            <a:noAutofit/>
          </a:bodyPr>
          <a:lstStyle>
            <a:lvl1pPr>
              <a:spcAft>
                <a:spcPts val="1169"/>
              </a:spcAft>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0" name="Content Placeholder 10"/>
          <p:cNvSpPr>
            <a:spLocks noGrp="1"/>
          </p:cNvSpPr>
          <p:nvPr>
            <p:ph sz="quarter" idx="27" hasCustomPrompt="1"/>
          </p:nvPr>
        </p:nvSpPr>
        <p:spPr>
          <a:xfrm>
            <a:off x="9162651" y="2048841"/>
            <a:ext cx="1114029" cy="794000"/>
          </a:xfrm>
        </p:spPr>
        <p:txBody>
          <a:bodyPr>
            <a:noAutofit/>
          </a:bodyPr>
          <a:lstStyle>
            <a:lvl1pPr algn="ctr">
              <a:defRPr sz="789" baseline="0"/>
            </a:lvl1pPr>
          </a:lstStyle>
          <a:p>
            <a:pPr lvl="0"/>
            <a:r>
              <a:rPr lang="en-GB" dirty="0"/>
              <a:t>Click here, go to INSERT tab and choose Pictures to insert Co-brand Logo</a:t>
            </a:r>
            <a:endParaRPr lang="en-GB"/>
          </a:p>
        </p:txBody>
      </p:sp>
      <p:sp>
        <p:nvSpPr>
          <p:cNvPr id="10" name="Text Placeholder 8"/>
          <p:cNvSpPr>
            <a:spLocks noGrp="1"/>
          </p:cNvSpPr>
          <p:nvPr>
            <p:ph type="body" sz="quarter" idx="22"/>
          </p:nvPr>
        </p:nvSpPr>
        <p:spPr>
          <a:xfrm>
            <a:off x="411957" y="4686454"/>
            <a:ext cx="4860385" cy="1869706"/>
          </a:xfrm>
        </p:spPr>
        <p:txBody>
          <a:bodyPr>
            <a:noAutofit/>
          </a:bodyPr>
          <a:lstStyle>
            <a:lvl1pPr>
              <a:spcAft>
                <a:spcPts val="1169"/>
              </a:spcAft>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1" name="Content Placeholder 11"/>
          <p:cNvSpPr>
            <a:spLocks noGrp="1"/>
          </p:cNvSpPr>
          <p:nvPr>
            <p:ph sz="quarter" idx="28" hasCustomPrompt="1"/>
          </p:nvPr>
        </p:nvSpPr>
        <p:spPr>
          <a:xfrm>
            <a:off x="4157671" y="4684829"/>
            <a:ext cx="1114029" cy="794000"/>
          </a:xfrm>
        </p:spPr>
        <p:txBody>
          <a:bodyPr>
            <a:noAutofit/>
          </a:bodyPr>
          <a:lstStyle>
            <a:lvl1pPr algn="ctr">
              <a:defRPr sz="789" baseline="0"/>
            </a:lvl1pPr>
          </a:lstStyle>
          <a:p>
            <a:pPr lvl="0"/>
            <a:r>
              <a:rPr lang="en-GB" dirty="0"/>
              <a:t>Click here, go to INSERT tab and choose Pictures to insert Co-brand Logo</a:t>
            </a:r>
            <a:endParaRPr lang="en-GB"/>
          </a:p>
        </p:txBody>
      </p:sp>
      <p:sp>
        <p:nvSpPr>
          <p:cNvPr id="11" name="Text Placeholder 8"/>
          <p:cNvSpPr>
            <a:spLocks noGrp="1"/>
          </p:cNvSpPr>
          <p:nvPr>
            <p:ph type="body" sz="quarter" idx="23"/>
          </p:nvPr>
        </p:nvSpPr>
        <p:spPr>
          <a:xfrm>
            <a:off x="5415734" y="4686454"/>
            <a:ext cx="4860385" cy="1869706"/>
          </a:xfrm>
        </p:spPr>
        <p:txBody>
          <a:bodyPr>
            <a:noAutofit/>
          </a:bodyPr>
          <a:lstStyle>
            <a:lvl1pPr>
              <a:spcAft>
                <a:spcPts val="1169"/>
              </a:spcAft>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2" name="Content Placeholder 12"/>
          <p:cNvSpPr>
            <a:spLocks noGrp="1"/>
          </p:cNvSpPr>
          <p:nvPr>
            <p:ph sz="quarter" idx="29" hasCustomPrompt="1"/>
          </p:nvPr>
        </p:nvSpPr>
        <p:spPr>
          <a:xfrm>
            <a:off x="9162651" y="4684829"/>
            <a:ext cx="1114029" cy="794000"/>
          </a:xfrm>
        </p:spPr>
        <p:txBody>
          <a:bodyPr>
            <a:noAutofit/>
          </a:bodyPr>
          <a:lstStyle>
            <a:lvl1pPr algn="ctr">
              <a:defRPr sz="789" baseline="0"/>
            </a:lvl1pPr>
          </a:lstStyle>
          <a:p>
            <a:pPr lvl="0"/>
            <a:r>
              <a:rPr lang="en-GB" dirty="0"/>
              <a:t>Click here, go to INSERT tab and choose Pictures to insert Co-brand Logo</a:t>
            </a:r>
            <a:endParaRPr lang="en-GB"/>
          </a:p>
        </p:txBody>
      </p:sp>
      <p:sp>
        <p:nvSpPr>
          <p:cNvPr id="4" name="Rectangle 3"/>
          <p:cNvSpPr/>
          <p:nvPr userDrawn="1"/>
        </p:nvSpPr>
        <p:spPr>
          <a:xfrm>
            <a:off x="411957" y="1880654"/>
            <a:ext cx="486038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169"/>
              </a:spcAft>
            </a:pPr>
            <a:endParaRPr lang="en-GB" sz="1286" noProof="0" dirty="0">
              <a:solidFill>
                <a:schemeClr val="bg1"/>
              </a:solidFill>
            </a:endParaRPr>
          </a:p>
        </p:txBody>
      </p:sp>
      <p:sp>
        <p:nvSpPr>
          <p:cNvPr id="5" name="Rectangle 4"/>
          <p:cNvSpPr/>
          <p:nvPr userDrawn="1"/>
        </p:nvSpPr>
        <p:spPr>
          <a:xfrm>
            <a:off x="5407262" y="1880654"/>
            <a:ext cx="486038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169"/>
              </a:spcAft>
            </a:pPr>
            <a:endParaRPr lang="en-GB" sz="1286" noProof="0" dirty="0">
              <a:solidFill>
                <a:schemeClr val="bg1"/>
              </a:solidFill>
            </a:endParaRPr>
          </a:p>
        </p:txBody>
      </p:sp>
      <p:sp>
        <p:nvSpPr>
          <p:cNvPr id="12" name="Rectangle 11"/>
          <p:cNvSpPr/>
          <p:nvPr userDrawn="1"/>
        </p:nvSpPr>
        <p:spPr>
          <a:xfrm>
            <a:off x="411957" y="4525270"/>
            <a:ext cx="4860385"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169"/>
              </a:spcAft>
            </a:pPr>
            <a:endParaRPr lang="en-GB" sz="1286" noProof="0" dirty="0">
              <a:solidFill>
                <a:schemeClr val="bg1"/>
              </a:solidFill>
            </a:endParaRPr>
          </a:p>
        </p:txBody>
      </p:sp>
      <p:sp>
        <p:nvSpPr>
          <p:cNvPr id="13" name="Rectangle 12"/>
          <p:cNvSpPr/>
          <p:nvPr userDrawn="1"/>
        </p:nvSpPr>
        <p:spPr>
          <a:xfrm>
            <a:off x="5407262" y="4525270"/>
            <a:ext cx="4860385"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169"/>
              </a:spcAft>
            </a:pPr>
            <a:endParaRPr lang="en-GB" sz="1286" noProof="0" dirty="0">
              <a:solidFill>
                <a:schemeClr val="bg1"/>
              </a:solidFill>
            </a:endParaRPr>
          </a:p>
        </p:txBody>
      </p:sp>
      <p:sp>
        <p:nvSpPr>
          <p:cNvPr id="2" name="Footer Placeholder 1"/>
          <p:cNvSpPr>
            <a:spLocks noGrp="1"/>
          </p:cNvSpPr>
          <p:nvPr>
            <p:ph type="ftr" sz="quarter" idx="30"/>
          </p:nvPr>
        </p:nvSpPr>
        <p:spPr/>
        <p:txBody>
          <a:bodyPr/>
          <a:lstStyle/>
          <a:p>
            <a:endParaRPr lang="en-GB" dirty="0"/>
          </a:p>
        </p:txBody>
      </p:sp>
    </p:spTree>
    <p:extLst>
      <p:ext uri="{BB962C8B-B14F-4D97-AF65-F5344CB8AC3E}">
        <p14:creationId xmlns:p14="http://schemas.microsoft.com/office/powerpoint/2010/main" val="2226336849"/>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3750766" y="1881304"/>
            <a:ext cx="318849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5" name="Rectangle 4"/>
          <p:cNvSpPr/>
          <p:nvPr userDrawn="1"/>
        </p:nvSpPr>
        <p:spPr>
          <a:xfrm>
            <a:off x="411958" y="1881304"/>
            <a:ext cx="3180149"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6" name="Rectangle 5"/>
          <p:cNvSpPr/>
          <p:nvPr userDrawn="1"/>
        </p:nvSpPr>
        <p:spPr>
          <a:xfrm>
            <a:off x="7104873" y="1881304"/>
            <a:ext cx="3181540"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286" noProof="0" dirty="0">
              <a:solidFill>
                <a:schemeClr val="bg1"/>
              </a:solidFill>
            </a:endParaRPr>
          </a:p>
        </p:txBody>
      </p:sp>
      <p:sp>
        <p:nvSpPr>
          <p:cNvPr id="7" name="Text Placeholder 8"/>
          <p:cNvSpPr>
            <a:spLocks noGrp="1"/>
          </p:cNvSpPr>
          <p:nvPr>
            <p:ph type="body" sz="quarter" idx="17"/>
          </p:nvPr>
        </p:nvSpPr>
        <p:spPr>
          <a:xfrm>
            <a:off x="3750766" y="2041729"/>
            <a:ext cx="3188498" cy="4241013"/>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8"/>
          </p:nvPr>
        </p:nvSpPr>
        <p:spPr>
          <a:xfrm>
            <a:off x="411958" y="2041729"/>
            <a:ext cx="3180149" cy="4241013"/>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ext Placeholder 8"/>
          <p:cNvSpPr>
            <a:spLocks noGrp="1"/>
          </p:cNvSpPr>
          <p:nvPr>
            <p:ph type="body" sz="quarter" idx="19"/>
          </p:nvPr>
        </p:nvSpPr>
        <p:spPr>
          <a:xfrm>
            <a:off x="7095141" y="2041729"/>
            <a:ext cx="3181540" cy="4241013"/>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11"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0"/>
          </p:nvPr>
        </p:nvSpPr>
        <p:spPr/>
        <p:txBody>
          <a:bodyPr/>
          <a:lstStyle/>
          <a:p>
            <a:endParaRPr lang="en-GB" dirty="0"/>
          </a:p>
        </p:txBody>
      </p:sp>
    </p:spTree>
    <p:extLst>
      <p:ext uri="{BB962C8B-B14F-4D97-AF65-F5344CB8AC3E}">
        <p14:creationId xmlns:p14="http://schemas.microsoft.com/office/powerpoint/2010/main" val="765277456"/>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11958" y="2818700"/>
            <a:ext cx="2272388" cy="3743710"/>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8004292" y="2818700"/>
            <a:ext cx="2272388" cy="3743710"/>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2942736" y="2818700"/>
            <a:ext cx="2272388" cy="3743710"/>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5473514" y="2818700"/>
            <a:ext cx="2272388" cy="3743710"/>
          </a:xfrm>
        </p:spPr>
        <p:txBody>
          <a:bodyPr/>
          <a:lstStyle>
            <a:lvl1pPr>
              <a:defRPr b="1">
                <a:solidFill>
                  <a:schemeClr val="accent1"/>
                </a:solidFill>
              </a:defRPr>
            </a:lvl1pPr>
            <a:lvl2pPr>
              <a:spcAft>
                <a:spcPts val="1169"/>
              </a:spcAft>
              <a:defRPr/>
            </a:lvl2pPr>
            <a:lvl3pPr marL="0" indent="0">
              <a:spcAft>
                <a:spcPts val="1169"/>
              </a:spcAft>
              <a:buFont typeface="Arial" panose="020B0604020202020204" pitchFamily="34" charset="0"/>
              <a:buChar char="​"/>
              <a:defRPr/>
            </a:lvl3pPr>
            <a:lvl4pPr marL="206195" indent="-206195">
              <a:spcAft>
                <a:spcPts val="1169"/>
              </a:spcAft>
              <a:buFont typeface="Arial" panose="020B0604020202020204" pitchFamily="34" charset="0"/>
              <a:buChar char="•"/>
              <a:defRPr/>
            </a:lvl4pPr>
            <a:lvl5pPr marL="416597" indent="-206195">
              <a:spcAft>
                <a:spcPts val="1169"/>
              </a:spcAft>
              <a:defRPr baseline="0"/>
            </a:lvl5pPr>
            <a:lvl6pPr marL="416597" indent="-206195">
              <a:spcAft>
                <a:spcPts val="1169"/>
              </a:spcAft>
              <a:buFont typeface="Verdana" panose="020B0604030504040204" pitchFamily="34" charset="0"/>
              <a:buChar char="−"/>
              <a:defRPr/>
            </a:lvl6pPr>
            <a:lvl7pPr marL="416597" indent="-206195">
              <a:spcAft>
                <a:spcPts val="1169"/>
              </a:spcAft>
              <a:defRPr/>
            </a:lvl7pPr>
            <a:lvl8pPr marL="416597" indent="-206195">
              <a:spcAft>
                <a:spcPts val="1169"/>
              </a:spcAft>
              <a:defRPr/>
            </a:lvl8pPr>
            <a:lvl9pPr marL="416597" indent="-206195">
              <a:spcAft>
                <a:spcPts val="1169"/>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p:txBody>
          <a:bodyPr/>
          <a:lstStyle/>
          <a:p>
            <a:endParaRPr lang="en-GB" dirty="0"/>
          </a:p>
        </p:txBody>
      </p:sp>
    </p:spTree>
    <p:extLst>
      <p:ext uri="{BB962C8B-B14F-4D97-AF65-F5344CB8AC3E}">
        <p14:creationId xmlns:p14="http://schemas.microsoft.com/office/powerpoint/2010/main" val="187045425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0686534" cy="7562850"/>
          </a:xfrm>
          <a:prstGeom prst="rect">
            <a:avLst/>
          </a:prstGeom>
          <a:solidFill>
            <a:srgbClr val="046A38"/>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GB" sz="1403" b="1" dirty="0">
              <a:solidFill>
                <a:schemeClr val="tx1"/>
              </a:solidFill>
            </a:endParaRPr>
          </a:p>
        </p:txBody>
      </p:sp>
      <p:sp>
        <p:nvSpPr>
          <p:cNvPr id="4" name="Text Placeholder 8"/>
          <p:cNvSpPr>
            <a:spLocks noGrp="1"/>
          </p:cNvSpPr>
          <p:nvPr>
            <p:ph type="body" sz="quarter" idx="17"/>
          </p:nvPr>
        </p:nvSpPr>
        <p:spPr>
          <a:xfrm>
            <a:off x="411960" y="2818700"/>
            <a:ext cx="2272388" cy="3743710"/>
          </a:xfrm>
        </p:spPr>
        <p:txBody>
          <a:bodyPr/>
          <a:lstStyle>
            <a:lvl1pPr>
              <a:defRPr b="1">
                <a:solidFill>
                  <a:schemeClr val="tx1"/>
                </a:solidFill>
              </a:defRPr>
            </a:lvl1pPr>
            <a:lvl2pPr>
              <a:spcAft>
                <a:spcPts val="1169"/>
              </a:spcAft>
              <a:defRPr>
                <a:solidFill>
                  <a:schemeClr val="tx1"/>
                </a:solidFill>
              </a:defRPr>
            </a:lvl2pPr>
            <a:lvl3pPr marL="0" indent="0">
              <a:spcAft>
                <a:spcPts val="1169"/>
              </a:spcAft>
              <a:buFont typeface="Arial" panose="020B0604020202020204" pitchFamily="34" charset="0"/>
              <a:buChar char="​"/>
              <a:defRPr>
                <a:solidFill>
                  <a:schemeClr val="tx1"/>
                </a:solidFill>
              </a:defRPr>
            </a:lvl3pPr>
            <a:lvl4pPr marL="206195" indent="-206195">
              <a:spcAft>
                <a:spcPts val="1169"/>
              </a:spcAft>
              <a:buFont typeface="Arial" panose="020B0604020202020204" pitchFamily="34" charset="0"/>
              <a:buChar char="•"/>
              <a:defRPr>
                <a:solidFill>
                  <a:schemeClr val="tx1"/>
                </a:solidFill>
              </a:defRPr>
            </a:lvl4pPr>
            <a:lvl5pPr marL="416597" indent="-206195">
              <a:spcAft>
                <a:spcPts val="1169"/>
              </a:spcAft>
              <a:defRPr baseline="0">
                <a:solidFill>
                  <a:schemeClr val="tx1"/>
                </a:solidFill>
              </a:defRPr>
            </a:lvl5pPr>
            <a:lvl6pPr marL="416597" indent="-206195">
              <a:spcAft>
                <a:spcPts val="1169"/>
              </a:spcAft>
              <a:buFont typeface="Verdana" panose="020B0604030504040204" pitchFamily="34" charset="0"/>
              <a:buChar char="−"/>
              <a:defRPr>
                <a:solidFill>
                  <a:schemeClr val="bg1"/>
                </a:solidFill>
              </a:defRPr>
            </a:lvl6pPr>
            <a:lvl7pPr marL="416597" indent="-206195">
              <a:spcAft>
                <a:spcPts val="1169"/>
              </a:spcAft>
              <a:defRPr>
                <a:solidFill>
                  <a:schemeClr val="bg1"/>
                </a:solidFill>
              </a:defRPr>
            </a:lvl7pPr>
            <a:lvl8pPr marL="416597" indent="-206195">
              <a:spcAft>
                <a:spcPts val="1169"/>
              </a:spcAft>
              <a:defRPr>
                <a:solidFill>
                  <a:schemeClr val="bg1"/>
                </a:solidFill>
              </a:defRPr>
            </a:lvl8pPr>
            <a:lvl9pPr marL="416597" indent="-206195">
              <a:spcAft>
                <a:spcPts val="1169"/>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8004292" y="2818700"/>
            <a:ext cx="2272388" cy="3743710"/>
          </a:xfrm>
        </p:spPr>
        <p:txBody>
          <a:bodyPr/>
          <a:lstStyle>
            <a:lvl1pPr>
              <a:defRPr b="1">
                <a:solidFill>
                  <a:schemeClr val="tx1"/>
                </a:solidFill>
              </a:defRPr>
            </a:lvl1pPr>
            <a:lvl2pPr>
              <a:spcAft>
                <a:spcPts val="1169"/>
              </a:spcAft>
              <a:defRPr>
                <a:solidFill>
                  <a:schemeClr val="tx1"/>
                </a:solidFill>
              </a:defRPr>
            </a:lvl2pPr>
            <a:lvl3pPr marL="0" indent="0">
              <a:spcAft>
                <a:spcPts val="1169"/>
              </a:spcAft>
              <a:buFont typeface="Arial" panose="020B0604020202020204" pitchFamily="34" charset="0"/>
              <a:buChar char="​"/>
              <a:defRPr>
                <a:solidFill>
                  <a:schemeClr val="tx1"/>
                </a:solidFill>
              </a:defRPr>
            </a:lvl3pPr>
            <a:lvl4pPr marL="206195" indent="-206195">
              <a:spcAft>
                <a:spcPts val="1169"/>
              </a:spcAft>
              <a:buFont typeface="Arial" panose="020B0604020202020204" pitchFamily="34" charset="0"/>
              <a:buChar char="•"/>
              <a:defRPr>
                <a:solidFill>
                  <a:schemeClr val="tx1"/>
                </a:solidFill>
              </a:defRPr>
            </a:lvl4pPr>
            <a:lvl5pPr marL="416597" indent="-206195">
              <a:spcAft>
                <a:spcPts val="1169"/>
              </a:spcAft>
              <a:defRPr baseline="0">
                <a:solidFill>
                  <a:schemeClr val="tx1"/>
                </a:solidFill>
              </a:defRPr>
            </a:lvl5pPr>
            <a:lvl6pPr marL="416597" indent="-206195">
              <a:spcAft>
                <a:spcPts val="1169"/>
              </a:spcAft>
              <a:buFont typeface="Verdana" panose="020B0604030504040204" pitchFamily="34" charset="0"/>
              <a:buChar char="−"/>
              <a:defRPr>
                <a:solidFill>
                  <a:schemeClr val="bg1"/>
                </a:solidFill>
              </a:defRPr>
            </a:lvl6pPr>
            <a:lvl7pPr marL="416597" indent="-206195">
              <a:spcAft>
                <a:spcPts val="1169"/>
              </a:spcAft>
              <a:defRPr>
                <a:solidFill>
                  <a:schemeClr val="bg1"/>
                </a:solidFill>
              </a:defRPr>
            </a:lvl7pPr>
            <a:lvl8pPr marL="416597" indent="-206195">
              <a:spcAft>
                <a:spcPts val="1169"/>
              </a:spcAft>
              <a:defRPr>
                <a:solidFill>
                  <a:schemeClr val="bg1"/>
                </a:solidFill>
              </a:defRPr>
            </a:lvl8pPr>
            <a:lvl9pPr marL="416597" indent="-206195">
              <a:spcAft>
                <a:spcPts val="1169"/>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2942737" y="2818700"/>
            <a:ext cx="2272388" cy="3743710"/>
          </a:xfrm>
        </p:spPr>
        <p:txBody>
          <a:bodyPr/>
          <a:lstStyle>
            <a:lvl1pPr>
              <a:defRPr b="1">
                <a:solidFill>
                  <a:schemeClr val="tx1"/>
                </a:solidFill>
              </a:defRPr>
            </a:lvl1pPr>
            <a:lvl2pPr>
              <a:spcAft>
                <a:spcPts val="1169"/>
              </a:spcAft>
              <a:defRPr>
                <a:solidFill>
                  <a:schemeClr val="tx1"/>
                </a:solidFill>
              </a:defRPr>
            </a:lvl2pPr>
            <a:lvl3pPr marL="0" indent="0">
              <a:spcAft>
                <a:spcPts val="1169"/>
              </a:spcAft>
              <a:buFont typeface="Arial" panose="020B0604020202020204" pitchFamily="34" charset="0"/>
              <a:buChar char="​"/>
              <a:defRPr>
                <a:solidFill>
                  <a:schemeClr val="tx1"/>
                </a:solidFill>
              </a:defRPr>
            </a:lvl3pPr>
            <a:lvl4pPr marL="206195" indent="-206195">
              <a:spcAft>
                <a:spcPts val="1169"/>
              </a:spcAft>
              <a:buFont typeface="Arial" panose="020B0604020202020204" pitchFamily="34" charset="0"/>
              <a:buChar char="•"/>
              <a:defRPr>
                <a:solidFill>
                  <a:schemeClr val="tx1"/>
                </a:solidFill>
              </a:defRPr>
            </a:lvl4pPr>
            <a:lvl5pPr marL="416597" indent="-206195">
              <a:spcAft>
                <a:spcPts val="1169"/>
              </a:spcAft>
              <a:defRPr baseline="0">
                <a:solidFill>
                  <a:schemeClr val="tx1"/>
                </a:solidFill>
              </a:defRPr>
            </a:lvl5pPr>
            <a:lvl6pPr marL="416597" indent="-206195">
              <a:spcAft>
                <a:spcPts val="1169"/>
              </a:spcAft>
              <a:buFont typeface="Verdana" panose="020B0604030504040204" pitchFamily="34" charset="0"/>
              <a:buChar char="−"/>
              <a:defRPr>
                <a:solidFill>
                  <a:schemeClr val="bg1"/>
                </a:solidFill>
              </a:defRPr>
            </a:lvl6pPr>
            <a:lvl7pPr marL="416597" indent="-206195">
              <a:spcAft>
                <a:spcPts val="1169"/>
              </a:spcAft>
              <a:defRPr>
                <a:solidFill>
                  <a:schemeClr val="bg1"/>
                </a:solidFill>
              </a:defRPr>
            </a:lvl7pPr>
            <a:lvl8pPr marL="416597" indent="-206195">
              <a:spcAft>
                <a:spcPts val="1169"/>
              </a:spcAft>
              <a:defRPr>
                <a:solidFill>
                  <a:schemeClr val="bg1"/>
                </a:solidFill>
              </a:defRPr>
            </a:lvl8pPr>
            <a:lvl9pPr marL="416597" indent="-206195">
              <a:spcAft>
                <a:spcPts val="1169"/>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5473514" y="2818700"/>
            <a:ext cx="2272388" cy="3743710"/>
          </a:xfrm>
        </p:spPr>
        <p:txBody>
          <a:bodyPr/>
          <a:lstStyle>
            <a:lvl1pPr>
              <a:defRPr b="1">
                <a:solidFill>
                  <a:schemeClr val="tx1"/>
                </a:solidFill>
              </a:defRPr>
            </a:lvl1pPr>
            <a:lvl2pPr>
              <a:spcAft>
                <a:spcPts val="1169"/>
              </a:spcAft>
              <a:defRPr>
                <a:solidFill>
                  <a:schemeClr val="tx1"/>
                </a:solidFill>
              </a:defRPr>
            </a:lvl2pPr>
            <a:lvl3pPr marL="0" indent="0">
              <a:spcAft>
                <a:spcPts val="1169"/>
              </a:spcAft>
              <a:buFont typeface="Arial" panose="020B0604020202020204" pitchFamily="34" charset="0"/>
              <a:buChar char="​"/>
              <a:defRPr>
                <a:solidFill>
                  <a:schemeClr val="tx1"/>
                </a:solidFill>
              </a:defRPr>
            </a:lvl3pPr>
            <a:lvl4pPr marL="206195" indent="-206195">
              <a:spcAft>
                <a:spcPts val="1169"/>
              </a:spcAft>
              <a:buFont typeface="Arial" panose="020B0604020202020204" pitchFamily="34" charset="0"/>
              <a:buChar char="•"/>
              <a:defRPr>
                <a:solidFill>
                  <a:schemeClr val="tx1"/>
                </a:solidFill>
              </a:defRPr>
            </a:lvl4pPr>
            <a:lvl5pPr marL="416597" indent="-206195">
              <a:spcAft>
                <a:spcPts val="1169"/>
              </a:spcAft>
              <a:defRPr baseline="0">
                <a:solidFill>
                  <a:schemeClr val="tx1"/>
                </a:solidFill>
              </a:defRPr>
            </a:lvl5pPr>
            <a:lvl6pPr marL="416597" indent="-206195">
              <a:spcAft>
                <a:spcPts val="1169"/>
              </a:spcAft>
              <a:buFont typeface="Verdana" panose="020B0604030504040204" pitchFamily="34" charset="0"/>
              <a:buChar char="−"/>
              <a:defRPr>
                <a:solidFill>
                  <a:schemeClr val="bg1"/>
                </a:solidFill>
              </a:defRPr>
            </a:lvl6pPr>
            <a:lvl7pPr marL="416597" indent="-206195">
              <a:spcAft>
                <a:spcPts val="1169"/>
              </a:spcAft>
              <a:defRPr>
                <a:solidFill>
                  <a:schemeClr val="bg1"/>
                </a:solidFill>
              </a:defRPr>
            </a:lvl7pPr>
            <a:lvl8pPr marL="416597" indent="-206195">
              <a:spcAft>
                <a:spcPts val="1169"/>
              </a:spcAft>
              <a:defRPr>
                <a:solidFill>
                  <a:schemeClr val="bg1"/>
                </a:solidFill>
              </a:defRPr>
            </a:lvl8pPr>
            <a:lvl9pPr marL="416597" indent="-206195">
              <a:spcAft>
                <a:spcPts val="1169"/>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extBox 14"/>
          <p:cNvSpPr txBox="1"/>
          <p:nvPr userDrawn="1"/>
        </p:nvSpPr>
        <p:spPr>
          <a:xfrm>
            <a:off x="9978849" y="7142693"/>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17"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solidFill>
                  <a:schemeClr val="tx1"/>
                </a:solidFill>
              </a:defRPr>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chemeClr val="tx1"/>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p:txBody>
          <a:bodyPr/>
          <a:lstStyle/>
          <a:p>
            <a:endParaRPr lang="en-GB" dirty="0"/>
          </a:p>
        </p:txBody>
      </p:sp>
    </p:spTree>
    <p:extLst>
      <p:ext uri="{BB962C8B-B14F-4D97-AF65-F5344CB8AC3E}">
        <p14:creationId xmlns:p14="http://schemas.microsoft.com/office/powerpoint/2010/main" val="155348772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10102" y="1837026"/>
            <a:ext cx="4854888" cy="5109592"/>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11958" y="812404"/>
            <a:ext cx="9864722" cy="835084"/>
          </a:xfrm>
          <a:prstGeom prst="rect">
            <a:avLst/>
          </a:prstGeom>
        </p:spPr>
        <p:txBody>
          <a:bodyPr lIns="0" tIns="0" rIns="0" bIns="0">
            <a:noAutofit/>
          </a:bodyPr>
          <a:lstStyle>
            <a:lvl1pPr marL="0" indent="0">
              <a:buNone/>
              <a:defRPr sz="1753"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4267375323"/>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11958" y="443964"/>
            <a:ext cx="9864722" cy="770291"/>
          </a:xfrm>
          <a:prstGeom prst="rect">
            <a:avLst/>
          </a:prstGeom>
        </p:spPr>
        <p:txBody>
          <a:bodyPr vert="horz" lIns="0" tIns="0" rIns="0" bIns="0" rtlCol="0" anchor="t" anchorCtr="0">
            <a:noAutofit/>
          </a:bodyPr>
          <a:lstStyle>
            <a:lvl1pPr>
              <a:defRPr sz="1753"/>
            </a:lvl1pPr>
          </a:lstStyle>
          <a:p>
            <a:r>
              <a:rPr lang="en-GB" noProof="0"/>
              <a:t>Click to edit Master title style</a:t>
            </a:r>
            <a:endParaRPr lang="en-GB" noProof="0" dirty="0"/>
          </a:p>
        </p:txBody>
      </p:sp>
      <p:sp>
        <p:nvSpPr>
          <p:cNvPr id="2" name="Footer Placeholder 1"/>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3933342104"/>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endParaRPr lang="en-GB" dirty="0"/>
          </a:p>
        </p:txBody>
      </p:sp>
    </p:spTree>
    <p:extLst>
      <p:ext uri="{BB962C8B-B14F-4D97-AF65-F5344CB8AC3E}">
        <p14:creationId xmlns:p14="http://schemas.microsoft.com/office/powerpoint/2010/main" val="258452242"/>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8243189" y="4523705"/>
            <a:ext cx="2033491" cy="1902786"/>
          </a:xfrm>
        </p:spPr>
        <p:txBody>
          <a:bodyPr anchor="ctr" anchorCtr="0"/>
          <a:lstStyle>
            <a:lvl1pPr algn="ctr">
              <a:defRPr sz="1052"/>
            </a:lvl1pPr>
          </a:lstStyle>
          <a:p>
            <a:r>
              <a:rPr lang="en-GB" sz="1052" noProof="0" dirty="0"/>
              <a:t>Insert sponsorship mark here</a:t>
            </a:r>
            <a:endParaRPr lang="en-GB" noProof="0" dirty="0"/>
          </a:p>
        </p:txBody>
      </p:sp>
      <p:sp>
        <p:nvSpPr>
          <p:cNvPr id="22" name="LEG_DisclaimerPowerPoint"/>
          <p:cNvSpPr>
            <a:spLocks/>
          </p:cNvSpPr>
          <p:nvPr userDrawn="1"/>
        </p:nvSpPr>
        <p:spPr bwMode="auto">
          <a:xfrm>
            <a:off x="415866" y="3781425"/>
            <a:ext cx="7501185" cy="3165194"/>
          </a:xfrm>
          <a:prstGeom prst="rect">
            <a:avLst/>
          </a:prstGeom>
          <a:noFill/>
          <a:ln w="9525">
            <a:noFill/>
            <a:miter lim="800000"/>
            <a:headEnd/>
            <a:tailEnd/>
          </a:ln>
        </p:spPr>
        <p:txBody>
          <a:bodyPr lIns="0" tIns="0" rIns="0" bIns="0" anchor="b"/>
          <a:lstStyle/>
          <a:p>
            <a:pPr defTabSz="893511">
              <a:spcAft>
                <a:spcPts val="0"/>
              </a:spcAft>
              <a:buClr>
                <a:schemeClr val="tx1"/>
              </a:buClr>
              <a:buSzPct val="80000"/>
              <a:buFont typeface="Wingdings" pitchFamily="2" charset="2"/>
              <a:buNone/>
            </a:pPr>
            <a:r>
              <a:rPr lang="en-GB" sz="789" noProof="1">
                <a:solidFill>
                  <a:schemeClr val="tx1"/>
                </a:solidFill>
              </a:rPr>
              <a:t>Regd. Office: </a:t>
            </a:r>
            <a:r>
              <a:rPr lang="en-US" sz="789" noProof="1">
                <a:solidFill>
                  <a:schemeClr val="tx1"/>
                </a:solidFill>
              </a:rPr>
              <a:t>Indiabulls Finance Centre, Tower 3, 27th - 32nd Floor, Senapati Bapat Marg, Elphinstone Road (West), Mumbai – 400 013</a:t>
            </a:r>
            <a:r>
              <a:rPr lang="en-GB" sz="789" noProof="1">
                <a:solidFill>
                  <a:schemeClr val="tx1"/>
                </a:solidFill>
              </a:rPr>
              <a:t>, India
Deloitte Touche Tohmatsu India Private Limited (U74140MH1995PTC093339), a private company limited by shares, was converted 
into Deloitte Touche Tohmatsu India LLP (LLP Identification No. AAE-8458), a limited liability partnership, with effect from October 1, 2015.</a:t>
            </a:r>
          </a:p>
        </p:txBody>
      </p:sp>
      <p:sp>
        <p:nvSpPr>
          <p:cNvPr id="8" name="Text Placeholder 7"/>
          <p:cNvSpPr>
            <a:spLocks noGrp="1"/>
          </p:cNvSpPr>
          <p:nvPr>
            <p:ph type="body" sz="quarter" idx="15"/>
          </p:nvPr>
        </p:nvSpPr>
        <p:spPr>
          <a:xfrm>
            <a:off x="8243190" y="6545515"/>
            <a:ext cx="2033490" cy="401106"/>
          </a:xfrm>
        </p:spPr>
        <p:txBody>
          <a:bodyPr anchor="b" anchorCtr="0"/>
          <a:lstStyle>
            <a:lvl1pPr>
              <a:lnSpc>
                <a:spcPct val="100000"/>
              </a:lnSpc>
              <a:defRPr sz="1111"/>
            </a:lvl1pPr>
          </a:lstStyle>
          <a:p>
            <a:pPr lvl="0"/>
            <a:r>
              <a:rPr lang="en-GB" noProof="0"/>
              <a:t>Edit Master text styles</a:t>
            </a:r>
            <a:endParaRPr lang="en-GB"/>
          </a:p>
        </p:txBody>
      </p:sp>
      <p:sp>
        <p:nvSpPr>
          <p:cNvPr id="20" name="SD_ART_Logo"/>
          <p:cNvSpPr/>
          <p:nvPr userDrawn="1"/>
        </p:nvSpPr>
        <p:spPr>
          <a:xfrm>
            <a:off x="416813" y="512130"/>
            <a:ext cx="2004120" cy="11036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pic>
        <p:nvPicPr>
          <p:cNvPr id="1243581284" name="LogoDisclaimerPage"/>
          <p:cNvPicPr>
            <a:picLocks noChangeAspect="1"/>
          </p:cNvPicPr>
          <p:nvPr/>
        </p:nvPicPr>
        <p:blipFill>
          <a:blip r:embed="rId2"/>
          <a:stretch>
            <a:fillRect/>
          </a:stretch>
        </p:blipFill>
        <p:spPr>
          <a:xfrm>
            <a:off x="416605" y="512131"/>
            <a:ext cx="1451802" cy="800470"/>
          </a:xfrm>
          <a:prstGeom prst="rect">
            <a:avLst/>
          </a:prstGeom>
        </p:spPr>
      </p:pic>
      <p:sp>
        <p:nvSpPr>
          <p:cNvPr id="2" name="Footer Placeholder 1"/>
          <p:cNvSpPr>
            <a:spLocks noGrp="1"/>
          </p:cNvSpPr>
          <p:nvPr>
            <p:ph type="ftr" sz="quarter" idx="16"/>
          </p:nvPr>
        </p:nvSpPr>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57504668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able of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55" b="0">
                <a:latin typeface="+mj-lt"/>
              </a:defRPr>
            </a:lvl1pPr>
          </a:lstStyle>
          <a:p>
            <a:r>
              <a:rPr lang="en-US" dirty="0"/>
              <a:t>Click to edit Master title style</a:t>
            </a:r>
            <a:endParaRPr lang="en-GB" dirty="0"/>
          </a:p>
        </p:txBody>
      </p:sp>
    </p:spTree>
    <p:extLst>
      <p:ext uri="{BB962C8B-B14F-4D97-AF65-F5344CB8AC3E}">
        <p14:creationId xmlns:p14="http://schemas.microsoft.com/office/powerpoint/2010/main" val="5000956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itle">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80989" y="3115012"/>
            <a:ext cx="9526620" cy="750094"/>
          </a:xfrm>
          <a:prstGeom prst="rect">
            <a:avLst/>
          </a:prstGeom>
        </p:spPr>
        <p:txBody>
          <a:bodyPr/>
          <a:lstStyle>
            <a:lvl1pPr>
              <a:lnSpc>
                <a:spcPct val="85000"/>
              </a:lnSpc>
              <a:defRPr sz="4559" b="0" smtClean="0">
                <a:solidFill>
                  <a:schemeClr val="bg1"/>
                </a:solidFill>
                <a:latin typeface="Times New Roman" pitchFamily="18" charset="0"/>
                <a:cs typeface="Times New Roman" pitchFamily="18" charset="0"/>
              </a:defRPr>
            </a:lvl1pPr>
          </a:lstStyle>
          <a:p>
            <a:r>
              <a:rPr lang="en-US"/>
              <a:t>Click to edit Master title style</a:t>
            </a:r>
            <a:endParaRPr lang="en-US" dirty="0"/>
          </a:p>
        </p:txBody>
      </p:sp>
      <p:sp>
        <p:nvSpPr>
          <p:cNvPr id="120836" name="Text Placeholder 2"/>
          <p:cNvSpPr>
            <a:spLocks noGrp="1"/>
          </p:cNvSpPr>
          <p:nvPr>
            <p:ph type="subTitle" idx="1"/>
          </p:nvPr>
        </p:nvSpPr>
        <p:spPr bwMode="auto">
          <a:xfrm>
            <a:off x="480989" y="4073856"/>
            <a:ext cx="5055726" cy="305468"/>
          </a:xfrm>
          <a:prstGeom prst="rect">
            <a:avLst/>
          </a:prstGeom>
        </p:spPr>
        <p:txBody>
          <a:bodyPr/>
          <a:lstStyle>
            <a:lvl1pPr>
              <a:lnSpc>
                <a:spcPct val="100000"/>
              </a:lnSpc>
              <a:defRPr sz="1578" b="1" smtClean="0">
                <a:solidFill>
                  <a:schemeClr val="bg1"/>
                </a:solidFill>
                <a:latin typeface="Arial" pitchFamily="34" charset="0"/>
              </a:defRPr>
            </a:lvl1pPr>
          </a:lstStyle>
          <a:p>
            <a:r>
              <a:rPr lang="en-US"/>
              <a:t>Click to edit Master subtitle style</a:t>
            </a:r>
            <a:endParaRPr/>
          </a:p>
        </p:txBody>
      </p:sp>
    </p:spTree>
    <p:extLst>
      <p:ext uri="{BB962C8B-B14F-4D97-AF65-F5344CB8AC3E}">
        <p14:creationId xmlns:p14="http://schemas.microsoft.com/office/powerpoint/2010/main" val="4253137505"/>
      </p:ext>
    </p:extLst>
  </p:cSld>
  <p:clrMapOvr>
    <a:masterClrMapping/>
  </p:clrMapOvr>
  <p:transition/>
  <p:hf hd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36080" y="1237717"/>
            <a:ext cx="8016479" cy="2632992"/>
          </a:xfrm>
        </p:spPr>
        <p:txBody>
          <a:bodyPr anchor="b"/>
          <a:lstStyle>
            <a:lvl1pPr algn="ctr">
              <a:defRPr sz="5260"/>
            </a:lvl1pPr>
          </a:lstStyle>
          <a:p>
            <a:r>
              <a:rPr lang="en-US"/>
              <a:t>Click to edit Master title style</a:t>
            </a:r>
            <a:endParaRPr lang="en-IN"/>
          </a:p>
        </p:txBody>
      </p:sp>
      <p:sp>
        <p:nvSpPr>
          <p:cNvPr id="3" name="Subtitle 2"/>
          <p:cNvSpPr>
            <a:spLocks noGrp="1"/>
          </p:cNvSpPr>
          <p:nvPr>
            <p:ph type="subTitle" idx="1"/>
          </p:nvPr>
        </p:nvSpPr>
        <p:spPr>
          <a:xfrm>
            <a:off x="1336080" y="3972247"/>
            <a:ext cx="8016479" cy="1825938"/>
          </a:xfrm>
        </p:spPr>
        <p:txBody>
          <a:bodyPr/>
          <a:lstStyle>
            <a:lvl1pPr marL="0" indent="0" algn="ctr">
              <a:buNone/>
              <a:defRPr sz="2104"/>
            </a:lvl1pPr>
            <a:lvl2pPr marL="400827" indent="0" algn="ctr">
              <a:buNone/>
              <a:defRPr sz="1753"/>
            </a:lvl2pPr>
            <a:lvl3pPr marL="801654" indent="0" algn="ctr">
              <a:buNone/>
              <a:defRPr sz="1578"/>
            </a:lvl3pPr>
            <a:lvl4pPr marL="1202482" indent="0" algn="ctr">
              <a:buNone/>
              <a:defRPr sz="1403"/>
            </a:lvl4pPr>
            <a:lvl5pPr marL="1603309" indent="0" algn="ctr">
              <a:buNone/>
              <a:defRPr sz="1403"/>
            </a:lvl5pPr>
            <a:lvl6pPr marL="2004136" indent="0" algn="ctr">
              <a:buNone/>
              <a:defRPr sz="1403"/>
            </a:lvl6pPr>
            <a:lvl7pPr marL="2404963" indent="0" algn="ctr">
              <a:buNone/>
              <a:defRPr sz="1403"/>
            </a:lvl7pPr>
            <a:lvl8pPr marL="2805791" indent="0" algn="ctr">
              <a:buNone/>
              <a:defRPr sz="1403"/>
            </a:lvl8pPr>
            <a:lvl9pPr marL="3206618" indent="0" algn="ctr">
              <a:buNone/>
              <a:defRPr sz="1403"/>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1A01E63-5D73-466E-AFCC-87A40832B83D}" type="datetime1">
              <a:rPr lang="en-IN" smtClean="0"/>
              <a:t>24-09-2022</a:t>
            </a:fld>
            <a:endParaRPr lang="en-IN" dirty="0"/>
          </a:p>
        </p:txBody>
      </p:sp>
      <p:sp>
        <p:nvSpPr>
          <p:cNvPr id="5" name="Footer Placeholder 4"/>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6" name="Slide Number Placeholder 5"/>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234816921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11"/>
          </p:nvPr>
        </p:nvSpPr>
        <p:spPr>
          <a:xfrm>
            <a:off x="734843" y="7016958"/>
            <a:ext cx="4649359" cy="402652"/>
          </a:xfrm>
        </p:spPr>
        <p:txBody>
          <a:bodyPr/>
          <a:lstStyle/>
          <a:p>
            <a:r>
              <a:rPr lang="en-US" dirty="0"/>
              <a:t>Copyright©2018 Deloitte Touche Tohmatsu India LLP. All rights reserved.</a:t>
            </a:r>
            <a:endParaRPr lang="en-IN" dirty="0"/>
          </a:p>
        </p:txBody>
      </p:sp>
      <p:sp>
        <p:nvSpPr>
          <p:cNvPr id="6" name="Slide Number Placeholder 5"/>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158955236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277" y="1885462"/>
            <a:ext cx="9218950" cy="3145935"/>
          </a:xfrm>
        </p:spPr>
        <p:txBody>
          <a:bodyPr anchor="b"/>
          <a:lstStyle>
            <a:lvl1pPr>
              <a:defRPr sz="5260"/>
            </a:lvl1pPr>
          </a:lstStyle>
          <a:p>
            <a:r>
              <a:rPr lang="en-US"/>
              <a:t>Click to edit Master title style</a:t>
            </a:r>
            <a:endParaRPr lang="en-IN"/>
          </a:p>
        </p:txBody>
      </p:sp>
      <p:sp>
        <p:nvSpPr>
          <p:cNvPr id="3" name="Text Placeholder 2"/>
          <p:cNvSpPr>
            <a:spLocks noGrp="1"/>
          </p:cNvSpPr>
          <p:nvPr>
            <p:ph type="body" idx="1"/>
          </p:nvPr>
        </p:nvSpPr>
        <p:spPr>
          <a:xfrm>
            <a:off x="729277" y="5061158"/>
            <a:ext cx="9218950" cy="1654373"/>
          </a:xfrm>
        </p:spPr>
        <p:txBody>
          <a:bodyPr/>
          <a:lstStyle>
            <a:lvl1pPr marL="0" indent="0">
              <a:buNone/>
              <a:defRPr sz="2104">
                <a:solidFill>
                  <a:schemeClr val="tx1">
                    <a:tint val="75000"/>
                  </a:schemeClr>
                </a:solidFill>
              </a:defRPr>
            </a:lvl1pPr>
            <a:lvl2pPr marL="400827" indent="0">
              <a:buNone/>
              <a:defRPr sz="1753">
                <a:solidFill>
                  <a:schemeClr val="tx1">
                    <a:tint val="75000"/>
                  </a:schemeClr>
                </a:solidFill>
              </a:defRPr>
            </a:lvl2pPr>
            <a:lvl3pPr marL="801654" indent="0">
              <a:buNone/>
              <a:defRPr sz="1578">
                <a:solidFill>
                  <a:schemeClr val="tx1">
                    <a:tint val="75000"/>
                  </a:schemeClr>
                </a:solidFill>
              </a:defRPr>
            </a:lvl3pPr>
            <a:lvl4pPr marL="1202482" indent="0">
              <a:buNone/>
              <a:defRPr sz="1403">
                <a:solidFill>
                  <a:schemeClr val="tx1">
                    <a:tint val="75000"/>
                  </a:schemeClr>
                </a:solidFill>
              </a:defRPr>
            </a:lvl4pPr>
            <a:lvl5pPr marL="1603309" indent="0">
              <a:buNone/>
              <a:defRPr sz="1403">
                <a:solidFill>
                  <a:schemeClr val="tx1">
                    <a:tint val="75000"/>
                  </a:schemeClr>
                </a:solidFill>
              </a:defRPr>
            </a:lvl5pPr>
            <a:lvl6pPr marL="2004136" indent="0">
              <a:buNone/>
              <a:defRPr sz="1403">
                <a:solidFill>
                  <a:schemeClr val="tx1">
                    <a:tint val="75000"/>
                  </a:schemeClr>
                </a:solidFill>
              </a:defRPr>
            </a:lvl6pPr>
            <a:lvl7pPr marL="2404963" indent="0">
              <a:buNone/>
              <a:defRPr sz="1403">
                <a:solidFill>
                  <a:schemeClr val="tx1">
                    <a:tint val="75000"/>
                  </a:schemeClr>
                </a:solidFill>
              </a:defRPr>
            </a:lvl7pPr>
            <a:lvl8pPr marL="2805791" indent="0">
              <a:buNone/>
              <a:defRPr sz="1403">
                <a:solidFill>
                  <a:schemeClr val="tx1">
                    <a:tint val="75000"/>
                  </a:schemeClr>
                </a:solidFill>
              </a:defRPr>
            </a:lvl8pPr>
            <a:lvl9pPr marL="3206618" indent="0">
              <a:buNone/>
              <a:defRPr sz="140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512B85E-E0FA-4620-A11A-AC0B3C03BA22}" type="datetime1">
              <a:rPr lang="en-IN" smtClean="0"/>
              <a:t>24-09-2022</a:t>
            </a:fld>
            <a:endParaRPr lang="en-IN" dirty="0"/>
          </a:p>
        </p:txBody>
      </p:sp>
      <p:sp>
        <p:nvSpPr>
          <p:cNvPr id="5" name="Footer Placeholder 4"/>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6" name="Slide Number Placeholder 5"/>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409352432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734844" y="2013259"/>
            <a:ext cx="4542671" cy="47985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411123" y="2013259"/>
            <a:ext cx="4542671" cy="47985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F3CAF5-25B6-4A7B-B3B2-B31B4B5F6399}" type="datetime1">
              <a:rPr lang="en-IN" smtClean="0"/>
              <a:t>24-09-2022</a:t>
            </a:fld>
            <a:endParaRPr lang="en-IN" dirty="0"/>
          </a:p>
        </p:txBody>
      </p:sp>
      <p:sp>
        <p:nvSpPr>
          <p:cNvPr id="6" name="Footer Placeholder 5"/>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7" name="Slide Number Placeholder 6"/>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72422737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236" y="402652"/>
            <a:ext cx="9218950" cy="1461801"/>
          </a:xfrm>
        </p:spPr>
        <p:txBody>
          <a:bodyPr/>
          <a:lstStyle/>
          <a:p>
            <a:r>
              <a:rPr lang="en-US"/>
              <a:t>Click to edit Master title style</a:t>
            </a:r>
            <a:endParaRPr lang="en-IN"/>
          </a:p>
        </p:txBody>
      </p:sp>
      <p:sp>
        <p:nvSpPr>
          <p:cNvPr id="3" name="Text Placeholder 2"/>
          <p:cNvSpPr>
            <a:spLocks noGrp="1"/>
          </p:cNvSpPr>
          <p:nvPr>
            <p:ph type="body" idx="1"/>
          </p:nvPr>
        </p:nvSpPr>
        <p:spPr>
          <a:xfrm>
            <a:off x="736237" y="1853949"/>
            <a:ext cx="4521794" cy="908592"/>
          </a:xfrm>
        </p:spPr>
        <p:txBody>
          <a:bodyPr anchor="b"/>
          <a:lstStyle>
            <a:lvl1pPr marL="0" indent="0">
              <a:buNone/>
              <a:defRPr sz="2104" b="1"/>
            </a:lvl1pPr>
            <a:lvl2pPr marL="400827" indent="0">
              <a:buNone/>
              <a:defRPr sz="1753" b="1"/>
            </a:lvl2pPr>
            <a:lvl3pPr marL="801654" indent="0">
              <a:buNone/>
              <a:defRPr sz="1578" b="1"/>
            </a:lvl3pPr>
            <a:lvl4pPr marL="1202482" indent="0">
              <a:buNone/>
              <a:defRPr sz="1403" b="1"/>
            </a:lvl4pPr>
            <a:lvl5pPr marL="1603309" indent="0">
              <a:buNone/>
              <a:defRPr sz="1403" b="1"/>
            </a:lvl5pPr>
            <a:lvl6pPr marL="2004136" indent="0">
              <a:buNone/>
              <a:defRPr sz="1403" b="1"/>
            </a:lvl6pPr>
            <a:lvl7pPr marL="2404963" indent="0">
              <a:buNone/>
              <a:defRPr sz="1403" b="1"/>
            </a:lvl7pPr>
            <a:lvl8pPr marL="2805791" indent="0">
              <a:buNone/>
              <a:defRPr sz="1403" b="1"/>
            </a:lvl8pPr>
            <a:lvl9pPr marL="3206618" indent="0">
              <a:buNone/>
              <a:defRPr sz="1403" b="1"/>
            </a:lvl9pPr>
          </a:lstStyle>
          <a:p>
            <a:pPr lvl="0"/>
            <a:r>
              <a:rPr lang="en-US"/>
              <a:t>Edit Master text styles</a:t>
            </a:r>
          </a:p>
        </p:txBody>
      </p:sp>
      <p:sp>
        <p:nvSpPr>
          <p:cNvPr id="4" name="Content Placeholder 3"/>
          <p:cNvSpPr>
            <a:spLocks noGrp="1"/>
          </p:cNvSpPr>
          <p:nvPr>
            <p:ph sz="half" idx="2"/>
          </p:nvPr>
        </p:nvSpPr>
        <p:spPr>
          <a:xfrm>
            <a:off x="736237" y="2762541"/>
            <a:ext cx="4521794" cy="40632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411123" y="1853949"/>
            <a:ext cx="4544063" cy="908592"/>
          </a:xfrm>
        </p:spPr>
        <p:txBody>
          <a:bodyPr anchor="b"/>
          <a:lstStyle>
            <a:lvl1pPr marL="0" indent="0">
              <a:buNone/>
              <a:defRPr sz="2104" b="1"/>
            </a:lvl1pPr>
            <a:lvl2pPr marL="400827" indent="0">
              <a:buNone/>
              <a:defRPr sz="1753" b="1"/>
            </a:lvl2pPr>
            <a:lvl3pPr marL="801654" indent="0">
              <a:buNone/>
              <a:defRPr sz="1578" b="1"/>
            </a:lvl3pPr>
            <a:lvl4pPr marL="1202482" indent="0">
              <a:buNone/>
              <a:defRPr sz="1403" b="1"/>
            </a:lvl4pPr>
            <a:lvl5pPr marL="1603309" indent="0">
              <a:buNone/>
              <a:defRPr sz="1403" b="1"/>
            </a:lvl5pPr>
            <a:lvl6pPr marL="2004136" indent="0">
              <a:buNone/>
              <a:defRPr sz="1403" b="1"/>
            </a:lvl6pPr>
            <a:lvl7pPr marL="2404963" indent="0">
              <a:buNone/>
              <a:defRPr sz="1403" b="1"/>
            </a:lvl7pPr>
            <a:lvl8pPr marL="2805791" indent="0">
              <a:buNone/>
              <a:defRPr sz="1403" b="1"/>
            </a:lvl8pPr>
            <a:lvl9pPr marL="3206618" indent="0">
              <a:buNone/>
              <a:defRPr sz="1403" b="1"/>
            </a:lvl9pPr>
          </a:lstStyle>
          <a:p>
            <a:pPr lvl="0"/>
            <a:r>
              <a:rPr lang="en-US"/>
              <a:t>Edit Master text styles</a:t>
            </a:r>
          </a:p>
        </p:txBody>
      </p:sp>
      <p:sp>
        <p:nvSpPr>
          <p:cNvPr id="6" name="Content Placeholder 5"/>
          <p:cNvSpPr>
            <a:spLocks noGrp="1"/>
          </p:cNvSpPr>
          <p:nvPr>
            <p:ph sz="quarter" idx="4"/>
          </p:nvPr>
        </p:nvSpPr>
        <p:spPr>
          <a:xfrm>
            <a:off x="5411123" y="2762541"/>
            <a:ext cx="4544063" cy="40632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0C624B2-6C4B-4BAB-82C8-7CB7C3DF3354}" type="datetime1">
              <a:rPr lang="en-IN" smtClean="0"/>
              <a:t>24-09-2022</a:t>
            </a:fld>
            <a:endParaRPr lang="en-IN" dirty="0"/>
          </a:p>
        </p:txBody>
      </p:sp>
      <p:sp>
        <p:nvSpPr>
          <p:cNvPr id="8" name="Footer Placeholder 7"/>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9" name="Slide Number Placeholder 8"/>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137182391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D1C6F70-6B32-4840-BFF4-9EC37535D043}" type="datetime1">
              <a:rPr lang="en-IN" smtClean="0"/>
              <a:t>24-09-2022</a:t>
            </a:fld>
            <a:endParaRPr lang="en-IN" dirty="0"/>
          </a:p>
        </p:txBody>
      </p:sp>
      <p:sp>
        <p:nvSpPr>
          <p:cNvPr id="4" name="Footer Placeholder 3"/>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5" name="Slide Number Placeholder 4"/>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3050914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Date Placeholder 3"/>
          <p:cNvSpPr txBox="1">
            <a:spLocks/>
          </p:cNvSpPr>
          <p:nvPr userDrawn="1"/>
        </p:nvSpPr>
        <p:spPr>
          <a:xfrm>
            <a:off x="8295313" y="7238190"/>
            <a:ext cx="1972519" cy="107850"/>
          </a:xfrm>
          <a:prstGeom prst="rect">
            <a:avLst/>
          </a:prstGeom>
        </p:spPr>
        <p:txBody>
          <a:bodyPr vert="horz" wrap="square" lIns="0" tIns="0" rIns="0" bIns="0" rtlCol="0" anchor="t" anchorCtr="0">
            <a:spAutoFit/>
          </a:bodyPr>
          <a:lstStyle>
            <a:lvl1pPr marL="0" marR="0" indent="0" algn="r" defTabSz="914400" rtl="0" eaLnBrk="0" fontAlgn="auto" latinLnBrk="0" hangingPunct="0">
              <a:lnSpc>
                <a:spcPct val="100000"/>
              </a:lnSpc>
              <a:spcBef>
                <a:spcPts val="0"/>
              </a:spcBef>
              <a:spcAft>
                <a:spcPct val="0"/>
              </a:spcAft>
              <a:buClrTx/>
              <a:buSzTx/>
              <a:buFontTx/>
              <a:buNone/>
              <a:tabLst/>
              <a:defRPr sz="800">
                <a:solidFill>
                  <a:schemeClr val="accent1"/>
                </a:solidFill>
              </a:defRPr>
            </a:lvl1pPr>
          </a:lstStyle>
          <a:p>
            <a:pPr algn="just" defTabSz="893203">
              <a:defRPr/>
            </a:pPr>
            <a:r>
              <a:rPr lang="en-GB" sz="701" dirty="0">
                <a:solidFill>
                  <a:srgbClr val="000000"/>
                </a:solidFill>
                <a:latin typeface="Cambria" panose="02040503050406030204" pitchFamily="18" charset="0"/>
              </a:rPr>
              <a:t>©2018 Deloitte Touche Tohmatsu India</a:t>
            </a:r>
            <a:r>
              <a:rPr lang="en-GB" sz="701" baseline="0" dirty="0">
                <a:solidFill>
                  <a:srgbClr val="000000"/>
                </a:solidFill>
                <a:latin typeface="Cambria" panose="02040503050406030204" pitchFamily="18" charset="0"/>
              </a:rPr>
              <a:t> LLP</a:t>
            </a:r>
            <a:endParaRPr lang="en-GB" sz="701" dirty="0">
              <a:solidFill>
                <a:srgbClr val="000000"/>
              </a:solidFill>
              <a:latin typeface="Cambria" panose="02040503050406030204" pitchFamily="18" charset="0"/>
            </a:endParaRPr>
          </a:p>
        </p:txBody>
      </p:sp>
    </p:spTree>
    <p:extLst>
      <p:ext uri="{BB962C8B-B14F-4D97-AF65-F5344CB8AC3E}">
        <p14:creationId xmlns:p14="http://schemas.microsoft.com/office/powerpoint/2010/main" val="170864656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236" y="504190"/>
            <a:ext cx="3447364" cy="1764665"/>
          </a:xfrm>
        </p:spPr>
        <p:txBody>
          <a:bodyPr anchor="b"/>
          <a:lstStyle>
            <a:lvl1pPr>
              <a:defRPr sz="2805"/>
            </a:lvl1pPr>
          </a:lstStyle>
          <a:p>
            <a:r>
              <a:rPr lang="en-US"/>
              <a:t>Click to edit Master title style</a:t>
            </a:r>
            <a:endParaRPr lang="en-IN"/>
          </a:p>
        </p:txBody>
      </p:sp>
      <p:sp>
        <p:nvSpPr>
          <p:cNvPr id="3" name="Content Placeholder 2"/>
          <p:cNvSpPr>
            <a:spLocks noGrp="1"/>
          </p:cNvSpPr>
          <p:nvPr>
            <p:ph idx="1"/>
          </p:nvPr>
        </p:nvSpPr>
        <p:spPr>
          <a:xfrm>
            <a:off x="4544063" y="1088911"/>
            <a:ext cx="5411123" cy="5374525"/>
          </a:xfrm>
        </p:spPr>
        <p:txBody>
          <a:bodyPr/>
          <a:lstStyle>
            <a:lvl1pPr>
              <a:defRPr sz="2805"/>
            </a:lvl1pPr>
            <a:lvl2pPr>
              <a:defRPr sz="2455"/>
            </a:lvl2pPr>
            <a:lvl3pPr>
              <a:defRPr sz="2104"/>
            </a:lvl3pPr>
            <a:lvl4pPr>
              <a:defRPr sz="1753"/>
            </a:lvl4pPr>
            <a:lvl5pPr>
              <a:defRPr sz="1753"/>
            </a:lvl5pPr>
            <a:lvl6pPr>
              <a:defRPr sz="1753"/>
            </a:lvl6pPr>
            <a:lvl7pPr>
              <a:defRPr sz="1753"/>
            </a:lvl7pPr>
            <a:lvl8pPr>
              <a:defRPr sz="1753"/>
            </a:lvl8pPr>
            <a:lvl9pPr>
              <a:defRPr sz="175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736236" y="2268855"/>
            <a:ext cx="3447364" cy="4203335"/>
          </a:xfrm>
        </p:spPr>
        <p:txBody>
          <a:bodyPr/>
          <a:lstStyle>
            <a:lvl1pPr marL="0" indent="0">
              <a:buNone/>
              <a:defRPr sz="1403"/>
            </a:lvl1pPr>
            <a:lvl2pPr marL="400827" indent="0">
              <a:buNone/>
              <a:defRPr sz="1227"/>
            </a:lvl2pPr>
            <a:lvl3pPr marL="801654" indent="0">
              <a:buNone/>
              <a:defRPr sz="1052"/>
            </a:lvl3pPr>
            <a:lvl4pPr marL="1202482" indent="0">
              <a:buNone/>
              <a:defRPr sz="877"/>
            </a:lvl4pPr>
            <a:lvl5pPr marL="1603309" indent="0">
              <a:buNone/>
              <a:defRPr sz="877"/>
            </a:lvl5pPr>
            <a:lvl6pPr marL="2004136" indent="0">
              <a:buNone/>
              <a:defRPr sz="877"/>
            </a:lvl6pPr>
            <a:lvl7pPr marL="2404963" indent="0">
              <a:buNone/>
              <a:defRPr sz="877"/>
            </a:lvl7pPr>
            <a:lvl8pPr marL="2805791" indent="0">
              <a:buNone/>
              <a:defRPr sz="877"/>
            </a:lvl8pPr>
            <a:lvl9pPr marL="3206618" indent="0">
              <a:buNone/>
              <a:defRPr sz="877"/>
            </a:lvl9pPr>
          </a:lstStyle>
          <a:p>
            <a:pPr lvl="0"/>
            <a:r>
              <a:rPr lang="en-US"/>
              <a:t>Edit Master text styles</a:t>
            </a:r>
          </a:p>
        </p:txBody>
      </p:sp>
      <p:sp>
        <p:nvSpPr>
          <p:cNvPr id="5" name="Date Placeholder 4"/>
          <p:cNvSpPr>
            <a:spLocks noGrp="1"/>
          </p:cNvSpPr>
          <p:nvPr>
            <p:ph type="dt" sz="half" idx="10"/>
          </p:nvPr>
        </p:nvSpPr>
        <p:spPr/>
        <p:txBody>
          <a:bodyPr/>
          <a:lstStyle/>
          <a:p>
            <a:fld id="{45F40322-2279-4F92-B350-A31CC831EBAF}" type="datetime1">
              <a:rPr lang="en-IN" smtClean="0"/>
              <a:t>24-09-2022</a:t>
            </a:fld>
            <a:endParaRPr lang="en-IN" dirty="0"/>
          </a:p>
        </p:txBody>
      </p:sp>
      <p:sp>
        <p:nvSpPr>
          <p:cNvPr id="6" name="Footer Placeholder 5"/>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7" name="Slide Number Placeholder 6"/>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237499996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236" y="504190"/>
            <a:ext cx="3447364" cy="1764665"/>
          </a:xfrm>
        </p:spPr>
        <p:txBody>
          <a:bodyPr anchor="b"/>
          <a:lstStyle>
            <a:lvl1pPr>
              <a:defRPr sz="2805"/>
            </a:lvl1pPr>
          </a:lstStyle>
          <a:p>
            <a:r>
              <a:rPr lang="en-US"/>
              <a:t>Click to edit Master title style</a:t>
            </a:r>
            <a:endParaRPr lang="en-IN"/>
          </a:p>
        </p:txBody>
      </p:sp>
      <p:sp>
        <p:nvSpPr>
          <p:cNvPr id="3" name="Picture Placeholder 2"/>
          <p:cNvSpPr>
            <a:spLocks noGrp="1"/>
          </p:cNvSpPr>
          <p:nvPr>
            <p:ph type="pic" idx="1"/>
          </p:nvPr>
        </p:nvSpPr>
        <p:spPr>
          <a:xfrm>
            <a:off x="4544063" y="1088911"/>
            <a:ext cx="5411123" cy="5374525"/>
          </a:xfrm>
        </p:spPr>
        <p:txBody>
          <a:bodyPr/>
          <a:lstStyle>
            <a:lvl1pPr marL="0" indent="0">
              <a:buNone/>
              <a:defRPr sz="2805"/>
            </a:lvl1pPr>
            <a:lvl2pPr marL="400827" indent="0">
              <a:buNone/>
              <a:defRPr sz="2455"/>
            </a:lvl2pPr>
            <a:lvl3pPr marL="801654" indent="0">
              <a:buNone/>
              <a:defRPr sz="2104"/>
            </a:lvl3pPr>
            <a:lvl4pPr marL="1202482" indent="0">
              <a:buNone/>
              <a:defRPr sz="1753"/>
            </a:lvl4pPr>
            <a:lvl5pPr marL="1603309" indent="0">
              <a:buNone/>
              <a:defRPr sz="1753"/>
            </a:lvl5pPr>
            <a:lvl6pPr marL="2004136" indent="0">
              <a:buNone/>
              <a:defRPr sz="1753"/>
            </a:lvl6pPr>
            <a:lvl7pPr marL="2404963" indent="0">
              <a:buNone/>
              <a:defRPr sz="1753"/>
            </a:lvl7pPr>
            <a:lvl8pPr marL="2805791" indent="0">
              <a:buNone/>
              <a:defRPr sz="1753"/>
            </a:lvl8pPr>
            <a:lvl9pPr marL="3206618" indent="0">
              <a:buNone/>
              <a:defRPr sz="1753"/>
            </a:lvl9pPr>
          </a:lstStyle>
          <a:p>
            <a:endParaRPr lang="en-IN" dirty="0"/>
          </a:p>
        </p:txBody>
      </p:sp>
      <p:sp>
        <p:nvSpPr>
          <p:cNvPr id="4" name="Text Placeholder 3"/>
          <p:cNvSpPr>
            <a:spLocks noGrp="1"/>
          </p:cNvSpPr>
          <p:nvPr>
            <p:ph type="body" sz="half" idx="2"/>
          </p:nvPr>
        </p:nvSpPr>
        <p:spPr>
          <a:xfrm>
            <a:off x="736236" y="2268855"/>
            <a:ext cx="3447364" cy="4203335"/>
          </a:xfrm>
        </p:spPr>
        <p:txBody>
          <a:bodyPr/>
          <a:lstStyle>
            <a:lvl1pPr marL="0" indent="0">
              <a:buNone/>
              <a:defRPr sz="1403"/>
            </a:lvl1pPr>
            <a:lvl2pPr marL="400827" indent="0">
              <a:buNone/>
              <a:defRPr sz="1227"/>
            </a:lvl2pPr>
            <a:lvl3pPr marL="801654" indent="0">
              <a:buNone/>
              <a:defRPr sz="1052"/>
            </a:lvl3pPr>
            <a:lvl4pPr marL="1202482" indent="0">
              <a:buNone/>
              <a:defRPr sz="877"/>
            </a:lvl4pPr>
            <a:lvl5pPr marL="1603309" indent="0">
              <a:buNone/>
              <a:defRPr sz="877"/>
            </a:lvl5pPr>
            <a:lvl6pPr marL="2004136" indent="0">
              <a:buNone/>
              <a:defRPr sz="877"/>
            </a:lvl6pPr>
            <a:lvl7pPr marL="2404963" indent="0">
              <a:buNone/>
              <a:defRPr sz="877"/>
            </a:lvl7pPr>
            <a:lvl8pPr marL="2805791" indent="0">
              <a:buNone/>
              <a:defRPr sz="877"/>
            </a:lvl8pPr>
            <a:lvl9pPr marL="3206618" indent="0">
              <a:buNone/>
              <a:defRPr sz="877"/>
            </a:lvl9pPr>
          </a:lstStyle>
          <a:p>
            <a:pPr lvl="0"/>
            <a:r>
              <a:rPr lang="en-US"/>
              <a:t>Edit Master text styles</a:t>
            </a:r>
          </a:p>
        </p:txBody>
      </p:sp>
      <p:sp>
        <p:nvSpPr>
          <p:cNvPr id="5" name="Date Placeholder 4"/>
          <p:cNvSpPr>
            <a:spLocks noGrp="1"/>
          </p:cNvSpPr>
          <p:nvPr>
            <p:ph type="dt" sz="half" idx="10"/>
          </p:nvPr>
        </p:nvSpPr>
        <p:spPr/>
        <p:txBody>
          <a:bodyPr/>
          <a:lstStyle/>
          <a:p>
            <a:fld id="{E009A6BF-8C49-4824-BE0B-98EE640BF945}" type="datetime1">
              <a:rPr lang="en-IN" smtClean="0"/>
              <a:t>24-09-2022</a:t>
            </a:fld>
            <a:endParaRPr lang="en-IN" dirty="0"/>
          </a:p>
        </p:txBody>
      </p:sp>
      <p:sp>
        <p:nvSpPr>
          <p:cNvPr id="6" name="Footer Placeholder 5"/>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7" name="Slide Number Placeholder 6"/>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35129330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7A9B4B5-F008-4C12-9284-E270DE14CD31}" type="datetime1">
              <a:rPr lang="en-IN" smtClean="0"/>
              <a:t>24-09-2022</a:t>
            </a:fld>
            <a:endParaRPr lang="en-IN" dirty="0"/>
          </a:p>
        </p:txBody>
      </p:sp>
      <p:sp>
        <p:nvSpPr>
          <p:cNvPr id="5" name="Footer Placeholder 4"/>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6" name="Slide Number Placeholder 5"/>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39335621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49056" y="402652"/>
            <a:ext cx="2304738" cy="6409166"/>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734844" y="402652"/>
            <a:ext cx="6780605" cy="640916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E86D230-D6A6-46A7-9C82-ED16B80502F0}" type="datetime1">
              <a:rPr lang="en-IN" smtClean="0"/>
              <a:t>24-09-2022</a:t>
            </a:fld>
            <a:endParaRPr lang="en-IN" dirty="0"/>
          </a:p>
        </p:txBody>
      </p:sp>
      <p:sp>
        <p:nvSpPr>
          <p:cNvPr id="5" name="Footer Placeholder 4"/>
          <p:cNvSpPr>
            <a:spLocks noGrp="1"/>
          </p:cNvSpPr>
          <p:nvPr>
            <p:ph type="ftr" sz="quarter" idx="11"/>
          </p:nvPr>
        </p:nvSpPr>
        <p:spPr/>
        <p:txBody>
          <a:bodyPr/>
          <a:lstStyle/>
          <a:p>
            <a:r>
              <a:rPr lang="en-US" dirty="0"/>
              <a:t>Copyright©2018 Deloitte Touche Tohmatsu India LLP. All rights reserved.</a:t>
            </a:r>
            <a:endParaRPr lang="en-IN" dirty="0"/>
          </a:p>
        </p:txBody>
      </p:sp>
      <p:sp>
        <p:nvSpPr>
          <p:cNvPr id="6" name="Slide Number Placeholder 5"/>
          <p:cNvSpPr>
            <a:spLocks noGrp="1"/>
          </p:cNvSpPr>
          <p:nvPr>
            <p:ph type="sldNum" sz="quarter" idx="12"/>
          </p:nvPr>
        </p:nvSpPr>
        <p:spPr/>
        <p:txBody>
          <a:bodyPr/>
          <a:lstStyle/>
          <a:p>
            <a:fld id="{90DEBE48-6D6C-4A8E-94CF-75CFB5466CEF}" type="slidenum">
              <a:rPr lang="en-IN" smtClean="0"/>
              <a:t>‹#›</a:t>
            </a:fld>
            <a:endParaRPr lang="en-IN" dirty="0"/>
          </a:p>
        </p:txBody>
      </p:sp>
    </p:spTree>
    <p:extLst>
      <p:ext uri="{BB962C8B-B14F-4D97-AF65-F5344CB8AC3E}">
        <p14:creationId xmlns:p14="http://schemas.microsoft.com/office/powerpoint/2010/main" val="383050199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39795" y="718572"/>
            <a:ext cx="9785950" cy="835084"/>
          </a:xfrm>
          <a:prstGeom prst="rect">
            <a:avLst/>
          </a:prstGeom>
        </p:spPr>
        <p:txBody>
          <a:bodyPr lIns="0" tIns="0" rIns="0" bIns="0">
            <a:noAutofit/>
          </a:bodyPr>
          <a:lstStyle>
            <a:lvl1pPr marL="0" indent="0">
              <a:buNone/>
              <a:defRPr sz="1753" b="0">
                <a:solidFill>
                  <a:schemeClr val="tx2"/>
                </a:solidFill>
              </a:defRPr>
            </a:lvl1pPr>
          </a:lstStyle>
          <a:p>
            <a:pPr lvl="0"/>
            <a:r>
              <a:rPr lang="en-US" noProof="0" dirty="0"/>
              <a:t>Click to add subtitle</a:t>
            </a:r>
          </a:p>
        </p:txBody>
      </p:sp>
      <p:sp>
        <p:nvSpPr>
          <p:cNvPr id="14" name="Title Placeholder 1"/>
          <p:cNvSpPr>
            <a:spLocks noGrp="1"/>
          </p:cNvSpPr>
          <p:nvPr>
            <p:ph type="title"/>
          </p:nvPr>
        </p:nvSpPr>
        <p:spPr>
          <a:xfrm>
            <a:off x="439795" y="350134"/>
            <a:ext cx="9785950"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39794" y="1836446"/>
            <a:ext cx="9788640"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49067545"/>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8215354" y="4644850"/>
            <a:ext cx="2033491" cy="1902786"/>
          </a:xfrm>
        </p:spPr>
        <p:txBody>
          <a:bodyPr anchor="ctr" anchorCtr="0"/>
          <a:lstStyle>
            <a:lvl1pPr algn="ctr">
              <a:defRPr sz="789"/>
            </a:lvl1pPr>
          </a:lstStyle>
          <a:p>
            <a:r>
              <a:rPr lang="en-US" sz="789" noProof="0" dirty="0"/>
              <a:t>Insert sponsorship mark here</a:t>
            </a:r>
            <a:endParaRPr lang="en-US" noProof="0" dirty="0"/>
          </a:p>
        </p:txBody>
      </p:sp>
      <p:sp>
        <p:nvSpPr>
          <p:cNvPr id="8" name="Text Placeholder 7"/>
          <p:cNvSpPr>
            <a:spLocks noGrp="1"/>
          </p:cNvSpPr>
          <p:nvPr>
            <p:ph type="body" sz="quarter" idx="15"/>
          </p:nvPr>
        </p:nvSpPr>
        <p:spPr>
          <a:xfrm>
            <a:off x="8215357" y="6636547"/>
            <a:ext cx="2033490" cy="401105"/>
          </a:xfrm>
        </p:spPr>
        <p:txBody>
          <a:bodyPr anchor="b" anchorCtr="0"/>
          <a:lstStyle>
            <a:lvl1pPr>
              <a:lnSpc>
                <a:spcPct val="100000"/>
              </a:lnSpc>
              <a:defRPr sz="833"/>
            </a:lvl1pPr>
          </a:lstStyle>
          <a:p>
            <a:pPr lvl="0"/>
            <a:r>
              <a:rPr lang="en-US" noProof="0"/>
              <a:t>Click to edit Master text styles</a:t>
            </a:r>
          </a:p>
        </p:txBody>
      </p:sp>
      <p:sp>
        <p:nvSpPr>
          <p:cNvPr id="5" name="TextBox 4"/>
          <p:cNvSpPr txBox="1"/>
          <p:nvPr userDrawn="1"/>
        </p:nvSpPr>
        <p:spPr>
          <a:xfrm>
            <a:off x="439794" y="4903133"/>
            <a:ext cx="7503140" cy="1278555"/>
          </a:xfrm>
          <a:prstGeom prst="rect">
            <a:avLst/>
          </a:prstGeom>
          <a:noFill/>
        </p:spPr>
        <p:txBody>
          <a:bodyPr wrap="square" lIns="0" tIns="0" rIns="0" bIns="0" rtlCol="0">
            <a:spAutoFit/>
          </a:bodyPr>
          <a:lstStyle/>
          <a:p>
            <a:r>
              <a:rPr lang="en-US" sz="789" kern="1200" dirty="0">
                <a:solidFill>
                  <a:schemeClr val="tx1"/>
                </a:solidFill>
                <a:effectLst/>
                <a:latin typeface="+mn-lt"/>
                <a:ea typeface="+mn-ea"/>
                <a:cs typeface="+mn-cs"/>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a:t>
            </a:r>
            <a:r>
              <a:rPr lang="en-US" sz="789" u="sng" kern="1200" dirty="0">
                <a:solidFill>
                  <a:schemeClr val="tx1"/>
                </a:solidFill>
                <a:effectLst/>
                <a:latin typeface="+mn-lt"/>
                <a:ea typeface="+mn-ea"/>
                <a:cs typeface="+mn-cs"/>
                <a:hlinkClick r:id="rId2"/>
              </a:rPr>
              <a:t>www.deloitte.com/about</a:t>
            </a:r>
            <a:r>
              <a:rPr lang="en-US" sz="789" kern="1200" dirty="0">
                <a:solidFill>
                  <a:schemeClr val="tx1"/>
                </a:solidFill>
                <a:effectLst/>
                <a:latin typeface="+mn-lt"/>
                <a:ea typeface="+mn-ea"/>
                <a:cs typeface="+mn-cs"/>
              </a:rPr>
              <a:t> for a more detailed description of DTTL and its member firms.</a:t>
            </a:r>
          </a:p>
          <a:p>
            <a:r>
              <a:rPr lang="en-US" sz="789" kern="1200" dirty="0">
                <a:solidFill>
                  <a:schemeClr val="tx1"/>
                </a:solidFill>
                <a:effectLst/>
                <a:latin typeface="+mn-lt"/>
                <a:ea typeface="+mn-ea"/>
                <a:cs typeface="+mn-cs"/>
              </a:rPr>
              <a:t> </a:t>
            </a:r>
          </a:p>
          <a:p>
            <a:r>
              <a:rPr lang="en-US" sz="789" kern="1200" dirty="0">
                <a:solidFill>
                  <a:schemeClr val="tx1"/>
                </a:solidFill>
                <a:effectLst/>
                <a:latin typeface="+mn-lt"/>
                <a:ea typeface="+mn-ea"/>
                <a:cs typeface="+mn-cs"/>
              </a:rPr>
              <a:t>The information contained in this material is meant for internal purposes and use only among personnel of Deloitte Touche Tohmatsu Limited, its member firms, and their related entities (collectively, the “Deloitte Network”). The recipient is strictly prohibited from further circulation of this material. Any breach of this requirement may invite disciplinary action (which may include dismissal) and/or prosecution. None of the Deloitte Network shall be responsible for any loss whatsoever sustained by any person who relies on this material.</a:t>
            </a:r>
          </a:p>
          <a:p>
            <a:r>
              <a:rPr lang="en-US" sz="789" kern="1200" dirty="0">
                <a:solidFill>
                  <a:schemeClr val="tx1"/>
                </a:solidFill>
                <a:effectLst/>
                <a:latin typeface="+mn-lt"/>
                <a:ea typeface="+mn-ea"/>
                <a:cs typeface="+mn-cs"/>
              </a:rPr>
              <a:t> </a:t>
            </a:r>
          </a:p>
          <a:p>
            <a:r>
              <a:rPr lang="en-US" sz="789" kern="1200" dirty="0">
                <a:solidFill>
                  <a:schemeClr val="tx1"/>
                </a:solidFill>
                <a:effectLst/>
                <a:latin typeface="+mn-lt"/>
                <a:ea typeface="+mn-ea"/>
                <a:cs typeface="+mn-cs"/>
              </a:rPr>
              <a:t>©2018 Deloitte Touche Tohmatsu India LLP. Member of Deloitte Touche Tohmatsu Limited</a:t>
            </a:r>
          </a:p>
          <a:p>
            <a:pPr marL="178145" indent="-178145">
              <a:spcBef>
                <a:spcPts val="526"/>
              </a:spcBef>
              <a:buSzPct val="100000"/>
              <a:buFont typeface="Arial"/>
              <a:buChar char="�"/>
            </a:pPr>
            <a:endParaRPr lang="en-US" sz="789" dirty="0">
              <a:solidFill>
                <a:srgbClr val="313131"/>
              </a:solidFill>
            </a:endParaRPr>
          </a:p>
        </p:txBody>
      </p:sp>
      <p:grpSp>
        <p:nvGrpSpPr>
          <p:cNvPr id="20" name="Group 19"/>
          <p:cNvGrpSpPr>
            <a:grpSpLocks noChangeAspect="1"/>
          </p:cNvGrpSpPr>
          <p:nvPr userDrawn="1"/>
        </p:nvGrpSpPr>
        <p:grpSpPr>
          <a:xfrm>
            <a:off x="599208" y="514323"/>
            <a:ext cx="1751632" cy="412880"/>
            <a:chOff x="398463" y="404813"/>
            <a:chExt cx="1627187" cy="307976"/>
          </a:xfrm>
          <a:solidFill>
            <a:sysClr val="windowText" lastClr="000000"/>
          </a:solidFill>
        </p:grpSpPr>
        <p:sp>
          <p:nvSpPr>
            <p:cNvPr id="21"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801654" eaLnBrk="1" fontAlgn="auto" latinLnBrk="0" hangingPunct="1">
                <a:lnSpc>
                  <a:spcPct val="100000"/>
                </a:lnSpc>
                <a:spcBef>
                  <a:spcPts val="0"/>
                </a:spcBef>
                <a:spcAft>
                  <a:spcPts val="0"/>
                </a:spcAft>
                <a:buClrTx/>
                <a:buSzTx/>
                <a:buFontTx/>
                <a:buNone/>
                <a:tabLst/>
                <a:defRPr/>
              </a:pPr>
              <a:endParaRPr kumimoji="0" lang="en-GB" sz="2279" b="0" i="0" u="none" strike="noStrike" kern="0" cap="none" spc="0" normalizeH="0" baseline="0" noProof="0" dirty="0">
                <a:ln>
                  <a:noFill/>
                </a:ln>
                <a:solidFill>
                  <a:prstClr val="white"/>
                </a:solidFill>
                <a:effectLst/>
                <a:uLnTx/>
                <a:uFillTx/>
                <a:latin typeface="Verdana"/>
              </a:endParaRPr>
            </a:p>
          </p:txBody>
        </p:sp>
      </p:grpSp>
    </p:spTree>
    <p:extLst>
      <p:ext uri="{BB962C8B-B14F-4D97-AF65-F5344CB8AC3E}">
        <p14:creationId xmlns:p14="http://schemas.microsoft.com/office/powerpoint/2010/main" val="393218998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9" Type="http://schemas.openxmlformats.org/officeDocument/2006/relationships/slideLayout" Target="../slideLayouts/slideLayout81.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42" Type="http://schemas.openxmlformats.org/officeDocument/2006/relationships/tags" Target="../tags/tag3.xml"/><Relationship Id="rId7" Type="http://schemas.openxmlformats.org/officeDocument/2006/relationships/slideLayout" Target="../slideLayouts/slideLayout4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41" Type="http://schemas.openxmlformats.org/officeDocument/2006/relationships/theme" Target="../theme/theme2.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slideLayout" Target="../slideLayouts/slideLayout79.xml"/><Relationship Id="rId40" Type="http://schemas.openxmlformats.org/officeDocument/2006/relationships/slideLayout" Target="../slideLayouts/slideLayout82.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slideLayout" Target="../slideLayouts/slideLayout78.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4" Type="http://schemas.openxmlformats.org/officeDocument/2006/relationships/image" Target="../media/image1.emf"/><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 Id="rId43" Type="http://schemas.openxmlformats.org/officeDocument/2006/relationships/oleObject" Target="../embeddings/oleObject2.bin"/><Relationship Id="rId8" Type="http://schemas.openxmlformats.org/officeDocument/2006/relationships/slideLayout" Target="../slideLayouts/slideLayout50.xml"/><Relationship Id="rId3" Type="http://schemas.openxmlformats.org/officeDocument/2006/relationships/slideLayout" Target="../slideLayouts/slideLayout45.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38" Type="http://schemas.openxmlformats.org/officeDocument/2006/relationships/slideLayout" Target="../slideLayouts/slideLayout8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0.xml"/><Relationship Id="rId13" Type="http://schemas.openxmlformats.org/officeDocument/2006/relationships/slideLayout" Target="../slideLayouts/slideLayout95.xml"/><Relationship Id="rId3" Type="http://schemas.openxmlformats.org/officeDocument/2006/relationships/slideLayout" Target="../slideLayouts/slideLayout85.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2" Type="http://schemas.openxmlformats.org/officeDocument/2006/relationships/slideLayout" Target="../slideLayouts/slideLayout84.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5" Type="http://schemas.openxmlformats.org/officeDocument/2006/relationships/slideLayout" Target="../slideLayouts/slideLayout87.xml"/><Relationship Id="rId10" Type="http://schemas.openxmlformats.org/officeDocument/2006/relationships/slideLayout" Target="../slideLayouts/slideLayout92.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166891810"/>
              </p:ext>
            </p:extLst>
          </p:nvPr>
        </p:nvGraphicFramePr>
        <p:xfrm>
          <a:off x="1857" y="1752"/>
          <a:ext cx="1855" cy="1750"/>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4" name="Object 3" hidden="1"/>
                      <p:cNvPicPr/>
                      <p:nvPr/>
                    </p:nvPicPr>
                    <p:blipFill>
                      <a:blip r:embed="rId46"/>
                      <a:stretch>
                        <a:fillRect/>
                      </a:stretch>
                    </p:blipFill>
                    <p:spPr>
                      <a:xfrm>
                        <a:off x="1857" y="1752"/>
                        <a:ext cx="1855" cy="1750"/>
                      </a:xfrm>
                      <a:prstGeom prst="rect">
                        <a:avLst/>
                      </a:prstGeom>
                    </p:spPr>
                  </p:pic>
                </p:oleObj>
              </mc:Fallback>
            </mc:AlternateContent>
          </a:graphicData>
        </a:graphic>
      </p:graphicFrame>
      <p:sp>
        <p:nvSpPr>
          <p:cNvPr id="2" name="Title Placeholder 1"/>
          <p:cNvSpPr>
            <a:spLocks noGrp="1"/>
          </p:cNvSpPr>
          <p:nvPr>
            <p:ph type="title"/>
          </p:nvPr>
        </p:nvSpPr>
        <p:spPr bwMode="gray">
          <a:xfrm>
            <a:off x="439794" y="350133"/>
            <a:ext cx="9809052" cy="763288"/>
          </a:xfrm>
          <a:prstGeom prst="rect">
            <a:avLst/>
          </a:prstGeom>
        </p:spPr>
        <p:txBody>
          <a:bodyPr vert="horz" lIns="0" tIns="0" rIns="0" bIns="0" rtlCol="0" anchor="t" anchorCtr="0">
            <a:noAutofit/>
          </a:bodyPr>
          <a:lstStyle/>
          <a:p>
            <a:r>
              <a:rPr lang="en-US" noProof="0" dirty="0"/>
              <a:t>Click to edit Master title style</a:t>
            </a:r>
          </a:p>
        </p:txBody>
      </p:sp>
      <p:sp>
        <p:nvSpPr>
          <p:cNvPr id="18" name="TextBox 17"/>
          <p:cNvSpPr txBox="1"/>
          <p:nvPr userDrawn="1"/>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fr-FR" sz="700" noProof="0" dirty="0">
                <a:solidFill>
                  <a:schemeClr val="tx1"/>
                </a:solidFill>
              </a:rPr>
              <a:t>© 2018 Deloitte Touche Tohmatsu India LLP</a:t>
            </a:r>
          </a:p>
        </p:txBody>
      </p:sp>
      <p:sp>
        <p:nvSpPr>
          <p:cNvPr id="19" name="Text Placeholder 18"/>
          <p:cNvSpPr>
            <a:spLocks noGrp="1"/>
          </p:cNvSpPr>
          <p:nvPr>
            <p:ph type="body" idx="1"/>
          </p:nvPr>
        </p:nvSpPr>
        <p:spPr>
          <a:xfrm>
            <a:off x="439793" y="1836444"/>
            <a:ext cx="9809052" cy="5201209"/>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userDrawn="1"/>
        </p:nvSpPr>
        <p:spPr>
          <a:xfrm>
            <a:off x="9978847" y="7142692"/>
            <a:ext cx="269999" cy="110308"/>
          </a:xfrm>
          <a:prstGeom prst="rect">
            <a:avLst/>
          </a:prstGeom>
          <a:noFill/>
        </p:spPr>
        <p:txBody>
          <a:bodyPr wrap="square" lIns="0" tIns="0" rIns="0" bIns="0" rtlCol="0">
            <a:noAutofit/>
          </a:bodyPr>
          <a:lstStyle/>
          <a:p>
            <a:pPr marL="0" indent="0" algn="r">
              <a:spcBef>
                <a:spcPts val="662"/>
              </a:spcBef>
              <a:buSzPct val="100000"/>
              <a:buFont typeface="Arial"/>
              <a:buNone/>
            </a:pPr>
            <a:fld id="{C58DF478-B544-4ED8-9ED4-6A2648E2D233}" type="slidenum">
              <a:rPr lang="en-US" sz="700" noProof="0" smtClean="0">
                <a:solidFill>
                  <a:schemeClr val="tx1"/>
                </a:solidFill>
              </a:rPr>
              <a:pPr marL="0" indent="0" algn="r">
                <a:spcBef>
                  <a:spcPts val="662"/>
                </a:spcBef>
                <a:buSzPct val="100000"/>
                <a:buFont typeface="Arial"/>
                <a:buNone/>
              </a:pPr>
              <a:t>‹#›</a:t>
            </a:fld>
            <a:endParaRPr lang="en-US" sz="700" noProof="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6" r:id="rId3"/>
    <p:sldLayoutId id="2147483755"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5" r:id="rId24"/>
    <p:sldLayoutId id="2147483716" r:id="rId25"/>
    <p:sldLayoutId id="2147483717" r:id="rId26"/>
    <p:sldLayoutId id="2147483718"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 id="2147483815" r:id="rId41"/>
    <p:sldLayoutId id="2147483864" r:id="rId42"/>
  </p:sldLayoutIdLst>
  <p:transition>
    <p:fade/>
  </p:transition>
  <p:hf hdr="0" dt="0"/>
  <p:txStyles>
    <p:titleStyle>
      <a:lvl1pPr algn="l" defTabSz="1008400" rtl="0" eaLnBrk="1" latinLnBrk="0" hangingPunct="1">
        <a:spcBef>
          <a:spcPct val="0"/>
        </a:spcBef>
        <a:buNone/>
        <a:defRPr sz="2000" kern="1200">
          <a:solidFill>
            <a:schemeClr val="tx1"/>
          </a:solidFill>
          <a:latin typeface="+mj-lt"/>
          <a:ea typeface="+mj-ea"/>
          <a:cs typeface="+mj-cs"/>
        </a:defRPr>
      </a:lvl1pPr>
    </p:titleStyle>
    <p:bodyStyle>
      <a:lvl1pPr marL="0" indent="0" algn="l" defTabSz="1008400" rtl="0" eaLnBrk="1" latinLnBrk="0" hangingPunct="1">
        <a:spcBef>
          <a:spcPts val="0"/>
        </a:spcBef>
        <a:spcAft>
          <a:spcPts val="110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000"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p:bodyStyle>
    <p:otherStyle>
      <a:defPPr>
        <a:defRPr lang="en-US"/>
      </a:defPPr>
      <a:lvl1pPr marL="0" algn="l" defTabSz="1008400" rtl="0" eaLnBrk="1" latinLnBrk="0" hangingPunct="1">
        <a:defRPr sz="1985" kern="1200">
          <a:solidFill>
            <a:schemeClr val="tx1"/>
          </a:solidFill>
          <a:latin typeface="+mn-lt"/>
          <a:ea typeface="+mn-ea"/>
          <a:cs typeface="+mn-cs"/>
        </a:defRPr>
      </a:lvl1pPr>
      <a:lvl2pPr marL="504200" algn="l" defTabSz="1008400" rtl="0" eaLnBrk="1" latinLnBrk="0" hangingPunct="1">
        <a:defRPr sz="1985" kern="1200">
          <a:solidFill>
            <a:schemeClr val="tx1"/>
          </a:solidFill>
          <a:latin typeface="+mn-lt"/>
          <a:ea typeface="+mn-ea"/>
          <a:cs typeface="+mn-cs"/>
        </a:defRPr>
      </a:lvl2pPr>
      <a:lvl3pPr marL="1008400" algn="l" defTabSz="1008400" rtl="0" eaLnBrk="1" latinLnBrk="0" hangingPunct="1">
        <a:defRPr sz="1985" kern="1200">
          <a:solidFill>
            <a:schemeClr val="tx1"/>
          </a:solidFill>
          <a:latin typeface="+mn-lt"/>
          <a:ea typeface="+mn-ea"/>
          <a:cs typeface="+mn-cs"/>
        </a:defRPr>
      </a:lvl3pPr>
      <a:lvl4pPr marL="1512600" algn="l" defTabSz="1008400" rtl="0" eaLnBrk="1" latinLnBrk="0" hangingPunct="1">
        <a:defRPr sz="1985" kern="1200">
          <a:solidFill>
            <a:schemeClr val="tx1"/>
          </a:solidFill>
          <a:latin typeface="+mn-lt"/>
          <a:ea typeface="+mn-ea"/>
          <a:cs typeface="+mn-cs"/>
        </a:defRPr>
      </a:lvl4pPr>
      <a:lvl5pPr marL="2016801" algn="l" defTabSz="1008400" rtl="0" eaLnBrk="1" latinLnBrk="0" hangingPunct="1">
        <a:defRPr sz="1985" kern="1200">
          <a:solidFill>
            <a:schemeClr val="tx1"/>
          </a:solidFill>
          <a:latin typeface="+mn-lt"/>
          <a:ea typeface="+mn-ea"/>
          <a:cs typeface="+mn-cs"/>
        </a:defRPr>
      </a:lvl5pPr>
      <a:lvl6pPr marL="2521001" algn="l" defTabSz="1008400" rtl="0" eaLnBrk="1" latinLnBrk="0" hangingPunct="1">
        <a:defRPr sz="1985" kern="1200">
          <a:solidFill>
            <a:schemeClr val="tx1"/>
          </a:solidFill>
          <a:latin typeface="+mn-lt"/>
          <a:ea typeface="+mn-ea"/>
          <a:cs typeface="+mn-cs"/>
        </a:defRPr>
      </a:lvl6pPr>
      <a:lvl7pPr marL="3025201" algn="l" defTabSz="1008400" rtl="0" eaLnBrk="1" latinLnBrk="0" hangingPunct="1">
        <a:defRPr sz="1985" kern="1200">
          <a:solidFill>
            <a:schemeClr val="tx1"/>
          </a:solidFill>
          <a:latin typeface="+mn-lt"/>
          <a:ea typeface="+mn-ea"/>
          <a:cs typeface="+mn-cs"/>
        </a:defRPr>
      </a:lvl7pPr>
      <a:lvl8pPr marL="3529401" algn="l" defTabSz="1008400" rtl="0" eaLnBrk="1" latinLnBrk="0" hangingPunct="1">
        <a:defRPr sz="1985" kern="1200">
          <a:solidFill>
            <a:schemeClr val="tx1"/>
          </a:solidFill>
          <a:latin typeface="+mn-lt"/>
          <a:ea typeface="+mn-ea"/>
          <a:cs typeface="+mn-cs"/>
        </a:defRPr>
      </a:lvl8pPr>
      <a:lvl9pPr marL="4033601" algn="l" defTabSz="1008400" rtl="0" eaLnBrk="1" latinLnBrk="0" hangingPunct="1">
        <a:defRPr sz="1985"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443" userDrawn="1">
          <p15:clr>
            <a:srgbClr val="F26B43"/>
          </p15:clr>
        </p15:guide>
        <p15:guide id="4" pos="277" userDrawn="1">
          <p15:clr>
            <a:srgbClr val="F26B43"/>
          </p15:clr>
        </p15:guide>
        <p15:guide id="5" pos="6464" userDrawn="1">
          <p15:clr>
            <a:srgbClr val="F26B43"/>
          </p15:clr>
        </p15:guide>
        <p15:guide id="11" orient="horz" pos="219" userDrawn="1">
          <p15:clr>
            <a:srgbClr val="F26B43"/>
          </p15:clr>
        </p15:guide>
        <p15:guide id="21" orient="horz" pos="115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2"/>
            </p:custDataLst>
          </p:nvPr>
        </p:nvGraphicFramePr>
        <p:xfrm>
          <a:off x="1858" y="1753"/>
          <a:ext cx="1855" cy="1750"/>
        </p:xfrm>
        <a:graphic>
          <a:graphicData uri="http://schemas.openxmlformats.org/presentationml/2006/ole">
            <mc:AlternateContent xmlns:mc="http://schemas.openxmlformats.org/markup-compatibility/2006">
              <mc:Choice xmlns:v="urn:schemas-microsoft-com:vml" Requires="v">
                <p:oleObj name="think-cell Slide" r:id="rId43" imgW="270" imgH="270" progId="TCLayout.ActiveDocument.1">
                  <p:embed/>
                </p:oleObj>
              </mc:Choice>
              <mc:Fallback>
                <p:oleObj name="think-cell Slide" r:id="rId43" imgW="270" imgH="270" progId="TCLayout.ActiveDocument.1">
                  <p:embed/>
                  <p:pic>
                    <p:nvPicPr>
                      <p:cNvPr id="4" name="Object 3" hidden="1"/>
                      <p:cNvPicPr/>
                      <p:nvPr/>
                    </p:nvPicPr>
                    <p:blipFill>
                      <a:blip r:embed="rId44"/>
                      <a:stretch>
                        <a:fillRect/>
                      </a:stretch>
                    </p:blipFill>
                    <p:spPr>
                      <a:xfrm>
                        <a:off x="1858" y="1753"/>
                        <a:ext cx="1855" cy="1750"/>
                      </a:xfrm>
                      <a:prstGeom prst="rect">
                        <a:avLst/>
                      </a:prstGeom>
                    </p:spPr>
                  </p:pic>
                </p:oleObj>
              </mc:Fallback>
            </mc:AlternateContent>
          </a:graphicData>
        </a:graphic>
      </p:graphicFrame>
      <p:sp>
        <p:nvSpPr>
          <p:cNvPr id="2" name="Title Placeholder 1"/>
          <p:cNvSpPr>
            <a:spLocks noGrp="1"/>
          </p:cNvSpPr>
          <p:nvPr>
            <p:ph type="title"/>
          </p:nvPr>
        </p:nvSpPr>
        <p:spPr bwMode="gray">
          <a:xfrm>
            <a:off x="411958" y="443963"/>
            <a:ext cx="9864722" cy="763289"/>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11958" y="1836445"/>
            <a:ext cx="9864722" cy="5110174"/>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0003900" y="7142692"/>
            <a:ext cx="269999" cy="87716"/>
          </a:xfrm>
          <a:prstGeom prst="rect">
            <a:avLst/>
          </a:prstGeom>
          <a:noFill/>
        </p:spPr>
        <p:txBody>
          <a:bodyPr wrap="square" lIns="0" tIns="0" rIns="0" bIns="0" rtlCol="0">
            <a:spAutoFit/>
          </a:bodyPr>
          <a:lstStyle/>
          <a:p>
            <a:pPr marL="0" indent="0" algn="r">
              <a:spcBef>
                <a:spcPts val="701"/>
              </a:spcBef>
              <a:buSzPct val="100000"/>
              <a:buFont typeface="Arial"/>
              <a:buNone/>
            </a:pPr>
            <a:fld id="{C58DF478-B544-4ED8-9ED4-6A2648E2D233}" type="slidenum">
              <a:rPr lang="en-GB" sz="570" noProof="0">
                <a:solidFill>
                  <a:schemeClr val="tx1"/>
                </a:solidFill>
              </a:rPr>
              <a:pPr marL="0" indent="0" algn="r">
                <a:spcBef>
                  <a:spcPts val="701"/>
                </a:spcBef>
                <a:buSzPct val="100000"/>
                <a:buFont typeface="Arial"/>
                <a:buNone/>
              </a:pPr>
              <a:t>‹#›</a:t>
            </a:fld>
            <a:endParaRPr lang="en-GB" sz="570" noProof="0" dirty="0">
              <a:solidFill>
                <a:schemeClr val="tx1"/>
              </a:solidFill>
            </a:endParaRPr>
          </a:p>
        </p:txBody>
      </p:sp>
      <p:sp>
        <p:nvSpPr>
          <p:cNvPr id="3" name="Footer Placeholder 2"/>
          <p:cNvSpPr>
            <a:spLocks noGrp="1"/>
          </p:cNvSpPr>
          <p:nvPr>
            <p:ph type="ftr" sz="quarter" idx="3"/>
          </p:nvPr>
        </p:nvSpPr>
        <p:spPr>
          <a:xfrm>
            <a:off x="5422257" y="7142690"/>
            <a:ext cx="3977315" cy="269603"/>
          </a:xfrm>
          <a:prstGeom prst="rect">
            <a:avLst/>
          </a:prstGeom>
        </p:spPr>
        <p:txBody>
          <a:bodyPr vert="horz" lIns="0" tIns="0" rIns="0" bIns="0" rtlCol="0" anchor="t" anchorCtr="0"/>
          <a:lstStyle>
            <a:lvl1pPr algn="r">
              <a:defRPr sz="570">
                <a:solidFill>
                  <a:schemeClr val="tx1"/>
                </a:solidFill>
              </a:defRPr>
            </a:lvl1pPr>
          </a:lstStyle>
          <a:p>
            <a:endParaRPr lang="en-GB" dirty="0"/>
          </a:p>
        </p:txBody>
      </p:sp>
    </p:spTree>
    <p:extLst>
      <p:ext uri="{BB962C8B-B14F-4D97-AF65-F5344CB8AC3E}">
        <p14:creationId xmlns:p14="http://schemas.microsoft.com/office/powerpoint/2010/main" val="2843625537"/>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 id="2147483835" r:id="rId17"/>
    <p:sldLayoutId id="2147483836" r:id="rId18"/>
    <p:sldLayoutId id="2147483837" r:id="rId19"/>
    <p:sldLayoutId id="2147483838" r:id="rId20"/>
    <p:sldLayoutId id="2147483839" r:id="rId21"/>
    <p:sldLayoutId id="2147483840" r:id="rId22"/>
    <p:sldLayoutId id="2147483841" r:id="rId23"/>
    <p:sldLayoutId id="2147483842" r:id="rId24"/>
    <p:sldLayoutId id="2147483843"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3" r:id="rId35"/>
    <p:sldLayoutId id="2147483854" r:id="rId36"/>
    <p:sldLayoutId id="2147483855" r:id="rId37"/>
    <p:sldLayoutId id="2147483856" r:id="rId38"/>
    <p:sldLayoutId id="2147483857" r:id="rId39"/>
    <p:sldLayoutId id="2147483858" r:id="rId40"/>
  </p:sldLayoutIdLst>
  <p:transition>
    <p:fade/>
  </p:transition>
  <p:hf sldNum="0" hdr="0" dt="0"/>
  <p:txStyles>
    <p:titleStyle>
      <a:lvl1pPr algn="l" defTabSz="1068846" rtl="0" eaLnBrk="1" latinLnBrk="0" hangingPunct="1">
        <a:spcBef>
          <a:spcPct val="0"/>
        </a:spcBef>
        <a:buNone/>
        <a:defRPr sz="1753" kern="1200">
          <a:solidFill>
            <a:schemeClr val="tx1"/>
          </a:solidFill>
          <a:latin typeface="+mj-lt"/>
          <a:ea typeface="+mj-ea"/>
          <a:cs typeface="+mj-cs"/>
        </a:defRPr>
      </a:lvl1pPr>
    </p:titleStyle>
    <p:bodyStyle>
      <a:lvl1pPr marL="0" indent="0" algn="l" defTabSz="1068846" rtl="0" eaLnBrk="1" latinLnBrk="0" hangingPunct="1">
        <a:spcBef>
          <a:spcPts val="0"/>
        </a:spcBef>
        <a:spcAft>
          <a:spcPts val="1169"/>
        </a:spcAft>
        <a:buClrTx/>
        <a:buSzPct val="100000"/>
        <a:buFont typeface="Arial" panose="020B0604020202020204" pitchFamily="34" charset="0"/>
        <a:buChar char="​"/>
        <a:defRPr sz="1052" b="0" kern="1200">
          <a:solidFill>
            <a:schemeClr val="tx1"/>
          </a:solidFill>
          <a:latin typeface="+mn-lt"/>
          <a:ea typeface="+mn-ea"/>
          <a:cs typeface="+mn-cs"/>
        </a:defRPr>
      </a:lvl1pPr>
      <a:lvl2pPr marL="0" indent="0" algn="l" defTabSz="1068846" rtl="0" eaLnBrk="1" latinLnBrk="0" hangingPunct="1">
        <a:spcBef>
          <a:spcPts val="0"/>
        </a:spcBef>
        <a:spcAft>
          <a:spcPts val="1169"/>
        </a:spcAft>
        <a:buClrTx/>
        <a:buSzPct val="100000"/>
        <a:buFont typeface="Arial" panose="020B0604020202020204" pitchFamily="34" charset="0"/>
        <a:buChar char="​"/>
        <a:defRPr lang="en-US" sz="1052" b="1" kern="1200" dirty="0">
          <a:solidFill>
            <a:schemeClr val="tx1"/>
          </a:solidFill>
          <a:latin typeface="+mn-lt"/>
          <a:ea typeface="+mn-ea"/>
          <a:cs typeface="+mn-cs"/>
        </a:defRPr>
      </a:lvl2pPr>
      <a:lvl3pPr marL="206195" indent="-206195" algn="l" defTabSz="1068846" rtl="0" eaLnBrk="1" latinLnBrk="0" hangingPunct="1">
        <a:spcBef>
          <a:spcPts val="0"/>
        </a:spcBef>
        <a:spcAft>
          <a:spcPts val="1169"/>
        </a:spcAft>
        <a:buClrTx/>
        <a:buSzPct val="100000"/>
        <a:buFont typeface="Arial" panose="020B0604020202020204" pitchFamily="34" charset="0"/>
        <a:buChar char="•"/>
        <a:defRPr lang="en-US" sz="1052" kern="1200" dirty="0">
          <a:solidFill>
            <a:schemeClr val="tx1"/>
          </a:solidFill>
          <a:latin typeface="+mn-lt"/>
          <a:ea typeface="+mn-ea"/>
          <a:cs typeface="+mn-cs"/>
        </a:defRPr>
      </a:lvl3pPr>
      <a:lvl4pPr marL="416597" indent="-206195" algn="l" defTabSz="1068846" rtl="0" eaLnBrk="1" latinLnBrk="0" hangingPunct="1">
        <a:spcBef>
          <a:spcPts val="0"/>
        </a:spcBef>
        <a:spcAft>
          <a:spcPts val="1169"/>
        </a:spcAft>
        <a:buClrTx/>
        <a:buSzPct val="100000"/>
        <a:buFont typeface="Verdana" panose="020B0604030504040204" pitchFamily="34" charset="0"/>
        <a:buChar char="−"/>
        <a:defRPr lang="en-US" sz="1052" kern="1200" baseline="0" dirty="0">
          <a:solidFill>
            <a:schemeClr val="tx1"/>
          </a:solidFill>
          <a:latin typeface="+mn-lt"/>
          <a:ea typeface="+mn-ea"/>
          <a:cs typeface="+mn-cs"/>
        </a:defRPr>
      </a:lvl4pPr>
      <a:lvl5pPr marL="622792" indent="-206195" algn="l" defTabSz="933385" rtl="0" eaLnBrk="1" latinLnBrk="0" hangingPunct="1">
        <a:spcBef>
          <a:spcPts val="0"/>
        </a:spcBef>
        <a:spcAft>
          <a:spcPts val="1169"/>
        </a:spcAft>
        <a:buClrTx/>
        <a:buSzPct val="100000"/>
        <a:buFont typeface="Verdana" panose="020B0604030504040204" pitchFamily="34" charset="0"/>
        <a:buChar char="−"/>
        <a:tabLst/>
        <a:defRPr lang="en-US" sz="1052" kern="1200" baseline="0" dirty="0">
          <a:solidFill>
            <a:schemeClr val="tx1"/>
          </a:solidFill>
          <a:latin typeface="+mn-lt"/>
          <a:ea typeface="+mn-ea"/>
          <a:cs typeface="+mn-cs"/>
        </a:defRPr>
      </a:lvl5pPr>
      <a:lvl6pPr marL="622792" indent="-206195" algn="l" defTabSz="1068846" rtl="0" eaLnBrk="1" latinLnBrk="0" hangingPunct="1">
        <a:spcBef>
          <a:spcPts val="0"/>
        </a:spcBef>
        <a:spcAft>
          <a:spcPts val="1169"/>
        </a:spcAft>
        <a:buFont typeface="Verdana" panose="020B0604030504040204" pitchFamily="34" charset="0"/>
        <a:buChar char="−"/>
        <a:defRPr sz="1052" kern="1200" baseline="0">
          <a:solidFill>
            <a:schemeClr val="tx1"/>
          </a:solidFill>
          <a:latin typeface="+mn-lt"/>
          <a:ea typeface="+mn-ea"/>
          <a:cs typeface="+mn-cs"/>
        </a:defRPr>
      </a:lvl6pPr>
      <a:lvl7pPr marL="622792" indent="-206195" algn="l" defTabSz="1068846" rtl="0" eaLnBrk="1" latinLnBrk="0" hangingPunct="1">
        <a:spcBef>
          <a:spcPts val="0"/>
        </a:spcBef>
        <a:spcAft>
          <a:spcPts val="1169"/>
        </a:spcAft>
        <a:buFont typeface="Verdana" panose="020B0604030504040204" pitchFamily="34" charset="0"/>
        <a:buChar char="−"/>
        <a:defRPr sz="1052" kern="1200">
          <a:solidFill>
            <a:schemeClr val="tx1"/>
          </a:solidFill>
          <a:latin typeface="+mn-lt"/>
          <a:ea typeface="+mn-ea"/>
          <a:cs typeface="+mn-cs"/>
        </a:defRPr>
      </a:lvl7pPr>
      <a:lvl8pPr marL="622792" indent="-206195" algn="l" defTabSz="1068846" rtl="0" eaLnBrk="1" latinLnBrk="0" hangingPunct="1">
        <a:spcBef>
          <a:spcPts val="0"/>
        </a:spcBef>
        <a:spcAft>
          <a:spcPts val="1169"/>
        </a:spcAft>
        <a:buFont typeface="Verdana" panose="020B0604030504040204" pitchFamily="34" charset="0"/>
        <a:buChar char="−"/>
        <a:defRPr sz="1052" kern="1200" baseline="0">
          <a:solidFill>
            <a:schemeClr val="tx1"/>
          </a:solidFill>
          <a:latin typeface="+mn-lt"/>
          <a:ea typeface="+mn-ea"/>
          <a:cs typeface="+mn-cs"/>
        </a:defRPr>
      </a:lvl8pPr>
      <a:lvl9pPr marL="622792" indent="-206195" algn="l" defTabSz="1068846" rtl="0" eaLnBrk="1" latinLnBrk="0" hangingPunct="1">
        <a:spcBef>
          <a:spcPts val="0"/>
        </a:spcBef>
        <a:spcAft>
          <a:spcPts val="1169"/>
        </a:spcAft>
        <a:buFont typeface="Verdana" panose="020B0604030504040204" pitchFamily="34" charset="0"/>
        <a:buChar char="−"/>
        <a:defRPr sz="1052" kern="1200" baseline="0">
          <a:solidFill>
            <a:schemeClr val="tx1"/>
          </a:solidFill>
          <a:latin typeface="+mn-lt"/>
          <a:ea typeface="+mn-ea"/>
          <a:cs typeface="+mn-cs"/>
        </a:defRPr>
      </a:lvl9pPr>
    </p:bodyStyle>
    <p:otherStyle>
      <a:defPPr>
        <a:defRPr lang="en-US"/>
      </a:defPPr>
      <a:lvl1pPr marL="0" algn="l" defTabSz="1068846" rtl="0" eaLnBrk="1" latinLnBrk="0" hangingPunct="1">
        <a:defRPr sz="2104" kern="1200">
          <a:solidFill>
            <a:schemeClr val="tx1"/>
          </a:solidFill>
          <a:latin typeface="+mn-lt"/>
          <a:ea typeface="+mn-ea"/>
          <a:cs typeface="+mn-cs"/>
        </a:defRPr>
      </a:lvl1pPr>
      <a:lvl2pPr marL="534423" algn="l" defTabSz="1068846" rtl="0" eaLnBrk="1" latinLnBrk="0" hangingPunct="1">
        <a:defRPr sz="2104" kern="1200">
          <a:solidFill>
            <a:schemeClr val="tx1"/>
          </a:solidFill>
          <a:latin typeface="+mn-lt"/>
          <a:ea typeface="+mn-ea"/>
          <a:cs typeface="+mn-cs"/>
        </a:defRPr>
      </a:lvl2pPr>
      <a:lvl3pPr marL="1068846" algn="l" defTabSz="1068846" rtl="0" eaLnBrk="1" latinLnBrk="0" hangingPunct="1">
        <a:defRPr sz="2104" kern="1200">
          <a:solidFill>
            <a:schemeClr val="tx1"/>
          </a:solidFill>
          <a:latin typeface="+mn-lt"/>
          <a:ea typeface="+mn-ea"/>
          <a:cs typeface="+mn-cs"/>
        </a:defRPr>
      </a:lvl3pPr>
      <a:lvl4pPr marL="1603269" algn="l" defTabSz="1068846" rtl="0" eaLnBrk="1" latinLnBrk="0" hangingPunct="1">
        <a:defRPr sz="2104" kern="1200">
          <a:solidFill>
            <a:schemeClr val="tx1"/>
          </a:solidFill>
          <a:latin typeface="+mn-lt"/>
          <a:ea typeface="+mn-ea"/>
          <a:cs typeface="+mn-cs"/>
        </a:defRPr>
      </a:lvl4pPr>
      <a:lvl5pPr marL="2137692" algn="l" defTabSz="1068846" rtl="0" eaLnBrk="1" latinLnBrk="0" hangingPunct="1">
        <a:defRPr sz="2104" kern="1200">
          <a:solidFill>
            <a:schemeClr val="tx1"/>
          </a:solidFill>
          <a:latin typeface="+mn-lt"/>
          <a:ea typeface="+mn-ea"/>
          <a:cs typeface="+mn-cs"/>
        </a:defRPr>
      </a:lvl5pPr>
      <a:lvl6pPr marL="2672115" algn="l" defTabSz="1068846" rtl="0" eaLnBrk="1" latinLnBrk="0" hangingPunct="1">
        <a:defRPr sz="2104" kern="1200">
          <a:solidFill>
            <a:schemeClr val="tx1"/>
          </a:solidFill>
          <a:latin typeface="+mn-lt"/>
          <a:ea typeface="+mn-ea"/>
          <a:cs typeface="+mn-cs"/>
        </a:defRPr>
      </a:lvl6pPr>
      <a:lvl7pPr marL="3206538" algn="l" defTabSz="1068846" rtl="0" eaLnBrk="1" latinLnBrk="0" hangingPunct="1">
        <a:defRPr sz="2104" kern="1200">
          <a:solidFill>
            <a:schemeClr val="tx1"/>
          </a:solidFill>
          <a:latin typeface="+mn-lt"/>
          <a:ea typeface="+mn-ea"/>
          <a:cs typeface="+mn-cs"/>
        </a:defRPr>
      </a:lvl7pPr>
      <a:lvl8pPr marL="3740960" algn="l" defTabSz="1068846" rtl="0" eaLnBrk="1" latinLnBrk="0" hangingPunct="1">
        <a:defRPr sz="2104" kern="1200">
          <a:solidFill>
            <a:schemeClr val="tx1"/>
          </a:solidFill>
          <a:latin typeface="+mn-lt"/>
          <a:ea typeface="+mn-ea"/>
          <a:cs typeface="+mn-cs"/>
        </a:defRPr>
      </a:lvl8pPr>
      <a:lvl9pPr marL="4275384" algn="l" defTabSz="1068846" rtl="0" eaLnBrk="1" latinLnBrk="0" hangingPunct="1">
        <a:defRPr sz="210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4844" y="402652"/>
            <a:ext cx="9218950" cy="1461801"/>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734844" y="2013259"/>
            <a:ext cx="9218950" cy="479855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734844" y="7009642"/>
            <a:ext cx="2404944" cy="402652"/>
          </a:xfrm>
          <a:prstGeom prst="rect">
            <a:avLst/>
          </a:prstGeom>
        </p:spPr>
        <p:txBody>
          <a:bodyPr vert="horz" lIns="91440" tIns="45720" rIns="91440" bIns="45720" rtlCol="0" anchor="ctr"/>
          <a:lstStyle>
            <a:lvl1pPr algn="l">
              <a:defRPr sz="1052">
                <a:solidFill>
                  <a:schemeClr val="tx1">
                    <a:tint val="75000"/>
                  </a:schemeClr>
                </a:solidFill>
              </a:defRPr>
            </a:lvl1pPr>
          </a:lstStyle>
          <a:p>
            <a:fld id="{7201C65E-7D98-4489-A4A3-F6C203F97B8A}" type="datetime1">
              <a:rPr lang="en-IN" smtClean="0"/>
              <a:t>24-09-2022</a:t>
            </a:fld>
            <a:endParaRPr lang="en-IN" dirty="0"/>
          </a:p>
        </p:txBody>
      </p:sp>
      <p:sp>
        <p:nvSpPr>
          <p:cNvPr id="5" name="Footer Placeholder 4"/>
          <p:cNvSpPr>
            <a:spLocks noGrp="1"/>
          </p:cNvSpPr>
          <p:nvPr>
            <p:ph type="ftr" sz="quarter" idx="3"/>
          </p:nvPr>
        </p:nvSpPr>
        <p:spPr>
          <a:xfrm>
            <a:off x="3540612" y="7009642"/>
            <a:ext cx="3607415" cy="402652"/>
          </a:xfrm>
          <a:prstGeom prst="rect">
            <a:avLst/>
          </a:prstGeom>
        </p:spPr>
        <p:txBody>
          <a:bodyPr vert="horz" lIns="91440" tIns="45720" rIns="91440" bIns="45720" rtlCol="0" anchor="ctr"/>
          <a:lstStyle>
            <a:lvl1pPr algn="ctr">
              <a:defRPr sz="1052">
                <a:solidFill>
                  <a:schemeClr val="tx1">
                    <a:tint val="75000"/>
                  </a:schemeClr>
                </a:solidFill>
              </a:defRPr>
            </a:lvl1pPr>
          </a:lstStyle>
          <a:p>
            <a:r>
              <a:rPr lang="en-US" dirty="0"/>
              <a:t>Copyright©2018 Deloitte Touche Tohmatsu India LLP. All rights reserved.</a:t>
            </a:r>
            <a:endParaRPr lang="en-IN" dirty="0"/>
          </a:p>
        </p:txBody>
      </p:sp>
      <p:sp>
        <p:nvSpPr>
          <p:cNvPr id="6" name="Slide Number Placeholder 5"/>
          <p:cNvSpPr>
            <a:spLocks noGrp="1"/>
          </p:cNvSpPr>
          <p:nvPr>
            <p:ph type="sldNum" sz="quarter" idx="4"/>
          </p:nvPr>
        </p:nvSpPr>
        <p:spPr>
          <a:xfrm>
            <a:off x="7548850" y="7009642"/>
            <a:ext cx="2404944" cy="402652"/>
          </a:xfrm>
          <a:prstGeom prst="rect">
            <a:avLst/>
          </a:prstGeom>
        </p:spPr>
        <p:txBody>
          <a:bodyPr vert="horz" lIns="91440" tIns="45720" rIns="91440" bIns="45720" rtlCol="0" anchor="ctr"/>
          <a:lstStyle>
            <a:lvl1pPr algn="r">
              <a:defRPr sz="1052">
                <a:solidFill>
                  <a:schemeClr val="tx1">
                    <a:tint val="75000"/>
                  </a:schemeClr>
                </a:solidFill>
              </a:defRPr>
            </a:lvl1pPr>
          </a:lstStyle>
          <a:p>
            <a:fld id="{90DEBE48-6D6C-4A8E-94CF-75CFB5466CEF}" type="slidenum">
              <a:rPr lang="en-IN" smtClean="0"/>
              <a:t>‹#›</a:t>
            </a:fld>
            <a:endParaRPr lang="en-IN" dirty="0"/>
          </a:p>
        </p:txBody>
      </p:sp>
    </p:spTree>
    <p:extLst>
      <p:ext uri="{BB962C8B-B14F-4D97-AF65-F5344CB8AC3E}">
        <p14:creationId xmlns:p14="http://schemas.microsoft.com/office/powerpoint/2010/main" val="3195793066"/>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Lst>
  <p:hf hdr="0" dt="0"/>
  <p:txStyles>
    <p:titleStyle>
      <a:lvl1pPr algn="l" defTabSz="801654" rtl="0" eaLnBrk="1" latinLnBrk="0" hangingPunct="1">
        <a:lnSpc>
          <a:spcPct val="90000"/>
        </a:lnSpc>
        <a:spcBef>
          <a:spcPct val="0"/>
        </a:spcBef>
        <a:buNone/>
        <a:defRPr sz="3857" kern="1200">
          <a:solidFill>
            <a:schemeClr val="tx1"/>
          </a:solidFill>
          <a:latin typeface="+mj-lt"/>
          <a:ea typeface="+mj-ea"/>
          <a:cs typeface="+mj-cs"/>
        </a:defRPr>
      </a:lvl1pPr>
    </p:titleStyle>
    <p:bodyStyle>
      <a:lvl1pPr marL="200414" indent="-200414" algn="l" defTabSz="801654" rtl="0" eaLnBrk="1" latinLnBrk="0" hangingPunct="1">
        <a:lnSpc>
          <a:spcPct val="90000"/>
        </a:lnSpc>
        <a:spcBef>
          <a:spcPts val="877"/>
        </a:spcBef>
        <a:buFont typeface="Arial" panose="020B0604020202020204" pitchFamily="34" charset="0"/>
        <a:buChar char="•"/>
        <a:defRPr sz="2455" kern="1200">
          <a:solidFill>
            <a:schemeClr val="tx1"/>
          </a:solidFill>
          <a:latin typeface="+mn-lt"/>
          <a:ea typeface="+mn-ea"/>
          <a:cs typeface="+mn-cs"/>
        </a:defRPr>
      </a:lvl1pPr>
      <a:lvl2pPr marL="601241" indent="-200414" algn="l" defTabSz="801654" rtl="0" eaLnBrk="1" latinLnBrk="0" hangingPunct="1">
        <a:lnSpc>
          <a:spcPct val="90000"/>
        </a:lnSpc>
        <a:spcBef>
          <a:spcPts val="438"/>
        </a:spcBef>
        <a:buFont typeface="Arial" panose="020B0604020202020204" pitchFamily="34" charset="0"/>
        <a:buChar char="•"/>
        <a:defRPr sz="2104" kern="1200">
          <a:solidFill>
            <a:schemeClr val="tx1"/>
          </a:solidFill>
          <a:latin typeface="+mn-lt"/>
          <a:ea typeface="+mn-ea"/>
          <a:cs typeface="+mn-cs"/>
        </a:defRPr>
      </a:lvl2pPr>
      <a:lvl3pPr marL="1002068" indent="-200414" algn="l" defTabSz="801654" rtl="0" eaLnBrk="1" latinLnBrk="0" hangingPunct="1">
        <a:lnSpc>
          <a:spcPct val="90000"/>
        </a:lnSpc>
        <a:spcBef>
          <a:spcPts val="438"/>
        </a:spcBef>
        <a:buFont typeface="Arial" panose="020B0604020202020204" pitchFamily="34" charset="0"/>
        <a:buChar char="•"/>
        <a:defRPr sz="1753" kern="1200">
          <a:solidFill>
            <a:schemeClr val="tx1"/>
          </a:solidFill>
          <a:latin typeface="+mn-lt"/>
          <a:ea typeface="+mn-ea"/>
          <a:cs typeface="+mn-cs"/>
        </a:defRPr>
      </a:lvl3pPr>
      <a:lvl4pPr marL="1402895" indent="-200414" algn="l" defTabSz="801654" rtl="0" eaLnBrk="1" latinLnBrk="0" hangingPunct="1">
        <a:lnSpc>
          <a:spcPct val="90000"/>
        </a:lnSpc>
        <a:spcBef>
          <a:spcPts val="438"/>
        </a:spcBef>
        <a:buFont typeface="Arial" panose="020B0604020202020204" pitchFamily="34" charset="0"/>
        <a:buChar char="•"/>
        <a:defRPr sz="1578" kern="1200">
          <a:solidFill>
            <a:schemeClr val="tx1"/>
          </a:solidFill>
          <a:latin typeface="+mn-lt"/>
          <a:ea typeface="+mn-ea"/>
          <a:cs typeface="+mn-cs"/>
        </a:defRPr>
      </a:lvl4pPr>
      <a:lvl5pPr marL="1803723" indent="-200414" algn="l" defTabSz="801654" rtl="0" eaLnBrk="1" latinLnBrk="0" hangingPunct="1">
        <a:lnSpc>
          <a:spcPct val="90000"/>
        </a:lnSpc>
        <a:spcBef>
          <a:spcPts val="438"/>
        </a:spcBef>
        <a:buFont typeface="Arial" panose="020B0604020202020204" pitchFamily="34" charset="0"/>
        <a:buChar char="•"/>
        <a:defRPr sz="1578" kern="1200">
          <a:solidFill>
            <a:schemeClr val="tx1"/>
          </a:solidFill>
          <a:latin typeface="+mn-lt"/>
          <a:ea typeface="+mn-ea"/>
          <a:cs typeface="+mn-cs"/>
        </a:defRPr>
      </a:lvl5pPr>
      <a:lvl6pPr marL="2204550" indent="-200414" algn="l" defTabSz="801654" rtl="0" eaLnBrk="1" latinLnBrk="0" hangingPunct="1">
        <a:lnSpc>
          <a:spcPct val="90000"/>
        </a:lnSpc>
        <a:spcBef>
          <a:spcPts val="438"/>
        </a:spcBef>
        <a:buFont typeface="Arial" panose="020B0604020202020204" pitchFamily="34" charset="0"/>
        <a:buChar char="•"/>
        <a:defRPr sz="1578" kern="1200">
          <a:solidFill>
            <a:schemeClr val="tx1"/>
          </a:solidFill>
          <a:latin typeface="+mn-lt"/>
          <a:ea typeface="+mn-ea"/>
          <a:cs typeface="+mn-cs"/>
        </a:defRPr>
      </a:lvl6pPr>
      <a:lvl7pPr marL="2605377" indent="-200414" algn="l" defTabSz="801654" rtl="0" eaLnBrk="1" latinLnBrk="0" hangingPunct="1">
        <a:lnSpc>
          <a:spcPct val="90000"/>
        </a:lnSpc>
        <a:spcBef>
          <a:spcPts val="438"/>
        </a:spcBef>
        <a:buFont typeface="Arial" panose="020B0604020202020204" pitchFamily="34" charset="0"/>
        <a:buChar char="•"/>
        <a:defRPr sz="1578" kern="1200">
          <a:solidFill>
            <a:schemeClr val="tx1"/>
          </a:solidFill>
          <a:latin typeface="+mn-lt"/>
          <a:ea typeface="+mn-ea"/>
          <a:cs typeface="+mn-cs"/>
        </a:defRPr>
      </a:lvl7pPr>
      <a:lvl8pPr marL="3006204" indent="-200414" algn="l" defTabSz="801654" rtl="0" eaLnBrk="1" latinLnBrk="0" hangingPunct="1">
        <a:lnSpc>
          <a:spcPct val="90000"/>
        </a:lnSpc>
        <a:spcBef>
          <a:spcPts val="438"/>
        </a:spcBef>
        <a:buFont typeface="Arial" panose="020B0604020202020204" pitchFamily="34" charset="0"/>
        <a:buChar char="•"/>
        <a:defRPr sz="1578" kern="1200">
          <a:solidFill>
            <a:schemeClr val="tx1"/>
          </a:solidFill>
          <a:latin typeface="+mn-lt"/>
          <a:ea typeface="+mn-ea"/>
          <a:cs typeface="+mn-cs"/>
        </a:defRPr>
      </a:lvl8pPr>
      <a:lvl9pPr marL="3407032" indent="-200414" algn="l" defTabSz="801654" rtl="0" eaLnBrk="1" latinLnBrk="0" hangingPunct="1">
        <a:lnSpc>
          <a:spcPct val="90000"/>
        </a:lnSpc>
        <a:spcBef>
          <a:spcPts val="438"/>
        </a:spcBef>
        <a:buFont typeface="Arial" panose="020B0604020202020204" pitchFamily="34" charset="0"/>
        <a:buChar char="•"/>
        <a:defRPr sz="1578" kern="1200">
          <a:solidFill>
            <a:schemeClr val="tx1"/>
          </a:solidFill>
          <a:latin typeface="+mn-lt"/>
          <a:ea typeface="+mn-ea"/>
          <a:cs typeface="+mn-cs"/>
        </a:defRPr>
      </a:lvl9pPr>
    </p:bodyStyle>
    <p:otherStyle>
      <a:defPPr>
        <a:defRPr lang="en-US"/>
      </a:defPPr>
      <a:lvl1pPr marL="0" algn="l" defTabSz="801654" rtl="0" eaLnBrk="1" latinLnBrk="0" hangingPunct="1">
        <a:defRPr sz="1578" kern="1200">
          <a:solidFill>
            <a:schemeClr val="tx1"/>
          </a:solidFill>
          <a:latin typeface="+mn-lt"/>
          <a:ea typeface="+mn-ea"/>
          <a:cs typeface="+mn-cs"/>
        </a:defRPr>
      </a:lvl1pPr>
      <a:lvl2pPr marL="400827" algn="l" defTabSz="801654" rtl="0" eaLnBrk="1" latinLnBrk="0" hangingPunct="1">
        <a:defRPr sz="1578" kern="1200">
          <a:solidFill>
            <a:schemeClr val="tx1"/>
          </a:solidFill>
          <a:latin typeface="+mn-lt"/>
          <a:ea typeface="+mn-ea"/>
          <a:cs typeface="+mn-cs"/>
        </a:defRPr>
      </a:lvl2pPr>
      <a:lvl3pPr marL="801654" algn="l" defTabSz="801654" rtl="0" eaLnBrk="1" latinLnBrk="0" hangingPunct="1">
        <a:defRPr sz="1578" kern="1200">
          <a:solidFill>
            <a:schemeClr val="tx1"/>
          </a:solidFill>
          <a:latin typeface="+mn-lt"/>
          <a:ea typeface="+mn-ea"/>
          <a:cs typeface="+mn-cs"/>
        </a:defRPr>
      </a:lvl3pPr>
      <a:lvl4pPr marL="1202482" algn="l" defTabSz="801654" rtl="0" eaLnBrk="1" latinLnBrk="0" hangingPunct="1">
        <a:defRPr sz="1578" kern="1200">
          <a:solidFill>
            <a:schemeClr val="tx1"/>
          </a:solidFill>
          <a:latin typeface="+mn-lt"/>
          <a:ea typeface="+mn-ea"/>
          <a:cs typeface="+mn-cs"/>
        </a:defRPr>
      </a:lvl4pPr>
      <a:lvl5pPr marL="1603309" algn="l" defTabSz="801654" rtl="0" eaLnBrk="1" latinLnBrk="0" hangingPunct="1">
        <a:defRPr sz="1578" kern="1200">
          <a:solidFill>
            <a:schemeClr val="tx1"/>
          </a:solidFill>
          <a:latin typeface="+mn-lt"/>
          <a:ea typeface="+mn-ea"/>
          <a:cs typeface="+mn-cs"/>
        </a:defRPr>
      </a:lvl5pPr>
      <a:lvl6pPr marL="2004136" algn="l" defTabSz="801654" rtl="0" eaLnBrk="1" latinLnBrk="0" hangingPunct="1">
        <a:defRPr sz="1578" kern="1200">
          <a:solidFill>
            <a:schemeClr val="tx1"/>
          </a:solidFill>
          <a:latin typeface="+mn-lt"/>
          <a:ea typeface="+mn-ea"/>
          <a:cs typeface="+mn-cs"/>
        </a:defRPr>
      </a:lvl6pPr>
      <a:lvl7pPr marL="2404963" algn="l" defTabSz="801654" rtl="0" eaLnBrk="1" latinLnBrk="0" hangingPunct="1">
        <a:defRPr sz="1578" kern="1200">
          <a:solidFill>
            <a:schemeClr val="tx1"/>
          </a:solidFill>
          <a:latin typeface="+mn-lt"/>
          <a:ea typeface="+mn-ea"/>
          <a:cs typeface="+mn-cs"/>
        </a:defRPr>
      </a:lvl7pPr>
      <a:lvl8pPr marL="2805791" algn="l" defTabSz="801654" rtl="0" eaLnBrk="1" latinLnBrk="0" hangingPunct="1">
        <a:defRPr sz="1578" kern="1200">
          <a:solidFill>
            <a:schemeClr val="tx1"/>
          </a:solidFill>
          <a:latin typeface="+mn-lt"/>
          <a:ea typeface="+mn-ea"/>
          <a:cs typeface="+mn-cs"/>
        </a:defRPr>
      </a:lvl8pPr>
      <a:lvl9pPr marL="3206618" algn="l" defTabSz="801654" rtl="0" eaLnBrk="1" latinLnBrk="0" hangingPunct="1">
        <a:defRPr sz="15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0.xml"/><Relationship Id="rId4" Type="http://schemas.openxmlformats.org/officeDocument/2006/relationships/image" Target="../media/image13.emf"/></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89.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7.png"/><Relationship Id="rId1" Type="http://schemas.openxmlformats.org/officeDocument/2006/relationships/slideLayout" Target="../slideLayouts/slideLayout8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35.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idx="4294967295"/>
          </p:nvPr>
        </p:nvSpPr>
        <p:spPr>
          <a:xfrm>
            <a:off x="719260" y="6119799"/>
            <a:ext cx="4625060" cy="357300"/>
          </a:xfrm>
        </p:spPr>
        <p:txBody>
          <a:bodyPr/>
          <a:lstStyle/>
          <a:p>
            <a:r>
              <a:rPr lang="en-US" noProof="0" dirty="0"/>
              <a:t>Headline Verdana Bold</a:t>
            </a:r>
          </a:p>
        </p:txBody>
      </p:sp>
      <p:sp>
        <p:nvSpPr>
          <p:cNvPr id="5" name="Text Placeholder 4"/>
          <p:cNvSpPr>
            <a:spLocks noGrp="1"/>
          </p:cNvSpPr>
          <p:nvPr>
            <p:ph type="body" sz="quarter" idx="10"/>
          </p:nvPr>
        </p:nvSpPr>
        <p:spPr/>
        <p:txBody>
          <a:bodyPr/>
          <a:lstStyle/>
          <a:p>
            <a:r>
              <a:rPr lang="en-US" noProof="0" dirty="0"/>
              <a:t>Deloitte Touche Tohmatsu India LLP</a:t>
            </a:r>
          </a:p>
        </p:txBody>
      </p:sp>
      <p:pic>
        <p:nvPicPr>
          <p:cNvPr id="8" name="Picture Placeholder 7"/>
          <p:cNvPicPr>
            <a:picLocks noGrp="1"/>
          </p:cNvPicPr>
          <p:nvPr>
            <p:ph type="pic" sz="quarter" idx="11"/>
          </p:nvPr>
        </p:nvPicPr>
        <p:blipFill>
          <a:blip r:embed="rId4"/>
          <a:srcRect l="6471" r="6471"/>
          <a:stretch>
            <a:fillRect/>
          </a:stretch>
        </p:blipFill>
        <p:spPr>
          <a:xfrm>
            <a:off x="3486495" y="1169721"/>
            <a:ext cx="4367000" cy="4367000"/>
          </a:xfrm>
          <a:prstGeom prst="rect">
            <a:avLst/>
          </a:prstGeom>
        </p:spPr>
      </p:pic>
      <p:sp>
        <p:nvSpPr>
          <p:cNvPr id="7" name="Title 1"/>
          <p:cNvSpPr txBox="1">
            <a:spLocks/>
          </p:cNvSpPr>
          <p:nvPr/>
        </p:nvSpPr>
        <p:spPr bwMode="gray">
          <a:xfrm>
            <a:off x="345912" y="5366203"/>
            <a:ext cx="4052682" cy="1600438"/>
          </a:xfrm>
          <a:prstGeom prst="rect">
            <a:avLst/>
          </a:prstGeom>
          <a:noFill/>
          <a:ln>
            <a:noFill/>
          </a:ln>
        </p:spPr>
        <p:txBody>
          <a:bodyPr wrap="square" anchor="b" anchorCtr="0">
            <a:spAutoFit/>
          </a:bodyPr>
          <a:lstStyle>
            <a:lvl1pPr algn="l" rtl="0" eaLnBrk="1" fontAlgn="base" hangingPunct="1">
              <a:lnSpc>
                <a:spcPct val="85000"/>
              </a:lnSpc>
              <a:spcBef>
                <a:spcPct val="0"/>
              </a:spcBef>
              <a:spcAft>
                <a:spcPct val="0"/>
              </a:spcAft>
              <a:defRPr kumimoji="0" lang="en-US" sz="2800" b="0" i="0" u="none" strike="noStrike" kern="1200" cap="none" spc="0" normalizeH="0" baseline="0" noProof="0" smtClean="0">
                <a:ln>
                  <a:noFill/>
                </a:ln>
                <a:solidFill>
                  <a:schemeClr val="tx2"/>
                </a:solidFill>
                <a:effectLst/>
                <a:uLnTx/>
                <a:uFillTx/>
                <a:latin typeface="Cambria" pitchFamily="18" charset="0"/>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00" algn="l" rtl="0" eaLnBrk="1" fontAlgn="base" hangingPunct="1">
              <a:spcBef>
                <a:spcPct val="0"/>
              </a:spcBef>
              <a:spcAft>
                <a:spcPct val="0"/>
              </a:spcAft>
              <a:defRPr sz="2400" b="1">
                <a:solidFill>
                  <a:schemeClr val="accent1"/>
                </a:solidFill>
                <a:latin typeface="Arial" charset="0"/>
              </a:defRPr>
            </a:lvl6pPr>
            <a:lvl7pPr marL="914400" algn="l" rtl="0" eaLnBrk="1" fontAlgn="base" hangingPunct="1">
              <a:spcBef>
                <a:spcPct val="0"/>
              </a:spcBef>
              <a:spcAft>
                <a:spcPct val="0"/>
              </a:spcAft>
              <a:defRPr sz="2400" b="1">
                <a:solidFill>
                  <a:schemeClr val="accent1"/>
                </a:solidFill>
                <a:latin typeface="Arial" charset="0"/>
              </a:defRPr>
            </a:lvl7pPr>
            <a:lvl8pPr marL="1371600" algn="l" rtl="0" eaLnBrk="1" fontAlgn="base" hangingPunct="1">
              <a:spcBef>
                <a:spcPct val="0"/>
              </a:spcBef>
              <a:spcAft>
                <a:spcPct val="0"/>
              </a:spcAft>
              <a:defRPr sz="2400" b="1">
                <a:solidFill>
                  <a:schemeClr val="accent1"/>
                </a:solidFill>
                <a:latin typeface="Arial" charset="0"/>
              </a:defRPr>
            </a:lvl8pPr>
            <a:lvl9pPr marL="1828800" algn="l" rtl="0" eaLnBrk="1" fontAlgn="base" hangingPunct="1">
              <a:spcBef>
                <a:spcPct val="0"/>
              </a:spcBef>
              <a:spcAft>
                <a:spcPct val="0"/>
              </a:spcAft>
              <a:defRPr sz="2400" b="1">
                <a:solidFill>
                  <a:schemeClr val="accent1"/>
                </a:solidFill>
                <a:latin typeface="Arial" charset="0"/>
              </a:defRPr>
            </a:lvl9pPr>
          </a:lstStyle>
          <a:p>
            <a:pPr lvl="0">
              <a:lnSpc>
                <a:spcPct val="100000"/>
              </a:lnSpc>
              <a:defRPr/>
            </a:pPr>
            <a:r>
              <a:rPr lang="en-US" sz="1600" b="1" dirty="0">
                <a:solidFill>
                  <a:schemeClr val="bg1"/>
                </a:solidFill>
                <a:latin typeface="Verdana" panose="020B0604030504040204" pitchFamily="34" charset="0"/>
                <a:ea typeface="Verdana" panose="020B0604030504040204" pitchFamily="34" charset="0"/>
                <a:cs typeface="Verdana" panose="020B0604030504040204" pitchFamily="34" charset="0"/>
              </a:rPr>
              <a:t>Bid Advisory Services in respect of the PPP project for</a:t>
            </a:r>
          </a:p>
          <a:p>
            <a:pPr lvl="0">
              <a:lnSpc>
                <a:spcPct val="100000"/>
              </a:lnSpc>
              <a:defRPr/>
            </a:pPr>
            <a:r>
              <a:rPr lang="en-US" sz="1600" b="1" dirty="0">
                <a:solidFill>
                  <a:schemeClr val="bg1"/>
                </a:solidFill>
                <a:latin typeface="Verdana" panose="020B0604030504040204" pitchFamily="34" charset="0"/>
                <a:ea typeface="Verdana" panose="020B0604030504040204" pitchFamily="34" charset="0"/>
                <a:cs typeface="Verdana" panose="020B0604030504040204" pitchFamily="34" charset="0"/>
              </a:rPr>
              <a:t>Development, Operation and Maintenance of Nagpur Airport</a:t>
            </a:r>
          </a:p>
          <a:p>
            <a:pPr lvl="0">
              <a:lnSpc>
                <a:spcPct val="100000"/>
              </a:lnSpc>
              <a:defRPr/>
            </a:pPr>
            <a:r>
              <a:rPr lang="en-US" sz="1600" b="1" dirty="0">
                <a:solidFill>
                  <a:schemeClr val="bg1"/>
                </a:solidFill>
                <a:latin typeface="Verdana" panose="020B0604030504040204" pitchFamily="34" charset="0"/>
                <a:ea typeface="Verdana" panose="020B0604030504040204" pitchFamily="34" charset="0"/>
                <a:cs typeface="Verdana" panose="020B0604030504040204" pitchFamily="34" charset="0"/>
              </a:rPr>
              <a:t>Essel Infraprojects Limited </a:t>
            </a:r>
          </a:p>
          <a:p>
            <a:pPr>
              <a:lnSpc>
                <a:spcPct val="100000"/>
              </a:lnSpc>
              <a:defRPr/>
            </a:pPr>
            <a:endParaRPr lang="en-US" sz="600" dirty="0">
              <a:solidFill>
                <a:schemeClr val="bg1"/>
              </a:solidFill>
              <a:latin typeface="Verdana" panose="020B0604030504040204" pitchFamily="34" charset="0"/>
              <a:ea typeface="Verdana" panose="020B0604030504040204" pitchFamily="34" charset="0"/>
              <a:cs typeface="Verdana" panose="020B0604030504040204" pitchFamily="34" charset="0"/>
            </a:endParaRPr>
          </a:p>
          <a:p>
            <a:pPr>
              <a:lnSpc>
                <a:spcPct val="100000"/>
              </a:lnSpc>
              <a:defRPr/>
            </a:pPr>
            <a:r>
              <a:rPr lang="en-US" sz="1200" dirty="0">
                <a:solidFill>
                  <a:schemeClr val="bg1"/>
                </a:solidFill>
                <a:latin typeface="Verdana" panose="020B0604030504040204" pitchFamily="34" charset="0"/>
                <a:ea typeface="Verdana" panose="020B0604030504040204" pitchFamily="34" charset="0"/>
                <a:cs typeface="Verdana" panose="020B0604030504040204" pitchFamily="34" charset="0"/>
              </a:rPr>
              <a:t>3 July 2018</a:t>
            </a:r>
          </a:p>
        </p:txBody>
      </p:sp>
    </p:spTree>
    <p:custDataLst>
      <p:tags r:id="rId1"/>
    </p:custDataLst>
    <p:extLst>
      <p:ext uri="{BB962C8B-B14F-4D97-AF65-F5344CB8AC3E}">
        <p14:creationId xmlns:p14="http://schemas.microsoft.com/office/powerpoint/2010/main" val="344668056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Text Placeholder 10"/>
          <p:cNvSpPr txBox="1">
            <a:spLocks/>
          </p:cNvSpPr>
          <p:nvPr/>
        </p:nvSpPr>
        <p:spPr>
          <a:xfrm>
            <a:off x="8341506" y="475594"/>
            <a:ext cx="1734732" cy="1257830"/>
          </a:xfrm>
          <a:prstGeom prst="rect">
            <a:avLst/>
          </a:prstGeom>
        </p:spPr>
        <p:txBody>
          <a:bodyPr lIns="0" tIns="0" r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marR="0" lvl="0" indent="0" algn="r" defTabSz="1018824" rtl="0" eaLnBrk="1" fontAlgn="auto" latinLnBrk="0" hangingPunct="1">
              <a:lnSpc>
                <a:spcPct val="100000"/>
              </a:lnSpc>
              <a:spcBef>
                <a:spcPts val="0"/>
              </a:spcBef>
              <a:spcAft>
                <a:spcPts val="0"/>
              </a:spcAft>
              <a:buClrTx/>
              <a:buSzTx/>
              <a:buFont typeface="Arial" pitchFamily="34" charset="0"/>
              <a:buNone/>
              <a:tabLst/>
              <a:defRPr/>
            </a:pPr>
            <a:r>
              <a:rPr kumimoji="0" lang="en-GB" sz="8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Deloitte Touche Tohmatsu India LLP</a:t>
            </a:r>
          </a:p>
          <a:p>
            <a:pPr marL="0" marR="0" lvl="0" indent="0" algn="r" defTabSz="1018824" rtl="0" eaLnBrk="1" fontAlgn="auto" latinLnBrk="0" hangingPunct="1">
              <a:lnSpc>
                <a:spcPct val="100000"/>
              </a:lnSpc>
              <a:spcBef>
                <a:spcPts val="0"/>
              </a:spcBef>
              <a:spcAft>
                <a:spcPts val="0"/>
              </a:spcAft>
              <a:buClrTx/>
              <a:buSzTx/>
              <a:buFont typeface="Arial" pitchFamily="34" charset="0"/>
              <a:buNone/>
              <a:tabLst/>
              <a:defRPr/>
            </a:pPr>
            <a:r>
              <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7th Floor, Building No. 10-B, DLF Cyber City Complex </a:t>
            </a:r>
          </a:p>
          <a:p>
            <a:pPr marL="0" marR="0" lvl="0" indent="0" algn="r" defTabSz="1018824" rtl="0" eaLnBrk="1" fontAlgn="auto" latinLnBrk="0" hangingPunct="1">
              <a:lnSpc>
                <a:spcPct val="100000"/>
              </a:lnSpc>
              <a:spcBef>
                <a:spcPts val="0"/>
              </a:spcBef>
              <a:spcAft>
                <a:spcPts val="0"/>
              </a:spcAft>
              <a:buClrTx/>
              <a:buSzTx/>
              <a:buFont typeface="Arial" pitchFamily="34" charset="0"/>
              <a:buNone/>
              <a:tabLst/>
              <a:defRPr/>
            </a:pPr>
            <a:r>
              <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DLF City Phase II, Gurgaon - 122002, Haryana, India</a:t>
            </a:r>
          </a:p>
          <a:p>
            <a:pPr marL="0" marR="0" lvl="0" indent="0" algn="r" defTabSz="1018824" rtl="0" eaLnBrk="1" fontAlgn="auto" latinLnBrk="0" hangingPunct="1">
              <a:lnSpc>
                <a:spcPct val="100000"/>
              </a:lnSpc>
              <a:spcBef>
                <a:spcPts val="0"/>
              </a:spcBef>
              <a:spcAft>
                <a:spcPts val="0"/>
              </a:spcAft>
              <a:buClrTx/>
              <a:buSzTx/>
              <a:buFont typeface="Arial" pitchFamily="34" charset="0"/>
              <a:buNone/>
              <a:tabLst/>
              <a:defRPr/>
            </a:pPr>
            <a:r>
              <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Tel:  +91 </a:t>
            </a:r>
            <a:r>
              <a:rPr kumimoji="0" lang="en-US"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(124) 679 2000 </a:t>
            </a:r>
            <a:br>
              <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br>
            <a:r>
              <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Fax: +91 </a:t>
            </a:r>
            <a:r>
              <a:rPr kumimoji="0" lang="en-US"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(124) 679 2012</a:t>
            </a:r>
            <a:endPar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r" defTabSz="1018824" rtl="0" eaLnBrk="1" fontAlgn="auto" latinLnBrk="0" hangingPunct="1">
              <a:lnSpc>
                <a:spcPct val="100000"/>
              </a:lnSpc>
              <a:spcBef>
                <a:spcPts val="0"/>
              </a:spcBef>
              <a:spcAft>
                <a:spcPts val="0"/>
              </a:spcAft>
              <a:buClrTx/>
              <a:buSzTx/>
              <a:buFont typeface="Arial" pitchFamily="34" charset="0"/>
              <a:buNone/>
              <a:tabLst/>
              <a:defRPr/>
            </a:pPr>
            <a:r>
              <a:rPr kumimoji="0" lang="en-GB"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www.deloitte.com/in</a:t>
            </a:r>
          </a:p>
        </p:txBody>
      </p:sp>
      <p:sp>
        <p:nvSpPr>
          <p:cNvPr id="154" name="Text Placeholder 1"/>
          <p:cNvSpPr txBox="1">
            <a:spLocks/>
          </p:cNvSpPr>
          <p:nvPr/>
        </p:nvSpPr>
        <p:spPr>
          <a:xfrm>
            <a:off x="2087671" y="1517700"/>
            <a:ext cx="8072108" cy="4966445"/>
          </a:xfrm>
          <a:prstGeom prst="rect">
            <a:avLst/>
          </a:prstGeom>
        </p:spPr>
        <p:txBody>
          <a:bodyPr/>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defTabSz="1019175">
              <a:spcAft>
                <a:spcPts val="600"/>
              </a:spcAft>
            </a:pP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Dear  Sirs,</a:t>
            </a:r>
          </a:p>
          <a:p>
            <a:pPr algn="just" defTabSz="1019175">
              <a:spcAft>
                <a:spcPts val="600"/>
              </a:spcAft>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We greatly appreciate the opportunity of presenting our credentials and advising you on PPP project for Development, Operation and Maintenance of Nagpur Airport, Maharashtra</a:t>
            </a:r>
          </a:p>
          <a:p>
            <a:pPr algn="just" defTabSz="1019175">
              <a:spcAft>
                <a:spcPts val="600"/>
              </a:spcAft>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We have experienced professionals who have worked on a number of Public Private Partnership projects in India and abroad. In brief, the team has extensive experience in dove-tailing analysis of technical (planning, sizing, operating costs), commercial (regulated charges, commercial development) and contractual (concession periods, responsibilities, remuneration for events) aspects for modelling the business and considering a range of project options. The team has assisted Governments and Private entities in transactions across infrastructure sectors as well as specifically in Airport Sector in India and abroad. </a:t>
            </a:r>
          </a:p>
          <a:p>
            <a:pPr algn="just" defTabSz="1019175">
              <a:spcAft>
                <a:spcPts val="600"/>
              </a:spcAft>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We are confident that we are best placed to support you on these important transactions. The key highlights of our proposal are:</a:t>
            </a:r>
          </a:p>
          <a:p>
            <a:pPr marL="228600" indent="-228600" algn="just" defTabSz="1019175">
              <a:spcAft>
                <a:spcPts val="600"/>
              </a:spcAft>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sym typeface="Wingdings 2"/>
              </a:rPr>
              <a:t> 	</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The Right Team:</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We have an experienced team of professionals that has advised Government Authorities as well as Private entities on Airport transactions in India and abroad. We will be focused on advising you on identifying and defining your objectives and expectations for these transactions as well as in undertaking outlined tasks to fully support you in meeting your objectives.</a:t>
            </a:r>
            <a:endPar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228600" indent="-228600" algn="just" defTabSz="1019175">
              <a:spcAft>
                <a:spcPts val="600"/>
              </a:spcAft>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sym typeface="Wingdings 2"/>
              </a:rPr>
              <a:t> 	</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Specific Solution:</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We appreciate the importance of project specific details in transactions and will be focused on exploring specific aspects and coming up with specific inputs covering project due diligence, business potential of the airport as captured through the financial model, risk analysis, impact of economic regulation, etc.  as you make important investment decisions.</a:t>
            </a:r>
          </a:p>
          <a:p>
            <a:pPr marL="228600" indent="-228600" algn="just" defTabSz="1019175">
              <a:spcAft>
                <a:spcPts val="600"/>
              </a:spcAft>
            </a:pP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sym typeface="Wingdings 2"/>
              </a:rPr>
              <a:t> 	</a:t>
            </a:r>
            <a:r>
              <a:rPr lang="en-US" sz="1100" b="1" dirty="0">
                <a:solidFill>
                  <a:schemeClr val="tx1"/>
                </a:solidFill>
                <a:latin typeface="Verdana" panose="020B0604030504040204" pitchFamily="34" charset="0"/>
                <a:ea typeface="Verdana" panose="020B0604030504040204" pitchFamily="34" charset="0"/>
                <a:cs typeface="Verdana" panose="020B0604030504040204" pitchFamily="34" charset="0"/>
              </a:rPr>
              <a:t>Work “with” you:</a:t>
            </a: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 Our team has supported large business houses on transactions and understands the importance of appropriate coordination with your internal experts as well as other external advisors (accounting, tax, legal). </a:t>
            </a:r>
          </a:p>
          <a:p>
            <a:pPr algn="just" defTabSz="1019175">
              <a:spcAft>
                <a:spcPts val="600"/>
              </a:spcAft>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As you consider this document, we would request an opportunity to further discuss your requirements and our proposal to be able to best address your requirements. Please feel free to let me know anytime you need any clarifications on our proposal.</a:t>
            </a:r>
          </a:p>
          <a:p>
            <a:pPr algn="just" defTabSz="1019175">
              <a:spcAft>
                <a:spcPts val="600"/>
              </a:spcAft>
            </a:pPr>
            <a:r>
              <a:rPr lang="en-US" sz="1100" dirty="0">
                <a:solidFill>
                  <a:schemeClr val="tx1"/>
                </a:solidFill>
                <a:latin typeface="Verdana" panose="020B0604030504040204" pitchFamily="34" charset="0"/>
                <a:ea typeface="Verdana" panose="020B0604030504040204" pitchFamily="34" charset="0"/>
                <a:cs typeface="Verdana" panose="020B0604030504040204" pitchFamily="34" charset="0"/>
              </a:rPr>
              <a:t>Once again, we appreciate this opportunity to be of service to you and assure you of our best attention!</a:t>
            </a:r>
          </a:p>
          <a:p>
            <a:pPr defTabSz="1019175">
              <a:spcAft>
                <a:spcPts val="600"/>
              </a:spcAft>
            </a:pP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Yours sincerely,</a:t>
            </a:r>
          </a:p>
          <a:p>
            <a:pPr defTabSz="1019175">
              <a:spcAft>
                <a:spcPts val="600"/>
              </a:spcAft>
            </a:pPr>
            <a:r>
              <a:rPr lang="en-US" sz="1100" dirty="0">
                <a:solidFill>
                  <a:srgbClr val="000000"/>
                </a:solidFill>
                <a:latin typeface="Verdana" panose="020B0604030504040204" pitchFamily="34" charset="0"/>
                <a:ea typeface="Verdana" panose="020B0604030504040204" pitchFamily="34" charset="0"/>
                <a:cs typeface="Verdana" panose="020B0604030504040204" pitchFamily="34" charset="0"/>
              </a:rPr>
              <a:t>Peeyush</a:t>
            </a:r>
          </a:p>
        </p:txBody>
      </p:sp>
      <p:sp>
        <p:nvSpPr>
          <p:cNvPr id="156" name="Text Placeholder 4"/>
          <p:cNvSpPr txBox="1">
            <a:spLocks/>
          </p:cNvSpPr>
          <p:nvPr/>
        </p:nvSpPr>
        <p:spPr>
          <a:xfrm>
            <a:off x="420815" y="6085507"/>
            <a:ext cx="1666856" cy="1080000"/>
          </a:xfrm>
          <a:prstGeom prst="rect">
            <a:avLst/>
          </a:prstGeom>
        </p:spPr>
        <p:txBody>
          <a:bodyPr lIns="0" tIns="0" rIns="0" b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pPr marL="0" marR="0" lvl="0" indent="0" defTabSz="1018824" rtl="0" eaLnBrk="1" fontAlgn="auto" latinLnBrk="0" hangingPunct="1">
              <a:lnSpc>
                <a:spcPct val="100000"/>
              </a:lnSpc>
              <a:spcBef>
                <a:spcPts val="0"/>
              </a:spcBef>
              <a:spcAft>
                <a:spcPts val="334"/>
              </a:spcAft>
              <a:buClrTx/>
              <a:buSzTx/>
              <a:buFont typeface="Arial" pitchFamily="34" charset="0"/>
              <a:buNone/>
              <a:tabLst/>
              <a:defRPr/>
            </a:pPr>
            <a:r>
              <a:rPr kumimoji="0" lang="en-GB" sz="900" b="1" i="0" u="none" strike="noStrike" kern="1200" cap="none" spc="0" normalizeH="0" baseline="0" noProof="0" dirty="0">
                <a:ln>
                  <a:noFill/>
                </a:ln>
                <a:solidFill>
                  <a:srgbClr val="000000"/>
                </a:solidFill>
                <a:effectLst/>
                <a:uLnTx/>
                <a:uFillTx/>
                <a:latin typeface="+mj-lt"/>
              </a:rPr>
              <a:t>Peeyush Naidu</a:t>
            </a:r>
          </a:p>
          <a:p>
            <a:pPr marL="0" marR="0" lvl="0" indent="0" defTabSz="1018824" rtl="0" eaLnBrk="1" fontAlgn="auto" latinLnBrk="0" hangingPunct="1">
              <a:lnSpc>
                <a:spcPct val="100000"/>
              </a:lnSpc>
              <a:spcBef>
                <a:spcPts val="0"/>
              </a:spcBef>
              <a:spcAft>
                <a:spcPts val="334"/>
              </a:spcAft>
              <a:buClrTx/>
              <a:buSzTx/>
              <a:buFont typeface="Arial" pitchFamily="34" charset="0"/>
              <a:buNone/>
              <a:tabLst/>
              <a:defRPr/>
            </a:pPr>
            <a:r>
              <a:rPr kumimoji="0" lang="en-US" sz="900" b="0" i="0" u="none" strike="noStrike" kern="1200" cap="none" spc="0" normalizeH="0" baseline="0" noProof="0" dirty="0">
                <a:ln>
                  <a:noFill/>
                </a:ln>
                <a:solidFill>
                  <a:srgbClr val="000000"/>
                </a:solidFill>
                <a:effectLst/>
                <a:uLnTx/>
                <a:uFillTx/>
                <a:latin typeface="+mj-lt"/>
              </a:rPr>
              <a:t>Partner</a:t>
            </a:r>
            <a:br>
              <a:rPr kumimoji="0" lang="en-US" sz="900" b="0" i="0" u="none" strike="noStrike" kern="1200" cap="none" spc="0" normalizeH="0" baseline="0" noProof="0" dirty="0">
                <a:ln>
                  <a:noFill/>
                </a:ln>
                <a:solidFill>
                  <a:srgbClr val="000000"/>
                </a:solidFill>
                <a:effectLst/>
                <a:uLnTx/>
                <a:uFillTx/>
                <a:latin typeface="+mj-lt"/>
              </a:rPr>
            </a:br>
            <a:r>
              <a:rPr kumimoji="0" lang="en-US" sz="900" b="0" i="0" u="none" strike="noStrike" kern="1200" cap="none" spc="0" normalizeH="0" baseline="0" noProof="0" dirty="0">
                <a:ln>
                  <a:noFill/>
                </a:ln>
                <a:solidFill>
                  <a:srgbClr val="000000"/>
                </a:solidFill>
                <a:effectLst/>
                <a:uLnTx/>
                <a:uFillTx/>
                <a:latin typeface="+mj-lt"/>
              </a:rPr>
              <a:t>Consulting</a:t>
            </a:r>
            <a:br>
              <a:rPr kumimoji="0" lang="en-US" sz="900" b="0" i="0" u="none" strike="noStrike" kern="1200" cap="none" spc="0" normalizeH="0" baseline="0" noProof="0" dirty="0">
                <a:ln>
                  <a:noFill/>
                </a:ln>
                <a:solidFill>
                  <a:srgbClr val="000000"/>
                </a:solidFill>
                <a:effectLst/>
                <a:uLnTx/>
                <a:uFillTx/>
                <a:latin typeface="+mj-lt"/>
              </a:rPr>
            </a:br>
            <a:r>
              <a:rPr kumimoji="0" lang="en-US" sz="900" b="0" i="0" u="none" strike="noStrike" kern="1200" cap="none" spc="0" normalizeH="0" baseline="0" noProof="0" dirty="0">
                <a:ln>
                  <a:noFill/>
                </a:ln>
                <a:solidFill>
                  <a:srgbClr val="000000"/>
                </a:solidFill>
                <a:effectLst/>
                <a:uLnTx/>
                <a:uFillTx/>
                <a:latin typeface="+mj-lt"/>
              </a:rPr>
              <a:t>Email:   pnaidu@Deloitte.com </a:t>
            </a:r>
          </a:p>
          <a:p>
            <a:r>
              <a:rPr lang="en-US" sz="900" dirty="0">
                <a:solidFill>
                  <a:srgbClr val="000000"/>
                </a:solidFill>
                <a:latin typeface="+mj-lt"/>
                <a:ea typeface="Verdana" panose="020B0604030504040204" pitchFamily="34" charset="0"/>
                <a:cs typeface="Verdana" panose="020B0604030504040204" pitchFamily="34" charset="0"/>
              </a:rPr>
              <a:t> Tel: +91 98990 66289</a:t>
            </a:r>
          </a:p>
        </p:txBody>
      </p:sp>
      <p:pic>
        <p:nvPicPr>
          <p:cNvPr id="157" name="Picture 156"/>
          <p:cNvPicPr/>
          <p:nvPr/>
        </p:nvPicPr>
        <p:blipFill>
          <a:blip r:embed="rId3">
            <a:extLst>
              <a:ext uri="{28A0092B-C50C-407E-A947-70E740481C1C}">
                <a14:useLocalDpi xmlns:a14="http://schemas.microsoft.com/office/drawing/2010/main" val="0"/>
              </a:ext>
            </a:extLst>
          </a:blip>
          <a:srcRect/>
          <a:stretch>
            <a:fillRect/>
          </a:stretch>
        </p:blipFill>
        <p:spPr bwMode="auto">
          <a:xfrm>
            <a:off x="420815" y="544663"/>
            <a:ext cx="1981200" cy="337955"/>
          </a:xfrm>
          <a:prstGeom prst="rect">
            <a:avLst/>
          </a:prstGeom>
          <a:noFill/>
        </p:spPr>
      </p:pic>
      <p:cxnSp>
        <p:nvCxnSpPr>
          <p:cNvPr id="3" name="Straight Connector 2"/>
          <p:cNvCxnSpPr/>
          <p:nvPr/>
        </p:nvCxnSpPr>
        <p:spPr>
          <a:xfrm flipH="1">
            <a:off x="1999622" y="1598084"/>
            <a:ext cx="0" cy="540561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4"/>
          <p:cNvSpPr txBox="1">
            <a:spLocks/>
          </p:cNvSpPr>
          <p:nvPr/>
        </p:nvSpPr>
        <p:spPr>
          <a:xfrm>
            <a:off x="420815" y="1598084"/>
            <a:ext cx="2023883" cy="1620649"/>
          </a:xfrm>
          <a:prstGeom prst="rect">
            <a:avLst/>
          </a:prstGeom>
        </p:spPr>
        <p:txBody>
          <a:bodyPr lIns="0" tIns="0" rIns="0" bIns="0"/>
          <a:lstStyle>
            <a:lvl1pPr marL="0" indent="0" algn="l" defTabSz="1018824" rtl="0" eaLnBrk="1" latinLnBrk="0" hangingPunct="1">
              <a:spcBef>
                <a:spcPts val="0"/>
              </a:spcBef>
              <a:spcAft>
                <a:spcPts val="334"/>
              </a:spcAft>
              <a:buFont typeface="Arial" pitchFamily="34" charset="0"/>
              <a:buNone/>
              <a:defRPr lang="en-US" sz="1400" kern="1200" dirty="0" smtClean="0">
                <a:solidFill>
                  <a:schemeClr val="accent1"/>
                </a:solidFill>
                <a:latin typeface="+mn-lt"/>
                <a:ea typeface="+mj-ea"/>
                <a:cs typeface="+mj-cs"/>
              </a:defRPr>
            </a:lvl1pPr>
            <a:lvl2pPr marL="203412"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2pPr>
            <a:lvl3pPr marL="397979" indent="-194567"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3pPr>
            <a:lvl4pPr marL="601389" indent="-203412" algn="l" defTabSz="1018824" rtl="0" eaLnBrk="1" latinLnBrk="0" hangingPunct="1">
              <a:spcBef>
                <a:spcPts val="0"/>
              </a:spcBef>
              <a:spcAft>
                <a:spcPts val="334"/>
              </a:spcAft>
              <a:buFont typeface="Arial" pitchFamily="34" charset="0"/>
              <a:buChar char="•"/>
              <a:defRPr lang="en-US" sz="1400" kern="1200" dirty="0" smtClean="0">
                <a:solidFill>
                  <a:schemeClr val="accent1"/>
                </a:solidFill>
                <a:latin typeface="+mn-lt"/>
                <a:ea typeface="+mj-ea"/>
                <a:cs typeface="+mj-cs"/>
              </a:defRPr>
            </a:lvl4pPr>
            <a:lvl5pPr marL="794188" indent="-192799" algn="l" defTabSz="1018824" rtl="0" eaLnBrk="1" latinLnBrk="0" hangingPunct="1">
              <a:spcBef>
                <a:spcPts val="0"/>
              </a:spcBef>
              <a:spcAft>
                <a:spcPts val="334"/>
              </a:spcAft>
              <a:buFont typeface="Arial" pitchFamily="34" charset="0"/>
              <a:buChar char="‒"/>
              <a:defRPr lang="en-GB" sz="1400" kern="1200" baseline="0" dirty="0" smtClean="0">
                <a:solidFill>
                  <a:schemeClr val="accent1"/>
                </a:solidFill>
                <a:latin typeface="+mn-lt"/>
                <a:ea typeface="+mj-ea"/>
                <a:cs typeface="+mj-cs"/>
              </a:defRPr>
            </a:lvl5pPr>
            <a:lvl6pPr marL="997599" indent="-203412" algn="l" defTabSz="1018824" rtl="0" eaLnBrk="1" latinLnBrk="0" hangingPunct="1">
              <a:spcBef>
                <a:spcPts val="0"/>
              </a:spcBef>
              <a:spcAft>
                <a:spcPts val="334"/>
              </a:spcAft>
              <a:buFont typeface="Arial" pitchFamily="34" charset="0"/>
              <a:buChar char="•"/>
              <a:defRPr sz="1800" kern="1200" baseline="0">
                <a:solidFill>
                  <a:schemeClr val="accent1"/>
                </a:solidFill>
                <a:latin typeface="+mn-lt"/>
                <a:ea typeface="+mn-ea"/>
                <a:cs typeface="+mn-cs"/>
              </a:defRPr>
            </a:lvl6pPr>
            <a:lvl7pPr marL="1202779" indent="-205180"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7pPr>
            <a:lvl8pPr marL="1395578" indent="-192799"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8pPr>
            <a:lvl9pPr marL="1598988" indent="-203412" algn="l" defTabSz="1018824" rtl="0" eaLnBrk="1" latinLnBrk="0" hangingPunct="1">
              <a:spcBef>
                <a:spcPts val="0"/>
              </a:spcBef>
              <a:spcAft>
                <a:spcPts val="334"/>
              </a:spcAft>
              <a:buFont typeface="Arial" pitchFamily="34" charset="0"/>
              <a:buChar char="‒"/>
              <a:defRPr sz="1600" kern="1200">
                <a:solidFill>
                  <a:schemeClr val="accent1"/>
                </a:solidFill>
                <a:latin typeface="+mn-lt"/>
                <a:ea typeface="+mn-ea"/>
                <a:cs typeface="+mn-cs"/>
              </a:defRPr>
            </a:lvl9pPr>
          </a:lstStyle>
          <a:p>
            <a:r>
              <a:rPr lang="en-GB" sz="900" b="1" dirty="0">
                <a:solidFill>
                  <a:schemeClr val="tx1"/>
                </a:solidFill>
                <a:latin typeface="Verdana" panose="020B0604030504040204" pitchFamily="34" charset="0"/>
                <a:ea typeface="Verdana" panose="020B0604030504040204" pitchFamily="34" charset="0"/>
                <a:cs typeface="Verdana" panose="020B0604030504040204" pitchFamily="34" charset="0"/>
              </a:rPr>
              <a:t>3 July 2018</a:t>
            </a:r>
          </a:p>
          <a:p>
            <a:r>
              <a:rPr lang="en-IN" sz="900" dirty="0">
                <a:solidFill>
                  <a:schemeClr val="tx1"/>
                </a:solidFill>
                <a:latin typeface="Verdana" panose="020B0604030504040204" pitchFamily="34" charset="0"/>
                <a:ea typeface="Verdana" panose="020B0604030504040204" pitchFamily="34" charset="0"/>
                <a:cs typeface="Verdana" panose="020B0604030504040204" pitchFamily="34" charset="0"/>
              </a:rPr>
              <a:t>Mr. Swapnil Verma</a:t>
            </a:r>
          </a:p>
          <a:p>
            <a:r>
              <a:rPr lang="en-GB" sz="900" dirty="0">
                <a:solidFill>
                  <a:schemeClr val="tx1"/>
                </a:solidFill>
                <a:latin typeface="Verdana" panose="020B0604030504040204" pitchFamily="34" charset="0"/>
                <a:ea typeface="Verdana" panose="020B0604030504040204" pitchFamily="34" charset="0"/>
                <a:cs typeface="Verdana" panose="020B0604030504040204" pitchFamily="34" charset="0"/>
              </a:rPr>
              <a:t>Essel Infraprojects Limited</a:t>
            </a:r>
          </a:p>
          <a:p>
            <a:endParaRPr lang="en-GB" sz="9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r>
              <a:rPr lang="en-GB" sz="900" dirty="0">
                <a:solidFill>
                  <a:schemeClr val="tx1"/>
                </a:solidFill>
                <a:latin typeface="Verdana" panose="020B0604030504040204" pitchFamily="34" charset="0"/>
                <a:ea typeface="Verdana" panose="020B0604030504040204" pitchFamily="34" charset="0"/>
                <a:cs typeface="Verdana" panose="020B0604030504040204" pitchFamily="34" charset="0"/>
              </a:rPr>
              <a:t>Mr. Pranav Kumar</a:t>
            </a:r>
          </a:p>
          <a:p>
            <a:r>
              <a:rPr lang="en-GB" sz="900" dirty="0">
                <a:solidFill>
                  <a:schemeClr val="tx1"/>
                </a:solidFill>
                <a:latin typeface="Verdana" panose="020B0604030504040204" pitchFamily="34" charset="0"/>
                <a:ea typeface="Verdana" panose="020B0604030504040204" pitchFamily="34" charset="0"/>
                <a:cs typeface="Verdana" panose="020B0604030504040204" pitchFamily="34" charset="0"/>
              </a:rPr>
              <a:t>Essel Infraprojects Limited</a:t>
            </a:r>
          </a:p>
        </p:txBody>
      </p:sp>
    </p:spTree>
    <p:extLst>
      <p:ext uri="{BB962C8B-B14F-4D97-AF65-F5344CB8AC3E}">
        <p14:creationId xmlns:p14="http://schemas.microsoft.com/office/powerpoint/2010/main" val="318793491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txBox="1">
            <a:spLocks/>
          </p:cNvSpPr>
          <p:nvPr/>
        </p:nvSpPr>
        <p:spPr>
          <a:xfrm>
            <a:off x="583739" y="1066359"/>
            <a:ext cx="3235369" cy="722515"/>
          </a:xfrm>
          <a:prstGeom prst="rect">
            <a:avLst/>
          </a:prstGeom>
        </p:spPr>
        <p:txBody>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defTabSz="1068846"/>
            <a:r>
              <a:rPr lang="en-US" sz="3507" b="1" dirty="0">
                <a:solidFill>
                  <a:srgbClr val="FFFFFF"/>
                </a:solidFill>
                <a:latin typeface="Verdana" panose="020B0604030504040204" pitchFamily="34" charset="0"/>
                <a:ea typeface="Verdana" panose="020B0604030504040204" pitchFamily="34" charset="0"/>
                <a:cs typeface="Verdana" panose="020B0604030504040204" pitchFamily="34" charset="0"/>
              </a:rPr>
              <a:t>Contents</a:t>
            </a:r>
          </a:p>
        </p:txBody>
      </p:sp>
      <p:grpSp>
        <p:nvGrpSpPr>
          <p:cNvPr id="7" name="Group 6"/>
          <p:cNvGrpSpPr/>
          <p:nvPr/>
        </p:nvGrpSpPr>
        <p:grpSpPr>
          <a:xfrm rot="14903760">
            <a:off x="6340527" y="3419973"/>
            <a:ext cx="3879953" cy="3643676"/>
            <a:chOff x="6555346" y="1571235"/>
            <a:chExt cx="4425670" cy="4156161"/>
          </a:xfrm>
          <a:solidFill>
            <a:schemeClr val="tx1"/>
          </a:solidFill>
        </p:grpSpPr>
        <p:sp>
          <p:nvSpPr>
            <p:cNvPr id="8" name="Rechteck 95"/>
            <p:cNvSpPr/>
            <p:nvPr/>
          </p:nvSpPr>
          <p:spPr bwMode="auto">
            <a:xfrm rot="19940117">
              <a:off x="6555346" y="4306478"/>
              <a:ext cx="3283867" cy="120590"/>
            </a:xfrm>
            <a:custGeom>
              <a:avLst/>
              <a:gdLst>
                <a:gd name="connsiteX0" fmla="*/ 0 w 3762839"/>
                <a:gd name="connsiteY0" fmla="*/ 0 h 95569"/>
                <a:gd name="connsiteX1" fmla="*/ 3762839 w 3762839"/>
                <a:gd name="connsiteY1" fmla="*/ 0 h 95569"/>
                <a:gd name="connsiteX2" fmla="*/ 3762839 w 3762839"/>
                <a:gd name="connsiteY2" fmla="*/ 95569 h 95569"/>
                <a:gd name="connsiteX3" fmla="*/ 0 w 3762839"/>
                <a:gd name="connsiteY3" fmla="*/ 95569 h 95569"/>
                <a:gd name="connsiteX4" fmla="*/ 0 w 3762839"/>
                <a:gd name="connsiteY4" fmla="*/ 0 h 95569"/>
                <a:gd name="connsiteX0" fmla="*/ 0 w 3762839"/>
                <a:gd name="connsiteY0" fmla="*/ 0 h 95569"/>
                <a:gd name="connsiteX1" fmla="*/ 3762839 w 3762839"/>
                <a:gd name="connsiteY1" fmla="*/ 0 h 95569"/>
                <a:gd name="connsiteX2" fmla="*/ 3762839 w 3762839"/>
                <a:gd name="connsiteY2" fmla="*/ 95569 h 95569"/>
                <a:gd name="connsiteX3" fmla="*/ 0 w 3762839"/>
                <a:gd name="connsiteY3" fmla="*/ 0 h 95569"/>
              </a:gdLst>
              <a:ahLst/>
              <a:cxnLst>
                <a:cxn ang="0">
                  <a:pos x="connsiteX0" y="connsiteY0"/>
                </a:cxn>
                <a:cxn ang="0">
                  <a:pos x="connsiteX1" y="connsiteY1"/>
                </a:cxn>
                <a:cxn ang="0">
                  <a:pos x="connsiteX2" y="connsiteY2"/>
                </a:cxn>
                <a:cxn ang="0">
                  <a:pos x="connsiteX3" y="connsiteY3"/>
                </a:cxn>
              </a:cxnLst>
              <a:rect l="l" t="t" r="r" b="b"/>
              <a:pathLst>
                <a:path w="3762839" h="95569">
                  <a:moveTo>
                    <a:pt x="0" y="0"/>
                  </a:moveTo>
                  <a:lnTo>
                    <a:pt x="3762839" y="0"/>
                  </a:lnTo>
                  <a:lnTo>
                    <a:pt x="3762839" y="95569"/>
                  </a:lnTo>
                  <a:lnTo>
                    <a:pt x="0" y="0"/>
                  </a:lnTo>
                  <a:close/>
                </a:path>
              </a:pathLst>
            </a:custGeom>
            <a:solidFill>
              <a:srgbClr val="63666A"/>
            </a:solidFill>
            <a:ln w="12700">
              <a:noFill/>
              <a:round/>
              <a:headEnd/>
              <a:tailEnd/>
            </a:ln>
          </p:spPr>
          <p:txBody>
            <a:bodyPr rtlCol="0" anchor="ctr"/>
            <a:lstStyle/>
            <a:p>
              <a:pPr algn="ctr" defTabSz="801654">
                <a:defRPr/>
              </a:pPr>
              <a:endParaRPr lang="de-DE" sz="1578" dirty="0">
                <a:solidFill>
                  <a:srgbClr val="FFFFFF"/>
                </a:solidFill>
                <a:latin typeface="Arial"/>
              </a:endParaRPr>
            </a:p>
          </p:txBody>
        </p:sp>
        <p:sp>
          <p:nvSpPr>
            <p:cNvPr id="9" name="Rechteck 95"/>
            <p:cNvSpPr/>
            <p:nvPr/>
          </p:nvSpPr>
          <p:spPr bwMode="auto">
            <a:xfrm rot="263511">
              <a:off x="7064835" y="5143989"/>
              <a:ext cx="2439409" cy="45719"/>
            </a:xfrm>
            <a:custGeom>
              <a:avLst/>
              <a:gdLst>
                <a:gd name="connsiteX0" fmla="*/ 0 w 3762839"/>
                <a:gd name="connsiteY0" fmla="*/ 0 h 95569"/>
                <a:gd name="connsiteX1" fmla="*/ 3762839 w 3762839"/>
                <a:gd name="connsiteY1" fmla="*/ 0 h 95569"/>
                <a:gd name="connsiteX2" fmla="*/ 3762839 w 3762839"/>
                <a:gd name="connsiteY2" fmla="*/ 95569 h 95569"/>
                <a:gd name="connsiteX3" fmla="*/ 0 w 3762839"/>
                <a:gd name="connsiteY3" fmla="*/ 95569 h 95569"/>
                <a:gd name="connsiteX4" fmla="*/ 0 w 3762839"/>
                <a:gd name="connsiteY4" fmla="*/ 0 h 95569"/>
                <a:gd name="connsiteX0" fmla="*/ 0 w 3762839"/>
                <a:gd name="connsiteY0" fmla="*/ 0 h 95569"/>
                <a:gd name="connsiteX1" fmla="*/ 3762839 w 3762839"/>
                <a:gd name="connsiteY1" fmla="*/ 0 h 95569"/>
                <a:gd name="connsiteX2" fmla="*/ 3762839 w 3762839"/>
                <a:gd name="connsiteY2" fmla="*/ 95569 h 95569"/>
                <a:gd name="connsiteX3" fmla="*/ 0 w 3762839"/>
                <a:gd name="connsiteY3" fmla="*/ 0 h 95569"/>
              </a:gdLst>
              <a:ahLst/>
              <a:cxnLst>
                <a:cxn ang="0">
                  <a:pos x="connsiteX0" y="connsiteY0"/>
                </a:cxn>
                <a:cxn ang="0">
                  <a:pos x="connsiteX1" y="connsiteY1"/>
                </a:cxn>
                <a:cxn ang="0">
                  <a:pos x="connsiteX2" y="connsiteY2"/>
                </a:cxn>
                <a:cxn ang="0">
                  <a:pos x="connsiteX3" y="connsiteY3"/>
                </a:cxn>
              </a:cxnLst>
              <a:rect l="l" t="t" r="r" b="b"/>
              <a:pathLst>
                <a:path w="3762839" h="95569">
                  <a:moveTo>
                    <a:pt x="0" y="0"/>
                  </a:moveTo>
                  <a:lnTo>
                    <a:pt x="3762839" y="0"/>
                  </a:lnTo>
                  <a:lnTo>
                    <a:pt x="3762839" y="95569"/>
                  </a:lnTo>
                  <a:lnTo>
                    <a:pt x="0" y="0"/>
                  </a:lnTo>
                  <a:close/>
                </a:path>
              </a:pathLst>
            </a:custGeom>
            <a:solidFill>
              <a:srgbClr val="63666A"/>
            </a:solidFill>
            <a:ln w="12700">
              <a:noFill/>
              <a:round/>
              <a:headEnd/>
              <a:tailEnd/>
            </a:ln>
          </p:spPr>
          <p:txBody>
            <a:bodyPr rtlCol="0" anchor="ctr"/>
            <a:lstStyle/>
            <a:p>
              <a:pPr algn="ctr" defTabSz="801654">
                <a:defRPr/>
              </a:pPr>
              <a:endParaRPr lang="de-DE" sz="1578" dirty="0">
                <a:solidFill>
                  <a:srgbClr val="FFFFFF"/>
                </a:solidFill>
                <a:latin typeface="Arial"/>
              </a:endParaRPr>
            </a:p>
          </p:txBody>
        </p:sp>
        <p:sp>
          <p:nvSpPr>
            <p:cNvPr id="10" name="Rechteck 95"/>
            <p:cNvSpPr/>
            <p:nvPr/>
          </p:nvSpPr>
          <p:spPr bwMode="auto">
            <a:xfrm rot="18517837">
              <a:off x="5919427" y="3676552"/>
              <a:ext cx="4055968" cy="45719"/>
            </a:xfrm>
            <a:custGeom>
              <a:avLst/>
              <a:gdLst>
                <a:gd name="connsiteX0" fmla="*/ 0 w 3762839"/>
                <a:gd name="connsiteY0" fmla="*/ 0 h 95569"/>
                <a:gd name="connsiteX1" fmla="*/ 3762839 w 3762839"/>
                <a:gd name="connsiteY1" fmla="*/ 0 h 95569"/>
                <a:gd name="connsiteX2" fmla="*/ 3762839 w 3762839"/>
                <a:gd name="connsiteY2" fmla="*/ 95569 h 95569"/>
                <a:gd name="connsiteX3" fmla="*/ 0 w 3762839"/>
                <a:gd name="connsiteY3" fmla="*/ 95569 h 95569"/>
                <a:gd name="connsiteX4" fmla="*/ 0 w 3762839"/>
                <a:gd name="connsiteY4" fmla="*/ 0 h 95569"/>
                <a:gd name="connsiteX0" fmla="*/ 0 w 3762839"/>
                <a:gd name="connsiteY0" fmla="*/ 0 h 95569"/>
                <a:gd name="connsiteX1" fmla="*/ 3762839 w 3762839"/>
                <a:gd name="connsiteY1" fmla="*/ 0 h 95569"/>
                <a:gd name="connsiteX2" fmla="*/ 3762839 w 3762839"/>
                <a:gd name="connsiteY2" fmla="*/ 95569 h 95569"/>
                <a:gd name="connsiteX3" fmla="*/ 0 w 3762839"/>
                <a:gd name="connsiteY3" fmla="*/ 0 h 95569"/>
              </a:gdLst>
              <a:ahLst/>
              <a:cxnLst>
                <a:cxn ang="0">
                  <a:pos x="connsiteX0" y="connsiteY0"/>
                </a:cxn>
                <a:cxn ang="0">
                  <a:pos x="connsiteX1" y="connsiteY1"/>
                </a:cxn>
                <a:cxn ang="0">
                  <a:pos x="connsiteX2" y="connsiteY2"/>
                </a:cxn>
                <a:cxn ang="0">
                  <a:pos x="connsiteX3" y="connsiteY3"/>
                </a:cxn>
              </a:cxnLst>
              <a:rect l="l" t="t" r="r" b="b"/>
              <a:pathLst>
                <a:path w="3762839" h="95569">
                  <a:moveTo>
                    <a:pt x="0" y="0"/>
                  </a:moveTo>
                  <a:lnTo>
                    <a:pt x="3762839" y="0"/>
                  </a:lnTo>
                  <a:lnTo>
                    <a:pt x="3762839" y="95569"/>
                  </a:lnTo>
                  <a:lnTo>
                    <a:pt x="0" y="0"/>
                  </a:lnTo>
                  <a:close/>
                </a:path>
              </a:pathLst>
            </a:custGeom>
            <a:solidFill>
              <a:srgbClr val="63666A"/>
            </a:solidFill>
            <a:ln w="12700">
              <a:noFill/>
              <a:round/>
              <a:headEnd/>
              <a:tailEnd/>
            </a:ln>
          </p:spPr>
          <p:txBody>
            <a:bodyPr rtlCol="0" anchor="ctr"/>
            <a:lstStyle/>
            <a:p>
              <a:pPr algn="ctr" defTabSz="801654">
                <a:defRPr/>
              </a:pPr>
              <a:endParaRPr lang="de-DE" sz="1578" dirty="0">
                <a:solidFill>
                  <a:srgbClr val="FFFFFF"/>
                </a:solidFill>
                <a:latin typeface="Arial"/>
              </a:endParaRPr>
            </a:p>
          </p:txBody>
        </p:sp>
        <p:sp>
          <p:nvSpPr>
            <p:cNvPr id="11" name="Freeform 6"/>
            <p:cNvSpPr>
              <a:spLocks/>
            </p:cNvSpPr>
            <p:nvPr/>
          </p:nvSpPr>
          <p:spPr bwMode="auto">
            <a:xfrm rot="18816058">
              <a:off x="9150330" y="1622634"/>
              <a:ext cx="600094" cy="497296"/>
            </a:xfrm>
            <a:custGeom>
              <a:avLst/>
              <a:gdLst>
                <a:gd name="T0" fmla="*/ 163 w 264"/>
                <a:gd name="T1" fmla="*/ 88 h 219"/>
                <a:gd name="T2" fmla="*/ 95 w 264"/>
                <a:gd name="T3" fmla="*/ 0 h 219"/>
                <a:gd name="T4" fmla="*/ 76 w 264"/>
                <a:gd name="T5" fmla="*/ 0 h 219"/>
                <a:gd name="T6" fmla="*/ 111 w 264"/>
                <a:gd name="T7" fmla="*/ 92 h 219"/>
                <a:gd name="T8" fmla="*/ 39 w 264"/>
                <a:gd name="T9" fmla="*/ 98 h 219"/>
                <a:gd name="T10" fmla="*/ 13 w 264"/>
                <a:gd name="T11" fmla="*/ 72 h 219"/>
                <a:gd name="T12" fmla="*/ 0 w 264"/>
                <a:gd name="T13" fmla="*/ 72 h 219"/>
                <a:gd name="T14" fmla="*/ 11 w 264"/>
                <a:gd name="T15" fmla="*/ 110 h 219"/>
                <a:gd name="T16" fmla="*/ 0 w 264"/>
                <a:gd name="T17" fmla="*/ 147 h 219"/>
                <a:gd name="T18" fmla="*/ 13 w 264"/>
                <a:gd name="T19" fmla="*/ 147 h 219"/>
                <a:gd name="T20" fmla="*/ 39 w 264"/>
                <a:gd name="T21" fmla="*/ 121 h 219"/>
                <a:gd name="T22" fmla="*/ 111 w 264"/>
                <a:gd name="T23" fmla="*/ 127 h 219"/>
                <a:gd name="T24" fmla="*/ 76 w 264"/>
                <a:gd name="T25" fmla="*/ 219 h 219"/>
                <a:gd name="T26" fmla="*/ 95 w 264"/>
                <a:gd name="T27" fmla="*/ 219 h 219"/>
                <a:gd name="T28" fmla="*/ 163 w 264"/>
                <a:gd name="T29" fmla="*/ 132 h 219"/>
                <a:gd name="T30" fmla="*/ 264 w 264"/>
                <a:gd name="T31" fmla="*/ 110 h 219"/>
                <a:gd name="T32" fmla="*/ 163 w 264"/>
                <a:gd name="T33" fmla="*/ 8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4" h="219">
                  <a:moveTo>
                    <a:pt x="163" y="88"/>
                  </a:moveTo>
                  <a:cubicBezTo>
                    <a:pt x="95" y="0"/>
                    <a:pt x="95" y="0"/>
                    <a:pt x="95" y="0"/>
                  </a:cubicBezTo>
                  <a:cubicBezTo>
                    <a:pt x="76" y="0"/>
                    <a:pt x="76" y="0"/>
                    <a:pt x="76" y="0"/>
                  </a:cubicBezTo>
                  <a:cubicBezTo>
                    <a:pt x="111" y="92"/>
                    <a:pt x="111" y="92"/>
                    <a:pt x="111" y="92"/>
                  </a:cubicBezTo>
                  <a:cubicBezTo>
                    <a:pt x="39" y="98"/>
                    <a:pt x="39" y="98"/>
                    <a:pt x="39" y="98"/>
                  </a:cubicBezTo>
                  <a:cubicBezTo>
                    <a:pt x="13" y="72"/>
                    <a:pt x="13" y="72"/>
                    <a:pt x="13" y="72"/>
                  </a:cubicBezTo>
                  <a:cubicBezTo>
                    <a:pt x="0" y="72"/>
                    <a:pt x="0" y="72"/>
                    <a:pt x="0" y="72"/>
                  </a:cubicBezTo>
                  <a:cubicBezTo>
                    <a:pt x="11" y="110"/>
                    <a:pt x="11" y="110"/>
                    <a:pt x="11" y="110"/>
                  </a:cubicBezTo>
                  <a:cubicBezTo>
                    <a:pt x="0" y="147"/>
                    <a:pt x="0" y="147"/>
                    <a:pt x="0" y="147"/>
                  </a:cubicBezTo>
                  <a:cubicBezTo>
                    <a:pt x="13" y="147"/>
                    <a:pt x="13" y="147"/>
                    <a:pt x="13" y="147"/>
                  </a:cubicBezTo>
                  <a:cubicBezTo>
                    <a:pt x="39" y="121"/>
                    <a:pt x="39" y="121"/>
                    <a:pt x="39" y="121"/>
                  </a:cubicBezTo>
                  <a:cubicBezTo>
                    <a:pt x="111" y="127"/>
                    <a:pt x="111" y="127"/>
                    <a:pt x="111" y="127"/>
                  </a:cubicBezTo>
                  <a:cubicBezTo>
                    <a:pt x="76" y="219"/>
                    <a:pt x="76" y="219"/>
                    <a:pt x="76" y="219"/>
                  </a:cubicBezTo>
                  <a:cubicBezTo>
                    <a:pt x="95" y="219"/>
                    <a:pt x="95" y="219"/>
                    <a:pt x="95" y="219"/>
                  </a:cubicBezTo>
                  <a:cubicBezTo>
                    <a:pt x="163" y="132"/>
                    <a:pt x="163" y="132"/>
                    <a:pt x="163" y="132"/>
                  </a:cubicBezTo>
                  <a:cubicBezTo>
                    <a:pt x="239" y="134"/>
                    <a:pt x="264" y="110"/>
                    <a:pt x="264" y="110"/>
                  </a:cubicBezTo>
                  <a:cubicBezTo>
                    <a:pt x="264" y="110"/>
                    <a:pt x="239" y="85"/>
                    <a:pt x="163" y="88"/>
                  </a:cubicBezTo>
                  <a:close/>
                </a:path>
              </a:pathLst>
            </a:custGeom>
            <a:grpFill/>
            <a:ln>
              <a:noFill/>
            </a:ln>
          </p:spPr>
          <p:txBody>
            <a:bodyPr vert="horz" wrap="square" lIns="80165" tIns="40082" rIns="80165" bIns="40082" numCol="1" anchor="t" anchorCtr="0" compatLnSpc="1">
              <a:prstTxWarp prst="textNoShape">
                <a:avLst/>
              </a:prstTxWarp>
            </a:bodyPr>
            <a:lstStyle/>
            <a:p>
              <a:pPr defTabSz="801654">
                <a:defRPr/>
              </a:pPr>
              <a:endParaRPr lang="de-DE" sz="1578">
                <a:solidFill>
                  <a:srgbClr val="FFFFFF"/>
                </a:solidFill>
                <a:latin typeface="Arial"/>
              </a:endParaRPr>
            </a:p>
          </p:txBody>
        </p:sp>
        <p:sp>
          <p:nvSpPr>
            <p:cNvPr id="12" name="Freeform 6"/>
            <p:cNvSpPr>
              <a:spLocks/>
            </p:cNvSpPr>
            <p:nvPr/>
          </p:nvSpPr>
          <p:spPr bwMode="auto">
            <a:xfrm rot="20968253">
              <a:off x="10395084" y="4204229"/>
              <a:ext cx="531099" cy="440121"/>
            </a:xfrm>
            <a:custGeom>
              <a:avLst/>
              <a:gdLst>
                <a:gd name="T0" fmla="*/ 163 w 264"/>
                <a:gd name="T1" fmla="*/ 88 h 219"/>
                <a:gd name="T2" fmla="*/ 95 w 264"/>
                <a:gd name="T3" fmla="*/ 0 h 219"/>
                <a:gd name="T4" fmla="*/ 76 w 264"/>
                <a:gd name="T5" fmla="*/ 0 h 219"/>
                <a:gd name="T6" fmla="*/ 111 w 264"/>
                <a:gd name="T7" fmla="*/ 92 h 219"/>
                <a:gd name="T8" fmla="*/ 39 w 264"/>
                <a:gd name="T9" fmla="*/ 98 h 219"/>
                <a:gd name="T10" fmla="*/ 13 w 264"/>
                <a:gd name="T11" fmla="*/ 72 h 219"/>
                <a:gd name="T12" fmla="*/ 0 w 264"/>
                <a:gd name="T13" fmla="*/ 72 h 219"/>
                <a:gd name="T14" fmla="*/ 11 w 264"/>
                <a:gd name="T15" fmla="*/ 110 h 219"/>
                <a:gd name="T16" fmla="*/ 0 w 264"/>
                <a:gd name="T17" fmla="*/ 147 h 219"/>
                <a:gd name="T18" fmla="*/ 13 w 264"/>
                <a:gd name="T19" fmla="*/ 147 h 219"/>
                <a:gd name="T20" fmla="*/ 39 w 264"/>
                <a:gd name="T21" fmla="*/ 121 h 219"/>
                <a:gd name="T22" fmla="*/ 111 w 264"/>
                <a:gd name="T23" fmla="*/ 127 h 219"/>
                <a:gd name="T24" fmla="*/ 76 w 264"/>
                <a:gd name="T25" fmla="*/ 219 h 219"/>
                <a:gd name="T26" fmla="*/ 95 w 264"/>
                <a:gd name="T27" fmla="*/ 219 h 219"/>
                <a:gd name="T28" fmla="*/ 163 w 264"/>
                <a:gd name="T29" fmla="*/ 132 h 219"/>
                <a:gd name="T30" fmla="*/ 264 w 264"/>
                <a:gd name="T31" fmla="*/ 110 h 219"/>
                <a:gd name="T32" fmla="*/ 163 w 264"/>
                <a:gd name="T33" fmla="*/ 8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4" h="219">
                  <a:moveTo>
                    <a:pt x="163" y="88"/>
                  </a:moveTo>
                  <a:cubicBezTo>
                    <a:pt x="95" y="0"/>
                    <a:pt x="95" y="0"/>
                    <a:pt x="95" y="0"/>
                  </a:cubicBezTo>
                  <a:cubicBezTo>
                    <a:pt x="76" y="0"/>
                    <a:pt x="76" y="0"/>
                    <a:pt x="76" y="0"/>
                  </a:cubicBezTo>
                  <a:cubicBezTo>
                    <a:pt x="111" y="92"/>
                    <a:pt x="111" y="92"/>
                    <a:pt x="111" y="92"/>
                  </a:cubicBezTo>
                  <a:cubicBezTo>
                    <a:pt x="39" y="98"/>
                    <a:pt x="39" y="98"/>
                    <a:pt x="39" y="98"/>
                  </a:cubicBezTo>
                  <a:cubicBezTo>
                    <a:pt x="13" y="72"/>
                    <a:pt x="13" y="72"/>
                    <a:pt x="13" y="72"/>
                  </a:cubicBezTo>
                  <a:cubicBezTo>
                    <a:pt x="0" y="72"/>
                    <a:pt x="0" y="72"/>
                    <a:pt x="0" y="72"/>
                  </a:cubicBezTo>
                  <a:cubicBezTo>
                    <a:pt x="11" y="110"/>
                    <a:pt x="11" y="110"/>
                    <a:pt x="11" y="110"/>
                  </a:cubicBezTo>
                  <a:cubicBezTo>
                    <a:pt x="0" y="147"/>
                    <a:pt x="0" y="147"/>
                    <a:pt x="0" y="147"/>
                  </a:cubicBezTo>
                  <a:cubicBezTo>
                    <a:pt x="13" y="147"/>
                    <a:pt x="13" y="147"/>
                    <a:pt x="13" y="147"/>
                  </a:cubicBezTo>
                  <a:cubicBezTo>
                    <a:pt x="39" y="121"/>
                    <a:pt x="39" y="121"/>
                    <a:pt x="39" y="121"/>
                  </a:cubicBezTo>
                  <a:cubicBezTo>
                    <a:pt x="111" y="127"/>
                    <a:pt x="111" y="127"/>
                    <a:pt x="111" y="127"/>
                  </a:cubicBezTo>
                  <a:cubicBezTo>
                    <a:pt x="76" y="219"/>
                    <a:pt x="76" y="219"/>
                    <a:pt x="76" y="219"/>
                  </a:cubicBezTo>
                  <a:cubicBezTo>
                    <a:pt x="95" y="219"/>
                    <a:pt x="95" y="219"/>
                    <a:pt x="95" y="219"/>
                  </a:cubicBezTo>
                  <a:cubicBezTo>
                    <a:pt x="163" y="132"/>
                    <a:pt x="163" y="132"/>
                    <a:pt x="163" y="132"/>
                  </a:cubicBezTo>
                  <a:cubicBezTo>
                    <a:pt x="239" y="134"/>
                    <a:pt x="264" y="110"/>
                    <a:pt x="264" y="110"/>
                  </a:cubicBezTo>
                  <a:cubicBezTo>
                    <a:pt x="264" y="110"/>
                    <a:pt x="239" y="85"/>
                    <a:pt x="163" y="88"/>
                  </a:cubicBezTo>
                  <a:close/>
                </a:path>
              </a:pathLst>
            </a:custGeom>
            <a:grpFill/>
            <a:ln>
              <a:noFill/>
            </a:ln>
          </p:spPr>
          <p:txBody>
            <a:bodyPr vert="horz" wrap="square" lIns="80165" tIns="40082" rIns="80165" bIns="40082" numCol="1" anchor="t" anchorCtr="0" compatLnSpc="1">
              <a:prstTxWarp prst="textNoShape">
                <a:avLst/>
              </a:prstTxWarp>
            </a:bodyPr>
            <a:lstStyle/>
            <a:p>
              <a:pPr defTabSz="801654">
                <a:defRPr/>
              </a:pPr>
              <a:endParaRPr lang="de-DE" sz="1578">
                <a:solidFill>
                  <a:srgbClr val="FFFFFF"/>
                </a:solidFill>
                <a:latin typeface="Arial"/>
              </a:endParaRPr>
            </a:p>
          </p:txBody>
        </p:sp>
        <p:sp>
          <p:nvSpPr>
            <p:cNvPr id="13" name="Freeform 6"/>
            <p:cNvSpPr>
              <a:spLocks/>
            </p:cNvSpPr>
            <p:nvPr/>
          </p:nvSpPr>
          <p:spPr bwMode="auto">
            <a:xfrm rot="317652">
              <a:off x="9545826" y="4996690"/>
              <a:ext cx="712497" cy="590445"/>
            </a:xfrm>
            <a:custGeom>
              <a:avLst/>
              <a:gdLst>
                <a:gd name="T0" fmla="*/ 163 w 264"/>
                <a:gd name="T1" fmla="*/ 88 h 219"/>
                <a:gd name="T2" fmla="*/ 95 w 264"/>
                <a:gd name="T3" fmla="*/ 0 h 219"/>
                <a:gd name="T4" fmla="*/ 76 w 264"/>
                <a:gd name="T5" fmla="*/ 0 h 219"/>
                <a:gd name="T6" fmla="*/ 111 w 264"/>
                <a:gd name="T7" fmla="*/ 92 h 219"/>
                <a:gd name="T8" fmla="*/ 39 w 264"/>
                <a:gd name="T9" fmla="*/ 98 h 219"/>
                <a:gd name="T10" fmla="*/ 13 w 264"/>
                <a:gd name="T11" fmla="*/ 72 h 219"/>
                <a:gd name="T12" fmla="*/ 0 w 264"/>
                <a:gd name="T13" fmla="*/ 72 h 219"/>
                <a:gd name="T14" fmla="*/ 11 w 264"/>
                <a:gd name="T15" fmla="*/ 110 h 219"/>
                <a:gd name="T16" fmla="*/ 0 w 264"/>
                <a:gd name="T17" fmla="*/ 147 h 219"/>
                <a:gd name="T18" fmla="*/ 13 w 264"/>
                <a:gd name="T19" fmla="*/ 147 h 219"/>
                <a:gd name="T20" fmla="*/ 39 w 264"/>
                <a:gd name="T21" fmla="*/ 121 h 219"/>
                <a:gd name="T22" fmla="*/ 111 w 264"/>
                <a:gd name="T23" fmla="*/ 127 h 219"/>
                <a:gd name="T24" fmla="*/ 76 w 264"/>
                <a:gd name="T25" fmla="*/ 219 h 219"/>
                <a:gd name="T26" fmla="*/ 95 w 264"/>
                <a:gd name="T27" fmla="*/ 219 h 219"/>
                <a:gd name="T28" fmla="*/ 163 w 264"/>
                <a:gd name="T29" fmla="*/ 132 h 219"/>
                <a:gd name="T30" fmla="*/ 264 w 264"/>
                <a:gd name="T31" fmla="*/ 110 h 219"/>
                <a:gd name="T32" fmla="*/ 163 w 264"/>
                <a:gd name="T33" fmla="*/ 8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4" h="219">
                  <a:moveTo>
                    <a:pt x="163" y="88"/>
                  </a:moveTo>
                  <a:cubicBezTo>
                    <a:pt x="95" y="0"/>
                    <a:pt x="95" y="0"/>
                    <a:pt x="95" y="0"/>
                  </a:cubicBezTo>
                  <a:cubicBezTo>
                    <a:pt x="76" y="0"/>
                    <a:pt x="76" y="0"/>
                    <a:pt x="76" y="0"/>
                  </a:cubicBezTo>
                  <a:cubicBezTo>
                    <a:pt x="111" y="92"/>
                    <a:pt x="111" y="92"/>
                    <a:pt x="111" y="92"/>
                  </a:cubicBezTo>
                  <a:cubicBezTo>
                    <a:pt x="39" y="98"/>
                    <a:pt x="39" y="98"/>
                    <a:pt x="39" y="98"/>
                  </a:cubicBezTo>
                  <a:cubicBezTo>
                    <a:pt x="13" y="72"/>
                    <a:pt x="13" y="72"/>
                    <a:pt x="13" y="72"/>
                  </a:cubicBezTo>
                  <a:cubicBezTo>
                    <a:pt x="0" y="72"/>
                    <a:pt x="0" y="72"/>
                    <a:pt x="0" y="72"/>
                  </a:cubicBezTo>
                  <a:cubicBezTo>
                    <a:pt x="11" y="110"/>
                    <a:pt x="11" y="110"/>
                    <a:pt x="11" y="110"/>
                  </a:cubicBezTo>
                  <a:cubicBezTo>
                    <a:pt x="0" y="147"/>
                    <a:pt x="0" y="147"/>
                    <a:pt x="0" y="147"/>
                  </a:cubicBezTo>
                  <a:cubicBezTo>
                    <a:pt x="13" y="147"/>
                    <a:pt x="13" y="147"/>
                    <a:pt x="13" y="147"/>
                  </a:cubicBezTo>
                  <a:cubicBezTo>
                    <a:pt x="39" y="121"/>
                    <a:pt x="39" y="121"/>
                    <a:pt x="39" y="121"/>
                  </a:cubicBezTo>
                  <a:cubicBezTo>
                    <a:pt x="111" y="127"/>
                    <a:pt x="111" y="127"/>
                    <a:pt x="111" y="127"/>
                  </a:cubicBezTo>
                  <a:cubicBezTo>
                    <a:pt x="76" y="219"/>
                    <a:pt x="76" y="219"/>
                    <a:pt x="76" y="219"/>
                  </a:cubicBezTo>
                  <a:cubicBezTo>
                    <a:pt x="95" y="219"/>
                    <a:pt x="95" y="219"/>
                    <a:pt x="95" y="219"/>
                  </a:cubicBezTo>
                  <a:cubicBezTo>
                    <a:pt x="163" y="132"/>
                    <a:pt x="163" y="132"/>
                    <a:pt x="163" y="132"/>
                  </a:cubicBezTo>
                  <a:cubicBezTo>
                    <a:pt x="239" y="134"/>
                    <a:pt x="264" y="110"/>
                    <a:pt x="264" y="110"/>
                  </a:cubicBezTo>
                  <a:cubicBezTo>
                    <a:pt x="264" y="110"/>
                    <a:pt x="239" y="85"/>
                    <a:pt x="163" y="88"/>
                  </a:cubicBezTo>
                  <a:close/>
                </a:path>
              </a:pathLst>
            </a:custGeom>
            <a:grpFill/>
            <a:ln>
              <a:noFill/>
            </a:ln>
          </p:spPr>
          <p:txBody>
            <a:bodyPr vert="horz" wrap="square" lIns="80165" tIns="40082" rIns="80165" bIns="40082" numCol="1" anchor="t" anchorCtr="0" compatLnSpc="1">
              <a:prstTxWarp prst="textNoShape">
                <a:avLst/>
              </a:prstTxWarp>
            </a:bodyPr>
            <a:lstStyle/>
            <a:p>
              <a:pPr defTabSz="801654">
                <a:defRPr/>
              </a:pPr>
              <a:endParaRPr lang="de-DE" sz="1578">
                <a:solidFill>
                  <a:srgbClr val="FFFFFF"/>
                </a:solidFill>
                <a:latin typeface="Arial"/>
              </a:endParaRPr>
            </a:p>
          </p:txBody>
        </p:sp>
        <p:sp>
          <p:nvSpPr>
            <p:cNvPr id="14" name="Freeform 6"/>
            <p:cNvSpPr>
              <a:spLocks/>
            </p:cNvSpPr>
            <p:nvPr/>
          </p:nvSpPr>
          <p:spPr bwMode="auto">
            <a:xfrm rot="19945268">
              <a:off x="9583686" y="2680292"/>
              <a:ext cx="1397330" cy="1157965"/>
            </a:xfrm>
            <a:custGeom>
              <a:avLst/>
              <a:gdLst>
                <a:gd name="T0" fmla="*/ 163 w 264"/>
                <a:gd name="T1" fmla="*/ 88 h 219"/>
                <a:gd name="T2" fmla="*/ 95 w 264"/>
                <a:gd name="T3" fmla="*/ 0 h 219"/>
                <a:gd name="T4" fmla="*/ 76 w 264"/>
                <a:gd name="T5" fmla="*/ 0 h 219"/>
                <a:gd name="T6" fmla="*/ 111 w 264"/>
                <a:gd name="T7" fmla="*/ 92 h 219"/>
                <a:gd name="T8" fmla="*/ 39 w 264"/>
                <a:gd name="T9" fmla="*/ 98 h 219"/>
                <a:gd name="T10" fmla="*/ 13 w 264"/>
                <a:gd name="T11" fmla="*/ 72 h 219"/>
                <a:gd name="T12" fmla="*/ 0 w 264"/>
                <a:gd name="T13" fmla="*/ 72 h 219"/>
                <a:gd name="T14" fmla="*/ 11 w 264"/>
                <a:gd name="T15" fmla="*/ 110 h 219"/>
                <a:gd name="T16" fmla="*/ 0 w 264"/>
                <a:gd name="T17" fmla="*/ 147 h 219"/>
                <a:gd name="T18" fmla="*/ 13 w 264"/>
                <a:gd name="T19" fmla="*/ 147 h 219"/>
                <a:gd name="T20" fmla="*/ 39 w 264"/>
                <a:gd name="T21" fmla="*/ 121 h 219"/>
                <a:gd name="T22" fmla="*/ 111 w 264"/>
                <a:gd name="T23" fmla="*/ 127 h 219"/>
                <a:gd name="T24" fmla="*/ 76 w 264"/>
                <a:gd name="T25" fmla="*/ 219 h 219"/>
                <a:gd name="T26" fmla="*/ 95 w 264"/>
                <a:gd name="T27" fmla="*/ 219 h 219"/>
                <a:gd name="T28" fmla="*/ 163 w 264"/>
                <a:gd name="T29" fmla="*/ 132 h 219"/>
                <a:gd name="T30" fmla="*/ 264 w 264"/>
                <a:gd name="T31" fmla="*/ 110 h 219"/>
                <a:gd name="T32" fmla="*/ 163 w 264"/>
                <a:gd name="T33" fmla="*/ 8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4" h="219">
                  <a:moveTo>
                    <a:pt x="163" y="88"/>
                  </a:moveTo>
                  <a:cubicBezTo>
                    <a:pt x="95" y="0"/>
                    <a:pt x="95" y="0"/>
                    <a:pt x="95" y="0"/>
                  </a:cubicBezTo>
                  <a:cubicBezTo>
                    <a:pt x="76" y="0"/>
                    <a:pt x="76" y="0"/>
                    <a:pt x="76" y="0"/>
                  </a:cubicBezTo>
                  <a:cubicBezTo>
                    <a:pt x="111" y="92"/>
                    <a:pt x="111" y="92"/>
                    <a:pt x="111" y="92"/>
                  </a:cubicBezTo>
                  <a:cubicBezTo>
                    <a:pt x="39" y="98"/>
                    <a:pt x="39" y="98"/>
                    <a:pt x="39" y="98"/>
                  </a:cubicBezTo>
                  <a:cubicBezTo>
                    <a:pt x="13" y="72"/>
                    <a:pt x="13" y="72"/>
                    <a:pt x="13" y="72"/>
                  </a:cubicBezTo>
                  <a:cubicBezTo>
                    <a:pt x="0" y="72"/>
                    <a:pt x="0" y="72"/>
                    <a:pt x="0" y="72"/>
                  </a:cubicBezTo>
                  <a:cubicBezTo>
                    <a:pt x="11" y="110"/>
                    <a:pt x="11" y="110"/>
                    <a:pt x="11" y="110"/>
                  </a:cubicBezTo>
                  <a:cubicBezTo>
                    <a:pt x="0" y="147"/>
                    <a:pt x="0" y="147"/>
                    <a:pt x="0" y="147"/>
                  </a:cubicBezTo>
                  <a:cubicBezTo>
                    <a:pt x="13" y="147"/>
                    <a:pt x="13" y="147"/>
                    <a:pt x="13" y="147"/>
                  </a:cubicBezTo>
                  <a:cubicBezTo>
                    <a:pt x="39" y="121"/>
                    <a:pt x="39" y="121"/>
                    <a:pt x="39" y="121"/>
                  </a:cubicBezTo>
                  <a:cubicBezTo>
                    <a:pt x="111" y="127"/>
                    <a:pt x="111" y="127"/>
                    <a:pt x="111" y="127"/>
                  </a:cubicBezTo>
                  <a:cubicBezTo>
                    <a:pt x="76" y="219"/>
                    <a:pt x="76" y="219"/>
                    <a:pt x="76" y="219"/>
                  </a:cubicBezTo>
                  <a:cubicBezTo>
                    <a:pt x="95" y="219"/>
                    <a:pt x="95" y="219"/>
                    <a:pt x="95" y="219"/>
                  </a:cubicBezTo>
                  <a:cubicBezTo>
                    <a:pt x="163" y="132"/>
                    <a:pt x="163" y="132"/>
                    <a:pt x="163" y="132"/>
                  </a:cubicBezTo>
                  <a:cubicBezTo>
                    <a:pt x="239" y="134"/>
                    <a:pt x="264" y="110"/>
                    <a:pt x="264" y="110"/>
                  </a:cubicBezTo>
                  <a:cubicBezTo>
                    <a:pt x="264" y="110"/>
                    <a:pt x="239" y="85"/>
                    <a:pt x="163" y="88"/>
                  </a:cubicBezTo>
                  <a:close/>
                </a:path>
              </a:pathLst>
            </a:custGeom>
            <a:grpFill/>
            <a:ln>
              <a:noFill/>
            </a:ln>
          </p:spPr>
          <p:txBody>
            <a:bodyPr vert="horz" wrap="square" lIns="80165" tIns="40082" rIns="80165" bIns="40082" numCol="1" anchor="t" anchorCtr="0" compatLnSpc="1">
              <a:prstTxWarp prst="textNoShape">
                <a:avLst/>
              </a:prstTxWarp>
            </a:bodyPr>
            <a:lstStyle/>
            <a:p>
              <a:pPr defTabSz="801654">
                <a:defRPr/>
              </a:pPr>
              <a:endParaRPr lang="de-DE" sz="1578">
                <a:solidFill>
                  <a:srgbClr val="FFFFFF"/>
                </a:solidFill>
                <a:latin typeface="Arial"/>
              </a:endParaRPr>
            </a:p>
          </p:txBody>
        </p:sp>
      </p:grpSp>
      <p:graphicFrame>
        <p:nvGraphicFramePr>
          <p:cNvPr id="15" name="Table 1"/>
          <p:cNvGraphicFramePr>
            <a:graphicFrameLocks noGrp="1"/>
          </p:cNvGraphicFramePr>
          <p:nvPr>
            <p:extLst>
              <p:ext uri="{D42A27DB-BD31-4B8C-83A1-F6EECF244321}">
                <p14:modId xmlns:p14="http://schemas.microsoft.com/office/powerpoint/2010/main" val="1789027907"/>
              </p:ext>
            </p:extLst>
          </p:nvPr>
        </p:nvGraphicFramePr>
        <p:xfrm>
          <a:off x="750959" y="2522702"/>
          <a:ext cx="4310989" cy="2503770"/>
        </p:xfrm>
        <a:graphic>
          <a:graphicData uri="http://schemas.openxmlformats.org/drawingml/2006/table">
            <a:tbl>
              <a:tblPr firstRow="1" bandRow="1"/>
              <a:tblGrid>
                <a:gridCol w="4310989">
                  <a:extLst>
                    <a:ext uri="{9D8B030D-6E8A-4147-A177-3AD203B41FA5}">
                      <a16:colId xmlns:a16="http://schemas.microsoft.com/office/drawing/2014/main" val="20000"/>
                    </a:ext>
                  </a:extLst>
                </a:gridCol>
              </a:tblGrid>
              <a:tr h="417295">
                <a:tc>
                  <a:txBody>
                    <a:bodyPr/>
                    <a:lstStyle>
                      <a:lvl1pPr marL="0" algn="l" defTabSz="1219170" rtl="0" eaLnBrk="1" latinLnBrk="0" hangingPunct="1">
                        <a:defRPr sz="2400" b="1" kern="1200">
                          <a:solidFill>
                            <a:schemeClr val="lt1"/>
                          </a:solidFill>
                          <a:latin typeface="Arial"/>
                        </a:defRPr>
                      </a:lvl1pPr>
                      <a:lvl2pPr marL="609585" algn="l" defTabSz="1219170" rtl="0" eaLnBrk="1" latinLnBrk="0" hangingPunct="1">
                        <a:defRPr sz="2400" b="1" kern="1200">
                          <a:solidFill>
                            <a:schemeClr val="lt1"/>
                          </a:solidFill>
                          <a:latin typeface="Arial"/>
                        </a:defRPr>
                      </a:lvl2pPr>
                      <a:lvl3pPr marL="1219170" algn="l" defTabSz="1219170" rtl="0" eaLnBrk="1" latinLnBrk="0" hangingPunct="1">
                        <a:defRPr sz="2400" b="1" kern="1200">
                          <a:solidFill>
                            <a:schemeClr val="lt1"/>
                          </a:solidFill>
                          <a:latin typeface="Arial"/>
                        </a:defRPr>
                      </a:lvl3pPr>
                      <a:lvl4pPr marL="1828754" algn="l" defTabSz="1219170" rtl="0" eaLnBrk="1" latinLnBrk="0" hangingPunct="1">
                        <a:defRPr sz="2400" b="1" kern="1200">
                          <a:solidFill>
                            <a:schemeClr val="lt1"/>
                          </a:solidFill>
                          <a:latin typeface="Arial"/>
                        </a:defRPr>
                      </a:lvl4pPr>
                      <a:lvl5pPr marL="2438339" algn="l" defTabSz="1219170" rtl="0" eaLnBrk="1" latinLnBrk="0" hangingPunct="1">
                        <a:defRPr sz="2400" b="1" kern="1200">
                          <a:solidFill>
                            <a:schemeClr val="lt1"/>
                          </a:solidFill>
                          <a:latin typeface="Arial"/>
                        </a:defRPr>
                      </a:lvl5pPr>
                      <a:lvl6pPr marL="3047924" algn="l" defTabSz="1219170" rtl="0" eaLnBrk="1" latinLnBrk="0" hangingPunct="1">
                        <a:defRPr sz="2400" b="1" kern="1200">
                          <a:solidFill>
                            <a:schemeClr val="lt1"/>
                          </a:solidFill>
                          <a:latin typeface="Arial"/>
                        </a:defRPr>
                      </a:lvl6pPr>
                      <a:lvl7pPr marL="3657509" algn="l" defTabSz="1219170" rtl="0" eaLnBrk="1" latinLnBrk="0" hangingPunct="1">
                        <a:defRPr sz="2400" b="1" kern="1200">
                          <a:solidFill>
                            <a:schemeClr val="lt1"/>
                          </a:solidFill>
                          <a:latin typeface="Arial"/>
                        </a:defRPr>
                      </a:lvl7pPr>
                      <a:lvl8pPr marL="4267093" algn="l" defTabSz="1219170" rtl="0" eaLnBrk="1" latinLnBrk="0" hangingPunct="1">
                        <a:defRPr sz="2400" b="1" kern="1200">
                          <a:solidFill>
                            <a:schemeClr val="lt1"/>
                          </a:solidFill>
                          <a:latin typeface="Arial"/>
                        </a:defRPr>
                      </a:lvl8pPr>
                      <a:lvl9pPr marL="4876678" algn="l" defTabSz="1219170" rtl="0" eaLnBrk="1" latinLnBrk="0" hangingPunct="1">
                        <a:defRPr sz="2400" b="1" kern="1200">
                          <a:solidFill>
                            <a:schemeClr val="lt1"/>
                          </a:solidFill>
                          <a:latin typeface="Arial"/>
                        </a:defRPr>
                      </a:lvl9pPr>
                    </a:lstStyle>
                    <a:p>
                      <a:pPr marL="457200" marR="0" indent="0" algn="l" defTabSz="914400" rtl="0" eaLnBrk="1" fontAlgn="auto" latinLnBrk="0" hangingPunct="1">
                        <a:lnSpc>
                          <a:spcPct val="100000"/>
                        </a:lnSpc>
                        <a:spcBef>
                          <a:spcPts val="0"/>
                        </a:spcBef>
                        <a:spcAft>
                          <a:spcPts val="0"/>
                        </a:spcAft>
                        <a:buClrTx/>
                        <a:buSzTx/>
                        <a:buFontTx/>
                        <a:buNone/>
                        <a:tabLst/>
                        <a:defRPr/>
                      </a:pPr>
                      <a:r>
                        <a:rPr lang="en-US" sz="1500" b="0" i="1" kern="1200" dirty="0">
                          <a:solidFill>
                            <a:schemeClr val="tx1"/>
                          </a:solidFill>
                          <a:effectLst/>
                          <a:latin typeface="+mj-lt"/>
                          <a:ea typeface="+mn-ea"/>
                          <a:cs typeface="+mn-cs"/>
                        </a:rPr>
                        <a:t>Background</a:t>
                      </a:r>
                      <a:r>
                        <a:rPr lang="en-US" sz="1500" b="0" i="1" kern="1200" baseline="0" dirty="0">
                          <a:solidFill>
                            <a:schemeClr val="tx1"/>
                          </a:solidFill>
                          <a:effectLst/>
                          <a:latin typeface="+mj-lt"/>
                          <a:ea typeface="+mn-ea"/>
                          <a:cs typeface="+mn-cs"/>
                        </a:rPr>
                        <a:t> and Context</a:t>
                      </a:r>
                      <a:endParaRPr lang="en-US" sz="1500" b="0" i="1" kern="1200" dirty="0">
                        <a:solidFill>
                          <a:schemeClr val="tx1"/>
                        </a:solidFill>
                        <a:effectLst/>
                        <a:latin typeface="+mj-lt"/>
                        <a:ea typeface="+mn-ea"/>
                        <a:cs typeface="+mn-cs"/>
                      </a:endParaRPr>
                    </a:p>
                  </a:txBody>
                  <a:tcPr marL="66074" marR="66074" marT="32064" marB="320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7295">
                <a:tc>
                  <a:txBody>
                    <a:bodyPr/>
                    <a:lstStyle>
                      <a:lvl1pPr marL="0" algn="l" defTabSz="1219170" rtl="0" eaLnBrk="1" latinLnBrk="0" hangingPunct="1">
                        <a:defRPr sz="2400" kern="1200">
                          <a:solidFill>
                            <a:schemeClr val="dk1"/>
                          </a:solidFill>
                          <a:latin typeface="Arial"/>
                        </a:defRPr>
                      </a:lvl1pPr>
                      <a:lvl2pPr marL="609585" algn="l" defTabSz="1219170" rtl="0" eaLnBrk="1" latinLnBrk="0" hangingPunct="1">
                        <a:defRPr sz="2400" kern="1200">
                          <a:solidFill>
                            <a:schemeClr val="dk1"/>
                          </a:solidFill>
                          <a:latin typeface="Arial"/>
                        </a:defRPr>
                      </a:lvl2pPr>
                      <a:lvl3pPr marL="1219170" algn="l" defTabSz="1219170" rtl="0" eaLnBrk="1" latinLnBrk="0" hangingPunct="1">
                        <a:defRPr sz="2400" kern="1200">
                          <a:solidFill>
                            <a:schemeClr val="dk1"/>
                          </a:solidFill>
                          <a:latin typeface="Arial"/>
                        </a:defRPr>
                      </a:lvl3pPr>
                      <a:lvl4pPr marL="1828754" algn="l" defTabSz="1219170" rtl="0" eaLnBrk="1" latinLnBrk="0" hangingPunct="1">
                        <a:defRPr sz="2400" kern="1200">
                          <a:solidFill>
                            <a:schemeClr val="dk1"/>
                          </a:solidFill>
                          <a:latin typeface="Arial"/>
                        </a:defRPr>
                      </a:lvl4pPr>
                      <a:lvl5pPr marL="2438339" algn="l" defTabSz="1219170" rtl="0" eaLnBrk="1" latinLnBrk="0" hangingPunct="1">
                        <a:defRPr sz="2400" kern="1200">
                          <a:solidFill>
                            <a:schemeClr val="dk1"/>
                          </a:solidFill>
                          <a:latin typeface="Arial"/>
                        </a:defRPr>
                      </a:lvl5pPr>
                      <a:lvl6pPr marL="3047924" algn="l" defTabSz="1219170" rtl="0" eaLnBrk="1" latinLnBrk="0" hangingPunct="1">
                        <a:defRPr sz="2400" kern="1200">
                          <a:solidFill>
                            <a:schemeClr val="dk1"/>
                          </a:solidFill>
                          <a:latin typeface="Arial"/>
                        </a:defRPr>
                      </a:lvl6pPr>
                      <a:lvl7pPr marL="3657509" algn="l" defTabSz="1219170" rtl="0" eaLnBrk="1" latinLnBrk="0" hangingPunct="1">
                        <a:defRPr sz="2400" kern="1200">
                          <a:solidFill>
                            <a:schemeClr val="dk1"/>
                          </a:solidFill>
                          <a:latin typeface="Arial"/>
                        </a:defRPr>
                      </a:lvl7pPr>
                      <a:lvl8pPr marL="4267093" algn="l" defTabSz="1219170" rtl="0" eaLnBrk="1" latinLnBrk="0" hangingPunct="1">
                        <a:defRPr sz="2400" kern="1200">
                          <a:solidFill>
                            <a:schemeClr val="dk1"/>
                          </a:solidFill>
                          <a:latin typeface="Arial"/>
                        </a:defRPr>
                      </a:lvl8pPr>
                      <a:lvl9pPr marL="4876678" algn="l" defTabSz="1219170" rtl="0" eaLnBrk="1" latinLnBrk="0" hangingPunct="1">
                        <a:defRPr sz="2400" kern="1200">
                          <a:solidFill>
                            <a:schemeClr val="dk1"/>
                          </a:solidFill>
                          <a:latin typeface="Arial"/>
                        </a:defRPr>
                      </a:lvl9pPr>
                    </a:lstStyle>
                    <a:p>
                      <a:pPr marL="457200" marR="0" lvl="0" indent="0" algn="l" defTabSz="914400" rtl="0" eaLnBrk="1" fontAlgn="auto" latinLnBrk="0" hangingPunct="1">
                        <a:lnSpc>
                          <a:spcPct val="100000"/>
                        </a:lnSpc>
                        <a:spcBef>
                          <a:spcPts val="0"/>
                        </a:spcBef>
                        <a:spcAft>
                          <a:spcPts val="0"/>
                        </a:spcAft>
                        <a:buClrTx/>
                        <a:buSzTx/>
                        <a:buFontTx/>
                        <a:buNone/>
                        <a:tabLst/>
                        <a:defRPr/>
                      </a:pPr>
                      <a:r>
                        <a:rPr lang="en-US" sz="1500" b="0" i="1" dirty="0">
                          <a:solidFill>
                            <a:schemeClr val="tx1"/>
                          </a:solidFill>
                          <a:latin typeface="+mj-lt"/>
                        </a:rPr>
                        <a:t>Our understanding</a:t>
                      </a:r>
                      <a:r>
                        <a:rPr lang="en-US" sz="1500" b="0" i="1" baseline="0" dirty="0">
                          <a:solidFill>
                            <a:schemeClr val="tx1"/>
                          </a:solidFill>
                          <a:latin typeface="+mj-lt"/>
                        </a:rPr>
                        <a:t> of the Project</a:t>
                      </a:r>
                      <a:endParaRPr lang="en-IN" sz="1500" b="0" i="1" dirty="0">
                        <a:solidFill>
                          <a:schemeClr val="tx1"/>
                        </a:solidFill>
                        <a:latin typeface="+mj-lt"/>
                      </a:endParaRPr>
                    </a:p>
                  </a:txBody>
                  <a:tcPr marL="66074" marR="66074" marT="32064" marB="320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17295">
                <a:tc>
                  <a:txBody>
                    <a:bodyPr/>
                    <a:lstStyle>
                      <a:lvl1pPr marL="0" algn="l" defTabSz="1219170" rtl="0" eaLnBrk="1" latinLnBrk="0" hangingPunct="1">
                        <a:defRPr sz="2400" kern="1200">
                          <a:solidFill>
                            <a:schemeClr val="dk1"/>
                          </a:solidFill>
                          <a:latin typeface="Arial"/>
                        </a:defRPr>
                      </a:lvl1pPr>
                      <a:lvl2pPr marL="609585" algn="l" defTabSz="1219170" rtl="0" eaLnBrk="1" latinLnBrk="0" hangingPunct="1">
                        <a:defRPr sz="2400" kern="1200">
                          <a:solidFill>
                            <a:schemeClr val="dk1"/>
                          </a:solidFill>
                          <a:latin typeface="Arial"/>
                        </a:defRPr>
                      </a:lvl2pPr>
                      <a:lvl3pPr marL="1219170" algn="l" defTabSz="1219170" rtl="0" eaLnBrk="1" latinLnBrk="0" hangingPunct="1">
                        <a:defRPr sz="2400" kern="1200">
                          <a:solidFill>
                            <a:schemeClr val="dk1"/>
                          </a:solidFill>
                          <a:latin typeface="Arial"/>
                        </a:defRPr>
                      </a:lvl3pPr>
                      <a:lvl4pPr marL="1828754" algn="l" defTabSz="1219170" rtl="0" eaLnBrk="1" latinLnBrk="0" hangingPunct="1">
                        <a:defRPr sz="2400" kern="1200">
                          <a:solidFill>
                            <a:schemeClr val="dk1"/>
                          </a:solidFill>
                          <a:latin typeface="Arial"/>
                        </a:defRPr>
                      </a:lvl4pPr>
                      <a:lvl5pPr marL="2438339" algn="l" defTabSz="1219170" rtl="0" eaLnBrk="1" latinLnBrk="0" hangingPunct="1">
                        <a:defRPr sz="2400" kern="1200">
                          <a:solidFill>
                            <a:schemeClr val="dk1"/>
                          </a:solidFill>
                          <a:latin typeface="Arial"/>
                        </a:defRPr>
                      </a:lvl5pPr>
                      <a:lvl6pPr marL="3047924" algn="l" defTabSz="1219170" rtl="0" eaLnBrk="1" latinLnBrk="0" hangingPunct="1">
                        <a:defRPr sz="2400" kern="1200">
                          <a:solidFill>
                            <a:schemeClr val="dk1"/>
                          </a:solidFill>
                          <a:latin typeface="Arial"/>
                        </a:defRPr>
                      </a:lvl6pPr>
                      <a:lvl7pPr marL="3657509" algn="l" defTabSz="1219170" rtl="0" eaLnBrk="1" latinLnBrk="0" hangingPunct="1">
                        <a:defRPr sz="2400" kern="1200">
                          <a:solidFill>
                            <a:schemeClr val="dk1"/>
                          </a:solidFill>
                          <a:latin typeface="Arial"/>
                        </a:defRPr>
                      </a:lvl7pPr>
                      <a:lvl8pPr marL="4267093" algn="l" defTabSz="1219170" rtl="0" eaLnBrk="1" latinLnBrk="0" hangingPunct="1">
                        <a:defRPr sz="2400" kern="1200">
                          <a:solidFill>
                            <a:schemeClr val="dk1"/>
                          </a:solidFill>
                          <a:latin typeface="Arial"/>
                        </a:defRPr>
                      </a:lvl8pPr>
                      <a:lvl9pPr marL="4876678" algn="l" defTabSz="1219170" rtl="0" eaLnBrk="1" latinLnBrk="0" hangingPunct="1">
                        <a:defRPr sz="2400" kern="1200">
                          <a:solidFill>
                            <a:schemeClr val="dk1"/>
                          </a:solidFill>
                          <a:latin typeface="Arial"/>
                        </a:defRPr>
                      </a:lvl9pPr>
                    </a:lstStyle>
                    <a:p>
                      <a:pPr marL="457200" marR="0" lvl="0" indent="0" algn="l" defTabSz="914400" rtl="0" eaLnBrk="1" fontAlgn="auto" latinLnBrk="0" hangingPunct="1">
                        <a:lnSpc>
                          <a:spcPct val="100000"/>
                        </a:lnSpc>
                        <a:spcBef>
                          <a:spcPts val="0"/>
                        </a:spcBef>
                        <a:spcAft>
                          <a:spcPts val="0"/>
                        </a:spcAft>
                        <a:buClrTx/>
                        <a:buSzTx/>
                        <a:buFontTx/>
                        <a:buNone/>
                        <a:tabLst/>
                        <a:defRPr/>
                      </a:pPr>
                      <a:r>
                        <a:rPr lang="en-GB" sz="1500" b="0" i="1" dirty="0">
                          <a:solidFill>
                            <a:schemeClr val="tx1"/>
                          </a:solidFill>
                          <a:latin typeface="+mj-lt"/>
                        </a:rPr>
                        <a:t>Required Advisory Assistance</a:t>
                      </a:r>
                    </a:p>
                  </a:txBody>
                  <a:tcPr marL="66074" marR="66074" marT="32064" marB="320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17295">
                <a:tc>
                  <a:txBody>
                    <a:bodyPr/>
                    <a:lstStyle/>
                    <a:p>
                      <a:pPr marL="457200" indent="0"/>
                      <a:r>
                        <a:rPr lang="en-US" sz="1500" b="0" i="1" dirty="0">
                          <a:solidFill>
                            <a:schemeClr val="tx1"/>
                          </a:solidFill>
                          <a:latin typeface="+mj-lt"/>
                        </a:rPr>
                        <a:t>Our Value Proposition</a:t>
                      </a:r>
                      <a:endParaRPr lang="en-IN" sz="1500" b="0" i="1" dirty="0">
                        <a:solidFill>
                          <a:schemeClr val="tx1"/>
                        </a:solidFill>
                        <a:latin typeface="+mj-lt"/>
                      </a:endParaRPr>
                    </a:p>
                  </a:txBody>
                  <a:tcPr marL="66074" marR="66074" marT="32064" marB="320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9250969"/>
                  </a:ext>
                </a:extLst>
              </a:tr>
              <a:tr h="417295">
                <a:tc>
                  <a:txBody>
                    <a:bodyPr/>
                    <a:lstStyle>
                      <a:lvl1pPr marL="0" algn="l" defTabSz="1219170" rtl="0" eaLnBrk="1" latinLnBrk="0" hangingPunct="1">
                        <a:defRPr sz="2400" kern="1200">
                          <a:solidFill>
                            <a:schemeClr val="dk1"/>
                          </a:solidFill>
                          <a:latin typeface="Arial"/>
                        </a:defRPr>
                      </a:lvl1pPr>
                      <a:lvl2pPr marL="609585" algn="l" defTabSz="1219170" rtl="0" eaLnBrk="1" latinLnBrk="0" hangingPunct="1">
                        <a:defRPr sz="2400" kern="1200">
                          <a:solidFill>
                            <a:schemeClr val="dk1"/>
                          </a:solidFill>
                          <a:latin typeface="Arial"/>
                        </a:defRPr>
                      </a:lvl2pPr>
                      <a:lvl3pPr marL="1219170" algn="l" defTabSz="1219170" rtl="0" eaLnBrk="1" latinLnBrk="0" hangingPunct="1">
                        <a:defRPr sz="2400" kern="1200">
                          <a:solidFill>
                            <a:schemeClr val="dk1"/>
                          </a:solidFill>
                          <a:latin typeface="Arial"/>
                        </a:defRPr>
                      </a:lvl3pPr>
                      <a:lvl4pPr marL="1828754" algn="l" defTabSz="1219170" rtl="0" eaLnBrk="1" latinLnBrk="0" hangingPunct="1">
                        <a:defRPr sz="2400" kern="1200">
                          <a:solidFill>
                            <a:schemeClr val="dk1"/>
                          </a:solidFill>
                          <a:latin typeface="Arial"/>
                        </a:defRPr>
                      </a:lvl4pPr>
                      <a:lvl5pPr marL="2438339" algn="l" defTabSz="1219170" rtl="0" eaLnBrk="1" latinLnBrk="0" hangingPunct="1">
                        <a:defRPr sz="2400" kern="1200">
                          <a:solidFill>
                            <a:schemeClr val="dk1"/>
                          </a:solidFill>
                          <a:latin typeface="Arial"/>
                        </a:defRPr>
                      </a:lvl5pPr>
                      <a:lvl6pPr marL="3047924" algn="l" defTabSz="1219170" rtl="0" eaLnBrk="1" latinLnBrk="0" hangingPunct="1">
                        <a:defRPr sz="2400" kern="1200">
                          <a:solidFill>
                            <a:schemeClr val="dk1"/>
                          </a:solidFill>
                          <a:latin typeface="Arial"/>
                        </a:defRPr>
                      </a:lvl6pPr>
                      <a:lvl7pPr marL="3657509" algn="l" defTabSz="1219170" rtl="0" eaLnBrk="1" latinLnBrk="0" hangingPunct="1">
                        <a:defRPr sz="2400" kern="1200">
                          <a:solidFill>
                            <a:schemeClr val="dk1"/>
                          </a:solidFill>
                          <a:latin typeface="Arial"/>
                        </a:defRPr>
                      </a:lvl7pPr>
                      <a:lvl8pPr marL="4267093" algn="l" defTabSz="1219170" rtl="0" eaLnBrk="1" latinLnBrk="0" hangingPunct="1">
                        <a:defRPr sz="2400" kern="1200">
                          <a:solidFill>
                            <a:schemeClr val="dk1"/>
                          </a:solidFill>
                          <a:latin typeface="Arial"/>
                        </a:defRPr>
                      </a:lvl8pPr>
                      <a:lvl9pPr marL="4876678" algn="l" defTabSz="1219170" rtl="0" eaLnBrk="1" latinLnBrk="0" hangingPunct="1">
                        <a:defRPr sz="2400" kern="1200">
                          <a:solidFill>
                            <a:schemeClr val="dk1"/>
                          </a:solidFill>
                          <a:latin typeface="Arial"/>
                        </a:defRPr>
                      </a:lvl9pPr>
                    </a:lstStyle>
                    <a:p>
                      <a:pPr marL="457200" indent="0"/>
                      <a:r>
                        <a:rPr lang="en-US" sz="1500" b="0" i="1" dirty="0">
                          <a:solidFill>
                            <a:schemeClr val="tx1"/>
                          </a:solidFill>
                          <a:latin typeface="+mj-lt"/>
                        </a:rPr>
                        <a:t>Delivery</a:t>
                      </a:r>
                      <a:r>
                        <a:rPr lang="en-US" sz="1500" b="0" i="1" baseline="0" dirty="0">
                          <a:solidFill>
                            <a:schemeClr val="tx1"/>
                          </a:solidFill>
                          <a:latin typeface="+mj-lt"/>
                        </a:rPr>
                        <a:t> Timeline and Commercials</a:t>
                      </a:r>
                      <a:endParaRPr lang="en-IN" sz="1500" b="0" i="1" dirty="0">
                        <a:solidFill>
                          <a:schemeClr val="tx1"/>
                        </a:solidFill>
                        <a:latin typeface="+mj-lt"/>
                      </a:endParaRPr>
                    </a:p>
                  </a:txBody>
                  <a:tcPr marL="66074" marR="66074" marT="32064" marB="320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17295">
                <a:tc>
                  <a:txBody>
                    <a:bodyPr/>
                    <a:lstStyle/>
                    <a:p>
                      <a:pPr marL="457200" indent="0"/>
                      <a:r>
                        <a:rPr lang="en-US" sz="1500" b="0" i="1" dirty="0">
                          <a:solidFill>
                            <a:schemeClr val="tx1"/>
                          </a:solidFill>
                          <a:latin typeface="+mj-lt"/>
                        </a:rPr>
                        <a:t>About Deloitte</a:t>
                      </a:r>
                      <a:endParaRPr lang="en-IN" sz="1500" b="0" i="1" dirty="0">
                        <a:solidFill>
                          <a:schemeClr val="tx1"/>
                        </a:solidFill>
                        <a:latin typeface="+mj-lt"/>
                      </a:endParaRPr>
                    </a:p>
                  </a:txBody>
                  <a:tcPr marL="66074" marR="66074" marT="32064" marB="320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4237308"/>
                  </a:ext>
                </a:extLst>
              </a:tr>
            </a:tbl>
          </a:graphicData>
        </a:graphic>
      </p:graphicFrame>
    </p:spTree>
    <p:extLst>
      <p:ext uri="{BB962C8B-B14F-4D97-AF65-F5344CB8AC3E}">
        <p14:creationId xmlns:p14="http://schemas.microsoft.com/office/powerpoint/2010/main" val="424361068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626" y="0"/>
            <a:ext cx="10685012" cy="7562849"/>
          </a:xfrm>
          <a:prstGeom prst="rect">
            <a:avLst/>
          </a:prstGeom>
        </p:spPr>
      </p:pic>
      <p:sp>
        <p:nvSpPr>
          <p:cNvPr id="6" name="Trapezoid 5"/>
          <p:cNvSpPr/>
          <p:nvPr/>
        </p:nvSpPr>
        <p:spPr bwMode="gray">
          <a:xfrm rot="16200000" flipH="1">
            <a:off x="2341681" y="4214894"/>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 name="Trapezoid 6"/>
          <p:cNvSpPr/>
          <p:nvPr/>
        </p:nvSpPr>
        <p:spPr bwMode="gray">
          <a:xfrm rot="5400000">
            <a:off x="3646881" y="4214893"/>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 name="object 3"/>
          <p:cNvSpPr/>
          <p:nvPr/>
        </p:nvSpPr>
        <p:spPr>
          <a:xfrm>
            <a:off x="3898921" y="3962399"/>
            <a:ext cx="6789717" cy="723456"/>
          </a:xfrm>
          <a:custGeom>
            <a:avLst/>
            <a:gdLst/>
            <a:ahLst/>
            <a:cxnLst/>
            <a:rect l="l" t="t" r="r" b="b"/>
            <a:pathLst>
              <a:path w="6320155" h="1188720">
                <a:moveTo>
                  <a:pt x="0" y="1188720"/>
                </a:moveTo>
                <a:lnTo>
                  <a:pt x="6320027" y="1188720"/>
                </a:lnTo>
                <a:lnTo>
                  <a:pt x="6320027" y="0"/>
                </a:lnTo>
                <a:lnTo>
                  <a:pt x="0" y="0"/>
                </a:lnTo>
                <a:lnTo>
                  <a:pt x="0" y="1188720"/>
                </a:lnTo>
                <a:close/>
              </a:path>
            </a:pathLst>
          </a:custGeom>
          <a:solidFill>
            <a:schemeClr val="bg1"/>
          </a:solidFill>
        </p:spPr>
        <p:txBody>
          <a:bodyPr wrap="square" lIns="0" tIns="0" rIns="0" bIns="0" rtlCol="0"/>
          <a:lstStyle/>
          <a:p>
            <a:endParaRPr lang="en-GB" sz="2197" dirty="0"/>
          </a:p>
        </p:txBody>
      </p:sp>
      <p:sp>
        <p:nvSpPr>
          <p:cNvPr id="9" name="object 4"/>
          <p:cNvSpPr txBox="1"/>
          <p:nvPr/>
        </p:nvSpPr>
        <p:spPr>
          <a:xfrm>
            <a:off x="4597867" y="4130861"/>
            <a:ext cx="5588123" cy="369332"/>
          </a:xfrm>
          <a:prstGeom prst="rect">
            <a:avLst/>
          </a:prstGeom>
        </p:spPr>
        <p:txBody>
          <a:bodyPr vert="horz" wrap="square" lIns="0" tIns="0" rIns="0" bIns="0" rtlCol="0">
            <a:spAutoFit/>
          </a:bodyPr>
          <a:lstStyle/>
          <a:p>
            <a:pPr defTabSz="893203"/>
            <a:r>
              <a:rPr lang="en-US" sz="2400" dirty="0">
                <a:latin typeface="Verdana" panose="020B0604030504040204" pitchFamily="34" charset="0"/>
                <a:ea typeface="Verdana" panose="020B0604030504040204" pitchFamily="34" charset="0"/>
                <a:cs typeface="Verdana" panose="020B0604030504040204" pitchFamily="34" charset="0"/>
              </a:rPr>
              <a:t>Background and Context</a:t>
            </a:r>
          </a:p>
        </p:txBody>
      </p:sp>
      <p:sp>
        <p:nvSpPr>
          <p:cNvPr id="10" name="object 5"/>
          <p:cNvSpPr/>
          <p:nvPr/>
        </p:nvSpPr>
        <p:spPr>
          <a:xfrm>
            <a:off x="3008354" y="3764700"/>
            <a:ext cx="1099624" cy="1118854"/>
          </a:xfrm>
          <a:custGeom>
            <a:avLst/>
            <a:gdLst/>
            <a:ahLst/>
            <a:cxnLst/>
            <a:rect l="l" t="t" r="r" b="b"/>
            <a:pathLst>
              <a:path w="1458595" h="1188720">
                <a:moveTo>
                  <a:pt x="0" y="1188720"/>
                </a:moveTo>
                <a:lnTo>
                  <a:pt x="1458467" y="1188720"/>
                </a:lnTo>
                <a:lnTo>
                  <a:pt x="1458467" y="0"/>
                </a:lnTo>
                <a:lnTo>
                  <a:pt x="0" y="0"/>
                </a:lnTo>
                <a:lnTo>
                  <a:pt x="0" y="1188720"/>
                </a:lnTo>
                <a:close/>
              </a:path>
            </a:pathLst>
          </a:custGeom>
          <a:solidFill>
            <a:srgbClr val="00A0DE"/>
          </a:solidFill>
        </p:spPr>
        <p:txBody>
          <a:bodyPr wrap="square" lIns="0" tIns="0" rIns="0" bIns="0" rtlCol="0"/>
          <a:lstStyle/>
          <a:p>
            <a:endParaRPr lang="en-GB" sz="2197" dirty="0"/>
          </a:p>
        </p:txBody>
      </p:sp>
      <p:sp>
        <p:nvSpPr>
          <p:cNvPr id="14" name="Rectangle 13"/>
          <p:cNvSpPr/>
          <p:nvPr/>
        </p:nvSpPr>
        <p:spPr bwMode="gray">
          <a:xfrm>
            <a:off x="0" y="3962400"/>
            <a:ext cx="2800315" cy="72345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 name="Group 583"/>
          <p:cNvGrpSpPr>
            <a:grpSpLocks noChangeAspect="1"/>
          </p:cNvGrpSpPr>
          <p:nvPr/>
        </p:nvGrpSpPr>
        <p:grpSpPr bwMode="auto">
          <a:xfrm>
            <a:off x="3054802" y="3828134"/>
            <a:ext cx="992911" cy="990000"/>
            <a:chOff x="1138" y="1953"/>
            <a:chExt cx="341" cy="340"/>
          </a:xfrm>
          <a:solidFill>
            <a:schemeClr val="bg1"/>
          </a:solidFill>
        </p:grpSpPr>
        <p:sp>
          <p:nvSpPr>
            <p:cNvPr id="36" name="Freeform 584"/>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585"/>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24"/>
          <p:cNvGrpSpPr/>
          <p:nvPr/>
        </p:nvGrpSpPr>
        <p:grpSpPr>
          <a:xfrm>
            <a:off x="662032" y="4119931"/>
            <a:ext cx="1998746" cy="443146"/>
            <a:chOff x="662032" y="4119931"/>
            <a:chExt cx="1998746" cy="443146"/>
          </a:xfrm>
        </p:grpSpPr>
        <p:grpSp>
          <p:nvGrpSpPr>
            <p:cNvPr id="26" name="Group 309"/>
            <p:cNvGrpSpPr>
              <a:grpSpLocks noChangeAspect="1"/>
            </p:cNvGrpSpPr>
            <p:nvPr/>
          </p:nvGrpSpPr>
          <p:grpSpPr bwMode="auto">
            <a:xfrm>
              <a:off x="2223897" y="4122662"/>
              <a:ext cx="436881" cy="435600"/>
              <a:chOff x="6585" y="1193"/>
              <a:chExt cx="341" cy="340"/>
            </a:xfrm>
            <a:solidFill>
              <a:srgbClr val="00A0DE"/>
            </a:solidFill>
          </p:grpSpPr>
          <p:sp>
            <p:nvSpPr>
              <p:cNvPr id="5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7" name="Group 69"/>
            <p:cNvGrpSpPr>
              <a:grpSpLocks noChangeAspect="1"/>
            </p:cNvGrpSpPr>
            <p:nvPr/>
          </p:nvGrpSpPr>
          <p:grpSpPr bwMode="auto">
            <a:xfrm>
              <a:off x="662032" y="4119931"/>
              <a:ext cx="435600" cy="435600"/>
              <a:chOff x="4334" y="1990"/>
              <a:chExt cx="340" cy="340"/>
            </a:xfrm>
            <a:solidFill>
              <a:srgbClr val="00A0DE"/>
            </a:solidFill>
          </p:grpSpPr>
          <p:sp>
            <p:nvSpPr>
              <p:cNvPr id="41" name="Freeform 70"/>
              <p:cNvSpPr>
                <a:spLocks noEditPoints="1"/>
              </p:cNvSpPr>
              <p:nvPr/>
            </p:nvSpPr>
            <p:spPr bwMode="auto">
              <a:xfrm>
                <a:off x="4398" y="2054"/>
                <a:ext cx="212"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70 w 320"/>
                  <a:gd name="T11" fmla="*/ 298 h 320"/>
                  <a:gd name="T12" fmla="*/ 170 w 320"/>
                  <a:gd name="T13" fmla="*/ 288 h 320"/>
                  <a:gd name="T14" fmla="*/ 160 w 320"/>
                  <a:gd name="T15" fmla="*/ 277 h 320"/>
                  <a:gd name="T16" fmla="*/ 149 w 320"/>
                  <a:gd name="T17" fmla="*/ 288 h 320"/>
                  <a:gd name="T18" fmla="*/ 149 w 320"/>
                  <a:gd name="T19" fmla="*/ 298 h 320"/>
                  <a:gd name="T20" fmla="*/ 22 w 320"/>
                  <a:gd name="T21" fmla="*/ 170 h 320"/>
                  <a:gd name="T22" fmla="*/ 32 w 320"/>
                  <a:gd name="T23" fmla="*/ 170 h 320"/>
                  <a:gd name="T24" fmla="*/ 42 w 320"/>
                  <a:gd name="T25" fmla="*/ 160 h 320"/>
                  <a:gd name="T26" fmla="*/ 32 w 320"/>
                  <a:gd name="T27" fmla="*/ 149 h 320"/>
                  <a:gd name="T28" fmla="*/ 22 w 320"/>
                  <a:gd name="T29" fmla="*/ 149 h 320"/>
                  <a:gd name="T30" fmla="*/ 149 w 320"/>
                  <a:gd name="T31" fmla="*/ 22 h 320"/>
                  <a:gd name="T32" fmla="*/ 149 w 320"/>
                  <a:gd name="T33" fmla="*/ 32 h 320"/>
                  <a:gd name="T34" fmla="*/ 160 w 320"/>
                  <a:gd name="T35" fmla="*/ 42 h 320"/>
                  <a:gd name="T36" fmla="*/ 170 w 320"/>
                  <a:gd name="T37" fmla="*/ 32 h 320"/>
                  <a:gd name="T38" fmla="*/ 170 w 320"/>
                  <a:gd name="T39" fmla="*/ 22 h 320"/>
                  <a:gd name="T40" fmla="*/ 298 w 320"/>
                  <a:gd name="T41" fmla="*/ 149 h 320"/>
                  <a:gd name="T42" fmla="*/ 288 w 320"/>
                  <a:gd name="T43" fmla="*/ 149 h 320"/>
                  <a:gd name="T44" fmla="*/ 277 w 320"/>
                  <a:gd name="T45" fmla="*/ 160 h 320"/>
                  <a:gd name="T46" fmla="*/ 288 w 320"/>
                  <a:gd name="T47" fmla="*/ 170 h 320"/>
                  <a:gd name="T48" fmla="*/ 298 w 320"/>
                  <a:gd name="T49" fmla="*/ 170 h 320"/>
                  <a:gd name="T50" fmla="*/ 170 w 320"/>
                  <a:gd name="T51" fmla="*/ 298 h 320"/>
                  <a:gd name="T52" fmla="*/ 216 w 320"/>
                  <a:gd name="T53" fmla="*/ 90 h 320"/>
                  <a:gd name="T54" fmla="*/ 133 w 320"/>
                  <a:gd name="T55" fmla="*/ 127 h 320"/>
                  <a:gd name="T56" fmla="*/ 127 w 320"/>
                  <a:gd name="T57" fmla="*/ 133 h 320"/>
                  <a:gd name="T58" fmla="*/ 90 w 320"/>
                  <a:gd name="T59" fmla="*/ 216 h 320"/>
                  <a:gd name="T60" fmla="*/ 92 w 320"/>
                  <a:gd name="T61" fmla="*/ 228 h 320"/>
                  <a:gd name="T62" fmla="*/ 99 w 320"/>
                  <a:gd name="T63" fmla="*/ 231 h 320"/>
                  <a:gd name="T64" fmla="*/ 104 w 320"/>
                  <a:gd name="T65" fmla="*/ 230 h 320"/>
                  <a:gd name="T66" fmla="*/ 187 w 320"/>
                  <a:gd name="T67" fmla="*/ 192 h 320"/>
                  <a:gd name="T68" fmla="*/ 192 w 320"/>
                  <a:gd name="T69" fmla="*/ 187 h 320"/>
                  <a:gd name="T70" fmla="*/ 230 w 320"/>
                  <a:gd name="T71" fmla="*/ 104 h 320"/>
                  <a:gd name="T72" fmla="*/ 228 w 320"/>
                  <a:gd name="T73" fmla="*/ 92 h 320"/>
                  <a:gd name="T74" fmla="*/ 216 w 320"/>
                  <a:gd name="T75" fmla="*/ 90 h 320"/>
                  <a:gd name="T76" fmla="*/ 140 w 320"/>
                  <a:gd name="T77" fmla="*/ 155 h 320"/>
                  <a:gd name="T78" fmla="*/ 164 w 320"/>
                  <a:gd name="T79" fmla="*/ 179 h 320"/>
                  <a:gd name="T80" fmla="*/ 121 w 320"/>
                  <a:gd name="T81" fmla="*/ 199 h 320"/>
                  <a:gd name="T82" fmla="*/ 140 w 320"/>
                  <a:gd name="T83" fmla="*/ 155 h 320"/>
                  <a:gd name="T84" fmla="*/ 179 w 320"/>
                  <a:gd name="T85" fmla="*/ 164 h 320"/>
                  <a:gd name="T86" fmla="*/ 155 w 320"/>
                  <a:gd name="T87" fmla="*/ 140 h 320"/>
                  <a:gd name="T88" fmla="*/ 199 w 320"/>
                  <a:gd name="T89" fmla="*/ 121 h 320"/>
                  <a:gd name="T90" fmla="*/ 179 w 320"/>
                  <a:gd name="T91" fmla="*/ 1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70" y="298"/>
                    </a:moveTo>
                    <a:cubicBezTo>
                      <a:pt x="170" y="288"/>
                      <a:pt x="170" y="288"/>
                      <a:pt x="170" y="288"/>
                    </a:cubicBezTo>
                    <a:cubicBezTo>
                      <a:pt x="170" y="282"/>
                      <a:pt x="166" y="277"/>
                      <a:pt x="160" y="277"/>
                    </a:cubicBezTo>
                    <a:cubicBezTo>
                      <a:pt x="154" y="277"/>
                      <a:pt x="149" y="282"/>
                      <a:pt x="149" y="288"/>
                    </a:cubicBezTo>
                    <a:cubicBezTo>
                      <a:pt x="149" y="298"/>
                      <a:pt x="149" y="298"/>
                      <a:pt x="149" y="298"/>
                    </a:cubicBezTo>
                    <a:cubicBezTo>
                      <a:pt x="81" y="293"/>
                      <a:pt x="27" y="238"/>
                      <a:pt x="22" y="170"/>
                    </a:cubicBezTo>
                    <a:cubicBezTo>
                      <a:pt x="32" y="170"/>
                      <a:pt x="32" y="170"/>
                      <a:pt x="32" y="170"/>
                    </a:cubicBezTo>
                    <a:cubicBezTo>
                      <a:pt x="38" y="170"/>
                      <a:pt x="42" y="166"/>
                      <a:pt x="42" y="160"/>
                    </a:cubicBezTo>
                    <a:cubicBezTo>
                      <a:pt x="42" y="154"/>
                      <a:pt x="38" y="149"/>
                      <a:pt x="32" y="149"/>
                    </a:cubicBezTo>
                    <a:cubicBezTo>
                      <a:pt x="22" y="149"/>
                      <a:pt x="22" y="149"/>
                      <a:pt x="22" y="149"/>
                    </a:cubicBezTo>
                    <a:cubicBezTo>
                      <a:pt x="27" y="81"/>
                      <a:pt x="81" y="27"/>
                      <a:pt x="149" y="22"/>
                    </a:cubicBezTo>
                    <a:cubicBezTo>
                      <a:pt x="149" y="32"/>
                      <a:pt x="149" y="32"/>
                      <a:pt x="149" y="32"/>
                    </a:cubicBezTo>
                    <a:cubicBezTo>
                      <a:pt x="149" y="38"/>
                      <a:pt x="154" y="42"/>
                      <a:pt x="160" y="42"/>
                    </a:cubicBezTo>
                    <a:cubicBezTo>
                      <a:pt x="166" y="42"/>
                      <a:pt x="170" y="38"/>
                      <a:pt x="170" y="32"/>
                    </a:cubicBezTo>
                    <a:cubicBezTo>
                      <a:pt x="170" y="22"/>
                      <a:pt x="170" y="22"/>
                      <a:pt x="170" y="22"/>
                    </a:cubicBezTo>
                    <a:cubicBezTo>
                      <a:pt x="238" y="27"/>
                      <a:pt x="293" y="81"/>
                      <a:pt x="298" y="149"/>
                    </a:cubicBezTo>
                    <a:cubicBezTo>
                      <a:pt x="288" y="149"/>
                      <a:pt x="288" y="149"/>
                      <a:pt x="288" y="149"/>
                    </a:cubicBezTo>
                    <a:cubicBezTo>
                      <a:pt x="282" y="149"/>
                      <a:pt x="277" y="154"/>
                      <a:pt x="277" y="160"/>
                    </a:cubicBezTo>
                    <a:cubicBezTo>
                      <a:pt x="277" y="166"/>
                      <a:pt x="282" y="170"/>
                      <a:pt x="288" y="170"/>
                    </a:cubicBezTo>
                    <a:cubicBezTo>
                      <a:pt x="298" y="170"/>
                      <a:pt x="298" y="170"/>
                      <a:pt x="298" y="170"/>
                    </a:cubicBezTo>
                    <a:cubicBezTo>
                      <a:pt x="293" y="238"/>
                      <a:pt x="238" y="293"/>
                      <a:pt x="170" y="298"/>
                    </a:cubicBezTo>
                    <a:close/>
                    <a:moveTo>
                      <a:pt x="216" y="90"/>
                    </a:moveTo>
                    <a:cubicBezTo>
                      <a:pt x="133" y="127"/>
                      <a:pt x="133" y="127"/>
                      <a:pt x="133" y="127"/>
                    </a:cubicBezTo>
                    <a:cubicBezTo>
                      <a:pt x="130" y="128"/>
                      <a:pt x="128" y="130"/>
                      <a:pt x="127" y="133"/>
                    </a:cubicBezTo>
                    <a:cubicBezTo>
                      <a:pt x="90" y="216"/>
                      <a:pt x="90" y="216"/>
                      <a:pt x="90" y="216"/>
                    </a:cubicBezTo>
                    <a:cubicBezTo>
                      <a:pt x="88" y="220"/>
                      <a:pt x="89" y="224"/>
                      <a:pt x="92" y="228"/>
                    </a:cubicBezTo>
                    <a:cubicBezTo>
                      <a:pt x="94" y="230"/>
                      <a:pt x="97" y="231"/>
                      <a:pt x="99" y="231"/>
                    </a:cubicBezTo>
                    <a:cubicBezTo>
                      <a:pt x="101" y="231"/>
                      <a:pt x="102" y="230"/>
                      <a:pt x="104" y="230"/>
                    </a:cubicBezTo>
                    <a:cubicBezTo>
                      <a:pt x="187" y="192"/>
                      <a:pt x="187" y="192"/>
                      <a:pt x="187" y="192"/>
                    </a:cubicBezTo>
                    <a:cubicBezTo>
                      <a:pt x="189" y="191"/>
                      <a:pt x="191" y="189"/>
                      <a:pt x="192" y="187"/>
                    </a:cubicBezTo>
                    <a:cubicBezTo>
                      <a:pt x="230" y="104"/>
                      <a:pt x="230" y="104"/>
                      <a:pt x="230" y="104"/>
                    </a:cubicBezTo>
                    <a:cubicBezTo>
                      <a:pt x="232" y="100"/>
                      <a:pt x="231" y="95"/>
                      <a:pt x="228" y="92"/>
                    </a:cubicBezTo>
                    <a:cubicBezTo>
                      <a:pt x="224" y="89"/>
                      <a:pt x="220" y="88"/>
                      <a:pt x="216" y="90"/>
                    </a:cubicBezTo>
                    <a:close/>
                    <a:moveTo>
                      <a:pt x="140" y="155"/>
                    </a:moveTo>
                    <a:cubicBezTo>
                      <a:pt x="164" y="179"/>
                      <a:pt x="164" y="179"/>
                      <a:pt x="164" y="179"/>
                    </a:cubicBezTo>
                    <a:cubicBezTo>
                      <a:pt x="121" y="199"/>
                      <a:pt x="121" y="199"/>
                      <a:pt x="121" y="199"/>
                    </a:cubicBezTo>
                    <a:lnTo>
                      <a:pt x="140" y="155"/>
                    </a:lnTo>
                    <a:close/>
                    <a:moveTo>
                      <a:pt x="179" y="164"/>
                    </a:moveTo>
                    <a:cubicBezTo>
                      <a:pt x="155" y="140"/>
                      <a:pt x="155" y="140"/>
                      <a:pt x="155" y="140"/>
                    </a:cubicBezTo>
                    <a:cubicBezTo>
                      <a:pt x="199" y="121"/>
                      <a:pt x="199" y="121"/>
                      <a:pt x="199" y="121"/>
                    </a:cubicBezTo>
                    <a:lnTo>
                      <a:pt x="179" y="16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1"/>
              <p:cNvSpPr>
                <a:spLocks noEditPoints="1"/>
              </p:cNvSpPr>
              <p:nvPr/>
            </p:nvSpPr>
            <p:spPr bwMode="auto">
              <a:xfrm>
                <a:off x="4334"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8" name="Group 305"/>
            <p:cNvGrpSpPr>
              <a:grpSpLocks noChangeAspect="1"/>
            </p:cNvGrpSpPr>
            <p:nvPr/>
          </p:nvGrpSpPr>
          <p:grpSpPr bwMode="auto">
            <a:xfrm>
              <a:off x="1182848" y="4124522"/>
              <a:ext cx="435600" cy="435600"/>
              <a:chOff x="6599" y="1143"/>
              <a:chExt cx="340" cy="340"/>
            </a:xfrm>
            <a:solidFill>
              <a:srgbClr val="00A0DE"/>
            </a:solidFill>
          </p:grpSpPr>
          <p:sp>
            <p:nvSpPr>
              <p:cNvPr id="39" name="Freeform 306"/>
              <p:cNvSpPr>
                <a:spLocks noEditPoints="1"/>
              </p:cNvSpPr>
              <p:nvPr/>
            </p:nvSpPr>
            <p:spPr bwMode="auto">
              <a:xfrm>
                <a:off x="6599" y="114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07"/>
              <p:cNvSpPr>
                <a:spLocks noEditPoints="1"/>
              </p:cNvSpPr>
              <p:nvPr/>
            </p:nvSpPr>
            <p:spPr bwMode="auto">
              <a:xfrm>
                <a:off x="6712" y="1205"/>
                <a:ext cx="113" cy="214"/>
              </a:xfrm>
              <a:custGeom>
                <a:avLst/>
                <a:gdLst>
                  <a:gd name="T0" fmla="*/ 160 w 171"/>
                  <a:gd name="T1" fmla="*/ 88 h 323"/>
                  <a:gd name="T2" fmla="*/ 128 w 171"/>
                  <a:gd name="T3" fmla="*/ 88 h 323"/>
                  <a:gd name="T4" fmla="*/ 128 w 171"/>
                  <a:gd name="T5" fmla="*/ 35 h 323"/>
                  <a:gd name="T6" fmla="*/ 128 w 171"/>
                  <a:gd name="T7" fmla="*/ 35 h 323"/>
                  <a:gd name="T8" fmla="*/ 138 w 171"/>
                  <a:gd name="T9" fmla="*/ 27 h 323"/>
                  <a:gd name="T10" fmla="*/ 132 w 171"/>
                  <a:gd name="T11" fmla="*/ 12 h 323"/>
                  <a:gd name="T12" fmla="*/ 39 w 171"/>
                  <a:gd name="T13" fmla="*/ 12 h 323"/>
                  <a:gd name="T14" fmla="*/ 33 w 171"/>
                  <a:gd name="T15" fmla="*/ 25 h 323"/>
                  <a:gd name="T16" fmla="*/ 43 w 171"/>
                  <a:gd name="T17" fmla="*/ 32 h 323"/>
                  <a:gd name="T18" fmla="*/ 43 w 171"/>
                  <a:gd name="T19" fmla="*/ 88 h 323"/>
                  <a:gd name="T20" fmla="*/ 11 w 171"/>
                  <a:gd name="T21" fmla="*/ 88 h 323"/>
                  <a:gd name="T22" fmla="*/ 0 w 171"/>
                  <a:gd name="T23" fmla="*/ 99 h 323"/>
                  <a:gd name="T24" fmla="*/ 0 w 171"/>
                  <a:gd name="T25" fmla="*/ 291 h 323"/>
                  <a:gd name="T26" fmla="*/ 11 w 171"/>
                  <a:gd name="T27" fmla="*/ 301 h 323"/>
                  <a:gd name="T28" fmla="*/ 22 w 171"/>
                  <a:gd name="T29" fmla="*/ 301 h 323"/>
                  <a:gd name="T30" fmla="*/ 22 w 171"/>
                  <a:gd name="T31" fmla="*/ 312 h 323"/>
                  <a:gd name="T32" fmla="*/ 32 w 171"/>
                  <a:gd name="T33" fmla="*/ 323 h 323"/>
                  <a:gd name="T34" fmla="*/ 43 w 171"/>
                  <a:gd name="T35" fmla="*/ 312 h 323"/>
                  <a:gd name="T36" fmla="*/ 43 w 171"/>
                  <a:gd name="T37" fmla="*/ 301 h 323"/>
                  <a:gd name="T38" fmla="*/ 128 w 171"/>
                  <a:gd name="T39" fmla="*/ 301 h 323"/>
                  <a:gd name="T40" fmla="*/ 128 w 171"/>
                  <a:gd name="T41" fmla="*/ 312 h 323"/>
                  <a:gd name="T42" fmla="*/ 139 w 171"/>
                  <a:gd name="T43" fmla="*/ 323 h 323"/>
                  <a:gd name="T44" fmla="*/ 150 w 171"/>
                  <a:gd name="T45" fmla="*/ 312 h 323"/>
                  <a:gd name="T46" fmla="*/ 150 w 171"/>
                  <a:gd name="T47" fmla="*/ 301 h 323"/>
                  <a:gd name="T48" fmla="*/ 160 w 171"/>
                  <a:gd name="T49" fmla="*/ 301 h 323"/>
                  <a:gd name="T50" fmla="*/ 171 w 171"/>
                  <a:gd name="T51" fmla="*/ 291 h 323"/>
                  <a:gd name="T52" fmla="*/ 171 w 171"/>
                  <a:gd name="T53" fmla="*/ 99 h 323"/>
                  <a:gd name="T54" fmla="*/ 160 w 171"/>
                  <a:gd name="T55" fmla="*/ 88 h 323"/>
                  <a:gd name="T56" fmla="*/ 64 w 171"/>
                  <a:gd name="T57" fmla="*/ 26 h 323"/>
                  <a:gd name="T58" fmla="*/ 107 w 171"/>
                  <a:gd name="T59" fmla="*/ 26 h 323"/>
                  <a:gd name="T60" fmla="*/ 107 w 171"/>
                  <a:gd name="T61" fmla="*/ 88 h 323"/>
                  <a:gd name="T62" fmla="*/ 64 w 171"/>
                  <a:gd name="T63" fmla="*/ 88 h 323"/>
                  <a:gd name="T64" fmla="*/ 64 w 171"/>
                  <a:gd name="T65" fmla="*/ 26 h 323"/>
                  <a:gd name="T66" fmla="*/ 150 w 171"/>
                  <a:gd name="T67" fmla="*/ 280 h 323"/>
                  <a:gd name="T68" fmla="*/ 22 w 171"/>
                  <a:gd name="T69" fmla="*/ 280 h 323"/>
                  <a:gd name="T70" fmla="*/ 22 w 171"/>
                  <a:gd name="T71" fmla="*/ 109 h 323"/>
                  <a:gd name="T72" fmla="*/ 150 w 171"/>
                  <a:gd name="T73" fmla="*/ 109 h 323"/>
                  <a:gd name="T74" fmla="*/ 150 w 171"/>
                  <a:gd name="T75" fmla="*/ 280 h 323"/>
                  <a:gd name="T76" fmla="*/ 118 w 171"/>
                  <a:gd name="T77" fmla="*/ 131 h 323"/>
                  <a:gd name="T78" fmla="*/ 128 w 171"/>
                  <a:gd name="T79" fmla="*/ 141 h 323"/>
                  <a:gd name="T80" fmla="*/ 118 w 171"/>
                  <a:gd name="T81" fmla="*/ 152 h 323"/>
                  <a:gd name="T82" fmla="*/ 54 w 171"/>
                  <a:gd name="T83" fmla="*/ 152 h 323"/>
                  <a:gd name="T84" fmla="*/ 43 w 171"/>
                  <a:gd name="T85" fmla="*/ 141 h 323"/>
                  <a:gd name="T86" fmla="*/ 54 w 171"/>
                  <a:gd name="T87" fmla="*/ 131 h 323"/>
                  <a:gd name="T88" fmla="*/ 118 w 171"/>
                  <a:gd name="T89" fmla="*/ 131 h 323"/>
                  <a:gd name="T90" fmla="*/ 128 w 171"/>
                  <a:gd name="T91" fmla="*/ 248 h 323"/>
                  <a:gd name="T92" fmla="*/ 118 w 171"/>
                  <a:gd name="T93" fmla="*/ 259 h 323"/>
                  <a:gd name="T94" fmla="*/ 54 w 171"/>
                  <a:gd name="T95" fmla="*/ 259 h 323"/>
                  <a:gd name="T96" fmla="*/ 43 w 171"/>
                  <a:gd name="T97" fmla="*/ 248 h 323"/>
                  <a:gd name="T98" fmla="*/ 54 w 171"/>
                  <a:gd name="T99" fmla="*/ 237 h 323"/>
                  <a:gd name="T100" fmla="*/ 118 w 171"/>
                  <a:gd name="T101" fmla="*/ 237 h 323"/>
                  <a:gd name="T102" fmla="*/ 128 w 171"/>
                  <a:gd name="T103" fmla="*/ 24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1" h="323">
                    <a:moveTo>
                      <a:pt x="160" y="88"/>
                    </a:moveTo>
                    <a:cubicBezTo>
                      <a:pt x="128" y="88"/>
                      <a:pt x="128" y="88"/>
                      <a:pt x="128" y="88"/>
                    </a:cubicBezTo>
                    <a:cubicBezTo>
                      <a:pt x="128" y="35"/>
                      <a:pt x="128" y="35"/>
                      <a:pt x="128" y="35"/>
                    </a:cubicBezTo>
                    <a:cubicBezTo>
                      <a:pt x="128" y="35"/>
                      <a:pt x="128" y="35"/>
                      <a:pt x="128" y="35"/>
                    </a:cubicBezTo>
                    <a:cubicBezTo>
                      <a:pt x="133" y="35"/>
                      <a:pt x="137" y="31"/>
                      <a:pt x="138" y="27"/>
                    </a:cubicBezTo>
                    <a:cubicBezTo>
                      <a:pt x="140" y="21"/>
                      <a:pt x="138" y="14"/>
                      <a:pt x="132" y="12"/>
                    </a:cubicBezTo>
                    <a:cubicBezTo>
                      <a:pt x="103" y="0"/>
                      <a:pt x="69" y="0"/>
                      <a:pt x="39" y="12"/>
                    </a:cubicBezTo>
                    <a:cubicBezTo>
                      <a:pt x="34" y="14"/>
                      <a:pt x="31" y="20"/>
                      <a:pt x="33" y="25"/>
                    </a:cubicBezTo>
                    <a:cubicBezTo>
                      <a:pt x="35" y="30"/>
                      <a:pt x="39" y="32"/>
                      <a:pt x="43" y="32"/>
                    </a:cubicBezTo>
                    <a:cubicBezTo>
                      <a:pt x="43" y="88"/>
                      <a:pt x="43" y="88"/>
                      <a:pt x="43" y="88"/>
                    </a:cubicBezTo>
                    <a:cubicBezTo>
                      <a:pt x="11" y="88"/>
                      <a:pt x="11" y="88"/>
                      <a:pt x="11" y="88"/>
                    </a:cubicBezTo>
                    <a:cubicBezTo>
                      <a:pt x="5" y="88"/>
                      <a:pt x="0" y="93"/>
                      <a:pt x="0" y="99"/>
                    </a:cubicBezTo>
                    <a:cubicBezTo>
                      <a:pt x="0" y="291"/>
                      <a:pt x="0" y="291"/>
                      <a:pt x="0" y="291"/>
                    </a:cubicBezTo>
                    <a:cubicBezTo>
                      <a:pt x="0" y="297"/>
                      <a:pt x="5" y="301"/>
                      <a:pt x="11" y="301"/>
                    </a:cubicBezTo>
                    <a:cubicBezTo>
                      <a:pt x="22" y="301"/>
                      <a:pt x="22" y="301"/>
                      <a:pt x="22" y="301"/>
                    </a:cubicBezTo>
                    <a:cubicBezTo>
                      <a:pt x="22" y="312"/>
                      <a:pt x="22" y="312"/>
                      <a:pt x="22" y="312"/>
                    </a:cubicBezTo>
                    <a:cubicBezTo>
                      <a:pt x="22" y="318"/>
                      <a:pt x="26" y="323"/>
                      <a:pt x="32" y="323"/>
                    </a:cubicBezTo>
                    <a:cubicBezTo>
                      <a:pt x="38" y="323"/>
                      <a:pt x="43" y="318"/>
                      <a:pt x="43" y="312"/>
                    </a:cubicBezTo>
                    <a:cubicBezTo>
                      <a:pt x="43" y="301"/>
                      <a:pt x="43" y="301"/>
                      <a:pt x="43" y="301"/>
                    </a:cubicBezTo>
                    <a:cubicBezTo>
                      <a:pt x="128" y="301"/>
                      <a:pt x="128" y="301"/>
                      <a:pt x="128" y="301"/>
                    </a:cubicBezTo>
                    <a:cubicBezTo>
                      <a:pt x="128" y="312"/>
                      <a:pt x="128" y="312"/>
                      <a:pt x="128" y="312"/>
                    </a:cubicBezTo>
                    <a:cubicBezTo>
                      <a:pt x="128" y="318"/>
                      <a:pt x="133" y="323"/>
                      <a:pt x="139" y="323"/>
                    </a:cubicBezTo>
                    <a:cubicBezTo>
                      <a:pt x="145" y="323"/>
                      <a:pt x="150" y="318"/>
                      <a:pt x="150" y="312"/>
                    </a:cubicBezTo>
                    <a:cubicBezTo>
                      <a:pt x="150" y="301"/>
                      <a:pt x="150" y="301"/>
                      <a:pt x="150" y="301"/>
                    </a:cubicBezTo>
                    <a:cubicBezTo>
                      <a:pt x="160" y="301"/>
                      <a:pt x="160" y="301"/>
                      <a:pt x="160" y="301"/>
                    </a:cubicBezTo>
                    <a:cubicBezTo>
                      <a:pt x="166" y="301"/>
                      <a:pt x="171" y="297"/>
                      <a:pt x="171" y="291"/>
                    </a:cubicBezTo>
                    <a:cubicBezTo>
                      <a:pt x="171" y="99"/>
                      <a:pt x="171" y="99"/>
                      <a:pt x="171" y="99"/>
                    </a:cubicBezTo>
                    <a:cubicBezTo>
                      <a:pt x="171" y="93"/>
                      <a:pt x="166" y="88"/>
                      <a:pt x="160" y="88"/>
                    </a:cubicBezTo>
                    <a:close/>
                    <a:moveTo>
                      <a:pt x="64" y="26"/>
                    </a:moveTo>
                    <a:cubicBezTo>
                      <a:pt x="78" y="23"/>
                      <a:pt x="93" y="23"/>
                      <a:pt x="107" y="26"/>
                    </a:cubicBezTo>
                    <a:cubicBezTo>
                      <a:pt x="107" y="88"/>
                      <a:pt x="107" y="88"/>
                      <a:pt x="107" y="88"/>
                    </a:cubicBezTo>
                    <a:cubicBezTo>
                      <a:pt x="64" y="88"/>
                      <a:pt x="64" y="88"/>
                      <a:pt x="64" y="88"/>
                    </a:cubicBezTo>
                    <a:lnTo>
                      <a:pt x="64" y="26"/>
                    </a:lnTo>
                    <a:close/>
                    <a:moveTo>
                      <a:pt x="150" y="280"/>
                    </a:moveTo>
                    <a:cubicBezTo>
                      <a:pt x="22" y="280"/>
                      <a:pt x="22" y="280"/>
                      <a:pt x="22" y="280"/>
                    </a:cubicBezTo>
                    <a:cubicBezTo>
                      <a:pt x="22" y="109"/>
                      <a:pt x="22" y="109"/>
                      <a:pt x="22" y="109"/>
                    </a:cubicBezTo>
                    <a:cubicBezTo>
                      <a:pt x="150" y="109"/>
                      <a:pt x="150" y="109"/>
                      <a:pt x="150" y="109"/>
                    </a:cubicBezTo>
                    <a:lnTo>
                      <a:pt x="150" y="280"/>
                    </a:lnTo>
                    <a:close/>
                    <a:moveTo>
                      <a:pt x="118" y="131"/>
                    </a:moveTo>
                    <a:cubicBezTo>
                      <a:pt x="124" y="131"/>
                      <a:pt x="128" y="135"/>
                      <a:pt x="128" y="141"/>
                    </a:cubicBezTo>
                    <a:cubicBezTo>
                      <a:pt x="128" y="147"/>
                      <a:pt x="124" y="152"/>
                      <a:pt x="118" y="152"/>
                    </a:cubicBezTo>
                    <a:cubicBezTo>
                      <a:pt x="54" y="152"/>
                      <a:pt x="54" y="152"/>
                      <a:pt x="54" y="152"/>
                    </a:cubicBezTo>
                    <a:cubicBezTo>
                      <a:pt x="48" y="152"/>
                      <a:pt x="43" y="147"/>
                      <a:pt x="43" y="141"/>
                    </a:cubicBezTo>
                    <a:cubicBezTo>
                      <a:pt x="43" y="135"/>
                      <a:pt x="48" y="131"/>
                      <a:pt x="54" y="131"/>
                    </a:cubicBezTo>
                    <a:lnTo>
                      <a:pt x="118" y="131"/>
                    </a:lnTo>
                    <a:close/>
                    <a:moveTo>
                      <a:pt x="128" y="248"/>
                    </a:moveTo>
                    <a:cubicBezTo>
                      <a:pt x="128" y="254"/>
                      <a:pt x="124" y="259"/>
                      <a:pt x="118" y="259"/>
                    </a:cubicBezTo>
                    <a:cubicBezTo>
                      <a:pt x="54" y="259"/>
                      <a:pt x="54" y="259"/>
                      <a:pt x="54" y="259"/>
                    </a:cubicBezTo>
                    <a:cubicBezTo>
                      <a:pt x="48" y="259"/>
                      <a:pt x="43" y="254"/>
                      <a:pt x="43" y="248"/>
                    </a:cubicBezTo>
                    <a:cubicBezTo>
                      <a:pt x="43" y="242"/>
                      <a:pt x="48" y="237"/>
                      <a:pt x="54" y="237"/>
                    </a:cubicBezTo>
                    <a:cubicBezTo>
                      <a:pt x="118" y="237"/>
                      <a:pt x="118" y="237"/>
                      <a:pt x="118" y="237"/>
                    </a:cubicBezTo>
                    <a:cubicBezTo>
                      <a:pt x="124" y="237"/>
                      <a:pt x="128" y="242"/>
                      <a:pt x="128" y="2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 name="Group 784"/>
            <p:cNvGrpSpPr>
              <a:grpSpLocks noChangeAspect="1"/>
            </p:cNvGrpSpPr>
            <p:nvPr/>
          </p:nvGrpSpPr>
          <p:grpSpPr bwMode="auto">
            <a:xfrm>
              <a:off x="1700839" y="4127477"/>
              <a:ext cx="435600" cy="435600"/>
              <a:chOff x="2657" y="3361"/>
              <a:chExt cx="340" cy="340"/>
            </a:xfrm>
            <a:solidFill>
              <a:srgbClr val="00A0DE"/>
            </a:solidFill>
          </p:grpSpPr>
          <p:sp>
            <p:nvSpPr>
              <p:cNvPr id="31" name="Freeform 785"/>
              <p:cNvSpPr>
                <a:spLocks noEditPoints="1"/>
              </p:cNvSpPr>
              <p:nvPr/>
            </p:nvSpPr>
            <p:spPr bwMode="auto">
              <a:xfrm>
                <a:off x="2721" y="3439"/>
                <a:ext cx="212" cy="170"/>
              </a:xfrm>
              <a:custGeom>
                <a:avLst/>
                <a:gdLst>
                  <a:gd name="T0" fmla="*/ 313 w 320"/>
                  <a:gd name="T1" fmla="*/ 33 h 257"/>
                  <a:gd name="T2" fmla="*/ 239 w 320"/>
                  <a:gd name="T3" fmla="*/ 1 h 257"/>
                  <a:gd name="T4" fmla="*/ 230 w 320"/>
                  <a:gd name="T5" fmla="*/ 1 h 257"/>
                  <a:gd name="T6" fmla="*/ 160 w 320"/>
                  <a:gd name="T7" fmla="*/ 31 h 257"/>
                  <a:gd name="T8" fmla="*/ 89 w 320"/>
                  <a:gd name="T9" fmla="*/ 1 h 257"/>
                  <a:gd name="T10" fmla="*/ 81 w 320"/>
                  <a:gd name="T11" fmla="*/ 1 h 257"/>
                  <a:gd name="T12" fmla="*/ 6 w 320"/>
                  <a:gd name="T13" fmla="*/ 33 h 257"/>
                  <a:gd name="T14" fmla="*/ 0 w 320"/>
                  <a:gd name="T15" fmla="*/ 43 h 257"/>
                  <a:gd name="T16" fmla="*/ 0 w 320"/>
                  <a:gd name="T17" fmla="*/ 245 h 257"/>
                  <a:gd name="T18" fmla="*/ 4 w 320"/>
                  <a:gd name="T19" fmla="*/ 254 h 257"/>
                  <a:gd name="T20" fmla="*/ 15 w 320"/>
                  <a:gd name="T21" fmla="*/ 255 h 257"/>
                  <a:gd name="T22" fmla="*/ 85 w 320"/>
                  <a:gd name="T23" fmla="*/ 225 h 257"/>
                  <a:gd name="T24" fmla="*/ 155 w 320"/>
                  <a:gd name="T25" fmla="*/ 255 h 257"/>
                  <a:gd name="T26" fmla="*/ 164 w 320"/>
                  <a:gd name="T27" fmla="*/ 255 h 257"/>
                  <a:gd name="T28" fmla="*/ 234 w 320"/>
                  <a:gd name="T29" fmla="*/ 225 h 257"/>
                  <a:gd name="T30" fmla="*/ 305 w 320"/>
                  <a:gd name="T31" fmla="*/ 255 h 257"/>
                  <a:gd name="T32" fmla="*/ 309 w 320"/>
                  <a:gd name="T33" fmla="*/ 256 h 257"/>
                  <a:gd name="T34" fmla="*/ 315 w 320"/>
                  <a:gd name="T35" fmla="*/ 254 h 257"/>
                  <a:gd name="T36" fmla="*/ 320 w 320"/>
                  <a:gd name="T37" fmla="*/ 245 h 257"/>
                  <a:gd name="T38" fmla="*/ 320 w 320"/>
                  <a:gd name="T39" fmla="*/ 43 h 257"/>
                  <a:gd name="T40" fmla="*/ 313 w 320"/>
                  <a:gd name="T41" fmla="*/ 33 h 257"/>
                  <a:gd name="T42" fmla="*/ 96 w 320"/>
                  <a:gd name="T43" fmla="*/ 27 h 257"/>
                  <a:gd name="T44" fmla="*/ 149 w 320"/>
                  <a:gd name="T45" fmla="*/ 50 h 257"/>
                  <a:gd name="T46" fmla="*/ 149 w 320"/>
                  <a:gd name="T47" fmla="*/ 229 h 257"/>
                  <a:gd name="T48" fmla="*/ 96 w 320"/>
                  <a:gd name="T49" fmla="*/ 206 h 257"/>
                  <a:gd name="T50" fmla="*/ 96 w 320"/>
                  <a:gd name="T51" fmla="*/ 27 h 257"/>
                  <a:gd name="T52" fmla="*/ 170 w 320"/>
                  <a:gd name="T53" fmla="*/ 50 h 257"/>
                  <a:gd name="T54" fmla="*/ 224 w 320"/>
                  <a:gd name="T55" fmla="*/ 27 h 257"/>
                  <a:gd name="T56" fmla="*/ 224 w 320"/>
                  <a:gd name="T57" fmla="*/ 206 h 257"/>
                  <a:gd name="T58" fmla="*/ 170 w 320"/>
                  <a:gd name="T59" fmla="*/ 229 h 257"/>
                  <a:gd name="T60" fmla="*/ 170 w 320"/>
                  <a:gd name="T61" fmla="*/ 50 h 257"/>
                  <a:gd name="T62" fmla="*/ 21 w 320"/>
                  <a:gd name="T63" fmla="*/ 50 h 257"/>
                  <a:gd name="T64" fmla="*/ 74 w 320"/>
                  <a:gd name="T65" fmla="*/ 27 h 257"/>
                  <a:gd name="T66" fmla="*/ 74 w 320"/>
                  <a:gd name="T67" fmla="*/ 206 h 257"/>
                  <a:gd name="T68" fmla="*/ 21 w 320"/>
                  <a:gd name="T69" fmla="*/ 229 h 257"/>
                  <a:gd name="T70" fmla="*/ 21 w 320"/>
                  <a:gd name="T71" fmla="*/ 50 h 257"/>
                  <a:gd name="T72" fmla="*/ 298 w 320"/>
                  <a:gd name="T73" fmla="*/ 229 h 257"/>
                  <a:gd name="T74" fmla="*/ 245 w 320"/>
                  <a:gd name="T75" fmla="*/ 206 h 257"/>
                  <a:gd name="T76" fmla="*/ 245 w 320"/>
                  <a:gd name="T77" fmla="*/ 27 h 257"/>
                  <a:gd name="T78" fmla="*/ 298 w 320"/>
                  <a:gd name="T79" fmla="*/ 50 h 257"/>
                  <a:gd name="T80" fmla="*/ 298 w 320"/>
                  <a:gd name="T8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57">
                    <a:moveTo>
                      <a:pt x="313" y="33"/>
                    </a:moveTo>
                    <a:cubicBezTo>
                      <a:pt x="239" y="1"/>
                      <a:pt x="239" y="1"/>
                      <a:pt x="239" y="1"/>
                    </a:cubicBezTo>
                    <a:cubicBezTo>
                      <a:pt x="236" y="0"/>
                      <a:pt x="233" y="0"/>
                      <a:pt x="230" y="1"/>
                    </a:cubicBezTo>
                    <a:cubicBezTo>
                      <a:pt x="160" y="31"/>
                      <a:pt x="160" y="31"/>
                      <a:pt x="160" y="31"/>
                    </a:cubicBezTo>
                    <a:cubicBezTo>
                      <a:pt x="89" y="1"/>
                      <a:pt x="89" y="1"/>
                      <a:pt x="89" y="1"/>
                    </a:cubicBezTo>
                    <a:cubicBezTo>
                      <a:pt x="87" y="0"/>
                      <a:pt x="83" y="0"/>
                      <a:pt x="81" y="1"/>
                    </a:cubicBezTo>
                    <a:cubicBezTo>
                      <a:pt x="6" y="33"/>
                      <a:pt x="6" y="33"/>
                      <a:pt x="6" y="33"/>
                    </a:cubicBezTo>
                    <a:cubicBezTo>
                      <a:pt x="2" y="35"/>
                      <a:pt x="0" y="38"/>
                      <a:pt x="0" y="43"/>
                    </a:cubicBezTo>
                    <a:cubicBezTo>
                      <a:pt x="0" y="245"/>
                      <a:pt x="0" y="245"/>
                      <a:pt x="0" y="245"/>
                    </a:cubicBezTo>
                    <a:cubicBezTo>
                      <a:pt x="0" y="249"/>
                      <a:pt x="1" y="252"/>
                      <a:pt x="4" y="254"/>
                    </a:cubicBezTo>
                    <a:cubicBezTo>
                      <a:pt x="7" y="256"/>
                      <a:pt x="11" y="257"/>
                      <a:pt x="15" y="255"/>
                    </a:cubicBezTo>
                    <a:cubicBezTo>
                      <a:pt x="85" y="225"/>
                      <a:pt x="85" y="225"/>
                      <a:pt x="85" y="225"/>
                    </a:cubicBezTo>
                    <a:cubicBezTo>
                      <a:pt x="155" y="255"/>
                      <a:pt x="155" y="255"/>
                      <a:pt x="155" y="255"/>
                    </a:cubicBezTo>
                    <a:cubicBezTo>
                      <a:pt x="158" y="256"/>
                      <a:pt x="161" y="256"/>
                      <a:pt x="164" y="255"/>
                    </a:cubicBezTo>
                    <a:cubicBezTo>
                      <a:pt x="234" y="225"/>
                      <a:pt x="234" y="225"/>
                      <a:pt x="234" y="225"/>
                    </a:cubicBezTo>
                    <a:cubicBezTo>
                      <a:pt x="305" y="255"/>
                      <a:pt x="305" y="255"/>
                      <a:pt x="305" y="255"/>
                    </a:cubicBezTo>
                    <a:cubicBezTo>
                      <a:pt x="306" y="256"/>
                      <a:pt x="308" y="256"/>
                      <a:pt x="309" y="256"/>
                    </a:cubicBezTo>
                    <a:cubicBezTo>
                      <a:pt x="311" y="256"/>
                      <a:pt x="313" y="255"/>
                      <a:pt x="315" y="254"/>
                    </a:cubicBezTo>
                    <a:cubicBezTo>
                      <a:pt x="318" y="252"/>
                      <a:pt x="320" y="249"/>
                      <a:pt x="320" y="245"/>
                    </a:cubicBezTo>
                    <a:cubicBezTo>
                      <a:pt x="320" y="43"/>
                      <a:pt x="320" y="43"/>
                      <a:pt x="320" y="43"/>
                    </a:cubicBezTo>
                    <a:cubicBezTo>
                      <a:pt x="320" y="38"/>
                      <a:pt x="317" y="35"/>
                      <a:pt x="313" y="33"/>
                    </a:cubicBezTo>
                    <a:close/>
                    <a:moveTo>
                      <a:pt x="96" y="27"/>
                    </a:moveTo>
                    <a:cubicBezTo>
                      <a:pt x="149" y="50"/>
                      <a:pt x="149" y="50"/>
                      <a:pt x="149" y="50"/>
                    </a:cubicBezTo>
                    <a:cubicBezTo>
                      <a:pt x="149" y="229"/>
                      <a:pt x="149" y="229"/>
                      <a:pt x="149" y="229"/>
                    </a:cubicBezTo>
                    <a:cubicBezTo>
                      <a:pt x="96" y="206"/>
                      <a:pt x="96" y="206"/>
                      <a:pt x="96" y="206"/>
                    </a:cubicBezTo>
                    <a:lnTo>
                      <a:pt x="96" y="27"/>
                    </a:lnTo>
                    <a:close/>
                    <a:moveTo>
                      <a:pt x="170" y="50"/>
                    </a:moveTo>
                    <a:cubicBezTo>
                      <a:pt x="224" y="27"/>
                      <a:pt x="224" y="27"/>
                      <a:pt x="224" y="27"/>
                    </a:cubicBezTo>
                    <a:cubicBezTo>
                      <a:pt x="224" y="206"/>
                      <a:pt x="224" y="206"/>
                      <a:pt x="224" y="206"/>
                    </a:cubicBezTo>
                    <a:cubicBezTo>
                      <a:pt x="170" y="229"/>
                      <a:pt x="170" y="229"/>
                      <a:pt x="170" y="229"/>
                    </a:cubicBezTo>
                    <a:lnTo>
                      <a:pt x="170" y="50"/>
                    </a:lnTo>
                    <a:close/>
                    <a:moveTo>
                      <a:pt x="21" y="50"/>
                    </a:moveTo>
                    <a:cubicBezTo>
                      <a:pt x="74" y="27"/>
                      <a:pt x="74" y="27"/>
                      <a:pt x="74" y="27"/>
                    </a:cubicBezTo>
                    <a:cubicBezTo>
                      <a:pt x="74" y="206"/>
                      <a:pt x="74" y="206"/>
                      <a:pt x="74" y="206"/>
                    </a:cubicBezTo>
                    <a:cubicBezTo>
                      <a:pt x="21" y="229"/>
                      <a:pt x="21" y="229"/>
                      <a:pt x="21" y="229"/>
                    </a:cubicBezTo>
                    <a:lnTo>
                      <a:pt x="21" y="50"/>
                    </a:lnTo>
                    <a:close/>
                    <a:moveTo>
                      <a:pt x="298" y="229"/>
                    </a:moveTo>
                    <a:cubicBezTo>
                      <a:pt x="245" y="206"/>
                      <a:pt x="245" y="206"/>
                      <a:pt x="245" y="206"/>
                    </a:cubicBezTo>
                    <a:cubicBezTo>
                      <a:pt x="245" y="27"/>
                      <a:pt x="245" y="27"/>
                      <a:pt x="245" y="27"/>
                    </a:cubicBezTo>
                    <a:cubicBezTo>
                      <a:pt x="298" y="50"/>
                      <a:pt x="298" y="50"/>
                      <a:pt x="298" y="50"/>
                    </a:cubicBezTo>
                    <a:lnTo>
                      <a:pt x="298" y="2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786"/>
              <p:cNvSpPr>
                <a:spLocks noEditPoints="1"/>
              </p:cNvSpPr>
              <p:nvPr/>
            </p:nvSpPr>
            <p:spPr bwMode="auto">
              <a:xfrm>
                <a:off x="2657" y="33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3" name="TextBox 32"/>
          <p:cNvSpPr txBox="1"/>
          <p:nvPr/>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en-GB" sz="700" noProof="0" dirty="0">
                <a:solidFill>
                  <a:schemeClr val="bg1"/>
                </a:solidFill>
              </a:rPr>
              <a:t>© 2018 Deloitte Touche Tohmatsu India LLP</a:t>
            </a:r>
          </a:p>
        </p:txBody>
      </p:sp>
    </p:spTree>
    <p:extLst>
      <p:ext uri="{BB962C8B-B14F-4D97-AF65-F5344CB8AC3E}">
        <p14:creationId xmlns:p14="http://schemas.microsoft.com/office/powerpoint/2010/main" val="141006255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352350" y="750443"/>
            <a:ext cx="9460390" cy="593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63397" y="331644"/>
            <a:ext cx="6229350" cy="424732"/>
          </a:xfrm>
          <a:prstGeom prst="rect">
            <a:avLst/>
          </a:prstGeom>
        </p:spPr>
        <p:txBody>
          <a:bodyPr wrap="square">
            <a:spAutoFit/>
          </a:bodyPr>
          <a:lstStyle/>
          <a:p>
            <a:pPr marL="0" lvl="1" defTabSz="957263" fontAlgn="base">
              <a:lnSpc>
                <a:spcPct val="90000"/>
              </a:lnSpc>
              <a:spcBef>
                <a:spcPts val="400"/>
              </a:spcBef>
              <a:defRPr/>
            </a:pPr>
            <a:r>
              <a:rPr lang="en-US" sz="2400" dirty="0">
                <a:latin typeface="Verdana" panose="020B0604030504040204" pitchFamily="34" charset="0"/>
                <a:ea typeface="Verdana" panose="020B0604030504040204" pitchFamily="34" charset="0"/>
                <a:cs typeface="Verdana" panose="020B0604030504040204" pitchFamily="34" charset="0"/>
              </a:rPr>
              <a:t>Background</a:t>
            </a:r>
          </a:p>
        </p:txBody>
      </p:sp>
      <p:sp>
        <p:nvSpPr>
          <p:cNvPr id="6" name="Rectangle 5"/>
          <p:cNvSpPr/>
          <p:nvPr/>
        </p:nvSpPr>
        <p:spPr>
          <a:xfrm>
            <a:off x="263397" y="1169239"/>
            <a:ext cx="8529747" cy="2954985"/>
          </a:xfrm>
          <a:prstGeom prst="rect">
            <a:avLst/>
          </a:prstGeom>
          <a:noFill/>
          <a:ln w="19050" cap="flat" cmpd="sng" algn="ctr">
            <a:noFill/>
            <a:prstDash val="dash"/>
          </a:ln>
          <a:effectLst/>
        </p:spPr>
        <p:txBody>
          <a:bodyPr lIns="45720" tIns="45720" rIns="45720" rtlCol="0" anchor="ctr"/>
          <a:lstStyle/>
          <a:p>
            <a:pPr marL="342900" lvl="1" indent="-285750" algn="just">
              <a:spcAft>
                <a:spcPts val="300"/>
              </a:spcAft>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Essel Infraprojects Limited (“Essel Infra”) is participating in the “Development, Operation &amp; Maintenance of Nagpur Airport, Maharashtra through Public Private Partnership</a:t>
            </a:r>
          </a:p>
          <a:p>
            <a:pPr marL="342900" lvl="1" indent="-285750" algn="just">
              <a:spcAft>
                <a:spcPts val="300"/>
              </a:spcAft>
              <a:buFont typeface="Arial" panose="020B0604020202020204" pitchFamily="34" charset="0"/>
              <a:buChar cha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342900" lvl="1" indent="-285750" algn="just">
              <a:spcAft>
                <a:spcPts val="300"/>
              </a:spcAft>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MIHAN India Ltd. (MIL) plans to develop the existing airport as a passenger and cargo hub</a:t>
            </a:r>
          </a:p>
          <a:p>
            <a:pPr marL="342900" lvl="1" indent="-285750" algn="just">
              <a:spcAft>
                <a:spcPts val="300"/>
              </a:spcAft>
              <a:buFont typeface="Arial" panose="020B0604020202020204" pitchFamily="34" charset="0"/>
              <a:buChar cha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342900" lvl="1" indent="-285750" algn="just">
              <a:spcAft>
                <a:spcPts val="300"/>
              </a:spcAft>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According to MIL, airport’s unique location – at the crossing of the air route between Europe and South-East Asia, as well as between South Africa and North-East Asia, makes it a logical and ideal location for passenger and cargo hub</a:t>
            </a:r>
          </a:p>
          <a:p>
            <a:pPr marL="342900" lvl="1" indent="-285750" algn="just">
              <a:spcAft>
                <a:spcPts val="300"/>
              </a:spcAft>
              <a:buFont typeface="Arial" panose="020B0604020202020204" pitchFamily="34" charset="0"/>
              <a:buChar cha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342900" lvl="1" indent="-285750" algn="just">
              <a:spcAft>
                <a:spcPts val="300"/>
              </a:spcAft>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Currently, the financial bid submission is set to be August 14, 2018</a:t>
            </a:r>
          </a:p>
        </p:txBody>
      </p:sp>
      <p:sp>
        <p:nvSpPr>
          <p:cNvPr id="7" name="Text Placeholder 1"/>
          <p:cNvSpPr txBox="1">
            <a:spLocks/>
          </p:cNvSpPr>
          <p:nvPr/>
        </p:nvSpPr>
        <p:spPr>
          <a:xfrm>
            <a:off x="357895" y="854037"/>
            <a:ext cx="11247120" cy="637040"/>
          </a:xfrm>
          <a:prstGeom prst="rect">
            <a:avLst/>
          </a:prstGeom>
        </p:spPr>
        <p:txBody>
          <a:bodyPr vert="horz" lIns="0" tIns="0" rIns="0" bIns="0" rtlCol="0" anchor="t" anchorCtr="0">
            <a:norm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2000" dirty="0">
                <a:solidFill>
                  <a:schemeClr val="accent2"/>
                </a:solidFill>
                <a:latin typeface="Verdana" panose="020B0604030504040204" pitchFamily="34" charset="0"/>
                <a:ea typeface="Verdana" panose="020B0604030504040204" pitchFamily="34" charset="0"/>
                <a:cs typeface="Verdana" panose="020B0604030504040204" pitchFamily="34" charset="0"/>
              </a:rPr>
              <a:t>Understanding of assignment, forming the basis of transaction is crucial</a:t>
            </a:r>
          </a:p>
        </p:txBody>
      </p:sp>
    </p:spTree>
    <p:extLst>
      <p:ext uri="{BB962C8B-B14F-4D97-AF65-F5344CB8AC3E}">
        <p14:creationId xmlns:p14="http://schemas.microsoft.com/office/powerpoint/2010/main" val="264330936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cxnSp>
        <p:nvCxnSpPr>
          <p:cNvPr id="4" name="Straight Connector 3"/>
          <p:cNvCxnSpPr/>
          <p:nvPr/>
        </p:nvCxnSpPr>
        <p:spPr>
          <a:xfrm flipV="1">
            <a:off x="352350" y="750438"/>
            <a:ext cx="9744604" cy="6"/>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63396" y="331644"/>
            <a:ext cx="5397163" cy="424732"/>
          </a:xfrm>
          <a:prstGeom prst="rect">
            <a:avLst/>
          </a:prstGeom>
        </p:spPr>
        <p:txBody>
          <a:bodyPr wrap="square">
            <a:spAutoFit/>
          </a:bodyPr>
          <a:lstStyle/>
          <a:p>
            <a:pPr marL="0" lvl="1" defTabSz="957263" fontAlgn="base">
              <a:lnSpc>
                <a:spcPct val="90000"/>
              </a:lnSpc>
              <a:spcBef>
                <a:spcPts val="400"/>
              </a:spcBef>
              <a:defRPr/>
            </a:pPr>
            <a:r>
              <a:rPr lang="en-US" sz="2400" dirty="0">
                <a:latin typeface="Verdana" panose="020B0604030504040204" pitchFamily="34" charset="0"/>
                <a:ea typeface="Verdana" panose="020B0604030504040204" pitchFamily="34" charset="0"/>
                <a:cs typeface="Verdana" panose="020B0604030504040204" pitchFamily="34" charset="0"/>
              </a:rPr>
              <a:t>Context to the proposal</a:t>
            </a:r>
          </a:p>
        </p:txBody>
      </p:sp>
      <p:sp>
        <p:nvSpPr>
          <p:cNvPr id="6" name="Rectangle 5"/>
          <p:cNvSpPr/>
          <p:nvPr/>
        </p:nvSpPr>
        <p:spPr>
          <a:xfrm>
            <a:off x="263397" y="927191"/>
            <a:ext cx="9740412" cy="3695609"/>
          </a:xfrm>
          <a:prstGeom prst="rect">
            <a:avLst/>
          </a:prstGeom>
          <a:solidFill>
            <a:srgbClr val="FFFFFF"/>
          </a:solidFill>
          <a:ln w="19050" cap="flat" cmpd="sng" algn="ctr">
            <a:noFill/>
            <a:prstDash val="dash"/>
          </a:ln>
          <a:effectLst/>
        </p:spPr>
        <p:txBody>
          <a:bodyPr lIns="45720" tIns="45720" rIns="45720" rtlCol="0" anchor="t"/>
          <a:lstStyle/>
          <a:p>
            <a:pPr marL="228600" lvl="1" indent="-171450" algn="just">
              <a:spcAft>
                <a:spcPts val="300"/>
              </a:spcAft>
              <a:buFont typeface="Arial" pitchFamily="34" charset="0"/>
              <a:buChar char="•"/>
              <a:defRPr/>
            </a:pPr>
            <a:r>
              <a:rPr lang="en-US" sz="1400" b="1" i="1" kern="0" dirty="0">
                <a:latin typeface="Verdana" panose="020B0604030504040204" pitchFamily="34" charset="0"/>
                <a:ea typeface="Verdana" panose="020B0604030504040204" pitchFamily="34" charset="0"/>
                <a:cs typeface="Verdana" panose="020B0604030504040204" pitchFamily="34" charset="0"/>
              </a:rPr>
              <a:t>Essel Infraprojects Limited has been shortlisted as one of the bidders for the PPP project for Development, Operation and Maintenance of Nagpur Airport, Maharashtra</a:t>
            </a:r>
          </a:p>
          <a:p>
            <a:pPr marL="228600" marR="0" lvl="1" indent="-171450" algn="just" fontAlgn="auto">
              <a:lnSpc>
                <a:spcPct val="100000"/>
              </a:lnSpc>
              <a:spcBef>
                <a:spcPts val="0"/>
              </a:spcBef>
              <a:spcAft>
                <a:spcPts val="300"/>
              </a:spcAft>
              <a:buClrTx/>
              <a:buSzTx/>
              <a:buFont typeface="Arial" pitchFamily="34" charset="0"/>
              <a:buChar char="•"/>
              <a:tabLst/>
              <a:defRP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228600" marR="0" lvl="1" indent="-171450" algn="just" fontAlgn="auto">
              <a:lnSpc>
                <a:spcPct val="100000"/>
              </a:lnSpc>
              <a:spcBef>
                <a:spcPts val="0"/>
              </a:spcBef>
              <a:spcAft>
                <a:spcPts val="300"/>
              </a:spcAft>
              <a:buClrTx/>
              <a:buSzTx/>
              <a:buFont typeface="Arial" pitchFamily="34" charset="0"/>
              <a:buChar char="•"/>
              <a:tabLst/>
              <a:defRPr/>
            </a:pPr>
            <a:r>
              <a:rPr lang="en-US" sz="1400" kern="0" dirty="0">
                <a:latin typeface="Verdana" panose="020B0604030504040204" pitchFamily="34" charset="0"/>
                <a:ea typeface="Verdana" panose="020B0604030504040204" pitchFamily="34" charset="0"/>
                <a:cs typeface="Verdana" panose="020B0604030504040204" pitchFamily="34" charset="0"/>
              </a:rPr>
              <a:t>Essel Infraprojects Limited (EIL) with an order book value exceeding USD 5.06 billion is the infrastructure arm and one of the fastest growing companies of the Essel Group</a:t>
            </a:r>
          </a:p>
          <a:p>
            <a:pPr marL="228600" marR="0" lvl="1" indent="-171450" algn="just" fontAlgn="auto">
              <a:lnSpc>
                <a:spcPct val="100000"/>
              </a:lnSpc>
              <a:spcBef>
                <a:spcPts val="0"/>
              </a:spcBef>
              <a:spcAft>
                <a:spcPts val="300"/>
              </a:spcAft>
              <a:buClrTx/>
              <a:buSzTx/>
              <a:buFont typeface="Arial" pitchFamily="34" charset="0"/>
              <a:buChar char="•"/>
              <a:tabLst/>
              <a:defRP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228600" marR="0" lvl="1" indent="-171450" algn="just" fontAlgn="auto">
              <a:lnSpc>
                <a:spcPct val="100000"/>
              </a:lnSpc>
              <a:spcBef>
                <a:spcPts val="0"/>
              </a:spcBef>
              <a:spcAft>
                <a:spcPts val="300"/>
              </a:spcAft>
              <a:buClrTx/>
              <a:buSzTx/>
              <a:buFont typeface="Arial" pitchFamily="34" charset="0"/>
              <a:buChar char="•"/>
              <a:tabLst/>
              <a:defRPr/>
            </a:pPr>
            <a:r>
              <a:rPr lang="en-US" sz="1400" kern="0" dirty="0">
                <a:latin typeface="Verdana" panose="020B0604030504040204" pitchFamily="34" charset="0"/>
                <a:ea typeface="Verdana" panose="020B0604030504040204" pitchFamily="34" charset="0"/>
                <a:cs typeface="Verdana" panose="020B0604030504040204" pitchFamily="34" charset="0"/>
              </a:rPr>
              <a:t>EIL has investments across infrastructure segments including Transportation, Urban Development, Energy, Water, etc.</a:t>
            </a:r>
          </a:p>
          <a:p>
            <a:pPr marL="57150" marR="0" lvl="1" algn="just" fontAlgn="auto">
              <a:lnSpc>
                <a:spcPct val="100000"/>
              </a:lnSpc>
              <a:spcBef>
                <a:spcPts val="0"/>
              </a:spcBef>
              <a:spcAft>
                <a:spcPts val="300"/>
              </a:spcAft>
              <a:buClrTx/>
              <a:buSzTx/>
              <a:tabLst/>
              <a:defRP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228600" lvl="1" indent="-171450" algn="just">
              <a:spcAft>
                <a:spcPts val="300"/>
              </a:spcAft>
              <a:buFont typeface="Arial" pitchFamily="34" charset="0"/>
              <a:buChar char="•"/>
              <a:defRPr/>
            </a:pPr>
            <a:r>
              <a:rPr lang="en-US" sz="1400" b="1" i="1" kern="0" dirty="0">
                <a:latin typeface="Verdana" panose="020B0604030504040204" pitchFamily="34" charset="0"/>
                <a:ea typeface="Verdana" panose="020B0604030504040204" pitchFamily="34" charset="0"/>
                <a:cs typeface="Verdana" panose="020B0604030504040204" pitchFamily="34" charset="0"/>
              </a:rPr>
              <a:t>This document presents Deloitte’s credentials and team profiles showcasing our unique position in being able to support Essel Infraprojects requirements in bidding for this important transaction.</a:t>
            </a:r>
          </a:p>
        </p:txBody>
      </p:sp>
    </p:spTree>
    <p:extLst>
      <p:ext uri="{BB962C8B-B14F-4D97-AF65-F5344CB8AC3E}">
        <p14:creationId xmlns:p14="http://schemas.microsoft.com/office/powerpoint/2010/main" val="120365282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52351" y="1317520"/>
            <a:ext cx="9997452" cy="4780019"/>
            <a:chOff x="359294" y="1277881"/>
            <a:chExt cx="11515206" cy="4113735"/>
          </a:xfrm>
        </p:grpSpPr>
        <p:sp>
          <p:nvSpPr>
            <p:cNvPr id="5" name="Rectangle 4"/>
            <p:cNvSpPr>
              <a:spLocks noChangeArrowheads="1"/>
            </p:cNvSpPr>
            <p:nvPr/>
          </p:nvSpPr>
          <p:spPr bwMode="auto">
            <a:xfrm>
              <a:off x="373288" y="2292052"/>
              <a:ext cx="9276650" cy="1143871"/>
            </a:xfrm>
            <a:prstGeom prst="rect">
              <a:avLst/>
            </a:prstGeom>
            <a:solidFill>
              <a:schemeClr val="bg1"/>
            </a:solidFill>
            <a:ln w="12700" algn="ctr">
              <a:solidFill>
                <a:schemeClr val="accent3"/>
              </a:solidFill>
              <a:miter lim="800000"/>
              <a:headEnd/>
              <a:tailEnd/>
            </a:ln>
            <a:effectLst/>
          </p:spPr>
          <p:txBody>
            <a:bodyPr lIns="581891" tIns="81818" rIns="81818" bIns="81818" anchor="ctr"/>
            <a:lstStyle/>
            <a:p>
              <a:pPr marL="327606" indent="1444">
                <a:defRPr/>
              </a:pPr>
              <a:r>
                <a:rPr lang="en-GB" sz="1400" b="1" dirty="0">
                  <a:solidFill>
                    <a:schemeClr val="accent4"/>
                  </a:solidFill>
                  <a:latin typeface="Verdana" panose="020B0604030504040204" pitchFamily="34" charset="0"/>
                  <a:ea typeface="Verdana" panose="020B0604030504040204" pitchFamily="34" charset="0"/>
                  <a:cs typeface="Verdana" panose="020B0604030504040204" pitchFamily="34" charset="0"/>
                </a:rPr>
                <a:t>Commitment and continuity</a:t>
              </a:r>
            </a:p>
            <a:p>
              <a:pPr marL="327606" indent="1444">
                <a:defRPr/>
              </a:pPr>
              <a:r>
                <a:rPr lang="en-GB" sz="1400" dirty="0">
                  <a:latin typeface="Verdana" panose="020B0604030504040204" pitchFamily="34" charset="0"/>
                  <a:ea typeface="Verdana" panose="020B0604030504040204" pitchFamily="34" charset="0"/>
                  <a:cs typeface="Verdana" panose="020B0604030504040204" pitchFamily="34" charset="0"/>
                </a:rPr>
                <a:t>Our team will be committed and prepared. </a:t>
              </a:r>
              <a:r>
                <a:rPr lang="en-GB" sz="1400" u="sng" dirty="0">
                  <a:latin typeface="Verdana" panose="020B0604030504040204" pitchFamily="34" charset="0"/>
                  <a:ea typeface="Verdana" panose="020B0604030504040204" pitchFamily="34" charset="0"/>
                  <a:cs typeface="Verdana" panose="020B0604030504040204" pitchFamily="34" charset="0"/>
                </a:rPr>
                <a:t>We will ensure continuity in our team throughout the process with senior level involvement of experts.</a:t>
              </a:r>
              <a:r>
                <a:rPr lang="en-GB" sz="1400" dirty="0">
                  <a:latin typeface="Verdana" panose="020B0604030504040204" pitchFamily="34" charset="0"/>
                  <a:ea typeface="Verdana" panose="020B0604030504040204" pitchFamily="34" charset="0"/>
                  <a:cs typeface="Verdana" panose="020B0604030504040204" pitchFamily="34" charset="0"/>
                </a:rPr>
                <a:t> </a:t>
              </a:r>
            </a:p>
          </p:txBody>
        </p:sp>
        <p:sp>
          <p:nvSpPr>
            <p:cNvPr id="6" name="Rectangle 5"/>
            <p:cNvSpPr/>
            <p:nvPr/>
          </p:nvSpPr>
          <p:spPr>
            <a:xfrm>
              <a:off x="9724168" y="1277881"/>
              <a:ext cx="2150332" cy="4113733"/>
            </a:xfrm>
            <a:prstGeom prst="rect">
              <a:avLst/>
            </a:prstGeom>
            <a:solidFill>
              <a:schemeClr val="accent2"/>
            </a:solidFill>
          </p:spPr>
          <p:txBody>
            <a:bodyPr wrap="square" lIns="83127" tIns="415636" rIns="166255" bIns="415636" anchor="ctr">
              <a:noAutofit/>
            </a:bodyPr>
            <a:lstStyle/>
            <a:p>
              <a:r>
                <a:rPr lang="en-US" sz="1500" b="1" dirty="0">
                  <a:solidFill>
                    <a:srgbClr val="FFFFFF"/>
                  </a:solidFill>
                  <a:latin typeface="Verdana" panose="020B0604030504040204" pitchFamily="34" charset="0"/>
                  <a:ea typeface="Verdana" panose="020B0604030504040204" pitchFamily="34" charset="0"/>
                  <a:cs typeface="Verdana" panose="020B0604030504040204" pitchFamily="34" charset="0"/>
                </a:rPr>
                <a:t>Our proposition is …</a:t>
              </a:r>
            </a:p>
            <a:p>
              <a:endParaRPr lang="en-US" sz="1500" b="1" i="1" dirty="0">
                <a:solidFill>
                  <a:srgbClr val="FFFFFF"/>
                </a:solidFill>
                <a:latin typeface="Verdana" panose="020B0604030504040204" pitchFamily="34" charset="0"/>
                <a:ea typeface="Verdana" panose="020B0604030504040204" pitchFamily="34" charset="0"/>
                <a:cs typeface="Verdana" panose="020B0604030504040204" pitchFamily="34" charset="0"/>
              </a:endParaRPr>
            </a:p>
            <a:p>
              <a:r>
                <a:rPr lang="en-US" sz="1500" b="1" i="1" dirty="0">
                  <a:solidFill>
                    <a:srgbClr val="FFFFFF"/>
                  </a:solidFill>
                  <a:latin typeface="Verdana" panose="020B0604030504040204" pitchFamily="34" charset="0"/>
                  <a:ea typeface="Verdana" panose="020B0604030504040204" pitchFamily="34" charset="0"/>
                  <a:cs typeface="Verdana" panose="020B0604030504040204" pitchFamily="34" charset="0"/>
                </a:rPr>
                <a:t>About relentless commitment to your success! </a:t>
              </a:r>
            </a:p>
            <a:p>
              <a:endParaRPr lang="en-US" sz="1500" b="1" i="1" dirty="0">
                <a:solidFill>
                  <a:srgbClr val="FFFFFF"/>
                </a:solidFill>
                <a:latin typeface="Verdana" panose="020B0604030504040204" pitchFamily="34" charset="0"/>
                <a:ea typeface="Verdana" panose="020B0604030504040204" pitchFamily="34" charset="0"/>
                <a:cs typeface="Verdana" panose="020B0604030504040204" pitchFamily="34" charset="0"/>
              </a:endParaRPr>
            </a:p>
            <a:p>
              <a:r>
                <a:rPr lang="en-US" sz="1500" b="1" i="1" dirty="0">
                  <a:solidFill>
                    <a:srgbClr val="FFFFFF"/>
                  </a:solidFill>
                  <a:latin typeface="Verdana" panose="020B0604030504040204" pitchFamily="34" charset="0"/>
                  <a:ea typeface="Verdana" panose="020B0604030504040204" pitchFamily="34" charset="0"/>
                  <a:cs typeface="Verdana" panose="020B0604030504040204" pitchFamily="34" charset="0"/>
                </a:rPr>
                <a:t>About what we believe, how we work and how we behave!</a:t>
              </a:r>
            </a:p>
          </p:txBody>
        </p:sp>
        <p:sp>
          <p:nvSpPr>
            <p:cNvPr id="7" name="Rectangle 6"/>
            <p:cNvSpPr>
              <a:spLocks noChangeArrowheads="1"/>
            </p:cNvSpPr>
            <p:nvPr/>
          </p:nvSpPr>
          <p:spPr bwMode="auto">
            <a:xfrm>
              <a:off x="374983" y="1278220"/>
              <a:ext cx="9271944" cy="888680"/>
            </a:xfrm>
            <a:prstGeom prst="rect">
              <a:avLst/>
            </a:prstGeom>
            <a:solidFill>
              <a:schemeClr val="bg1"/>
            </a:solidFill>
            <a:ln w="12700" algn="ctr">
              <a:solidFill>
                <a:schemeClr val="accent3"/>
              </a:solidFill>
              <a:miter lim="800000"/>
              <a:headEnd/>
              <a:tailEnd/>
            </a:ln>
            <a:effectLst/>
          </p:spPr>
          <p:txBody>
            <a:bodyPr lIns="581891" tIns="81818" rIns="81818" bIns="81818" anchor="ctr"/>
            <a:lstStyle/>
            <a:p>
              <a:pPr marL="327606" indent="1444">
                <a:defRPr/>
              </a:pPr>
              <a:r>
                <a:rPr lang="en-GB" sz="1400" b="1" dirty="0">
                  <a:solidFill>
                    <a:schemeClr val="accent4"/>
                  </a:solidFill>
                  <a:latin typeface="Verdana" panose="020B0604030504040204" pitchFamily="34" charset="0"/>
                  <a:ea typeface="Verdana" panose="020B0604030504040204" pitchFamily="34" charset="0"/>
                  <a:cs typeface="Verdana" panose="020B0604030504040204" pitchFamily="34" charset="0"/>
                </a:rPr>
                <a:t>Experienced team</a:t>
              </a:r>
            </a:p>
            <a:p>
              <a:pPr marL="327606" indent="1444">
                <a:defRPr/>
              </a:pPr>
              <a:r>
                <a:rPr lang="en-GB" sz="1400" dirty="0">
                  <a:latin typeface="Verdana" panose="020B0604030504040204" pitchFamily="34" charset="0"/>
                  <a:ea typeface="Verdana" panose="020B0604030504040204" pitchFamily="34" charset="0"/>
                  <a:cs typeface="Verdana" panose="020B0604030504040204" pitchFamily="34" charset="0"/>
                </a:rPr>
                <a:t>Our team comprises practitioners having extensive experience of working on complex engagements and specifically advising on PPP transactions in the aviation sector. We will be able to deliver from the start!</a:t>
              </a:r>
            </a:p>
          </p:txBody>
        </p:sp>
        <p:sp>
          <p:nvSpPr>
            <p:cNvPr id="8" name="Rectangle 6"/>
            <p:cNvSpPr>
              <a:spLocks noChangeArrowheads="1"/>
            </p:cNvSpPr>
            <p:nvPr/>
          </p:nvSpPr>
          <p:spPr bwMode="auto">
            <a:xfrm>
              <a:off x="369591" y="4467781"/>
              <a:ext cx="9270373" cy="923833"/>
            </a:xfrm>
            <a:prstGeom prst="rect">
              <a:avLst/>
            </a:prstGeom>
            <a:solidFill>
              <a:schemeClr val="bg1"/>
            </a:solidFill>
            <a:ln w="12700" algn="ctr">
              <a:solidFill>
                <a:schemeClr val="accent3"/>
              </a:solidFill>
              <a:miter lim="800000"/>
              <a:headEnd/>
              <a:tailEnd/>
            </a:ln>
            <a:effectLst/>
          </p:spPr>
          <p:txBody>
            <a:bodyPr lIns="581891" tIns="81818" rIns="81818" bIns="81818" anchor="ctr"/>
            <a:lstStyle/>
            <a:p>
              <a:pPr marL="327606" lvl="1" indent="1444" defTabSz="926532">
                <a:defRPr/>
              </a:pPr>
              <a:r>
                <a:rPr lang="en-AU" sz="1400" b="1" dirty="0">
                  <a:solidFill>
                    <a:schemeClr val="accent4"/>
                  </a:solidFill>
                  <a:latin typeface="Verdana" panose="020B0604030504040204" pitchFamily="34" charset="0"/>
                  <a:ea typeface="Verdana" panose="020B0604030504040204" pitchFamily="34" charset="0"/>
                  <a:cs typeface="Verdana" panose="020B0604030504040204" pitchFamily="34" charset="0"/>
                </a:rPr>
                <a:t>Value and Reliability</a:t>
              </a:r>
            </a:p>
            <a:p>
              <a:pPr marL="327606" lvl="1" indent="1444" defTabSz="926532">
                <a:defRPr/>
              </a:pPr>
              <a:r>
                <a:rPr lang="en-AU" sz="1400" dirty="0">
                  <a:latin typeface="Verdana" panose="020B0604030504040204" pitchFamily="34" charset="0"/>
                  <a:ea typeface="Verdana" panose="020B0604030504040204" pitchFamily="34" charset="0"/>
                  <a:cs typeface="Verdana" panose="020B0604030504040204" pitchFamily="34" charset="0"/>
                </a:rPr>
                <a:t>Our work will reflect our deeply held belief of adding value to our Clients and ensuring that you can rely on us!</a:t>
              </a:r>
            </a:p>
          </p:txBody>
        </p:sp>
        <p:sp>
          <p:nvSpPr>
            <p:cNvPr id="9" name="Rectangle 8"/>
            <p:cNvSpPr>
              <a:spLocks noChangeArrowheads="1"/>
            </p:cNvSpPr>
            <p:nvPr/>
          </p:nvSpPr>
          <p:spPr bwMode="auto">
            <a:xfrm>
              <a:off x="371911" y="3515903"/>
              <a:ext cx="9276649" cy="850140"/>
            </a:xfrm>
            <a:prstGeom prst="rect">
              <a:avLst/>
            </a:prstGeom>
            <a:solidFill>
              <a:schemeClr val="bg1"/>
            </a:solidFill>
            <a:ln w="12700" algn="ctr">
              <a:solidFill>
                <a:schemeClr val="accent3"/>
              </a:solidFill>
              <a:miter lim="800000"/>
              <a:headEnd/>
              <a:tailEnd/>
            </a:ln>
            <a:effectLst/>
          </p:spPr>
          <p:txBody>
            <a:bodyPr lIns="581891" tIns="81818" rIns="81818" bIns="81818" anchor="ctr"/>
            <a:lstStyle/>
            <a:p>
              <a:pPr marL="327606" lvl="1" indent="1444" defTabSz="926532">
                <a:defRPr/>
              </a:pPr>
              <a:r>
                <a:rPr lang="en-GB" sz="1400" b="1" dirty="0">
                  <a:solidFill>
                    <a:schemeClr val="accent4"/>
                  </a:solidFill>
                  <a:latin typeface="Verdana" panose="020B0604030504040204" pitchFamily="34" charset="0"/>
                  <a:ea typeface="Verdana" panose="020B0604030504040204" pitchFamily="34" charset="0"/>
                  <a:cs typeface="Verdana" panose="020B0604030504040204" pitchFamily="34" charset="0"/>
                </a:rPr>
                <a:t>Clear communication</a:t>
              </a:r>
            </a:p>
            <a:p>
              <a:pPr marL="327606" lvl="1" indent="1444" defTabSz="926532">
                <a:defRPr/>
              </a:pPr>
              <a:r>
                <a:rPr lang="en-GB" sz="1400" dirty="0">
                  <a:latin typeface="Verdana" panose="020B0604030504040204" pitchFamily="34" charset="0"/>
                  <a:ea typeface="Verdana" panose="020B0604030504040204" pitchFamily="34" charset="0"/>
                  <a:cs typeface="Verdana" panose="020B0604030504040204" pitchFamily="34" charset="0"/>
                </a:rPr>
                <a:t>We will focus on identifying the relevant issues and ensure that they are effectively communicated to you. </a:t>
              </a:r>
            </a:p>
          </p:txBody>
        </p:sp>
        <p:sp>
          <p:nvSpPr>
            <p:cNvPr id="10" name="AutoShape 5"/>
            <p:cNvSpPr>
              <a:spLocks noChangeArrowheads="1"/>
            </p:cNvSpPr>
            <p:nvPr/>
          </p:nvSpPr>
          <p:spPr bwMode="auto">
            <a:xfrm rot="5400000">
              <a:off x="-173657" y="2839736"/>
              <a:ext cx="1133856" cy="54864"/>
            </a:xfrm>
            <a:prstGeom prst="rect">
              <a:avLst/>
            </a:prstGeom>
            <a:solidFill>
              <a:srgbClr val="002776"/>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1" name="AutoShape 5"/>
            <p:cNvSpPr>
              <a:spLocks noChangeArrowheads="1"/>
            </p:cNvSpPr>
            <p:nvPr/>
          </p:nvSpPr>
          <p:spPr bwMode="auto">
            <a:xfrm rot="5400000">
              <a:off x="-50638" y="1694790"/>
              <a:ext cx="888681" cy="54864"/>
            </a:xfrm>
            <a:prstGeom prst="rect">
              <a:avLst/>
            </a:prstGeom>
            <a:solidFill>
              <a:srgbClr val="002776"/>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2" name="AutoShape 5"/>
            <p:cNvSpPr>
              <a:spLocks noChangeArrowheads="1"/>
            </p:cNvSpPr>
            <p:nvPr/>
          </p:nvSpPr>
          <p:spPr bwMode="auto">
            <a:xfrm rot="5400000">
              <a:off x="-59141" y="4911341"/>
              <a:ext cx="905687" cy="54864"/>
            </a:xfrm>
            <a:prstGeom prst="rect">
              <a:avLst/>
            </a:prstGeom>
            <a:solidFill>
              <a:srgbClr val="002776"/>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3" name="AutoShape 5"/>
            <p:cNvSpPr>
              <a:spLocks noChangeArrowheads="1"/>
            </p:cNvSpPr>
            <p:nvPr/>
          </p:nvSpPr>
          <p:spPr bwMode="auto">
            <a:xfrm rot="5400000">
              <a:off x="-47614" y="3922473"/>
              <a:ext cx="868680" cy="54864"/>
            </a:xfrm>
            <a:prstGeom prst="rect">
              <a:avLst/>
            </a:prstGeom>
            <a:solidFill>
              <a:srgbClr val="002776"/>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4" name="AutoShape 5"/>
            <p:cNvSpPr>
              <a:spLocks noChangeArrowheads="1"/>
            </p:cNvSpPr>
            <p:nvPr/>
          </p:nvSpPr>
          <p:spPr bwMode="auto">
            <a:xfrm rot="5400000">
              <a:off x="241582" y="2506242"/>
              <a:ext cx="1143871" cy="715493"/>
            </a:xfrm>
            <a:prstGeom prst="rect">
              <a:avLst/>
            </a:prstGeom>
            <a:solidFill>
              <a:srgbClr val="012169"/>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AutoShape 5"/>
            <p:cNvSpPr>
              <a:spLocks noChangeArrowheads="1"/>
            </p:cNvSpPr>
            <p:nvPr/>
          </p:nvSpPr>
          <p:spPr bwMode="auto">
            <a:xfrm rot="5400000">
              <a:off x="369178" y="1364476"/>
              <a:ext cx="888681" cy="715493"/>
            </a:xfrm>
            <a:prstGeom prst="rect">
              <a:avLst/>
            </a:prstGeom>
            <a:solidFill>
              <a:srgbClr val="012169"/>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AutoShape 5"/>
            <p:cNvSpPr>
              <a:spLocks noChangeArrowheads="1"/>
            </p:cNvSpPr>
            <p:nvPr/>
          </p:nvSpPr>
          <p:spPr bwMode="auto">
            <a:xfrm rot="5400000">
              <a:off x="360675" y="4581025"/>
              <a:ext cx="905685" cy="715493"/>
            </a:xfrm>
            <a:prstGeom prst="rect">
              <a:avLst/>
            </a:prstGeom>
            <a:solidFill>
              <a:srgbClr val="012169"/>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7" name="AutoShape 5"/>
            <p:cNvSpPr>
              <a:spLocks noChangeArrowheads="1"/>
            </p:cNvSpPr>
            <p:nvPr/>
          </p:nvSpPr>
          <p:spPr bwMode="auto">
            <a:xfrm rot="5400000">
              <a:off x="388094" y="3611418"/>
              <a:ext cx="850848" cy="715493"/>
            </a:xfrm>
            <a:prstGeom prst="rect">
              <a:avLst/>
            </a:prstGeom>
            <a:solidFill>
              <a:srgbClr val="012169"/>
            </a:solidFill>
            <a:ln w="12700" algn="ctr">
              <a:noFill/>
              <a:miter lim="800000"/>
              <a:headEnd/>
              <a:tailEnd/>
            </a:ln>
            <a:effectLst/>
          </p:spPr>
          <p:txBody>
            <a:bodyPr lIns="81818" tIns="81818" rIns="81818" bIns="81818" anchor="ctr"/>
            <a:lstStyle/>
            <a:p>
              <a:pPr algn="just">
                <a:defRPr/>
              </a:pPr>
              <a:endParaRPr lang="en-GB"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8" name="Freeform 233"/>
            <p:cNvSpPr>
              <a:spLocks noEditPoints="1"/>
            </p:cNvSpPr>
            <p:nvPr/>
          </p:nvSpPr>
          <p:spPr bwMode="auto">
            <a:xfrm>
              <a:off x="518621" y="1451989"/>
              <a:ext cx="589793" cy="541148"/>
            </a:xfrm>
            <a:custGeom>
              <a:avLst/>
              <a:gdLst>
                <a:gd name="T0" fmla="*/ 172 w 406"/>
                <a:gd name="T1" fmla="*/ 52 h 378"/>
                <a:gd name="T2" fmla="*/ 180 w 406"/>
                <a:gd name="T3" fmla="*/ 24 h 378"/>
                <a:gd name="T4" fmla="*/ 150 w 406"/>
                <a:gd name="T5" fmla="*/ 0 h 378"/>
                <a:gd name="T6" fmla="*/ 122 w 406"/>
                <a:gd name="T7" fmla="*/ 18 h 378"/>
                <a:gd name="T8" fmla="*/ 122 w 406"/>
                <a:gd name="T9" fmla="*/ 42 h 378"/>
                <a:gd name="T10" fmla="*/ 150 w 406"/>
                <a:gd name="T11" fmla="*/ 60 h 378"/>
                <a:gd name="T12" fmla="*/ 276 w 406"/>
                <a:gd name="T13" fmla="*/ 60 h 378"/>
                <a:gd name="T14" fmla="*/ 284 w 406"/>
                <a:gd name="T15" fmla="*/ 34 h 378"/>
                <a:gd name="T16" fmla="*/ 254 w 406"/>
                <a:gd name="T17" fmla="*/ 10 h 378"/>
                <a:gd name="T18" fmla="*/ 226 w 406"/>
                <a:gd name="T19" fmla="*/ 28 h 378"/>
                <a:gd name="T20" fmla="*/ 226 w 406"/>
                <a:gd name="T21" fmla="*/ 52 h 378"/>
                <a:gd name="T22" fmla="*/ 254 w 406"/>
                <a:gd name="T23" fmla="*/ 70 h 378"/>
                <a:gd name="T24" fmla="*/ 76 w 406"/>
                <a:gd name="T25" fmla="*/ 74 h 378"/>
                <a:gd name="T26" fmla="*/ 64 w 406"/>
                <a:gd name="T27" fmla="*/ 40 h 378"/>
                <a:gd name="T28" fmla="*/ 30 w 406"/>
                <a:gd name="T29" fmla="*/ 54 h 378"/>
                <a:gd name="T30" fmla="*/ 44 w 406"/>
                <a:gd name="T31" fmla="*/ 86 h 378"/>
                <a:gd name="T32" fmla="*/ 360 w 406"/>
                <a:gd name="T33" fmla="*/ 80 h 378"/>
                <a:gd name="T34" fmla="*/ 374 w 406"/>
                <a:gd name="T35" fmla="*/ 48 h 378"/>
                <a:gd name="T36" fmla="*/ 342 w 406"/>
                <a:gd name="T37" fmla="*/ 34 h 378"/>
                <a:gd name="T38" fmla="*/ 328 w 406"/>
                <a:gd name="T39" fmla="*/ 66 h 378"/>
                <a:gd name="T40" fmla="*/ 378 w 406"/>
                <a:gd name="T41" fmla="*/ 94 h 378"/>
                <a:gd name="T42" fmla="*/ 312 w 406"/>
                <a:gd name="T43" fmla="*/ 96 h 378"/>
                <a:gd name="T44" fmla="*/ 228 w 406"/>
                <a:gd name="T45" fmla="*/ 82 h 378"/>
                <a:gd name="T46" fmla="*/ 204 w 406"/>
                <a:gd name="T47" fmla="*/ 90 h 378"/>
                <a:gd name="T48" fmla="*/ 124 w 406"/>
                <a:gd name="T49" fmla="*/ 78 h 378"/>
                <a:gd name="T50" fmla="*/ 92 w 406"/>
                <a:gd name="T51" fmla="*/ 104 h 378"/>
                <a:gd name="T52" fmla="*/ 28 w 406"/>
                <a:gd name="T53" fmla="*/ 100 h 378"/>
                <a:gd name="T54" fmla="*/ 0 w 406"/>
                <a:gd name="T55" fmla="*/ 132 h 378"/>
                <a:gd name="T56" fmla="*/ 4 w 406"/>
                <a:gd name="T57" fmla="*/ 222 h 378"/>
                <a:gd name="T58" fmla="*/ 18 w 406"/>
                <a:gd name="T59" fmla="*/ 214 h 378"/>
                <a:gd name="T60" fmla="*/ 30 w 406"/>
                <a:gd name="T61" fmla="*/ 128 h 378"/>
                <a:gd name="T62" fmla="*/ 34 w 406"/>
                <a:gd name="T63" fmla="*/ 344 h 378"/>
                <a:gd name="T64" fmla="*/ 60 w 406"/>
                <a:gd name="T65" fmla="*/ 350 h 378"/>
                <a:gd name="T66" fmla="*/ 78 w 406"/>
                <a:gd name="T67" fmla="*/ 326 h 378"/>
                <a:gd name="T68" fmla="*/ 92 w 406"/>
                <a:gd name="T69" fmla="*/ 218 h 378"/>
                <a:gd name="T70" fmla="*/ 104 w 406"/>
                <a:gd name="T71" fmla="*/ 222 h 378"/>
                <a:gd name="T72" fmla="*/ 108 w 406"/>
                <a:gd name="T73" fmla="*/ 112 h 378"/>
                <a:gd name="T74" fmla="*/ 120 w 406"/>
                <a:gd name="T75" fmla="*/ 356 h 378"/>
                <a:gd name="T76" fmla="*/ 142 w 406"/>
                <a:gd name="T77" fmla="*/ 378 h 378"/>
                <a:gd name="T78" fmla="*/ 180 w 406"/>
                <a:gd name="T79" fmla="*/ 362 h 378"/>
                <a:gd name="T80" fmla="*/ 194 w 406"/>
                <a:gd name="T81" fmla="*/ 112 h 378"/>
                <a:gd name="T82" fmla="*/ 198 w 406"/>
                <a:gd name="T83" fmla="*/ 222 h 378"/>
                <a:gd name="T84" fmla="*/ 210 w 406"/>
                <a:gd name="T85" fmla="*/ 210 h 378"/>
                <a:gd name="T86" fmla="*/ 222 w 406"/>
                <a:gd name="T87" fmla="*/ 346 h 378"/>
                <a:gd name="T88" fmla="*/ 232 w 406"/>
                <a:gd name="T89" fmla="*/ 370 h 378"/>
                <a:gd name="T90" fmla="*/ 274 w 406"/>
                <a:gd name="T91" fmla="*/ 374 h 378"/>
                <a:gd name="T92" fmla="*/ 288 w 406"/>
                <a:gd name="T93" fmla="*/ 118 h 378"/>
                <a:gd name="T94" fmla="*/ 300 w 406"/>
                <a:gd name="T95" fmla="*/ 218 h 378"/>
                <a:gd name="T96" fmla="*/ 314 w 406"/>
                <a:gd name="T97" fmla="*/ 220 h 378"/>
                <a:gd name="T98" fmla="*/ 328 w 406"/>
                <a:gd name="T99" fmla="*/ 128 h 378"/>
                <a:gd name="T100" fmla="*/ 332 w 406"/>
                <a:gd name="T101" fmla="*/ 338 h 378"/>
                <a:gd name="T102" fmla="*/ 368 w 406"/>
                <a:gd name="T103" fmla="*/ 342 h 378"/>
                <a:gd name="T104" fmla="*/ 378 w 406"/>
                <a:gd name="T105" fmla="*/ 128 h 378"/>
                <a:gd name="T106" fmla="*/ 390 w 406"/>
                <a:gd name="T107" fmla="*/ 216 h 378"/>
                <a:gd name="T108" fmla="*/ 402 w 406"/>
                <a:gd name="T109" fmla="*/ 222 h 378"/>
                <a:gd name="T110" fmla="*/ 406 w 406"/>
                <a:gd name="T111" fmla="*/ 130 h 378"/>
                <a:gd name="T112" fmla="*/ 384 w 406"/>
                <a:gd name="T113" fmla="*/ 94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06" h="378">
                  <a:moveTo>
                    <a:pt x="150" y="60"/>
                  </a:moveTo>
                  <a:lnTo>
                    <a:pt x="150" y="60"/>
                  </a:lnTo>
                  <a:lnTo>
                    <a:pt x="156" y="60"/>
                  </a:lnTo>
                  <a:lnTo>
                    <a:pt x="162" y="58"/>
                  </a:lnTo>
                  <a:lnTo>
                    <a:pt x="172" y="52"/>
                  </a:lnTo>
                  <a:lnTo>
                    <a:pt x="178" y="42"/>
                  </a:lnTo>
                  <a:lnTo>
                    <a:pt x="180" y="36"/>
                  </a:lnTo>
                  <a:lnTo>
                    <a:pt x="180" y="30"/>
                  </a:lnTo>
                  <a:lnTo>
                    <a:pt x="180" y="30"/>
                  </a:lnTo>
                  <a:lnTo>
                    <a:pt x="180" y="24"/>
                  </a:lnTo>
                  <a:lnTo>
                    <a:pt x="178" y="18"/>
                  </a:lnTo>
                  <a:lnTo>
                    <a:pt x="172" y="10"/>
                  </a:lnTo>
                  <a:lnTo>
                    <a:pt x="162" y="2"/>
                  </a:lnTo>
                  <a:lnTo>
                    <a:pt x="156" y="0"/>
                  </a:lnTo>
                  <a:lnTo>
                    <a:pt x="150" y="0"/>
                  </a:lnTo>
                  <a:lnTo>
                    <a:pt x="150" y="0"/>
                  </a:lnTo>
                  <a:lnTo>
                    <a:pt x="144" y="0"/>
                  </a:lnTo>
                  <a:lnTo>
                    <a:pt x="138" y="2"/>
                  </a:lnTo>
                  <a:lnTo>
                    <a:pt x="130" y="10"/>
                  </a:lnTo>
                  <a:lnTo>
                    <a:pt x="122" y="18"/>
                  </a:lnTo>
                  <a:lnTo>
                    <a:pt x="120" y="24"/>
                  </a:lnTo>
                  <a:lnTo>
                    <a:pt x="120" y="30"/>
                  </a:lnTo>
                  <a:lnTo>
                    <a:pt x="120" y="30"/>
                  </a:lnTo>
                  <a:lnTo>
                    <a:pt x="120" y="36"/>
                  </a:lnTo>
                  <a:lnTo>
                    <a:pt x="122" y="42"/>
                  </a:lnTo>
                  <a:lnTo>
                    <a:pt x="130" y="52"/>
                  </a:lnTo>
                  <a:lnTo>
                    <a:pt x="138" y="58"/>
                  </a:lnTo>
                  <a:lnTo>
                    <a:pt x="144" y="60"/>
                  </a:lnTo>
                  <a:lnTo>
                    <a:pt x="150" y="60"/>
                  </a:lnTo>
                  <a:lnTo>
                    <a:pt x="150" y="60"/>
                  </a:lnTo>
                  <a:close/>
                  <a:moveTo>
                    <a:pt x="254" y="70"/>
                  </a:moveTo>
                  <a:lnTo>
                    <a:pt x="254" y="70"/>
                  </a:lnTo>
                  <a:lnTo>
                    <a:pt x="260" y="70"/>
                  </a:lnTo>
                  <a:lnTo>
                    <a:pt x="266" y="68"/>
                  </a:lnTo>
                  <a:lnTo>
                    <a:pt x="276" y="60"/>
                  </a:lnTo>
                  <a:lnTo>
                    <a:pt x="282" y="52"/>
                  </a:lnTo>
                  <a:lnTo>
                    <a:pt x="284" y="46"/>
                  </a:lnTo>
                  <a:lnTo>
                    <a:pt x="284" y="40"/>
                  </a:lnTo>
                  <a:lnTo>
                    <a:pt x="284" y="40"/>
                  </a:lnTo>
                  <a:lnTo>
                    <a:pt x="284" y="34"/>
                  </a:lnTo>
                  <a:lnTo>
                    <a:pt x="282" y="28"/>
                  </a:lnTo>
                  <a:lnTo>
                    <a:pt x="276" y="18"/>
                  </a:lnTo>
                  <a:lnTo>
                    <a:pt x="266" y="12"/>
                  </a:lnTo>
                  <a:lnTo>
                    <a:pt x="260" y="10"/>
                  </a:lnTo>
                  <a:lnTo>
                    <a:pt x="254" y="10"/>
                  </a:lnTo>
                  <a:lnTo>
                    <a:pt x="254" y="10"/>
                  </a:lnTo>
                  <a:lnTo>
                    <a:pt x="248" y="10"/>
                  </a:lnTo>
                  <a:lnTo>
                    <a:pt x="242" y="12"/>
                  </a:lnTo>
                  <a:lnTo>
                    <a:pt x="234" y="18"/>
                  </a:lnTo>
                  <a:lnTo>
                    <a:pt x="226" y="28"/>
                  </a:lnTo>
                  <a:lnTo>
                    <a:pt x="226" y="34"/>
                  </a:lnTo>
                  <a:lnTo>
                    <a:pt x="224" y="40"/>
                  </a:lnTo>
                  <a:lnTo>
                    <a:pt x="224" y="40"/>
                  </a:lnTo>
                  <a:lnTo>
                    <a:pt x="226" y="46"/>
                  </a:lnTo>
                  <a:lnTo>
                    <a:pt x="226" y="52"/>
                  </a:lnTo>
                  <a:lnTo>
                    <a:pt x="234" y="60"/>
                  </a:lnTo>
                  <a:lnTo>
                    <a:pt x="242" y="68"/>
                  </a:lnTo>
                  <a:lnTo>
                    <a:pt x="248" y="70"/>
                  </a:lnTo>
                  <a:lnTo>
                    <a:pt x="254" y="70"/>
                  </a:lnTo>
                  <a:lnTo>
                    <a:pt x="254" y="70"/>
                  </a:lnTo>
                  <a:close/>
                  <a:moveTo>
                    <a:pt x="54" y="88"/>
                  </a:moveTo>
                  <a:lnTo>
                    <a:pt x="54" y="88"/>
                  </a:lnTo>
                  <a:lnTo>
                    <a:pt x="64" y="86"/>
                  </a:lnTo>
                  <a:lnTo>
                    <a:pt x="72" y="82"/>
                  </a:lnTo>
                  <a:lnTo>
                    <a:pt x="76" y="74"/>
                  </a:lnTo>
                  <a:lnTo>
                    <a:pt x="78" y="64"/>
                  </a:lnTo>
                  <a:lnTo>
                    <a:pt x="78" y="64"/>
                  </a:lnTo>
                  <a:lnTo>
                    <a:pt x="76" y="54"/>
                  </a:lnTo>
                  <a:lnTo>
                    <a:pt x="72" y="46"/>
                  </a:lnTo>
                  <a:lnTo>
                    <a:pt x="64" y="40"/>
                  </a:lnTo>
                  <a:lnTo>
                    <a:pt x="54" y="38"/>
                  </a:lnTo>
                  <a:lnTo>
                    <a:pt x="54" y="38"/>
                  </a:lnTo>
                  <a:lnTo>
                    <a:pt x="44" y="40"/>
                  </a:lnTo>
                  <a:lnTo>
                    <a:pt x="36" y="46"/>
                  </a:lnTo>
                  <a:lnTo>
                    <a:pt x="30" y="54"/>
                  </a:lnTo>
                  <a:lnTo>
                    <a:pt x="28" y="64"/>
                  </a:lnTo>
                  <a:lnTo>
                    <a:pt x="28" y="64"/>
                  </a:lnTo>
                  <a:lnTo>
                    <a:pt x="30" y="74"/>
                  </a:lnTo>
                  <a:lnTo>
                    <a:pt x="36" y="82"/>
                  </a:lnTo>
                  <a:lnTo>
                    <a:pt x="44" y="86"/>
                  </a:lnTo>
                  <a:lnTo>
                    <a:pt x="54" y="88"/>
                  </a:lnTo>
                  <a:lnTo>
                    <a:pt x="54" y="88"/>
                  </a:lnTo>
                  <a:close/>
                  <a:moveTo>
                    <a:pt x="352" y="82"/>
                  </a:moveTo>
                  <a:lnTo>
                    <a:pt x="352" y="82"/>
                  </a:lnTo>
                  <a:lnTo>
                    <a:pt x="360" y="80"/>
                  </a:lnTo>
                  <a:lnTo>
                    <a:pt x="368" y="74"/>
                  </a:lnTo>
                  <a:lnTo>
                    <a:pt x="374" y="66"/>
                  </a:lnTo>
                  <a:lnTo>
                    <a:pt x="376" y="56"/>
                  </a:lnTo>
                  <a:lnTo>
                    <a:pt x="376" y="56"/>
                  </a:lnTo>
                  <a:lnTo>
                    <a:pt x="374" y="48"/>
                  </a:lnTo>
                  <a:lnTo>
                    <a:pt x="368" y="40"/>
                  </a:lnTo>
                  <a:lnTo>
                    <a:pt x="360" y="34"/>
                  </a:lnTo>
                  <a:lnTo>
                    <a:pt x="352" y="32"/>
                  </a:lnTo>
                  <a:lnTo>
                    <a:pt x="352" y="32"/>
                  </a:lnTo>
                  <a:lnTo>
                    <a:pt x="342" y="34"/>
                  </a:lnTo>
                  <a:lnTo>
                    <a:pt x="334" y="40"/>
                  </a:lnTo>
                  <a:lnTo>
                    <a:pt x="328" y="48"/>
                  </a:lnTo>
                  <a:lnTo>
                    <a:pt x="326" y="56"/>
                  </a:lnTo>
                  <a:lnTo>
                    <a:pt x="326" y="56"/>
                  </a:lnTo>
                  <a:lnTo>
                    <a:pt x="328" y="66"/>
                  </a:lnTo>
                  <a:lnTo>
                    <a:pt x="334" y="74"/>
                  </a:lnTo>
                  <a:lnTo>
                    <a:pt x="342" y="80"/>
                  </a:lnTo>
                  <a:lnTo>
                    <a:pt x="352" y="82"/>
                  </a:lnTo>
                  <a:lnTo>
                    <a:pt x="352" y="82"/>
                  </a:lnTo>
                  <a:close/>
                  <a:moveTo>
                    <a:pt x="378" y="94"/>
                  </a:moveTo>
                  <a:lnTo>
                    <a:pt x="324" y="94"/>
                  </a:lnTo>
                  <a:lnTo>
                    <a:pt x="324" y="94"/>
                  </a:lnTo>
                  <a:lnTo>
                    <a:pt x="318" y="94"/>
                  </a:lnTo>
                  <a:lnTo>
                    <a:pt x="312" y="96"/>
                  </a:lnTo>
                  <a:lnTo>
                    <a:pt x="312" y="96"/>
                  </a:lnTo>
                  <a:lnTo>
                    <a:pt x="308" y="90"/>
                  </a:lnTo>
                  <a:lnTo>
                    <a:pt x="300" y="84"/>
                  </a:lnTo>
                  <a:lnTo>
                    <a:pt x="292" y="82"/>
                  </a:lnTo>
                  <a:lnTo>
                    <a:pt x="284" y="82"/>
                  </a:lnTo>
                  <a:lnTo>
                    <a:pt x="228" y="82"/>
                  </a:lnTo>
                  <a:lnTo>
                    <a:pt x="228" y="82"/>
                  </a:lnTo>
                  <a:lnTo>
                    <a:pt x="214" y="82"/>
                  </a:lnTo>
                  <a:lnTo>
                    <a:pt x="208" y="86"/>
                  </a:lnTo>
                  <a:lnTo>
                    <a:pt x="204" y="90"/>
                  </a:lnTo>
                  <a:lnTo>
                    <a:pt x="204" y="90"/>
                  </a:lnTo>
                  <a:lnTo>
                    <a:pt x="198" y="84"/>
                  </a:lnTo>
                  <a:lnTo>
                    <a:pt x="192" y="80"/>
                  </a:lnTo>
                  <a:lnTo>
                    <a:pt x="186" y="78"/>
                  </a:lnTo>
                  <a:lnTo>
                    <a:pt x="180" y="78"/>
                  </a:lnTo>
                  <a:lnTo>
                    <a:pt x="124" y="78"/>
                  </a:lnTo>
                  <a:lnTo>
                    <a:pt x="124" y="78"/>
                  </a:lnTo>
                  <a:lnTo>
                    <a:pt x="112" y="80"/>
                  </a:lnTo>
                  <a:lnTo>
                    <a:pt x="104" y="84"/>
                  </a:lnTo>
                  <a:lnTo>
                    <a:pt x="96" y="92"/>
                  </a:lnTo>
                  <a:lnTo>
                    <a:pt x="92" y="104"/>
                  </a:lnTo>
                  <a:lnTo>
                    <a:pt x="92" y="104"/>
                  </a:lnTo>
                  <a:lnTo>
                    <a:pt x="84" y="102"/>
                  </a:lnTo>
                  <a:lnTo>
                    <a:pt x="74" y="100"/>
                  </a:lnTo>
                  <a:lnTo>
                    <a:pt x="28" y="100"/>
                  </a:lnTo>
                  <a:lnTo>
                    <a:pt x="28" y="100"/>
                  </a:lnTo>
                  <a:lnTo>
                    <a:pt x="22" y="102"/>
                  </a:lnTo>
                  <a:lnTo>
                    <a:pt x="18" y="104"/>
                  </a:lnTo>
                  <a:lnTo>
                    <a:pt x="8" y="110"/>
                  </a:lnTo>
                  <a:lnTo>
                    <a:pt x="2" y="120"/>
                  </a:lnTo>
                  <a:lnTo>
                    <a:pt x="0" y="132"/>
                  </a:lnTo>
                  <a:lnTo>
                    <a:pt x="0" y="210"/>
                  </a:lnTo>
                  <a:lnTo>
                    <a:pt x="0" y="210"/>
                  </a:lnTo>
                  <a:lnTo>
                    <a:pt x="0" y="214"/>
                  </a:lnTo>
                  <a:lnTo>
                    <a:pt x="2" y="218"/>
                  </a:lnTo>
                  <a:lnTo>
                    <a:pt x="4" y="222"/>
                  </a:lnTo>
                  <a:lnTo>
                    <a:pt x="10" y="222"/>
                  </a:lnTo>
                  <a:lnTo>
                    <a:pt x="10" y="222"/>
                  </a:lnTo>
                  <a:lnTo>
                    <a:pt x="14" y="222"/>
                  </a:lnTo>
                  <a:lnTo>
                    <a:pt x="18" y="218"/>
                  </a:lnTo>
                  <a:lnTo>
                    <a:pt x="18" y="214"/>
                  </a:lnTo>
                  <a:lnTo>
                    <a:pt x="18" y="210"/>
                  </a:lnTo>
                  <a:lnTo>
                    <a:pt x="18" y="210"/>
                  </a:lnTo>
                  <a:lnTo>
                    <a:pt x="20" y="128"/>
                  </a:lnTo>
                  <a:lnTo>
                    <a:pt x="30" y="128"/>
                  </a:lnTo>
                  <a:lnTo>
                    <a:pt x="30" y="128"/>
                  </a:lnTo>
                  <a:lnTo>
                    <a:pt x="30" y="328"/>
                  </a:lnTo>
                  <a:lnTo>
                    <a:pt x="30" y="328"/>
                  </a:lnTo>
                  <a:lnTo>
                    <a:pt x="30" y="336"/>
                  </a:lnTo>
                  <a:lnTo>
                    <a:pt x="32" y="340"/>
                  </a:lnTo>
                  <a:lnTo>
                    <a:pt x="34" y="344"/>
                  </a:lnTo>
                  <a:lnTo>
                    <a:pt x="38" y="346"/>
                  </a:lnTo>
                  <a:lnTo>
                    <a:pt x="44" y="350"/>
                  </a:lnTo>
                  <a:lnTo>
                    <a:pt x="50" y="350"/>
                  </a:lnTo>
                  <a:lnTo>
                    <a:pt x="60" y="350"/>
                  </a:lnTo>
                  <a:lnTo>
                    <a:pt x="60" y="350"/>
                  </a:lnTo>
                  <a:lnTo>
                    <a:pt x="66" y="350"/>
                  </a:lnTo>
                  <a:lnTo>
                    <a:pt x="72" y="346"/>
                  </a:lnTo>
                  <a:lnTo>
                    <a:pt x="76" y="338"/>
                  </a:lnTo>
                  <a:lnTo>
                    <a:pt x="78" y="326"/>
                  </a:lnTo>
                  <a:lnTo>
                    <a:pt x="78" y="326"/>
                  </a:lnTo>
                  <a:lnTo>
                    <a:pt x="80" y="128"/>
                  </a:lnTo>
                  <a:lnTo>
                    <a:pt x="90" y="128"/>
                  </a:lnTo>
                  <a:lnTo>
                    <a:pt x="90" y="212"/>
                  </a:lnTo>
                  <a:lnTo>
                    <a:pt x="90" y="212"/>
                  </a:lnTo>
                  <a:lnTo>
                    <a:pt x="92" y="218"/>
                  </a:lnTo>
                  <a:lnTo>
                    <a:pt x="92" y="220"/>
                  </a:lnTo>
                  <a:lnTo>
                    <a:pt x="96" y="222"/>
                  </a:lnTo>
                  <a:lnTo>
                    <a:pt x="100" y="222"/>
                  </a:lnTo>
                  <a:lnTo>
                    <a:pt x="100" y="222"/>
                  </a:lnTo>
                  <a:lnTo>
                    <a:pt x="104" y="222"/>
                  </a:lnTo>
                  <a:lnTo>
                    <a:pt x="106" y="220"/>
                  </a:lnTo>
                  <a:lnTo>
                    <a:pt x="108" y="216"/>
                  </a:lnTo>
                  <a:lnTo>
                    <a:pt x="108" y="212"/>
                  </a:lnTo>
                  <a:lnTo>
                    <a:pt x="108" y="212"/>
                  </a:lnTo>
                  <a:lnTo>
                    <a:pt x="108" y="112"/>
                  </a:lnTo>
                  <a:lnTo>
                    <a:pt x="120" y="112"/>
                  </a:lnTo>
                  <a:lnTo>
                    <a:pt x="120" y="112"/>
                  </a:lnTo>
                  <a:lnTo>
                    <a:pt x="120" y="348"/>
                  </a:lnTo>
                  <a:lnTo>
                    <a:pt x="120" y="348"/>
                  </a:lnTo>
                  <a:lnTo>
                    <a:pt x="120" y="356"/>
                  </a:lnTo>
                  <a:lnTo>
                    <a:pt x="122" y="362"/>
                  </a:lnTo>
                  <a:lnTo>
                    <a:pt x="124" y="368"/>
                  </a:lnTo>
                  <a:lnTo>
                    <a:pt x="128" y="372"/>
                  </a:lnTo>
                  <a:lnTo>
                    <a:pt x="134" y="376"/>
                  </a:lnTo>
                  <a:lnTo>
                    <a:pt x="142" y="378"/>
                  </a:lnTo>
                  <a:lnTo>
                    <a:pt x="164" y="378"/>
                  </a:lnTo>
                  <a:lnTo>
                    <a:pt x="164" y="378"/>
                  </a:lnTo>
                  <a:lnTo>
                    <a:pt x="170" y="376"/>
                  </a:lnTo>
                  <a:lnTo>
                    <a:pt x="176" y="372"/>
                  </a:lnTo>
                  <a:lnTo>
                    <a:pt x="180" y="362"/>
                  </a:lnTo>
                  <a:lnTo>
                    <a:pt x="184" y="344"/>
                  </a:lnTo>
                  <a:lnTo>
                    <a:pt x="184" y="344"/>
                  </a:lnTo>
                  <a:lnTo>
                    <a:pt x="184" y="112"/>
                  </a:lnTo>
                  <a:lnTo>
                    <a:pt x="194" y="112"/>
                  </a:lnTo>
                  <a:lnTo>
                    <a:pt x="194" y="112"/>
                  </a:lnTo>
                  <a:lnTo>
                    <a:pt x="194" y="208"/>
                  </a:lnTo>
                  <a:lnTo>
                    <a:pt x="194" y="208"/>
                  </a:lnTo>
                  <a:lnTo>
                    <a:pt x="194" y="216"/>
                  </a:lnTo>
                  <a:lnTo>
                    <a:pt x="196" y="220"/>
                  </a:lnTo>
                  <a:lnTo>
                    <a:pt x="198" y="222"/>
                  </a:lnTo>
                  <a:lnTo>
                    <a:pt x="204" y="222"/>
                  </a:lnTo>
                  <a:lnTo>
                    <a:pt x="204" y="222"/>
                  </a:lnTo>
                  <a:lnTo>
                    <a:pt x="208" y="222"/>
                  </a:lnTo>
                  <a:lnTo>
                    <a:pt x="210" y="220"/>
                  </a:lnTo>
                  <a:lnTo>
                    <a:pt x="210" y="210"/>
                  </a:lnTo>
                  <a:lnTo>
                    <a:pt x="210" y="210"/>
                  </a:lnTo>
                  <a:lnTo>
                    <a:pt x="212" y="118"/>
                  </a:lnTo>
                  <a:lnTo>
                    <a:pt x="222" y="118"/>
                  </a:lnTo>
                  <a:lnTo>
                    <a:pt x="222" y="118"/>
                  </a:lnTo>
                  <a:lnTo>
                    <a:pt x="222" y="346"/>
                  </a:lnTo>
                  <a:lnTo>
                    <a:pt x="222" y="346"/>
                  </a:lnTo>
                  <a:lnTo>
                    <a:pt x="224" y="354"/>
                  </a:lnTo>
                  <a:lnTo>
                    <a:pt x="226" y="360"/>
                  </a:lnTo>
                  <a:lnTo>
                    <a:pt x="228" y="366"/>
                  </a:lnTo>
                  <a:lnTo>
                    <a:pt x="232" y="370"/>
                  </a:lnTo>
                  <a:lnTo>
                    <a:pt x="238" y="374"/>
                  </a:lnTo>
                  <a:lnTo>
                    <a:pt x="246" y="374"/>
                  </a:lnTo>
                  <a:lnTo>
                    <a:pt x="268" y="374"/>
                  </a:lnTo>
                  <a:lnTo>
                    <a:pt x="268" y="374"/>
                  </a:lnTo>
                  <a:lnTo>
                    <a:pt x="274" y="374"/>
                  </a:lnTo>
                  <a:lnTo>
                    <a:pt x="280" y="368"/>
                  </a:lnTo>
                  <a:lnTo>
                    <a:pt x="286" y="358"/>
                  </a:lnTo>
                  <a:lnTo>
                    <a:pt x="288" y="342"/>
                  </a:lnTo>
                  <a:lnTo>
                    <a:pt x="288" y="342"/>
                  </a:lnTo>
                  <a:lnTo>
                    <a:pt x="288" y="118"/>
                  </a:lnTo>
                  <a:lnTo>
                    <a:pt x="300" y="118"/>
                  </a:lnTo>
                  <a:lnTo>
                    <a:pt x="300" y="118"/>
                  </a:lnTo>
                  <a:lnTo>
                    <a:pt x="300" y="210"/>
                  </a:lnTo>
                  <a:lnTo>
                    <a:pt x="300" y="210"/>
                  </a:lnTo>
                  <a:lnTo>
                    <a:pt x="300" y="218"/>
                  </a:lnTo>
                  <a:lnTo>
                    <a:pt x="304" y="222"/>
                  </a:lnTo>
                  <a:lnTo>
                    <a:pt x="308" y="222"/>
                  </a:lnTo>
                  <a:lnTo>
                    <a:pt x="308" y="222"/>
                  </a:lnTo>
                  <a:lnTo>
                    <a:pt x="312" y="222"/>
                  </a:lnTo>
                  <a:lnTo>
                    <a:pt x="314" y="220"/>
                  </a:lnTo>
                  <a:lnTo>
                    <a:pt x="316" y="218"/>
                  </a:lnTo>
                  <a:lnTo>
                    <a:pt x="316" y="214"/>
                  </a:lnTo>
                  <a:lnTo>
                    <a:pt x="316" y="214"/>
                  </a:lnTo>
                  <a:lnTo>
                    <a:pt x="318" y="128"/>
                  </a:lnTo>
                  <a:lnTo>
                    <a:pt x="328" y="128"/>
                  </a:lnTo>
                  <a:lnTo>
                    <a:pt x="328" y="128"/>
                  </a:lnTo>
                  <a:lnTo>
                    <a:pt x="328" y="318"/>
                  </a:lnTo>
                  <a:lnTo>
                    <a:pt x="328" y="318"/>
                  </a:lnTo>
                  <a:lnTo>
                    <a:pt x="330" y="330"/>
                  </a:lnTo>
                  <a:lnTo>
                    <a:pt x="332" y="338"/>
                  </a:lnTo>
                  <a:lnTo>
                    <a:pt x="338" y="342"/>
                  </a:lnTo>
                  <a:lnTo>
                    <a:pt x="342" y="342"/>
                  </a:lnTo>
                  <a:lnTo>
                    <a:pt x="362" y="342"/>
                  </a:lnTo>
                  <a:lnTo>
                    <a:pt x="362" y="342"/>
                  </a:lnTo>
                  <a:lnTo>
                    <a:pt x="368" y="342"/>
                  </a:lnTo>
                  <a:lnTo>
                    <a:pt x="372" y="338"/>
                  </a:lnTo>
                  <a:lnTo>
                    <a:pt x="376" y="330"/>
                  </a:lnTo>
                  <a:lnTo>
                    <a:pt x="378" y="316"/>
                  </a:lnTo>
                  <a:lnTo>
                    <a:pt x="378" y="316"/>
                  </a:lnTo>
                  <a:lnTo>
                    <a:pt x="378" y="128"/>
                  </a:lnTo>
                  <a:lnTo>
                    <a:pt x="388" y="128"/>
                  </a:lnTo>
                  <a:lnTo>
                    <a:pt x="388" y="128"/>
                  </a:lnTo>
                  <a:lnTo>
                    <a:pt x="388" y="212"/>
                  </a:lnTo>
                  <a:lnTo>
                    <a:pt x="388" y="212"/>
                  </a:lnTo>
                  <a:lnTo>
                    <a:pt x="390" y="216"/>
                  </a:lnTo>
                  <a:lnTo>
                    <a:pt x="392" y="220"/>
                  </a:lnTo>
                  <a:lnTo>
                    <a:pt x="394" y="222"/>
                  </a:lnTo>
                  <a:lnTo>
                    <a:pt x="398" y="222"/>
                  </a:lnTo>
                  <a:lnTo>
                    <a:pt x="398" y="222"/>
                  </a:lnTo>
                  <a:lnTo>
                    <a:pt x="402" y="222"/>
                  </a:lnTo>
                  <a:lnTo>
                    <a:pt x="404" y="220"/>
                  </a:lnTo>
                  <a:lnTo>
                    <a:pt x="406" y="216"/>
                  </a:lnTo>
                  <a:lnTo>
                    <a:pt x="406" y="212"/>
                  </a:lnTo>
                  <a:lnTo>
                    <a:pt x="406" y="130"/>
                  </a:lnTo>
                  <a:lnTo>
                    <a:pt x="406" y="130"/>
                  </a:lnTo>
                  <a:lnTo>
                    <a:pt x="404" y="116"/>
                  </a:lnTo>
                  <a:lnTo>
                    <a:pt x="398" y="106"/>
                  </a:lnTo>
                  <a:lnTo>
                    <a:pt x="394" y="100"/>
                  </a:lnTo>
                  <a:lnTo>
                    <a:pt x="390" y="96"/>
                  </a:lnTo>
                  <a:lnTo>
                    <a:pt x="384" y="94"/>
                  </a:lnTo>
                  <a:lnTo>
                    <a:pt x="378" y="94"/>
                  </a:lnTo>
                  <a:lnTo>
                    <a:pt x="378" y="94"/>
                  </a:lnTo>
                  <a:close/>
                </a:path>
              </a:pathLst>
            </a:custGeom>
            <a:solidFill>
              <a:schemeClr val="bg2"/>
            </a:solidFill>
            <a:ln>
              <a:noFill/>
            </a:ln>
          </p:spPr>
          <p:txBody>
            <a:bodyPr vert="horz" wrap="square" lIns="83127" tIns="41564" rIns="83127" bIns="41564" numCol="1" anchor="t" anchorCtr="0" compatLnSpc="1">
              <a:prstTxWarp prst="textNoShape">
                <a:avLst/>
              </a:prstTxWarp>
            </a:bodyPr>
            <a:lstStyle/>
            <a:p>
              <a:endParaRPr lang="en-US"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Freeform 104"/>
            <p:cNvSpPr>
              <a:spLocks noEditPoints="1"/>
            </p:cNvSpPr>
            <p:nvPr/>
          </p:nvSpPr>
          <p:spPr bwMode="auto">
            <a:xfrm flipH="1">
              <a:off x="533012" y="2618410"/>
              <a:ext cx="561015" cy="481072"/>
            </a:xfrm>
            <a:custGeom>
              <a:avLst/>
              <a:gdLst>
                <a:gd name="T0" fmla="*/ 174 w 308"/>
                <a:gd name="T1" fmla="*/ 0 h 268"/>
                <a:gd name="T2" fmla="*/ 148 w 308"/>
                <a:gd name="T3" fmla="*/ 2 h 268"/>
                <a:gd name="T4" fmla="*/ 124 w 308"/>
                <a:gd name="T5" fmla="*/ 10 h 268"/>
                <a:gd name="T6" fmla="*/ 100 w 308"/>
                <a:gd name="T7" fmla="*/ 22 h 268"/>
                <a:gd name="T8" fmla="*/ 64 w 308"/>
                <a:gd name="T9" fmla="*/ 58 h 268"/>
                <a:gd name="T10" fmla="*/ 52 w 308"/>
                <a:gd name="T11" fmla="*/ 80 h 268"/>
                <a:gd name="T12" fmla="*/ 44 w 308"/>
                <a:gd name="T13" fmla="*/ 104 h 268"/>
                <a:gd name="T14" fmla="*/ 42 w 308"/>
                <a:gd name="T15" fmla="*/ 130 h 268"/>
                <a:gd name="T16" fmla="*/ 60 w 308"/>
                <a:gd name="T17" fmla="*/ 198 h 268"/>
                <a:gd name="T18" fmla="*/ 74 w 308"/>
                <a:gd name="T19" fmla="*/ 130 h 268"/>
                <a:gd name="T20" fmla="*/ 76 w 308"/>
                <a:gd name="T21" fmla="*/ 110 h 268"/>
                <a:gd name="T22" fmla="*/ 92 w 308"/>
                <a:gd name="T23" fmla="*/ 76 h 268"/>
                <a:gd name="T24" fmla="*/ 120 w 308"/>
                <a:gd name="T25" fmla="*/ 50 h 268"/>
                <a:gd name="T26" fmla="*/ 154 w 308"/>
                <a:gd name="T27" fmla="*/ 36 h 268"/>
                <a:gd name="T28" fmla="*/ 174 w 308"/>
                <a:gd name="T29" fmla="*/ 34 h 268"/>
                <a:gd name="T30" fmla="*/ 214 w 308"/>
                <a:gd name="T31" fmla="*/ 42 h 268"/>
                <a:gd name="T32" fmla="*/ 246 w 308"/>
                <a:gd name="T33" fmla="*/ 62 h 268"/>
                <a:gd name="T34" fmla="*/ 266 w 308"/>
                <a:gd name="T35" fmla="*/ 94 h 268"/>
                <a:gd name="T36" fmla="*/ 274 w 308"/>
                <a:gd name="T37" fmla="*/ 134 h 268"/>
                <a:gd name="T38" fmla="*/ 272 w 308"/>
                <a:gd name="T39" fmla="*/ 154 h 268"/>
                <a:gd name="T40" fmla="*/ 258 w 308"/>
                <a:gd name="T41" fmla="*/ 190 h 268"/>
                <a:gd name="T42" fmla="*/ 230 w 308"/>
                <a:gd name="T43" fmla="*/ 218 h 268"/>
                <a:gd name="T44" fmla="*/ 194 w 308"/>
                <a:gd name="T45" fmla="*/ 232 h 268"/>
                <a:gd name="T46" fmla="*/ 174 w 308"/>
                <a:gd name="T47" fmla="*/ 234 h 268"/>
                <a:gd name="T48" fmla="*/ 142 w 308"/>
                <a:gd name="T49" fmla="*/ 230 h 268"/>
                <a:gd name="T50" fmla="*/ 116 w 308"/>
                <a:gd name="T51" fmla="*/ 214 h 268"/>
                <a:gd name="T52" fmla="*/ 92 w 308"/>
                <a:gd name="T53" fmla="*/ 240 h 268"/>
                <a:gd name="T54" fmla="*/ 130 w 308"/>
                <a:gd name="T55" fmla="*/ 260 h 268"/>
                <a:gd name="T56" fmla="*/ 174 w 308"/>
                <a:gd name="T57" fmla="*/ 268 h 268"/>
                <a:gd name="T58" fmla="*/ 188 w 308"/>
                <a:gd name="T59" fmla="*/ 268 h 268"/>
                <a:gd name="T60" fmla="*/ 214 w 308"/>
                <a:gd name="T61" fmla="*/ 262 h 268"/>
                <a:gd name="T62" fmla="*/ 238 w 308"/>
                <a:gd name="T63" fmla="*/ 252 h 268"/>
                <a:gd name="T64" fmla="*/ 260 w 308"/>
                <a:gd name="T65" fmla="*/ 238 h 268"/>
                <a:gd name="T66" fmla="*/ 278 w 308"/>
                <a:gd name="T67" fmla="*/ 220 h 268"/>
                <a:gd name="T68" fmla="*/ 292 w 308"/>
                <a:gd name="T69" fmla="*/ 198 h 268"/>
                <a:gd name="T70" fmla="*/ 302 w 308"/>
                <a:gd name="T71" fmla="*/ 174 h 268"/>
                <a:gd name="T72" fmla="*/ 306 w 308"/>
                <a:gd name="T73" fmla="*/ 148 h 268"/>
                <a:gd name="T74" fmla="*/ 308 w 308"/>
                <a:gd name="T75" fmla="*/ 134 h 268"/>
                <a:gd name="T76" fmla="*/ 304 w 308"/>
                <a:gd name="T77" fmla="*/ 106 h 268"/>
                <a:gd name="T78" fmla="*/ 298 w 308"/>
                <a:gd name="T79" fmla="*/ 82 h 268"/>
                <a:gd name="T80" fmla="*/ 284 w 308"/>
                <a:gd name="T81" fmla="*/ 60 h 268"/>
                <a:gd name="T82" fmla="*/ 268 w 308"/>
                <a:gd name="T83" fmla="*/ 40 h 268"/>
                <a:gd name="T84" fmla="*/ 248 w 308"/>
                <a:gd name="T85" fmla="*/ 24 h 268"/>
                <a:gd name="T86" fmla="*/ 226 w 308"/>
                <a:gd name="T87" fmla="*/ 10 h 268"/>
                <a:gd name="T88" fmla="*/ 202 w 308"/>
                <a:gd name="T89" fmla="*/ 2 h 268"/>
                <a:gd name="T90" fmla="*/ 174 w 308"/>
                <a:gd name="T91" fmla="*/ 0 h 268"/>
                <a:gd name="T92" fmla="*/ 162 w 308"/>
                <a:gd name="T93" fmla="*/ 62 h 268"/>
                <a:gd name="T94" fmla="*/ 212 w 308"/>
                <a:gd name="T95" fmla="*/ 188 h 268"/>
                <a:gd name="T96" fmla="*/ 186 w 308"/>
                <a:gd name="T97" fmla="*/ 130 h 268"/>
                <a:gd name="T98" fmla="*/ 162 w 308"/>
                <a:gd name="T99" fmla="*/ 62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8" h="268">
                  <a:moveTo>
                    <a:pt x="174" y="0"/>
                  </a:moveTo>
                  <a:lnTo>
                    <a:pt x="174" y="0"/>
                  </a:lnTo>
                  <a:lnTo>
                    <a:pt x="160" y="0"/>
                  </a:lnTo>
                  <a:lnTo>
                    <a:pt x="148" y="2"/>
                  </a:lnTo>
                  <a:lnTo>
                    <a:pt x="136" y="6"/>
                  </a:lnTo>
                  <a:lnTo>
                    <a:pt x="124" y="10"/>
                  </a:lnTo>
                  <a:lnTo>
                    <a:pt x="112" y="16"/>
                  </a:lnTo>
                  <a:lnTo>
                    <a:pt x="100" y="22"/>
                  </a:lnTo>
                  <a:lnTo>
                    <a:pt x="82" y="38"/>
                  </a:lnTo>
                  <a:lnTo>
                    <a:pt x="64" y="58"/>
                  </a:lnTo>
                  <a:lnTo>
                    <a:pt x="58" y="68"/>
                  </a:lnTo>
                  <a:lnTo>
                    <a:pt x="52" y="80"/>
                  </a:lnTo>
                  <a:lnTo>
                    <a:pt x="48" y="92"/>
                  </a:lnTo>
                  <a:lnTo>
                    <a:pt x="44" y="104"/>
                  </a:lnTo>
                  <a:lnTo>
                    <a:pt x="42" y="118"/>
                  </a:lnTo>
                  <a:lnTo>
                    <a:pt x="42" y="130"/>
                  </a:lnTo>
                  <a:lnTo>
                    <a:pt x="0" y="130"/>
                  </a:lnTo>
                  <a:lnTo>
                    <a:pt x="60" y="198"/>
                  </a:lnTo>
                  <a:lnTo>
                    <a:pt x="120" y="130"/>
                  </a:lnTo>
                  <a:lnTo>
                    <a:pt x="74" y="130"/>
                  </a:lnTo>
                  <a:lnTo>
                    <a:pt x="74" y="130"/>
                  </a:lnTo>
                  <a:lnTo>
                    <a:pt x="76" y="110"/>
                  </a:lnTo>
                  <a:lnTo>
                    <a:pt x="84" y="92"/>
                  </a:lnTo>
                  <a:lnTo>
                    <a:pt x="92" y="76"/>
                  </a:lnTo>
                  <a:lnTo>
                    <a:pt x="104" y="62"/>
                  </a:lnTo>
                  <a:lnTo>
                    <a:pt x="120" y="50"/>
                  </a:lnTo>
                  <a:lnTo>
                    <a:pt x="136" y="42"/>
                  </a:lnTo>
                  <a:lnTo>
                    <a:pt x="154" y="36"/>
                  </a:lnTo>
                  <a:lnTo>
                    <a:pt x="174" y="34"/>
                  </a:lnTo>
                  <a:lnTo>
                    <a:pt x="174" y="34"/>
                  </a:lnTo>
                  <a:lnTo>
                    <a:pt x="194" y="36"/>
                  </a:lnTo>
                  <a:lnTo>
                    <a:pt x="214" y="42"/>
                  </a:lnTo>
                  <a:lnTo>
                    <a:pt x="230" y="50"/>
                  </a:lnTo>
                  <a:lnTo>
                    <a:pt x="246" y="62"/>
                  </a:lnTo>
                  <a:lnTo>
                    <a:pt x="258" y="78"/>
                  </a:lnTo>
                  <a:lnTo>
                    <a:pt x="266" y="94"/>
                  </a:lnTo>
                  <a:lnTo>
                    <a:pt x="272" y="114"/>
                  </a:lnTo>
                  <a:lnTo>
                    <a:pt x="274" y="134"/>
                  </a:lnTo>
                  <a:lnTo>
                    <a:pt x="274" y="134"/>
                  </a:lnTo>
                  <a:lnTo>
                    <a:pt x="272" y="154"/>
                  </a:lnTo>
                  <a:lnTo>
                    <a:pt x="266" y="172"/>
                  </a:lnTo>
                  <a:lnTo>
                    <a:pt x="258" y="190"/>
                  </a:lnTo>
                  <a:lnTo>
                    <a:pt x="246" y="204"/>
                  </a:lnTo>
                  <a:lnTo>
                    <a:pt x="230" y="218"/>
                  </a:lnTo>
                  <a:lnTo>
                    <a:pt x="214" y="226"/>
                  </a:lnTo>
                  <a:lnTo>
                    <a:pt x="194" y="232"/>
                  </a:lnTo>
                  <a:lnTo>
                    <a:pt x="174" y="234"/>
                  </a:lnTo>
                  <a:lnTo>
                    <a:pt x="174" y="234"/>
                  </a:lnTo>
                  <a:lnTo>
                    <a:pt x="158" y="232"/>
                  </a:lnTo>
                  <a:lnTo>
                    <a:pt x="142" y="230"/>
                  </a:lnTo>
                  <a:lnTo>
                    <a:pt x="128" y="224"/>
                  </a:lnTo>
                  <a:lnTo>
                    <a:pt x="116" y="214"/>
                  </a:lnTo>
                  <a:lnTo>
                    <a:pt x="92" y="240"/>
                  </a:lnTo>
                  <a:lnTo>
                    <a:pt x="92" y="240"/>
                  </a:lnTo>
                  <a:lnTo>
                    <a:pt x="110" y="252"/>
                  </a:lnTo>
                  <a:lnTo>
                    <a:pt x="130" y="260"/>
                  </a:lnTo>
                  <a:lnTo>
                    <a:pt x="152" y="266"/>
                  </a:lnTo>
                  <a:lnTo>
                    <a:pt x="174" y="268"/>
                  </a:lnTo>
                  <a:lnTo>
                    <a:pt x="174" y="268"/>
                  </a:lnTo>
                  <a:lnTo>
                    <a:pt x="188" y="268"/>
                  </a:lnTo>
                  <a:lnTo>
                    <a:pt x="202" y="264"/>
                  </a:lnTo>
                  <a:lnTo>
                    <a:pt x="214" y="262"/>
                  </a:lnTo>
                  <a:lnTo>
                    <a:pt x="226" y="258"/>
                  </a:lnTo>
                  <a:lnTo>
                    <a:pt x="238" y="252"/>
                  </a:lnTo>
                  <a:lnTo>
                    <a:pt x="248" y="244"/>
                  </a:lnTo>
                  <a:lnTo>
                    <a:pt x="260" y="238"/>
                  </a:lnTo>
                  <a:lnTo>
                    <a:pt x="268" y="228"/>
                  </a:lnTo>
                  <a:lnTo>
                    <a:pt x="278" y="220"/>
                  </a:lnTo>
                  <a:lnTo>
                    <a:pt x="284" y="208"/>
                  </a:lnTo>
                  <a:lnTo>
                    <a:pt x="292" y="198"/>
                  </a:lnTo>
                  <a:lnTo>
                    <a:pt x="298" y="186"/>
                  </a:lnTo>
                  <a:lnTo>
                    <a:pt x="302" y="174"/>
                  </a:lnTo>
                  <a:lnTo>
                    <a:pt x="304" y="160"/>
                  </a:lnTo>
                  <a:lnTo>
                    <a:pt x="306" y="148"/>
                  </a:lnTo>
                  <a:lnTo>
                    <a:pt x="308" y="134"/>
                  </a:lnTo>
                  <a:lnTo>
                    <a:pt x="308" y="134"/>
                  </a:lnTo>
                  <a:lnTo>
                    <a:pt x="306" y="120"/>
                  </a:lnTo>
                  <a:lnTo>
                    <a:pt x="304" y="106"/>
                  </a:lnTo>
                  <a:lnTo>
                    <a:pt x="302" y="94"/>
                  </a:lnTo>
                  <a:lnTo>
                    <a:pt x="298" y="82"/>
                  </a:lnTo>
                  <a:lnTo>
                    <a:pt x="292" y="70"/>
                  </a:lnTo>
                  <a:lnTo>
                    <a:pt x="284" y="60"/>
                  </a:lnTo>
                  <a:lnTo>
                    <a:pt x="278" y="48"/>
                  </a:lnTo>
                  <a:lnTo>
                    <a:pt x="268" y="40"/>
                  </a:lnTo>
                  <a:lnTo>
                    <a:pt x="260" y="30"/>
                  </a:lnTo>
                  <a:lnTo>
                    <a:pt x="248" y="24"/>
                  </a:lnTo>
                  <a:lnTo>
                    <a:pt x="238" y="16"/>
                  </a:lnTo>
                  <a:lnTo>
                    <a:pt x="226" y="10"/>
                  </a:lnTo>
                  <a:lnTo>
                    <a:pt x="214" y="6"/>
                  </a:lnTo>
                  <a:lnTo>
                    <a:pt x="202" y="2"/>
                  </a:lnTo>
                  <a:lnTo>
                    <a:pt x="188" y="0"/>
                  </a:lnTo>
                  <a:lnTo>
                    <a:pt x="174" y="0"/>
                  </a:lnTo>
                  <a:lnTo>
                    <a:pt x="174" y="0"/>
                  </a:lnTo>
                  <a:close/>
                  <a:moveTo>
                    <a:pt x="162" y="62"/>
                  </a:moveTo>
                  <a:lnTo>
                    <a:pt x="162" y="138"/>
                  </a:lnTo>
                  <a:lnTo>
                    <a:pt x="212" y="188"/>
                  </a:lnTo>
                  <a:lnTo>
                    <a:pt x="228" y="172"/>
                  </a:lnTo>
                  <a:lnTo>
                    <a:pt x="186" y="130"/>
                  </a:lnTo>
                  <a:lnTo>
                    <a:pt x="186" y="62"/>
                  </a:lnTo>
                  <a:lnTo>
                    <a:pt x="162" y="62"/>
                  </a:lnTo>
                  <a:close/>
                </a:path>
              </a:pathLst>
            </a:custGeom>
            <a:solidFill>
              <a:schemeClr val="bg2"/>
            </a:solidFill>
            <a:ln>
              <a:noFill/>
            </a:ln>
          </p:spPr>
          <p:txBody>
            <a:bodyPr vert="horz" wrap="square" lIns="83127" tIns="41564" rIns="83127" bIns="41564" numCol="1" anchor="t" anchorCtr="0" compatLnSpc="1">
              <a:prstTxWarp prst="textNoShape">
                <a:avLst/>
              </a:prstTxWarp>
            </a:bodyPr>
            <a:lstStyle/>
            <a:p>
              <a:endParaRPr lang="en-US"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20" name="Freeform 64"/>
            <p:cNvSpPr>
              <a:spLocks noEditPoints="1"/>
            </p:cNvSpPr>
            <p:nvPr/>
          </p:nvSpPr>
          <p:spPr bwMode="auto">
            <a:xfrm>
              <a:off x="514077" y="3680976"/>
              <a:ext cx="593802" cy="527743"/>
            </a:xfrm>
            <a:custGeom>
              <a:avLst/>
              <a:gdLst>
                <a:gd name="T0" fmla="*/ 94 w 326"/>
                <a:gd name="T1" fmla="*/ 82 h 294"/>
                <a:gd name="T2" fmla="*/ 32 w 326"/>
                <a:gd name="T3" fmla="*/ 82 h 294"/>
                <a:gd name="T4" fmla="*/ 20 w 326"/>
                <a:gd name="T5" fmla="*/ 84 h 294"/>
                <a:gd name="T6" fmla="*/ 10 w 326"/>
                <a:gd name="T7" fmla="*/ 92 h 294"/>
                <a:gd name="T8" fmla="*/ 2 w 326"/>
                <a:gd name="T9" fmla="*/ 102 h 294"/>
                <a:gd name="T10" fmla="*/ 0 w 326"/>
                <a:gd name="T11" fmla="*/ 114 h 294"/>
                <a:gd name="T12" fmla="*/ 0 w 326"/>
                <a:gd name="T13" fmla="*/ 212 h 294"/>
                <a:gd name="T14" fmla="*/ 2 w 326"/>
                <a:gd name="T15" fmla="*/ 226 h 294"/>
                <a:gd name="T16" fmla="*/ 10 w 326"/>
                <a:gd name="T17" fmla="*/ 236 h 294"/>
                <a:gd name="T18" fmla="*/ 20 w 326"/>
                <a:gd name="T19" fmla="*/ 242 h 294"/>
                <a:gd name="T20" fmla="*/ 32 w 326"/>
                <a:gd name="T21" fmla="*/ 246 h 294"/>
                <a:gd name="T22" fmla="*/ 48 w 326"/>
                <a:gd name="T23" fmla="*/ 294 h 294"/>
                <a:gd name="T24" fmla="*/ 180 w 326"/>
                <a:gd name="T25" fmla="*/ 246 h 294"/>
                <a:gd name="T26" fmla="*/ 186 w 326"/>
                <a:gd name="T27" fmla="*/ 244 h 294"/>
                <a:gd name="T28" fmla="*/ 198 w 326"/>
                <a:gd name="T29" fmla="*/ 240 h 294"/>
                <a:gd name="T30" fmla="*/ 206 w 326"/>
                <a:gd name="T31" fmla="*/ 230 h 294"/>
                <a:gd name="T32" fmla="*/ 212 w 326"/>
                <a:gd name="T33" fmla="*/ 218 h 294"/>
                <a:gd name="T34" fmla="*/ 212 w 326"/>
                <a:gd name="T35" fmla="*/ 182 h 294"/>
                <a:gd name="T36" fmla="*/ 208 w 326"/>
                <a:gd name="T37" fmla="*/ 182 h 294"/>
                <a:gd name="T38" fmla="*/ 294 w 326"/>
                <a:gd name="T39" fmla="*/ 0 h 294"/>
                <a:gd name="T40" fmla="*/ 146 w 326"/>
                <a:gd name="T41" fmla="*/ 0 h 294"/>
                <a:gd name="T42" fmla="*/ 134 w 326"/>
                <a:gd name="T43" fmla="*/ 2 h 294"/>
                <a:gd name="T44" fmla="*/ 124 w 326"/>
                <a:gd name="T45" fmla="*/ 10 h 294"/>
                <a:gd name="T46" fmla="*/ 116 w 326"/>
                <a:gd name="T47" fmla="*/ 20 h 294"/>
                <a:gd name="T48" fmla="*/ 114 w 326"/>
                <a:gd name="T49" fmla="*/ 32 h 294"/>
                <a:gd name="T50" fmla="*/ 228 w 326"/>
                <a:gd name="T51" fmla="*/ 164 h 294"/>
                <a:gd name="T52" fmla="*/ 278 w 326"/>
                <a:gd name="T53" fmla="*/ 164 h 294"/>
                <a:gd name="T54" fmla="*/ 294 w 326"/>
                <a:gd name="T55" fmla="*/ 164 h 294"/>
                <a:gd name="T56" fmla="*/ 306 w 326"/>
                <a:gd name="T57" fmla="*/ 160 h 294"/>
                <a:gd name="T58" fmla="*/ 316 w 326"/>
                <a:gd name="T59" fmla="*/ 154 h 294"/>
                <a:gd name="T60" fmla="*/ 324 w 326"/>
                <a:gd name="T61" fmla="*/ 144 h 294"/>
                <a:gd name="T62" fmla="*/ 326 w 326"/>
                <a:gd name="T63" fmla="*/ 130 h 294"/>
                <a:gd name="T64" fmla="*/ 326 w 326"/>
                <a:gd name="T65" fmla="*/ 32 h 294"/>
                <a:gd name="T66" fmla="*/ 324 w 326"/>
                <a:gd name="T67" fmla="*/ 20 h 294"/>
                <a:gd name="T68" fmla="*/ 316 w 326"/>
                <a:gd name="T69" fmla="*/ 10 h 294"/>
                <a:gd name="T70" fmla="*/ 306 w 326"/>
                <a:gd name="T71" fmla="*/ 2 h 294"/>
                <a:gd name="T72" fmla="*/ 294 w 326"/>
                <a:gd name="T73"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6" h="294">
                  <a:moveTo>
                    <a:pt x="94" y="182"/>
                  </a:moveTo>
                  <a:lnTo>
                    <a:pt x="94" y="82"/>
                  </a:lnTo>
                  <a:lnTo>
                    <a:pt x="32" y="82"/>
                  </a:lnTo>
                  <a:lnTo>
                    <a:pt x="32" y="82"/>
                  </a:lnTo>
                  <a:lnTo>
                    <a:pt x="26" y="82"/>
                  </a:lnTo>
                  <a:lnTo>
                    <a:pt x="20" y="84"/>
                  </a:lnTo>
                  <a:lnTo>
                    <a:pt x="14" y="88"/>
                  </a:lnTo>
                  <a:lnTo>
                    <a:pt x="10" y="92"/>
                  </a:lnTo>
                  <a:lnTo>
                    <a:pt x="6" y="96"/>
                  </a:lnTo>
                  <a:lnTo>
                    <a:pt x="2" y="102"/>
                  </a:lnTo>
                  <a:lnTo>
                    <a:pt x="0" y="108"/>
                  </a:lnTo>
                  <a:lnTo>
                    <a:pt x="0" y="114"/>
                  </a:lnTo>
                  <a:lnTo>
                    <a:pt x="0" y="212"/>
                  </a:lnTo>
                  <a:lnTo>
                    <a:pt x="0" y="212"/>
                  </a:lnTo>
                  <a:lnTo>
                    <a:pt x="0" y="218"/>
                  </a:lnTo>
                  <a:lnTo>
                    <a:pt x="2" y="226"/>
                  </a:lnTo>
                  <a:lnTo>
                    <a:pt x="6" y="230"/>
                  </a:lnTo>
                  <a:lnTo>
                    <a:pt x="10" y="236"/>
                  </a:lnTo>
                  <a:lnTo>
                    <a:pt x="14" y="240"/>
                  </a:lnTo>
                  <a:lnTo>
                    <a:pt x="20" y="242"/>
                  </a:lnTo>
                  <a:lnTo>
                    <a:pt x="26" y="244"/>
                  </a:lnTo>
                  <a:lnTo>
                    <a:pt x="32" y="246"/>
                  </a:lnTo>
                  <a:lnTo>
                    <a:pt x="48" y="246"/>
                  </a:lnTo>
                  <a:lnTo>
                    <a:pt x="48" y="294"/>
                  </a:lnTo>
                  <a:lnTo>
                    <a:pt x="98" y="246"/>
                  </a:lnTo>
                  <a:lnTo>
                    <a:pt x="180" y="246"/>
                  </a:lnTo>
                  <a:lnTo>
                    <a:pt x="180" y="246"/>
                  </a:lnTo>
                  <a:lnTo>
                    <a:pt x="186" y="244"/>
                  </a:lnTo>
                  <a:lnTo>
                    <a:pt x="192" y="242"/>
                  </a:lnTo>
                  <a:lnTo>
                    <a:pt x="198" y="240"/>
                  </a:lnTo>
                  <a:lnTo>
                    <a:pt x="202" y="236"/>
                  </a:lnTo>
                  <a:lnTo>
                    <a:pt x="206" y="230"/>
                  </a:lnTo>
                  <a:lnTo>
                    <a:pt x="210" y="226"/>
                  </a:lnTo>
                  <a:lnTo>
                    <a:pt x="212" y="218"/>
                  </a:lnTo>
                  <a:lnTo>
                    <a:pt x="212" y="212"/>
                  </a:lnTo>
                  <a:lnTo>
                    <a:pt x="212" y="182"/>
                  </a:lnTo>
                  <a:lnTo>
                    <a:pt x="212" y="182"/>
                  </a:lnTo>
                  <a:lnTo>
                    <a:pt x="208" y="182"/>
                  </a:lnTo>
                  <a:lnTo>
                    <a:pt x="94" y="182"/>
                  </a:lnTo>
                  <a:close/>
                  <a:moveTo>
                    <a:pt x="294" y="0"/>
                  </a:moveTo>
                  <a:lnTo>
                    <a:pt x="146" y="0"/>
                  </a:lnTo>
                  <a:lnTo>
                    <a:pt x="146" y="0"/>
                  </a:lnTo>
                  <a:lnTo>
                    <a:pt x="140" y="0"/>
                  </a:lnTo>
                  <a:lnTo>
                    <a:pt x="134" y="2"/>
                  </a:lnTo>
                  <a:lnTo>
                    <a:pt x="128" y="6"/>
                  </a:lnTo>
                  <a:lnTo>
                    <a:pt x="124" y="10"/>
                  </a:lnTo>
                  <a:lnTo>
                    <a:pt x="120" y="14"/>
                  </a:lnTo>
                  <a:lnTo>
                    <a:pt x="116" y="20"/>
                  </a:lnTo>
                  <a:lnTo>
                    <a:pt x="114" y="26"/>
                  </a:lnTo>
                  <a:lnTo>
                    <a:pt x="114" y="32"/>
                  </a:lnTo>
                  <a:lnTo>
                    <a:pt x="114" y="164"/>
                  </a:lnTo>
                  <a:lnTo>
                    <a:pt x="228" y="164"/>
                  </a:lnTo>
                  <a:lnTo>
                    <a:pt x="278" y="212"/>
                  </a:lnTo>
                  <a:lnTo>
                    <a:pt x="278" y="164"/>
                  </a:lnTo>
                  <a:lnTo>
                    <a:pt x="294" y="164"/>
                  </a:lnTo>
                  <a:lnTo>
                    <a:pt x="294" y="164"/>
                  </a:lnTo>
                  <a:lnTo>
                    <a:pt x="300" y="162"/>
                  </a:lnTo>
                  <a:lnTo>
                    <a:pt x="306" y="160"/>
                  </a:lnTo>
                  <a:lnTo>
                    <a:pt x="312" y="158"/>
                  </a:lnTo>
                  <a:lnTo>
                    <a:pt x="316" y="154"/>
                  </a:lnTo>
                  <a:lnTo>
                    <a:pt x="320" y="150"/>
                  </a:lnTo>
                  <a:lnTo>
                    <a:pt x="324" y="144"/>
                  </a:lnTo>
                  <a:lnTo>
                    <a:pt x="326" y="138"/>
                  </a:lnTo>
                  <a:lnTo>
                    <a:pt x="326" y="130"/>
                  </a:lnTo>
                  <a:lnTo>
                    <a:pt x="326" y="32"/>
                  </a:lnTo>
                  <a:lnTo>
                    <a:pt x="326" y="32"/>
                  </a:lnTo>
                  <a:lnTo>
                    <a:pt x="326" y="26"/>
                  </a:lnTo>
                  <a:lnTo>
                    <a:pt x="324" y="20"/>
                  </a:lnTo>
                  <a:lnTo>
                    <a:pt x="320" y="14"/>
                  </a:lnTo>
                  <a:lnTo>
                    <a:pt x="316" y="10"/>
                  </a:lnTo>
                  <a:lnTo>
                    <a:pt x="312" y="6"/>
                  </a:lnTo>
                  <a:lnTo>
                    <a:pt x="306" y="2"/>
                  </a:lnTo>
                  <a:lnTo>
                    <a:pt x="300" y="0"/>
                  </a:lnTo>
                  <a:lnTo>
                    <a:pt x="294" y="0"/>
                  </a:lnTo>
                  <a:lnTo>
                    <a:pt x="294" y="0"/>
                  </a:lnTo>
                  <a:close/>
                </a:path>
              </a:pathLst>
            </a:custGeom>
            <a:solidFill>
              <a:schemeClr val="bg2"/>
            </a:solidFill>
            <a:ln>
              <a:noFill/>
            </a:ln>
          </p:spPr>
          <p:txBody>
            <a:bodyPr vert="horz" wrap="square" lIns="83127" tIns="41564" rIns="83127" bIns="41564" numCol="1" anchor="t" anchorCtr="0" compatLnSpc="1">
              <a:prstTxWarp prst="textNoShape">
                <a:avLst/>
              </a:prstTxWarp>
            </a:bodyPr>
            <a:lstStyle/>
            <a:p>
              <a:endParaRPr lang="en-US"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21" name="Freeform 170"/>
            <p:cNvSpPr>
              <a:spLocks noEditPoints="1"/>
            </p:cNvSpPr>
            <p:nvPr/>
          </p:nvSpPr>
          <p:spPr bwMode="auto">
            <a:xfrm>
              <a:off x="541713" y="4580327"/>
              <a:ext cx="477227" cy="527743"/>
            </a:xfrm>
            <a:custGeom>
              <a:avLst/>
              <a:gdLst>
                <a:gd name="T0" fmla="*/ 190 w 262"/>
                <a:gd name="T1" fmla="*/ 104 h 294"/>
                <a:gd name="T2" fmla="*/ 198 w 262"/>
                <a:gd name="T3" fmla="*/ 92 h 294"/>
                <a:gd name="T4" fmla="*/ 214 w 262"/>
                <a:gd name="T5" fmla="*/ 66 h 294"/>
                <a:gd name="T6" fmla="*/ 224 w 262"/>
                <a:gd name="T7" fmla="*/ 34 h 294"/>
                <a:gd name="T8" fmla="*/ 222 w 262"/>
                <a:gd name="T9" fmla="*/ 18 h 294"/>
                <a:gd name="T10" fmla="*/ 214 w 262"/>
                <a:gd name="T11" fmla="*/ 2 h 294"/>
                <a:gd name="T12" fmla="*/ 212 w 262"/>
                <a:gd name="T13" fmla="*/ 0 h 294"/>
                <a:gd name="T14" fmla="*/ 204 w 262"/>
                <a:gd name="T15" fmla="*/ 4 h 294"/>
                <a:gd name="T16" fmla="*/ 164 w 262"/>
                <a:gd name="T17" fmla="*/ 52 h 294"/>
                <a:gd name="T18" fmla="*/ 138 w 262"/>
                <a:gd name="T19" fmla="*/ 76 h 294"/>
                <a:gd name="T20" fmla="*/ 118 w 262"/>
                <a:gd name="T21" fmla="*/ 90 h 294"/>
                <a:gd name="T22" fmla="*/ 82 w 262"/>
                <a:gd name="T23" fmla="*/ 116 h 294"/>
                <a:gd name="T24" fmla="*/ 68 w 262"/>
                <a:gd name="T25" fmla="*/ 132 h 294"/>
                <a:gd name="T26" fmla="*/ 66 w 262"/>
                <a:gd name="T27" fmla="*/ 250 h 294"/>
                <a:gd name="T28" fmla="*/ 66 w 262"/>
                <a:gd name="T29" fmla="*/ 254 h 294"/>
                <a:gd name="T30" fmla="*/ 78 w 262"/>
                <a:gd name="T31" fmla="*/ 266 h 294"/>
                <a:gd name="T32" fmla="*/ 114 w 262"/>
                <a:gd name="T33" fmla="*/ 280 h 294"/>
                <a:gd name="T34" fmla="*/ 158 w 262"/>
                <a:gd name="T35" fmla="*/ 290 h 294"/>
                <a:gd name="T36" fmla="*/ 206 w 262"/>
                <a:gd name="T37" fmla="*/ 294 h 294"/>
                <a:gd name="T38" fmla="*/ 210 w 262"/>
                <a:gd name="T39" fmla="*/ 292 h 294"/>
                <a:gd name="T40" fmla="*/ 224 w 262"/>
                <a:gd name="T41" fmla="*/ 272 h 294"/>
                <a:gd name="T42" fmla="*/ 242 w 262"/>
                <a:gd name="T43" fmla="*/ 220 h 294"/>
                <a:gd name="T44" fmla="*/ 260 w 262"/>
                <a:gd name="T45" fmla="*/ 144 h 294"/>
                <a:gd name="T46" fmla="*/ 262 w 262"/>
                <a:gd name="T47" fmla="*/ 132 h 294"/>
                <a:gd name="T48" fmla="*/ 258 w 262"/>
                <a:gd name="T49" fmla="*/ 124 h 294"/>
                <a:gd name="T50" fmla="*/ 240 w 262"/>
                <a:gd name="T51" fmla="*/ 114 h 294"/>
                <a:gd name="T52" fmla="*/ 202 w 262"/>
                <a:gd name="T53" fmla="*/ 108 h 294"/>
                <a:gd name="T54" fmla="*/ 190 w 262"/>
                <a:gd name="T55" fmla="*/ 104 h 294"/>
                <a:gd name="T56" fmla="*/ 50 w 262"/>
                <a:gd name="T57" fmla="*/ 106 h 294"/>
                <a:gd name="T58" fmla="*/ 36 w 262"/>
                <a:gd name="T59" fmla="*/ 108 h 294"/>
                <a:gd name="T60" fmla="*/ 20 w 262"/>
                <a:gd name="T61" fmla="*/ 114 h 294"/>
                <a:gd name="T62" fmla="*/ 6 w 262"/>
                <a:gd name="T63" fmla="*/ 130 h 294"/>
                <a:gd name="T64" fmla="*/ 0 w 262"/>
                <a:gd name="T65" fmla="*/ 156 h 294"/>
                <a:gd name="T66" fmla="*/ 0 w 262"/>
                <a:gd name="T67" fmla="*/ 236 h 294"/>
                <a:gd name="T68" fmla="*/ 6 w 262"/>
                <a:gd name="T69" fmla="*/ 262 h 294"/>
                <a:gd name="T70" fmla="*/ 20 w 262"/>
                <a:gd name="T71" fmla="*/ 276 h 294"/>
                <a:gd name="T72" fmla="*/ 36 w 262"/>
                <a:gd name="T73" fmla="*/ 284 h 294"/>
                <a:gd name="T74" fmla="*/ 50 w 262"/>
                <a:gd name="T75" fmla="*/ 284 h 294"/>
                <a:gd name="T76" fmla="*/ 52 w 262"/>
                <a:gd name="T77" fmla="*/ 282 h 294"/>
                <a:gd name="T78" fmla="*/ 40 w 262"/>
                <a:gd name="T79" fmla="*/ 272 h 294"/>
                <a:gd name="T80" fmla="*/ 34 w 262"/>
                <a:gd name="T81" fmla="*/ 258 h 294"/>
                <a:gd name="T82" fmla="*/ 32 w 262"/>
                <a:gd name="T83" fmla="*/ 144 h 294"/>
                <a:gd name="T84" fmla="*/ 34 w 262"/>
                <a:gd name="T85" fmla="*/ 134 h 294"/>
                <a:gd name="T86" fmla="*/ 40 w 262"/>
                <a:gd name="T87" fmla="*/ 118 h 294"/>
                <a:gd name="T88" fmla="*/ 52 w 262"/>
                <a:gd name="T89" fmla="*/ 108 h 294"/>
                <a:gd name="T90" fmla="*/ 50 w 262"/>
                <a:gd name="T91" fmla="*/ 106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62" h="294">
                  <a:moveTo>
                    <a:pt x="190" y="104"/>
                  </a:moveTo>
                  <a:lnTo>
                    <a:pt x="190" y="104"/>
                  </a:lnTo>
                  <a:lnTo>
                    <a:pt x="192" y="100"/>
                  </a:lnTo>
                  <a:lnTo>
                    <a:pt x="198" y="92"/>
                  </a:lnTo>
                  <a:lnTo>
                    <a:pt x="206" y="80"/>
                  </a:lnTo>
                  <a:lnTo>
                    <a:pt x="214" y="66"/>
                  </a:lnTo>
                  <a:lnTo>
                    <a:pt x="220" y="52"/>
                  </a:lnTo>
                  <a:lnTo>
                    <a:pt x="224" y="34"/>
                  </a:lnTo>
                  <a:lnTo>
                    <a:pt x="224" y="26"/>
                  </a:lnTo>
                  <a:lnTo>
                    <a:pt x="222" y="18"/>
                  </a:lnTo>
                  <a:lnTo>
                    <a:pt x="218" y="10"/>
                  </a:lnTo>
                  <a:lnTo>
                    <a:pt x="214" y="2"/>
                  </a:lnTo>
                  <a:lnTo>
                    <a:pt x="214" y="2"/>
                  </a:lnTo>
                  <a:lnTo>
                    <a:pt x="212" y="0"/>
                  </a:lnTo>
                  <a:lnTo>
                    <a:pt x="210" y="0"/>
                  </a:lnTo>
                  <a:lnTo>
                    <a:pt x="204" y="4"/>
                  </a:lnTo>
                  <a:lnTo>
                    <a:pt x="188" y="24"/>
                  </a:lnTo>
                  <a:lnTo>
                    <a:pt x="164" y="52"/>
                  </a:lnTo>
                  <a:lnTo>
                    <a:pt x="152" y="64"/>
                  </a:lnTo>
                  <a:lnTo>
                    <a:pt x="138" y="76"/>
                  </a:lnTo>
                  <a:lnTo>
                    <a:pt x="138" y="76"/>
                  </a:lnTo>
                  <a:lnTo>
                    <a:pt x="118" y="90"/>
                  </a:lnTo>
                  <a:lnTo>
                    <a:pt x="94" y="106"/>
                  </a:lnTo>
                  <a:lnTo>
                    <a:pt x="82" y="116"/>
                  </a:lnTo>
                  <a:lnTo>
                    <a:pt x="74" y="124"/>
                  </a:lnTo>
                  <a:lnTo>
                    <a:pt x="68" y="132"/>
                  </a:lnTo>
                  <a:lnTo>
                    <a:pt x="66" y="140"/>
                  </a:lnTo>
                  <a:lnTo>
                    <a:pt x="66" y="250"/>
                  </a:lnTo>
                  <a:lnTo>
                    <a:pt x="66" y="250"/>
                  </a:lnTo>
                  <a:lnTo>
                    <a:pt x="66" y="254"/>
                  </a:lnTo>
                  <a:lnTo>
                    <a:pt x="68" y="258"/>
                  </a:lnTo>
                  <a:lnTo>
                    <a:pt x="78" y="266"/>
                  </a:lnTo>
                  <a:lnTo>
                    <a:pt x="94" y="274"/>
                  </a:lnTo>
                  <a:lnTo>
                    <a:pt x="114" y="280"/>
                  </a:lnTo>
                  <a:lnTo>
                    <a:pt x="136" y="286"/>
                  </a:lnTo>
                  <a:lnTo>
                    <a:pt x="158" y="290"/>
                  </a:lnTo>
                  <a:lnTo>
                    <a:pt x="182" y="292"/>
                  </a:lnTo>
                  <a:lnTo>
                    <a:pt x="206" y="294"/>
                  </a:lnTo>
                  <a:lnTo>
                    <a:pt x="206" y="294"/>
                  </a:lnTo>
                  <a:lnTo>
                    <a:pt x="210" y="292"/>
                  </a:lnTo>
                  <a:lnTo>
                    <a:pt x="216" y="288"/>
                  </a:lnTo>
                  <a:lnTo>
                    <a:pt x="224" y="272"/>
                  </a:lnTo>
                  <a:lnTo>
                    <a:pt x="234" y="248"/>
                  </a:lnTo>
                  <a:lnTo>
                    <a:pt x="242" y="220"/>
                  </a:lnTo>
                  <a:lnTo>
                    <a:pt x="256" y="166"/>
                  </a:lnTo>
                  <a:lnTo>
                    <a:pt x="260" y="144"/>
                  </a:lnTo>
                  <a:lnTo>
                    <a:pt x="262" y="132"/>
                  </a:lnTo>
                  <a:lnTo>
                    <a:pt x="262" y="132"/>
                  </a:lnTo>
                  <a:lnTo>
                    <a:pt x="260" y="128"/>
                  </a:lnTo>
                  <a:lnTo>
                    <a:pt x="258" y="124"/>
                  </a:lnTo>
                  <a:lnTo>
                    <a:pt x="250" y="118"/>
                  </a:lnTo>
                  <a:lnTo>
                    <a:pt x="240" y="114"/>
                  </a:lnTo>
                  <a:lnTo>
                    <a:pt x="226" y="112"/>
                  </a:lnTo>
                  <a:lnTo>
                    <a:pt x="202" y="108"/>
                  </a:lnTo>
                  <a:lnTo>
                    <a:pt x="194" y="106"/>
                  </a:lnTo>
                  <a:lnTo>
                    <a:pt x="190" y="104"/>
                  </a:lnTo>
                  <a:lnTo>
                    <a:pt x="190" y="104"/>
                  </a:lnTo>
                  <a:close/>
                  <a:moveTo>
                    <a:pt x="50" y="106"/>
                  </a:moveTo>
                  <a:lnTo>
                    <a:pt x="50" y="106"/>
                  </a:lnTo>
                  <a:lnTo>
                    <a:pt x="36" y="108"/>
                  </a:lnTo>
                  <a:lnTo>
                    <a:pt x="28" y="110"/>
                  </a:lnTo>
                  <a:lnTo>
                    <a:pt x="20" y="114"/>
                  </a:lnTo>
                  <a:lnTo>
                    <a:pt x="12" y="120"/>
                  </a:lnTo>
                  <a:lnTo>
                    <a:pt x="6" y="130"/>
                  </a:lnTo>
                  <a:lnTo>
                    <a:pt x="2" y="142"/>
                  </a:lnTo>
                  <a:lnTo>
                    <a:pt x="0" y="156"/>
                  </a:lnTo>
                  <a:lnTo>
                    <a:pt x="0" y="236"/>
                  </a:lnTo>
                  <a:lnTo>
                    <a:pt x="0" y="236"/>
                  </a:lnTo>
                  <a:lnTo>
                    <a:pt x="2" y="250"/>
                  </a:lnTo>
                  <a:lnTo>
                    <a:pt x="6" y="262"/>
                  </a:lnTo>
                  <a:lnTo>
                    <a:pt x="12" y="270"/>
                  </a:lnTo>
                  <a:lnTo>
                    <a:pt x="20" y="276"/>
                  </a:lnTo>
                  <a:lnTo>
                    <a:pt x="28" y="280"/>
                  </a:lnTo>
                  <a:lnTo>
                    <a:pt x="36" y="284"/>
                  </a:lnTo>
                  <a:lnTo>
                    <a:pt x="50" y="284"/>
                  </a:lnTo>
                  <a:lnTo>
                    <a:pt x="50" y="284"/>
                  </a:lnTo>
                  <a:lnTo>
                    <a:pt x="52" y="284"/>
                  </a:lnTo>
                  <a:lnTo>
                    <a:pt x="52" y="282"/>
                  </a:lnTo>
                  <a:lnTo>
                    <a:pt x="44" y="276"/>
                  </a:lnTo>
                  <a:lnTo>
                    <a:pt x="40" y="272"/>
                  </a:lnTo>
                  <a:lnTo>
                    <a:pt x="36" y="266"/>
                  </a:lnTo>
                  <a:lnTo>
                    <a:pt x="34" y="258"/>
                  </a:lnTo>
                  <a:lnTo>
                    <a:pt x="32" y="248"/>
                  </a:lnTo>
                  <a:lnTo>
                    <a:pt x="32" y="144"/>
                  </a:lnTo>
                  <a:lnTo>
                    <a:pt x="32" y="144"/>
                  </a:lnTo>
                  <a:lnTo>
                    <a:pt x="34" y="134"/>
                  </a:lnTo>
                  <a:lnTo>
                    <a:pt x="36" y="126"/>
                  </a:lnTo>
                  <a:lnTo>
                    <a:pt x="40" y="118"/>
                  </a:lnTo>
                  <a:lnTo>
                    <a:pt x="44" y="114"/>
                  </a:lnTo>
                  <a:lnTo>
                    <a:pt x="52" y="108"/>
                  </a:lnTo>
                  <a:lnTo>
                    <a:pt x="52" y="106"/>
                  </a:lnTo>
                  <a:lnTo>
                    <a:pt x="50" y="106"/>
                  </a:lnTo>
                  <a:lnTo>
                    <a:pt x="50" y="106"/>
                  </a:lnTo>
                  <a:close/>
                </a:path>
              </a:pathLst>
            </a:custGeom>
            <a:solidFill>
              <a:schemeClr val="bg2"/>
            </a:solidFill>
            <a:ln>
              <a:noFill/>
            </a:ln>
          </p:spPr>
          <p:txBody>
            <a:bodyPr vert="horz" wrap="square" lIns="83127" tIns="41564" rIns="83127" bIns="41564" numCol="1" anchor="t" anchorCtr="0" compatLnSpc="1">
              <a:prstTxWarp prst="textNoShape">
                <a:avLst/>
              </a:prstTxWarp>
            </a:bodyPr>
            <a:lstStyle/>
            <a:p>
              <a:endParaRPr lang="en-US" sz="14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grpSp>
      <p:cxnSp>
        <p:nvCxnSpPr>
          <p:cNvPr id="22" name="Straight Connector 21"/>
          <p:cNvCxnSpPr/>
          <p:nvPr/>
        </p:nvCxnSpPr>
        <p:spPr>
          <a:xfrm>
            <a:off x="352350" y="750443"/>
            <a:ext cx="9997452" cy="42866"/>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263396" y="331644"/>
            <a:ext cx="7885521"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Deloitte Difference</a:t>
            </a:r>
          </a:p>
        </p:txBody>
      </p:sp>
    </p:spTree>
    <p:extLst>
      <p:ext uri="{BB962C8B-B14F-4D97-AF65-F5344CB8AC3E}">
        <p14:creationId xmlns:p14="http://schemas.microsoft.com/office/powerpoint/2010/main" val="143623054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p:nvPr/>
        </p:nvCxnSpPr>
        <p:spPr>
          <a:xfrm>
            <a:off x="352350" y="750443"/>
            <a:ext cx="10017549" cy="22363"/>
          </a:xfrm>
          <a:prstGeom prst="line">
            <a:avLst/>
          </a:prstGeom>
          <a:noFill/>
          <a:ln w="28575" cap="flat" cmpd="sng" algn="ctr">
            <a:solidFill>
              <a:srgbClr val="002060"/>
            </a:solidFill>
            <a:prstDash val="solid"/>
          </a:ln>
          <a:effectLst/>
        </p:spPr>
      </p:cxnSp>
      <p:sp>
        <p:nvSpPr>
          <p:cNvPr id="17" name="Rectangle 16"/>
          <p:cNvSpPr/>
          <p:nvPr/>
        </p:nvSpPr>
        <p:spPr>
          <a:xfrm>
            <a:off x="263396" y="331644"/>
            <a:ext cx="11336073" cy="461665"/>
          </a:xfrm>
          <a:prstGeom prst="rect">
            <a:avLst/>
          </a:prstGeom>
        </p:spPr>
        <p:txBody>
          <a:bodyPr wrap="square">
            <a:spAutoFit/>
          </a:bodyPr>
          <a:lstStyle/>
          <a:p>
            <a:pPr defTabSz="914400"/>
            <a:r>
              <a:rPr lang="en-US" sz="2400" dirty="0">
                <a:solidFill>
                  <a:srgbClr val="000000"/>
                </a:solidFill>
                <a:ea typeface="Verdana" panose="020B0604030504040204" pitchFamily="34" charset="0"/>
                <a:cs typeface="Verdana" panose="020B0604030504040204" pitchFamily="34" charset="0"/>
              </a:rPr>
              <a:t>The Deloitte Difference</a:t>
            </a:r>
          </a:p>
        </p:txBody>
      </p:sp>
      <p:sp>
        <p:nvSpPr>
          <p:cNvPr id="18" name="Rectangle 17"/>
          <p:cNvSpPr>
            <a:spLocks noChangeArrowheads="1"/>
          </p:cNvSpPr>
          <p:nvPr/>
        </p:nvSpPr>
        <p:spPr bwMode="auto">
          <a:xfrm>
            <a:off x="352351" y="3094935"/>
            <a:ext cx="2645470" cy="2252577"/>
          </a:xfrm>
          <a:prstGeom prst="rect">
            <a:avLst/>
          </a:prstGeom>
          <a:solidFill>
            <a:schemeClr val="accent4"/>
          </a:solidFill>
          <a:ln w="19050" algn="ctr">
            <a:noFill/>
            <a:miter lim="800000"/>
            <a:headEnd/>
            <a:tailEnd/>
          </a:ln>
        </p:spPr>
        <p:txBody>
          <a:bodyPr lIns="82040" tIns="82040" rIns="82040" bIns="82040" anchor="ctr"/>
          <a:lstStyle/>
          <a:p>
            <a:pPr defTabSz="914400">
              <a:defRPr/>
            </a:pPr>
            <a:r>
              <a:rPr lang="en-US" sz="1600" kern="0" dirty="0">
                <a:solidFill>
                  <a:srgbClr val="FFFFFF"/>
                </a:solidFill>
                <a:ea typeface="Verdana" panose="020B0604030504040204" pitchFamily="34" charset="0"/>
                <a:cs typeface="Verdana" panose="020B0604030504040204" pitchFamily="34" charset="0"/>
              </a:rPr>
              <a:t>Team has experience of Transaction Advisory projects of more than </a:t>
            </a:r>
            <a:r>
              <a:rPr lang="en-US" sz="2000" kern="0" dirty="0">
                <a:solidFill>
                  <a:srgbClr val="FFFFFF"/>
                </a:solidFill>
                <a:ea typeface="Verdana" panose="020B0604030504040204" pitchFamily="34" charset="0"/>
                <a:cs typeface="Verdana" panose="020B0604030504040204" pitchFamily="34" charset="0"/>
              </a:rPr>
              <a:t>100 PPP </a:t>
            </a:r>
            <a:r>
              <a:rPr lang="en-US" sz="1600" kern="0" dirty="0">
                <a:solidFill>
                  <a:srgbClr val="FFFFFF"/>
                </a:solidFill>
                <a:ea typeface="Verdana" panose="020B0604030504040204" pitchFamily="34" charset="0"/>
                <a:cs typeface="Verdana" panose="020B0604030504040204" pitchFamily="34" charset="0"/>
              </a:rPr>
              <a:t>projects in </a:t>
            </a:r>
            <a:r>
              <a:rPr lang="en-US" sz="2000" kern="0" dirty="0">
                <a:solidFill>
                  <a:srgbClr val="FFFFFF"/>
                </a:solidFill>
                <a:ea typeface="Verdana" panose="020B0604030504040204" pitchFamily="34" charset="0"/>
                <a:cs typeface="Verdana" panose="020B0604030504040204" pitchFamily="34" charset="0"/>
              </a:rPr>
              <a:t>India and Abroad</a:t>
            </a:r>
          </a:p>
        </p:txBody>
      </p:sp>
      <p:sp>
        <p:nvSpPr>
          <p:cNvPr id="19" name="Rectangle 18"/>
          <p:cNvSpPr>
            <a:spLocks noChangeArrowheads="1"/>
          </p:cNvSpPr>
          <p:nvPr/>
        </p:nvSpPr>
        <p:spPr bwMode="auto">
          <a:xfrm>
            <a:off x="350499" y="2179712"/>
            <a:ext cx="5161923" cy="838200"/>
          </a:xfrm>
          <a:prstGeom prst="rect">
            <a:avLst/>
          </a:prstGeom>
          <a:solidFill>
            <a:schemeClr val="accent4">
              <a:lumMod val="20000"/>
              <a:lumOff val="80000"/>
            </a:schemeClr>
          </a:solidFill>
          <a:ln w="19050" algn="ctr">
            <a:noFill/>
            <a:miter lim="800000"/>
            <a:headEnd/>
            <a:tailEnd/>
          </a:ln>
        </p:spPr>
        <p:txBody>
          <a:bodyPr lIns="82040" tIns="82040" rIns="82040" bIns="8204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Assistance to public and private players in </a:t>
            </a:r>
            <a:r>
              <a:rPr kumimoji="0" lang="en-GB"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Due Diligence</a:t>
            </a:r>
            <a:r>
              <a:rPr kumimoji="0" lang="en-GB" sz="1600" b="0" i="0" u="none" strike="noStrike" kern="0" cap="none" spc="0" normalizeH="0" baseline="0" noProof="0" dirty="0">
                <a:ln>
                  <a:noFill/>
                </a:ln>
                <a:effectLst/>
                <a:uLnTx/>
                <a:uFillTx/>
                <a:ea typeface="Verdana" panose="020B0604030504040204" pitchFamily="34" charset="0"/>
                <a:cs typeface="Verdana" panose="020B0604030504040204" pitchFamily="34" charset="0"/>
              </a:rPr>
              <a:t> </a:t>
            </a:r>
            <a:r>
              <a:rPr kumimoji="0" lang="en-GB"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and </a:t>
            </a:r>
            <a:r>
              <a:rPr kumimoji="0" lang="en-GB"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Bid Process Advisory</a:t>
            </a:r>
            <a:endParaRPr kumimoji="0" lang="en-GB" altLang="ja-JP" sz="2000" b="0" i="0" u="none" strike="noStrike" kern="0" cap="none" spc="0" normalizeH="0" baseline="0" noProof="0" dirty="0">
              <a:ln>
                <a:noFill/>
              </a:ln>
              <a:effectLst/>
              <a:uLnTx/>
              <a:uFillTx/>
              <a:ea typeface="Verdana" panose="020B0604030504040204" pitchFamily="34" charset="0"/>
              <a:cs typeface="Verdana" panose="020B0604030504040204" pitchFamily="34" charset="0"/>
            </a:endParaRPr>
          </a:p>
        </p:txBody>
      </p:sp>
      <p:sp>
        <p:nvSpPr>
          <p:cNvPr id="20" name="Rectangle 19"/>
          <p:cNvSpPr>
            <a:spLocks noChangeArrowheads="1"/>
          </p:cNvSpPr>
          <p:nvPr/>
        </p:nvSpPr>
        <p:spPr bwMode="auto">
          <a:xfrm>
            <a:off x="5542372" y="1058577"/>
            <a:ext cx="4827527" cy="1514391"/>
          </a:xfrm>
          <a:prstGeom prst="rect">
            <a:avLst/>
          </a:prstGeom>
          <a:solidFill>
            <a:schemeClr val="accent4">
              <a:lumMod val="20000"/>
              <a:lumOff val="80000"/>
            </a:schemeClr>
          </a:solidFill>
          <a:ln w="19050" algn="ctr">
            <a:noFill/>
            <a:miter lim="800000"/>
            <a:headEnd/>
            <a:tailEnd/>
          </a:ln>
        </p:spPr>
        <p:txBody>
          <a:bodyPr lIns="82040" tIns="82040" rIns="82040" bIns="8204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Played key role in framing </a:t>
            </a:r>
            <a:r>
              <a:rPr kumimoji="0" lang="en-US"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Tariff Philosophy </a:t>
            </a: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for </a:t>
            </a:r>
            <a:r>
              <a:rPr kumimoji="0" lang="en-US"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Airports </a:t>
            </a: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in India through assistance in </a:t>
            </a:r>
            <a:r>
              <a:rPr kumimoji="0" lang="en-US"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setting up the Airport Regulator</a:t>
            </a:r>
            <a:endParaRPr kumimoji="0" lang="en-US" sz="3200" b="0" i="0" u="none" strike="noStrike" kern="0" cap="none" spc="0" normalizeH="0" baseline="0" noProof="0" dirty="0">
              <a:ln>
                <a:noFill/>
              </a:ln>
              <a:effectLst/>
              <a:uLnTx/>
              <a:uFillTx/>
              <a:ea typeface="Verdana" panose="020B0604030504040204" pitchFamily="34" charset="0"/>
              <a:cs typeface="Verdana" panose="020B0604030504040204" pitchFamily="34" charset="0"/>
            </a:endParaRPr>
          </a:p>
        </p:txBody>
      </p:sp>
      <p:sp>
        <p:nvSpPr>
          <p:cNvPr id="21" name="Rectangle 20"/>
          <p:cNvSpPr>
            <a:spLocks noChangeArrowheads="1"/>
          </p:cNvSpPr>
          <p:nvPr/>
        </p:nvSpPr>
        <p:spPr bwMode="auto">
          <a:xfrm>
            <a:off x="7837714" y="2700989"/>
            <a:ext cx="2532185" cy="1476291"/>
          </a:xfrm>
          <a:prstGeom prst="rect">
            <a:avLst/>
          </a:prstGeom>
          <a:solidFill>
            <a:schemeClr val="accent4">
              <a:lumMod val="20000"/>
              <a:lumOff val="80000"/>
            </a:schemeClr>
          </a:solidFill>
          <a:ln w="19050" algn="ctr">
            <a:noFill/>
            <a:miter lim="800000"/>
            <a:headEnd/>
            <a:tailEnd/>
          </a:ln>
        </p:spPr>
        <p:txBody>
          <a:bodyPr lIns="82040" tIns="82040" rIns="82040" bIns="8204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Experience of undertaking </a:t>
            </a:r>
            <a:r>
              <a:rPr kumimoji="0" lang="en-US"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Private Sector Interest Assessment</a:t>
            </a:r>
          </a:p>
        </p:txBody>
      </p:sp>
      <p:sp>
        <p:nvSpPr>
          <p:cNvPr id="22" name="Rectangle 21"/>
          <p:cNvSpPr>
            <a:spLocks noChangeArrowheads="1"/>
          </p:cNvSpPr>
          <p:nvPr/>
        </p:nvSpPr>
        <p:spPr bwMode="auto">
          <a:xfrm>
            <a:off x="350499" y="1058577"/>
            <a:ext cx="5161923" cy="1031080"/>
          </a:xfrm>
          <a:prstGeom prst="rect">
            <a:avLst/>
          </a:prstGeom>
          <a:solidFill>
            <a:schemeClr val="accent4"/>
          </a:solidFill>
          <a:ln w="19050" algn="ctr">
            <a:noFill/>
            <a:miter lim="800000"/>
            <a:headEnd/>
            <a:tailEnd/>
          </a:ln>
        </p:spPr>
        <p:txBody>
          <a:bodyPr lIns="82040" tIns="82040" rIns="82040" bIns="82040" anchor="ctr"/>
          <a:lstStyle/>
          <a:p>
            <a:pPr defTabSz="914400">
              <a:defRPr/>
            </a:pPr>
            <a:r>
              <a:rPr lang="en-US" sz="1400" kern="0" dirty="0">
                <a:solidFill>
                  <a:srgbClr val="FFFFFF"/>
                </a:solidFill>
                <a:ea typeface="Verdana" panose="020B0604030504040204" pitchFamily="34" charset="0"/>
                <a:cs typeface="Verdana" panose="020B0604030504040204" pitchFamily="34" charset="0"/>
              </a:rPr>
              <a:t>Team has experience of assisting</a:t>
            </a:r>
            <a:r>
              <a:rPr lang="en-US" sz="1200" kern="0" dirty="0">
                <a:solidFill>
                  <a:srgbClr val="FFFFFF"/>
                </a:solidFill>
                <a:ea typeface="Verdana" panose="020B0604030504040204" pitchFamily="34" charset="0"/>
                <a:cs typeface="Verdana" panose="020B0604030504040204" pitchFamily="34" charset="0"/>
              </a:rPr>
              <a:t> </a:t>
            </a:r>
            <a:r>
              <a:rPr lang="en-US" sz="2000" kern="0" dirty="0">
                <a:solidFill>
                  <a:srgbClr val="FFFFFF"/>
                </a:solidFill>
                <a:ea typeface="Verdana" panose="020B0604030504040204" pitchFamily="34" charset="0"/>
                <a:cs typeface="Verdana" panose="020B0604030504040204" pitchFamily="34" charset="0"/>
              </a:rPr>
              <a:t>Global Private Developers </a:t>
            </a:r>
            <a:r>
              <a:rPr lang="en-US" sz="1400" kern="0" dirty="0">
                <a:solidFill>
                  <a:srgbClr val="FFFFFF"/>
                </a:solidFill>
                <a:ea typeface="Verdana" panose="020B0604030504040204" pitchFamily="34" charset="0"/>
                <a:cs typeface="Verdana" panose="020B0604030504040204" pitchFamily="34" charset="0"/>
              </a:rPr>
              <a:t>in bidding for major </a:t>
            </a:r>
            <a:r>
              <a:rPr lang="en-US" sz="2000" kern="0" dirty="0">
                <a:solidFill>
                  <a:srgbClr val="FFFFFF"/>
                </a:solidFill>
                <a:ea typeface="Verdana" panose="020B0604030504040204" pitchFamily="34" charset="0"/>
                <a:cs typeface="Verdana" panose="020B0604030504040204" pitchFamily="34" charset="0"/>
              </a:rPr>
              <a:t>International Airports in India</a:t>
            </a:r>
            <a:endParaRPr lang="en-US" sz="1200" kern="0" dirty="0">
              <a:solidFill>
                <a:srgbClr val="FFFFFF"/>
              </a:solidFill>
              <a:ea typeface="Verdana" panose="020B0604030504040204" pitchFamily="34" charset="0"/>
              <a:cs typeface="Verdana" panose="020B0604030504040204" pitchFamily="34" charset="0"/>
            </a:endParaRPr>
          </a:p>
        </p:txBody>
      </p:sp>
      <p:sp>
        <p:nvSpPr>
          <p:cNvPr id="23" name="Rectangle 22"/>
          <p:cNvSpPr>
            <a:spLocks noChangeArrowheads="1"/>
          </p:cNvSpPr>
          <p:nvPr/>
        </p:nvSpPr>
        <p:spPr bwMode="auto">
          <a:xfrm>
            <a:off x="7837714" y="4228366"/>
            <a:ext cx="2532185" cy="2380692"/>
          </a:xfrm>
          <a:prstGeom prst="rect">
            <a:avLst/>
          </a:prstGeom>
          <a:solidFill>
            <a:schemeClr val="accent4"/>
          </a:solidFill>
          <a:ln w="19050" algn="ctr">
            <a:noFill/>
            <a:miter lim="800000"/>
            <a:headEnd/>
            <a:tailEnd/>
          </a:ln>
        </p:spPr>
        <p:txBody>
          <a:bodyPr lIns="82040" tIns="82040" rIns="82040" bIns="82040" anchor="ctr"/>
          <a:lstStyle/>
          <a:p>
            <a:pPr defTabSz="914400">
              <a:defRPr/>
            </a:pPr>
            <a:r>
              <a:rPr lang="en-US" sz="1200" kern="0" dirty="0">
                <a:solidFill>
                  <a:srgbClr val="FFFFFF"/>
                </a:solidFill>
                <a:ea typeface="Verdana" panose="020B0604030504040204" pitchFamily="34" charset="0"/>
                <a:cs typeface="Verdana" panose="020B0604030504040204" pitchFamily="34" charset="0"/>
              </a:rPr>
              <a:t>Experience of assisting Governments in </a:t>
            </a:r>
            <a:r>
              <a:rPr lang="en-US" sz="2000" kern="0" dirty="0">
                <a:solidFill>
                  <a:srgbClr val="FFFFFF"/>
                </a:solidFill>
                <a:ea typeface="Verdana" panose="020B0604030504040204" pitchFamily="34" charset="0"/>
                <a:cs typeface="Verdana" panose="020B0604030504040204" pitchFamily="34" charset="0"/>
              </a:rPr>
              <a:t>PPP Transaction Advisory </a:t>
            </a:r>
            <a:r>
              <a:rPr lang="en-US" sz="1400" kern="0" dirty="0">
                <a:solidFill>
                  <a:srgbClr val="FFFFFF"/>
                </a:solidFill>
                <a:ea typeface="Verdana" panose="020B0604030504040204" pitchFamily="34" charset="0"/>
                <a:cs typeface="Verdana" panose="020B0604030504040204" pitchFamily="34" charset="0"/>
              </a:rPr>
              <a:t>for several</a:t>
            </a:r>
            <a:r>
              <a:rPr lang="en-US" sz="2000" kern="0" dirty="0">
                <a:solidFill>
                  <a:srgbClr val="FFFFFF"/>
                </a:solidFill>
                <a:ea typeface="Verdana" panose="020B0604030504040204" pitchFamily="34" charset="0"/>
                <a:cs typeface="Verdana" panose="020B0604030504040204" pitchFamily="34" charset="0"/>
              </a:rPr>
              <a:t> International Airports </a:t>
            </a:r>
            <a:endParaRPr lang="en-US" sz="1200" kern="0" dirty="0">
              <a:solidFill>
                <a:srgbClr val="FFFFFF"/>
              </a:solidFill>
              <a:ea typeface="Verdana" panose="020B0604030504040204" pitchFamily="34" charset="0"/>
              <a:cs typeface="Verdana" panose="020B0604030504040204" pitchFamily="34" charset="0"/>
            </a:endParaRPr>
          </a:p>
        </p:txBody>
      </p:sp>
      <p:sp>
        <p:nvSpPr>
          <p:cNvPr id="24" name="Rectangle 23"/>
          <p:cNvSpPr>
            <a:spLocks noChangeArrowheads="1"/>
          </p:cNvSpPr>
          <p:nvPr/>
        </p:nvSpPr>
        <p:spPr bwMode="auto">
          <a:xfrm>
            <a:off x="350499" y="5437567"/>
            <a:ext cx="7477167" cy="1171491"/>
          </a:xfrm>
          <a:prstGeom prst="rect">
            <a:avLst/>
          </a:prstGeom>
          <a:solidFill>
            <a:schemeClr val="accent4">
              <a:lumMod val="20000"/>
              <a:lumOff val="80000"/>
            </a:schemeClr>
          </a:solidFill>
          <a:ln w="19050" algn="ctr">
            <a:noFill/>
            <a:miter lim="800000"/>
            <a:headEnd/>
            <a:tailEnd/>
          </a:ln>
        </p:spPr>
        <p:txBody>
          <a:bodyPr lIns="82040" tIns="82040" rIns="82040" bIns="8204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Team has assisted the three key Aviation stakeholders in India - </a:t>
            </a:r>
            <a:r>
              <a:rPr kumimoji="0" lang="en-US"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Ministry of Civil Aviation, AAI, </a:t>
            </a: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and </a:t>
            </a:r>
            <a:r>
              <a:rPr kumimoji="0" lang="en-US" sz="2000" b="0" i="0" u="none" strike="noStrike" kern="0" cap="none" spc="0" normalizeH="0" baseline="0" noProof="0" dirty="0">
                <a:ln>
                  <a:noFill/>
                </a:ln>
                <a:effectLst/>
                <a:uLnTx/>
                <a:uFillTx/>
                <a:ea typeface="Verdana" panose="020B0604030504040204" pitchFamily="34" charset="0"/>
                <a:cs typeface="Verdana" panose="020B0604030504040204" pitchFamily="34" charset="0"/>
              </a:rPr>
              <a:t>AERA </a:t>
            </a:r>
            <a:r>
              <a:rPr kumimoji="0" lang="en-US" sz="1400" b="0" i="0" u="none" strike="noStrike" kern="0" cap="none" spc="0" normalizeH="0" baseline="0" noProof="0" dirty="0">
                <a:ln>
                  <a:noFill/>
                </a:ln>
                <a:effectLst/>
                <a:uLnTx/>
                <a:uFillTx/>
                <a:ea typeface="Verdana" panose="020B0604030504040204" pitchFamily="34" charset="0"/>
                <a:cs typeface="Verdana" panose="020B0604030504040204" pitchFamily="34" charset="0"/>
              </a:rPr>
              <a:t>in multiple engagements</a:t>
            </a:r>
          </a:p>
        </p:txBody>
      </p:sp>
      <p:sp>
        <p:nvSpPr>
          <p:cNvPr id="25" name="Rectangle 24"/>
          <p:cNvSpPr>
            <a:spLocks noChangeArrowheads="1"/>
          </p:cNvSpPr>
          <p:nvPr/>
        </p:nvSpPr>
        <p:spPr bwMode="auto">
          <a:xfrm>
            <a:off x="3106271" y="3067336"/>
            <a:ext cx="2406151" cy="2280176"/>
          </a:xfrm>
          <a:prstGeom prst="rect">
            <a:avLst/>
          </a:prstGeom>
          <a:noFill/>
          <a:ln w="19050" algn="ctr">
            <a:noFill/>
            <a:miter lim="800000"/>
            <a:headEnd/>
            <a:tailEnd/>
          </a:ln>
        </p:spPr>
        <p:txBody>
          <a:bodyPr lIns="82040" tIns="82040" rIns="82040" bIns="82040" anchor="ctr"/>
          <a:lstStyle/>
          <a:p>
            <a:pPr algn="just" defTabSz="914400">
              <a:defRPr/>
            </a:pPr>
            <a:r>
              <a:rPr lang="en-US" altLang="ja-JP" sz="2000" kern="0" dirty="0">
                <a:ea typeface="Verdana" panose="020B0604030504040204" pitchFamily="34" charset="0"/>
                <a:cs typeface="Verdana" panose="020B0604030504040204" pitchFamily="34" charset="0"/>
              </a:rPr>
              <a:t>Financial Structuring </a:t>
            </a:r>
            <a:r>
              <a:rPr lang="en-US" altLang="ja-JP" sz="1400" kern="0" dirty="0">
                <a:ea typeface="Verdana" panose="020B0604030504040204" pitchFamily="34" charset="0"/>
                <a:cs typeface="Verdana" panose="020B0604030504040204" pitchFamily="34" charset="0"/>
              </a:rPr>
              <a:t>and assessment of </a:t>
            </a:r>
            <a:r>
              <a:rPr lang="en-US" altLang="ja-JP" sz="2000" kern="0" dirty="0">
                <a:ea typeface="Verdana" panose="020B0604030504040204" pitchFamily="34" charset="0"/>
                <a:cs typeface="Verdana" panose="020B0604030504040204" pitchFamily="34" charset="0"/>
              </a:rPr>
              <a:t>Financing Options </a:t>
            </a:r>
            <a:r>
              <a:rPr lang="en-US" altLang="ja-JP" sz="1400" kern="0" dirty="0">
                <a:ea typeface="Verdana" panose="020B0604030504040204" pitchFamily="34" charset="0"/>
                <a:cs typeface="Verdana" panose="020B0604030504040204" pitchFamily="34" charset="0"/>
              </a:rPr>
              <a:t>including debt syndication/ equity raise</a:t>
            </a:r>
            <a:endParaRPr lang="en-GB" altLang="ja-JP" sz="2400" kern="0" dirty="0">
              <a:ea typeface="Verdana" panose="020B0604030504040204" pitchFamily="34" charset="0"/>
              <a:cs typeface="Verdana" panose="020B0604030504040204" pitchFamily="34" charset="0"/>
            </a:endParaRPr>
          </a:p>
        </p:txBody>
      </p:sp>
      <p:sp>
        <p:nvSpPr>
          <p:cNvPr id="26" name="Rectangle 25"/>
          <p:cNvSpPr>
            <a:spLocks noChangeArrowheads="1"/>
          </p:cNvSpPr>
          <p:nvPr/>
        </p:nvSpPr>
        <p:spPr bwMode="auto">
          <a:xfrm>
            <a:off x="5658972" y="2689800"/>
            <a:ext cx="2158646" cy="2657712"/>
          </a:xfrm>
          <a:prstGeom prst="rect">
            <a:avLst/>
          </a:prstGeom>
          <a:solidFill>
            <a:schemeClr val="accent4"/>
          </a:solidFill>
          <a:ln w="19050" algn="ctr">
            <a:noFill/>
            <a:miter lim="800000"/>
            <a:headEnd/>
            <a:tailEnd/>
          </a:ln>
        </p:spPr>
        <p:txBody>
          <a:bodyPr lIns="82040" tIns="82040" rIns="82040" bIns="82040" anchor="ctr"/>
          <a:lstStyle/>
          <a:p>
            <a:pPr defTabSz="914400">
              <a:defRPr/>
            </a:pPr>
            <a:r>
              <a:rPr lang="en-GB" sz="1400" kern="0" dirty="0">
                <a:solidFill>
                  <a:srgbClr val="FFFFFF"/>
                </a:solidFill>
                <a:ea typeface="Verdana" panose="020B0604030504040204" pitchFamily="34" charset="0"/>
                <a:cs typeface="Verdana" panose="020B0604030504040204" pitchFamily="34" charset="0"/>
              </a:rPr>
              <a:t>Assisted the airport regulator in </a:t>
            </a:r>
            <a:r>
              <a:rPr lang="en-GB" sz="2000" kern="0" dirty="0">
                <a:solidFill>
                  <a:srgbClr val="FFFFFF"/>
                </a:solidFill>
                <a:ea typeface="Verdana" panose="020B0604030504040204" pitchFamily="34" charset="0"/>
                <a:cs typeface="Verdana" panose="020B0604030504040204" pitchFamily="34" charset="0"/>
              </a:rPr>
              <a:t>Tariff Determination </a:t>
            </a:r>
            <a:r>
              <a:rPr lang="en-GB" sz="1400" kern="0" dirty="0">
                <a:solidFill>
                  <a:srgbClr val="FFFFFF"/>
                </a:solidFill>
                <a:ea typeface="Verdana" panose="020B0604030504040204" pitchFamily="34" charset="0"/>
                <a:cs typeface="Verdana" panose="020B0604030504040204" pitchFamily="34" charset="0"/>
              </a:rPr>
              <a:t>for </a:t>
            </a:r>
            <a:r>
              <a:rPr lang="en-GB" sz="2000" kern="0" dirty="0">
                <a:solidFill>
                  <a:srgbClr val="FFFFFF"/>
                </a:solidFill>
                <a:ea typeface="Verdana" panose="020B0604030504040204" pitchFamily="34" charset="0"/>
                <a:cs typeface="Verdana" panose="020B0604030504040204" pitchFamily="34" charset="0"/>
              </a:rPr>
              <a:t>Multiple </a:t>
            </a:r>
            <a:r>
              <a:rPr lang="en-GB" sz="1400" kern="0" dirty="0">
                <a:solidFill>
                  <a:srgbClr val="FFFFFF"/>
                </a:solidFill>
                <a:ea typeface="Verdana" panose="020B0604030504040204" pitchFamily="34" charset="0"/>
                <a:cs typeface="Verdana" panose="020B0604030504040204" pitchFamily="34" charset="0"/>
              </a:rPr>
              <a:t>major</a:t>
            </a:r>
            <a:r>
              <a:rPr lang="en-GB" sz="1200" kern="0" dirty="0">
                <a:solidFill>
                  <a:srgbClr val="FFFFFF"/>
                </a:solidFill>
                <a:ea typeface="Verdana" panose="020B0604030504040204" pitchFamily="34" charset="0"/>
                <a:cs typeface="Verdana" panose="020B0604030504040204" pitchFamily="34" charset="0"/>
              </a:rPr>
              <a:t> </a:t>
            </a:r>
            <a:r>
              <a:rPr lang="en-GB" sz="2000" kern="0" dirty="0">
                <a:solidFill>
                  <a:srgbClr val="FFFFFF"/>
                </a:solidFill>
                <a:ea typeface="Verdana" panose="020B0604030504040204" pitchFamily="34" charset="0"/>
                <a:cs typeface="Verdana" panose="020B0604030504040204" pitchFamily="34" charset="0"/>
              </a:rPr>
              <a:t>Airports</a:t>
            </a:r>
            <a:r>
              <a:rPr lang="en-GB" sz="1200" kern="0" dirty="0">
                <a:solidFill>
                  <a:srgbClr val="FFFFFF"/>
                </a:solidFill>
                <a:ea typeface="Verdana" panose="020B0604030504040204" pitchFamily="34" charset="0"/>
                <a:cs typeface="Verdana" panose="020B0604030504040204" pitchFamily="34" charset="0"/>
              </a:rPr>
              <a:t> </a:t>
            </a:r>
            <a:r>
              <a:rPr lang="en-GB" sz="1400" kern="0" dirty="0">
                <a:solidFill>
                  <a:srgbClr val="FFFFFF"/>
                </a:solidFill>
                <a:ea typeface="Verdana" panose="020B0604030504040204" pitchFamily="34" charset="0"/>
                <a:cs typeface="Verdana" panose="020B0604030504040204" pitchFamily="34" charset="0"/>
              </a:rPr>
              <a:t>in India</a:t>
            </a:r>
            <a:endParaRPr lang="en-GB" altLang="ja-JP" sz="1200" kern="0" dirty="0">
              <a:solidFill>
                <a:srgbClr val="FFFFFF"/>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00014659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626" y="0"/>
            <a:ext cx="10685012" cy="7562849"/>
          </a:xfrm>
          <a:prstGeom prst="rect">
            <a:avLst/>
          </a:prstGeom>
        </p:spPr>
      </p:pic>
      <p:sp>
        <p:nvSpPr>
          <p:cNvPr id="6" name="Trapezoid 5"/>
          <p:cNvSpPr/>
          <p:nvPr/>
        </p:nvSpPr>
        <p:spPr bwMode="gray">
          <a:xfrm rot="16200000" flipH="1">
            <a:off x="2341681" y="4214894"/>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 name="Trapezoid 6"/>
          <p:cNvSpPr/>
          <p:nvPr/>
        </p:nvSpPr>
        <p:spPr bwMode="gray">
          <a:xfrm rot="5400000">
            <a:off x="3646881" y="4214893"/>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 name="object 3"/>
          <p:cNvSpPr/>
          <p:nvPr/>
        </p:nvSpPr>
        <p:spPr>
          <a:xfrm>
            <a:off x="3898921" y="3962399"/>
            <a:ext cx="6789717" cy="723456"/>
          </a:xfrm>
          <a:custGeom>
            <a:avLst/>
            <a:gdLst/>
            <a:ahLst/>
            <a:cxnLst/>
            <a:rect l="l" t="t" r="r" b="b"/>
            <a:pathLst>
              <a:path w="6320155" h="1188720">
                <a:moveTo>
                  <a:pt x="0" y="1188720"/>
                </a:moveTo>
                <a:lnTo>
                  <a:pt x="6320027" y="1188720"/>
                </a:lnTo>
                <a:lnTo>
                  <a:pt x="6320027" y="0"/>
                </a:lnTo>
                <a:lnTo>
                  <a:pt x="0" y="0"/>
                </a:lnTo>
                <a:lnTo>
                  <a:pt x="0" y="1188720"/>
                </a:lnTo>
                <a:close/>
              </a:path>
            </a:pathLst>
          </a:custGeom>
          <a:solidFill>
            <a:schemeClr val="bg1"/>
          </a:solidFill>
        </p:spPr>
        <p:txBody>
          <a:bodyPr wrap="square" lIns="0" tIns="0" rIns="0" bIns="0" rtlCol="0"/>
          <a:lstStyle/>
          <a:p>
            <a:endParaRPr lang="en-GB" sz="2197" dirty="0"/>
          </a:p>
        </p:txBody>
      </p:sp>
      <p:sp>
        <p:nvSpPr>
          <p:cNvPr id="9" name="object 4"/>
          <p:cNvSpPr txBox="1"/>
          <p:nvPr/>
        </p:nvSpPr>
        <p:spPr>
          <a:xfrm>
            <a:off x="4623176" y="4107962"/>
            <a:ext cx="5651452" cy="369332"/>
          </a:xfrm>
          <a:prstGeom prst="rect">
            <a:avLst/>
          </a:prstGeom>
        </p:spPr>
        <p:txBody>
          <a:bodyPr vert="horz" wrap="square" lIns="0" tIns="0" rIns="0" bIns="0" rtlCol="0">
            <a:spAutoFit/>
          </a:bodyPr>
          <a:lstStyle/>
          <a:p>
            <a:pPr defTabSz="1018824"/>
            <a:r>
              <a:rPr lang="en-US" sz="2400" dirty="0">
                <a:latin typeface="Verdana" panose="020B0604030504040204" pitchFamily="34" charset="0"/>
                <a:ea typeface="Verdana" panose="020B0604030504040204" pitchFamily="34" charset="0"/>
                <a:cs typeface="Verdana" panose="020B0604030504040204" pitchFamily="34" charset="0"/>
              </a:rPr>
              <a:t>Our Understanding of the Project</a:t>
            </a:r>
          </a:p>
        </p:txBody>
      </p:sp>
      <p:sp>
        <p:nvSpPr>
          <p:cNvPr id="10" name="object 5"/>
          <p:cNvSpPr/>
          <p:nvPr/>
        </p:nvSpPr>
        <p:spPr>
          <a:xfrm>
            <a:off x="3008354" y="3764700"/>
            <a:ext cx="1099624" cy="1118854"/>
          </a:xfrm>
          <a:custGeom>
            <a:avLst/>
            <a:gdLst/>
            <a:ahLst/>
            <a:cxnLst/>
            <a:rect l="l" t="t" r="r" b="b"/>
            <a:pathLst>
              <a:path w="1458595" h="1188720">
                <a:moveTo>
                  <a:pt x="0" y="1188720"/>
                </a:moveTo>
                <a:lnTo>
                  <a:pt x="1458467" y="1188720"/>
                </a:lnTo>
                <a:lnTo>
                  <a:pt x="1458467" y="0"/>
                </a:lnTo>
                <a:lnTo>
                  <a:pt x="0" y="0"/>
                </a:lnTo>
                <a:lnTo>
                  <a:pt x="0" y="1188720"/>
                </a:lnTo>
                <a:close/>
              </a:path>
            </a:pathLst>
          </a:custGeom>
          <a:solidFill>
            <a:srgbClr val="00A0DE"/>
          </a:solidFill>
        </p:spPr>
        <p:txBody>
          <a:bodyPr wrap="square" lIns="0" tIns="0" rIns="0" bIns="0" rtlCol="0"/>
          <a:lstStyle/>
          <a:p>
            <a:endParaRPr lang="en-GB" sz="2197" dirty="0"/>
          </a:p>
        </p:txBody>
      </p:sp>
      <p:sp>
        <p:nvSpPr>
          <p:cNvPr id="14" name="Rectangle 13"/>
          <p:cNvSpPr/>
          <p:nvPr/>
        </p:nvSpPr>
        <p:spPr bwMode="gray">
          <a:xfrm>
            <a:off x="0" y="3962400"/>
            <a:ext cx="2800315" cy="72345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 name="Group 583"/>
          <p:cNvGrpSpPr>
            <a:grpSpLocks noChangeAspect="1"/>
          </p:cNvGrpSpPr>
          <p:nvPr/>
        </p:nvGrpSpPr>
        <p:grpSpPr bwMode="auto">
          <a:xfrm>
            <a:off x="3054802" y="3828134"/>
            <a:ext cx="992911" cy="990000"/>
            <a:chOff x="1138" y="1953"/>
            <a:chExt cx="341" cy="340"/>
          </a:xfrm>
          <a:solidFill>
            <a:schemeClr val="bg1"/>
          </a:solidFill>
        </p:grpSpPr>
        <p:sp>
          <p:nvSpPr>
            <p:cNvPr id="36" name="Freeform 584"/>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585"/>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24"/>
          <p:cNvGrpSpPr/>
          <p:nvPr/>
        </p:nvGrpSpPr>
        <p:grpSpPr>
          <a:xfrm>
            <a:off x="662032" y="4119931"/>
            <a:ext cx="1998746" cy="443146"/>
            <a:chOff x="662032" y="4119931"/>
            <a:chExt cx="1998746" cy="443146"/>
          </a:xfrm>
        </p:grpSpPr>
        <p:grpSp>
          <p:nvGrpSpPr>
            <p:cNvPr id="26" name="Group 309"/>
            <p:cNvGrpSpPr>
              <a:grpSpLocks noChangeAspect="1"/>
            </p:cNvGrpSpPr>
            <p:nvPr/>
          </p:nvGrpSpPr>
          <p:grpSpPr bwMode="auto">
            <a:xfrm>
              <a:off x="2223897" y="4122662"/>
              <a:ext cx="436881" cy="435600"/>
              <a:chOff x="6585" y="1193"/>
              <a:chExt cx="341" cy="340"/>
            </a:xfrm>
            <a:solidFill>
              <a:srgbClr val="00A0DE"/>
            </a:solidFill>
          </p:grpSpPr>
          <p:sp>
            <p:nvSpPr>
              <p:cNvPr id="5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7" name="Group 69"/>
            <p:cNvGrpSpPr>
              <a:grpSpLocks noChangeAspect="1"/>
            </p:cNvGrpSpPr>
            <p:nvPr/>
          </p:nvGrpSpPr>
          <p:grpSpPr bwMode="auto">
            <a:xfrm>
              <a:off x="662032" y="4119931"/>
              <a:ext cx="435600" cy="435600"/>
              <a:chOff x="4334" y="1990"/>
              <a:chExt cx="340" cy="340"/>
            </a:xfrm>
            <a:solidFill>
              <a:srgbClr val="00A0DE"/>
            </a:solidFill>
          </p:grpSpPr>
          <p:sp>
            <p:nvSpPr>
              <p:cNvPr id="41" name="Freeform 70"/>
              <p:cNvSpPr>
                <a:spLocks noEditPoints="1"/>
              </p:cNvSpPr>
              <p:nvPr/>
            </p:nvSpPr>
            <p:spPr bwMode="auto">
              <a:xfrm>
                <a:off x="4398" y="2054"/>
                <a:ext cx="212"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70 w 320"/>
                  <a:gd name="T11" fmla="*/ 298 h 320"/>
                  <a:gd name="T12" fmla="*/ 170 w 320"/>
                  <a:gd name="T13" fmla="*/ 288 h 320"/>
                  <a:gd name="T14" fmla="*/ 160 w 320"/>
                  <a:gd name="T15" fmla="*/ 277 h 320"/>
                  <a:gd name="T16" fmla="*/ 149 w 320"/>
                  <a:gd name="T17" fmla="*/ 288 h 320"/>
                  <a:gd name="T18" fmla="*/ 149 w 320"/>
                  <a:gd name="T19" fmla="*/ 298 h 320"/>
                  <a:gd name="T20" fmla="*/ 22 w 320"/>
                  <a:gd name="T21" fmla="*/ 170 h 320"/>
                  <a:gd name="T22" fmla="*/ 32 w 320"/>
                  <a:gd name="T23" fmla="*/ 170 h 320"/>
                  <a:gd name="T24" fmla="*/ 42 w 320"/>
                  <a:gd name="T25" fmla="*/ 160 h 320"/>
                  <a:gd name="T26" fmla="*/ 32 w 320"/>
                  <a:gd name="T27" fmla="*/ 149 h 320"/>
                  <a:gd name="T28" fmla="*/ 22 w 320"/>
                  <a:gd name="T29" fmla="*/ 149 h 320"/>
                  <a:gd name="T30" fmla="*/ 149 w 320"/>
                  <a:gd name="T31" fmla="*/ 22 h 320"/>
                  <a:gd name="T32" fmla="*/ 149 w 320"/>
                  <a:gd name="T33" fmla="*/ 32 h 320"/>
                  <a:gd name="T34" fmla="*/ 160 w 320"/>
                  <a:gd name="T35" fmla="*/ 42 h 320"/>
                  <a:gd name="T36" fmla="*/ 170 w 320"/>
                  <a:gd name="T37" fmla="*/ 32 h 320"/>
                  <a:gd name="T38" fmla="*/ 170 w 320"/>
                  <a:gd name="T39" fmla="*/ 22 h 320"/>
                  <a:gd name="T40" fmla="*/ 298 w 320"/>
                  <a:gd name="T41" fmla="*/ 149 h 320"/>
                  <a:gd name="T42" fmla="*/ 288 w 320"/>
                  <a:gd name="T43" fmla="*/ 149 h 320"/>
                  <a:gd name="T44" fmla="*/ 277 w 320"/>
                  <a:gd name="T45" fmla="*/ 160 h 320"/>
                  <a:gd name="T46" fmla="*/ 288 w 320"/>
                  <a:gd name="T47" fmla="*/ 170 h 320"/>
                  <a:gd name="T48" fmla="*/ 298 w 320"/>
                  <a:gd name="T49" fmla="*/ 170 h 320"/>
                  <a:gd name="T50" fmla="*/ 170 w 320"/>
                  <a:gd name="T51" fmla="*/ 298 h 320"/>
                  <a:gd name="T52" fmla="*/ 216 w 320"/>
                  <a:gd name="T53" fmla="*/ 90 h 320"/>
                  <a:gd name="T54" fmla="*/ 133 w 320"/>
                  <a:gd name="T55" fmla="*/ 127 h 320"/>
                  <a:gd name="T56" fmla="*/ 127 w 320"/>
                  <a:gd name="T57" fmla="*/ 133 h 320"/>
                  <a:gd name="T58" fmla="*/ 90 w 320"/>
                  <a:gd name="T59" fmla="*/ 216 h 320"/>
                  <a:gd name="T60" fmla="*/ 92 w 320"/>
                  <a:gd name="T61" fmla="*/ 228 h 320"/>
                  <a:gd name="T62" fmla="*/ 99 w 320"/>
                  <a:gd name="T63" fmla="*/ 231 h 320"/>
                  <a:gd name="T64" fmla="*/ 104 w 320"/>
                  <a:gd name="T65" fmla="*/ 230 h 320"/>
                  <a:gd name="T66" fmla="*/ 187 w 320"/>
                  <a:gd name="T67" fmla="*/ 192 h 320"/>
                  <a:gd name="T68" fmla="*/ 192 w 320"/>
                  <a:gd name="T69" fmla="*/ 187 h 320"/>
                  <a:gd name="T70" fmla="*/ 230 w 320"/>
                  <a:gd name="T71" fmla="*/ 104 h 320"/>
                  <a:gd name="T72" fmla="*/ 228 w 320"/>
                  <a:gd name="T73" fmla="*/ 92 h 320"/>
                  <a:gd name="T74" fmla="*/ 216 w 320"/>
                  <a:gd name="T75" fmla="*/ 90 h 320"/>
                  <a:gd name="T76" fmla="*/ 140 w 320"/>
                  <a:gd name="T77" fmla="*/ 155 h 320"/>
                  <a:gd name="T78" fmla="*/ 164 w 320"/>
                  <a:gd name="T79" fmla="*/ 179 h 320"/>
                  <a:gd name="T80" fmla="*/ 121 w 320"/>
                  <a:gd name="T81" fmla="*/ 199 h 320"/>
                  <a:gd name="T82" fmla="*/ 140 w 320"/>
                  <a:gd name="T83" fmla="*/ 155 h 320"/>
                  <a:gd name="T84" fmla="*/ 179 w 320"/>
                  <a:gd name="T85" fmla="*/ 164 h 320"/>
                  <a:gd name="T86" fmla="*/ 155 w 320"/>
                  <a:gd name="T87" fmla="*/ 140 h 320"/>
                  <a:gd name="T88" fmla="*/ 199 w 320"/>
                  <a:gd name="T89" fmla="*/ 121 h 320"/>
                  <a:gd name="T90" fmla="*/ 179 w 320"/>
                  <a:gd name="T91" fmla="*/ 1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70" y="298"/>
                    </a:moveTo>
                    <a:cubicBezTo>
                      <a:pt x="170" y="288"/>
                      <a:pt x="170" y="288"/>
                      <a:pt x="170" y="288"/>
                    </a:cubicBezTo>
                    <a:cubicBezTo>
                      <a:pt x="170" y="282"/>
                      <a:pt x="166" y="277"/>
                      <a:pt x="160" y="277"/>
                    </a:cubicBezTo>
                    <a:cubicBezTo>
                      <a:pt x="154" y="277"/>
                      <a:pt x="149" y="282"/>
                      <a:pt x="149" y="288"/>
                    </a:cubicBezTo>
                    <a:cubicBezTo>
                      <a:pt x="149" y="298"/>
                      <a:pt x="149" y="298"/>
                      <a:pt x="149" y="298"/>
                    </a:cubicBezTo>
                    <a:cubicBezTo>
                      <a:pt x="81" y="293"/>
                      <a:pt x="27" y="238"/>
                      <a:pt x="22" y="170"/>
                    </a:cubicBezTo>
                    <a:cubicBezTo>
                      <a:pt x="32" y="170"/>
                      <a:pt x="32" y="170"/>
                      <a:pt x="32" y="170"/>
                    </a:cubicBezTo>
                    <a:cubicBezTo>
                      <a:pt x="38" y="170"/>
                      <a:pt x="42" y="166"/>
                      <a:pt x="42" y="160"/>
                    </a:cubicBezTo>
                    <a:cubicBezTo>
                      <a:pt x="42" y="154"/>
                      <a:pt x="38" y="149"/>
                      <a:pt x="32" y="149"/>
                    </a:cubicBezTo>
                    <a:cubicBezTo>
                      <a:pt x="22" y="149"/>
                      <a:pt x="22" y="149"/>
                      <a:pt x="22" y="149"/>
                    </a:cubicBezTo>
                    <a:cubicBezTo>
                      <a:pt x="27" y="81"/>
                      <a:pt x="81" y="27"/>
                      <a:pt x="149" y="22"/>
                    </a:cubicBezTo>
                    <a:cubicBezTo>
                      <a:pt x="149" y="32"/>
                      <a:pt x="149" y="32"/>
                      <a:pt x="149" y="32"/>
                    </a:cubicBezTo>
                    <a:cubicBezTo>
                      <a:pt x="149" y="38"/>
                      <a:pt x="154" y="42"/>
                      <a:pt x="160" y="42"/>
                    </a:cubicBezTo>
                    <a:cubicBezTo>
                      <a:pt x="166" y="42"/>
                      <a:pt x="170" y="38"/>
                      <a:pt x="170" y="32"/>
                    </a:cubicBezTo>
                    <a:cubicBezTo>
                      <a:pt x="170" y="22"/>
                      <a:pt x="170" y="22"/>
                      <a:pt x="170" y="22"/>
                    </a:cubicBezTo>
                    <a:cubicBezTo>
                      <a:pt x="238" y="27"/>
                      <a:pt x="293" y="81"/>
                      <a:pt x="298" y="149"/>
                    </a:cubicBezTo>
                    <a:cubicBezTo>
                      <a:pt x="288" y="149"/>
                      <a:pt x="288" y="149"/>
                      <a:pt x="288" y="149"/>
                    </a:cubicBezTo>
                    <a:cubicBezTo>
                      <a:pt x="282" y="149"/>
                      <a:pt x="277" y="154"/>
                      <a:pt x="277" y="160"/>
                    </a:cubicBezTo>
                    <a:cubicBezTo>
                      <a:pt x="277" y="166"/>
                      <a:pt x="282" y="170"/>
                      <a:pt x="288" y="170"/>
                    </a:cubicBezTo>
                    <a:cubicBezTo>
                      <a:pt x="298" y="170"/>
                      <a:pt x="298" y="170"/>
                      <a:pt x="298" y="170"/>
                    </a:cubicBezTo>
                    <a:cubicBezTo>
                      <a:pt x="293" y="238"/>
                      <a:pt x="238" y="293"/>
                      <a:pt x="170" y="298"/>
                    </a:cubicBezTo>
                    <a:close/>
                    <a:moveTo>
                      <a:pt x="216" y="90"/>
                    </a:moveTo>
                    <a:cubicBezTo>
                      <a:pt x="133" y="127"/>
                      <a:pt x="133" y="127"/>
                      <a:pt x="133" y="127"/>
                    </a:cubicBezTo>
                    <a:cubicBezTo>
                      <a:pt x="130" y="128"/>
                      <a:pt x="128" y="130"/>
                      <a:pt x="127" y="133"/>
                    </a:cubicBezTo>
                    <a:cubicBezTo>
                      <a:pt x="90" y="216"/>
                      <a:pt x="90" y="216"/>
                      <a:pt x="90" y="216"/>
                    </a:cubicBezTo>
                    <a:cubicBezTo>
                      <a:pt x="88" y="220"/>
                      <a:pt x="89" y="224"/>
                      <a:pt x="92" y="228"/>
                    </a:cubicBezTo>
                    <a:cubicBezTo>
                      <a:pt x="94" y="230"/>
                      <a:pt x="97" y="231"/>
                      <a:pt x="99" y="231"/>
                    </a:cubicBezTo>
                    <a:cubicBezTo>
                      <a:pt x="101" y="231"/>
                      <a:pt x="102" y="230"/>
                      <a:pt x="104" y="230"/>
                    </a:cubicBezTo>
                    <a:cubicBezTo>
                      <a:pt x="187" y="192"/>
                      <a:pt x="187" y="192"/>
                      <a:pt x="187" y="192"/>
                    </a:cubicBezTo>
                    <a:cubicBezTo>
                      <a:pt x="189" y="191"/>
                      <a:pt x="191" y="189"/>
                      <a:pt x="192" y="187"/>
                    </a:cubicBezTo>
                    <a:cubicBezTo>
                      <a:pt x="230" y="104"/>
                      <a:pt x="230" y="104"/>
                      <a:pt x="230" y="104"/>
                    </a:cubicBezTo>
                    <a:cubicBezTo>
                      <a:pt x="232" y="100"/>
                      <a:pt x="231" y="95"/>
                      <a:pt x="228" y="92"/>
                    </a:cubicBezTo>
                    <a:cubicBezTo>
                      <a:pt x="224" y="89"/>
                      <a:pt x="220" y="88"/>
                      <a:pt x="216" y="90"/>
                    </a:cubicBezTo>
                    <a:close/>
                    <a:moveTo>
                      <a:pt x="140" y="155"/>
                    </a:moveTo>
                    <a:cubicBezTo>
                      <a:pt x="164" y="179"/>
                      <a:pt x="164" y="179"/>
                      <a:pt x="164" y="179"/>
                    </a:cubicBezTo>
                    <a:cubicBezTo>
                      <a:pt x="121" y="199"/>
                      <a:pt x="121" y="199"/>
                      <a:pt x="121" y="199"/>
                    </a:cubicBezTo>
                    <a:lnTo>
                      <a:pt x="140" y="155"/>
                    </a:lnTo>
                    <a:close/>
                    <a:moveTo>
                      <a:pt x="179" y="164"/>
                    </a:moveTo>
                    <a:cubicBezTo>
                      <a:pt x="155" y="140"/>
                      <a:pt x="155" y="140"/>
                      <a:pt x="155" y="140"/>
                    </a:cubicBezTo>
                    <a:cubicBezTo>
                      <a:pt x="199" y="121"/>
                      <a:pt x="199" y="121"/>
                      <a:pt x="199" y="121"/>
                    </a:cubicBezTo>
                    <a:lnTo>
                      <a:pt x="179" y="16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1"/>
              <p:cNvSpPr>
                <a:spLocks noEditPoints="1"/>
              </p:cNvSpPr>
              <p:nvPr/>
            </p:nvSpPr>
            <p:spPr bwMode="auto">
              <a:xfrm>
                <a:off x="4334"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8" name="Group 305"/>
            <p:cNvGrpSpPr>
              <a:grpSpLocks noChangeAspect="1"/>
            </p:cNvGrpSpPr>
            <p:nvPr/>
          </p:nvGrpSpPr>
          <p:grpSpPr bwMode="auto">
            <a:xfrm>
              <a:off x="1182848" y="4124522"/>
              <a:ext cx="435600" cy="435600"/>
              <a:chOff x="6599" y="1143"/>
              <a:chExt cx="340" cy="340"/>
            </a:xfrm>
            <a:solidFill>
              <a:srgbClr val="00A0DE"/>
            </a:solidFill>
          </p:grpSpPr>
          <p:sp>
            <p:nvSpPr>
              <p:cNvPr id="39" name="Freeform 306"/>
              <p:cNvSpPr>
                <a:spLocks noEditPoints="1"/>
              </p:cNvSpPr>
              <p:nvPr/>
            </p:nvSpPr>
            <p:spPr bwMode="auto">
              <a:xfrm>
                <a:off x="6599" y="114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07"/>
              <p:cNvSpPr>
                <a:spLocks noEditPoints="1"/>
              </p:cNvSpPr>
              <p:nvPr/>
            </p:nvSpPr>
            <p:spPr bwMode="auto">
              <a:xfrm>
                <a:off x="6712" y="1205"/>
                <a:ext cx="113" cy="214"/>
              </a:xfrm>
              <a:custGeom>
                <a:avLst/>
                <a:gdLst>
                  <a:gd name="T0" fmla="*/ 160 w 171"/>
                  <a:gd name="T1" fmla="*/ 88 h 323"/>
                  <a:gd name="T2" fmla="*/ 128 w 171"/>
                  <a:gd name="T3" fmla="*/ 88 h 323"/>
                  <a:gd name="T4" fmla="*/ 128 w 171"/>
                  <a:gd name="T5" fmla="*/ 35 h 323"/>
                  <a:gd name="T6" fmla="*/ 128 w 171"/>
                  <a:gd name="T7" fmla="*/ 35 h 323"/>
                  <a:gd name="T8" fmla="*/ 138 w 171"/>
                  <a:gd name="T9" fmla="*/ 27 h 323"/>
                  <a:gd name="T10" fmla="*/ 132 w 171"/>
                  <a:gd name="T11" fmla="*/ 12 h 323"/>
                  <a:gd name="T12" fmla="*/ 39 w 171"/>
                  <a:gd name="T13" fmla="*/ 12 h 323"/>
                  <a:gd name="T14" fmla="*/ 33 w 171"/>
                  <a:gd name="T15" fmla="*/ 25 h 323"/>
                  <a:gd name="T16" fmla="*/ 43 w 171"/>
                  <a:gd name="T17" fmla="*/ 32 h 323"/>
                  <a:gd name="T18" fmla="*/ 43 w 171"/>
                  <a:gd name="T19" fmla="*/ 88 h 323"/>
                  <a:gd name="T20" fmla="*/ 11 w 171"/>
                  <a:gd name="T21" fmla="*/ 88 h 323"/>
                  <a:gd name="T22" fmla="*/ 0 w 171"/>
                  <a:gd name="T23" fmla="*/ 99 h 323"/>
                  <a:gd name="T24" fmla="*/ 0 w 171"/>
                  <a:gd name="T25" fmla="*/ 291 h 323"/>
                  <a:gd name="T26" fmla="*/ 11 w 171"/>
                  <a:gd name="T27" fmla="*/ 301 h 323"/>
                  <a:gd name="T28" fmla="*/ 22 w 171"/>
                  <a:gd name="T29" fmla="*/ 301 h 323"/>
                  <a:gd name="T30" fmla="*/ 22 w 171"/>
                  <a:gd name="T31" fmla="*/ 312 h 323"/>
                  <a:gd name="T32" fmla="*/ 32 w 171"/>
                  <a:gd name="T33" fmla="*/ 323 h 323"/>
                  <a:gd name="T34" fmla="*/ 43 w 171"/>
                  <a:gd name="T35" fmla="*/ 312 h 323"/>
                  <a:gd name="T36" fmla="*/ 43 w 171"/>
                  <a:gd name="T37" fmla="*/ 301 h 323"/>
                  <a:gd name="T38" fmla="*/ 128 w 171"/>
                  <a:gd name="T39" fmla="*/ 301 h 323"/>
                  <a:gd name="T40" fmla="*/ 128 w 171"/>
                  <a:gd name="T41" fmla="*/ 312 h 323"/>
                  <a:gd name="T42" fmla="*/ 139 w 171"/>
                  <a:gd name="T43" fmla="*/ 323 h 323"/>
                  <a:gd name="T44" fmla="*/ 150 w 171"/>
                  <a:gd name="T45" fmla="*/ 312 h 323"/>
                  <a:gd name="T46" fmla="*/ 150 w 171"/>
                  <a:gd name="T47" fmla="*/ 301 h 323"/>
                  <a:gd name="T48" fmla="*/ 160 w 171"/>
                  <a:gd name="T49" fmla="*/ 301 h 323"/>
                  <a:gd name="T50" fmla="*/ 171 w 171"/>
                  <a:gd name="T51" fmla="*/ 291 h 323"/>
                  <a:gd name="T52" fmla="*/ 171 w 171"/>
                  <a:gd name="T53" fmla="*/ 99 h 323"/>
                  <a:gd name="T54" fmla="*/ 160 w 171"/>
                  <a:gd name="T55" fmla="*/ 88 h 323"/>
                  <a:gd name="T56" fmla="*/ 64 w 171"/>
                  <a:gd name="T57" fmla="*/ 26 h 323"/>
                  <a:gd name="T58" fmla="*/ 107 w 171"/>
                  <a:gd name="T59" fmla="*/ 26 h 323"/>
                  <a:gd name="T60" fmla="*/ 107 w 171"/>
                  <a:gd name="T61" fmla="*/ 88 h 323"/>
                  <a:gd name="T62" fmla="*/ 64 w 171"/>
                  <a:gd name="T63" fmla="*/ 88 h 323"/>
                  <a:gd name="T64" fmla="*/ 64 w 171"/>
                  <a:gd name="T65" fmla="*/ 26 h 323"/>
                  <a:gd name="T66" fmla="*/ 150 w 171"/>
                  <a:gd name="T67" fmla="*/ 280 h 323"/>
                  <a:gd name="T68" fmla="*/ 22 w 171"/>
                  <a:gd name="T69" fmla="*/ 280 h 323"/>
                  <a:gd name="T70" fmla="*/ 22 w 171"/>
                  <a:gd name="T71" fmla="*/ 109 h 323"/>
                  <a:gd name="T72" fmla="*/ 150 w 171"/>
                  <a:gd name="T73" fmla="*/ 109 h 323"/>
                  <a:gd name="T74" fmla="*/ 150 w 171"/>
                  <a:gd name="T75" fmla="*/ 280 h 323"/>
                  <a:gd name="T76" fmla="*/ 118 w 171"/>
                  <a:gd name="T77" fmla="*/ 131 h 323"/>
                  <a:gd name="T78" fmla="*/ 128 w 171"/>
                  <a:gd name="T79" fmla="*/ 141 h 323"/>
                  <a:gd name="T80" fmla="*/ 118 w 171"/>
                  <a:gd name="T81" fmla="*/ 152 h 323"/>
                  <a:gd name="T82" fmla="*/ 54 w 171"/>
                  <a:gd name="T83" fmla="*/ 152 h 323"/>
                  <a:gd name="T84" fmla="*/ 43 w 171"/>
                  <a:gd name="T85" fmla="*/ 141 h 323"/>
                  <a:gd name="T86" fmla="*/ 54 w 171"/>
                  <a:gd name="T87" fmla="*/ 131 h 323"/>
                  <a:gd name="T88" fmla="*/ 118 w 171"/>
                  <a:gd name="T89" fmla="*/ 131 h 323"/>
                  <a:gd name="T90" fmla="*/ 128 w 171"/>
                  <a:gd name="T91" fmla="*/ 248 h 323"/>
                  <a:gd name="T92" fmla="*/ 118 w 171"/>
                  <a:gd name="T93" fmla="*/ 259 h 323"/>
                  <a:gd name="T94" fmla="*/ 54 w 171"/>
                  <a:gd name="T95" fmla="*/ 259 h 323"/>
                  <a:gd name="T96" fmla="*/ 43 w 171"/>
                  <a:gd name="T97" fmla="*/ 248 h 323"/>
                  <a:gd name="T98" fmla="*/ 54 w 171"/>
                  <a:gd name="T99" fmla="*/ 237 h 323"/>
                  <a:gd name="T100" fmla="*/ 118 w 171"/>
                  <a:gd name="T101" fmla="*/ 237 h 323"/>
                  <a:gd name="T102" fmla="*/ 128 w 171"/>
                  <a:gd name="T103" fmla="*/ 24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1" h="323">
                    <a:moveTo>
                      <a:pt x="160" y="88"/>
                    </a:moveTo>
                    <a:cubicBezTo>
                      <a:pt x="128" y="88"/>
                      <a:pt x="128" y="88"/>
                      <a:pt x="128" y="88"/>
                    </a:cubicBezTo>
                    <a:cubicBezTo>
                      <a:pt x="128" y="35"/>
                      <a:pt x="128" y="35"/>
                      <a:pt x="128" y="35"/>
                    </a:cubicBezTo>
                    <a:cubicBezTo>
                      <a:pt x="128" y="35"/>
                      <a:pt x="128" y="35"/>
                      <a:pt x="128" y="35"/>
                    </a:cubicBezTo>
                    <a:cubicBezTo>
                      <a:pt x="133" y="35"/>
                      <a:pt x="137" y="31"/>
                      <a:pt x="138" y="27"/>
                    </a:cubicBezTo>
                    <a:cubicBezTo>
                      <a:pt x="140" y="21"/>
                      <a:pt x="138" y="14"/>
                      <a:pt x="132" y="12"/>
                    </a:cubicBezTo>
                    <a:cubicBezTo>
                      <a:pt x="103" y="0"/>
                      <a:pt x="69" y="0"/>
                      <a:pt x="39" y="12"/>
                    </a:cubicBezTo>
                    <a:cubicBezTo>
                      <a:pt x="34" y="14"/>
                      <a:pt x="31" y="20"/>
                      <a:pt x="33" y="25"/>
                    </a:cubicBezTo>
                    <a:cubicBezTo>
                      <a:pt x="35" y="30"/>
                      <a:pt x="39" y="32"/>
                      <a:pt x="43" y="32"/>
                    </a:cubicBezTo>
                    <a:cubicBezTo>
                      <a:pt x="43" y="88"/>
                      <a:pt x="43" y="88"/>
                      <a:pt x="43" y="88"/>
                    </a:cubicBezTo>
                    <a:cubicBezTo>
                      <a:pt x="11" y="88"/>
                      <a:pt x="11" y="88"/>
                      <a:pt x="11" y="88"/>
                    </a:cubicBezTo>
                    <a:cubicBezTo>
                      <a:pt x="5" y="88"/>
                      <a:pt x="0" y="93"/>
                      <a:pt x="0" y="99"/>
                    </a:cubicBezTo>
                    <a:cubicBezTo>
                      <a:pt x="0" y="291"/>
                      <a:pt x="0" y="291"/>
                      <a:pt x="0" y="291"/>
                    </a:cubicBezTo>
                    <a:cubicBezTo>
                      <a:pt x="0" y="297"/>
                      <a:pt x="5" y="301"/>
                      <a:pt x="11" y="301"/>
                    </a:cubicBezTo>
                    <a:cubicBezTo>
                      <a:pt x="22" y="301"/>
                      <a:pt x="22" y="301"/>
                      <a:pt x="22" y="301"/>
                    </a:cubicBezTo>
                    <a:cubicBezTo>
                      <a:pt x="22" y="312"/>
                      <a:pt x="22" y="312"/>
                      <a:pt x="22" y="312"/>
                    </a:cubicBezTo>
                    <a:cubicBezTo>
                      <a:pt x="22" y="318"/>
                      <a:pt x="26" y="323"/>
                      <a:pt x="32" y="323"/>
                    </a:cubicBezTo>
                    <a:cubicBezTo>
                      <a:pt x="38" y="323"/>
                      <a:pt x="43" y="318"/>
                      <a:pt x="43" y="312"/>
                    </a:cubicBezTo>
                    <a:cubicBezTo>
                      <a:pt x="43" y="301"/>
                      <a:pt x="43" y="301"/>
                      <a:pt x="43" y="301"/>
                    </a:cubicBezTo>
                    <a:cubicBezTo>
                      <a:pt x="128" y="301"/>
                      <a:pt x="128" y="301"/>
                      <a:pt x="128" y="301"/>
                    </a:cubicBezTo>
                    <a:cubicBezTo>
                      <a:pt x="128" y="312"/>
                      <a:pt x="128" y="312"/>
                      <a:pt x="128" y="312"/>
                    </a:cubicBezTo>
                    <a:cubicBezTo>
                      <a:pt x="128" y="318"/>
                      <a:pt x="133" y="323"/>
                      <a:pt x="139" y="323"/>
                    </a:cubicBezTo>
                    <a:cubicBezTo>
                      <a:pt x="145" y="323"/>
                      <a:pt x="150" y="318"/>
                      <a:pt x="150" y="312"/>
                    </a:cubicBezTo>
                    <a:cubicBezTo>
                      <a:pt x="150" y="301"/>
                      <a:pt x="150" y="301"/>
                      <a:pt x="150" y="301"/>
                    </a:cubicBezTo>
                    <a:cubicBezTo>
                      <a:pt x="160" y="301"/>
                      <a:pt x="160" y="301"/>
                      <a:pt x="160" y="301"/>
                    </a:cubicBezTo>
                    <a:cubicBezTo>
                      <a:pt x="166" y="301"/>
                      <a:pt x="171" y="297"/>
                      <a:pt x="171" y="291"/>
                    </a:cubicBezTo>
                    <a:cubicBezTo>
                      <a:pt x="171" y="99"/>
                      <a:pt x="171" y="99"/>
                      <a:pt x="171" y="99"/>
                    </a:cubicBezTo>
                    <a:cubicBezTo>
                      <a:pt x="171" y="93"/>
                      <a:pt x="166" y="88"/>
                      <a:pt x="160" y="88"/>
                    </a:cubicBezTo>
                    <a:close/>
                    <a:moveTo>
                      <a:pt x="64" y="26"/>
                    </a:moveTo>
                    <a:cubicBezTo>
                      <a:pt x="78" y="23"/>
                      <a:pt x="93" y="23"/>
                      <a:pt x="107" y="26"/>
                    </a:cubicBezTo>
                    <a:cubicBezTo>
                      <a:pt x="107" y="88"/>
                      <a:pt x="107" y="88"/>
                      <a:pt x="107" y="88"/>
                    </a:cubicBezTo>
                    <a:cubicBezTo>
                      <a:pt x="64" y="88"/>
                      <a:pt x="64" y="88"/>
                      <a:pt x="64" y="88"/>
                    </a:cubicBezTo>
                    <a:lnTo>
                      <a:pt x="64" y="26"/>
                    </a:lnTo>
                    <a:close/>
                    <a:moveTo>
                      <a:pt x="150" y="280"/>
                    </a:moveTo>
                    <a:cubicBezTo>
                      <a:pt x="22" y="280"/>
                      <a:pt x="22" y="280"/>
                      <a:pt x="22" y="280"/>
                    </a:cubicBezTo>
                    <a:cubicBezTo>
                      <a:pt x="22" y="109"/>
                      <a:pt x="22" y="109"/>
                      <a:pt x="22" y="109"/>
                    </a:cubicBezTo>
                    <a:cubicBezTo>
                      <a:pt x="150" y="109"/>
                      <a:pt x="150" y="109"/>
                      <a:pt x="150" y="109"/>
                    </a:cubicBezTo>
                    <a:lnTo>
                      <a:pt x="150" y="280"/>
                    </a:lnTo>
                    <a:close/>
                    <a:moveTo>
                      <a:pt x="118" y="131"/>
                    </a:moveTo>
                    <a:cubicBezTo>
                      <a:pt x="124" y="131"/>
                      <a:pt x="128" y="135"/>
                      <a:pt x="128" y="141"/>
                    </a:cubicBezTo>
                    <a:cubicBezTo>
                      <a:pt x="128" y="147"/>
                      <a:pt x="124" y="152"/>
                      <a:pt x="118" y="152"/>
                    </a:cubicBezTo>
                    <a:cubicBezTo>
                      <a:pt x="54" y="152"/>
                      <a:pt x="54" y="152"/>
                      <a:pt x="54" y="152"/>
                    </a:cubicBezTo>
                    <a:cubicBezTo>
                      <a:pt x="48" y="152"/>
                      <a:pt x="43" y="147"/>
                      <a:pt x="43" y="141"/>
                    </a:cubicBezTo>
                    <a:cubicBezTo>
                      <a:pt x="43" y="135"/>
                      <a:pt x="48" y="131"/>
                      <a:pt x="54" y="131"/>
                    </a:cubicBezTo>
                    <a:lnTo>
                      <a:pt x="118" y="131"/>
                    </a:lnTo>
                    <a:close/>
                    <a:moveTo>
                      <a:pt x="128" y="248"/>
                    </a:moveTo>
                    <a:cubicBezTo>
                      <a:pt x="128" y="254"/>
                      <a:pt x="124" y="259"/>
                      <a:pt x="118" y="259"/>
                    </a:cubicBezTo>
                    <a:cubicBezTo>
                      <a:pt x="54" y="259"/>
                      <a:pt x="54" y="259"/>
                      <a:pt x="54" y="259"/>
                    </a:cubicBezTo>
                    <a:cubicBezTo>
                      <a:pt x="48" y="259"/>
                      <a:pt x="43" y="254"/>
                      <a:pt x="43" y="248"/>
                    </a:cubicBezTo>
                    <a:cubicBezTo>
                      <a:pt x="43" y="242"/>
                      <a:pt x="48" y="237"/>
                      <a:pt x="54" y="237"/>
                    </a:cubicBezTo>
                    <a:cubicBezTo>
                      <a:pt x="118" y="237"/>
                      <a:pt x="118" y="237"/>
                      <a:pt x="118" y="237"/>
                    </a:cubicBezTo>
                    <a:cubicBezTo>
                      <a:pt x="124" y="237"/>
                      <a:pt x="128" y="242"/>
                      <a:pt x="128" y="2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 name="Group 784"/>
            <p:cNvGrpSpPr>
              <a:grpSpLocks noChangeAspect="1"/>
            </p:cNvGrpSpPr>
            <p:nvPr/>
          </p:nvGrpSpPr>
          <p:grpSpPr bwMode="auto">
            <a:xfrm>
              <a:off x="1700839" y="4127477"/>
              <a:ext cx="435600" cy="435600"/>
              <a:chOff x="2657" y="3361"/>
              <a:chExt cx="340" cy="340"/>
            </a:xfrm>
            <a:solidFill>
              <a:srgbClr val="00A0DE"/>
            </a:solidFill>
          </p:grpSpPr>
          <p:sp>
            <p:nvSpPr>
              <p:cNvPr id="31" name="Freeform 785"/>
              <p:cNvSpPr>
                <a:spLocks noEditPoints="1"/>
              </p:cNvSpPr>
              <p:nvPr/>
            </p:nvSpPr>
            <p:spPr bwMode="auto">
              <a:xfrm>
                <a:off x="2721" y="3439"/>
                <a:ext cx="212" cy="170"/>
              </a:xfrm>
              <a:custGeom>
                <a:avLst/>
                <a:gdLst>
                  <a:gd name="T0" fmla="*/ 313 w 320"/>
                  <a:gd name="T1" fmla="*/ 33 h 257"/>
                  <a:gd name="T2" fmla="*/ 239 w 320"/>
                  <a:gd name="T3" fmla="*/ 1 h 257"/>
                  <a:gd name="T4" fmla="*/ 230 w 320"/>
                  <a:gd name="T5" fmla="*/ 1 h 257"/>
                  <a:gd name="T6" fmla="*/ 160 w 320"/>
                  <a:gd name="T7" fmla="*/ 31 h 257"/>
                  <a:gd name="T8" fmla="*/ 89 w 320"/>
                  <a:gd name="T9" fmla="*/ 1 h 257"/>
                  <a:gd name="T10" fmla="*/ 81 w 320"/>
                  <a:gd name="T11" fmla="*/ 1 h 257"/>
                  <a:gd name="T12" fmla="*/ 6 w 320"/>
                  <a:gd name="T13" fmla="*/ 33 h 257"/>
                  <a:gd name="T14" fmla="*/ 0 w 320"/>
                  <a:gd name="T15" fmla="*/ 43 h 257"/>
                  <a:gd name="T16" fmla="*/ 0 w 320"/>
                  <a:gd name="T17" fmla="*/ 245 h 257"/>
                  <a:gd name="T18" fmla="*/ 4 w 320"/>
                  <a:gd name="T19" fmla="*/ 254 h 257"/>
                  <a:gd name="T20" fmla="*/ 15 w 320"/>
                  <a:gd name="T21" fmla="*/ 255 h 257"/>
                  <a:gd name="T22" fmla="*/ 85 w 320"/>
                  <a:gd name="T23" fmla="*/ 225 h 257"/>
                  <a:gd name="T24" fmla="*/ 155 w 320"/>
                  <a:gd name="T25" fmla="*/ 255 h 257"/>
                  <a:gd name="T26" fmla="*/ 164 w 320"/>
                  <a:gd name="T27" fmla="*/ 255 h 257"/>
                  <a:gd name="T28" fmla="*/ 234 w 320"/>
                  <a:gd name="T29" fmla="*/ 225 h 257"/>
                  <a:gd name="T30" fmla="*/ 305 w 320"/>
                  <a:gd name="T31" fmla="*/ 255 h 257"/>
                  <a:gd name="T32" fmla="*/ 309 w 320"/>
                  <a:gd name="T33" fmla="*/ 256 h 257"/>
                  <a:gd name="T34" fmla="*/ 315 w 320"/>
                  <a:gd name="T35" fmla="*/ 254 h 257"/>
                  <a:gd name="T36" fmla="*/ 320 w 320"/>
                  <a:gd name="T37" fmla="*/ 245 h 257"/>
                  <a:gd name="T38" fmla="*/ 320 w 320"/>
                  <a:gd name="T39" fmla="*/ 43 h 257"/>
                  <a:gd name="T40" fmla="*/ 313 w 320"/>
                  <a:gd name="T41" fmla="*/ 33 h 257"/>
                  <a:gd name="T42" fmla="*/ 96 w 320"/>
                  <a:gd name="T43" fmla="*/ 27 h 257"/>
                  <a:gd name="T44" fmla="*/ 149 w 320"/>
                  <a:gd name="T45" fmla="*/ 50 h 257"/>
                  <a:gd name="T46" fmla="*/ 149 w 320"/>
                  <a:gd name="T47" fmla="*/ 229 h 257"/>
                  <a:gd name="T48" fmla="*/ 96 w 320"/>
                  <a:gd name="T49" fmla="*/ 206 h 257"/>
                  <a:gd name="T50" fmla="*/ 96 w 320"/>
                  <a:gd name="T51" fmla="*/ 27 h 257"/>
                  <a:gd name="T52" fmla="*/ 170 w 320"/>
                  <a:gd name="T53" fmla="*/ 50 h 257"/>
                  <a:gd name="T54" fmla="*/ 224 w 320"/>
                  <a:gd name="T55" fmla="*/ 27 h 257"/>
                  <a:gd name="T56" fmla="*/ 224 w 320"/>
                  <a:gd name="T57" fmla="*/ 206 h 257"/>
                  <a:gd name="T58" fmla="*/ 170 w 320"/>
                  <a:gd name="T59" fmla="*/ 229 h 257"/>
                  <a:gd name="T60" fmla="*/ 170 w 320"/>
                  <a:gd name="T61" fmla="*/ 50 h 257"/>
                  <a:gd name="T62" fmla="*/ 21 w 320"/>
                  <a:gd name="T63" fmla="*/ 50 h 257"/>
                  <a:gd name="T64" fmla="*/ 74 w 320"/>
                  <a:gd name="T65" fmla="*/ 27 h 257"/>
                  <a:gd name="T66" fmla="*/ 74 w 320"/>
                  <a:gd name="T67" fmla="*/ 206 h 257"/>
                  <a:gd name="T68" fmla="*/ 21 w 320"/>
                  <a:gd name="T69" fmla="*/ 229 h 257"/>
                  <a:gd name="T70" fmla="*/ 21 w 320"/>
                  <a:gd name="T71" fmla="*/ 50 h 257"/>
                  <a:gd name="T72" fmla="*/ 298 w 320"/>
                  <a:gd name="T73" fmla="*/ 229 h 257"/>
                  <a:gd name="T74" fmla="*/ 245 w 320"/>
                  <a:gd name="T75" fmla="*/ 206 h 257"/>
                  <a:gd name="T76" fmla="*/ 245 w 320"/>
                  <a:gd name="T77" fmla="*/ 27 h 257"/>
                  <a:gd name="T78" fmla="*/ 298 w 320"/>
                  <a:gd name="T79" fmla="*/ 50 h 257"/>
                  <a:gd name="T80" fmla="*/ 298 w 320"/>
                  <a:gd name="T8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57">
                    <a:moveTo>
                      <a:pt x="313" y="33"/>
                    </a:moveTo>
                    <a:cubicBezTo>
                      <a:pt x="239" y="1"/>
                      <a:pt x="239" y="1"/>
                      <a:pt x="239" y="1"/>
                    </a:cubicBezTo>
                    <a:cubicBezTo>
                      <a:pt x="236" y="0"/>
                      <a:pt x="233" y="0"/>
                      <a:pt x="230" y="1"/>
                    </a:cubicBezTo>
                    <a:cubicBezTo>
                      <a:pt x="160" y="31"/>
                      <a:pt x="160" y="31"/>
                      <a:pt x="160" y="31"/>
                    </a:cubicBezTo>
                    <a:cubicBezTo>
                      <a:pt x="89" y="1"/>
                      <a:pt x="89" y="1"/>
                      <a:pt x="89" y="1"/>
                    </a:cubicBezTo>
                    <a:cubicBezTo>
                      <a:pt x="87" y="0"/>
                      <a:pt x="83" y="0"/>
                      <a:pt x="81" y="1"/>
                    </a:cubicBezTo>
                    <a:cubicBezTo>
                      <a:pt x="6" y="33"/>
                      <a:pt x="6" y="33"/>
                      <a:pt x="6" y="33"/>
                    </a:cubicBezTo>
                    <a:cubicBezTo>
                      <a:pt x="2" y="35"/>
                      <a:pt x="0" y="38"/>
                      <a:pt x="0" y="43"/>
                    </a:cubicBezTo>
                    <a:cubicBezTo>
                      <a:pt x="0" y="245"/>
                      <a:pt x="0" y="245"/>
                      <a:pt x="0" y="245"/>
                    </a:cubicBezTo>
                    <a:cubicBezTo>
                      <a:pt x="0" y="249"/>
                      <a:pt x="1" y="252"/>
                      <a:pt x="4" y="254"/>
                    </a:cubicBezTo>
                    <a:cubicBezTo>
                      <a:pt x="7" y="256"/>
                      <a:pt x="11" y="257"/>
                      <a:pt x="15" y="255"/>
                    </a:cubicBezTo>
                    <a:cubicBezTo>
                      <a:pt x="85" y="225"/>
                      <a:pt x="85" y="225"/>
                      <a:pt x="85" y="225"/>
                    </a:cubicBezTo>
                    <a:cubicBezTo>
                      <a:pt x="155" y="255"/>
                      <a:pt x="155" y="255"/>
                      <a:pt x="155" y="255"/>
                    </a:cubicBezTo>
                    <a:cubicBezTo>
                      <a:pt x="158" y="256"/>
                      <a:pt x="161" y="256"/>
                      <a:pt x="164" y="255"/>
                    </a:cubicBezTo>
                    <a:cubicBezTo>
                      <a:pt x="234" y="225"/>
                      <a:pt x="234" y="225"/>
                      <a:pt x="234" y="225"/>
                    </a:cubicBezTo>
                    <a:cubicBezTo>
                      <a:pt x="305" y="255"/>
                      <a:pt x="305" y="255"/>
                      <a:pt x="305" y="255"/>
                    </a:cubicBezTo>
                    <a:cubicBezTo>
                      <a:pt x="306" y="256"/>
                      <a:pt x="308" y="256"/>
                      <a:pt x="309" y="256"/>
                    </a:cubicBezTo>
                    <a:cubicBezTo>
                      <a:pt x="311" y="256"/>
                      <a:pt x="313" y="255"/>
                      <a:pt x="315" y="254"/>
                    </a:cubicBezTo>
                    <a:cubicBezTo>
                      <a:pt x="318" y="252"/>
                      <a:pt x="320" y="249"/>
                      <a:pt x="320" y="245"/>
                    </a:cubicBezTo>
                    <a:cubicBezTo>
                      <a:pt x="320" y="43"/>
                      <a:pt x="320" y="43"/>
                      <a:pt x="320" y="43"/>
                    </a:cubicBezTo>
                    <a:cubicBezTo>
                      <a:pt x="320" y="38"/>
                      <a:pt x="317" y="35"/>
                      <a:pt x="313" y="33"/>
                    </a:cubicBezTo>
                    <a:close/>
                    <a:moveTo>
                      <a:pt x="96" y="27"/>
                    </a:moveTo>
                    <a:cubicBezTo>
                      <a:pt x="149" y="50"/>
                      <a:pt x="149" y="50"/>
                      <a:pt x="149" y="50"/>
                    </a:cubicBezTo>
                    <a:cubicBezTo>
                      <a:pt x="149" y="229"/>
                      <a:pt x="149" y="229"/>
                      <a:pt x="149" y="229"/>
                    </a:cubicBezTo>
                    <a:cubicBezTo>
                      <a:pt x="96" y="206"/>
                      <a:pt x="96" y="206"/>
                      <a:pt x="96" y="206"/>
                    </a:cubicBezTo>
                    <a:lnTo>
                      <a:pt x="96" y="27"/>
                    </a:lnTo>
                    <a:close/>
                    <a:moveTo>
                      <a:pt x="170" y="50"/>
                    </a:moveTo>
                    <a:cubicBezTo>
                      <a:pt x="224" y="27"/>
                      <a:pt x="224" y="27"/>
                      <a:pt x="224" y="27"/>
                    </a:cubicBezTo>
                    <a:cubicBezTo>
                      <a:pt x="224" y="206"/>
                      <a:pt x="224" y="206"/>
                      <a:pt x="224" y="206"/>
                    </a:cubicBezTo>
                    <a:cubicBezTo>
                      <a:pt x="170" y="229"/>
                      <a:pt x="170" y="229"/>
                      <a:pt x="170" y="229"/>
                    </a:cubicBezTo>
                    <a:lnTo>
                      <a:pt x="170" y="50"/>
                    </a:lnTo>
                    <a:close/>
                    <a:moveTo>
                      <a:pt x="21" y="50"/>
                    </a:moveTo>
                    <a:cubicBezTo>
                      <a:pt x="74" y="27"/>
                      <a:pt x="74" y="27"/>
                      <a:pt x="74" y="27"/>
                    </a:cubicBezTo>
                    <a:cubicBezTo>
                      <a:pt x="74" y="206"/>
                      <a:pt x="74" y="206"/>
                      <a:pt x="74" y="206"/>
                    </a:cubicBezTo>
                    <a:cubicBezTo>
                      <a:pt x="21" y="229"/>
                      <a:pt x="21" y="229"/>
                      <a:pt x="21" y="229"/>
                    </a:cubicBezTo>
                    <a:lnTo>
                      <a:pt x="21" y="50"/>
                    </a:lnTo>
                    <a:close/>
                    <a:moveTo>
                      <a:pt x="298" y="229"/>
                    </a:moveTo>
                    <a:cubicBezTo>
                      <a:pt x="245" y="206"/>
                      <a:pt x="245" y="206"/>
                      <a:pt x="245" y="206"/>
                    </a:cubicBezTo>
                    <a:cubicBezTo>
                      <a:pt x="245" y="27"/>
                      <a:pt x="245" y="27"/>
                      <a:pt x="245" y="27"/>
                    </a:cubicBezTo>
                    <a:cubicBezTo>
                      <a:pt x="298" y="50"/>
                      <a:pt x="298" y="50"/>
                      <a:pt x="298" y="50"/>
                    </a:cubicBezTo>
                    <a:lnTo>
                      <a:pt x="298" y="2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786"/>
              <p:cNvSpPr>
                <a:spLocks noEditPoints="1"/>
              </p:cNvSpPr>
              <p:nvPr/>
            </p:nvSpPr>
            <p:spPr bwMode="auto">
              <a:xfrm>
                <a:off x="2657" y="33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3" name="TextBox 32"/>
          <p:cNvSpPr txBox="1"/>
          <p:nvPr/>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en-GB" sz="700" noProof="0" dirty="0">
                <a:solidFill>
                  <a:schemeClr val="bg1"/>
                </a:solidFill>
              </a:rPr>
              <a:t>© 2018 Deloitte Touche Tohmatsu India LLP</a:t>
            </a:r>
          </a:p>
        </p:txBody>
      </p:sp>
    </p:spTree>
    <p:extLst>
      <p:ext uri="{BB962C8B-B14F-4D97-AF65-F5344CB8AC3E}">
        <p14:creationId xmlns:p14="http://schemas.microsoft.com/office/powerpoint/2010/main" val="139373536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type="body" sz="quarter" idx="4294967295"/>
          </p:nvPr>
        </p:nvSpPr>
        <p:spPr>
          <a:xfrm>
            <a:off x="352350" y="978720"/>
            <a:ext cx="10048946" cy="637040"/>
          </a:xfrm>
          <a:prstGeom prst="rect">
            <a:avLst/>
          </a:prstGeom>
        </p:spPr>
        <p:txBody>
          <a:bodyPr vert="horz" lIns="0" tIns="0" rIns="0" bIns="0" rtlCol="0">
            <a:normAutofit/>
          </a:bodyPr>
          <a:lstStyle/>
          <a:p>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Project specific understanding combined with ability to piece various aspects together in a cogent way will be key to due diligence and preparation of bid</a:t>
            </a:r>
          </a:p>
          <a:p>
            <a:endPar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
        <p:nvSpPr>
          <p:cNvPr id="7" name="TextBox 6"/>
          <p:cNvSpPr txBox="1"/>
          <p:nvPr/>
        </p:nvSpPr>
        <p:spPr>
          <a:xfrm>
            <a:off x="5020366" y="1886058"/>
            <a:ext cx="5346264" cy="1231106"/>
          </a:xfrm>
          <a:prstGeom prst="rect">
            <a:avLst/>
          </a:prstGeom>
          <a:noFill/>
        </p:spPr>
        <p:txBody>
          <a:bodyPr wrap="square" rtlCol="0">
            <a:spAutoFit/>
          </a:bodyPr>
          <a:lstStyle/>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1: Existing airport profile</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This section focuses on key facts regarding the airport. It is important to understand the passenger mix. Understanding airline schedules and air traffic movements will be important for technical analysis as well as analyzing any potential competition from other airports.</a:t>
            </a:r>
          </a:p>
        </p:txBody>
      </p:sp>
      <p:sp>
        <p:nvSpPr>
          <p:cNvPr id="34" name="Rectangle 33"/>
          <p:cNvSpPr/>
          <p:nvPr/>
        </p:nvSpPr>
        <p:spPr>
          <a:xfrm>
            <a:off x="5020366" y="4891756"/>
            <a:ext cx="5419874" cy="1046440"/>
          </a:xfrm>
          <a:prstGeom prst="rect">
            <a:avLst/>
          </a:prstGeom>
        </p:spPr>
        <p:txBody>
          <a:bodyPr wrap="square">
            <a:spAutoFit/>
          </a:bodyPr>
          <a:lstStyle/>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3: Tariff regulation &amp; financial performance</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The Economic Regulation details and existing tariff structures – UDF, Landing, Parking and Housing charges etc. (aeronautical charges) – would need to be studied and incorporated appropriately in the financial model to be prepared for the transactions</a:t>
            </a:r>
          </a:p>
        </p:txBody>
      </p:sp>
      <p:sp>
        <p:nvSpPr>
          <p:cNvPr id="35" name="Rectangle 34"/>
          <p:cNvSpPr/>
          <p:nvPr/>
        </p:nvSpPr>
        <p:spPr>
          <a:xfrm>
            <a:off x="5020366" y="3573573"/>
            <a:ext cx="5346264" cy="861774"/>
          </a:xfrm>
          <a:prstGeom prst="rect">
            <a:avLst/>
          </a:prstGeom>
        </p:spPr>
        <p:txBody>
          <a:bodyPr wrap="square">
            <a:spAutoFit/>
          </a:bodyPr>
          <a:lstStyle/>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2: Project requirements</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It would be important to understand the various factors that impact project viability such as </a:t>
            </a:r>
            <a:r>
              <a:rPr lang="en-US" sz="1200" dirty="0">
                <a:latin typeface="Verdana" panose="020B0604030504040204" pitchFamily="34" charset="0"/>
                <a:ea typeface="Verdana" panose="020B0604030504040204" pitchFamily="34" charset="0"/>
                <a:cs typeface="Verdana" panose="020B0604030504040204" pitchFamily="34" charset="0"/>
              </a:rPr>
              <a:t>commercial due diligence</a:t>
            </a:r>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 bid development, bid strategy and cooperation with other advisors</a:t>
            </a:r>
          </a:p>
        </p:txBody>
      </p:sp>
      <p:sp>
        <p:nvSpPr>
          <p:cNvPr id="37" name="Rectangle 36"/>
          <p:cNvSpPr/>
          <p:nvPr/>
        </p:nvSpPr>
        <p:spPr>
          <a:xfrm>
            <a:off x="5877987" y="57154"/>
            <a:ext cx="456225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Our Understanding of the Airport</a:t>
            </a:r>
          </a:p>
        </p:txBody>
      </p:sp>
      <p:cxnSp>
        <p:nvCxnSpPr>
          <p:cNvPr id="38" name="Straight Connector 37"/>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Our Understanding of the Airport</a:t>
            </a:r>
          </a:p>
        </p:txBody>
      </p:sp>
      <p:grpSp>
        <p:nvGrpSpPr>
          <p:cNvPr id="36" name="Group 65"/>
          <p:cNvGrpSpPr>
            <a:grpSpLocks/>
          </p:cNvGrpSpPr>
          <p:nvPr/>
        </p:nvGrpSpPr>
        <p:grpSpPr bwMode="auto">
          <a:xfrm>
            <a:off x="331001" y="1757672"/>
            <a:ext cx="4602432" cy="4354016"/>
            <a:chOff x="138" y="1314"/>
            <a:chExt cx="2742" cy="2594"/>
          </a:xfrm>
        </p:grpSpPr>
        <p:sp>
          <p:nvSpPr>
            <p:cNvPr id="40" name="Rectangle 66"/>
            <p:cNvSpPr>
              <a:spLocks noChangeArrowheads="1"/>
            </p:cNvSpPr>
            <p:nvPr/>
          </p:nvSpPr>
          <p:spPr bwMode="gray">
            <a:xfrm>
              <a:off x="138" y="1314"/>
              <a:ext cx="2742" cy="2594"/>
            </a:xfrm>
            <a:prstGeom prst="rect">
              <a:avLst/>
            </a:prstGeom>
            <a:solidFill>
              <a:srgbClr val="FFFFFF"/>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lIns="45720" rIns="45720" anchor="ctr"/>
            <a:lstStyle>
              <a:lvl1pPr eaLnBrk="0" hangingPunct="0">
                <a:defRPr sz="1400" i="1">
                  <a:solidFill>
                    <a:schemeClr val="tx1"/>
                  </a:solidFill>
                  <a:latin typeface="Arial" panose="020B0604020202020204" pitchFamily="34" charset="0"/>
                  <a:cs typeface="Arial" panose="020B0604020202020204" pitchFamily="34" charset="0"/>
                </a:defRPr>
              </a:lvl1pPr>
              <a:lvl2pPr marL="742950" indent="-285750" eaLnBrk="0" hangingPunct="0">
                <a:defRPr sz="1400" i="1">
                  <a:solidFill>
                    <a:schemeClr val="tx1"/>
                  </a:solidFill>
                  <a:latin typeface="Arial" panose="020B0604020202020204" pitchFamily="34" charset="0"/>
                  <a:cs typeface="Arial" panose="020B0604020202020204" pitchFamily="34" charset="0"/>
                </a:defRPr>
              </a:lvl2pPr>
              <a:lvl3pPr marL="1143000" indent="-228600" eaLnBrk="0" hangingPunct="0">
                <a:defRPr sz="1400" i="1">
                  <a:solidFill>
                    <a:schemeClr val="tx1"/>
                  </a:solidFill>
                  <a:latin typeface="Arial" panose="020B0604020202020204" pitchFamily="34" charset="0"/>
                  <a:cs typeface="Arial" panose="020B0604020202020204" pitchFamily="34" charset="0"/>
                </a:defRPr>
              </a:lvl3pPr>
              <a:lvl4pPr marL="1600200" indent="-228600" eaLnBrk="0" hangingPunct="0">
                <a:defRPr sz="1400" i="1">
                  <a:solidFill>
                    <a:schemeClr val="tx1"/>
                  </a:solidFill>
                  <a:latin typeface="Arial" panose="020B0604020202020204" pitchFamily="34" charset="0"/>
                  <a:cs typeface="Arial" panose="020B0604020202020204" pitchFamily="34" charset="0"/>
                </a:defRPr>
              </a:lvl4pPr>
              <a:lvl5pPr marL="2057400" indent="-228600"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lgn="l" eaLnBrk="1" hangingPunct="1">
                <a:lnSpc>
                  <a:spcPct val="95000"/>
                </a:lnSpc>
                <a:spcBef>
                  <a:spcPct val="20000"/>
                </a:spcBef>
              </a:pPr>
              <a:endParaRPr lang="en-US" altLang="en-US" sz="1050" dirty="0">
                <a:latin typeface="+mj-lt"/>
              </a:endParaRPr>
            </a:p>
          </p:txBody>
        </p:sp>
        <p:sp>
          <p:nvSpPr>
            <p:cNvPr id="41" name="Freeform 67"/>
            <p:cNvSpPr>
              <a:spLocks/>
            </p:cNvSpPr>
            <p:nvPr/>
          </p:nvSpPr>
          <p:spPr bwMode="gray">
            <a:xfrm>
              <a:off x="354" y="3126"/>
              <a:ext cx="2508" cy="729"/>
            </a:xfrm>
            <a:custGeom>
              <a:avLst/>
              <a:gdLst>
                <a:gd name="T0" fmla="*/ 2 w 3246"/>
                <a:gd name="T1" fmla="*/ 0 h 959"/>
                <a:gd name="T2" fmla="*/ 2 w 3246"/>
                <a:gd name="T3" fmla="*/ 2 h 959"/>
                <a:gd name="T4" fmla="*/ 2 w 3246"/>
                <a:gd name="T5" fmla="*/ 2 h 959"/>
                <a:gd name="T6" fmla="*/ 2 w 3246"/>
                <a:gd name="T7" fmla="*/ 2 h 959"/>
                <a:gd name="T8" fmla="*/ 2 w 3246"/>
                <a:gd name="T9" fmla="*/ 2 h 959"/>
                <a:gd name="T10" fmla="*/ 2 w 3246"/>
                <a:gd name="T11" fmla="*/ 2 h 959"/>
                <a:gd name="T12" fmla="*/ 2 w 3246"/>
                <a:gd name="T13" fmla="*/ 2 h 959"/>
                <a:gd name="T14" fmla="*/ 2 w 3246"/>
                <a:gd name="T15" fmla="*/ 2 h 959"/>
                <a:gd name="T16" fmla="*/ 2 w 3246"/>
                <a:gd name="T17" fmla="*/ 2 h 959"/>
                <a:gd name="T18" fmla="*/ 2 w 3246"/>
                <a:gd name="T19" fmla="*/ 2 h 959"/>
                <a:gd name="T20" fmla="*/ 2 w 3246"/>
                <a:gd name="T21" fmla="*/ 2 h 959"/>
                <a:gd name="T22" fmla="*/ 2 w 3246"/>
                <a:gd name="T23" fmla="*/ 2 h 959"/>
                <a:gd name="T24" fmla="*/ 2 w 3246"/>
                <a:gd name="T25" fmla="*/ 2 h 959"/>
                <a:gd name="T26" fmla="*/ 2 w 3246"/>
                <a:gd name="T27" fmla="*/ 2 h 959"/>
                <a:gd name="T28" fmla="*/ 2 w 3246"/>
                <a:gd name="T29" fmla="*/ 2 h 959"/>
                <a:gd name="T30" fmla="*/ 2 w 3246"/>
                <a:gd name="T31" fmla="*/ 2 h 959"/>
                <a:gd name="T32" fmla="*/ 2 w 3246"/>
                <a:gd name="T33" fmla="*/ 2 h 959"/>
                <a:gd name="T34" fmla="*/ 2 w 3246"/>
                <a:gd name="T35" fmla="*/ 2 h 959"/>
                <a:gd name="T36" fmla="*/ 2 w 3246"/>
                <a:gd name="T37" fmla="*/ 2 h 959"/>
                <a:gd name="T38" fmla="*/ 2 w 3246"/>
                <a:gd name="T39" fmla="*/ 2 h 959"/>
                <a:gd name="T40" fmla="*/ 2 w 3246"/>
                <a:gd name="T41" fmla="*/ 2 h 959"/>
                <a:gd name="T42" fmla="*/ 2 w 3246"/>
                <a:gd name="T43" fmla="*/ 2 h 959"/>
                <a:gd name="T44" fmla="*/ 2 w 3246"/>
                <a:gd name="T45" fmla="*/ 2 h 959"/>
                <a:gd name="T46" fmla="*/ 0 w 3246"/>
                <a:gd name="T47" fmla="*/ 2 h 959"/>
                <a:gd name="T48" fmla="*/ 2 w 3246"/>
                <a:gd name="T49" fmla="*/ 2 h 959"/>
                <a:gd name="T50" fmla="*/ 2 w 3246"/>
                <a:gd name="T51" fmla="*/ 2 h 959"/>
                <a:gd name="T52" fmla="*/ 2 w 3246"/>
                <a:gd name="T53" fmla="*/ 2 h 959"/>
                <a:gd name="T54" fmla="*/ 2 w 3246"/>
                <a:gd name="T55" fmla="*/ 2 h 959"/>
                <a:gd name="T56" fmla="*/ 2 w 3246"/>
                <a:gd name="T57" fmla="*/ 2 h 959"/>
                <a:gd name="T58" fmla="*/ 2 w 3246"/>
                <a:gd name="T59" fmla="*/ 2 h 959"/>
                <a:gd name="T60" fmla="*/ 2 w 3246"/>
                <a:gd name="T61" fmla="*/ 2 h 959"/>
                <a:gd name="T62" fmla="*/ 2 w 3246"/>
                <a:gd name="T63" fmla="*/ 2 h 959"/>
                <a:gd name="T64" fmla="*/ 2 w 3246"/>
                <a:gd name="T65" fmla="*/ 2 h 959"/>
                <a:gd name="T66" fmla="*/ 2 w 3246"/>
                <a:gd name="T67" fmla="*/ 2 h 959"/>
                <a:gd name="T68" fmla="*/ 2 w 3246"/>
                <a:gd name="T69" fmla="*/ 2 h 959"/>
                <a:gd name="T70" fmla="*/ 2 w 3246"/>
                <a:gd name="T71" fmla="*/ 2 h 959"/>
                <a:gd name="T72" fmla="*/ 2 w 3246"/>
                <a:gd name="T73" fmla="*/ 2 h 959"/>
                <a:gd name="T74" fmla="*/ 2 w 3246"/>
                <a:gd name="T75" fmla="*/ 2 h 959"/>
                <a:gd name="T76" fmla="*/ 2 w 3246"/>
                <a:gd name="T77" fmla="*/ 2 h 959"/>
                <a:gd name="T78" fmla="*/ 2 w 3246"/>
                <a:gd name="T79" fmla="*/ 0 h 9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246"/>
                <a:gd name="T121" fmla="*/ 0 h 959"/>
                <a:gd name="T122" fmla="*/ 3246 w 3246"/>
                <a:gd name="T123" fmla="*/ 959 h 95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246" h="959">
                  <a:moveTo>
                    <a:pt x="1918" y="0"/>
                  </a:moveTo>
                  <a:lnTo>
                    <a:pt x="1869" y="144"/>
                  </a:lnTo>
                  <a:lnTo>
                    <a:pt x="1781" y="56"/>
                  </a:lnTo>
                  <a:lnTo>
                    <a:pt x="1680" y="241"/>
                  </a:lnTo>
                  <a:lnTo>
                    <a:pt x="1630" y="23"/>
                  </a:lnTo>
                  <a:lnTo>
                    <a:pt x="1614" y="167"/>
                  </a:lnTo>
                  <a:lnTo>
                    <a:pt x="1564" y="71"/>
                  </a:lnTo>
                  <a:lnTo>
                    <a:pt x="1484" y="255"/>
                  </a:lnTo>
                  <a:lnTo>
                    <a:pt x="1396" y="82"/>
                  </a:lnTo>
                  <a:lnTo>
                    <a:pt x="1278" y="229"/>
                  </a:lnTo>
                  <a:lnTo>
                    <a:pt x="1271" y="82"/>
                  </a:lnTo>
                  <a:lnTo>
                    <a:pt x="1158" y="182"/>
                  </a:lnTo>
                  <a:lnTo>
                    <a:pt x="1162" y="42"/>
                  </a:lnTo>
                  <a:lnTo>
                    <a:pt x="1049" y="274"/>
                  </a:lnTo>
                  <a:lnTo>
                    <a:pt x="936" y="116"/>
                  </a:lnTo>
                  <a:lnTo>
                    <a:pt x="969" y="229"/>
                  </a:lnTo>
                  <a:lnTo>
                    <a:pt x="806" y="82"/>
                  </a:lnTo>
                  <a:lnTo>
                    <a:pt x="789" y="229"/>
                  </a:lnTo>
                  <a:lnTo>
                    <a:pt x="664" y="82"/>
                  </a:lnTo>
                  <a:lnTo>
                    <a:pt x="619" y="189"/>
                  </a:lnTo>
                  <a:lnTo>
                    <a:pt x="576" y="33"/>
                  </a:lnTo>
                  <a:lnTo>
                    <a:pt x="522" y="193"/>
                  </a:lnTo>
                  <a:lnTo>
                    <a:pt x="475" y="141"/>
                  </a:lnTo>
                  <a:lnTo>
                    <a:pt x="0" y="959"/>
                  </a:lnTo>
                  <a:lnTo>
                    <a:pt x="3246" y="959"/>
                  </a:lnTo>
                  <a:lnTo>
                    <a:pt x="2771" y="141"/>
                  </a:lnTo>
                  <a:lnTo>
                    <a:pt x="2696" y="208"/>
                  </a:lnTo>
                  <a:lnTo>
                    <a:pt x="2651" y="87"/>
                  </a:lnTo>
                  <a:lnTo>
                    <a:pt x="2620" y="196"/>
                  </a:lnTo>
                  <a:lnTo>
                    <a:pt x="2613" y="49"/>
                  </a:lnTo>
                  <a:lnTo>
                    <a:pt x="2499" y="149"/>
                  </a:lnTo>
                  <a:lnTo>
                    <a:pt x="2504" y="9"/>
                  </a:lnTo>
                  <a:lnTo>
                    <a:pt x="2391" y="241"/>
                  </a:lnTo>
                  <a:lnTo>
                    <a:pt x="2277" y="82"/>
                  </a:lnTo>
                  <a:lnTo>
                    <a:pt x="2310" y="196"/>
                  </a:lnTo>
                  <a:lnTo>
                    <a:pt x="2147" y="49"/>
                  </a:lnTo>
                  <a:lnTo>
                    <a:pt x="2131" y="196"/>
                  </a:lnTo>
                  <a:lnTo>
                    <a:pt x="2006" y="49"/>
                  </a:lnTo>
                  <a:lnTo>
                    <a:pt x="1961" y="156"/>
                  </a:lnTo>
                  <a:lnTo>
                    <a:pt x="1918" y="0"/>
                  </a:lnTo>
                  <a:close/>
                </a:path>
              </a:pathLst>
            </a:custGeom>
            <a:solidFill>
              <a:schemeClr val="accent5">
                <a:lumMod val="75000"/>
              </a:schemeClr>
            </a:solidFill>
            <a:ln w="12700">
              <a:solidFill>
                <a:schemeClr val="bg1"/>
              </a:solidFill>
              <a:round/>
              <a:headEnd/>
              <a:tailEnd/>
            </a:ln>
          </p:spPr>
          <p:txBody>
            <a:bodyPr/>
            <a:lstStyle>
              <a:lvl1pPr eaLnBrk="0" hangingPunct="0">
                <a:defRPr sz="1400" i="1">
                  <a:solidFill>
                    <a:schemeClr val="tx1"/>
                  </a:solidFill>
                  <a:latin typeface="Arial" panose="020B0604020202020204" pitchFamily="34" charset="0"/>
                  <a:cs typeface="Arial" panose="020B0604020202020204" pitchFamily="34" charset="0"/>
                </a:defRPr>
              </a:lvl1pPr>
              <a:lvl2pPr marL="742950" indent="-285750" eaLnBrk="0" hangingPunct="0">
                <a:defRPr sz="1400" i="1">
                  <a:solidFill>
                    <a:schemeClr val="tx1"/>
                  </a:solidFill>
                  <a:latin typeface="Arial" panose="020B0604020202020204" pitchFamily="34" charset="0"/>
                  <a:cs typeface="Arial" panose="020B0604020202020204" pitchFamily="34" charset="0"/>
                </a:defRPr>
              </a:lvl2pPr>
              <a:lvl3pPr marL="1143000" indent="-228600" eaLnBrk="0" hangingPunct="0">
                <a:defRPr sz="1400" i="1">
                  <a:solidFill>
                    <a:schemeClr val="tx1"/>
                  </a:solidFill>
                  <a:latin typeface="Arial" panose="020B0604020202020204" pitchFamily="34" charset="0"/>
                  <a:cs typeface="Arial" panose="020B0604020202020204" pitchFamily="34" charset="0"/>
                </a:defRPr>
              </a:lvl3pPr>
              <a:lvl4pPr marL="1600200" indent="-228600" eaLnBrk="0" hangingPunct="0">
                <a:defRPr sz="1400" i="1">
                  <a:solidFill>
                    <a:schemeClr val="tx1"/>
                  </a:solidFill>
                  <a:latin typeface="Arial" panose="020B0604020202020204" pitchFamily="34" charset="0"/>
                  <a:cs typeface="Arial" panose="020B0604020202020204" pitchFamily="34" charset="0"/>
                </a:defRPr>
              </a:lvl4pPr>
              <a:lvl5pPr marL="2057400" indent="-228600"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lgn="l" eaLnBrk="1" hangingPunct="1">
                <a:lnSpc>
                  <a:spcPct val="95000"/>
                </a:lnSpc>
                <a:spcBef>
                  <a:spcPct val="20000"/>
                </a:spcBef>
              </a:pPr>
              <a:endParaRPr lang="en-US" altLang="en-US" sz="1050" dirty="0">
                <a:latin typeface="+mj-lt"/>
              </a:endParaRPr>
            </a:p>
          </p:txBody>
        </p:sp>
        <p:sp>
          <p:nvSpPr>
            <p:cNvPr id="42" name="Text Box 68"/>
            <p:cNvSpPr txBox="1">
              <a:spLocks noChangeArrowheads="1"/>
            </p:cNvSpPr>
            <p:nvPr/>
          </p:nvSpPr>
          <p:spPr bwMode="gray">
            <a:xfrm>
              <a:off x="706" y="3468"/>
              <a:ext cx="1745"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lvl1pPr defTabSz="865188" eaLnBrk="0" hangingPunct="0">
                <a:defRPr sz="1400" i="1">
                  <a:solidFill>
                    <a:schemeClr val="tx1"/>
                  </a:solidFill>
                  <a:latin typeface="Arial" panose="020B0604020202020204" pitchFamily="34" charset="0"/>
                  <a:cs typeface="Arial" panose="020B0604020202020204" pitchFamily="34" charset="0"/>
                </a:defRPr>
              </a:lvl1pPr>
              <a:lvl2pPr marL="742950" indent="-285750" defTabSz="865188" eaLnBrk="0" hangingPunct="0">
                <a:defRPr sz="1400" i="1">
                  <a:solidFill>
                    <a:schemeClr val="tx1"/>
                  </a:solidFill>
                  <a:latin typeface="Arial" panose="020B0604020202020204" pitchFamily="34" charset="0"/>
                  <a:cs typeface="Arial" panose="020B0604020202020204" pitchFamily="34" charset="0"/>
                </a:defRPr>
              </a:lvl2pPr>
              <a:lvl3pPr marL="1143000" indent="-228600" defTabSz="865188" eaLnBrk="0" hangingPunct="0">
                <a:defRPr sz="1400" i="1">
                  <a:solidFill>
                    <a:schemeClr val="tx1"/>
                  </a:solidFill>
                  <a:latin typeface="Arial" panose="020B0604020202020204" pitchFamily="34" charset="0"/>
                  <a:cs typeface="Arial" panose="020B0604020202020204" pitchFamily="34" charset="0"/>
                </a:defRPr>
              </a:lvl3pPr>
              <a:lvl4pPr marL="1600200" indent="-228600" defTabSz="865188" eaLnBrk="0" hangingPunct="0">
                <a:defRPr sz="1400" i="1">
                  <a:solidFill>
                    <a:schemeClr val="tx1"/>
                  </a:solidFill>
                  <a:latin typeface="Arial" panose="020B0604020202020204" pitchFamily="34" charset="0"/>
                  <a:cs typeface="Arial" panose="020B0604020202020204" pitchFamily="34" charset="0"/>
                </a:defRPr>
              </a:lvl4pPr>
              <a:lvl5pPr marL="2057400" indent="-228600" defTabSz="865188"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lgn="ctr">
                <a:buFont typeface="Symbol" panose="05050102010706020507" pitchFamily="18" charset="2"/>
                <a:buNone/>
              </a:pPr>
              <a:r>
                <a:rPr lang="en-US" altLang="en-US" sz="1200" b="1" i="0" dirty="0">
                  <a:solidFill>
                    <a:schemeClr val="bg1"/>
                  </a:solidFill>
                  <a:latin typeface="+mj-lt"/>
                </a:rPr>
                <a:t>Tariff regulation and financial performance</a:t>
              </a:r>
            </a:p>
          </p:txBody>
        </p:sp>
        <p:sp>
          <p:nvSpPr>
            <p:cNvPr id="43" name="Freeform 69"/>
            <p:cNvSpPr>
              <a:spLocks/>
            </p:cNvSpPr>
            <p:nvPr/>
          </p:nvSpPr>
          <p:spPr bwMode="gray">
            <a:xfrm rot="21240156">
              <a:off x="1146" y="1352"/>
              <a:ext cx="1021" cy="938"/>
            </a:xfrm>
            <a:custGeom>
              <a:avLst/>
              <a:gdLst>
                <a:gd name="T0" fmla="*/ 2 w 1322"/>
                <a:gd name="T1" fmla="*/ 0 h 1235"/>
                <a:gd name="T2" fmla="*/ 0 w 1322"/>
                <a:gd name="T3" fmla="*/ 2 h 1235"/>
                <a:gd name="T4" fmla="*/ 2 w 1322"/>
                <a:gd name="T5" fmla="*/ 2 h 1235"/>
                <a:gd name="T6" fmla="*/ 2 w 1322"/>
                <a:gd name="T7" fmla="*/ 2 h 1235"/>
                <a:gd name="T8" fmla="*/ 2 w 1322"/>
                <a:gd name="T9" fmla="*/ 2 h 1235"/>
                <a:gd name="T10" fmla="*/ 2 w 1322"/>
                <a:gd name="T11" fmla="*/ 2 h 1235"/>
                <a:gd name="T12" fmla="*/ 2 w 1322"/>
                <a:gd name="T13" fmla="*/ 2 h 1235"/>
                <a:gd name="T14" fmla="*/ 2 w 1322"/>
                <a:gd name="T15" fmla="*/ 2 h 1235"/>
                <a:gd name="T16" fmla="*/ 2 w 1322"/>
                <a:gd name="T17" fmla="*/ 2 h 1235"/>
                <a:gd name="T18" fmla="*/ 2 w 1322"/>
                <a:gd name="T19" fmla="*/ 2 h 1235"/>
                <a:gd name="T20" fmla="*/ 2 w 1322"/>
                <a:gd name="T21" fmla="*/ 2 h 1235"/>
                <a:gd name="T22" fmla="*/ 2 w 1322"/>
                <a:gd name="T23" fmla="*/ 2 h 1235"/>
                <a:gd name="T24" fmla="*/ 2 w 1322"/>
                <a:gd name="T25" fmla="*/ 2 h 1235"/>
                <a:gd name="T26" fmla="*/ 2 w 1322"/>
                <a:gd name="T27" fmla="*/ 2 h 1235"/>
                <a:gd name="T28" fmla="*/ 2 w 1322"/>
                <a:gd name="T29" fmla="*/ 2 h 1235"/>
                <a:gd name="T30" fmla="*/ 2 w 1322"/>
                <a:gd name="T31" fmla="*/ 2 h 1235"/>
                <a:gd name="T32" fmla="*/ 2 w 1322"/>
                <a:gd name="T33" fmla="*/ 2 h 1235"/>
                <a:gd name="T34" fmla="*/ 2 w 1322"/>
                <a:gd name="T35" fmla="*/ 2 h 1235"/>
                <a:gd name="T36" fmla="*/ 2 w 1322"/>
                <a:gd name="T37" fmla="*/ 2 h 1235"/>
                <a:gd name="T38" fmla="*/ 2 w 1322"/>
                <a:gd name="T39" fmla="*/ 2 h 1235"/>
                <a:gd name="T40" fmla="*/ 2 w 1322"/>
                <a:gd name="T41" fmla="*/ 2 h 1235"/>
                <a:gd name="T42" fmla="*/ 2 w 1322"/>
                <a:gd name="T43" fmla="*/ 2 h 1235"/>
                <a:gd name="T44" fmla="*/ 2 w 1322"/>
                <a:gd name="T45" fmla="*/ 0 h 12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22"/>
                <a:gd name="T70" fmla="*/ 0 h 1235"/>
                <a:gd name="T71" fmla="*/ 1322 w 1322"/>
                <a:gd name="T72" fmla="*/ 1235 h 12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22" h="1235">
                  <a:moveTo>
                    <a:pt x="661" y="0"/>
                  </a:moveTo>
                  <a:lnTo>
                    <a:pt x="0" y="1140"/>
                  </a:lnTo>
                  <a:lnTo>
                    <a:pt x="35" y="1225"/>
                  </a:lnTo>
                  <a:lnTo>
                    <a:pt x="80" y="1098"/>
                  </a:lnTo>
                  <a:lnTo>
                    <a:pt x="122" y="1185"/>
                  </a:lnTo>
                  <a:lnTo>
                    <a:pt x="248" y="1067"/>
                  </a:lnTo>
                  <a:lnTo>
                    <a:pt x="264" y="1185"/>
                  </a:lnTo>
                  <a:lnTo>
                    <a:pt x="427" y="1067"/>
                  </a:lnTo>
                  <a:lnTo>
                    <a:pt x="394" y="1159"/>
                  </a:lnTo>
                  <a:lnTo>
                    <a:pt x="510" y="1027"/>
                  </a:lnTo>
                  <a:lnTo>
                    <a:pt x="623" y="1218"/>
                  </a:lnTo>
                  <a:lnTo>
                    <a:pt x="618" y="1105"/>
                  </a:lnTo>
                  <a:lnTo>
                    <a:pt x="732" y="1185"/>
                  </a:lnTo>
                  <a:lnTo>
                    <a:pt x="737" y="1067"/>
                  </a:lnTo>
                  <a:lnTo>
                    <a:pt x="857" y="1185"/>
                  </a:lnTo>
                  <a:lnTo>
                    <a:pt x="944" y="1044"/>
                  </a:lnTo>
                  <a:lnTo>
                    <a:pt x="1025" y="1197"/>
                  </a:lnTo>
                  <a:lnTo>
                    <a:pt x="1074" y="1114"/>
                  </a:lnTo>
                  <a:lnTo>
                    <a:pt x="1091" y="1235"/>
                  </a:lnTo>
                  <a:lnTo>
                    <a:pt x="1138" y="1055"/>
                  </a:lnTo>
                  <a:lnTo>
                    <a:pt x="1242" y="1207"/>
                  </a:lnTo>
                  <a:lnTo>
                    <a:pt x="1322" y="1140"/>
                  </a:lnTo>
                  <a:lnTo>
                    <a:pt x="661" y="0"/>
                  </a:lnTo>
                  <a:close/>
                </a:path>
              </a:pathLst>
            </a:custGeom>
            <a:solidFill>
              <a:schemeClr val="accent3"/>
            </a:solidFill>
            <a:ln w="12700">
              <a:solidFill>
                <a:schemeClr val="bg1"/>
              </a:solidFill>
              <a:round/>
              <a:headEnd/>
              <a:tailEnd/>
            </a:ln>
          </p:spPr>
          <p:txBody>
            <a:bodyPr/>
            <a:lstStyle>
              <a:lvl1pPr eaLnBrk="0" hangingPunct="0">
                <a:defRPr sz="1400" i="1">
                  <a:solidFill>
                    <a:schemeClr val="tx1"/>
                  </a:solidFill>
                  <a:latin typeface="Arial" panose="020B0604020202020204" pitchFamily="34" charset="0"/>
                  <a:cs typeface="Arial" panose="020B0604020202020204" pitchFamily="34" charset="0"/>
                </a:defRPr>
              </a:lvl1pPr>
              <a:lvl2pPr marL="742950" indent="-285750" eaLnBrk="0" hangingPunct="0">
                <a:defRPr sz="1400" i="1">
                  <a:solidFill>
                    <a:schemeClr val="tx1"/>
                  </a:solidFill>
                  <a:latin typeface="Arial" panose="020B0604020202020204" pitchFamily="34" charset="0"/>
                  <a:cs typeface="Arial" panose="020B0604020202020204" pitchFamily="34" charset="0"/>
                </a:defRPr>
              </a:lvl2pPr>
              <a:lvl3pPr marL="1143000" indent="-228600" eaLnBrk="0" hangingPunct="0">
                <a:defRPr sz="1400" i="1">
                  <a:solidFill>
                    <a:schemeClr val="tx1"/>
                  </a:solidFill>
                  <a:latin typeface="Arial" panose="020B0604020202020204" pitchFamily="34" charset="0"/>
                  <a:cs typeface="Arial" panose="020B0604020202020204" pitchFamily="34" charset="0"/>
                </a:defRPr>
              </a:lvl3pPr>
              <a:lvl4pPr marL="1600200" indent="-228600" eaLnBrk="0" hangingPunct="0">
                <a:defRPr sz="1400" i="1">
                  <a:solidFill>
                    <a:schemeClr val="tx1"/>
                  </a:solidFill>
                  <a:latin typeface="Arial" panose="020B0604020202020204" pitchFamily="34" charset="0"/>
                  <a:cs typeface="Arial" panose="020B0604020202020204" pitchFamily="34" charset="0"/>
                </a:defRPr>
              </a:lvl4pPr>
              <a:lvl5pPr marL="2057400" indent="-228600"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lgn="l" eaLnBrk="1" hangingPunct="1">
                <a:lnSpc>
                  <a:spcPct val="95000"/>
                </a:lnSpc>
                <a:spcBef>
                  <a:spcPct val="20000"/>
                </a:spcBef>
              </a:pPr>
              <a:endParaRPr lang="en-US" altLang="en-US" sz="1050" dirty="0">
                <a:latin typeface="+mj-lt"/>
              </a:endParaRPr>
            </a:p>
          </p:txBody>
        </p:sp>
        <p:sp>
          <p:nvSpPr>
            <p:cNvPr id="44" name="Text Box 70"/>
            <p:cNvSpPr txBox="1">
              <a:spLocks noChangeArrowheads="1"/>
            </p:cNvSpPr>
            <p:nvPr/>
          </p:nvSpPr>
          <p:spPr bwMode="gray">
            <a:xfrm>
              <a:off x="1429" y="1764"/>
              <a:ext cx="4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lvl1pPr defTabSz="865188" eaLnBrk="0" hangingPunct="0">
                <a:defRPr sz="1400" i="1">
                  <a:solidFill>
                    <a:schemeClr val="tx1"/>
                  </a:solidFill>
                  <a:latin typeface="Arial" panose="020B0604020202020204" pitchFamily="34" charset="0"/>
                  <a:cs typeface="Arial" panose="020B0604020202020204" pitchFamily="34" charset="0"/>
                </a:defRPr>
              </a:lvl1pPr>
              <a:lvl2pPr marL="742950" indent="-285750" defTabSz="865188" eaLnBrk="0" hangingPunct="0">
                <a:defRPr sz="1400" i="1">
                  <a:solidFill>
                    <a:schemeClr val="tx1"/>
                  </a:solidFill>
                  <a:latin typeface="Arial" panose="020B0604020202020204" pitchFamily="34" charset="0"/>
                  <a:cs typeface="Arial" panose="020B0604020202020204" pitchFamily="34" charset="0"/>
                </a:defRPr>
              </a:lvl2pPr>
              <a:lvl3pPr marL="1143000" indent="-228600" defTabSz="865188" eaLnBrk="0" hangingPunct="0">
                <a:defRPr sz="1400" i="1">
                  <a:solidFill>
                    <a:schemeClr val="tx1"/>
                  </a:solidFill>
                  <a:latin typeface="Arial" panose="020B0604020202020204" pitchFamily="34" charset="0"/>
                  <a:cs typeface="Arial" panose="020B0604020202020204" pitchFamily="34" charset="0"/>
                </a:defRPr>
              </a:lvl3pPr>
              <a:lvl4pPr marL="1600200" indent="-228600" defTabSz="865188" eaLnBrk="0" hangingPunct="0">
                <a:defRPr sz="1400" i="1">
                  <a:solidFill>
                    <a:schemeClr val="tx1"/>
                  </a:solidFill>
                  <a:latin typeface="Arial" panose="020B0604020202020204" pitchFamily="34" charset="0"/>
                  <a:cs typeface="Arial" panose="020B0604020202020204" pitchFamily="34" charset="0"/>
                </a:defRPr>
              </a:lvl4pPr>
              <a:lvl5pPr marL="2057400" indent="-228600" defTabSz="865188"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buFont typeface="Symbol" panose="05050102010706020507" pitchFamily="18" charset="2"/>
                <a:buNone/>
              </a:pPr>
              <a:r>
                <a:rPr lang="en-US" altLang="en-US" sz="1200" b="1" i="0" dirty="0">
                  <a:solidFill>
                    <a:schemeClr val="bg1"/>
                  </a:solidFill>
                  <a:latin typeface="+mj-lt"/>
                </a:rPr>
                <a:t>Existing Airport Profile</a:t>
              </a:r>
            </a:p>
          </p:txBody>
        </p:sp>
        <p:sp>
          <p:nvSpPr>
            <p:cNvPr id="45" name="Freeform 71"/>
            <p:cNvSpPr>
              <a:spLocks/>
            </p:cNvSpPr>
            <p:nvPr/>
          </p:nvSpPr>
          <p:spPr bwMode="gray">
            <a:xfrm>
              <a:off x="826" y="2289"/>
              <a:ext cx="1774" cy="827"/>
            </a:xfrm>
            <a:custGeom>
              <a:avLst/>
              <a:gdLst>
                <a:gd name="T0" fmla="*/ 2 w 2296"/>
                <a:gd name="T1" fmla="*/ 0 h 1089"/>
                <a:gd name="T2" fmla="*/ 2 w 2296"/>
                <a:gd name="T3" fmla="*/ 2 h 1089"/>
                <a:gd name="T4" fmla="*/ 2 w 2296"/>
                <a:gd name="T5" fmla="*/ 2 h 1089"/>
                <a:gd name="T6" fmla="*/ 2 w 2296"/>
                <a:gd name="T7" fmla="*/ 2 h 1089"/>
                <a:gd name="T8" fmla="*/ 2 w 2296"/>
                <a:gd name="T9" fmla="*/ 2 h 1089"/>
                <a:gd name="T10" fmla="*/ 2 w 2296"/>
                <a:gd name="T11" fmla="*/ 2 h 1089"/>
                <a:gd name="T12" fmla="*/ 2 w 2296"/>
                <a:gd name="T13" fmla="*/ 2 h 1089"/>
                <a:gd name="T14" fmla="*/ 2 w 2296"/>
                <a:gd name="T15" fmla="*/ 2 h 1089"/>
                <a:gd name="T16" fmla="*/ 2 w 2296"/>
                <a:gd name="T17" fmla="*/ 2 h 1089"/>
                <a:gd name="T18" fmla="*/ 0 w 2296"/>
                <a:gd name="T19" fmla="*/ 2 h 1089"/>
                <a:gd name="T20" fmla="*/ 2 w 2296"/>
                <a:gd name="T21" fmla="*/ 2 h 1089"/>
                <a:gd name="T22" fmla="*/ 2 w 2296"/>
                <a:gd name="T23" fmla="*/ 2 h 1089"/>
                <a:gd name="T24" fmla="*/ 2 w 2296"/>
                <a:gd name="T25" fmla="*/ 2 h 1089"/>
                <a:gd name="T26" fmla="*/ 2 w 2296"/>
                <a:gd name="T27" fmla="*/ 2 h 1089"/>
                <a:gd name="T28" fmla="*/ 2 w 2296"/>
                <a:gd name="T29" fmla="*/ 2 h 1089"/>
                <a:gd name="T30" fmla="*/ 2 w 2296"/>
                <a:gd name="T31" fmla="*/ 2 h 1089"/>
                <a:gd name="T32" fmla="*/ 2 w 2296"/>
                <a:gd name="T33" fmla="*/ 2 h 1089"/>
                <a:gd name="T34" fmla="*/ 2 w 2296"/>
                <a:gd name="T35" fmla="*/ 2 h 1089"/>
                <a:gd name="T36" fmla="*/ 2 w 2296"/>
                <a:gd name="T37" fmla="*/ 2 h 1089"/>
                <a:gd name="T38" fmla="*/ 2 w 2296"/>
                <a:gd name="T39" fmla="*/ 2 h 1089"/>
                <a:gd name="T40" fmla="*/ 2 w 2296"/>
                <a:gd name="T41" fmla="*/ 2 h 1089"/>
                <a:gd name="T42" fmla="*/ 2 w 2296"/>
                <a:gd name="T43" fmla="*/ 2 h 1089"/>
                <a:gd name="T44" fmla="*/ 2 w 2296"/>
                <a:gd name="T45" fmla="*/ 2 h 1089"/>
                <a:gd name="T46" fmla="*/ 2 w 2296"/>
                <a:gd name="T47" fmla="*/ 2 h 1089"/>
                <a:gd name="T48" fmla="*/ 2 w 2296"/>
                <a:gd name="T49" fmla="*/ 2 h 1089"/>
                <a:gd name="T50" fmla="*/ 2 w 2296"/>
                <a:gd name="T51" fmla="*/ 2 h 1089"/>
                <a:gd name="T52" fmla="*/ 2 w 2296"/>
                <a:gd name="T53" fmla="*/ 2 h 1089"/>
                <a:gd name="T54" fmla="*/ 2 w 2296"/>
                <a:gd name="T55" fmla="*/ 2 h 1089"/>
                <a:gd name="T56" fmla="*/ 2 w 2296"/>
                <a:gd name="T57" fmla="*/ 2 h 1089"/>
                <a:gd name="T58" fmla="*/ 2 w 2296"/>
                <a:gd name="T59" fmla="*/ 2 h 1089"/>
                <a:gd name="T60" fmla="*/ 2 w 2296"/>
                <a:gd name="T61" fmla="*/ 2 h 1089"/>
                <a:gd name="T62" fmla="*/ 2 w 2296"/>
                <a:gd name="T63" fmla="*/ 2 h 1089"/>
                <a:gd name="T64" fmla="*/ 2 w 2296"/>
                <a:gd name="T65" fmla="*/ 2 h 1089"/>
                <a:gd name="T66" fmla="*/ 2 w 2296"/>
                <a:gd name="T67" fmla="*/ 2 h 1089"/>
                <a:gd name="T68" fmla="*/ 2 w 2296"/>
                <a:gd name="T69" fmla="*/ 2 h 1089"/>
                <a:gd name="T70" fmla="*/ 2 w 2296"/>
                <a:gd name="T71" fmla="*/ 2 h 1089"/>
                <a:gd name="T72" fmla="*/ 2 w 2296"/>
                <a:gd name="T73" fmla="*/ 2 h 1089"/>
                <a:gd name="T74" fmla="*/ 2 w 2296"/>
                <a:gd name="T75" fmla="*/ 2 h 1089"/>
                <a:gd name="T76" fmla="*/ 2 w 2296"/>
                <a:gd name="T77" fmla="*/ 2 h 1089"/>
                <a:gd name="T78" fmla="*/ 2 w 2296"/>
                <a:gd name="T79" fmla="*/ 2 h 1089"/>
                <a:gd name="T80" fmla="*/ 2 w 2296"/>
                <a:gd name="T81" fmla="*/ 2 h 1089"/>
                <a:gd name="T82" fmla="*/ 2 w 2296"/>
                <a:gd name="T83" fmla="*/ 2 h 1089"/>
                <a:gd name="T84" fmla="*/ 2 w 2296"/>
                <a:gd name="T85" fmla="*/ 2 h 1089"/>
                <a:gd name="T86" fmla="*/ 2 w 2296"/>
                <a:gd name="T87" fmla="*/ 2 h 1089"/>
                <a:gd name="T88" fmla="*/ 2 w 2296"/>
                <a:gd name="T89" fmla="*/ 2 h 1089"/>
                <a:gd name="T90" fmla="*/ 2 w 2296"/>
                <a:gd name="T91" fmla="*/ 2 h 1089"/>
                <a:gd name="T92" fmla="*/ 2 w 2296"/>
                <a:gd name="T93" fmla="*/ 2 h 1089"/>
                <a:gd name="T94" fmla="*/ 2 w 2296"/>
                <a:gd name="T95" fmla="*/ 2 h 1089"/>
                <a:gd name="T96" fmla="*/ 2 w 2296"/>
                <a:gd name="T97" fmla="*/ 2 h 1089"/>
                <a:gd name="T98" fmla="*/ 2 w 2296"/>
                <a:gd name="T99" fmla="*/ 2 h 1089"/>
                <a:gd name="T100" fmla="*/ 2 w 2296"/>
                <a:gd name="T101" fmla="*/ 2 h 1089"/>
                <a:gd name="T102" fmla="*/ 2 w 2296"/>
                <a:gd name="T103" fmla="*/ 2 h 1089"/>
                <a:gd name="T104" fmla="*/ 2 w 2296"/>
                <a:gd name="T105" fmla="*/ 2 h 1089"/>
                <a:gd name="T106" fmla="*/ 2 w 2296"/>
                <a:gd name="T107" fmla="*/ 2 h 1089"/>
                <a:gd name="T108" fmla="*/ 2 w 2296"/>
                <a:gd name="T109" fmla="*/ 2 h 1089"/>
                <a:gd name="T110" fmla="*/ 2 w 2296"/>
                <a:gd name="T111" fmla="*/ 2 h 1089"/>
                <a:gd name="T112" fmla="*/ 2 w 2296"/>
                <a:gd name="T113" fmla="*/ 2 h 1089"/>
                <a:gd name="T114" fmla="*/ 2 w 2296"/>
                <a:gd name="T115" fmla="*/ 2 h 1089"/>
                <a:gd name="T116" fmla="*/ 2 w 2296"/>
                <a:gd name="T117" fmla="*/ 0 h 10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296"/>
                <a:gd name="T178" fmla="*/ 0 h 1089"/>
                <a:gd name="T179" fmla="*/ 2296 w 2296"/>
                <a:gd name="T180" fmla="*/ 1089 h 10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296" h="1089">
                  <a:moveTo>
                    <a:pt x="997" y="0"/>
                  </a:moveTo>
                  <a:lnTo>
                    <a:pt x="881" y="132"/>
                  </a:lnTo>
                  <a:lnTo>
                    <a:pt x="914" y="40"/>
                  </a:lnTo>
                  <a:lnTo>
                    <a:pt x="751" y="158"/>
                  </a:lnTo>
                  <a:lnTo>
                    <a:pt x="735" y="40"/>
                  </a:lnTo>
                  <a:lnTo>
                    <a:pt x="609" y="158"/>
                  </a:lnTo>
                  <a:lnTo>
                    <a:pt x="567" y="71"/>
                  </a:lnTo>
                  <a:lnTo>
                    <a:pt x="522" y="198"/>
                  </a:lnTo>
                  <a:lnTo>
                    <a:pt x="486" y="113"/>
                  </a:lnTo>
                  <a:lnTo>
                    <a:pt x="0" y="956"/>
                  </a:lnTo>
                  <a:lnTo>
                    <a:pt x="47" y="1008"/>
                  </a:lnTo>
                  <a:lnTo>
                    <a:pt x="101" y="848"/>
                  </a:lnTo>
                  <a:lnTo>
                    <a:pt x="144" y="1004"/>
                  </a:lnTo>
                  <a:lnTo>
                    <a:pt x="189" y="897"/>
                  </a:lnTo>
                  <a:lnTo>
                    <a:pt x="314" y="1044"/>
                  </a:lnTo>
                  <a:lnTo>
                    <a:pt x="331" y="897"/>
                  </a:lnTo>
                  <a:lnTo>
                    <a:pt x="494" y="1044"/>
                  </a:lnTo>
                  <a:lnTo>
                    <a:pt x="461" y="931"/>
                  </a:lnTo>
                  <a:lnTo>
                    <a:pt x="574" y="1089"/>
                  </a:lnTo>
                  <a:lnTo>
                    <a:pt x="687" y="857"/>
                  </a:lnTo>
                  <a:lnTo>
                    <a:pt x="683" y="997"/>
                  </a:lnTo>
                  <a:lnTo>
                    <a:pt x="796" y="897"/>
                  </a:lnTo>
                  <a:lnTo>
                    <a:pt x="803" y="1044"/>
                  </a:lnTo>
                  <a:lnTo>
                    <a:pt x="921" y="897"/>
                  </a:lnTo>
                  <a:lnTo>
                    <a:pt x="1009" y="1070"/>
                  </a:lnTo>
                  <a:lnTo>
                    <a:pt x="1089" y="886"/>
                  </a:lnTo>
                  <a:lnTo>
                    <a:pt x="1139" y="982"/>
                  </a:lnTo>
                  <a:lnTo>
                    <a:pt x="1155" y="838"/>
                  </a:lnTo>
                  <a:lnTo>
                    <a:pt x="1205" y="1056"/>
                  </a:lnTo>
                  <a:lnTo>
                    <a:pt x="1306" y="871"/>
                  </a:lnTo>
                  <a:lnTo>
                    <a:pt x="1394" y="959"/>
                  </a:lnTo>
                  <a:lnTo>
                    <a:pt x="1443" y="815"/>
                  </a:lnTo>
                  <a:lnTo>
                    <a:pt x="1486" y="971"/>
                  </a:lnTo>
                  <a:lnTo>
                    <a:pt x="1531" y="864"/>
                  </a:lnTo>
                  <a:lnTo>
                    <a:pt x="1656" y="1011"/>
                  </a:lnTo>
                  <a:lnTo>
                    <a:pt x="1672" y="864"/>
                  </a:lnTo>
                  <a:lnTo>
                    <a:pt x="1835" y="1011"/>
                  </a:lnTo>
                  <a:lnTo>
                    <a:pt x="1802" y="897"/>
                  </a:lnTo>
                  <a:lnTo>
                    <a:pt x="1916" y="1056"/>
                  </a:lnTo>
                  <a:lnTo>
                    <a:pt x="2029" y="824"/>
                  </a:lnTo>
                  <a:lnTo>
                    <a:pt x="2024" y="964"/>
                  </a:lnTo>
                  <a:lnTo>
                    <a:pt x="2138" y="864"/>
                  </a:lnTo>
                  <a:lnTo>
                    <a:pt x="2145" y="1011"/>
                  </a:lnTo>
                  <a:lnTo>
                    <a:pt x="2176" y="902"/>
                  </a:lnTo>
                  <a:lnTo>
                    <a:pt x="2221" y="1023"/>
                  </a:lnTo>
                  <a:lnTo>
                    <a:pt x="2296" y="956"/>
                  </a:lnTo>
                  <a:lnTo>
                    <a:pt x="1810" y="113"/>
                  </a:lnTo>
                  <a:lnTo>
                    <a:pt x="1729" y="179"/>
                  </a:lnTo>
                  <a:lnTo>
                    <a:pt x="1625" y="28"/>
                  </a:lnTo>
                  <a:lnTo>
                    <a:pt x="1578" y="208"/>
                  </a:lnTo>
                  <a:lnTo>
                    <a:pt x="1561" y="87"/>
                  </a:lnTo>
                  <a:lnTo>
                    <a:pt x="1512" y="170"/>
                  </a:lnTo>
                  <a:lnTo>
                    <a:pt x="1432" y="16"/>
                  </a:lnTo>
                  <a:lnTo>
                    <a:pt x="1344" y="158"/>
                  </a:lnTo>
                  <a:lnTo>
                    <a:pt x="1224" y="40"/>
                  </a:lnTo>
                  <a:lnTo>
                    <a:pt x="1219" y="158"/>
                  </a:lnTo>
                  <a:lnTo>
                    <a:pt x="1105" y="78"/>
                  </a:lnTo>
                  <a:lnTo>
                    <a:pt x="1110" y="191"/>
                  </a:lnTo>
                  <a:lnTo>
                    <a:pt x="997" y="0"/>
                  </a:lnTo>
                  <a:close/>
                </a:path>
              </a:pathLst>
            </a:custGeom>
            <a:solidFill>
              <a:schemeClr val="accent5"/>
            </a:solidFill>
            <a:ln w="12700">
              <a:solidFill>
                <a:schemeClr val="bg1"/>
              </a:solidFill>
              <a:round/>
              <a:headEnd/>
              <a:tailEnd/>
            </a:ln>
          </p:spPr>
          <p:txBody>
            <a:bodyPr/>
            <a:lstStyle>
              <a:lvl1pPr eaLnBrk="0" hangingPunct="0">
                <a:defRPr sz="1400" i="1">
                  <a:solidFill>
                    <a:schemeClr val="tx1"/>
                  </a:solidFill>
                  <a:latin typeface="Arial" panose="020B0604020202020204" pitchFamily="34" charset="0"/>
                  <a:cs typeface="Arial" panose="020B0604020202020204" pitchFamily="34" charset="0"/>
                </a:defRPr>
              </a:lvl1pPr>
              <a:lvl2pPr marL="742950" indent="-285750" eaLnBrk="0" hangingPunct="0">
                <a:defRPr sz="1400" i="1">
                  <a:solidFill>
                    <a:schemeClr val="tx1"/>
                  </a:solidFill>
                  <a:latin typeface="Arial" panose="020B0604020202020204" pitchFamily="34" charset="0"/>
                  <a:cs typeface="Arial" panose="020B0604020202020204" pitchFamily="34" charset="0"/>
                </a:defRPr>
              </a:lvl2pPr>
              <a:lvl3pPr marL="1143000" indent="-228600" eaLnBrk="0" hangingPunct="0">
                <a:defRPr sz="1400" i="1">
                  <a:solidFill>
                    <a:schemeClr val="tx1"/>
                  </a:solidFill>
                  <a:latin typeface="Arial" panose="020B0604020202020204" pitchFamily="34" charset="0"/>
                  <a:cs typeface="Arial" panose="020B0604020202020204" pitchFamily="34" charset="0"/>
                </a:defRPr>
              </a:lvl3pPr>
              <a:lvl4pPr marL="1600200" indent="-228600" eaLnBrk="0" hangingPunct="0">
                <a:defRPr sz="1400" i="1">
                  <a:solidFill>
                    <a:schemeClr val="tx1"/>
                  </a:solidFill>
                  <a:latin typeface="Arial" panose="020B0604020202020204" pitchFamily="34" charset="0"/>
                  <a:cs typeface="Arial" panose="020B0604020202020204" pitchFamily="34" charset="0"/>
                </a:defRPr>
              </a:lvl4pPr>
              <a:lvl5pPr marL="2057400" indent="-228600"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lgn="l" eaLnBrk="1" hangingPunct="1">
                <a:lnSpc>
                  <a:spcPct val="95000"/>
                </a:lnSpc>
                <a:spcBef>
                  <a:spcPct val="20000"/>
                </a:spcBef>
              </a:pPr>
              <a:endParaRPr lang="en-US" altLang="en-US" sz="1050" dirty="0">
                <a:latin typeface="+mj-lt"/>
              </a:endParaRPr>
            </a:p>
          </p:txBody>
        </p:sp>
        <p:sp>
          <p:nvSpPr>
            <p:cNvPr id="46" name="Text Box 72"/>
            <p:cNvSpPr txBox="1">
              <a:spLocks noChangeArrowheads="1"/>
            </p:cNvSpPr>
            <p:nvPr/>
          </p:nvSpPr>
          <p:spPr bwMode="gray">
            <a:xfrm>
              <a:off x="1135" y="2641"/>
              <a:ext cx="1155"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defTabSz="865188" eaLnBrk="0" hangingPunct="0">
                <a:defRPr sz="1400" i="1">
                  <a:solidFill>
                    <a:schemeClr val="tx1"/>
                  </a:solidFill>
                  <a:latin typeface="Arial" panose="020B0604020202020204" pitchFamily="34" charset="0"/>
                  <a:cs typeface="Arial" panose="020B0604020202020204" pitchFamily="34" charset="0"/>
                </a:defRPr>
              </a:lvl1pPr>
              <a:lvl2pPr marL="742950" indent="-285750" defTabSz="865188" eaLnBrk="0" hangingPunct="0">
                <a:defRPr sz="1400" i="1">
                  <a:solidFill>
                    <a:schemeClr val="tx1"/>
                  </a:solidFill>
                  <a:latin typeface="Arial" panose="020B0604020202020204" pitchFamily="34" charset="0"/>
                  <a:cs typeface="Arial" panose="020B0604020202020204" pitchFamily="34" charset="0"/>
                </a:defRPr>
              </a:lvl2pPr>
              <a:lvl3pPr marL="1143000" indent="-228600" defTabSz="865188" eaLnBrk="0" hangingPunct="0">
                <a:defRPr sz="1400" i="1">
                  <a:solidFill>
                    <a:schemeClr val="tx1"/>
                  </a:solidFill>
                  <a:latin typeface="Arial" panose="020B0604020202020204" pitchFamily="34" charset="0"/>
                  <a:cs typeface="Arial" panose="020B0604020202020204" pitchFamily="34" charset="0"/>
                </a:defRPr>
              </a:lvl3pPr>
              <a:lvl4pPr marL="1600200" indent="-228600" defTabSz="865188" eaLnBrk="0" hangingPunct="0">
                <a:defRPr sz="1400" i="1">
                  <a:solidFill>
                    <a:schemeClr val="tx1"/>
                  </a:solidFill>
                  <a:latin typeface="Arial" panose="020B0604020202020204" pitchFamily="34" charset="0"/>
                  <a:cs typeface="Arial" panose="020B0604020202020204" pitchFamily="34" charset="0"/>
                </a:defRPr>
              </a:lvl4pPr>
              <a:lvl5pPr marL="2057400" indent="-228600" defTabSz="865188" eaLnBrk="0" hangingPunct="0">
                <a:defRPr sz="1400" i="1">
                  <a:solidFill>
                    <a:schemeClr val="tx1"/>
                  </a:solidFill>
                  <a:latin typeface="Arial" panose="020B0604020202020204" pitchFamily="34" charset="0"/>
                  <a:cs typeface="Arial" panose="020B0604020202020204" pitchFamily="34" charset="0"/>
                </a:defRPr>
              </a:lvl5pPr>
              <a:lvl6pPr marL="25146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6pPr>
              <a:lvl7pPr marL="29718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7pPr>
              <a:lvl8pPr marL="34290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8pPr>
              <a:lvl9pPr marL="3886200" indent="-228600" algn="ctr" defTabSz="865188" eaLnBrk="0" fontAlgn="base" hangingPunct="0">
                <a:spcBef>
                  <a:spcPct val="0"/>
                </a:spcBef>
                <a:spcAft>
                  <a:spcPct val="0"/>
                </a:spcAft>
                <a:defRPr sz="1400" i="1">
                  <a:solidFill>
                    <a:schemeClr val="tx1"/>
                  </a:solidFill>
                  <a:latin typeface="Arial" panose="020B0604020202020204" pitchFamily="34" charset="0"/>
                  <a:cs typeface="Arial" panose="020B0604020202020204" pitchFamily="34" charset="0"/>
                </a:defRPr>
              </a:lvl9pPr>
            </a:lstStyle>
            <a:p>
              <a:pPr>
                <a:buFont typeface="Symbol" panose="05050102010706020507" pitchFamily="18" charset="2"/>
                <a:buNone/>
              </a:pPr>
              <a:r>
                <a:rPr lang="en-US" altLang="en-US" sz="1200" b="1" i="0" dirty="0">
                  <a:solidFill>
                    <a:schemeClr val="bg1"/>
                  </a:solidFill>
                  <a:latin typeface="+mj-lt"/>
                </a:rPr>
                <a:t>Project Requirements</a:t>
              </a:r>
            </a:p>
          </p:txBody>
        </p:sp>
        <p:sp>
          <p:nvSpPr>
            <p:cNvPr id="47" name="Line 73"/>
            <p:cNvSpPr>
              <a:spLocks noChangeShapeType="1"/>
            </p:cNvSpPr>
            <p:nvPr/>
          </p:nvSpPr>
          <p:spPr bwMode="gray">
            <a:xfrm>
              <a:off x="1048" y="2285"/>
              <a:ext cx="1403" cy="4"/>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lIns="45720" rIns="45720" anchor="ctr"/>
            <a:lstStyle/>
            <a:p>
              <a:endParaRPr lang="en-US" sz="1600" dirty="0">
                <a:latin typeface="+mj-lt"/>
              </a:endParaRPr>
            </a:p>
          </p:txBody>
        </p:sp>
        <p:sp>
          <p:nvSpPr>
            <p:cNvPr id="49" name="Line 75"/>
            <p:cNvSpPr>
              <a:spLocks noChangeShapeType="1"/>
            </p:cNvSpPr>
            <p:nvPr/>
          </p:nvSpPr>
          <p:spPr bwMode="gray">
            <a:xfrm flipV="1">
              <a:off x="826" y="3120"/>
              <a:ext cx="1774" cy="6"/>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lIns="45720" rIns="45720" anchor="ctr"/>
            <a:lstStyle/>
            <a:p>
              <a:endParaRPr lang="en-US" sz="1600" dirty="0">
                <a:latin typeface="+mj-lt"/>
              </a:endParaRPr>
            </a:p>
          </p:txBody>
        </p:sp>
      </p:grpSp>
    </p:spTree>
    <p:extLst>
      <p:ext uri="{BB962C8B-B14F-4D97-AF65-F5344CB8AC3E}">
        <p14:creationId xmlns:p14="http://schemas.microsoft.com/office/powerpoint/2010/main" val="3814659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p:cNvSpPr>
            <a:spLocks noGrp="1"/>
          </p:cNvSpPr>
          <p:nvPr>
            <p:ph type="body" sz="quarter" idx="4294967295"/>
          </p:nvPr>
        </p:nvSpPr>
        <p:spPr>
          <a:xfrm>
            <a:off x="352350" y="916533"/>
            <a:ext cx="5277294" cy="359682"/>
          </a:xfrm>
          <a:prstGeom prst="rect">
            <a:avLst/>
          </a:prstGeom>
        </p:spPr>
        <p:txBody>
          <a:bodyPr>
            <a:noAutofit/>
          </a:bodyPr>
          <a:lstStyle/>
          <a:p>
            <a:pPr defTabSz="935830">
              <a:lnSpc>
                <a:spcPct val="110000"/>
              </a:lnSpc>
              <a:spcBef>
                <a:spcPts val="1228"/>
              </a:spcBef>
              <a:defRPr/>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Existing Airport Profile</a:t>
            </a:r>
          </a:p>
        </p:txBody>
      </p:sp>
      <p:graphicFrame>
        <p:nvGraphicFramePr>
          <p:cNvPr id="6" name="Table 5"/>
          <p:cNvGraphicFramePr>
            <a:graphicFrameLocks noGrp="1"/>
          </p:cNvGraphicFramePr>
          <p:nvPr>
            <p:extLst>
              <p:ext uri="{D42A27DB-BD31-4B8C-83A1-F6EECF244321}">
                <p14:modId xmlns:p14="http://schemas.microsoft.com/office/powerpoint/2010/main" val="2700042660"/>
              </p:ext>
            </p:extLst>
          </p:nvPr>
        </p:nvGraphicFramePr>
        <p:xfrm>
          <a:off x="352350" y="1865397"/>
          <a:ext cx="5157922" cy="4558646"/>
        </p:xfrm>
        <a:graphic>
          <a:graphicData uri="http://schemas.openxmlformats.org/drawingml/2006/table">
            <a:tbl>
              <a:tblPr firstRow="1" bandRow="1">
                <a:tableStyleId>{00A15C55-8517-42AA-B614-E9B94910E393}</a:tableStyleId>
              </a:tblPr>
              <a:tblGrid>
                <a:gridCol w="2230453">
                  <a:extLst>
                    <a:ext uri="{9D8B030D-6E8A-4147-A177-3AD203B41FA5}">
                      <a16:colId xmlns:a16="http://schemas.microsoft.com/office/drawing/2014/main" val="20000"/>
                    </a:ext>
                  </a:extLst>
                </a:gridCol>
                <a:gridCol w="2927469">
                  <a:extLst>
                    <a:ext uri="{9D8B030D-6E8A-4147-A177-3AD203B41FA5}">
                      <a16:colId xmlns:a16="http://schemas.microsoft.com/office/drawing/2014/main" val="20001"/>
                    </a:ext>
                  </a:extLst>
                </a:gridCol>
              </a:tblGrid>
              <a:tr h="356145">
                <a:tc gridSpan="2">
                  <a:txBody>
                    <a:bodyPr/>
                    <a:lstStyle/>
                    <a:p>
                      <a:pPr algn="ctr"/>
                      <a:r>
                        <a:rPr lang="en-US" sz="1400" dirty="0"/>
                        <a:t>Airport Key Technical Facts</a:t>
                      </a:r>
                      <a:endParaRPr lang="en-US" sz="1400" dirty="0">
                        <a:ln>
                          <a:solidFill>
                            <a:srgbClr val="00B0F0"/>
                          </a:solidFill>
                        </a:ln>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tc hMerge="1">
                  <a:txBody>
                    <a:bodyPr/>
                    <a:lstStyle/>
                    <a:p>
                      <a:endParaRPr lang="en-US" sz="1100" dirty="0">
                        <a:ln>
                          <a:solidFill>
                            <a:srgbClr val="00B0F0"/>
                          </a:solidFill>
                        </a:ln>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10000"/>
                  </a:ext>
                </a:extLst>
              </a:tr>
              <a:tr h="605444">
                <a:tc>
                  <a:txBody>
                    <a:bodyPr/>
                    <a:lstStyle/>
                    <a:p>
                      <a:pPr marL="0" algn="l" defTabSz="914400" rtl="0" eaLnBrk="1" latinLnBrk="0" hangingPunct="1"/>
                      <a:r>
                        <a:rPr lang="en-US" sz="1400" kern="1200" dirty="0"/>
                        <a:t>Name of Airport</a:t>
                      </a:r>
                      <a:endParaRPr lang="en-US" sz="1400" b="0" kern="1200" dirty="0">
                        <a:solidFill>
                          <a:prstClr val="black"/>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ln>
                            <a:noFill/>
                          </a:ln>
                        </a:rPr>
                        <a:t>Dr</a:t>
                      </a:r>
                      <a:r>
                        <a:rPr lang="en-US" sz="1400" baseline="0" dirty="0">
                          <a:ln>
                            <a:noFill/>
                          </a:ln>
                        </a:rPr>
                        <a:t> Babasaheb Ambedkar International Airport</a:t>
                      </a:r>
                      <a:endParaRPr lang="en-US" sz="1400" dirty="0">
                        <a:ln>
                          <a:solidFill>
                            <a:srgbClr val="00B0F0"/>
                          </a:solidFill>
                        </a:ln>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1"/>
                  </a:ext>
                </a:extLst>
              </a:tr>
              <a:tr h="605444">
                <a:tc>
                  <a:txBody>
                    <a:bodyPr/>
                    <a:lstStyle/>
                    <a:p>
                      <a:r>
                        <a:rPr lang="en-US" sz="1400" dirty="0">
                          <a:ln>
                            <a:noFill/>
                          </a:ln>
                        </a:rPr>
                        <a:t>Distance</a:t>
                      </a:r>
                      <a:r>
                        <a:rPr lang="en-US" sz="1400" baseline="0" dirty="0">
                          <a:ln>
                            <a:noFill/>
                          </a:ln>
                        </a:rPr>
                        <a:t> from city center</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ln>
                            <a:noFill/>
                          </a:ln>
                        </a:rPr>
                        <a:t>8</a:t>
                      </a:r>
                      <a:r>
                        <a:rPr lang="en-US" sz="1400" baseline="0" dirty="0">
                          <a:ln>
                            <a:noFill/>
                          </a:ln>
                        </a:rPr>
                        <a:t> km</a:t>
                      </a:r>
                      <a:endParaRPr lang="en-US" sz="140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2"/>
                  </a:ext>
                </a:extLst>
              </a:tr>
              <a:tr h="356145">
                <a:tc>
                  <a:txBody>
                    <a:bodyPr/>
                    <a:lstStyle/>
                    <a:p>
                      <a:r>
                        <a:rPr lang="en-US" sz="1400" dirty="0"/>
                        <a:t>Total Land Area</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ln>
                            <a:noFill/>
                          </a:ln>
                        </a:rPr>
                        <a:t>1460</a:t>
                      </a:r>
                      <a:r>
                        <a:rPr lang="en-US" sz="1400" baseline="0" dirty="0">
                          <a:ln>
                            <a:noFill/>
                          </a:ln>
                        </a:rPr>
                        <a:t> Acres</a:t>
                      </a:r>
                      <a:endParaRPr lang="en-US" sz="140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3"/>
                  </a:ext>
                </a:extLst>
              </a:tr>
              <a:tr h="605444">
                <a:tc>
                  <a:txBody>
                    <a:bodyPr/>
                    <a:lstStyle/>
                    <a:p>
                      <a:r>
                        <a:rPr lang="en-US" sz="1400" dirty="0"/>
                        <a:t>Passenger Terminal Building Area</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t>17,500 Sq. mtrs</a:t>
                      </a:r>
                      <a:endParaRPr lang="en-US" sz="140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4"/>
                  </a:ext>
                </a:extLst>
              </a:tr>
              <a:tr h="356145">
                <a:tc>
                  <a:txBody>
                    <a:bodyPr/>
                    <a:lstStyle/>
                    <a:p>
                      <a:r>
                        <a:rPr lang="en-US" sz="1400" dirty="0"/>
                        <a:t>Cargo Complex Area</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t>1510 Sq. mtrs</a:t>
                      </a:r>
                      <a:endParaRPr lang="en-US" sz="140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5"/>
                  </a:ext>
                </a:extLst>
              </a:tr>
              <a:tr h="605444">
                <a:tc>
                  <a:txBody>
                    <a:bodyPr/>
                    <a:lstStyle/>
                    <a:p>
                      <a:r>
                        <a:rPr lang="en-US" sz="1400" dirty="0"/>
                        <a:t>Runway details</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t>3200 m x 45 m with CAT – I Operations</a:t>
                      </a:r>
                      <a:endParaRPr lang="en-US" sz="140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6"/>
                  </a:ext>
                </a:extLst>
              </a:tr>
              <a:tr h="356145">
                <a:tc>
                  <a:txBody>
                    <a:bodyPr/>
                    <a:lstStyle/>
                    <a:p>
                      <a:r>
                        <a:rPr lang="en-US" sz="1400" dirty="0"/>
                        <a:t>Check-in counters</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21</a:t>
                      </a:r>
                      <a:endPar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8"/>
                  </a:ext>
                </a:extLst>
              </a:tr>
              <a:tr h="356145">
                <a:tc>
                  <a:txBody>
                    <a:bodyPr/>
                    <a:lstStyle/>
                    <a:p>
                      <a:r>
                        <a:rPr lang="en-US" sz="1400" dirty="0"/>
                        <a:t>Parking Bays</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400" dirty="0">
                          <a:ln>
                            <a:noFill/>
                          </a:ln>
                        </a:rPr>
                        <a:t>18</a:t>
                      </a:r>
                      <a:endParaRPr lang="en-US" sz="140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9"/>
                  </a:ext>
                </a:extLst>
              </a:tr>
              <a:tr h="356145">
                <a:tc>
                  <a:txBody>
                    <a:bodyPr/>
                    <a:lstStyle/>
                    <a:p>
                      <a:r>
                        <a:rPr lang="en-US" sz="1400" dirty="0"/>
                        <a:t>Car Park Capacity</a:t>
                      </a:r>
                      <a:endParaRPr lang="en-US" sz="1400" b="0" dirty="0">
                        <a:ln>
                          <a:solidFill>
                            <a:srgbClr val="00B0F0"/>
                          </a:solidFill>
                        </a:ln>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600</a:t>
                      </a:r>
                      <a:r>
                        <a:rPr lang="en-US" sz="1400" baseline="0" dirty="0"/>
                        <a:t> cars</a:t>
                      </a:r>
                      <a:r>
                        <a:rPr lang="en-US" sz="1400" dirty="0"/>
                        <a:t> (approx.)</a:t>
                      </a:r>
                      <a:endParaRPr lang="en-US" sz="1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10"/>
                  </a:ext>
                </a:extLst>
              </a:tr>
            </a:tbl>
          </a:graphicData>
        </a:graphic>
      </p:graphicFrame>
      <p:grpSp>
        <p:nvGrpSpPr>
          <p:cNvPr id="7" name="Group 6"/>
          <p:cNvGrpSpPr/>
          <p:nvPr/>
        </p:nvGrpSpPr>
        <p:grpSpPr>
          <a:xfrm>
            <a:off x="5677320" y="1865399"/>
            <a:ext cx="5084465" cy="1681258"/>
            <a:chOff x="6096000" y="0"/>
            <a:chExt cx="3351379" cy="2181738"/>
          </a:xfrm>
        </p:grpSpPr>
        <p:sp>
          <p:nvSpPr>
            <p:cNvPr id="8" name="Rectangle 7"/>
            <p:cNvSpPr/>
            <p:nvPr/>
          </p:nvSpPr>
          <p:spPr>
            <a:xfrm>
              <a:off x="6192698" y="277531"/>
              <a:ext cx="417670" cy="678973"/>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12</a:t>
              </a:r>
              <a:endParaRPr kumimoji="0" lang="en-US" sz="2800" b="1"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9" name="TextBox 8"/>
            <p:cNvSpPr txBox="1"/>
            <p:nvPr/>
          </p:nvSpPr>
          <p:spPr>
            <a:xfrm>
              <a:off x="6612315" y="344786"/>
              <a:ext cx="1181921" cy="5591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Indian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destinations</a:t>
              </a:r>
            </a:p>
          </p:txBody>
        </p:sp>
        <p:sp>
          <p:nvSpPr>
            <p:cNvPr id="10" name="Rectangle 9"/>
            <p:cNvSpPr/>
            <p:nvPr/>
          </p:nvSpPr>
          <p:spPr>
            <a:xfrm>
              <a:off x="6490846" y="782927"/>
              <a:ext cx="269099" cy="678973"/>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rPr>
                <a:t>2</a:t>
              </a:r>
              <a:endParaRPr kumimoji="0" lang="en-US" sz="2800" b="1" i="0" u="none" strike="noStrike" kern="120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 name="TextBox 10"/>
            <p:cNvSpPr txBox="1"/>
            <p:nvPr/>
          </p:nvSpPr>
          <p:spPr>
            <a:xfrm>
              <a:off x="6744880" y="830107"/>
              <a:ext cx="1189774" cy="5591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International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destinations</a:t>
              </a:r>
            </a:p>
          </p:txBody>
        </p:sp>
        <p:sp>
          <p:nvSpPr>
            <p:cNvPr id="12" name="Rectangle 11"/>
            <p:cNvSpPr/>
            <p:nvPr/>
          </p:nvSpPr>
          <p:spPr>
            <a:xfrm>
              <a:off x="8105772" y="309404"/>
              <a:ext cx="269099" cy="678973"/>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4</a:t>
              </a:r>
              <a:endParaRPr kumimoji="0" lang="en-US" sz="2800" b="1"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p:cNvSpPr txBox="1"/>
            <p:nvPr/>
          </p:nvSpPr>
          <p:spPr>
            <a:xfrm>
              <a:off x="8395373" y="361102"/>
              <a:ext cx="1052006" cy="5591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Indian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airlines</a:t>
              </a:r>
            </a:p>
          </p:txBody>
        </p:sp>
        <p:sp>
          <p:nvSpPr>
            <p:cNvPr id="14" name="Rectangle 13"/>
            <p:cNvSpPr/>
            <p:nvPr/>
          </p:nvSpPr>
          <p:spPr>
            <a:xfrm>
              <a:off x="7665555" y="757158"/>
              <a:ext cx="269099" cy="678973"/>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rPr>
                <a:t>2</a:t>
              </a:r>
              <a:endParaRPr kumimoji="0" lang="en-US" sz="2800" b="1" i="0" u="none" strike="noStrike" kern="120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5" name="TextBox 14"/>
            <p:cNvSpPr txBox="1"/>
            <p:nvPr/>
          </p:nvSpPr>
          <p:spPr>
            <a:xfrm>
              <a:off x="7890059" y="823299"/>
              <a:ext cx="1219304" cy="5591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International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airlines</a:t>
              </a:r>
            </a:p>
          </p:txBody>
        </p:sp>
        <p:sp>
          <p:nvSpPr>
            <p:cNvPr id="16" name="Rectangle 15"/>
            <p:cNvSpPr/>
            <p:nvPr/>
          </p:nvSpPr>
          <p:spPr>
            <a:xfrm>
              <a:off x="6612778" y="1343006"/>
              <a:ext cx="1133315" cy="838732"/>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3500+</a:t>
              </a:r>
              <a:endParaRPr kumimoji="0" lang="en-US" sz="3600" b="1"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7" name="TextBox 16"/>
            <p:cNvSpPr txBox="1"/>
            <p:nvPr/>
          </p:nvSpPr>
          <p:spPr>
            <a:xfrm>
              <a:off x="7739027" y="1525982"/>
              <a:ext cx="1242783" cy="3394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Passengers per day</a:t>
              </a:r>
            </a:p>
          </p:txBody>
        </p:sp>
        <p:sp>
          <p:nvSpPr>
            <p:cNvPr id="18" name="Rectangle 17"/>
            <p:cNvSpPr/>
            <p:nvPr/>
          </p:nvSpPr>
          <p:spPr>
            <a:xfrm>
              <a:off x="6096000" y="277532"/>
              <a:ext cx="3109187" cy="1841496"/>
            </a:xfrm>
            <a:prstGeom prst="rect">
              <a:avLst/>
            </a:prstGeom>
            <a:noFill/>
            <a:ln w="19050">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a:xfrm>
              <a:off x="6096000" y="0"/>
              <a:ext cx="3109187" cy="277532"/>
            </a:xfrm>
            <a:prstGeom prst="rect">
              <a:avLst/>
            </a:prstGeom>
            <a:solidFill>
              <a:srgbClr val="012169"/>
            </a:solidFill>
            <a:ln>
              <a:solidFill>
                <a:srgbClr val="0121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Fact Box</a:t>
              </a:r>
            </a:p>
          </p:txBody>
        </p:sp>
      </p:grpSp>
      <p:sp>
        <p:nvSpPr>
          <p:cNvPr id="20" name="Rectangle 19"/>
          <p:cNvSpPr/>
          <p:nvPr/>
        </p:nvSpPr>
        <p:spPr>
          <a:xfrm>
            <a:off x="275259" y="1269951"/>
            <a:ext cx="10091372" cy="46166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4 domestic airlines operate out of Nagpur Airport. The 2 international airlines operating out of the airport connect Nagpur to Sharjah and Doha through 18 parking bays</a:t>
            </a: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 and 21 check-in counters.</a:t>
            </a:r>
            <a:endPar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pSp>
        <p:nvGrpSpPr>
          <p:cNvPr id="22" name="Group 21"/>
          <p:cNvGrpSpPr/>
          <p:nvPr/>
        </p:nvGrpSpPr>
        <p:grpSpPr>
          <a:xfrm>
            <a:off x="5677320" y="4019932"/>
            <a:ext cx="4762920" cy="2404110"/>
            <a:chOff x="5973000" y="3766457"/>
            <a:chExt cx="5535184" cy="2404110"/>
          </a:xfrm>
        </p:grpSpPr>
        <p:graphicFrame>
          <p:nvGraphicFramePr>
            <p:cNvPr id="23" name="Chart 22"/>
            <p:cNvGraphicFramePr>
              <a:graphicFrameLocks/>
            </p:cNvGraphicFramePr>
            <p:nvPr>
              <p:extLst>
                <p:ext uri="{D42A27DB-BD31-4B8C-83A1-F6EECF244321}">
                  <p14:modId xmlns:p14="http://schemas.microsoft.com/office/powerpoint/2010/main" val="1156537732"/>
                </p:ext>
              </p:extLst>
            </p:nvPr>
          </p:nvGraphicFramePr>
          <p:xfrm>
            <a:off x="5973000" y="3766457"/>
            <a:ext cx="5535184" cy="2404110"/>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23"/>
            <p:cNvSpPr txBox="1"/>
            <p:nvPr/>
          </p:nvSpPr>
          <p:spPr>
            <a:xfrm rot="16200000">
              <a:off x="5510248" y="4710843"/>
              <a:ext cx="1271035" cy="2539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Passenger Traffic</a:t>
              </a:r>
              <a:endParaRPr kumimoji="0" lang="en-IN" sz="1050" b="0" i="0" u="none" strike="noStrike" kern="1200" cap="none" spc="0" normalizeH="0" baseline="0" noProof="0" dirty="0">
                <a:ln>
                  <a:noFill/>
                </a:ln>
                <a:solidFill>
                  <a:srgbClr val="000000"/>
                </a:solidFill>
                <a:effectLst/>
                <a:uLnTx/>
                <a:uFillTx/>
                <a:latin typeface="Arial"/>
                <a:ea typeface="+mn-ea"/>
                <a:cs typeface="+mn-cs"/>
              </a:endParaRPr>
            </a:p>
          </p:txBody>
        </p:sp>
        <p:sp>
          <p:nvSpPr>
            <p:cNvPr id="25" name="TextBox 24"/>
            <p:cNvSpPr txBox="1"/>
            <p:nvPr/>
          </p:nvSpPr>
          <p:spPr>
            <a:xfrm rot="16200000">
              <a:off x="10716167" y="4367911"/>
              <a:ext cx="1271035"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Freight</a:t>
              </a:r>
              <a:endParaRPr kumimoji="0" lang="en-IN" sz="105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9" name="Rectangle 28"/>
          <p:cNvSpPr/>
          <p:nvPr/>
        </p:nvSpPr>
        <p:spPr>
          <a:xfrm>
            <a:off x="5877987" y="57154"/>
            <a:ext cx="456225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Our Understanding of the Airport</a:t>
            </a:r>
          </a:p>
        </p:txBody>
      </p:sp>
      <p:cxnSp>
        <p:nvCxnSpPr>
          <p:cNvPr id="30" name="Straight Connector 2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Nagpur Airport – 1/2</a:t>
            </a:r>
          </a:p>
        </p:txBody>
      </p:sp>
    </p:spTree>
    <p:extLst>
      <p:ext uri="{BB962C8B-B14F-4D97-AF65-F5344CB8AC3E}">
        <p14:creationId xmlns:p14="http://schemas.microsoft.com/office/powerpoint/2010/main" val="378265400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txBox="1">
            <a:spLocks/>
          </p:cNvSpPr>
          <p:nvPr/>
        </p:nvSpPr>
        <p:spPr>
          <a:xfrm>
            <a:off x="480000" y="6611223"/>
            <a:ext cx="443636" cy="123111"/>
          </a:xfrm>
          <a:prstGeom prst="rect">
            <a:avLst/>
          </a:prstGeom>
        </p:spPr>
        <p:txBody>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endParaRPr lang="en-GB" dirty="0">
              <a:solidFill>
                <a:srgbClr val="000000"/>
              </a:solidFill>
            </a:endParaRPr>
          </a:p>
        </p:txBody>
      </p:sp>
      <p:sp>
        <p:nvSpPr>
          <p:cNvPr id="7" name="TextBox 6"/>
          <p:cNvSpPr txBox="1"/>
          <p:nvPr/>
        </p:nvSpPr>
        <p:spPr>
          <a:xfrm>
            <a:off x="352350" y="4308091"/>
            <a:ext cx="5213186" cy="212365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Some of the major point about the Nagpur International Airport are:</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lvl="0" indent="-171450" algn="just">
              <a:buFont typeface="Arial" panose="020B0604020202020204" pitchFamily="34" charset="0"/>
              <a:buChar char="•"/>
              <a:defRPr/>
            </a:pPr>
            <a:r>
              <a:rPr lang="en-US" sz="1200" b="1" dirty="0">
                <a:solidFill>
                  <a:prstClr val="black"/>
                </a:solidFill>
                <a:latin typeface="Verdana" panose="020B0604030504040204" pitchFamily="34" charset="0"/>
                <a:ea typeface="Verdana" panose="020B0604030504040204" pitchFamily="34" charset="0"/>
                <a:cs typeface="Verdana" panose="020B0604030504040204" pitchFamily="34" charset="0"/>
              </a:rPr>
              <a:t>Significant opportunity to become an aerospace / cargo hub for India</a:t>
            </a:r>
          </a:p>
          <a:p>
            <a:pPr lvl="0" algn="ju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000000"/>
                </a:solidFill>
                <a:latin typeface="Verdana" panose="020B0604030504040204" pitchFamily="34" charset="0"/>
                <a:ea typeface="Verdana" panose="020B0604030504040204" pitchFamily="34" charset="0"/>
                <a:cs typeface="Verdana" panose="020B0604030504040204" pitchFamily="34" charset="0"/>
              </a:rPr>
              <a:t>Potential to become a regional hub for passenger movement</a:t>
            </a: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Presence</a:t>
            </a:r>
            <a:r>
              <a:rPr kumimoji="0" lang="en-US" sz="1200" b="0" i="0" u="none" strike="noStrike" kern="1200" cap="none" spc="0" normalizeH="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of multiple smaller airports within a distance of ~300 kms</a:t>
            </a: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 like Raipur, Nanded, Bhopal etc. present an opportunity for Nagpur to develop as a strong regional hub for both passenger and cargo movement</a:t>
            </a: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8" name="Text Placeholder 1"/>
          <p:cNvSpPr>
            <a:spLocks noGrp="1"/>
          </p:cNvSpPr>
          <p:nvPr>
            <p:ph type="body" sz="quarter" idx="4294967295"/>
          </p:nvPr>
        </p:nvSpPr>
        <p:spPr>
          <a:xfrm>
            <a:off x="352350" y="4037670"/>
            <a:ext cx="5213186" cy="359682"/>
          </a:xfrm>
          <a:prstGeom prst="rect">
            <a:avLst/>
          </a:prstGeom>
        </p:spPr>
        <p:txBody>
          <a:bodyPr vert="horz" lIns="0" tIns="0" rIns="0" bIns="0" rtlCol="0" anchor="t" anchorCtr="0">
            <a:noAutofit/>
          </a:bodyPr>
          <a:lstStyle/>
          <a:p>
            <a:pPr defTabSz="935830">
              <a:lnSpc>
                <a:spcPct val="110000"/>
              </a:lnSpc>
              <a:spcBef>
                <a:spcPts val="1228"/>
              </a:spcBef>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Specific considerations</a:t>
            </a:r>
          </a:p>
        </p:txBody>
      </p:sp>
      <p:sp>
        <p:nvSpPr>
          <p:cNvPr id="9" name="Text Placeholder 1"/>
          <p:cNvSpPr>
            <a:spLocks noGrp="1"/>
          </p:cNvSpPr>
          <p:nvPr>
            <p:ph type="body" sz="quarter" idx="4294967295"/>
          </p:nvPr>
        </p:nvSpPr>
        <p:spPr>
          <a:xfrm>
            <a:off x="352350" y="891921"/>
            <a:ext cx="5196116" cy="359682"/>
          </a:xfrm>
          <a:prstGeom prst="rect">
            <a:avLst/>
          </a:prstGeom>
        </p:spPr>
        <p:txBody>
          <a:bodyPr vert="horz" lIns="0" tIns="0" rIns="0" bIns="0" rtlCol="0" anchor="t" anchorCtr="0">
            <a:normAutofit/>
          </a:bodyPr>
          <a:lstStyle/>
          <a:p>
            <a:pPr defTabSz="935830">
              <a:lnSpc>
                <a:spcPct val="110000"/>
              </a:lnSpc>
              <a:spcBef>
                <a:spcPts val="1228"/>
              </a:spcBef>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Present Airport Facilities</a:t>
            </a:r>
          </a:p>
        </p:txBody>
      </p:sp>
      <p:sp>
        <p:nvSpPr>
          <p:cNvPr id="10" name="Rectangle 9"/>
          <p:cNvSpPr/>
          <p:nvPr/>
        </p:nvSpPr>
        <p:spPr>
          <a:xfrm>
            <a:off x="352350" y="1114425"/>
            <a:ext cx="5284775" cy="2862322"/>
          </a:xfrm>
          <a:prstGeom prst="rect">
            <a:avLst/>
          </a:prstGeom>
        </p:spPr>
        <p:txBody>
          <a:bodyPr wrap="square">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The following services are available in Nagpur International Airport: Information Counter, Duty free shops, Pharmacy, Baggage services, Currency exchange, Security check, ATMs, Child care room, Lost &amp; found, Disabled services, First Aid rooms, Vending machines, Luggage carts, Free Wi-Fi connection, Smoking areas, Telephone, Postal services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Terminal 1 of Dr Babasaheb Ambedkar International Airport is just for domestic and regional flights within the country. It has 2 boarding gates, and also an additional one for emergencies. Air India, Jet Airways, GoAir, IndiGo operate out of Terminal</a:t>
            </a:r>
            <a:r>
              <a:rPr kumimoji="0" lang="en-US" sz="1200" b="0" i="0" u="none" strike="noStrike" kern="1200" cap="none" spc="0" normalizeH="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1</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lvl="0" indent="-171450" algn="just">
              <a:buFont typeface="Arial" panose="020B0604020202020204" pitchFamily="34" charset="0"/>
              <a:buChar char="•"/>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Terminal 2 of Dr Babasaheb Ambedkar International Airport host international flights, all of them to Middle East. Qatar Airways and Air </a:t>
            </a: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Arabia operate out of Terminal 2</a:t>
            </a:r>
            <a:endParaRPr kumimoji="0" lang="en-IN"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552205425"/>
              </p:ext>
            </p:extLst>
          </p:nvPr>
        </p:nvGraphicFramePr>
        <p:xfrm>
          <a:off x="5735838" y="1270899"/>
          <a:ext cx="4684303" cy="1371600"/>
        </p:xfrm>
        <a:graphic>
          <a:graphicData uri="http://schemas.openxmlformats.org/drawingml/2006/table">
            <a:tbl>
              <a:tblPr firstRow="1" bandRow="1">
                <a:tableStyleId>{00A15C55-8517-42AA-B614-E9B94910E393}</a:tableStyleId>
              </a:tblPr>
              <a:tblGrid>
                <a:gridCol w="2132021">
                  <a:extLst>
                    <a:ext uri="{9D8B030D-6E8A-4147-A177-3AD203B41FA5}">
                      <a16:colId xmlns:a16="http://schemas.microsoft.com/office/drawing/2014/main" val="20000"/>
                    </a:ext>
                  </a:extLst>
                </a:gridCol>
                <a:gridCol w="2552282">
                  <a:extLst>
                    <a:ext uri="{9D8B030D-6E8A-4147-A177-3AD203B41FA5}">
                      <a16:colId xmlns:a16="http://schemas.microsoft.com/office/drawing/2014/main" val="20001"/>
                    </a:ext>
                  </a:extLst>
                </a:gridCol>
              </a:tblGrid>
              <a:tr h="0">
                <a:tc gridSpan="2">
                  <a:txBody>
                    <a:bodyPr/>
                    <a:lstStyle/>
                    <a:p>
                      <a:pPr algn="ctr"/>
                      <a:r>
                        <a:rPr lang="en-US" sz="1200" dirty="0"/>
                        <a:t>Project Details</a:t>
                      </a:r>
                      <a:endParaRPr lang="en-US" sz="1200" dirty="0">
                        <a:ln>
                          <a:solidFill>
                            <a:srgbClr val="00B0F0"/>
                          </a:solidFill>
                        </a:ln>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tc>
                <a:tc hMerge="1">
                  <a:txBody>
                    <a:bodyPr/>
                    <a:lstStyle/>
                    <a:p>
                      <a:endParaRPr lang="en-US" sz="1100" dirty="0">
                        <a:ln>
                          <a:solidFill>
                            <a:srgbClr val="00B0F0"/>
                          </a:solidFill>
                        </a:ln>
                      </a:endParaRPr>
                    </a:p>
                  </a:txBody>
                  <a:tcP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r>
                        <a:rPr lang="en-US" sz="1200" dirty="0"/>
                        <a:t>Scope</a:t>
                      </a:r>
                      <a:r>
                        <a:rPr lang="en-US" sz="1200" baseline="0" dirty="0"/>
                        <a:t> of Project</a:t>
                      </a:r>
                      <a:endParaRPr lang="en-US" sz="1200" dirty="0">
                        <a:ln>
                          <a:solidFill>
                            <a:srgbClr val="00B0F0"/>
                          </a:solidFill>
                        </a:ln>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200" dirty="0"/>
                        <a:t>Development, Operation and Maintenance of</a:t>
                      </a:r>
                      <a:r>
                        <a:rPr lang="en-US" sz="1200" baseline="0" dirty="0"/>
                        <a:t> </a:t>
                      </a:r>
                      <a:r>
                        <a:rPr lang="en-US" sz="1200" dirty="0"/>
                        <a:t>Nagpur Airport, Maharashtra </a:t>
                      </a:r>
                      <a:endParaRPr lang="en-US" sz="1200" dirty="0">
                        <a:ln>
                          <a:solidFill>
                            <a:srgbClr val="00B0F0"/>
                          </a:solidFill>
                        </a:ln>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1"/>
                  </a:ext>
                </a:extLst>
              </a:tr>
              <a:tr h="0">
                <a:tc>
                  <a:txBody>
                    <a:bodyPr/>
                    <a:lstStyle/>
                    <a:p>
                      <a:r>
                        <a:rPr lang="en-US" sz="1200" dirty="0"/>
                        <a:t>Indicative Project Cost (INR crore)</a:t>
                      </a:r>
                      <a:endParaRPr lang="en-US" sz="1200" dirty="0">
                        <a:ln>
                          <a:solidFill>
                            <a:srgbClr val="00B0F0"/>
                          </a:solidFill>
                        </a:ln>
                        <a:latin typeface="Verdana" panose="020B0604030504040204" pitchFamily="34" charset="0"/>
                        <a:ea typeface="Verdana" panose="020B0604030504040204" pitchFamily="34" charset="0"/>
                        <a:cs typeface="Verdana" panose="020B0604030504040204" pitchFamily="34" charset="0"/>
                      </a:endParaRPr>
                    </a:p>
                  </a:txBody>
                  <a:tcPr anchor="ctr"/>
                </a:tc>
                <a:tc>
                  <a:txBody>
                    <a:bodyPr/>
                    <a:lstStyle/>
                    <a:p>
                      <a:r>
                        <a:rPr lang="en-US" sz="1200" dirty="0"/>
                        <a:t>1420</a:t>
                      </a:r>
                      <a:endParaRPr lang="en-US" sz="1200" dirty="0">
                        <a:ln>
                          <a:solidFill>
                            <a:srgbClr val="00B0F0"/>
                          </a:solidFill>
                        </a:ln>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2"/>
                  </a:ext>
                </a:extLst>
              </a:tr>
            </a:tbl>
          </a:graphicData>
        </a:graphic>
      </p:graphicFrame>
      <p:sp>
        <p:nvSpPr>
          <p:cNvPr id="12" name="Text Placeholder 1"/>
          <p:cNvSpPr>
            <a:spLocks noGrp="1"/>
          </p:cNvSpPr>
          <p:nvPr>
            <p:ph type="body" sz="quarter" idx="4294967295"/>
          </p:nvPr>
        </p:nvSpPr>
        <p:spPr>
          <a:xfrm>
            <a:off x="5637125" y="876682"/>
            <a:ext cx="5196116" cy="359682"/>
          </a:xfrm>
          <a:prstGeom prst="rect">
            <a:avLst/>
          </a:prstGeom>
        </p:spPr>
        <p:txBody>
          <a:bodyPr>
            <a:normAutofit/>
          </a:bodyPr>
          <a:lstStyle/>
          <a:p>
            <a:pPr defTabSz="935830">
              <a:lnSpc>
                <a:spcPct val="110000"/>
              </a:lnSpc>
              <a:spcBef>
                <a:spcPts val="1228"/>
              </a:spcBef>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Project Details</a:t>
            </a:r>
          </a:p>
        </p:txBody>
      </p:sp>
      <p:sp>
        <p:nvSpPr>
          <p:cNvPr id="13" name="Content Placeholder 2"/>
          <p:cNvSpPr txBox="1">
            <a:spLocks/>
          </p:cNvSpPr>
          <p:nvPr/>
        </p:nvSpPr>
        <p:spPr>
          <a:xfrm>
            <a:off x="5735837" y="3436552"/>
            <a:ext cx="4684303" cy="2833435"/>
          </a:xfrm>
          <a:prstGeom prst="rect">
            <a:avLst/>
          </a:prstGeom>
        </p:spPr>
        <p:txBody>
          <a:bodyPr>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The government of India in the year January 2008 approved the proposal of Government of Maharashtra to develop Nagpur Airport as Multi Modal International Passenger and Hub Airport.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The Government of Maharashtra also declared Maharashtra Airport Development company Ltd. (MADC) as a Special Planning Authority for MIHAN Project</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The Government of India has also accorded approval and notified the MIHAN SEZ as Multi Product SEZ</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MIHAN project is spread over on above 4300 Ha. of land of which Airport is on about 1360 Ha. </a:t>
            </a:r>
          </a:p>
        </p:txBody>
      </p:sp>
      <p:sp>
        <p:nvSpPr>
          <p:cNvPr id="14" name="Text Placeholder 1"/>
          <p:cNvSpPr>
            <a:spLocks noGrp="1"/>
          </p:cNvSpPr>
          <p:nvPr>
            <p:ph type="body" sz="quarter" idx="4294967295"/>
          </p:nvPr>
        </p:nvSpPr>
        <p:spPr>
          <a:xfrm>
            <a:off x="5735837" y="3076870"/>
            <a:ext cx="4684303" cy="359682"/>
          </a:xfrm>
          <a:prstGeom prst="rect">
            <a:avLst/>
          </a:prstGeom>
        </p:spPr>
        <p:txBody>
          <a:bodyPr vert="horz" lIns="0" tIns="0" rIns="0" bIns="0" rtlCol="0" anchor="t" anchorCtr="0">
            <a:noAutofit/>
          </a:bodyPr>
          <a:lstStyle/>
          <a:p>
            <a:pPr defTabSz="935830">
              <a:lnSpc>
                <a:spcPct val="110000"/>
              </a:lnSpc>
              <a:spcBef>
                <a:spcPts val="1228"/>
              </a:spcBef>
            </a:pPr>
            <a:r>
              <a:rPr lang="da-DK" sz="1400" dirty="0">
                <a:solidFill>
                  <a:schemeClr val="accent2"/>
                </a:solidFill>
                <a:latin typeface="Verdana" panose="020B0604030504040204" pitchFamily="34" charset="0"/>
                <a:ea typeface="Verdana" panose="020B0604030504040204" pitchFamily="34" charset="0"/>
                <a:cs typeface="Verdana" panose="020B0604030504040204" pitchFamily="34" charset="0"/>
              </a:rPr>
              <a:t>Multi-modal International Hub Airport at Nagpur</a:t>
            </a:r>
            <a:endPar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Rectangle 15"/>
          <p:cNvSpPr/>
          <p:nvPr/>
        </p:nvSpPr>
        <p:spPr>
          <a:xfrm>
            <a:off x="5877987" y="57154"/>
            <a:ext cx="456225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Our Understanding of the Airport</a:t>
            </a:r>
          </a:p>
        </p:txBody>
      </p:sp>
      <p:cxnSp>
        <p:nvCxnSpPr>
          <p:cNvPr id="17" name="Straight Connector 1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Nagpur Airport – 2/2</a:t>
            </a:r>
          </a:p>
        </p:txBody>
      </p:sp>
    </p:spTree>
    <p:extLst>
      <p:ext uri="{BB962C8B-B14F-4D97-AF65-F5344CB8AC3E}">
        <p14:creationId xmlns:p14="http://schemas.microsoft.com/office/powerpoint/2010/main" val="116168682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173861708"/>
              </p:ext>
            </p:extLst>
          </p:nvPr>
        </p:nvGraphicFramePr>
        <p:xfrm>
          <a:off x="352350" y="1268771"/>
          <a:ext cx="10019992" cy="5799805"/>
        </p:xfrm>
        <a:graphic>
          <a:graphicData uri="http://schemas.openxmlformats.org/drawingml/2006/table">
            <a:tbl>
              <a:tblPr firstRow="1" bandRow="1"/>
              <a:tblGrid>
                <a:gridCol w="1546788">
                  <a:extLst>
                    <a:ext uri="{9D8B030D-6E8A-4147-A177-3AD203B41FA5}">
                      <a16:colId xmlns:a16="http://schemas.microsoft.com/office/drawing/2014/main" val="3375152075"/>
                    </a:ext>
                  </a:extLst>
                </a:gridCol>
                <a:gridCol w="2118301">
                  <a:extLst>
                    <a:ext uri="{9D8B030D-6E8A-4147-A177-3AD203B41FA5}">
                      <a16:colId xmlns:a16="http://schemas.microsoft.com/office/drawing/2014/main" val="59643706"/>
                    </a:ext>
                  </a:extLst>
                </a:gridCol>
                <a:gridCol w="2118301">
                  <a:extLst>
                    <a:ext uri="{9D8B030D-6E8A-4147-A177-3AD203B41FA5}">
                      <a16:colId xmlns:a16="http://schemas.microsoft.com/office/drawing/2014/main" val="2189769793"/>
                    </a:ext>
                  </a:extLst>
                </a:gridCol>
                <a:gridCol w="2118301">
                  <a:extLst>
                    <a:ext uri="{9D8B030D-6E8A-4147-A177-3AD203B41FA5}">
                      <a16:colId xmlns:a16="http://schemas.microsoft.com/office/drawing/2014/main" val="1177268888"/>
                    </a:ext>
                  </a:extLst>
                </a:gridCol>
                <a:gridCol w="2118301">
                  <a:extLst>
                    <a:ext uri="{9D8B030D-6E8A-4147-A177-3AD203B41FA5}">
                      <a16:colId xmlns:a16="http://schemas.microsoft.com/office/drawing/2014/main" val="3067223743"/>
                    </a:ext>
                  </a:extLst>
                </a:gridCol>
              </a:tblGrid>
              <a:tr h="525427">
                <a:tc>
                  <a:txBody>
                    <a:bodyPr/>
                    <a:lstStyle>
                      <a:lvl1pPr marL="0" algn="l" defTabSz="1008400" rtl="0" eaLnBrk="1" latinLnBrk="0" hangingPunct="1">
                        <a:defRPr sz="1985" b="1" kern="1200">
                          <a:solidFill>
                            <a:schemeClr val="lt1"/>
                          </a:solidFill>
                          <a:latin typeface="Arial"/>
                        </a:defRPr>
                      </a:lvl1pPr>
                      <a:lvl2pPr marL="504200" algn="l" defTabSz="1008400" rtl="0" eaLnBrk="1" latinLnBrk="0" hangingPunct="1">
                        <a:defRPr sz="1985" b="1" kern="1200">
                          <a:solidFill>
                            <a:schemeClr val="lt1"/>
                          </a:solidFill>
                          <a:latin typeface="Arial"/>
                        </a:defRPr>
                      </a:lvl2pPr>
                      <a:lvl3pPr marL="1008400" algn="l" defTabSz="1008400" rtl="0" eaLnBrk="1" latinLnBrk="0" hangingPunct="1">
                        <a:defRPr sz="1985" b="1" kern="1200">
                          <a:solidFill>
                            <a:schemeClr val="lt1"/>
                          </a:solidFill>
                          <a:latin typeface="Arial"/>
                        </a:defRPr>
                      </a:lvl3pPr>
                      <a:lvl4pPr marL="1512600" algn="l" defTabSz="1008400" rtl="0" eaLnBrk="1" latinLnBrk="0" hangingPunct="1">
                        <a:defRPr sz="1985" b="1" kern="1200">
                          <a:solidFill>
                            <a:schemeClr val="lt1"/>
                          </a:solidFill>
                          <a:latin typeface="Arial"/>
                        </a:defRPr>
                      </a:lvl4pPr>
                      <a:lvl5pPr marL="2016801" algn="l" defTabSz="1008400" rtl="0" eaLnBrk="1" latinLnBrk="0" hangingPunct="1">
                        <a:defRPr sz="1985" b="1" kern="1200">
                          <a:solidFill>
                            <a:schemeClr val="lt1"/>
                          </a:solidFill>
                          <a:latin typeface="Arial"/>
                        </a:defRPr>
                      </a:lvl5pPr>
                      <a:lvl6pPr marL="2521001" algn="l" defTabSz="1008400" rtl="0" eaLnBrk="1" latinLnBrk="0" hangingPunct="1">
                        <a:defRPr sz="1985" b="1" kern="1200">
                          <a:solidFill>
                            <a:schemeClr val="lt1"/>
                          </a:solidFill>
                          <a:latin typeface="Arial"/>
                        </a:defRPr>
                      </a:lvl6pPr>
                      <a:lvl7pPr marL="3025201" algn="l" defTabSz="1008400" rtl="0" eaLnBrk="1" latinLnBrk="0" hangingPunct="1">
                        <a:defRPr sz="1985" b="1" kern="1200">
                          <a:solidFill>
                            <a:schemeClr val="lt1"/>
                          </a:solidFill>
                          <a:latin typeface="Arial"/>
                        </a:defRPr>
                      </a:lvl7pPr>
                      <a:lvl8pPr marL="3529401" algn="l" defTabSz="1008400" rtl="0" eaLnBrk="1" latinLnBrk="0" hangingPunct="1">
                        <a:defRPr sz="1985" b="1" kern="1200">
                          <a:solidFill>
                            <a:schemeClr val="lt1"/>
                          </a:solidFill>
                          <a:latin typeface="Arial"/>
                        </a:defRPr>
                      </a:lvl8pPr>
                      <a:lvl9pPr marL="4033601" algn="l" defTabSz="1008400" rtl="0" eaLnBrk="1" latinLnBrk="0" hangingPunct="1">
                        <a:defRPr sz="1985" b="1" kern="1200">
                          <a:solidFill>
                            <a:schemeClr val="lt1"/>
                          </a:solidFill>
                          <a:latin typeface="Arial"/>
                        </a:defRPr>
                      </a:lvl9pPr>
                    </a:lstStyle>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latin typeface="Verdana" panose="020B0604030504040204" pitchFamily="34" charset="0"/>
                          <a:ea typeface="Verdana" panose="020B0604030504040204" pitchFamily="34" charset="0"/>
                          <a:cs typeface="Verdana" panose="020B0604030504040204" pitchFamily="34" charset="0"/>
                        </a:rPr>
                        <a:t>GMR Group</a:t>
                      </a:r>
                      <a:endParaRPr lang="en-IN" sz="1400" u="none"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US" sz="1400" u="none" dirty="0">
                          <a:latin typeface="Verdana" panose="020B0604030504040204" pitchFamily="34" charset="0"/>
                          <a:ea typeface="Verdana" panose="020B0604030504040204" pitchFamily="34" charset="0"/>
                          <a:cs typeface="Verdana" panose="020B0604030504040204" pitchFamily="34" charset="0"/>
                        </a:rPr>
                        <a:t>GVK</a:t>
                      </a:r>
                      <a:endParaRPr lang="en-IN" sz="14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latin typeface="Verdana" panose="020B0604030504040204" pitchFamily="34" charset="0"/>
                          <a:ea typeface="Verdana" panose="020B0604030504040204" pitchFamily="34" charset="0"/>
                          <a:cs typeface="Verdana" panose="020B0604030504040204" pitchFamily="34" charset="0"/>
                        </a:rPr>
                        <a:t>Tata Realty and Infrastructure</a:t>
                      </a:r>
                      <a:endParaRPr lang="en-IN" sz="1400" u="none"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latin typeface="Verdana" panose="020B0604030504040204" pitchFamily="34" charset="0"/>
                          <a:ea typeface="Verdana" panose="020B0604030504040204" pitchFamily="34" charset="0"/>
                          <a:cs typeface="Verdana" panose="020B0604030504040204" pitchFamily="34" charset="0"/>
                        </a:rPr>
                        <a:t>PNC Infratech</a:t>
                      </a:r>
                      <a:endParaRPr lang="en-IN" sz="1400" u="none"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60578049"/>
                  </a:ext>
                </a:extLst>
              </a:tr>
              <a:tr h="1627793">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rPr>
                        <a:t>Airport Experience</a:t>
                      </a:r>
                      <a:endParaRPr lang="en-IN"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717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lnSpc>
                          <a:spcPct val="100000"/>
                        </a:lnSpc>
                        <a:spcBef>
                          <a:spcPts val="200"/>
                        </a:spcBef>
                        <a:spcAft>
                          <a:spcPts val="200"/>
                        </a:spcAft>
                        <a:buFont typeface="Arial" panose="020B0604020202020204" pitchFamily="34" charset="0"/>
                        <a:buChar char="•"/>
                      </a:pP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Operating three international airports in India</a:t>
                      </a:r>
                      <a:r>
                        <a:rPr lang="en-US" sz="1200" baseline="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and Philippines</a:t>
                      </a:r>
                      <a:endParaRPr lang="en-IN"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171450" indent="-171450">
                        <a:lnSpc>
                          <a:spcPct val="100000"/>
                        </a:lnSpc>
                        <a:spcBef>
                          <a:spcPts val="200"/>
                        </a:spcBef>
                        <a:spcAft>
                          <a:spcPts val="200"/>
                        </a:spcAft>
                        <a:buFont typeface="Arial" panose="020B0604020202020204" pitchFamily="34" charset="0"/>
                        <a:buChar char="•"/>
                      </a:pPr>
                      <a:r>
                        <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Developing</a:t>
                      </a:r>
                      <a:r>
                        <a:rPr lang="en-US" sz="1200" baseline="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international greenfield airports in Mopa, Goa and Crete, Greece</a:t>
                      </a:r>
                      <a:endParaRPr lang="en-IN"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lnSpc>
                          <a:spcPct val="100000"/>
                        </a:lnSpc>
                        <a:spcBef>
                          <a:spcPts val="200"/>
                        </a:spcBef>
                        <a:spcAft>
                          <a:spcPts val="200"/>
                        </a:spcAft>
                        <a:buFont typeface="Arial" panose="020B0604020202020204" pitchFamily="34" charset="0"/>
                        <a:buChar char="•"/>
                      </a:pPr>
                      <a:r>
                        <a:rPr lang="en-US" sz="1200" u="none" baseline="0" dirty="0">
                          <a:solidFill>
                            <a:schemeClr val="tx1"/>
                          </a:solidFill>
                          <a:latin typeface="Verdana" panose="020B0604030504040204" pitchFamily="34" charset="0"/>
                          <a:ea typeface="Verdana" panose="020B0604030504040204" pitchFamily="34" charset="0"/>
                          <a:cs typeface="Verdana" panose="020B0604030504040204" pitchFamily="34" charset="0"/>
                        </a:rPr>
                        <a:t>Operating two international airports in India and Indonesia</a:t>
                      </a:r>
                      <a:endParaRPr lang="en-IN" sz="1200" u="none"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200" u="none" baseline="0" dirty="0">
                          <a:solidFill>
                            <a:schemeClr val="tx1"/>
                          </a:solidFill>
                          <a:latin typeface="Verdana" panose="020B0604030504040204" pitchFamily="34" charset="0"/>
                          <a:ea typeface="Verdana" panose="020B0604030504040204" pitchFamily="34" charset="0"/>
                          <a:cs typeface="Verdana" panose="020B0604030504040204" pitchFamily="34" charset="0"/>
                        </a:rPr>
                        <a:t>Developing</a:t>
                      </a:r>
                      <a:r>
                        <a:rPr lang="en-IN" sz="1200" u="none" dirty="0">
                          <a:solidFill>
                            <a:schemeClr val="tx1"/>
                          </a:solidFill>
                          <a:latin typeface="Verdana" panose="020B0604030504040204" pitchFamily="34" charset="0"/>
                          <a:ea typeface="Verdana" panose="020B0604030504040204" pitchFamily="34" charset="0"/>
                          <a:cs typeface="Verdana" panose="020B0604030504040204" pitchFamily="34" charset="0"/>
                        </a:rPr>
                        <a:t> an international greenfield airport in Yogyakarta, Indonesia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200" u="none" kern="1200" dirty="0">
                          <a:solidFill>
                            <a:schemeClr val="dk1"/>
                          </a:solidFill>
                          <a:latin typeface="Verdana" panose="020B0604030504040204" pitchFamily="34" charset="0"/>
                          <a:ea typeface="Verdana" panose="020B0604030504040204" pitchFamily="34" charset="0"/>
                          <a:cs typeface="Verdana" panose="020B0604030504040204" pitchFamily="34" charset="0"/>
                        </a:rPr>
                        <a:t>Developing a greenfield airport at Jamshedpur in India</a:t>
                      </a:r>
                      <a:endParaRPr lang="en-IN" sz="1200" u="none" kern="1200" dirty="0">
                        <a:solidFill>
                          <a:schemeClr val="dk1"/>
                        </a:solidFill>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lnSpc>
                          <a:spcPct val="100000"/>
                        </a:lnSpc>
                        <a:spcBef>
                          <a:spcPts val="200"/>
                        </a:spcBef>
                        <a:spcAft>
                          <a:spcPts val="200"/>
                        </a:spcAft>
                        <a:buFont typeface="Arial" panose="020B0604020202020204" pitchFamily="34" charset="0"/>
                        <a:buChar char="•"/>
                      </a:pPr>
                      <a:r>
                        <a:rPr lang="en-US" sz="1200" u="none" dirty="0">
                          <a:latin typeface="Verdana" panose="020B0604030504040204" pitchFamily="34" charset="0"/>
                          <a:ea typeface="Verdana" panose="020B0604030504040204" pitchFamily="34" charset="0"/>
                          <a:cs typeface="Verdana" panose="020B0604030504040204" pitchFamily="34" charset="0"/>
                        </a:rPr>
                        <a:t>Worked</a:t>
                      </a:r>
                      <a:r>
                        <a:rPr lang="en-US" sz="1200" u="none" baseline="0" dirty="0">
                          <a:latin typeface="Verdana" panose="020B0604030504040204" pitchFamily="34" charset="0"/>
                          <a:ea typeface="Verdana" panose="020B0604030504040204" pitchFamily="34" charset="0"/>
                          <a:cs typeface="Verdana" panose="020B0604030504040204" pitchFamily="34" charset="0"/>
                        </a:rPr>
                        <a:t> on seventeen projects for runway construction or maintenance in India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extLst>
                  <a:ext uri="{0D108BD9-81ED-4DB2-BD59-A6C34878D82A}">
                    <a16:rowId xmlns:a16="http://schemas.microsoft.com/office/drawing/2014/main" val="3437397708"/>
                  </a:ext>
                </a:extLst>
              </a:tr>
              <a:tr h="1057978">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rPr>
                        <a:t>Transportation (Other)</a:t>
                      </a:r>
                      <a:endParaRPr lang="en-IN"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17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200" u="none" dirty="0">
                          <a:latin typeface="Verdana" panose="020B0604030504040204" pitchFamily="34" charset="0"/>
                          <a:ea typeface="Verdana" panose="020B0604030504040204" pitchFamily="34" charset="0"/>
                          <a:cs typeface="Verdana" panose="020B0604030504040204" pitchFamily="34" charset="0"/>
                        </a:rPr>
                        <a:t>GMR currently operating six major road projects under </a:t>
                      </a:r>
                      <a:r>
                        <a:rPr lang="en-US" sz="1200" u="none" baseline="0" dirty="0">
                          <a:latin typeface="Verdana" panose="020B0604030504040204" pitchFamily="34" charset="0"/>
                          <a:ea typeface="Verdana" panose="020B0604030504040204" pitchFamily="34" charset="0"/>
                          <a:cs typeface="Verdana" panose="020B0604030504040204" pitchFamily="34" charset="0"/>
                        </a:rPr>
                        <a:t>in India</a:t>
                      </a:r>
                      <a:endParaRPr lang="en-US" sz="1200" u="none"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lnSpc>
                          <a:spcPct val="100000"/>
                        </a:lnSpc>
                        <a:spcBef>
                          <a:spcPts val="200"/>
                        </a:spcBef>
                        <a:spcAft>
                          <a:spcPts val="200"/>
                        </a:spcAft>
                        <a:buFont typeface="Arial" panose="020B0604020202020204" pitchFamily="34" charset="0"/>
                        <a:buChar char="•"/>
                      </a:pPr>
                      <a:r>
                        <a:rPr lang="en-IN" sz="1200" dirty="0">
                          <a:effectLst/>
                          <a:latin typeface="Verdana" panose="020B0604030504040204" pitchFamily="34" charset="0"/>
                          <a:ea typeface="Verdana" panose="020B0604030504040204" pitchFamily="34" charset="0"/>
                          <a:cs typeface="Verdana" panose="020B0604030504040204" pitchFamily="34" charset="0"/>
                        </a:rPr>
                        <a:t>GVK currently</a:t>
                      </a:r>
                      <a:r>
                        <a:rPr lang="en-IN" sz="1200" baseline="0" dirty="0">
                          <a:effectLst/>
                          <a:latin typeface="Verdana" panose="020B0604030504040204" pitchFamily="34" charset="0"/>
                          <a:ea typeface="Verdana" panose="020B0604030504040204" pitchFamily="34" charset="0"/>
                          <a:cs typeface="Verdana" panose="020B0604030504040204" pitchFamily="34" charset="0"/>
                        </a:rPr>
                        <a:t> operating </a:t>
                      </a:r>
                      <a:r>
                        <a:rPr lang="en-IN" sz="1200" dirty="0">
                          <a:effectLst/>
                          <a:latin typeface="Verdana" panose="020B0604030504040204" pitchFamily="34" charset="0"/>
                          <a:ea typeface="Verdana" panose="020B0604030504040204" pitchFamily="34" charset="0"/>
                          <a:cs typeface="Verdana" panose="020B0604030504040204" pitchFamily="34" charset="0"/>
                        </a:rPr>
                        <a:t>three road projects of around 1500 lane km</a:t>
                      </a:r>
                      <a:r>
                        <a:rPr lang="en-IN" sz="1200" baseline="0" dirty="0">
                          <a:effectLst/>
                          <a:latin typeface="Verdana" panose="020B0604030504040204" pitchFamily="34" charset="0"/>
                          <a:ea typeface="Verdana" panose="020B0604030504040204" pitchFamily="34" charset="0"/>
                          <a:cs typeface="Verdana" panose="020B0604030504040204" pitchFamily="34" charset="0"/>
                        </a:rPr>
                        <a:t> in India</a:t>
                      </a:r>
                      <a:endParaRPr lang="en-IN" sz="1200" dirty="0">
                        <a:effectLst/>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200" u="none" kern="1200" dirty="0">
                          <a:solidFill>
                            <a:schemeClr val="dk1"/>
                          </a:solidFill>
                          <a:latin typeface="Verdana" panose="020B0604030504040204" pitchFamily="34" charset="0"/>
                          <a:ea typeface="Verdana" panose="020B0604030504040204" pitchFamily="34" charset="0"/>
                          <a:cs typeface="Verdana" panose="020B0604030504040204" pitchFamily="34" charset="0"/>
                        </a:rPr>
                        <a:t>TRIL currently operating</a:t>
                      </a:r>
                      <a:r>
                        <a:rPr lang="en-US" sz="1200" u="none" kern="1200" baseline="0" dirty="0">
                          <a:solidFill>
                            <a:schemeClr val="dk1"/>
                          </a:solidFill>
                          <a:latin typeface="Verdana" panose="020B0604030504040204" pitchFamily="34" charset="0"/>
                          <a:ea typeface="Verdana" panose="020B0604030504040204" pitchFamily="34" charset="0"/>
                          <a:cs typeface="Verdana" panose="020B0604030504040204" pitchFamily="34" charset="0"/>
                        </a:rPr>
                        <a:t> road project of </a:t>
                      </a:r>
                      <a:r>
                        <a:rPr lang="en-US" sz="1200" u="none" kern="1200" dirty="0">
                          <a:solidFill>
                            <a:schemeClr val="dk1"/>
                          </a:solidFill>
                          <a:latin typeface="Verdana" panose="020B0604030504040204" pitchFamily="34" charset="0"/>
                          <a:ea typeface="Verdana" panose="020B0604030504040204" pitchFamily="34" charset="0"/>
                          <a:cs typeface="Verdana" panose="020B0604030504040204" pitchFamily="34" charset="0"/>
                        </a:rPr>
                        <a:t>110 kms in</a:t>
                      </a:r>
                      <a:r>
                        <a:rPr lang="en-US" sz="1200" u="none" kern="1200" baseline="0" dirty="0">
                          <a:solidFill>
                            <a:schemeClr val="dk1"/>
                          </a:solidFill>
                          <a:latin typeface="Verdana" panose="020B0604030504040204" pitchFamily="34" charset="0"/>
                          <a:ea typeface="Verdana" panose="020B0604030504040204" pitchFamily="34" charset="0"/>
                          <a:cs typeface="Verdana" panose="020B0604030504040204" pitchFamily="34" charset="0"/>
                        </a:rPr>
                        <a:t> Maharashtra, In</a:t>
                      </a:r>
                      <a:r>
                        <a:rPr lang="en-US" sz="1200" u="none" kern="1200" dirty="0">
                          <a:solidFill>
                            <a:schemeClr val="dk1"/>
                          </a:solidFill>
                          <a:latin typeface="Verdana" panose="020B0604030504040204" pitchFamily="34" charset="0"/>
                          <a:ea typeface="Verdana" panose="020B0604030504040204" pitchFamily="34" charset="0"/>
                          <a:cs typeface="Verdana" panose="020B0604030504040204" pitchFamily="34" charset="0"/>
                        </a:rPr>
                        <a:t>dia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171450" indent="-171450">
                        <a:lnSpc>
                          <a:spcPct val="100000"/>
                        </a:lnSpc>
                        <a:spcBef>
                          <a:spcPts val="200"/>
                        </a:spcBef>
                        <a:spcAft>
                          <a:spcPts val="200"/>
                        </a:spcAft>
                        <a:buFont typeface="Arial" panose="020B0604020202020204" pitchFamily="34" charset="0"/>
                        <a:buChar char="•"/>
                      </a:pPr>
                      <a:r>
                        <a:rPr lang="en-US" sz="1200" u="none" baseline="0" dirty="0">
                          <a:latin typeface="Verdana" panose="020B0604030504040204" pitchFamily="34" charset="0"/>
                          <a:ea typeface="Verdana" panose="020B0604030504040204" pitchFamily="34" charset="0"/>
                          <a:cs typeface="Verdana" panose="020B0604030504040204" pitchFamily="34" charset="0"/>
                        </a:rPr>
                        <a:t>PNC executing seventeen ongoing highway construction projects of over 650 kms in India</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extLst>
                  <a:ext uri="{0D108BD9-81ED-4DB2-BD59-A6C34878D82A}">
                    <a16:rowId xmlns:a16="http://schemas.microsoft.com/office/drawing/2014/main" val="3420400632"/>
                  </a:ext>
                </a:extLst>
              </a:tr>
              <a:tr h="969889">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rPr>
                        <a:t>Size</a:t>
                      </a:r>
                      <a:endParaRPr lang="en-IN"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17F"/>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Revenue from operations</a:t>
                      </a:r>
                      <a:r>
                        <a:rPr lang="en-US" sz="1200" baseline="0" dirty="0">
                          <a:latin typeface="Verdana" panose="020B0604030504040204" pitchFamily="34" charset="0"/>
                          <a:ea typeface="Verdana" panose="020B0604030504040204" pitchFamily="34" charset="0"/>
                          <a:cs typeface="Verdana" panose="020B0604030504040204" pitchFamily="34" charset="0"/>
                        </a:rPr>
                        <a:t> of ~ INR 9,300 Cr for year 2017-18</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indent="-171450">
                        <a:lnSpc>
                          <a:spcPct val="100000"/>
                        </a:lnSpc>
                        <a:spcBef>
                          <a:spcPts val="200"/>
                        </a:spcBef>
                        <a:spcAft>
                          <a:spcPts val="200"/>
                        </a:spcAft>
                        <a:buFont typeface="Arial" panose="020B0604020202020204" pitchFamily="34" charset="0"/>
                        <a:buChar char="•"/>
                      </a:pPr>
                      <a:r>
                        <a:rPr lang="en-US" sz="1200" baseline="0" dirty="0">
                          <a:latin typeface="Verdana" panose="020B0604030504040204" pitchFamily="34" charset="0"/>
                          <a:ea typeface="Verdana" panose="020B0604030504040204" pitchFamily="34" charset="0"/>
                          <a:cs typeface="Verdana" panose="020B0604030504040204" pitchFamily="34" charset="0"/>
                        </a:rPr>
                        <a:t>Revenue from operations of ~ INR 9,200 Cr in year 2017-18</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Offshore fund of $ 1 Billion set up to finance real estate and infrastructure initiatives</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Revenue</a:t>
                      </a:r>
                      <a:r>
                        <a:rPr lang="en-US" sz="1200" baseline="0" dirty="0">
                          <a:latin typeface="Verdana" panose="020B0604030504040204" pitchFamily="34" charset="0"/>
                          <a:ea typeface="Verdana" panose="020B0604030504040204" pitchFamily="34" charset="0"/>
                          <a:cs typeface="Verdana" panose="020B0604030504040204" pitchFamily="34" charset="0"/>
                        </a:rPr>
                        <a:t> from operations of ~ INR 1,850 Cr in year 2017-18</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extLst>
                  <a:ext uri="{0D108BD9-81ED-4DB2-BD59-A6C34878D82A}">
                    <a16:rowId xmlns:a16="http://schemas.microsoft.com/office/drawing/2014/main" val="31329588"/>
                  </a:ext>
                </a:extLst>
              </a:tr>
              <a:tr h="1256903">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rPr>
                        <a:t>Presence</a:t>
                      </a:r>
                      <a:endParaRPr lang="en-IN" sz="1200" b="1" u="none" kern="1200" dirty="0">
                        <a:solidFill>
                          <a:schemeClr val="lt1"/>
                        </a:solidFill>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717F"/>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Currently operating in four countries</a:t>
                      </a:r>
                      <a:r>
                        <a:rPr lang="en-US" sz="1200" baseline="0" dirty="0">
                          <a:latin typeface="Verdana" panose="020B0604030504040204" pitchFamily="34" charset="0"/>
                          <a:ea typeface="Verdana" panose="020B0604030504040204" pitchFamily="34" charset="0"/>
                          <a:cs typeface="Verdana" panose="020B0604030504040204" pitchFamily="34" charset="0"/>
                        </a:rPr>
                        <a:t> – India, Philippines, Nepal and Indonesia</a:t>
                      </a:r>
                    </a:p>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Currently operating in</a:t>
                      </a:r>
                      <a:r>
                        <a:rPr lang="en-US" sz="1200" baseline="0" dirty="0">
                          <a:latin typeface="Verdana" panose="020B0604030504040204" pitchFamily="34" charset="0"/>
                          <a:ea typeface="Verdana" panose="020B0604030504040204" pitchFamily="34" charset="0"/>
                          <a:cs typeface="Verdana" panose="020B0604030504040204" pitchFamily="34" charset="0"/>
                        </a:rPr>
                        <a:t> fifteen states across India</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Currently operating in four countries</a:t>
                      </a:r>
                      <a:r>
                        <a:rPr lang="en-US" sz="1200" baseline="0" dirty="0">
                          <a:latin typeface="Verdana" panose="020B0604030504040204" pitchFamily="34" charset="0"/>
                          <a:ea typeface="Verdana" panose="020B0604030504040204" pitchFamily="34" charset="0"/>
                          <a:cs typeface="Verdana" panose="020B0604030504040204" pitchFamily="34" charset="0"/>
                        </a:rPr>
                        <a:t> – India, Indonesia, Sri Lanka and Australia</a:t>
                      </a:r>
                    </a:p>
                    <a:p>
                      <a:pPr marL="171450" indent="-171450">
                        <a:lnSpc>
                          <a:spcPct val="100000"/>
                        </a:lnSpc>
                        <a:spcBef>
                          <a:spcPts val="200"/>
                        </a:spcBef>
                        <a:spcAft>
                          <a:spcPts val="200"/>
                        </a:spcAft>
                        <a:buFont typeface="Arial" panose="020B0604020202020204" pitchFamily="34" charset="0"/>
                        <a:buChar char="•"/>
                      </a:pPr>
                      <a:r>
                        <a:rPr lang="en-US" sz="1200" dirty="0">
                          <a:latin typeface="Verdana" panose="020B0604030504040204" pitchFamily="34" charset="0"/>
                          <a:ea typeface="Verdana" panose="020B0604030504040204" pitchFamily="34" charset="0"/>
                          <a:cs typeface="Verdana" panose="020B0604030504040204" pitchFamily="34" charset="0"/>
                        </a:rPr>
                        <a:t>Currently operating in</a:t>
                      </a:r>
                      <a:r>
                        <a:rPr lang="en-US" sz="1200" baseline="0" dirty="0">
                          <a:latin typeface="Verdana" panose="020B0604030504040204" pitchFamily="34" charset="0"/>
                          <a:ea typeface="Verdana" panose="020B0604030504040204" pitchFamily="34" charset="0"/>
                          <a:cs typeface="Verdana" panose="020B0604030504040204" pitchFamily="34" charset="0"/>
                        </a:rPr>
                        <a:t> fifteen states across India</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200" dirty="0">
                          <a:latin typeface="Verdana" panose="020B0604030504040204" pitchFamily="34" charset="0"/>
                          <a:ea typeface="Verdana" panose="020B0604030504040204" pitchFamily="34" charset="0"/>
                          <a:cs typeface="Verdana" panose="020B0604030504040204" pitchFamily="34" charset="0"/>
                        </a:rPr>
                        <a:t>Currently operating in </a:t>
                      </a:r>
                      <a:r>
                        <a:rPr lang="en-US" sz="1200" baseline="0" dirty="0">
                          <a:latin typeface="Verdana" panose="020B0604030504040204" pitchFamily="34" charset="0"/>
                          <a:ea typeface="Verdana" panose="020B0604030504040204" pitchFamily="34" charset="0"/>
                          <a:cs typeface="Verdana" panose="020B0604030504040204" pitchFamily="34" charset="0"/>
                        </a:rPr>
                        <a:t>twelve states across India</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171450" marR="0" lvl="0" indent="-171450" algn="l"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en-US" sz="1200" dirty="0">
                          <a:latin typeface="Verdana" panose="020B0604030504040204" pitchFamily="34" charset="0"/>
                          <a:ea typeface="Verdana" panose="020B0604030504040204" pitchFamily="34" charset="0"/>
                          <a:cs typeface="Verdana" panose="020B0604030504040204" pitchFamily="34" charset="0"/>
                        </a:rPr>
                        <a:t>Currently operating in </a:t>
                      </a:r>
                      <a:r>
                        <a:rPr lang="en-US" sz="1200" baseline="0" dirty="0">
                          <a:latin typeface="Verdana" panose="020B0604030504040204" pitchFamily="34" charset="0"/>
                          <a:ea typeface="Verdana" panose="020B0604030504040204" pitchFamily="34" charset="0"/>
                          <a:cs typeface="Verdana" panose="020B0604030504040204" pitchFamily="34" charset="0"/>
                        </a:rPr>
                        <a:t>thirteen states across India</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extLst>
                  <a:ext uri="{0D108BD9-81ED-4DB2-BD59-A6C34878D82A}">
                    <a16:rowId xmlns:a16="http://schemas.microsoft.com/office/drawing/2014/main" val="4088053185"/>
                  </a:ext>
                </a:extLst>
              </a:tr>
            </a:tbl>
          </a:graphicData>
        </a:graphic>
      </p:graphicFrame>
      <p:sp>
        <p:nvSpPr>
          <p:cNvPr id="9" name="Rectangle 8"/>
          <p:cNvSpPr/>
          <p:nvPr/>
        </p:nvSpPr>
        <p:spPr>
          <a:xfrm>
            <a:off x="5877987" y="57154"/>
            <a:ext cx="456225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Preliminary views on the competition</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Potential Competition</a:t>
            </a:r>
          </a:p>
        </p:txBody>
      </p:sp>
      <p:sp>
        <p:nvSpPr>
          <p:cNvPr id="6" name="Text Placeholder 1"/>
          <p:cNvSpPr>
            <a:spLocks noGrp="1"/>
          </p:cNvSpPr>
          <p:nvPr>
            <p:ph type="body" sz="quarter" idx="4294967295"/>
          </p:nvPr>
        </p:nvSpPr>
        <p:spPr>
          <a:xfrm>
            <a:off x="352349" y="894536"/>
            <a:ext cx="7746622" cy="359682"/>
          </a:xfrm>
          <a:prstGeom prst="rect">
            <a:avLst/>
          </a:prstGeom>
        </p:spPr>
        <p:txBody>
          <a:bodyPr vert="horz" lIns="0" tIns="0" rIns="0" bIns="0" rtlCol="0" anchor="t" anchorCtr="0">
            <a:noAutofit/>
          </a:bodyPr>
          <a:lstStyle/>
          <a:p>
            <a:pPr defTabSz="935830">
              <a:lnSpc>
                <a:spcPct val="110000"/>
              </a:lnSpc>
              <a:spcBef>
                <a:spcPts val="1228"/>
              </a:spcBef>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 preliminary look at the competition in the Nagpur Airport bidding process</a:t>
            </a:r>
          </a:p>
        </p:txBody>
      </p:sp>
    </p:spTree>
    <p:extLst>
      <p:ext uri="{BB962C8B-B14F-4D97-AF65-F5344CB8AC3E}">
        <p14:creationId xmlns:p14="http://schemas.microsoft.com/office/powerpoint/2010/main" val="217529431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626" y="0"/>
            <a:ext cx="10685012" cy="7562849"/>
          </a:xfrm>
          <a:prstGeom prst="rect">
            <a:avLst/>
          </a:prstGeom>
        </p:spPr>
      </p:pic>
      <p:sp>
        <p:nvSpPr>
          <p:cNvPr id="6" name="Trapezoid 5"/>
          <p:cNvSpPr/>
          <p:nvPr/>
        </p:nvSpPr>
        <p:spPr bwMode="gray">
          <a:xfrm rot="16200000" flipH="1">
            <a:off x="2341681" y="4214894"/>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 name="Trapezoid 6"/>
          <p:cNvSpPr/>
          <p:nvPr/>
        </p:nvSpPr>
        <p:spPr bwMode="gray">
          <a:xfrm rot="5400000">
            <a:off x="3646881" y="4214893"/>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 name="object 3"/>
          <p:cNvSpPr/>
          <p:nvPr/>
        </p:nvSpPr>
        <p:spPr>
          <a:xfrm>
            <a:off x="3898921" y="3962399"/>
            <a:ext cx="6789717" cy="723456"/>
          </a:xfrm>
          <a:custGeom>
            <a:avLst/>
            <a:gdLst/>
            <a:ahLst/>
            <a:cxnLst/>
            <a:rect l="l" t="t" r="r" b="b"/>
            <a:pathLst>
              <a:path w="6320155" h="1188720">
                <a:moveTo>
                  <a:pt x="0" y="1188720"/>
                </a:moveTo>
                <a:lnTo>
                  <a:pt x="6320027" y="1188720"/>
                </a:lnTo>
                <a:lnTo>
                  <a:pt x="6320027" y="0"/>
                </a:lnTo>
                <a:lnTo>
                  <a:pt x="0" y="0"/>
                </a:lnTo>
                <a:lnTo>
                  <a:pt x="0" y="1188720"/>
                </a:lnTo>
                <a:close/>
              </a:path>
            </a:pathLst>
          </a:custGeom>
          <a:solidFill>
            <a:schemeClr val="bg1"/>
          </a:solidFill>
        </p:spPr>
        <p:txBody>
          <a:bodyPr wrap="square" lIns="0" tIns="0" rIns="0" bIns="0" rtlCol="0"/>
          <a:lstStyle/>
          <a:p>
            <a:endParaRPr lang="en-GB" sz="2197" dirty="0"/>
          </a:p>
        </p:txBody>
      </p:sp>
      <p:sp>
        <p:nvSpPr>
          <p:cNvPr id="9" name="object 4"/>
          <p:cNvSpPr txBox="1"/>
          <p:nvPr/>
        </p:nvSpPr>
        <p:spPr>
          <a:xfrm>
            <a:off x="4623176" y="4107962"/>
            <a:ext cx="5651452" cy="369332"/>
          </a:xfrm>
          <a:prstGeom prst="rect">
            <a:avLst/>
          </a:prstGeom>
        </p:spPr>
        <p:txBody>
          <a:bodyPr vert="horz" wrap="square" lIns="0" tIns="0" rIns="0" bIns="0" rtlCol="0">
            <a:spAutoFit/>
          </a:bodyPr>
          <a:lstStyle/>
          <a:p>
            <a:pPr defTabSz="1018824"/>
            <a:r>
              <a:rPr lang="en-US" sz="2400" dirty="0">
                <a:latin typeface="Verdana" panose="020B0604030504040204" pitchFamily="34" charset="0"/>
                <a:ea typeface="Verdana" panose="020B0604030504040204" pitchFamily="34" charset="0"/>
                <a:cs typeface="Verdana" panose="020B0604030504040204" pitchFamily="34" charset="0"/>
              </a:rPr>
              <a:t>Required Advisory Assistance</a:t>
            </a:r>
          </a:p>
        </p:txBody>
      </p:sp>
      <p:sp>
        <p:nvSpPr>
          <p:cNvPr id="10" name="object 5"/>
          <p:cNvSpPr/>
          <p:nvPr/>
        </p:nvSpPr>
        <p:spPr>
          <a:xfrm>
            <a:off x="3008354" y="3764700"/>
            <a:ext cx="1099624" cy="1118854"/>
          </a:xfrm>
          <a:custGeom>
            <a:avLst/>
            <a:gdLst/>
            <a:ahLst/>
            <a:cxnLst/>
            <a:rect l="l" t="t" r="r" b="b"/>
            <a:pathLst>
              <a:path w="1458595" h="1188720">
                <a:moveTo>
                  <a:pt x="0" y="1188720"/>
                </a:moveTo>
                <a:lnTo>
                  <a:pt x="1458467" y="1188720"/>
                </a:lnTo>
                <a:lnTo>
                  <a:pt x="1458467" y="0"/>
                </a:lnTo>
                <a:lnTo>
                  <a:pt x="0" y="0"/>
                </a:lnTo>
                <a:lnTo>
                  <a:pt x="0" y="1188720"/>
                </a:lnTo>
                <a:close/>
              </a:path>
            </a:pathLst>
          </a:custGeom>
          <a:solidFill>
            <a:srgbClr val="00A0DE"/>
          </a:solidFill>
        </p:spPr>
        <p:txBody>
          <a:bodyPr wrap="square" lIns="0" tIns="0" rIns="0" bIns="0" rtlCol="0"/>
          <a:lstStyle/>
          <a:p>
            <a:endParaRPr lang="en-GB" sz="2197" dirty="0"/>
          </a:p>
        </p:txBody>
      </p:sp>
      <p:sp>
        <p:nvSpPr>
          <p:cNvPr id="14" name="Rectangle 13"/>
          <p:cNvSpPr/>
          <p:nvPr/>
        </p:nvSpPr>
        <p:spPr bwMode="gray">
          <a:xfrm>
            <a:off x="0" y="3962400"/>
            <a:ext cx="2800315" cy="72345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 name="Group 583"/>
          <p:cNvGrpSpPr>
            <a:grpSpLocks noChangeAspect="1"/>
          </p:cNvGrpSpPr>
          <p:nvPr/>
        </p:nvGrpSpPr>
        <p:grpSpPr bwMode="auto">
          <a:xfrm>
            <a:off x="3054802" y="3828134"/>
            <a:ext cx="992911" cy="990000"/>
            <a:chOff x="1138" y="1953"/>
            <a:chExt cx="341" cy="340"/>
          </a:xfrm>
          <a:solidFill>
            <a:schemeClr val="bg1"/>
          </a:solidFill>
        </p:grpSpPr>
        <p:sp>
          <p:nvSpPr>
            <p:cNvPr id="36" name="Freeform 584"/>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585"/>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24"/>
          <p:cNvGrpSpPr/>
          <p:nvPr/>
        </p:nvGrpSpPr>
        <p:grpSpPr>
          <a:xfrm>
            <a:off x="662032" y="4119931"/>
            <a:ext cx="1998746" cy="443146"/>
            <a:chOff x="662032" y="4119931"/>
            <a:chExt cx="1998746" cy="443146"/>
          </a:xfrm>
        </p:grpSpPr>
        <p:grpSp>
          <p:nvGrpSpPr>
            <p:cNvPr id="26" name="Group 309"/>
            <p:cNvGrpSpPr>
              <a:grpSpLocks noChangeAspect="1"/>
            </p:cNvGrpSpPr>
            <p:nvPr/>
          </p:nvGrpSpPr>
          <p:grpSpPr bwMode="auto">
            <a:xfrm>
              <a:off x="2223897" y="4122662"/>
              <a:ext cx="436881" cy="435600"/>
              <a:chOff x="6585" y="1193"/>
              <a:chExt cx="341" cy="340"/>
            </a:xfrm>
            <a:solidFill>
              <a:srgbClr val="00A0DE"/>
            </a:solidFill>
          </p:grpSpPr>
          <p:sp>
            <p:nvSpPr>
              <p:cNvPr id="5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7" name="Group 69"/>
            <p:cNvGrpSpPr>
              <a:grpSpLocks noChangeAspect="1"/>
            </p:cNvGrpSpPr>
            <p:nvPr/>
          </p:nvGrpSpPr>
          <p:grpSpPr bwMode="auto">
            <a:xfrm>
              <a:off x="662032" y="4119931"/>
              <a:ext cx="435600" cy="435600"/>
              <a:chOff x="4334" y="1990"/>
              <a:chExt cx="340" cy="340"/>
            </a:xfrm>
            <a:solidFill>
              <a:srgbClr val="00A0DE"/>
            </a:solidFill>
          </p:grpSpPr>
          <p:sp>
            <p:nvSpPr>
              <p:cNvPr id="41" name="Freeform 70"/>
              <p:cNvSpPr>
                <a:spLocks noEditPoints="1"/>
              </p:cNvSpPr>
              <p:nvPr/>
            </p:nvSpPr>
            <p:spPr bwMode="auto">
              <a:xfrm>
                <a:off x="4398" y="2054"/>
                <a:ext cx="212"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70 w 320"/>
                  <a:gd name="T11" fmla="*/ 298 h 320"/>
                  <a:gd name="T12" fmla="*/ 170 w 320"/>
                  <a:gd name="T13" fmla="*/ 288 h 320"/>
                  <a:gd name="T14" fmla="*/ 160 w 320"/>
                  <a:gd name="T15" fmla="*/ 277 h 320"/>
                  <a:gd name="T16" fmla="*/ 149 w 320"/>
                  <a:gd name="T17" fmla="*/ 288 h 320"/>
                  <a:gd name="T18" fmla="*/ 149 w 320"/>
                  <a:gd name="T19" fmla="*/ 298 h 320"/>
                  <a:gd name="T20" fmla="*/ 22 w 320"/>
                  <a:gd name="T21" fmla="*/ 170 h 320"/>
                  <a:gd name="T22" fmla="*/ 32 w 320"/>
                  <a:gd name="T23" fmla="*/ 170 h 320"/>
                  <a:gd name="T24" fmla="*/ 42 w 320"/>
                  <a:gd name="T25" fmla="*/ 160 h 320"/>
                  <a:gd name="T26" fmla="*/ 32 w 320"/>
                  <a:gd name="T27" fmla="*/ 149 h 320"/>
                  <a:gd name="T28" fmla="*/ 22 w 320"/>
                  <a:gd name="T29" fmla="*/ 149 h 320"/>
                  <a:gd name="T30" fmla="*/ 149 w 320"/>
                  <a:gd name="T31" fmla="*/ 22 h 320"/>
                  <a:gd name="T32" fmla="*/ 149 w 320"/>
                  <a:gd name="T33" fmla="*/ 32 h 320"/>
                  <a:gd name="T34" fmla="*/ 160 w 320"/>
                  <a:gd name="T35" fmla="*/ 42 h 320"/>
                  <a:gd name="T36" fmla="*/ 170 w 320"/>
                  <a:gd name="T37" fmla="*/ 32 h 320"/>
                  <a:gd name="T38" fmla="*/ 170 w 320"/>
                  <a:gd name="T39" fmla="*/ 22 h 320"/>
                  <a:gd name="T40" fmla="*/ 298 w 320"/>
                  <a:gd name="T41" fmla="*/ 149 h 320"/>
                  <a:gd name="T42" fmla="*/ 288 w 320"/>
                  <a:gd name="T43" fmla="*/ 149 h 320"/>
                  <a:gd name="T44" fmla="*/ 277 w 320"/>
                  <a:gd name="T45" fmla="*/ 160 h 320"/>
                  <a:gd name="T46" fmla="*/ 288 w 320"/>
                  <a:gd name="T47" fmla="*/ 170 h 320"/>
                  <a:gd name="T48" fmla="*/ 298 w 320"/>
                  <a:gd name="T49" fmla="*/ 170 h 320"/>
                  <a:gd name="T50" fmla="*/ 170 w 320"/>
                  <a:gd name="T51" fmla="*/ 298 h 320"/>
                  <a:gd name="T52" fmla="*/ 216 w 320"/>
                  <a:gd name="T53" fmla="*/ 90 h 320"/>
                  <a:gd name="T54" fmla="*/ 133 w 320"/>
                  <a:gd name="T55" fmla="*/ 127 h 320"/>
                  <a:gd name="T56" fmla="*/ 127 w 320"/>
                  <a:gd name="T57" fmla="*/ 133 h 320"/>
                  <a:gd name="T58" fmla="*/ 90 w 320"/>
                  <a:gd name="T59" fmla="*/ 216 h 320"/>
                  <a:gd name="T60" fmla="*/ 92 w 320"/>
                  <a:gd name="T61" fmla="*/ 228 h 320"/>
                  <a:gd name="T62" fmla="*/ 99 w 320"/>
                  <a:gd name="T63" fmla="*/ 231 h 320"/>
                  <a:gd name="T64" fmla="*/ 104 w 320"/>
                  <a:gd name="T65" fmla="*/ 230 h 320"/>
                  <a:gd name="T66" fmla="*/ 187 w 320"/>
                  <a:gd name="T67" fmla="*/ 192 h 320"/>
                  <a:gd name="T68" fmla="*/ 192 w 320"/>
                  <a:gd name="T69" fmla="*/ 187 h 320"/>
                  <a:gd name="T70" fmla="*/ 230 w 320"/>
                  <a:gd name="T71" fmla="*/ 104 h 320"/>
                  <a:gd name="T72" fmla="*/ 228 w 320"/>
                  <a:gd name="T73" fmla="*/ 92 h 320"/>
                  <a:gd name="T74" fmla="*/ 216 w 320"/>
                  <a:gd name="T75" fmla="*/ 90 h 320"/>
                  <a:gd name="T76" fmla="*/ 140 w 320"/>
                  <a:gd name="T77" fmla="*/ 155 h 320"/>
                  <a:gd name="T78" fmla="*/ 164 w 320"/>
                  <a:gd name="T79" fmla="*/ 179 h 320"/>
                  <a:gd name="T80" fmla="*/ 121 w 320"/>
                  <a:gd name="T81" fmla="*/ 199 h 320"/>
                  <a:gd name="T82" fmla="*/ 140 w 320"/>
                  <a:gd name="T83" fmla="*/ 155 h 320"/>
                  <a:gd name="T84" fmla="*/ 179 w 320"/>
                  <a:gd name="T85" fmla="*/ 164 h 320"/>
                  <a:gd name="T86" fmla="*/ 155 w 320"/>
                  <a:gd name="T87" fmla="*/ 140 h 320"/>
                  <a:gd name="T88" fmla="*/ 199 w 320"/>
                  <a:gd name="T89" fmla="*/ 121 h 320"/>
                  <a:gd name="T90" fmla="*/ 179 w 320"/>
                  <a:gd name="T91" fmla="*/ 1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70" y="298"/>
                    </a:moveTo>
                    <a:cubicBezTo>
                      <a:pt x="170" y="288"/>
                      <a:pt x="170" y="288"/>
                      <a:pt x="170" y="288"/>
                    </a:cubicBezTo>
                    <a:cubicBezTo>
                      <a:pt x="170" y="282"/>
                      <a:pt x="166" y="277"/>
                      <a:pt x="160" y="277"/>
                    </a:cubicBezTo>
                    <a:cubicBezTo>
                      <a:pt x="154" y="277"/>
                      <a:pt x="149" y="282"/>
                      <a:pt x="149" y="288"/>
                    </a:cubicBezTo>
                    <a:cubicBezTo>
                      <a:pt x="149" y="298"/>
                      <a:pt x="149" y="298"/>
                      <a:pt x="149" y="298"/>
                    </a:cubicBezTo>
                    <a:cubicBezTo>
                      <a:pt x="81" y="293"/>
                      <a:pt x="27" y="238"/>
                      <a:pt x="22" y="170"/>
                    </a:cubicBezTo>
                    <a:cubicBezTo>
                      <a:pt x="32" y="170"/>
                      <a:pt x="32" y="170"/>
                      <a:pt x="32" y="170"/>
                    </a:cubicBezTo>
                    <a:cubicBezTo>
                      <a:pt x="38" y="170"/>
                      <a:pt x="42" y="166"/>
                      <a:pt x="42" y="160"/>
                    </a:cubicBezTo>
                    <a:cubicBezTo>
                      <a:pt x="42" y="154"/>
                      <a:pt x="38" y="149"/>
                      <a:pt x="32" y="149"/>
                    </a:cubicBezTo>
                    <a:cubicBezTo>
                      <a:pt x="22" y="149"/>
                      <a:pt x="22" y="149"/>
                      <a:pt x="22" y="149"/>
                    </a:cubicBezTo>
                    <a:cubicBezTo>
                      <a:pt x="27" y="81"/>
                      <a:pt x="81" y="27"/>
                      <a:pt x="149" y="22"/>
                    </a:cubicBezTo>
                    <a:cubicBezTo>
                      <a:pt x="149" y="32"/>
                      <a:pt x="149" y="32"/>
                      <a:pt x="149" y="32"/>
                    </a:cubicBezTo>
                    <a:cubicBezTo>
                      <a:pt x="149" y="38"/>
                      <a:pt x="154" y="42"/>
                      <a:pt x="160" y="42"/>
                    </a:cubicBezTo>
                    <a:cubicBezTo>
                      <a:pt x="166" y="42"/>
                      <a:pt x="170" y="38"/>
                      <a:pt x="170" y="32"/>
                    </a:cubicBezTo>
                    <a:cubicBezTo>
                      <a:pt x="170" y="22"/>
                      <a:pt x="170" y="22"/>
                      <a:pt x="170" y="22"/>
                    </a:cubicBezTo>
                    <a:cubicBezTo>
                      <a:pt x="238" y="27"/>
                      <a:pt x="293" y="81"/>
                      <a:pt x="298" y="149"/>
                    </a:cubicBezTo>
                    <a:cubicBezTo>
                      <a:pt x="288" y="149"/>
                      <a:pt x="288" y="149"/>
                      <a:pt x="288" y="149"/>
                    </a:cubicBezTo>
                    <a:cubicBezTo>
                      <a:pt x="282" y="149"/>
                      <a:pt x="277" y="154"/>
                      <a:pt x="277" y="160"/>
                    </a:cubicBezTo>
                    <a:cubicBezTo>
                      <a:pt x="277" y="166"/>
                      <a:pt x="282" y="170"/>
                      <a:pt x="288" y="170"/>
                    </a:cubicBezTo>
                    <a:cubicBezTo>
                      <a:pt x="298" y="170"/>
                      <a:pt x="298" y="170"/>
                      <a:pt x="298" y="170"/>
                    </a:cubicBezTo>
                    <a:cubicBezTo>
                      <a:pt x="293" y="238"/>
                      <a:pt x="238" y="293"/>
                      <a:pt x="170" y="298"/>
                    </a:cubicBezTo>
                    <a:close/>
                    <a:moveTo>
                      <a:pt x="216" y="90"/>
                    </a:moveTo>
                    <a:cubicBezTo>
                      <a:pt x="133" y="127"/>
                      <a:pt x="133" y="127"/>
                      <a:pt x="133" y="127"/>
                    </a:cubicBezTo>
                    <a:cubicBezTo>
                      <a:pt x="130" y="128"/>
                      <a:pt x="128" y="130"/>
                      <a:pt x="127" y="133"/>
                    </a:cubicBezTo>
                    <a:cubicBezTo>
                      <a:pt x="90" y="216"/>
                      <a:pt x="90" y="216"/>
                      <a:pt x="90" y="216"/>
                    </a:cubicBezTo>
                    <a:cubicBezTo>
                      <a:pt x="88" y="220"/>
                      <a:pt x="89" y="224"/>
                      <a:pt x="92" y="228"/>
                    </a:cubicBezTo>
                    <a:cubicBezTo>
                      <a:pt x="94" y="230"/>
                      <a:pt x="97" y="231"/>
                      <a:pt x="99" y="231"/>
                    </a:cubicBezTo>
                    <a:cubicBezTo>
                      <a:pt x="101" y="231"/>
                      <a:pt x="102" y="230"/>
                      <a:pt x="104" y="230"/>
                    </a:cubicBezTo>
                    <a:cubicBezTo>
                      <a:pt x="187" y="192"/>
                      <a:pt x="187" y="192"/>
                      <a:pt x="187" y="192"/>
                    </a:cubicBezTo>
                    <a:cubicBezTo>
                      <a:pt x="189" y="191"/>
                      <a:pt x="191" y="189"/>
                      <a:pt x="192" y="187"/>
                    </a:cubicBezTo>
                    <a:cubicBezTo>
                      <a:pt x="230" y="104"/>
                      <a:pt x="230" y="104"/>
                      <a:pt x="230" y="104"/>
                    </a:cubicBezTo>
                    <a:cubicBezTo>
                      <a:pt x="232" y="100"/>
                      <a:pt x="231" y="95"/>
                      <a:pt x="228" y="92"/>
                    </a:cubicBezTo>
                    <a:cubicBezTo>
                      <a:pt x="224" y="89"/>
                      <a:pt x="220" y="88"/>
                      <a:pt x="216" y="90"/>
                    </a:cubicBezTo>
                    <a:close/>
                    <a:moveTo>
                      <a:pt x="140" y="155"/>
                    </a:moveTo>
                    <a:cubicBezTo>
                      <a:pt x="164" y="179"/>
                      <a:pt x="164" y="179"/>
                      <a:pt x="164" y="179"/>
                    </a:cubicBezTo>
                    <a:cubicBezTo>
                      <a:pt x="121" y="199"/>
                      <a:pt x="121" y="199"/>
                      <a:pt x="121" y="199"/>
                    </a:cubicBezTo>
                    <a:lnTo>
                      <a:pt x="140" y="155"/>
                    </a:lnTo>
                    <a:close/>
                    <a:moveTo>
                      <a:pt x="179" y="164"/>
                    </a:moveTo>
                    <a:cubicBezTo>
                      <a:pt x="155" y="140"/>
                      <a:pt x="155" y="140"/>
                      <a:pt x="155" y="140"/>
                    </a:cubicBezTo>
                    <a:cubicBezTo>
                      <a:pt x="199" y="121"/>
                      <a:pt x="199" y="121"/>
                      <a:pt x="199" y="121"/>
                    </a:cubicBezTo>
                    <a:lnTo>
                      <a:pt x="179" y="164"/>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1"/>
              <p:cNvSpPr>
                <a:spLocks noEditPoints="1"/>
              </p:cNvSpPr>
              <p:nvPr/>
            </p:nvSpPr>
            <p:spPr bwMode="auto">
              <a:xfrm>
                <a:off x="4334"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8" name="Group 305"/>
            <p:cNvGrpSpPr>
              <a:grpSpLocks noChangeAspect="1"/>
            </p:cNvGrpSpPr>
            <p:nvPr/>
          </p:nvGrpSpPr>
          <p:grpSpPr bwMode="auto">
            <a:xfrm>
              <a:off x="1182848" y="4124522"/>
              <a:ext cx="435600" cy="435600"/>
              <a:chOff x="6599" y="1143"/>
              <a:chExt cx="340" cy="340"/>
            </a:xfrm>
            <a:solidFill>
              <a:srgbClr val="00A0DE"/>
            </a:solidFill>
          </p:grpSpPr>
          <p:sp>
            <p:nvSpPr>
              <p:cNvPr id="39" name="Freeform 306"/>
              <p:cNvSpPr>
                <a:spLocks noEditPoints="1"/>
              </p:cNvSpPr>
              <p:nvPr/>
            </p:nvSpPr>
            <p:spPr bwMode="auto">
              <a:xfrm>
                <a:off x="6599" y="114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07"/>
              <p:cNvSpPr>
                <a:spLocks noEditPoints="1"/>
              </p:cNvSpPr>
              <p:nvPr/>
            </p:nvSpPr>
            <p:spPr bwMode="auto">
              <a:xfrm>
                <a:off x="6712" y="1205"/>
                <a:ext cx="113" cy="214"/>
              </a:xfrm>
              <a:custGeom>
                <a:avLst/>
                <a:gdLst>
                  <a:gd name="T0" fmla="*/ 160 w 171"/>
                  <a:gd name="T1" fmla="*/ 88 h 323"/>
                  <a:gd name="T2" fmla="*/ 128 w 171"/>
                  <a:gd name="T3" fmla="*/ 88 h 323"/>
                  <a:gd name="T4" fmla="*/ 128 w 171"/>
                  <a:gd name="T5" fmla="*/ 35 h 323"/>
                  <a:gd name="T6" fmla="*/ 128 w 171"/>
                  <a:gd name="T7" fmla="*/ 35 h 323"/>
                  <a:gd name="T8" fmla="*/ 138 w 171"/>
                  <a:gd name="T9" fmla="*/ 27 h 323"/>
                  <a:gd name="T10" fmla="*/ 132 w 171"/>
                  <a:gd name="T11" fmla="*/ 12 h 323"/>
                  <a:gd name="T12" fmla="*/ 39 w 171"/>
                  <a:gd name="T13" fmla="*/ 12 h 323"/>
                  <a:gd name="T14" fmla="*/ 33 w 171"/>
                  <a:gd name="T15" fmla="*/ 25 h 323"/>
                  <a:gd name="T16" fmla="*/ 43 w 171"/>
                  <a:gd name="T17" fmla="*/ 32 h 323"/>
                  <a:gd name="T18" fmla="*/ 43 w 171"/>
                  <a:gd name="T19" fmla="*/ 88 h 323"/>
                  <a:gd name="T20" fmla="*/ 11 w 171"/>
                  <a:gd name="T21" fmla="*/ 88 h 323"/>
                  <a:gd name="T22" fmla="*/ 0 w 171"/>
                  <a:gd name="T23" fmla="*/ 99 h 323"/>
                  <a:gd name="T24" fmla="*/ 0 w 171"/>
                  <a:gd name="T25" fmla="*/ 291 h 323"/>
                  <a:gd name="T26" fmla="*/ 11 w 171"/>
                  <a:gd name="T27" fmla="*/ 301 h 323"/>
                  <a:gd name="T28" fmla="*/ 22 w 171"/>
                  <a:gd name="T29" fmla="*/ 301 h 323"/>
                  <a:gd name="T30" fmla="*/ 22 w 171"/>
                  <a:gd name="T31" fmla="*/ 312 h 323"/>
                  <a:gd name="T32" fmla="*/ 32 w 171"/>
                  <a:gd name="T33" fmla="*/ 323 h 323"/>
                  <a:gd name="T34" fmla="*/ 43 w 171"/>
                  <a:gd name="T35" fmla="*/ 312 h 323"/>
                  <a:gd name="T36" fmla="*/ 43 w 171"/>
                  <a:gd name="T37" fmla="*/ 301 h 323"/>
                  <a:gd name="T38" fmla="*/ 128 w 171"/>
                  <a:gd name="T39" fmla="*/ 301 h 323"/>
                  <a:gd name="T40" fmla="*/ 128 w 171"/>
                  <a:gd name="T41" fmla="*/ 312 h 323"/>
                  <a:gd name="T42" fmla="*/ 139 w 171"/>
                  <a:gd name="T43" fmla="*/ 323 h 323"/>
                  <a:gd name="T44" fmla="*/ 150 w 171"/>
                  <a:gd name="T45" fmla="*/ 312 h 323"/>
                  <a:gd name="T46" fmla="*/ 150 w 171"/>
                  <a:gd name="T47" fmla="*/ 301 h 323"/>
                  <a:gd name="T48" fmla="*/ 160 w 171"/>
                  <a:gd name="T49" fmla="*/ 301 h 323"/>
                  <a:gd name="T50" fmla="*/ 171 w 171"/>
                  <a:gd name="T51" fmla="*/ 291 h 323"/>
                  <a:gd name="T52" fmla="*/ 171 w 171"/>
                  <a:gd name="T53" fmla="*/ 99 h 323"/>
                  <a:gd name="T54" fmla="*/ 160 w 171"/>
                  <a:gd name="T55" fmla="*/ 88 h 323"/>
                  <a:gd name="T56" fmla="*/ 64 w 171"/>
                  <a:gd name="T57" fmla="*/ 26 h 323"/>
                  <a:gd name="T58" fmla="*/ 107 w 171"/>
                  <a:gd name="T59" fmla="*/ 26 h 323"/>
                  <a:gd name="T60" fmla="*/ 107 w 171"/>
                  <a:gd name="T61" fmla="*/ 88 h 323"/>
                  <a:gd name="T62" fmla="*/ 64 w 171"/>
                  <a:gd name="T63" fmla="*/ 88 h 323"/>
                  <a:gd name="T64" fmla="*/ 64 w 171"/>
                  <a:gd name="T65" fmla="*/ 26 h 323"/>
                  <a:gd name="T66" fmla="*/ 150 w 171"/>
                  <a:gd name="T67" fmla="*/ 280 h 323"/>
                  <a:gd name="T68" fmla="*/ 22 w 171"/>
                  <a:gd name="T69" fmla="*/ 280 h 323"/>
                  <a:gd name="T70" fmla="*/ 22 w 171"/>
                  <a:gd name="T71" fmla="*/ 109 h 323"/>
                  <a:gd name="T72" fmla="*/ 150 w 171"/>
                  <a:gd name="T73" fmla="*/ 109 h 323"/>
                  <a:gd name="T74" fmla="*/ 150 w 171"/>
                  <a:gd name="T75" fmla="*/ 280 h 323"/>
                  <a:gd name="T76" fmla="*/ 118 w 171"/>
                  <a:gd name="T77" fmla="*/ 131 h 323"/>
                  <a:gd name="T78" fmla="*/ 128 w 171"/>
                  <a:gd name="T79" fmla="*/ 141 h 323"/>
                  <a:gd name="T80" fmla="*/ 118 w 171"/>
                  <a:gd name="T81" fmla="*/ 152 h 323"/>
                  <a:gd name="T82" fmla="*/ 54 w 171"/>
                  <a:gd name="T83" fmla="*/ 152 h 323"/>
                  <a:gd name="T84" fmla="*/ 43 w 171"/>
                  <a:gd name="T85" fmla="*/ 141 h 323"/>
                  <a:gd name="T86" fmla="*/ 54 w 171"/>
                  <a:gd name="T87" fmla="*/ 131 h 323"/>
                  <a:gd name="T88" fmla="*/ 118 w 171"/>
                  <a:gd name="T89" fmla="*/ 131 h 323"/>
                  <a:gd name="T90" fmla="*/ 128 w 171"/>
                  <a:gd name="T91" fmla="*/ 248 h 323"/>
                  <a:gd name="T92" fmla="*/ 118 w 171"/>
                  <a:gd name="T93" fmla="*/ 259 h 323"/>
                  <a:gd name="T94" fmla="*/ 54 w 171"/>
                  <a:gd name="T95" fmla="*/ 259 h 323"/>
                  <a:gd name="T96" fmla="*/ 43 w 171"/>
                  <a:gd name="T97" fmla="*/ 248 h 323"/>
                  <a:gd name="T98" fmla="*/ 54 w 171"/>
                  <a:gd name="T99" fmla="*/ 237 h 323"/>
                  <a:gd name="T100" fmla="*/ 118 w 171"/>
                  <a:gd name="T101" fmla="*/ 237 h 323"/>
                  <a:gd name="T102" fmla="*/ 128 w 171"/>
                  <a:gd name="T103" fmla="*/ 24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1" h="323">
                    <a:moveTo>
                      <a:pt x="160" y="88"/>
                    </a:moveTo>
                    <a:cubicBezTo>
                      <a:pt x="128" y="88"/>
                      <a:pt x="128" y="88"/>
                      <a:pt x="128" y="88"/>
                    </a:cubicBezTo>
                    <a:cubicBezTo>
                      <a:pt x="128" y="35"/>
                      <a:pt x="128" y="35"/>
                      <a:pt x="128" y="35"/>
                    </a:cubicBezTo>
                    <a:cubicBezTo>
                      <a:pt x="128" y="35"/>
                      <a:pt x="128" y="35"/>
                      <a:pt x="128" y="35"/>
                    </a:cubicBezTo>
                    <a:cubicBezTo>
                      <a:pt x="133" y="35"/>
                      <a:pt x="137" y="31"/>
                      <a:pt x="138" y="27"/>
                    </a:cubicBezTo>
                    <a:cubicBezTo>
                      <a:pt x="140" y="21"/>
                      <a:pt x="138" y="14"/>
                      <a:pt x="132" y="12"/>
                    </a:cubicBezTo>
                    <a:cubicBezTo>
                      <a:pt x="103" y="0"/>
                      <a:pt x="69" y="0"/>
                      <a:pt x="39" y="12"/>
                    </a:cubicBezTo>
                    <a:cubicBezTo>
                      <a:pt x="34" y="14"/>
                      <a:pt x="31" y="20"/>
                      <a:pt x="33" y="25"/>
                    </a:cubicBezTo>
                    <a:cubicBezTo>
                      <a:pt x="35" y="30"/>
                      <a:pt x="39" y="32"/>
                      <a:pt x="43" y="32"/>
                    </a:cubicBezTo>
                    <a:cubicBezTo>
                      <a:pt x="43" y="88"/>
                      <a:pt x="43" y="88"/>
                      <a:pt x="43" y="88"/>
                    </a:cubicBezTo>
                    <a:cubicBezTo>
                      <a:pt x="11" y="88"/>
                      <a:pt x="11" y="88"/>
                      <a:pt x="11" y="88"/>
                    </a:cubicBezTo>
                    <a:cubicBezTo>
                      <a:pt x="5" y="88"/>
                      <a:pt x="0" y="93"/>
                      <a:pt x="0" y="99"/>
                    </a:cubicBezTo>
                    <a:cubicBezTo>
                      <a:pt x="0" y="291"/>
                      <a:pt x="0" y="291"/>
                      <a:pt x="0" y="291"/>
                    </a:cubicBezTo>
                    <a:cubicBezTo>
                      <a:pt x="0" y="297"/>
                      <a:pt x="5" y="301"/>
                      <a:pt x="11" y="301"/>
                    </a:cubicBezTo>
                    <a:cubicBezTo>
                      <a:pt x="22" y="301"/>
                      <a:pt x="22" y="301"/>
                      <a:pt x="22" y="301"/>
                    </a:cubicBezTo>
                    <a:cubicBezTo>
                      <a:pt x="22" y="312"/>
                      <a:pt x="22" y="312"/>
                      <a:pt x="22" y="312"/>
                    </a:cubicBezTo>
                    <a:cubicBezTo>
                      <a:pt x="22" y="318"/>
                      <a:pt x="26" y="323"/>
                      <a:pt x="32" y="323"/>
                    </a:cubicBezTo>
                    <a:cubicBezTo>
                      <a:pt x="38" y="323"/>
                      <a:pt x="43" y="318"/>
                      <a:pt x="43" y="312"/>
                    </a:cubicBezTo>
                    <a:cubicBezTo>
                      <a:pt x="43" y="301"/>
                      <a:pt x="43" y="301"/>
                      <a:pt x="43" y="301"/>
                    </a:cubicBezTo>
                    <a:cubicBezTo>
                      <a:pt x="128" y="301"/>
                      <a:pt x="128" y="301"/>
                      <a:pt x="128" y="301"/>
                    </a:cubicBezTo>
                    <a:cubicBezTo>
                      <a:pt x="128" y="312"/>
                      <a:pt x="128" y="312"/>
                      <a:pt x="128" y="312"/>
                    </a:cubicBezTo>
                    <a:cubicBezTo>
                      <a:pt x="128" y="318"/>
                      <a:pt x="133" y="323"/>
                      <a:pt x="139" y="323"/>
                    </a:cubicBezTo>
                    <a:cubicBezTo>
                      <a:pt x="145" y="323"/>
                      <a:pt x="150" y="318"/>
                      <a:pt x="150" y="312"/>
                    </a:cubicBezTo>
                    <a:cubicBezTo>
                      <a:pt x="150" y="301"/>
                      <a:pt x="150" y="301"/>
                      <a:pt x="150" y="301"/>
                    </a:cubicBezTo>
                    <a:cubicBezTo>
                      <a:pt x="160" y="301"/>
                      <a:pt x="160" y="301"/>
                      <a:pt x="160" y="301"/>
                    </a:cubicBezTo>
                    <a:cubicBezTo>
                      <a:pt x="166" y="301"/>
                      <a:pt x="171" y="297"/>
                      <a:pt x="171" y="291"/>
                    </a:cubicBezTo>
                    <a:cubicBezTo>
                      <a:pt x="171" y="99"/>
                      <a:pt x="171" y="99"/>
                      <a:pt x="171" y="99"/>
                    </a:cubicBezTo>
                    <a:cubicBezTo>
                      <a:pt x="171" y="93"/>
                      <a:pt x="166" y="88"/>
                      <a:pt x="160" y="88"/>
                    </a:cubicBezTo>
                    <a:close/>
                    <a:moveTo>
                      <a:pt x="64" y="26"/>
                    </a:moveTo>
                    <a:cubicBezTo>
                      <a:pt x="78" y="23"/>
                      <a:pt x="93" y="23"/>
                      <a:pt x="107" y="26"/>
                    </a:cubicBezTo>
                    <a:cubicBezTo>
                      <a:pt x="107" y="88"/>
                      <a:pt x="107" y="88"/>
                      <a:pt x="107" y="88"/>
                    </a:cubicBezTo>
                    <a:cubicBezTo>
                      <a:pt x="64" y="88"/>
                      <a:pt x="64" y="88"/>
                      <a:pt x="64" y="88"/>
                    </a:cubicBezTo>
                    <a:lnTo>
                      <a:pt x="64" y="26"/>
                    </a:lnTo>
                    <a:close/>
                    <a:moveTo>
                      <a:pt x="150" y="280"/>
                    </a:moveTo>
                    <a:cubicBezTo>
                      <a:pt x="22" y="280"/>
                      <a:pt x="22" y="280"/>
                      <a:pt x="22" y="280"/>
                    </a:cubicBezTo>
                    <a:cubicBezTo>
                      <a:pt x="22" y="109"/>
                      <a:pt x="22" y="109"/>
                      <a:pt x="22" y="109"/>
                    </a:cubicBezTo>
                    <a:cubicBezTo>
                      <a:pt x="150" y="109"/>
                      <a:pt x="150" y="109"/>
                      <a:pt x="150" y="109"/>
                    </a:cubicBezTo>
                    <a:lnTo>
                      <a:pt x="150" y="280"/>
                    </a:lnTo>
                    <a:close/>
                    <a:moveTo>
                      <a:pt x="118" y="131"/>
                    </a:moveTo>
                    <a:cubicBezTo>
                      <a:pt x="124" y="131"/>
                      <a:pt x="128" y="135"/>
                      <a:pt x="128" y="141"/>
                    </a:cubicBezTo>
                    <a:cubicBezTo>
                      <a:pt x="128" y="147"/>
                      <a:pt x="124" y="152"/>
                      <a:pt x="118" y="152"/>
                    </a:cubicBezTo>
                    <a:cubicBezTo>
                      <a:pt x="54" y="152"/>
                      <a:pt x="54" y="152"/>
                      <a:pt x="54" y="152"/>
                    </a:cubicBezTo>
                    <a:cubicBezTo>
                      <a:pt x="48" y="152"/>
                      <a:pt x="43" y="147"/>
                      <a:pt x="43" y="141"/>
                    </a:cubicBezTo>
                    <a:cubicBezTo>
                      <a:pt x="43" y="135"/>
                      <a:pt x="48" y="131"/>
                      <a:pt x="54" y="131"/>
                    </a:cubicBezTo>
                    <a:lnTo>
                      <a:pt x="118" y="131"/>
                    </a:lnTo>
                    <a:close/>
                    <a:moveTo>
                      <a:pt x="128" y="248"/>
                    </a:moveTo>
                    <a:cubicBezTo>
                      <a:pt x="128" y="254"/>
                      <a:pt x="124" y="259"/>
                      <a:pt x="118" y="259"/>
                    </a:cubicBezTo>
                    <a:cubicBezTo>
                      <a:pt x="54" y="259"/>
                      <a:pt x="54" y="259"/>
                      <a:pt x="54" y="259"/>
                    </a:cubicBezTo>
                    <a:cubicBezTo>
                      <a:pt x="48" y="259"/>
                      <a:pt x="43" y="254"/>
                      <a:pt x="43" y="248"/>
                    </a:cubicBezTo>
                    <a:cubicBezTo>
                      <a:pt x="43" y="242"/>
                      <a:pt x="48" y="237"/>
                      <a:pt x="54" y="237"/>
                    </a:cubicBezTo>
                    <a:cubicBezTo>
                      <a:pt x="118" y="237"/>
                      <a:pt x="118" y="237"/>
                      <a:pt x="118" y="237"/>
                    </a:cubicBezTo>
                    <a:cubicBezTo>
                      <a:pt x="124" y="237"/>
                      <a:pt x="128" y="242"/>
                      <a:pt x="128" y="2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 name="Group 784"/>
            <p:cNvGrpSpPr>
              <a:grpSpLocks noChangeAspect="1"/>
            </p:cNvGrpSpPr>
            <p:nvPr/>
          </p:nvGrpSpPr>
          <p:grpSpPr bwMode="auto">
            <a:xfrm>
              <a:off x="1700839" y="4127477"/>
              <a:ext cx="435600" cy="435600"/>
              <a:chOff x="2657" y="3361"/>
              <a:chExt cx="340" cy="340"/>
            </a:xfrm>
            <a:solidFill>
              <a:srgbClr val="00A0DE"/>
            </a:solidFill>
          </p:grpSpPr>
          <p:sp>
            <p:nvSpPr>
              <p:cNvPr id="31" name="Freeform 785"/>
              <p:cNvSpPr>
                <a:spLocks noEditPoints="1"/>
              </p:cNvSpPr>
              <p:nvPr/>
            </p:nvSpPr>
            <p:spPr bwMode="auto">
              <a:xfrm>
                <a:off x="2721" y="3439"/>
                <a:ext cx="212" cy="170"/>
              </a:xfrm>
              <a:custGeom>
                <a:avLst/>
                <a:gdLst>
                  <a:gd name="T0" fmla="*/ 313 w 320"/>
                  <a:gd name="T1" fmla="*/ 33 h 257"/>
                  <a:gd name="T2" fmla="*/ 239 w 320"/>
                  <a:gd name="T3" fmla="*/ 1 h 257"/>
                  <a:gd name="T4" fmla="*/ 230 w 320"/>
                  <a:gd name="T5" fmla="*/ 1 h 257"/>
                  <a:gd name="T6" fmla="*/ 160 w 320"/>
                  <a:gd name="T7" fmla="*/ 31 h 257"/>
                  <a:gd name="T8" fmla="*/ 89 w 320"/>
                  <a:gd name="T9" fmla="*/ 1 h 257"/>
                  <a:gd name="T10" fmla="*/ 81 w 320"/>
                  <a:gd name="T11" fmla="*/ 1 h 257"/>
                  <a:gd name="T12" fmla="*/ 6 w 320"/>
                  <a:gd name="T13" fmla="*/ 33 h 257"/>
                  <a:gd name="T14" fmla="*/ 0 w 320"/>
                  <a:gd name="T15" fmla="*/ 43 h 257"/>
                  <a:gd name="T16" fmla="*/ 0 w 320"/>
                  <a:gd name="T17" fmla="*/ 245 h 257"/>
                  <a:gd name="T18" fmla="*/ 4 w 320"/>
                  <a:gd name="T19" fmla="*/ 254 h 257"/>
                  <a:gd name="T20" fmla="*/ 15 w 320"/>
                  <a:gd name="T21" fmla="*/ 255 h 257"/>
                  <a:gd name="T22" fmla="*/ 85 w 320"/>
                  <a:gd name="T23" fmla="*/ 225 h 257"/>
                  <a:gd name="T24" fmla="*/ 155 w 320"/>
                  <a:gd name="T25" fmla="*/ 255 h 257"/>
                  <a:gd name="T26" fmla="*/ 164 w 320"/>
                  <a:gd name="T27" fmla="*/ 255 h 257"/>
                  <a:gd name="T28" fmla="*/ 234 w 320"/>
                  <a:gd name="T29" fmla="*/ 225 h 257"/>
                  <a:gd name="T30" fmla="*/ 305 w 320"/>
                  <a:gd name="T31" fmla="*/ 255 h 257"/>
                  <a:gd name="T32" fmla="*/ 309 w 320"/>
                  <a:gd name="T33" fmla="*/ 256 h 257"/>
                  <a:gd name="T34" fmla="*/ 315 w 320"/>
                  <a:gd name="T35" fmla="*/ 254 h 257"/>
                  <a:gd name="T36" fmla="*/ 320 w 320"/>
                  <a:gd name="T37" fmla="*/ 245 h 257"/>
                  <a:gd name="T38" fmla="*/ 320 w 320"/>
                  <a:gd name="T39" fmla="*/ 43 h 257"/>
                  <a:gd name="T40" fmla="*/ 313 w 320"/>
                  <a:gd name="T41" fmla="*/ 33 h 257"/>
                  <a:gd name="T42" fmla="*/ 96 w 320"/>
                  <a:gd name="T43" fmla="*/ 27 h 257"/>
                  <a:gd name="T44" fmla="*/ 149 w 320"/>
                  <a:gd name="T45" fmla="*/ 50 h 257"/>
                  <a:gd name="T46" fmla="*/ 149 w 320"/>
                  <a:gd name="T47" fmla="*/ 229 h 257"/>
                  <a:gd name="T48" fmla="*/ 96 w 320"/>
                  <a:gd name="T49" fmla="*/ 206 h 257"/>
                  <a:gd name="T50" fmla="*/ 96 w 320"/>
                  <a:gd name="T51" fmla="*/ 27 h 257"/>
                  <a:gd name="T52" fmla="*/ 170 w 320"/>
                  <a:gd name="T53" fmla="*/ 50 h 257"/>
                  <a:gd name="T54" fmla="*/ 224 w 320"/>
                  <a:gd name="T55" fmla="*/ 27 h 257"/>
                  <a:gd name="T56" fmla="*/ 224 w 320"/>
                  <a:gd name="T57" fmla="*/ 206 h 257"/>
                  <a:gd name="T58" fmla="*/ 170 w 320"/>
                  <a:gd name="T59" fmla="*/ 229 h 257"/>
                  <a:gd name="T60" fmla="*/ 170 w 320"/>
                  <a:gd name="T61" fmla="*/ 50 h 257"/>
                  <a:gd name="T62" fmla="*/ 21 w 320"/>
                  <a:gd name="T63" fmla="*/ 50 h 257"/>
                  <a:gd name="T64" fmla="*/ 74 w 320"/>
                  <a:gd name="T65" fmla="*/ 27 h 257"/>
                  <a:gd name="T66" fmla="*/ 74 w 320"/>
                  <a:gd name="T67" fmla="*/ 206 h 257"/>
                  <a:gd name="T68" fmla="*/ 21 w 320"/>
                  <a:gd name="T69" fmla="*/ 229 h 257"/>
                  <a:gd name="T70" fmla="*/ 21 w 320"/>
                  <a:gd name="T71" fmla="*/ 50 h 257"/>
                  <a:gd name="T72" fmla="*/ 298 w 320"/>
                  <a:gd name="T73" fmla="*/ 229 h 257"/>
                  <a:gd name="T74" fmla="*/ 245 w 320"/>
                  <a:gd name="T75" fmla="*/ 206 h 257"/>
                  <a:gd name="T76" fmla="*/ 245 w 320"/>
                  <a:gd name="T77" fmla="*/ 27 h 257"/>
                  <a:gd name="T78" fmla="*/ 298 w 320"/>
                  <a:gd name="T79" fmla="*/ 50 h 257"/>
                  <a:gd name="T80" fmla="*/ 298 w 320"/>
                  <a:gd name="T8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57">
                    <a:moveTo>
                      <a:pt x="313" y="33"/>
                    </a:moveTo>
                    <a:cubicBezTo>
                      <a:pt x="239" y="1"/>
                      <a:pt x="239" y="1"/>
                      <a:pt x="239" y="1"/>
                    </a:cubicBezTo>
                    <a:cubicBezTo>
                      <a:pt x="236" y="0"/>
                      <a:pt x="233" y="0"/>
                      <a:pt x="230" y="1"/>
                    </a:cubicBezTo>
                    <a:cubicBezTo>
                      <a:pt x="160" y="31"/>
                      <a:pt x="160" y="31"/>
                      <a:pt x="160" y="31"/>
                    </a:cubicBezTo>
                    <a:cubicBezTo>
                      <a:pt x="89" y="1"/>
                      <a:pt x="89" y="1"/>
                      <a:pt x="89" y="1"/>
                    </a:cubicBezTo>
                    <a:cubicBezTo>
                      <a:pt x="87" y="0"/>
                      <a:pt x="83" y="0"/>
                      <a:pt x="81" y="1"/>
                    </a:cubicBezTo>
                    <a:cubicBezTo>
                      <a:pt x="6" y="33"/>
                      <a:pt x="6" y="33"/>
                      <a:pt x="6" y="33"/>
                    </a:cubicBezTo>
                    <a:cubicBezTo>
                      <a:pt x="2" y="35"/>
                      <a:pt x="0" y="38"/>
                      <a:pt x="0" y="43"/>
                    </a:cubicBezTo>
                    <a:cubicBezTo>
                      <a:pt x="0" y="245"/>
                      <a:pt x="0" y="245"/>
                      <a:pt x="0" y="245"/>
                    </a:cubicBezTo>
                    <a:cubicBezTo>
                      <a:pt x="0" y="249"/>
                      <a:pt x="1" y="252"/>
                      <a:pt x="4" y="254"/>
                    </a:cubicBezTo>
                    <a:cubicBezTo>
                      <a:pt x="7" y="256"/>
                      <a:pt x="11" y="257"/>
                      <a:pt x="15" y="255"/>
                    </a:cubicBezTo>
                    <a:cubicBezTo>
                      <a:pt x="85" y="225"/>
                      <a:pt x="85" y="225"/>
                      <a:pt x="85" y="225"/>
                    </a:cubicBezTo>
                    <a:cubicBezTo>
                      <a:pt x="155" y="255"/>
                      <a:pt x="155" y="255"/>
                      <a:pt x="155" y="255"/>
                    </a:cubicBezTo>
                    <a:cubicBezTo>
                      <a:pt x="158" y="256"/>
                      <a:pt x="161" y="256"/>
                      <a:pt x="164" y="255"/>
                    </a:cubicBezTo>
                    <a:cubicBezTo>
                      <a:pt x="234" y="225"/>
                      <a:pt x="234" y="225"/>
                      <a:pt x="234" y="225"/>
                    </a:cubicBezTo>
                    <a:cubicBezTo>
                      <a:pt x="305" y="255"/>
                      <a:pt x="305" y="255"/>
                      <a:pt x="305" y="255"/>
                    </a:cubicBezTo>
                    <a:cubicBezTo>
                      <a:pt x="306" y="256"/>
                      <a:pt x="308" y="256"/>
                      <a:pt x="309" y="256"/>
                    </a:cubicBezTo>
                    <a:cubicBezTo>
                      <a:pt x="311" y="256"/>
                      <a:pt x="313" y="255"/>
                      <a:pt x="315" y="254"/>
                    </a:cubicBezTo>
                    <a:cubicBezTo>
                      <a:pt x="318" y="252"/>
                      <a:pt x="320" y="249"/>
                      <a:pt x="320" y="245"/>
                    </a:cubicBezTo>
                    <a:cubicBezTo>
                      <a:pt x="320" y="43"/>
                      <a:pt x="320" y="43"/>
                      <a:pt x="320" y="43"/>
                    </a:cubicBezTo>
                    <a:cubicBezTo>
                      <a:pt x="320" y="38"/>
                      <a:pt x="317" y="35"/>
                      <a:pt x="313" y="33"/>
                    </a:cubicBezTo>
                    <a:close/>
                    <a:moveTo>
                      <a:pt x="96" y="27"/>
                    </a:moveTo>
                    <a:cubicBezTo>
                      <a:pt x="149" y="50"/>
                      <a:pt x="149" y="50"/>
                      <a:pt x="149" y="50"/>
                    </a:cubicBezTo>
                    <a:cubicBezTo>
                      <a:pt x="149" y="229"/>
                      <a:pt x="149" y="229"/>
                      <a:pt x="149" y="229"/>
                    </a:cubicBezTo>
                    <a:cubicBezTo>
                      <a:pt x="96" y="206"/>
                      <a:pt x="96" y="206"/>
                      <a:pt x="96" y="206"/>
                    </a:cubicBezTo>
                    <a:lnTo>
                      <a:pt x="96" y="27"/>
                    </a:lnTo>
                    <a:close/>
                    <a:moveTo>
                      <a:pt x="170" y="50"/>
                    </a:moveTo>
                    <a:cubicBezTo>
                      <a:pt x="224" y="27"/>
                      <a:pt x="224" y="27"/>
                      <a:pt x="224" y="27"/>
                    </a:cubicBezTo>
                    <a:cubicBezTo>
                      <a:pt x="224" y="206"/>
                      <a:pt x="224" y="206"/>
                      <a:pt x="224" y="206"/>
                    </a:cubicBezTo>
                    <a:cubicBezTo>
                      <a:pt x="170" y="229"/>
                      <a:pt x="170" y="229"/>
                      <a:pt x="170" y="229"/>
                    </a:cubicBezTo>
                    <a:lnTo>
                      <a:pt x="170" y="50"/>
                    </a:lnTo>
                    <a:close/>
                    <a:moveTo>
                      <a:pt x="21" y="50"/>
                    </a:moveTo>
                    <a:cubicBezTo>
                      <a:pt x="74" y="27"/>
                      <a:pt x="74" y="27"/>
                      <a:pt x="74" y="27"/>
                    </a:cubicBezTo>
                    <a:cubicBezTo>
                      <a:pt x="74" y="206"/>
                      <a:pt x="74" y="206"/>
                      <a:pt x="74" y="206"/>
                    </a:cubicBezTo>
                    <a:cubicBezTo>
                      <a:pt x="21" y="229"/>
                      <a:pt x="21" y="229"/>
                      <a:pt x="21" y="229"/>
                    </a:cubicBezTo>
                    <a:lnTo>
                      <a:pt x="21" y="50"/>
                    </a:lnTo>
                    <a:close/>
                    <a:moveTo>
                      <a:pt x="298" y="229"/>
                    </a:moveTo>
                    <a:cubicBezTo>
                      <a:pt x="245" y="206"/>
                      <a:pt x="245" y="206"/>
                      <a:pt x="245" y="206"/>
                    </a:cubicBezTo>
                    <a:cubicBezTo>
                      <a:pt x="245" y="27"/>
                      <a:pt x="245" y="27"/>
                      <a:pt x="245" y="27"/>
                    </a:cubicBezTo>
                    <a:cubicBezTo>
                      <a:pt x="298" y="50"/>
                      <a:pt x="298" y="50"/>
                      <a:pt x="298" y="50"/>
                    </a:cubicBezTo>
                    <a:lnTo>
                      <a:pt x="298" y="2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786"/>
              <p:cNvSpPr>
                <a:spLocks noEditPoints="1"/>
              </p:cNvSpPr>
              <p:nvPr/>
            </p:nvSpPr>
            <p:spPr bwMode="auto">
              <a:xfrm>
                <a:off x="2657" y="33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3" name="TextBox 32"/>
          <p:cNvSpPr txBox="1"/>
          <p:nvPr/>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en-GB" sz="700" noProof="0" dirty="0">
                <a:solidFill>
                  <a:schemeClr val="bg1"/>
                </a:solidFill>
              </a:rPr>
              <a:t>© 2018 Deloitte Touche Tohmatsu India LLP</a:t>
            </a:r>
          </a:p>
        </p:txBody>
      </p:sp>
    </p:spTree>
    <p:extLst>
      <p:ext uri="{BB962C8B-B14F-4D97-AF65-F5344CB8AC3E}">
        <p14:creationId xmlns:p14="http://schemas.microsoft.com/office/powerpoint/2010/main" val="24101084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5877987" y="57154"/>
            <a:ext cx="456225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7" name="Straight Connector 1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Assistance over the project lifecycle</a:t>
            </a:r>
          </a:p>
        </p:txBody>
      </p:sp>
      <p:sp>
        <p:nvSpPr>
          <p:cNvPr id="8" name="Text Placeholder 1"/>
          <p:cNvSpPr>
            <a:spLocks noGrp="1"/>
          </p:cNvSpPr>
          <p:nvPr>
            <p:ph type="body" sz="quarter" idx="4294967295"/>
          </p:nvPr>
        </p:nvSpPr>
        <p:spPr>
          <a:xfrm>
            <a:off x="344448" y="893775"/>
            <a:ext cx="11247120" cy="335853"/>
          </a:xfrm>
          <a:prstGeom prst="rect">
            <a:avLst/>
          </a:prstGeom>
        </p:spPr>
        <p:txBody>
          <a:bodyPr vert="horz" lIns="0" tIns="0" rIns="0" bIns="0" rtlCol="0">
            <a:noAutofit/>
          </a:bodyPr>
          <a:lstStyle/>
          <a:p>
            <a:pPr defTabSz="935830" fontAlgn="base">
              <a:lnSpc>
                <a:spcPct val="130000"/>
              </a:lnSpc>
              <a:spcBef>
                <a:spcPts val="1228"/>
              </a:spcBef>
              <a:spcAft>
                <a:spcPct val="0"/>
              </a:spcAft>
              <a:defRPr/>
            </a:pPr>
            <a:r>
              <a:rPr lang="en-US" sz="1400" b="1" dirty="0">
                <a:solidFill>
                  <a:schemeClr val="accent2"/>
                </a:solidFill>
                <a:latin typeface="Verdana" panose="020B0604030504040204" pitchFamily="34" charset="0"/>
                <a:ea typeface="Verdana" panose="020B0604030504040204" pitchFamily="34" charset="0"/>
                <a:cs typeface="Verdana" panose="020B0604030504040204" pitchFamily="34" charset="0"/>
              </a:rPr>
              <a:t>Need to address below mentioned areas in order to develop a winning bid strategy</a:t>
            </a:r>
          </a:p>
        </p:txBody>
      </p:sp>
      <p:grpSp>
        <p:nvGrpSpPr>
          <p:cNvPr id="9" name="Group 8"/>
          <p:cNvGrpSpPr/>
          <p:nvPr/>
        </p:nvGrpSpPr>
        <p:grpSpPr>
          <a:xfrm>
            <a:off x="5527017" y="1354544"/>
            <a:ext cx="5680993" cy="5044515"/>
            <a:chOff x="7302300" y="1413243"/>
            <a:chExt cx="5793232" cy="5044515"/>
          </a:xfrm>
        </p:grpSpPr>
        <p:sp>
          <p:nvSpPr>
            <p:cNvPr id="10" name="Rectangle 9"/>
            <p:cNvSpPr/>
            <p:nvPr/>
          </p:nvSpPr>
          <p:spPr>
            <a:xfrm>
              <a:off x="9816529" y="2477204"/>
              <a:ext cx="3279003" cy="615553"/>
            </a:xfrm>
            <a:prstGeom prst="rect">
              <a:avLst/>
            </a:prstGeom>
          </p:spPr>
          <p:txBody>
            <a:bodyPr wrap="square" lIns="0" tIns="0" rIns="0" bIns="0">
              <a:spAutoFit/>
            </a:bodyPr>
            <a:lstStyle/>
            <a:p>
              <a:r>
                <a:rPr lang="en-US" sz="1600" b="1" dirty="0">
                  <a:solidFill>
                    <a:schemeClr val="accent4"/>
                  </a:solidFill>
                  <a:latin typeface="Verdana" panose="020B0604030504040204" pitchFamily="34" charset="0"/>
                  <a:ea typeface="Verdana" panose="020B0604030504040204" pitchFamily="34" charset="0"/>
                  <a:cs typeface="Verdana" panose="020B0604030504040204" pitchFamily="34" charset="0"/>
                </a:rPr>
                <a:t>ITERATIVE PROCESS</a:t>
              </a:r>
              <a:br>
                <a:rPr lang="en-US" sz="2400" b="1" dirty="0">
                  <a:solidFill>
                    <a:schemeClr val="accent4"/>
                  </a:solidFill>
                  <a:latin typeface="Verdana" panose="020B0604030504040204" pitchFamily="34" charset="0"/>
                  <a:ea typeface="Verdana" panose="020B0604030504040204" pitchFamily="34" charset="0"/>
                  <a:cs typeface="Verdana" panose="020B0604030504040204" pitchFamily="34" charset="0"/>
                </a:rPr>
              </a:br>
              <a:endParaRPr lang="en-US" sz="2400" b="1" dirty="0">
                <a:solidFill>
                  <a:schemeClr val="accent4"/>
                </a:solidFill>
                <a:latin typeface="Verdana" panose="020B0604030504040204" pitchFamily="34" charset="0"/>
                <a:ea typeface="Verdana" panose="020B0604030504040204" pitchFamily="34" charset="0"/>
                <a:cs typeface="Verdana" panose="020B0604030504040204" pitchFamily="34" charset="0"/>
              </a:endParaRPr>
            </a:p>
          </p:txBody>
        </p:sp>
        <p:grpSp>
          <p:nvGrpSpPr>
            <p:cNvPr id="12" name="Group 11"/>
            <p:cNvGrpSpPr/>
            <p:nvPr/>
          </p:nvGrpSpPr>
          <p:grpSpPr>
            <a:xfrm>
              <a:off x="7302300" y="1413243"/>
              <a:ext cx="4948723" cy="5044515"/>
              <a:chOff x="7302300" y="1413243"/>
              <a:chExt cx="4948723" cy="5044515"/>
            </a:xfrm>
          </p:grpSpPr>
          <p:grpSp>
            <p:nvGrpSpPr>
              <p:cNvPr id="13" name="Group 12"/>
              <p:cNvGrpSpPr/>
              <p:nvPr/>
            </p:nvGrpSpPr>
            <p:grpSpPr>
              <a:xfrm>
                <a:off x="7302300" y="1692339"/>
                <a:ext cx="3284128" cy="3120768"/>
                <a:chOff x="4508346" y="864226"/>
                <a:chExt cx="3405787" cy="3120768"/>
              </a:xfrm>
            </p:grpSpPr>
            <p:sp>
              <p:nvSpPr>
                <p:cNvPr id="27" name="Rectangle 7"/>
                <p:cNvSpPr/>
                <p:nvPr/>
              </p:nvSpPr>
              <p:spPr>
                <a:xfrm rot="3173193">
                  <a:off x="5314447" y="2083426"/>
                  <a:ext cx="2865120" cy="426720"/>
                </a:xfrm>
                <a:custGeom>
                  <a:avLst/>
                  <a:gdLst>
                    <a:gd name="connsiteX0" fmla="*/ 0 w 2865120"/>
                    <a:gd name="connsiteY0" fmla="*/ 0 h 426720"/>
                    <a:gd name="connsiteX1" fmla="*/ 2865120 w 2865120"/>
                    <a:gd name="connsiteY1" fmla="*/ 0 h 426720"/>
                    <a:gd name="connsiteX2" fmla="*/ 2865120 w 2865120"/>
                    <a:gd name="connsiteY2" fmla="*/ 426720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865120 w 2865120"/>
                    <a:gd name="connsiteY2" fmla="*/ 426720 h 426720"/>
                    <a:gd name="connsiteX3" fmla="*/ 251466 w 2865120"/>
                    <a:gd name="connsiteY3" fmla="*/ 425884 h 426720"/>
                    <a:gd name="connsiteX4" fmla="*/ 0 w 2865120"/>
                    <a:gd name="connsiteY4" fmla="*/ 0 h 426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5120" h="426720">
                      <a:moveTo>
                        <a:pt x="0" y="0"/>
                      </a:moveTo>
                      <a:lnTo>
                        <a:pt x="2865120" y="0"/>
                      </a:lnTo>
                      <a:lnTo>
                        <a:pt x="2865120" y="426720"/>
                      </a:lnTo>
                      <a:lnTo>
                        <a:pt x="251466" y="425884"/>
                      </a:lnTo>
                      <a:lnTo>
                        <a:pt x="0" y="0"/>
                      </a:lnTo>
                      <a:close/>
                    </a:path>
                  </a:pathLst>
                </a:custGeom>
                <a:solidFill>
                  <a:srgbClr val="00A1DE"/>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sp>
              <p:nvSpPr>
                <p:cNvPr id="28" name="Rectangle 9"/>
                <p:cNvSpPr/>
                <p:nvPr/>
              </p:nvSpPr>
              <p:spPr>
                <a:xfrm rot="17989464">
                  <a:off x="3986255" y="2133482"/>
                  <a:ext cx="2811657" cy="429008"/>
                </a:xfrm>
                <a:custGeom>
                  <a:avLst/>
                  <a:gdLst>
                    <a:gd name="connsiteX0" fmla="*/ 0 w 2865120"/>
                    <a:gd name="connsiteY0" fmla="*/ 0 h 426720"/>
                    <a:gd name="connsiteX1" fmla="*/ 2865120 w 2865120"/>
                    <a:gd name="connsiteY1" fmla="*/ 0 h 426720"/>
                    <a:gd name="connsiteX2" fmla="*/ 2865120 w 2865120"/>
                    <a:gd name="connsiteY2" fmla="*/ 426720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621134 w 2865120"/>
                    <a:gd name="connsiteY2" fmla="*/ 412882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629397 w 2865120"/>
                    <a:gd name="connsiteY2" fmla="*/ 408146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627911 w 2865120"/>
                    <a:gd name="connsiteY2" fmla="*/ 400765 h 426720"/>
                    <a:gd name="connsiteX3" fmla="*/ 0 w 2865120"/>
                    <a:gd name="connsiteY3" fmla="*/ 426720 h 426720"/>
                    <a:gd name="connsiteX4" fmla="*/ 0 w 2865120"/>
                    <a:gd name="connsiteY4" fmla="*/ 0 h 426720"/>
                    <a:gd name="connsiteX0" fmla="*/ 0 w 2832921"/>
                    <a:gd name="connsiteY0" fmla="*/ 3499 h 430219"/>
                    <a:gd name="connsiteX1" fmla="*/ 2832921 w 2832921"/>
                    <a:gd name="connsiteY1" fmla="*/ 0 h 430219"/>
                    <a:gd name="connsiteX2" fmla="*/ 2627911 w 2832921"/>
                    <a:gd name="connsiteY2" fmla="*/ 404264 h 430219"/>
                    <a:gd name="connsiteX3" fmla="*/ 0 w 2832921"/>
                    <a:gd name="connsiteY3" fmla="*/ 430219 h 430219"/>
                    <a:gd name="connsiteX4" fmla="*/ 0 w 2832921"/>
                    <a:gd name="connsiteY4" fmla="*/ 3499 h 430219"/>
                    <a:gd name="connsiteX0" fmla="*/ 0 w 2832921"/>
                    <a:gd name="connsiteY0" fmla="*/ 3499 h 430219"/>
                    <a:gd name="connsiteX1" fmla="*/ 2832921 w 2832921"/>
                    <a:gd name="connsiteY1" fmla="*/ 0 h 430219"/>
                    <a:gd name="connsiteX2" fmla="*/ 2620823 w 2832921"/>
                    <a:gd name="connsiteY2" fmla="*/ 404668 h 430219"/>
                    <a:gd name="connsiteX3" fmla="*/ 0 w 2832921"/>
                    <a:gd name="connsiteY3" fmla="*/ 430219 h 430219"/>
                    <a:gd name="connsiteX4" fmla="*/ 0 w 2832921"/>
                    <a:gd name="connsiteY4" fmla="*/ 3499 h 430219"/>
                    <a:gd name="connsiteX0" fmla="*/ 0 w 2811657"/>
                    <a:gd name="connsiteY0" fmla="*/ 2288 h 429008"/>
                    <a:gd name="connsiteX1" fmla="*/ 2811657 w 2811657"/>
                    <a:gd name="connsiteY1" fmla="*/ 0 h 429008"/>
                    <a:gd name="connsiteX2" fmla="*/ 2620823 w 2811657"/>
                    <a:gd name="connsiteY2" fmla="*/ 403457 h 429008"/>
                    <a:gd name="connsiteX3" fmla="*/ 0 w 2811657"/>
                    <a:gd name="connsiteY3" fmla="*/ 429008 h 429008"/>
                    <a:gd name="connsiteX4" fmla="*/ 0 w 2811657"/>
                    <a:gd name="connsiteY4" fmla="*/ 2288 h 429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657" h="429008">
                      <a:moveTo>
                        <a:pt x="0" y="2288"/>
                      </a:moveTo>
                      <a:lnTo>
                        <a:pt x="2811657" y="0"/>
                      </a:lnTo>
                      <a:lnTo>
                        <a:pt x="2620823" y="403457"/>
                      </a:lnTo>
                      <a:lnTo>
                        <a:pt x="0" y="429008"/>
                      </a:lnTo>
                      <a:lnTo>
                        <a:pt x="0" y="2288"/>
                      </a:lnTo>
                      <a:close/>
                    </a:path>
                  </a:pathLst>
                </a:custGeom>
                <a:solidFill>
                  <a:srgbClr val="72C7E7"/>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sp>
              <p:nvSpPr>
                <p:cNvPr id="29" name="Rectangle 5"/>
                <p:cNvSpPr/>
                <p:nvPr/>
              </p:nvSpPr>
              <p:spPr>
                <a:xfrm>
                  <a:off x="4508346" y="3337561"/>
                  <a:ext cx="3121343" cy="431483"/>
                </a:xfrm>
                <a:custGeom>
                  <a:avLst/>
                  <a:gdLst>
                    <a:gd name="connsiteX0" fmla="*/ 0 w 3040380"/>
                    <a:gd name="connsiteY0" fmla="*/ 0 h 426720"/>
                    <a:gd name="connsiteX1" fmla="*/ 3040380 w 3040380"/>
                    <a:gd name="connsiteY1" fmla="*/ 0 h 426720"/>
                    <a:gd name="connsiteX2" fmla="*/ 3040380 w 3040380"/>
                    <a:gd name="connsiteY2" fmla="*/ 426720 h 426720"/>
                    <a:gd name="connsiteX3" fmla="*/ 0 w 3040380"/>
                    <a:gd name="connsiteY3" fmla="*/ 426720 h 426720"/>
                    <a:gd name="connsiteX4" fmla="*/ 0 w 3040380"/>
                    <a:gd name="connsiteY4" fmla="*/ 0 h 426720"/>
                    <a:gd name="connsiteX0" fmla="*/ 228600 w 3040380"/>
                    <a:gd name="connsiteY0" fmla="*/ 7620 h 426720"/>
                    <a:gd name="connsiteX1" fmla="*/ 3040380 w 3040380"/>
                    <a:gd name="connsiteY1" fmla="*/ 0 h 426720"/>
                    <a:gd name="connsiteX2" fmla="*/ 3040380 w 3040380"/>
                    <a:gd name="connsiteY2" fmla="*/ 426720 h 426720"/>
                    <a:gd name="connsiteX3" fmla="*/ 0 w 3040380"/>
                    <a:gd name="connsiteY3" fmla="*/ 426720 h 426720"/>
                    <a:gd name="connsiteX4" fmla="*/ 228600 w 3040380"/>
                    <a:gd name="connsiteY4" fmla="*/ 7620 h 426720"/>
                    <a:gd name="connsiteX0" fmla="*/ 247650 w 3040380"/>
                    <a:gd name="connsiteY0" fmla="*/ 2858 h 426720"/>
                    <a:gd name="connsiteX1" fmla="*/ 3040380 w 3040380"/>
                    <a:gd name="connsiteY1" fmla="*/ 0 h 426720"/>
                    <a:gd name="connsiteX2" fmla="*/ 3040380 w 3040380"/>
                    <a:gd name="connsiteY2" fmla="*/ 426720 h 426720"/>
                    <a:gd name="connsiteX3" fmla="*/ 0 w 3040380"/>
                    <a:gd name="connsiteY3" fmla="*/ 426720 h 426720"/>
                    <a:gd name="connsiteX4" fmla="*/ 247650 w 3040380"/>
                    <a:gd name="connsiteY4" fmla="*/ 2858 h 426720"/>
                    <a:gd name="connsiteX0" fmla="*/ 245269 w 3040380"/>
                    <a:gd name="connsiteY0" fmla="*/ 477 h 426720"/>
                    <a:gd name="connsiteX1" fmla="*/ 3040380 w 3040380"/>
                    <a:gd name="connsiteY1" fmla="*/ 0 h 426720"/>
                    <a:gd name="connsiteX2" fmla="*/ 3040380 w 3040380"/>
                    <a:gd name="connsiteY2" fmla="*/ 426720 h 426720"/>
                    <a:gd name="connsiteX3" fmla="*/ 0 w 3040380"/>
                    <a:gd name="connsiteY3" fmla="*/ 426720 h 426720"/>
                    <a:gd name="connsiteX4" fmla="*/ 245269 w 3040380"/>
                    <a:gd name="connsiteY4" fmla="*/ 477 h 426720"/>
                    <a:gd name="connsiteX0" fmla="*/ 245269 w 3121343"/>
                    <a:gd name="connsiteY0" fmla="*/ 477 h 431483"/>
                    <a:gd name="connsiteX1" fmla="*/ 3040380 w 3121343"/>
                    <a:gd name="connsiteY1" fmla="*/ 0 h 431483"/>
                    <a:gd name="connsiteX2" fmla="*/ 3121343 w 3121343"/>
                    <a:gd name="connsiteY2" fmla="*/ 431483 h 431483"/>
                    <a:gd name="connsiteX3" fmla="*/ 0 w 3121343"/>
                    <a:gd name="connsiteY3" fmla="*/ 426720 h 431483"/>
                    <a:gd name="connsiteX4" fmla="*/ 245269 w 3121343"/>
                    <a:gd name="connsiteY4" fmla="*/ 477 h 43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343" h="431483">
                      <a:moveTo>
                        <a:pt x="245269" y="477"/>
                      </a:moveTo>
                      <a:lnTo>
                        <a:pt x="3040380" y="0"/>
                      </a:lnTo>
                      <a:lnTo>
                        <a:pt x="3121343" y="431483"/>
                      </a:lnTo>
                      <a:lnTo>
                        <a:pt x="0" y="426720"/>
                      </a:lnTo>
                      <a:lnTo>
                        <a:pt x="245269" y="477"/>
                      </a:lnTo>
                      <a:close/>
                    </a:path>
                  </a:pathLst>
                </a:custGeom>
                <a:solidFill>
                  <a:srgbClr val="00277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sp>
              <p:nvSpPr>
                <p:cNvPr id="30" name="Rectangle 7"/>
                <p:cNvSpPr/>
                <p:nvPr/>
              </p:nvSpPr>
              <p:spPr>
                <a:xfrm rot="3173193">
                  <a:off x="7253714" y="3324575"/>
                  <a:ext cx="886915" cy="433923"/>
                </a:xfrm>
                <a:custGeom>
                  <a:avLst/>
                  <a:gdLst>
                    <a:gd name="connsiteX0" fmla="*/ 0 w 2865120"/>
                    <a:gd name="connsiteY0" fmla="*/ 0 h 426720"/>
                    <a:gd name="connsiteX1" fmla="*/ 2865120 w 2865120"/>
                    <a:gd name="connsiteY1" fmla="*/ 0 h 426720"/>
                    <a:gd name="connsiteX2" fmla="*/ 2865120 w 2865120"/>
                    <a:gd name="connsiteY2" fmla="*/ 426720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865120 w 2865120"/>
                    <a:gd name="connsiteY2" fmla="*/ 426720 h 426720"/>
                    <a:gd name="connsiteX3" fmla="*/ 251466 w 2865120"/>
                    <a:gd name="connsiteY3" fmla="*/ 425884 h 426720"/>
                    <a:gd name="connsiteX4" fmla="*/ 0 w 2865120"/>
                    <a:gd name="connsiteY4" fmla="*/ 0 h 426720"/>
                    <a:gd name="connsiteX0" fmla="*/ 0 w 4498063"/>
                    <a:gd name="connsiteY0" fmla="*/ 7203 h 433923"/>
                    <a:gd name="connsiteX1" fmla="*/ 4498064 w 4498063"/>
                    <a:gd name="connsiteY1" fmla="*/ 0 h 433923"/>
                    <a:gd name="connsiteX2" fmla="*/ 2865120 w 4498063"/>
                    <a:gd name="connsiteY2" fmla="*/ 433923 h 433923"/>
                    <a:gd name="connsiteX3" fmla="*/ 251466 w 4498063"/>
                    <a:gd name="connsiteY3" fmla="*/ 433087 h 433923"/>
                    <a:gd name="connsiteX4" fmla="*/ 0 w 4498063"/>
                    <a:gd name="connsiteY4" fmla="*/ 7203 h 433923"/>
                    <a:gd name="connsiteX0" fmla="*/ 0 w 4498063"/>
                    <a:gd name="connsiteY0" fmla="*/ 7203 h 433923"/>
                    <a:gd name="connsiteX1" fmla="*/ 4498064 w 4498063"/>
                    <a:gd name="connsiteY1" fmla="*/ 0 h 433923"/>
                    <a:gd name="connsiteX2" fmla="*/ 2865120 w 4498063"/>
                    <a:gd name="connsiteY2" fmla="*/ 433923 h 433923"/>
                    <a:gd name="connsiteX3" fmla="*/ 96864 w 4498063"/>
                    <a:gd name="connsiteY3" fmla="*/ 433910 h 433923"/>
                    <a:gd name="connsiteX4" fmla="*/ 0 w 4498063"/>
                    <a:gd name="connsiteY4" fmla="*/ 7203 h 433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8063" h="433923">
                      <a:moveTo>
                        <a:pt x="0" y="7203"/>
                      </a:moveTo>
                      <a:lnTo>
                        <a:pt x="4498064" y="0"/>
                      </a:lnTo>
                      <a:lnTo>
                        <a:pt x="2865120" y="433923"/>
                      </a:lnTo>
                      <a:lnTo>
                        <a:pt x="96864" y="433910"/>
                      </a:lnTo>
                      <a:lnTo>
                        <a:pt x="0" y="7203"/>
                      </a:lnTo>
                      <a:close/>
                    </a:path>
                  </a:pathLst>
                </a:custGeom>
                <a:solidFill>
                  <a:srgbClr val="00A1DE"/>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14" name="Rectangle 7"/>
              <p:cNvSpPr/>
              <p:nvPr/>
            </p:nvSpPr>
            <p:spPr>
              <a:xfrm rot="18426807" flipV="1">
                <a:off x="9283843" y="4819459"/>
                <a:ext cx="2865120" cy="411477"/>
              </a:xfrm>
              <a:custGeom>
                <a:avLst/>
                <a:gdLst>
                  <a:gd name="connsiteX0" fmla="*/ 0 w 2865120"/>
                  <a:gd name="connsiteY0" fmla="*/ 0 h 426720"/>
                  <a:gd name="connsiteX1" fmla="*/ 2865120 w 2865120"/>
                  <a:gd name="connsiteY1" fmla="*/ 0 h 426720"/>
                  <a:gd name="connsiteX2" fmla="*/ 2865120 w 2865120"/>
                  <a:gd name="connsiteY2" fmla="*/ 426720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865120 w 2865120"/>
                  <a:gd name="connsiteY2" fmla="*/ 426720 h 426720"/>
                  <a:gd name="connsiteX3" fmla="*/ 251466 w 2865120"/>
                  <a:gd name="connsiteY3" fmla="*/ 425884 h 426720"/>
                  <a:gd name="connsiteX4" fmla="*/ 0 w 2865120"/>
                  <a:gd name="connsiteY4" fmla="*/ 0 h 426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5120" h="426720">
                    <a:moveTo>
                      <a:pt x="0" y="0"/>
                    </a:moveTo>
                    <a:lnTo>
                      <a:pt x="2865120" y="0"/>
                    </a:lnTo>
                    <a:lnTo>
                      <a:pt x="2865120" y="426720"/>
                    </a:lnTo>
                    <a:lnTo>
                      <a:pt x="251466" y="425884"/>
                    </a:lnTo>
                    <a:lnTo>
                      <a:pt x="0" y="0"/>
                    </a:lnTo>
                    <a:close/>
                  </a:path>
                </a:pathLst>
              </a:custGeom>
              <a:solidFill>
                <a:srgbClr val="81BC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sp>
            <p:nvSpPr>
              <p:cNvPr id="15" name="Rectangle 9"/>
              <p:cNvSpPr/>
              <p:nvPr/>
            </p:nvSpPr>
            <p:spPr>
              <a:xfrm rot="3610536" flipV="1">
                <a:off x="8144042" y="4795731"/>
                <a:ext cx="2811657" cy="413683"/>
              </a:xfrm>
              <a:custGeom>
                <a:avLst/>
                <a:gdLst>
                  <a:gd name="connsiteX0" fmla="*/ 0 w 2865120"/>
                  <a:gd name="connsiteY0" fmla="*/ 0 h 426720"/>
                  <a:gd name="connsiteX1" fmla="*/ 2865120 w 2865120"/>
                  <a:gd name="connsiteY1" fmla="*/ 0 h 426720"/>
                  <a:gd name="connsiteX2" fmla="*/ 2865120 w 2865120"/>
                  <a:gd name="connsiteY2" fmla="*/ 426720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621134 w 2865120"/>
                  <a:gd name="connsiteY2" fmla="*/ 412882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629397 w 2865120"/>
                  <a:gd name="connsiteY2" fmla="*/ 408146 h 426720"/>
                  <a:gd name="connsiteX3" fmla="*/ 0 w 2865120"/>
                  <a:gd name="connsiteY3" fmla="*/ 426720 h 426720"/>
                  <a:gd name="connsiteX4" fmla="*/ 0 w 2865120"/>
                  <a:gd name="connsiteY4" fmla="*/ 0 h 426720"/>
                  <a:gd name="connsiteX0" fmla="*/ 0 w 2865120"/>
                  <a:gd name="connsiteY0" fmla="*/ 0 h 426720"/>
                  <a:gd name="connsiteX1" fmla="*/ 2865120 w 2865120"/>
                  <a:gd name="connsiteY1" fmla="*/ 0 h 426720"/>
                  <a:gd name="connsiteX2" fmla="*/ 2627911 w 2865120"/>
                  <a:gd name="connsiteY2" fmla="*/ 400765 h 426720"/>
                  <a:gd name="connsiteX3" fmla="*/ 0 w 2865120"/>
                  <a:gd name="connsiteY3" fmla="*/ 426720 h 426720"/>
                  <a:gd name="connsiteX4" fmla="*/ 0 w 2865120"/>
                  <a:gd name="connsiteY4" fmla="*/ 0 h 426720"/>
                  <a:gd name="connsiteX0" fmla="*/ 0 w 2832921"/>
                  <a:gd name="connsiteY0" fmla="*/ 3499 h 430219"/>
                  <a:gd name="connsiteX1" fmla="*/ 2832921 w 2832921"/>
                  <a:gd name="connsiteY1" fmla="*/ 0 h 430219"/>
                  <a:gd name="connsiteX2" fmla="*/ 2627911 w 2832921"/>
                  <a:gd name="connsiteY2" fmla="*/ 404264 h 430219"/>
                  <a:gd name="connsiteX3" fmla="*/ 0 w 2832921"/>
                  <a:gd name="connsiteY3" fmla="*/ 430219 h 430219"/>
                  <a:gd name="connsiteX4" fmla="*/ 0 w 2832921"/>
                  <a:gd name="connsiteY4" fmla="*/ 3499 h 430219"/>
                  <a:gd name="connsiteX0" fmla="*/ 0 w 2832921"/>
                  <a:gd name="connsiteY0" fmla="*/ 3499 h 430219"/>
                  <a:gd name="connsiteX1" fmla="*/ 2832921 w 2832921"/>
                  <a:gd name="connsiteY1" fmla="*/ 0 h 430219"/>
                  <a:gd name="connsiteX2" fmla="*/ 2620823 w 2832921"/>
                  <a:gd name="connsiteY2" fmla="*/ 404668 h 430219"/>
                  <a:gd name="connsiteX3" fmla="*/ 0 w 2832921"/>
                  <a:gd name="connsiteY3" fmla="*/ 430219 h 430219"/>
                  <a:gd name="connsiteX4" fmla="*/ 0 w 2832921"/>
                  <a:gd name="connsiteY4" fmla="*/ 3499 h 430219"/>
                  <a:gd name="connsiteX0" fmla="*/ 0 w 2811657"/>
                  <a:gd name="connsiteY0" fmla="*/ 2288 h 429008"/>
                  <a:gd name="connsiteX1" fmla="*/ 2811657 w 2811657"/>
                  <a:gd name="connsiteY1" fmla="*/ 0 h 429008"/>
                  <a:gd name="connsiteX2" fmla="*/ 2620823 w 2811657"/>
                  <a:gd name="connsiteY2" fmla="*/ 403457 h 429008"/>
                  <a:gd name="connsiteX3" fmla="*/ 0 w 2811657"/>
                  <a:gd name="connsiteY3" fmla="*/ 429008 h 429008"/>
                  <a:gd name="connsiteX4" fmla="*/ 0 w 2811657"/>
                  <a:gd name="connsiteY4" fmla="*/ 2288 h 429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1657" h="429008">
                    <a:moveTo>
                      <a:pt x="0" y="2288"/>
                    </a:moveTo>
                    <a:lnTo>
                      <a:pt x="2811657" y="0"/>
                    </a:lnTo>
                    <a:lnTo>
                      <a:pt x="2620823" y="403457"/>
                    </a:lnTo>
                    <a:lnTo>
                      <a:pt x="0" y="429008"/>
                    </a:lnTo>
                    <a:lnTo>
                      <a:pt x="0" y="2288"/>
                    </a:lnTo>
                    <a:close/>
                  </a:path>
                </a:pathLst>
              </a:custGeom>
              <a:solidFill>
                <a:srgbClr val="BDD20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sp>
            <p:nvSpPr>
              <p:cNvPr id="19" name="Rectangle 5"/>
              <p:cNvSpPr/>
              <p:nvPr/>
            </p:nvSpPr>
            <p:spPr>
              <a:xfrm rot="10800000" flipV="1">
                <a:off x="8704146" y="3507663"/>
                <a:ext cx="3009844" cy="431483"/>
              </a:xfrm>
              <a:custGeom>
                <a:avLst/>
                <a:gdLst>
                  <a:gd name="connsiteX0" fmla="*/ 0 w 3040380"/>
                  <a:gd name="connsiteY0" fmla="*/ 0 h 426720"/>
                  <a:gd name="connsiteX1" fmla="*/ 3040380 w 3040380"/>
                  <a:gd name="connsiteY1" fmla="*/ 0 h 426720"/>
                  <a:gd name="connsiteX2" fmla="*/ 3040380 w 3040380"/>
                  <a:gd name="connsiteY2" fmla="*/ 426720 h 426720"/>
                  <a:gd name="connsiteX3" fmla="*/ 0 w 3040380"/>
                  <a:gd name="connsiteY3" fmla="*/ 426720 h 426720"/>
                  <a:gd name="connsiteX4" fmla="*/ 0 w 3040380"/>
                  <a:gd name="connsiteY4" fmla="*/ 0 h 426720"/>
                  <a:gd name="connsiteX0" fmla="*/ 228600 w 3040380"/>
                  <a:gd name="connsiteY0" fmla="*/ 7620 h 426720"/>
                  <a:gd name="connsiteX1" fmla="*/ 3040380 w 3040380"/>
                  <a:gd name="connsiteY1" fmla="*/ 0 h 426720"/>
                  <a:gd name="connsiteX2" fmla="*/ 3040380 w 3040380"/>
                  <a:gd name="connsiteY2" fmla="*/ 426720 h 426720"/>
                  <a:gd name="connsiteX3" fmla="*/ 0 w 3040380"/>
                  <a:gd name="connsiteY3" fmla="*/ 426720 h 426720"/>
                  <a:gd name="connsiteX4" fmla="*/ 228600 w 3040380"/>
                  <a:gd name="connsiteY4" fmla="*/ 7620 h 426720"/>
                  <a:gd name="connsiteX0" fmla="*/ 247650 w 3040380"/>
                  <a:gd name="connsiteY0" fmla="*/ 2858 h 426720"/>
                  <a:gd name="connsiteX1" fmla="*/ 3040380 w 3040380"/>
                  <a:gd name="connsiteY1" fmla="*/ 0 h 426720"/>
                  <a:gd name="connsiteX2" fmla="*/ 3040380 w 3040380"/>
                  <a:gd name="connsiteY2" fmla="*/ 426720 h 426720"/>
                  <a:gd name="connsiteX3" fmla="*/ 0 w 3040380"/>
                  <a:gd name="connsiteY3" fmla="*/ 426720 h 426720"/>
                  <a:gd name="connsiteX4" fmla="*/ 247650 w 3040380"/>
                  <a:gd name="connsiteY4" fmla="*/ 2858 h 426720"/>
                  <a:gd name="connsiteX0" fmla="*/ 245269 w 3040380"/>
                  <a:gd name="connsiteY0" fmla="*/ 477 h 426720"/>
                  <a:gd name="connsiteX1" fmla="*/ 3040380 w 3040380"/>
                  <a:gd name="connsiteY1" fmla="*/ 0 h 426720"/>
                  <a:gd name="connsiteX2" fmla="*/ 3040380 w 3040380"/>
                  <a:gd name="connsiteY2" fmla="*/ 426720 h 426720"/>
                  <a:gd name="connsiteX3" fmla="*/ 0 w 3040380"/>
                  <a:gd name="connsiteY3" fmla="*/ 426720 h 426720"/>
                  <a:gd name="connsiteX4" fmla="*/ 245269 w 3040380"/>
                  <a:gd name="connsiteY4" fmla="*/ 477 h 426720"/>
                  <a:gd name="connsiteX0" fmla="*/ 245269 w 3121343"/>
                  <a:gd name="connsiteY0" fmla="*/ 477 h 431483"/>
                  <a:gd name="connsiteX1" fmla="*/ 3040380 w 3121343"/>
                  <a:gd name="connsiteY1" fmla="*/ 0 h 431483"/>
                  <a:gd name="connsiteX2" fmla="*/ 3121343 w 3121343"/>
                  <a:gd name="connsiteY2" fmla="*/ 431483 h 431483"/>
                  <a:gd name="connsiteX3" fmla="*/ 0 w 3121343"/>
                  <a:gd name="connsiteY3" fmla="*/ 426720 h 431483"/>
                  <a:gd name="connsiteX4" fmla="*/ 245269 w 3121343"/>
                  <a:gd name="connsiteY4" fmla="*/ 477 h 43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343" h="431483">
                    <a:moveTo>
                      <a:pt x="245269" y="477"/>
                    </a:moveTo>
                    <a:lnTo>
                      <a:pt x="3040380" y="0"/>
                    </a:lnTo>
                    <a:lnTo>
                      <a:pt x="3121343" y="431483"/>
                    </a:lnTo>
                    <a:lnTo>
                      <a:pt x="0" y="426720"/>
                    </a:lnTo>
                    <a:lnTo>
                      <a:pt x="245269" y="477"/>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100" b="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0" name="Rectangle 5"/>
              <p:cNvSpPr/>
              <p:nvPr/>
            </p:nvSpPr>
            <p:spPr>
              <a:xfrm>
                <a:off x="7807538" y="4165674"/>
                <a:ext cx="1763473" cy="431483"/>
              </a:xfrm>
              <a:custGeom>
                <a:avLst/>
                <a:gdLst>
                  <a:gd name="connsiteX0" fmla="*/ 0 w 3040380"/>
                  <a:gd name="connsiteY0" fmla="*/ 0 h 426720"/>
                  <a:gd name="connsiteX1" fmla="*/ 3040380 w 3040380"/>
                  <a:gd name="connsiteY1" fmla="*/ 0 h 426720"/>
                  <a:gd name="connsiteX2" fmla="*/ 3040380 w 3040380"/>
                  <a:gd name="connsiteY2" fmla="*/ 426720 h 426720"/>
                  <a:gd name="connsiteX3" fmla="*/ 0 w 3040380"/>
                  <a:gd name="connsiteY3" fmla="*/ 426720 h 426720"/>
                  <a:gd name="connsiteX4" fmla="*/ 0 w 3040380"/>
                  <a:gd name="connsiteY4" fmla="*/ 0 h 426720"/>
                  <a:gd name="connsiteX0" fmla="*/ 228600 w 3040380"/>
                  <a:gd name="connsiteY0" fmla="*/ 7620 h 426720"/>
                  <a:gd name="connsiteX1" fmla="*/ 3040380 w 3040380"/>
                  <a:gd name="connsiteY1" fmla="*/ 0 h 426720"/>
                  <a:gd name="connsiteX2" fmla="*/ 3040380 w 3040380"/>
                  <a:gd name="connsiteY2" fmla="*/ 426720 h 426720"/>
                  <a:gd name="connsiteX3" fmla="*/ 0 w 3040380"/>
                  <a:gd name="connsiteY3" fmla="*/ 426720 h 426720"/>
                  <a:gd name="connsiteX4" fmla="*/ 228600 w 3040380"/>
                  <a:gd name="connsiteY4" fmla="*/ 7620 h 426720"/>
                  <a:gd name="connsiteX0" fmla="*/ 247650 w 3040380"/>
                  <a:gd name="connsiteY0" fmla="*/ 2858 h 426720"/>
                  <a:gd name="connsiteX1" fmla="*/ 3040380 w 3040380"/>
                  <a:gd name="connsiteY1" fmla="*/ 0 h 426720"/>
                  <a:gd name="connsiteX2" fmla="*/ 3040380 w 3040380"/>
                  <a:gd name="connsiteY2" fmla="*/ 426720 h 426720"/>
                  <a:gd name="connsiteX3" fmla="*/ 0 w 3040380"/>
                  <a:gd name="connsiteY3" fmla="*/ 426720 h 426720"/>
                  <a:gd name="connsiteX4" fmla="*/ 247650 w 3040380"/>
                  <a:gd name="connsiteY4" fmla="*/ 2858 h 426720"/>
                  <a:gd name="connsiteX0" fmla="*/ 245269 w 3040380"/>
                  <a:gd name="connsiteY0" fmla="*/ 477 h 426720"/>
                  <a:gd name="connsiteX1" fmla="*/ 3040380 w 3040380"/>
                  <a:gd name="connsiteY1" fmla="*/ 0 h 426720"/>
                  <a:gd name="connsiteX2" fmla="*/ 3040380 w 3040380"/>
                  <a:gd name="connsiteY2" fmla="*/ 426720 h 426720"/>
                  <a:gd name="connsiteX3" fmla="*/ 0 w 3040380"/>
                  <a:gd name="connsiteY3" fmla="*/ 426720 h 426720"/>
                  <a:gd name="connsiteX4" fmla="*/ 245269 w 3040380"/>
                  <a:gd name="connsiteY4" fmla="*/ 477 h 426720"/>
                  <a:gd name="connsiteX0" fmla="*/ 245269 w 3121343"/>
                  <a:gd name="connsiteY0" fmla="*/ 477 h 431483"/>
                  <a:gd name="connsiteX1" fmla="*/ 3040380 w 3121343"/>
                  <a:gd name="connsiteY1" fmla="*/ 0 h 431483"/>
                  <a:gd name="connsiteX2" fmla="*/ 3121343 w 3121343"/>
                  <a:gd name="connsiteY2" fmla="*/ 431483 h 431483"/>
                  <a:gd name="connsiteX3" fmla="*/ 0 w 3121343"/>
                  <a:gd name="connsiteY3" fmla="*/ 426720 h 431483"/>
                  <a:gd name="connsiteX4" fmla="*/ 245269 w 3121343"/>
                  <a:gd name="connsiteY4" fmla="*/ 477 h 431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1343" h="431483">
                    <a:moveTo>
                      <a:pt x="245269" y="477"/>
                    </a:moveTo>
                    <a:lnTo>
                      <a:pt x="3040380" y="0"/>
                    </a:lnTo>
                    <a:lnTo>
                      <a:pt x="3121343" y="431483"/>
                    </a:lnTo>
                    <a:lnTo>
                      <a:pt x="0" y="426720"/>
                    </a:lnTo>
                    <a:lnTo>
                      <a:pt x="245269" y="477"/>
                    </a:lnTo>
                    <a:close/>
                  </a:path>
                </a:pathLst>
              </a:custGeom>
              <a:solidFill>
                <a:srgbClr val="00277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313131"/>
                  </a:solidFill>
                  <a:latin typeface="Verdana" panose="020B0604030504040204" pitchFamily="34" charset="0"/>
                  <a:ea typeface="Verdana" panose="020B0604030504040204" pitchFamily="34" charset="0"/>
                  <a:cs typeface="Verdana" panose="020B0604030504040204" pitchFamily="34" charset="0"/>
                </a:endParaRPr>
              </a:p>
            </p:txBody>
          </p:sp>
          <p:sp>
            <p:nvSpPr>
              <p:cNvPr id="21" name="Rectangle 20"/>
              <p:cNvSpPr/>
              <p:nvPr/>
            </p:nvSpPr>
            <p:spPr>
              <a:xfrm>
                <a:off x="9198656" y="1755197"/>
                <a:ext cx="2532702" cy="677108"/>
              </a:xfrm>
              <a:prstGeom prst="rect">
                <a:avLst/>
              </a:prstGeom>
            </p:spPr>
            <p:txBody>
              <a:bodyPr wrap="square" lIns="0" tIns="0" rIns="0" bIns="0">
                <a:spAutoFit/>
              </a:bodyPr>
              <a:lstStyle/>
              <a:p>
                <a:r>
                  <a:rPr lang="en-US" sz="1100" b="1" dirty="0">
                    <a:solidFill>
                      <a:schemeClr val="accent4"/>
                    </a:solidFill>
                    <a:latin typeface="Verdana" panose="020B0604030504040204" pitchFamily="34" charset="0"/>
                    <a:ea typeface="Verdana" panose="020B0604030504040204" pitchFamily="34" charset="0"/>
                    <a:cs typeface="Verdana" panose="020B0604030504040204" pitchFamily="34" charset="0"/>
                  </a:rPr>
                  <a:t> </a:t>
                </a:r>
                <a:endParaRPr lang="en-US" sz="1100" dirty="0">
                  <a:solidFill>
                    <a:schemeClr val="accent4"/>
                  </a:solidFill>
                  <a:latin typeface="Verdana" panose="020B0604030504040204" pitchFamily="34" charset="0"/>
                  <a:ea typeface="Verdana" panose="020B0604030504040204" pitchFamily="34" charset="0"/>
                  <a:cs typeface="Verdana" panose="020B0604030504040204" pitchFamily="34" charset="0"/>
                </a:endParaRPr>
              </a:p>
              <a:p>
                <a:pPr algn="just"/>
                <a:r>
                  <a:rPr lang="en-US" sz="1100" dirty="0">
                    <a:solidFill>
                      <a:schemeClr val="accent4"/>
                    </a:solidFill>
                    <a:latin typeface="Verdana" panose="020B0604030504040204" pitchFamily="34" charset="0"/>
                    <a:ea typeface="Verdana" panose="020B0604030504040204" pitchFamily="34" charset="0"/>
                    <a:cs typeface="Verdana" panose="020B0604030504040204" pitchFamily="34" charset="0"/>
                  </a:rPr>
                  <a:t>Inputs/outputs across different key focus areas to be seamlessly integrated</a:t>
                </a:r>
              </a:p>
            </p:txBody>
          </p:sp>
          <p:sp>
            <p:nvSpPr>
              <p:cNvPr id="22" name="Rectangle 21"/>
              <p:cNvSpPr/>
              <p:nvPr/>
            </p:nvSpPr>
            <p:spPr>
              <a:xfrm rot="17949264">
                <a:off x="7006655" y="2846355"/>
                <a:ext cx="2598005" cy="169276"/>
              </a:xfrm>
              <a:prstGeom prst="rect">
                <a:avLst/>
              </a:prstGeom>
            </p:spPr>
            <p:txBody>
              <a:bodyPr wrap="square" lIns="0" tIns="0" rIns="0" bIns="0">
                <a:spAutoFit/>
              </a:bodyPr>
              <a:lstStyle/>
              <a:p>
                <a:r>
                  <a:rPr lang="en-US" sz="1100" b="1" dirty="0">
                    <a:solidFill>
                      <a:srgbClr val="FFFFFF"/>
                    </a:solidFill>
                    <a:latin typeface="Verdana" panose="020B0604030504040204" pitchFamily="34" charset="0"/>
                    <a:ea typeface="Verdana" panose="020B0604030504040204" pitchFamily="34" charset="0"/>
                    <a:cs typeface="Verdana" panose="020B0604030504040204" pitchFamily="34" charset="0"/>
                  </a:rPr>
                  <a:t>COMMERCIAL DUE DILIGENCE</a:t>
                </a:r>
                <a:endParaRPr lang="en-US" sz="11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3" name="Rectangle 22"/>
              <p:cNvSpPr/>
              <p:nvPr/>
            </p:nvSpPr>
            <p:spPr>
              <a:xfrm>
                <a:off x="9060732" y="1413243"/>
                <a:ext cx="2853906" cy="523220"/>
              </a:xfrm>
              <a:prstGeom prst="rect">
                <a:avLst/>
              </a:prstGeom>
            </p:spPr>
            <p:txBody>
              <a:bodyPr wrap="square">
                <a:spAutoFit/>
              </a:bodyPr>
              <a:lstStyle/>
              <a:p>
                <a:r>
                  <a:rPr lang="en-US" sz="1400" b="1" dirty="0">
                    <a:solidFill>
                      <a:schemeClr val="accent4"/>
                    </a:solidFill>
                    <a:latin typeface="Verdana" panose="020B0604030504040204" pitchFamily="34" charset="0"/>
                    <a:ea typeface="Verdana" panose="020B0604030504040204" pitchFamily="34" charset="0"/>
                    <a:cs typeface="Verdana" panose="020B0604030504040204" pitchFamily="34" charset="0"/>
                  </a:rPr>
                  <a:t>INTERLINKAGE BETWEEN AREAS</a:t>
                </a:r>
                <a:endParaRPr lang="en-US" sz="1100" dirty="0">
                  <a:solidFill>
                    <a:schemeClr val="accent4"/>
                  </a:solidFill>
                  <a:latin typeface="Verdana" panose="020B0604030504040204" pitchFamily="34" charset="0"/>
                  <a:ea typeface="Verdana" panose="020B0604030504040204" pitchFamily="34" charset="0"/>
                  <a:cs typeface="Verdana" panose="020B0604030504040204" pitchFamily="34" charset="0"/>
                </a:endParaRPr>
              </a:p>
            </p:txBody>
          </p:sp>
          <p:sp>
            <p:nvSpPr>
              <p:cNvPr id="24" name="Rectangle 23"/>
              <p:cNvSpPr/>
              <p:nvPr/>
            </p:nvSpPr>
            <p:spPr>
              <a:xfrm>
                <a:off x="9816528" y="2507859"/>
                <a:ext cx="2434495" cy="723275"/>
              </a:xfrm>
              <a:prstGeom prst="rect">
                <a:avLst/>
              </a:prstGeom>
            </p:spPr>
            <p:txBody>
              <a:bodyPr wrap="square" lIns="0" tIns="0" rIns="0" bIns="0">
                <a:spAutoFit/>
              </a:bodyPr>
              <a:lstStyle/>
              <a:p>
                <a:r>
                  <a:rPr lang="en-US" sz="1400" b="1" dirty="0">
                    <a:solidFill>
                      <a:schemeClr val="accent4"/>
                    </a:solidFill>
                    <a:latin typeface="Verdana" panose="020B0604030504040204" pitchFamily="34" charset="0"/>
                    <a:ea typeface="Verdana" panose="020B0604030504040204" pitchFamily="34" charset="0"/>
                    <a:cs typeface="Verdana" panose="020B0604030504040204" pitchFamily="34" charset="0"/>
                  </a:rPr>
                  <a:t> </a:t>
                </a:r>
                <a:endParaRPr lang="en-US" sz="1400" dirty="0">
                  <a:solidFill>
                    <a:schemeClr val="accent4"/>
                  </a:solidFill>
                  <a:latin typeface="Verdana" panose="020B0604030504040204" pitchFamily="34" charset="0"/>
                  <a:ea typeface="Verdana" panose="020B0604030504040204" pitchFamily="34" charset="0"/>
                  <a:cs typeface="Verdana" panose="020B0604030504040204" pitchFamily="34" charset="0"/>
                </a:endParaRPr>
              </a:p>
              <a:p>
                <a:pPr algn="just"/>
                <a:r>
                  <a:rPr lang="en-US" sz="1100" dirty="0">
                    <a:solidFill>
                      <a:schemeClr val="accent4"/>
                    </a:solidFill>
                    <a:latin typeface="Verdana" panose="020B0604030504040204" pitchFamily="34" charset="0"/>
                    <a:ea typeface="Verdana" panose="020B0604030504040204" pitchFamily="34" charset="0"/>
                    <a:cs typeface="Verdana" panose="020B0604030504040204" pitchFamily="34" charset="0"/>
                  </a:rPr>
                  <a:t>Outputs from different key areas to be finalized through regular feedback and iterations</a:t>
                </a:r>
              </a:p>
            </p:txBody>
          </p:sp>
          <p:sp>
            <p:nvSpPr>
              <p:cNvPr id="25" name="Rectangle 24"/>
              <p:cNvSpPr/>
              <p:nvPr/>
            </p:nvSpPr>
            <p:spPr>
              <a:xfrm>
                <a:off x="7650109" y="4218096"/>
                <a:ext cx="2598005" cy="169277"/>
              </a:xfrm>
              <a:prstGeom prst="rect">
                <a:avLst/>
              </a:prstGeom>
            </p:spPr>
            <p:txBody>
              <a:bodyPr wrap="square" lIns="0" tIns="0" rIns="0" bIns="0">
                <a:spAutoFit/>
              </a:bodyPr>
              <a:lstStyle/>
              <a:p>
                <a:r>
                  <a:rPr lang="en-US" sz="1100" b="1" dirty="0">
                    <a:solidFill>
                      <a:srgbClr val="FFFFFF"/>
                    </a:solidFill>
                    <a:latin typeface="Verdana" panose="020B0604030504040204" pitchFamily="34" charset="0"/>
                    <a:ea typeface="Verdana" panose="020B0604030504040204" pitchFamily="34" charset="0"/>
                    <a:cs typeface="Verdana" panose="020B0604030504040204" pitchFamily="34" charset="0"/>
                  </a:rPr>
                  <a:t>BID DEVELOPMENT STRATEGY</a:t>
                </a:r>
                <a:endParaRPr lang="en-US" sz="11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6" name="Rectangle 25"/>
              <p:cNvSpPr/>
              <p:nvPr/>
            </p:nvSpPr>
            <p:spPr>
              <a:xfrm rot="18395654">
                <a:off x="9500642" y="4879423"/>
                <a:ext cx="2598005" cy="172621"/>
              </a:xfrm>
              <a:prstGeom prst="rect">
                <a:avLst/>
              </a:prstGeom>
            </p:spPr>
            <p:txBody>
              <a:bodyPr wrap="square" lIns="0" tIns="0" rIns="0" bIns="0">
                <a:spAutoFit/>
              </a:bodyPr>
              <a:lstStyle/>
              <a:p>
                <a:r>
                  <a:rPr lang="en-US" sz="1100" b="1" dirty="0">
                    <a:solidFill>
                      <a:srgbClr val="FFFFFF"/>
                    </a:solidFill>
                    <a:latin typeface="Verdana" panose="020B0604030504040204" pitchFamily="34" charset="0"/>
                    <a:ea typeface="Verdana" panose="020B0604030504040204" pitchFamily="34" charset="0"/>
                    <a:cs typeface="Verdana" panose="020B0604030504040204" pitchFamily="34" charset="0"/>
                  </a:rPr>
                  <a:t>       FINALIZING O&amp;M PARTNER</a:t>
                </a:r>
                <a:endParaRPr lang="en-US" sz="11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grpSp>
      </p:grpSp>
      <p:sp>
        <p:nvSpPr>
          <p:cNvPr id="31" name="TextBox 30"/>
          <p:cNvSpPr txBox="1"/>
          <p:nvPr/>
        </p:nvSpPr>
        <p:spPr>
          <a:xfrm>
            <a:off x="247746" y="1147338"/>
            <a:ext cx="5180523" cy="6217087"/>
          </a:xfrm>
          <a:prstGeom prst="rect">
            <a:avLst/>
          </a:prstGeom>
          <a:noFill/>
        </p:spPr>
        <p:txBody>
          <a:bodyPr wrap="square" rtlCol="0">
            <a:spAutoFit/>
          </a:bodyPr>
          <a:lstStyle/>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Commercial Due Diligence and Risk Analysis</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Focus on commercial due diligence on the basis of transaction documents that will be shared. This needs to be supported by adequate analysis of risks arising out of the project fundamentals with emphasis on risk allocation and mitigation measures as well as knowledge of airport economic regulation applicable to the airport which is critical in evaluating the financial viability of airport projects.</a:t>
            </a:r>
          </a:p>
          <a:p>
            <a:pPr algn="just"/>
            <a:endPar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Business / Financial Model and Financing Structure / Funding Options</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Leverage knowledge of available sources of finance (debt &amp; equity) for large scale infrastructure / PPP projects, typical costs of financing – to develop a competitive financing strategy. </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Based on due diligence and financing strategy, develop a financial model focusing on viability of the project based on various factors like traffic, capital and operation costs, revenues etc. so that the project can make adequate return for the shareholders and lenders. </a:t>
            </a:r>
          </a:p>
          <a:p>
            <a:pPr algn="just"/>
            <a:endPar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endParaRPr>
          </a:p>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Bid Development Strategy and Bid Process Management</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Assessment of risk allocation, competition, requirements of mandatory infrastructure and previous experience of airport  transactions would need to be used for developing a competitive bid.</a:t>
            </a:r>
          </a:p>
          <a:p>
            <a:pPr algn="just"/>
            <a:endPar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endParaRPr>
          </a:p>
          <a:p>
            <a:pPr algn="just"/>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Assistance in finalizing appropriate O&amp;M partner</a:t>
            </a:r>
          </a:p>
          <a:p>
            <a:pPr algn="just"/>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Identification of potential O&amp;M partners, assistance in undertaking consultations with such partners and assist in shortlisting / finalizing the O&amp;M Partner</a:t>
            </a:r>
          </a:p>
          <a:p>
            <a:pPr algn="just"/>
            <a:endPar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endParaRPr>
          </a:p>
        </p:txBody>
      </p:sp>
      <p:sp>
        <p:nvSpPr>
          <p:cNvPr id="32" name="Rectangle 31"/>
          <p:cNvSpPr/>
          <p:nvPr/>
        </p:nvSpPr>
        <p:spPr>
          <a:xfrm>
            <a:off x="7095064" y="3481593"/>
            <a:ext cx="2547671" cy="507831"/>
          </a:xfrm>
          <a:prstGeom prst="rect">
            <a:avLst/>
          </a:prstGeom>
        </p:spPr>
        <p:txBody>
          <a:bodyPr wrap="square" lIns="0" tIns="0" rIns="0" bIns="0">
            <a:spAutoFit/>
          </a:bodyPr>
          <a:lstStyle/>
          <a:p>
            <a:r>
              <a:rPr lang="en-US" sz="1100" b="1" dirty="0">
                <a:solidFill>
                  <a:srgbClr val="FFFFFF"/>
                </a:solidFill>
                <a:latin typeface="Verdana" panose="020B0604030504040204" pitchFamily="34" charset="0"/>
                <a:ea typeface="Verdana" panose="020B0604030504040204" pitchFamily="34" charset="0"/>
                <a:cs typeface="Verdana" panose="020B0604030504040204" pitchFamily="34" charset="0"/>
              </a:rPr>
              <a:t>FINANCIAL MODEL&amp; FUNDING STRUCTURE </a:t>
            </a:r>
          </a:p>
          <a:p>
            <a:endParaRPr lang="en-US" sz="11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5221775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0819" y="798859"/>
            <a:ext cx="10078983" cy="523220"/>
          </a:xfrm>
          <a:prstGeom prst="rect">
            <a:avLst/>
          </a:prstGeom>
        </p:spPr>
        <p:txBody>
          <a:bodyPr wrap="square">
            <a:spAutoFit/>
          </a:bodyPr>
          <a:lstStyle/>
          <a:p>
            <a:pPr algn="just">
              <a:spcAft>
                <a:spcPts val="800"/>
              </a:spcAft>
              <a:tabLst>
                <a:tab pos="3705225" algn="l"/>
              </a:tabLst>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As the first step, the team would support Essel Infraprojects in undertaking commercial due diligence for the project. This would include the following:</a:t>
            </a:r>
            <a:endParaRPr lang="en-US" sz="16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
        <p:nvSpPr>
          <p:cNvPr id="33" name="Rectangle 32"/>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34" name="Straight Connector 33"/>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Commercial Due Diligence</a:t>
            </a:r>
          </a:p>
        </p:txBody>
      </p:sp>
      <p:sp>
        <p:nvSpPr>
          <p:cNvPr id="31" name="Text Placeholder 8"/>
          <p:cNvSpPr>
            <a:spLocks noGrp="1"/>
          </p:cNvSpPr>
          <p:nvPr>
            <p:ph type="body" sz="quarter" idx="4294967295"/>
          </p:nvPr>
        </p:nvSpPr>
        <p:spPr>
          <a:xfrm>
            <a:off x="5437372" y="1353205"/>
            <a:ext cx="4929257" cy="5336972"/>
          </a:xfrm>
          <a:prstGeom prst="rect">
            <a:avLst/>
          </a:prstGeom>
        </p:spPr>
        <p:txBody>
          <a:bodyPr/>
          <a:lstStyle/>
          <a:p>
            <a:pPr marL="342900" indent="-342900" defTabSz="914400" eaLnBrk="0" hangingPunct="0">
              <a:spcBef>
                <a:spcPts val="100"/>
              </a:spcBef>
              <a:spcAft>
                <a:spcPts val="100"/>
              </a:spcAft>
              <a:buSzTx/>
              <a:defRPr/>
            </a:pPr>
            <a:r>
              <a:rPr lang="en-US" sz="1400" u="sng" dirty="0">
                <a:solidFill>
                  <a:schemeClr val="accent2"/>
                </a:solidFill>
                <a:latin typeface="+mj-lt"/>
                <a:ea typeface="Verdana" panose="020B0604030504040204" pitchFamily="34" charset="0"/>
                <a:cs typeface="Verdana" panose="020B0604030504040204" pitchFamily="34" charset="0"/>
              </a:rPr>
              <a:t>Internal Environment</a:t>
            </a:r>
          </a:p>
          <a:p>
            <a:pPr lvl="0" algn="just">
              <a:spcAft>
                <a:spcPts val="600"/>
              </a:spcAft>
            </a:pPr>
            <a:endParaRPr lang="en-IN" sz="1200" b="1" dirty="0">
              <a:solidFill>
                <a:schemeClr val="tx1"/>
              </a:solidFill>
              <a:latin typeface="+mj-lt"/>
            </a:endParaRPr>
          </a:p>
          <a:p>
            <a:pPr lvl="0" algn="just">
              <a:spcAft>
                <a:spcPts val="600"/>
              </a:spcAft>
            </a:pPr>
            <a:r>
              <a:rPr lang="en-IN" sz="1200" b="1" dirty="0">
                <a:solidFill>
                  <a:schemeClr val="tx1"/>
                </a:solidFill>
                <a:latin typeface="+mj-lt"/>
              </a:rPr>
              <a:t>Concessions awarded for Aero services</a:t>
            </a:r>
          </a:p>
          <a:p>
            <a:pPr marL="171450" lvl="1" indent="-171450" algn="just">
              <a:spcAft>
                <a:spcPts val="600"/>
              </a:spcAft>
              <a:buFont typeface="Arial" panose="020B0604020202020204" pitchFamily="34" charset="0"/>
              <a:buChar char="•"/>
            </a:pPr>
            <a:r>
              <a:rPr lang="en-IN" sz="1200" b="0" dirty="0">
                <a:latin typeface="+mj-lt"/>
              </a:rPr>
              <a:t>Review the aeronautical concessions awarded for various services including ground handling, fuel farm, into plane services, inflight catering, cargo etc. </a:t>
            </a:r>
          </a:p>
          <a:p>
            <a:pPr algn="just">
              <a:spcAft>
                <a:spcPts val="600"/>
              </a:spcAft>
            </a:pPr>
            <a:r>
              <a:rPr lang="en-IN" sz="1200" b="1" dirty="0">
                <a:solidFill>
                  <a:schemeClr val="tx1"/>
                </a:solidFill>
                <a:latin typeface="+mj-lt"/>
              </a:rPr>
              <a:t>Non-Aero Offerings</a:t>
            </a:r>
          </a:p>
          <a:p>
            <a:pPr marL="171450" lvl="1" indent="-171450" algn="just">
              <a:spcAft>
                <a:spcPts val="600"/>
              </a:spcAft>
              <a:buFont typeface="Arial" panose="020B0604020202020204" pitchFamily="34" charset="0"/>
              <a:buChar char="•"/>
            </a:pPr>
            <a:r>
              <a:rPr lang="en-IN" sz="1200" b="0" dirty="0">
                <a:latin typeface="+mj-lt"/>
              </a:rPr>
              <a:t>Understand the status quo of the non-aeronautical revenue / service offerings at the airport - nature of services provided; portfolio of retail and F&amp;B; Review of the contracts / contract structure to assess the potential revenue in the future to the airport operator</a:t>
            </a:r>
          </a:p>
          <a:p>
            <a:pPr algn="just">
              <a:spcAft>
                <a:spcPts val="600"/>
              </a:spcAft>
            </a:pPr>
            <a:r>
              <a:rPr lang="en-IN" sz="1200" b="1" dirty="0">
                <a:solidFill>
                  <a:schemeClr val="tx1"/>
                </a:solidFill>
                <a:latin typeface="+mj-lt"/>
              </a:rPr>
              <a:t>Operations and Maintenance</a:t>
            </a:r>
          </a:p>
          <a:p>
            <a:pPr marL="171450" lvl="1" indent="-171450" algn="just">
              <a:spcAft>
                <a:spcPts val="600"/>
              </a:spcAft>
              <a:buFont typeface="Arial" panose="020B0604020202020204" pitchFamily="34" charset="0"/>
              <a:buChar char="•"/>
            </a:pPr>
            <a:r>
              <a:rPr lang="en-US" sz="1200" b="0" dirty="0">
                <a:latin typeface="+mj-lt"/>
              </a:rPr>
              <a:t>Broad review of the proposed operations, practices and requirements / current performance standards; </a:t>
            </a:r>
          </a:p>
          <a:p>
            <a:pPr marL="171450" lvl="1" indent="-171450" algn="just">
              <a:spcAft>
                <a:spcPts val="600"/>
              </a:spcAft>
              <a:buFont typeface="Arial" panose="020B0604020202020204" pitchFamily="34" charset="0"/>
              <a:buChar char="•"/>
            </a:pPr>
            <a:r>
              <a:rPr lang="en-US" sz="1200" b="0" dirty="0">
                <a:latin typeface="+mj-lt"/>
              </a:rPr>
              <a:t>Broad level review of the proposed employee cost including reviewing of number of employees deployed at the airport, staffing levels etc.</a:t>
            </a:r>
          </a:p>
          <a:p>
            <a:pPr lvl="1" algn="just">
              <a:spcAft>
                <a:spcPts val="600"/>
              </a:spcAft>
            </a:pPr>
            <a:r>
              <a:rPr lang="en-US" sz="1200" dirty="0">
                <a:latin typeface="+mj-lt"/>
              </a:rPr>
              <a:t>Benchmarking of various revenue and cost streams vis-à-vis airports of similar profiles (at a category level)</a:t>
            </a:r>
            <a:endParaRPr lang="en-IN" sz="1200" dirty="0">
              <a:latin typeface="+mj-lt"/>
            </a:endParaRPr>
          </a:p>
          <a:p>
            <a:pPr lvl="1" algn="just">
              <a:spcAft>
                <a:spcPts val="600"/>
              </a:spcAft>
            </a:pPr>
            <a:endParaRPr lang="en-US" sz="1200" b="0" dirty="0">
              <a:latin typeface="+mj-lt"/>
            </a:endParaRPr>
          </a:p>
        </p:txBody>
      </p:sp>
      <p:sp>
        <p:nvSpPr>
          <p:cNvPr id="32" name="Text Placeholder 5"/>
          <p:cNvSpPr>
            <a:spLocks noGrp="1"/>
          </p:cNvSpPr>
          <p:nvPr>
            <p:ph type="body" sz="quarter" idx="4294967295"/>
          </p:nvPr>
        </p:nvSpPr>
        <p:spPr>
          <a:xfrm>
            <a:off x="352349" y="1358412"/>
            <a:ext cx="4832599" cy="5014868"/>
          </a:xfrm>
          <a:prstGeom prst="rect">
            <a:avLst/>
          </a:prstGeom>
        </p:spPr>
        <p:txBody>
          <a:bodyPr/>
          <a:lstStyle/>
          <a:p>
            <a:pPr marL="342900" indent="-342900" defTabSz="914400" eaLnBrk="0" hangingPunct="0">
              <a:spcBef>
                <a:spcPts val="100"/>
              </a:spcBef>
              <a:spcAft>
                <a:spcPts val="100"/>
              </a:spcAft>
              <a:buSzTx/>
              <a:defRPr/>
            </a:pPr>
            <a:r>
              <a:rPr lang="en-GB" sz="1400" u="sng" dirty="0">
                <a:solidFill>
                  <a:schemeClr val="accent2"/>
                </a:solidFill>
                <a:latin typeface="+mj-lt"/>
                <a:ea typeface="Verdana" panose="020B0604030504040204" pitchFamily="34" charset="0"/>
                <a:cs typeface="Verdana" panose="020B0604030504040204" pitchFamily="34" charset="0"/>
              </a:rPr>
              <a:t>External Environment</a:t>
            </a:r>
            <a:endParaRPr lang="en-US" sz="1400" u="sng" dirty="0">
              <a:solidFill>
                <a:schemeClr val="accent2"/>
              </a:solidFill>
              <a:latin typeface="+mj-lt"/>
              <a:ea typeface="Verdana" panose="020B0604030504040204" pitchFamily="34" charset="0"/>
              <a:cs typeface="Verdana" panose="020B0604030504040204" pitchFamily="34" charset="0"/>
            </a:endParaRPr>
          </a:p>
          <a:p>
            <a:pPr algn="just">
              <a:spcAft>
                <a:spcPts val="600"/>
              </a:spcAft>
            </a:pPr>
            <a:endParaRPr lang="en-IN" sz="1200" dirty="0">
              <a:solidFill>
                <a:schemeClr val="tx1"/>
              </a:solidFill>
              <a:latin typeface="+mj-lt"/>
            </a:endParaRPr>
          </a:p>
          <a:p>
            <a:pPr algn="just">
              <a:spcAft>
                <a:spcPts val="600"/>
              </a:spcAft>
            </a:pPr>
            <a:r>
              <a:rPr lang="en-IN" sz="1200" b="1" dirty="0">
                <a:solidFill>
                  <a:schemeClr val="tx1"/>
                </a:solidFill>
                <a:latin typeface="+mj-lt"/>
              </a:rPr>
              <a:t>Regulatory Framework</a:t>
            </a:r>
          </a:p>
          <a:p>
            <a:pPr marL="171450" lvl="1" indent="-171450" algn="just">
              <a:spcAft>
                <a:spcPts val="600"/>
              </a:spcAft>
              <a:buFont typeface="Arial" panose="020B0604020202020204" pitchFamily="34" charset="0"/>
              <a:buChar char="•"/>
            </a:pPr>
            <a:r>
              <a:rPr lang="en-IN" sz="1200" b="0" dirty="0">
                <a:latin typeface="+mj-lt"/>
              </a:rPr>
              <a:t>Determine the impact of the regulatory framework including National Civil Aviation Policy, Regional Connectivity Scheme, AERA orders / Guidelines.</a:t>
            </a:r>
          </a:p>
          <a:p>
            <a:pPr algn="just">
              <a:spcAft>
                <a:spcPts val="600"/>
              </a:spcAft>
            </a:pPr>
            <a:r>
              <a:rPr lang="en-IN" sz="1200" b="1" dirty="0">
                <a:solidFill>
                  <a:schemeClr val="tx1"/>
                </a:solidFill>
                <a:latin typeface="+mj-lt"/>
              </a:rPr>
              <a:t>Market / Traffic Potential</a:t>
            </a:r>
          </a:p>
          <a:p>
            <a:pPr marL="171450" indent="-171450" algn="just">
              <a:spcAft>
                <a:spcPts val="600"/>
              </a:spcAft>
              <a:buFont typeface="Arial" panose="020B0604020202020204" pitchFamily="34" charset="0"/>
              <a:buChar char="•"/>
            </a:pPr>
            <a:r>
              <a:rPr lang="en-IN" sz="1200" b="0" dirty="0">
                <a:solidFill>
                  <a:schemeClr val="tx1"/>
                </a:solidFill>
                <a:latin typeface="+mj-lt"/>
              </a:rPr>
              <a:t>Review of traffic projections for the airport including key growth drivers along with historical and project growth rates etc.</a:t>
            </a:r>
          </a:p>
          <a:p>
            <a:pPr lvl="1" algn="just">
              <a:spcAft>
                <a:spcPts val="600"/>
              </a:spcAft>
            </a:pPr>
            <a:r>
              <a:rPr lang="en-IN" sz="1200" dirty="0">
                <a:latin typeface="+mj-lt"/>
              </a:rPr>
              <a:t>Competition Assessment</a:t>
            </a:r>
          </a:p>
          <a:p>
            <a:pPr marL="171450" lvl="1" indent="-171450" algn="just">
              <a:spcAft>
                <a:spcPts val="600"/>
              </a:spcAft>
              <a:buFont typeface="Arial" panose="020B0604020202020204" pitchFamily="34" charset="0"/>
              <a:buChar char="•"/>
            </a:pPr>
            <a:r>
              <a:rPr lang="en-US" sz="1200" b="0" dirty="0">
                <a:latin typeface="+mj-lt"/>
              </a:rPr>
              <a:t>Review and assess competition from other airports in the vicinity and hence the ability of an airport to provide quality service at an affordable price so as to be able to attract traffic</a:t>
            </a:r>
          </a:p>
          <a:p>
            <a:pPr lvl="1" algn="just">
              <a:spcAft>
                <a:spcPts val="600"/>
              </a:spcAft>
            </a:pPr>
            <a:r>
              <a:rPr lang="en-US" sz="1200" dirty="0">
                <a:latin typeface="+mj-lt"/>
              </a:rPr>
              <a:t>Development / Expansion Plans</a:t>
            </a:r>
          </a:p>
          <a:p>
            <a:pPr marL="171450" lvl="1" indent="-171450" algn="just">
              <a:spcAft>
                <a:spcPts val="600"/>
              </a:spcAft>
              <a:buFont typeface="Arial" panose="020B0604020202020204" pitchFamily="34" charset="0"/>
              <a:buChar char="•"/>
            </a:pPr>
            <a:r>
              <a:rPr lang="en-US" sz="1200" b="0" dirty="0">
                <a:latin typeface="+mj-lt"/>
              </a:rPr>
              <a:t>Coordinate with the advisors to seek inputs on capital costs and review the capital costs vis-à-vis other airports in the country; AERA benchmarks etc.</a:t>
            </a:r>
          </a:p>
          <a:p>
            <a:pPr lvl="1" algn="just">
              <a:spcAft>
                <a:spcPts val="600"/>
              </a:spcAft>
            </a:pPr>
            <a:endParaRPr lang="en-US" sz="1200" b="0" dirty="0">
              <a:latin typeface="+mj-lt"/>
            </a:endParaRPr>
          </a:p>
        </p:txBody>
      </p:sp>
      <p:sp>
        <p:nvSpPr>
          <p:cNvPr id="36" name="Text Placeholder 1"/>
          <p:cNvSpPr txBox="1">
            <a:spLocks/>
          </p:cNvSpPr>
          <p:nvPr/>
        </p:nvSpPr>
        <p:spPr>
          <a:xfrm>
            <a:off x="0" y="6084646"/>
            <a:ext cx="10688638" cy="605531"/>
          </a:xfrm>
          <a:prstGeom prst="rect">
            <a:avLst/>
          </a:prstGeom>
          <a:solidFill>
            <a:schemeClr val="tx2"/>
          </a:solidFill>
        </p:spPr>
        <p:txBody>
          <a:bodyPr vert="horz" lIns="0" tIns="0" rIns="0" bIns="0" rtlCol="0" anchor="ctr" anchorCtr="0">
            <a:normAutofit/>
          </a:bodyPr>
          <a:lstStyle>
            <a:lvl1pPr marL="0" indent="0" algn="l" defTabSz="914400" rtl="0" eaLnBrk="1" latinLnBrk="0" hangingPunct="1">
              <a:spcBef>
                <a:spcPts val="1200"/>
              </a:spcBef>
              <a:buFont typeface="Arial" pitchFamily="34" charset="0"/>
              <a:buNone/>
              <a:defRPr sz="3000" b="0" kern="1200">
                <a:solidFill>
                  <a:srgbClr val="575757"/>
                </a:solidFill>
                <a:latin typeface="+mn-lt"/>
                <a:ea typeface="+mn-ea"/>
                <a:cs typeface="+mn-cs"/>
              </a:defRPr>
            </a:lvl1pPr>
            <a:lvl2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3pPr>
            <a:lvl4pPr marL="447675" indent="-180975"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92075" algn="ctr">
              <a:defRPr/>
            </a:pPr>
            <a:r>
              <a:rPr lang="en-US" sz="1200" b="1" i="1" dirty="0">
                <a:solidFill>
                  <a:srgbClr val="FFFFFF"/>
                </a:solidFill>
                <a:latin typeface="Verdana" panose="020B0604030504040204" pitchFamily="34" charset="0"/>
                <a:ea typeface="Verdana" panose="020B0604030504040204" pitchFamily="34" charset="0"/>
                <a:cs typeface="Verdana" panose="020B0604030504040204" pitchFamily="34" charset="0"/>
              </a:rPr>
              <a:t>Deloitte will provide assistance in undertaking due diligence from a commercial and risk perspective and will coordinate with other consultants for their due diligence on technical, legal and tax related aspects.</a:t>
            </a:r>
            <a:endParaRPr lang="en-US" sz="1200" b="1" i="1" dirty="0">
              <a:solidFill>
                <a:srgbClr val="FF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1420402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0819" y="798859"/>
            <a:ext cx="10078983" cy="738664"/>
          </a:xfrm>
          <a:prstGeom prst="rect">
            <a:avLst/>
          </a:prstGeom>
        </p:spPr>
        <p:txBody>
          <a:bodyPr wrap="square">
            <a:spAutoFit/>
          </a:bodyPr>
          <a:lstStyle/>
          <a:p>
            <a:pPr algn="just">
              <a:spcAft>
                <a:spcPts val="800"/>
              </a:spcAft>
              <a:tabLst>
                <a:tab pos="3705225" algn="l"/>
              </a:tabLst>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While PPP aims to efficiently allocate risk between the Government, the private sector and other stakeholders, however it is imperative to understand the risks that Essel Infraprojects would be taking over through this project. As part of this module, assistance would be provided in undertaking:</a:t>
            </a:r>
            <a:endParaRPr lang="en-US" sz="16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7" name="Table 6"/>
          <p:cNvGraphicFramePr>
            <a:graphicFrameLocks noGrp="1"/>
          </p:cNvGraphicFramePr>
          <p:nvPr/>
        </p:nvGraphicFramePr>
        <p:xfrm>
          <a:off x="8298005" y="2001595"/>
          <a:ext cx="2051797" cy="4550664"/>
        </p:xfrm>
        <a:graphic>
          <a:graphicData uri="http://schemas.openxmlformats.org/drawingml/2006/table">
            <a:tbl>
              <a:tblPr firstRow="1" bandRow="1">
                <a:tableStyleId>{00A15C55-8517-42AA-B614-E9B94910E393}</a:tableStyleId>
              </a:tblPr>
              <a:tblGrid>
                <a:gridCol w="2051797">
                  <a:extLst>
                    <a:ext uri="{9D8B030D-6E8A-4147-A177-3AD203B41FA5}">
                      <a16:colId xmlns:a16="http://schemas.microsoft.com/office/drawing/2014/main" val="20000"/>
                    </a:ext>
                  </a:extLst>
                </a:gridCol>
              </a:tblGrid>
              <a:tr h="2799768">
                <a:tc>
                  <a:txBody>
                    <a:bodyPr/>
                    <a:lstStyle/>
                    <a:p>
                      <a:pPr marL="0" marR="0" lvl="1" indent="0" algn="l" defTabSz="957263" rtl="0" eaLnBrk="0" fontAlgn="base" latinLnBrk="0" hangingPunct="0">
                        <a:lnSpc>
                          <a:spcPct val="110000"/>
                        </a:lnSpc>
                        <a:spcBef>
                          <a:spcPct val="0"/>
                        </a:spcBef>
                        <a:spcAft>
                          <a:spcPct val="0"/>
                        </a:spcAft>
                        <a:buClrTx/>
                        <a:buSzTx/>
                        <a:buFontTx/>
                        <a:buNone/>
                        <a:tabLst/>
                        <a:defRPr/>
                      </a:pPr>
                      <a:r>
                        <a:rPr kumimoji="0" lang="en-US" sz="1400" i="1" u="none" strike="noStrike" kern="1200" cap="none" spc="0" normalizeH="0" baseline="0" noProof="0" dirty="0">
                          <a:ln>
                            <a:noFill/>
                          </a:ln>
                          <a:effectLst/>
                          <a:uLnTx/>
                          <a:uFillTx/>
                        </a:rPr>
                        <a:t>We have advised private sector bidders as well as Government authorities on airport PPP projects</a:t>
                      </a:r>
                    </a:p>
                    <a:p>
                      <a:pPr marL="0" marR="0" lvl="1" indent="0" algn="l" defTabSz="957263" rtl="0" eaLnBrk="0" fontAlgn="base" latinLnBrk="0" hangingPunct="0">
                        <a:lnSpc>
                          <a:spcPct val="110000"/>
                        </a:lnSpc>
                        <a:spcBef>
                          <a:spcPct val="0"/>
                        </a:spcBef>
                        <a:spcAft>
                          <a:spcPct val="0"/>
                        </a:spcAft>
                        <a:buClrTx/>
                        <a:buSzTx/>
                        <a:buFontTx/>
                        <a:buNone/>
                        <a:tabLst/>
                        <a:defRPr/>
                      </a:pPr>
                      <a:endParaRPr kumimoji="0" lang="en-US" sz="1400" i="1" u="none" strike="noStrike" kern="1200" cap="none" spc="0" normalizeH="0" baseline="0" noProof="0" dirty="0">
                        <a:ln>
                          <a:noFill/>
                        </a:ln>
                        <a:effectLst/>
                        <a:uLnTx/>
                        <a:uFillTx/>
                      </a:endParaRPr>
                    </a:p>
                    <a:p>
                      <a:pPr marL="0" marR="0" lvl="1" indent="0" algn="l" defTabSz="957263" rtl="0" eaLnBrk="0" fontAlgn="base" latinLnBrk="0" hangingPunct="0">
                        <a:lnSpc>
                          <a:spcPct val="110000"/>
                        </a:lnSpc>
                        <a:spcBef>
                          <a:spcPct val="0"/>
                        </a:spcBef>
                        <a:spcAft>
                          <a:spcPct val="0"/>
                        </a:spcAft>
                        <a:buClrTx/>
                        <a:buSzTx/>
                        <a:buFontTx/>
                        <a:buNone/>
                        <a:tabLst/>
                        <a:defRPr/>
                      </a:pPr>
                      <a:r>
                        <a:rPr kumimoji="0" lang="en-US" sz="1400" i="1" u="none" strike="noStrike" kern="1200" cap="none" spc="0" normalizeH="0" baseline="0" noProof="0" dirty="0">
                          <a:ln>
                            <a:noFill/>
                          </a:ln>
                          <a:effectLst/>
                          <a:uLnTx/>
                          <a:uFillTx/>
                        </a:rPr>
                        <a:t>The team has been invited for discussion on model bidding documents (previously issued) and risk allocation conducted by erstwhile Planning Commission</a:t>
                      </a:r>
                      <a:endParaRPr kumimoji="0" lang="en-GB" sz="1400" b="0" i="1"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0"/>
                  </a:ext>
                </a:extLst>
              </a:tr>
            </a:tbl>
          </a:graphicData>
        </a:graphic>
      </p:graphicFrame>
      <p:grpSp>
        <p:nvGrpSpPr>
          <p:cNvPr id="8" name="Group 7"/>
          <p:cNvGrpSpPr/>
          <p:nvPr/>
        </p:nvGrpSpPr>
        <p:grpSpPr>
          <a:xfrm>
            <a:off x="393700" y="1913216"/>
            <a:ext cx="1512168" cy="1870417"/>
            <a:chOff x="1043608" y="2609094"/>
            <a:chExt cx="1512168" cy="3092013"/>
          </a:xfrm>
        </p:grpSpPr>
        <p:sp>
          <p:nvSpPr>
            <p:cNvPr id="9" name="Diagonal Stripe 8"/>
            <p:cNvSpPr/>
            <p:nvPr/>
          </p:nvSpPr>
          <p:spPr>
            <a:xfrm>
              <a:off x="1043608" y="4188939"/>
              <a:ext cx="1512168" cy="1512168"/>
            </a:xfrm>
            <a:prstGeom prst="diagStripe">
              <a:avLst/>
            </a:prstGeom>
            <a:solidFill>
              <a:srgbClr val="BDD20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sp>
          <p:nvSpPr>
            <p:cNvPr id="10" name="Diagonal Stripe 9"/>
            <p:cNvSpPr/>
            <p:nvPr/>
          </p:nvSpPr>
          <p:spPr>
            <a:xfrm flipV="1">
              <a:off x="1043608" y="2609094"/>
              <a:ext cx="1512168" cy="1512168"/>
            </a:xfrm>
            <a:prstGeom prst="diagStripe">
              <a:avLst/>
            </a:prstGeom>
            <a:solidFill>
              <a:srgbClr val="3C8A2E"/>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grpSp>
      <p:grpSp>
        <p:nvGrpSpPr>
          <p:cNvPr id="11" name="Group 10"/>
          <p:cNvGrpSpPr/>
          <p:nvPr/>
        </p:nvGrpSpPr>
        <p:grpSpPr>
          <a:xfrm>
            <a:off x="3171536" y="1913216"/>
            <a:ext cx="1512168" cy="1870417"/>
            <a:chOff x="2392362" y="2609093"/>
            <a:chExt cx="1512168" cy="3092013"/>
          </a:xfrm>
        </p:grpSpPr>
        <p:sp>
          <p:nvSpPr>
            <p:cNvPr id="12" name="Diagonal Stripe 11"/>
            <p:cNvSpPr/>
            <p:nvPr/>
          </p:nvSpPr>
          <p:spPr>
            <a:xfrm>
              <a:off x="2392362" y="4188938"/>
              <a:ext cx="1512168" cy="1512168"/>
            </a:xfrm>
            <a:prstGeom prst="diagStripe">
              <a:avLst/>
            </a:pr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sp>
          <p:nvSpPr>
            <p:cNvPr id="13" name="Diagonal Stripe 12"/>
            <p:cNvSpPr/>
            <p:nvPr/>
          </p:nvSpPr>
          <p:spPr>
            <a:xfrm flipV="1">
              <a:off x="2392362" y="2609093"/>
              <a:ext cx="1512168" cy="1512168"/>
            </a:xfrm>
            <a:prstGeom prst="diagStripe">
              <a:avLst/>
            </a:prstGeom>
            <a:solidFill>
              <a:schemeClr val="bg2">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002776"/>
                </a:solidFill>
              </a:endParaRPr>
            </a:p>
          </p:txBody>
        </p:sp>
      </p:grpSp>
      <p:grpSp>
        <p:nvGrpSpPr>
          <p:cNvPr id="14" name="Group 13"/>
          <p:cNvGrpSpPr/>
          <p:nvPr/>
        </p:nvGrpSpPr>
        <p:grpSpPr>
          <a:xfrm>
            <a:off x="5514123" y="1913216"/>
            <a:ext cx="1432238" cy="1870417"/>
            <a:chOff x="3796619" y="2609094"/>
            <a:chExt cx="1512168" cy="3092013"/>
          </a:xfrm>
        </p:grpSpPr>
        <p:sp>
          <p:nvSpPr>
            <p:cNvPr id="15" name="Diagonal Stripe 14"/>
            <p:cNvSpPr/>
            <p:nvPr/>
          </p:nvSpPr>
          <p:spPr>
            <a:xfrm>
              <a:off x="3796619" y="4188939"/>
              <a:ext cx="1512168" cy="1512168"/>
            </a:xfrm>
            <a:prstGeom prst="diagStripe">
              <a:avLst/>
            </a:prstGeom>
            <a:solidFill>
              <a:srgbClr val="00277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sp>
          <p:nvSpPr>
            <p:cNvPr id="16" name="Diagonal Stripe 15"/>
            <p:cNvSpPr/>
            <p:nvPr/>
          </p:nvSpPr>
          <p:spPr>
            <a:xfrm flipV="1">
              <a:off x="3796619" y="2609094"/>
              <a:ext cx="1512168" cy="1512168"/>
            </a:xfrm>
            <a:prstGeom prst="diagStripe">
              <a:avLst/>
            </a:prstGeom>
            <a:solidFill>
              <a:srgbClr val="72C7E7"/>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grpSp>
      <p:sp>
        <p:nvSpPr>
          <p:cNvPr id="17" name="Rectangle 16"/>
          <p:cNvSpPr/>
          <p:nvPr/>
        </p:nvSpPr>
        <p:spPr>
          <a:xfrm>
            <a:off x="380051" y="3943422"/>
            <a:ext cx="2592823" cy="2400657"/>
          </a:xfrm>
          <a:prstGeom prst="rect">
            <a:avLst/>
          </a:prstGeom>
        </p:spPr>
        <p:txBody>
          <a:bodyPr wrap="square" lIns="0" tIns="0" rIns="0" bIns="0">
            <a:spAutoFit/>
          </a:bodyPr>
          <a:lstStyle/>
          <a:p>
            <a:pPr algn="just">
              <a:spcAft>
                <a:spcPts val="600"/>
              </a:spcAft>
            </a:pPr>
            <a:r>
              <a:rPr lang="en-US" sz="1200" dirty="0">
                <a:solidFill>
                  <a:srgbClr val="3C8A2E"/>
                </a:solidFill>
                <a:latin typeface="Verdana" panose="020B0604030504040204" pitchFamily="34" charset="0"/>
                <a:ea typeface="Verdana" panose="020B0604030504040204" pitchFamily="34" charset="0"/>
                <a:cs typeface="Verdana" panose="020B0604030504040204" pitchFamily="34" charset="0"/>
              </a:rPr>
              <a:t>The team would undertake focused discussions with Essel Infraprojects to understand their risk perspectives / appetite. Based on such understanding, the team would review the bidding documents to identify the key risks being allocated by the Govt. to the private sector. The team would also assist in identifying risks across spectrum of the project viz. development, operations, regulatory etc.</a:t>
            </a:r>
          </a:p>
        </p:txBody>
      </p:sp>
      <p:sp>
        <p:nvSpPr>
          <p:cNvPr id="18" name="TextBox 17"/>
          <p:cNvSpPr txBox="1"/>
          <p:nvPr/>
        </p:nvSpPr>
        <p:spPr>
          <a:xfrm>
            <a:off x="1965117" y="2489679"/>
            <a:ext cx="385737" cy="688256"/>
          </a:xfrm>
          <a:prstGeom prst="rect">
            <a:avLst/>
          </a:prstGeom>
          <a:noFill/>
        </p:spPr>
        <p:txBody>
          <a:bodyPr wrap="square" lIns="36000" tIns="36000" rIns="36000" bIns="36000" rtlCol="0">
            <a:spAutoFit/>
          </a:bodyPr>
          <a:lstStyle/>
          <a:p>
            <a:r>
              <a:rPr lang="en-US" sz="4000" b="1" dirty="0">
                <a:solidFill>
                  <a:srgbClr val="3C8A2E"/>
                </a:solidFill>
              </a:rPr>
              <a:t>1</a:t>
            </a:r>
          </a:p>
        </p:txBody>
      </p:sp>
      <p:sp>
        <p:nvSpPr>
          <p:cNvPr id="19" name="Rectangle 18"/>
          <p:cNvSpPr/>
          <p:nvPr/>
        </p:nvSpPr>
        <p:spPr>
          <a:xfrm>
            <a:off x="3171537" y="3967874"/>
            <a:ext cx="2194284" cy="2400657"/>
          </a:xfrm>
          <a:prstGeom prst="rect">
            <a:avLst/>
          </a:prstGeom>
        </p:spPr>
        <p:txBody>
          <a:bodyPr wrap="square" lIns="0" tIns="0" rIns="0" bIns="0">
            <a:spAutoFit/>
          </a:bodyPr>
          <a:lstStyle/>
          <a:p>
            <a:pPr algn="just">
              <a:spcAft>
                <a:spcPts val="600"/>
              </a:spcAft>
            </a:pPr>
            <a:r>
              <a:rPr lang="en-US" sz="1200" dirty="0">
                <a:solidFill>
                  <a:srgbClr val="575757"/>
                </a:solidFill>
                <a:latin typeface="Verdana" panose="020B0604030504040204" pitchFamily="34" charset="0"/>
                <a:ea typeface="Verdana" panose="020B0604030504040204" pitchFamily="34" charset="0"/>
                <a:cs typeface="Verdana" panose="020B0604030504040204" pitchFamily="34" charset="0"/>
              </a:rPr>
              <a:t>The team would assist Essel Infraprojects in prioritizing the risks based on the probability of occurrence and potential severity (magnitude) of impact leading to risk allocation and its impact on the bid. The team would help in analyzing scenarios / sensitivities in the financial model and study the impact on the bid value.</a:t>
            </a:r>
          </a:p>
        </p:txBody>
      </p:sp>
      <p:sp>
        <p:nvSpPr>
          <p:cNvPr id="20" name="Rectangle 19"/>
          <p:cNvSpPr/>
          <p:nvPr/>
        </p:nvSpPr>
        <p:spPr>
          <a:xfrm>
            <a:off x="5552988" y="3943422"/>
            <a:ext cx="2475643" cy="1477328"/>
          </a:xfrm>
          <a:prstGeom prst="rect">
            <a:avLst/>
          </a:prstGeom>
        </p:spPr>
        <p:txBody>
          <a:bodyPr wrap="square" lIns="0" tIns="0" rIns="0" bIns="0">
            <a:spAutoFit/>
          </a:bodyPr>
          <a:lstStyle/>
          <a:p>
            <a:pPr algn="just">
              <a:spcAft>
                <a:spcPts val="600"/>
              </a:spcAft>
            </a:pPr>
            <a:r>
              <a:rPr lang="en-US" sz="1200" dirty="0">
                <a:solidFill>
                  <a:srgbClr val="002776"/>
                </a:solidFill>
                <a:latin typeface="Verdana" panose="020B0604030504040204" pitchFamily="34" charset="0"/>
                <a:ea typeface="Verdana" panose="020B0604030504040204" pitchFamily="34" charset="0"/>
                <a:cs typeface="Verdana" panose="020B0604030504040204" pitchFamily="34" charset="0"/>
              </a:rPr>
              <a:t>The team would assist in identification of possible risk mitigation plans / strategies covering possible insurance, entering into third party contracts with vendors / contractors, long terms contracts etc.</a:t>
            </a:r>
          </a:p>
        </p:txBody>
      </p:sp>
      <p:sp>
        <p:nvSpPr>
          <p:cNvPr id="21" name="TextBox 20"/>
          <p:cNvSpPr txBox="1"/>
          <p:nvPr/>
        </p:nvSpPr>
        <p:spPr>
          <a:xfrm>
            <a:off x="4786554" y="2503327"/>
            <a:ext cx="385737" cy="688256"/>
          </a:xfrm>
          <a:prstGeom prst="rect">
            <a:avLst/>
          </a:prstGeom>
          <a:noFill/>
        </p:spPr>
        <p:txBody>
          <a:bodyPr wrap="square" lIns="36000" tIns="36000" rIns="36000" bIns="36000" rtlCol="0">
            <a:spAutoFit/>
          </a:bodyPr>
          <a:lstStyle/>
          <a:p>
            <a:r>
              <a:rPr lang="en-US" sz="4000" b="1" dirty="0">
                <a:solidFill>
                  <a:srgbClr val="575757"/>
                </a:solidFill>
              </a:rPr>
              <a:t>2</a:t>
            </a:r>
          </a:p>
        </p:txBody>
      </p:sp>
      <p:sp>
        <p:nvSpPr>
          <p:cNvPr id="22" name="TextBox 21"/>
          <p:cNvSpPr txBox="1"/>
          <p:nvPr/>
        </p:nvSpPr>
        <p:spPr>
          <a:xfrm>
            <a:off x="6938376" y="2528860"/>
            <a:ext cx="385737" cy="688256"/>
          </a:xfrm>
          <a:prstGeom prst="rect">
            <a:avLst/>
          </a:prstGeom>
          <a:noFill/>
        </p:spPr>
        <p:txBody>
          <a:bodyPr wrap="square" lIns="36000" tIns="36000" rIns="36000" bIns="36000" rtlCol="0">
            <a:spAutoFit/>
          </a:bodyPr>
          <a:lstStyle/>
          <a:p>
            <a:r>
              <a:rPr lang="en-US" sz="4000" b="1" dirty="0">
                <a:solidFill>
                  <a:srgbClr val="002776"/>
                </a:solidFill>
              </a:rPr>
              <a:t>3</a:t>
            </a:r>
          </a:p>
        </p:txBody>
      </p:sp>
      <p:grpSp>
        <p:nvGrpSpPr>
          <p:cNvPr id="23" name="Group 22"/>
          <p:cNvGrpSpPr>
            <a:grpSpLocks noChangeAspect="1"/>
          </p:cNvGrpSpPr>
          <p:nvPr/>
        </p:nvGrpSpPr>
        <p:grpSpPr>
          <a:xfrm>
            <a:off x="387350" y="2597126"/>
            <a:ext cx="459764" cy="459764"/>
            <a:chOff x="2751968" y="3355171"/>
            <a:chExt cx="365760" cy="365760"/>
          </a:xfrm>
        </p:grpSpPr>
        <p:sp>
          <p:nvSpPr>
            <p:cNvPr id="24" name="Oval 23"/>
            <p:cNvSpPr/>
            <p:nvPr/>
          </p:nvSpPr>
          <p:spPr>
            <a:xfrm>
              <a:off x="2751968" y="3355171"/>
              <a:ext cx="365760" cy="365760"/>
            </a:xfrm>
            <a:prstGeom prst="ellipse">
              <a:avLst/>
            </a:prstGeom>
            <a:solidFill>
              <a:srgbClr val="3C8A2E"/>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sp>
          <p:nvSpPr>
            <p:cNvPr id="25" name="Freeform 24"/>
            <p:cNvSpPr/>
            <p:nvPr/>
          </p:nvSpPr>
          <p:spPr>
            <a:xfrm rot="19236591">
              <a:off x="2809402" y="3390723"/>
              <a:ext cx="274320" cy="274320"/>
            </a:xfrm>
            <a:custGeom>
              <a:avLst/>
              <a:gdLst>
                <a:gd name="connsiteX0" fmla="*/ 869950 w 1073150"/>
                <a:gd name="connsiteY0" fmla="*/ 523875 h 1187450"/>
                <a:gd name="connsiteX1" fmla="*/ 796925 w 1073150"/>
                <a:gd name="connsiteY1" fmla="*/ 434975 h 1187450"/>
                <a:gd name="connsiteX2" fmla="*/ 749300 w 1073150"/>
                <a:gd name="connsiteY2" fmla="*/ 365125 h 1187450"/>
                <a:gd name="connsiteX3" fmla="*/ 666750 w 1073150"/>
                <a:gd name="connsiteY3" fmla="*/ 257175 h 1187450"/>
                <a:gd name="connsiteX4" fmla="*/ 615950 w 1073150"/>
                <a:gd name="connsiteY4" fmla="*/ 184150 h 1187450"/>
                <a:gd name="connsiteX5" fmla="*/ 504825 w 1073150"/>
                <a:gd name="connsiteY5" fmla="*/ 41275 h 1187450"/>
                <a:gd name="connsiteX6" fmla="*/ 428625 w 1073150"/>
                <a:gd name="connsiteY6" fmla="*/ 0 h 1187450"/>
                <a:gd name="connsiteX7" fmla="*/ 377825 w 1073150"/>
                <a:gd name="connsiteY7" fmla="*/ 3175 h 1187450"/>
                <a:gd name="connsiteX8" fmla="*/ 539750 w 1073150"/>
                <a:gd name="connsiteY8" fmla="*/ 384175 h 1187450"/>
                <a:gd name="connsiteX9" fmla="*/ 482600 w 1073150"/>
                <a:gd name="connsiteY9" fmla="*/ 542925 h 1187450"/>
                <a:gd name="connsiteX10" fmla="*/ 215900 w 1073150"/>
                <a:gd name="connsiteY10" fmla="*/ 552450 h 1187450"/>
                <a:gd name="connsiteX11" fmla="*/ 85725 w 1073150"/>
                <a:gd name="connsiteY11" fmla="*/ 393700 h 1187450"/>
                <a:gd name="connsiteX12" fmla="*/ 0 w 1073150"/>
                <a:gd name="connsiteY12" fmla="*/ 374650 h 1187450"/>
                <a:gd name="connsiteX13" fmla="*/ 53975 w 1073150"/>
                <a:gd name="connsiteY13" fmla="*/ 568325 h 1187450"/>
                <a:gd name="connsiteX14" fmla="*/ 50800 w 1073150"/>
                <a:gd name="connsiteY14" fmla="*/ 619125 h 1187450"/>
                <a:gd name="connsiteX15" fmla="*/ 9525 w 1073150"/>
                <a:gd name="connsiteY15" fmla="*/ 806450 h 1187450"/>
                <a:gd name="connsiteX16" fmla="*/ 88900 w 1073150"/>
                <a:gd name="connsiteY16" fmla="*/ 796925 h 1187450"/>
                <a:gd name="connsiteX17" fmla="*/ 212725 w 1073150"/>
                <a:gd name="connsiteY17" fmla="*/ 615950 h 1187450"/>
                <a:gd name="connsiteX18" fmla="*/ 460375 w 1073150"/>
                <a:gd name="connsiteY18" fmla="*/ 638175 h 1187450"/>
                <a:gd name="connsiteX19" fmla="*/ 536575 w 1073150"/>
                <a:gd name="connsiteY19" fmla="*/ 822325 h 1187450"/>
                <a:gd name="connsiteX20" fmla="*/ 390525 w 1073150"/>
                <a:gd name="connsiteY20" fmla="*/ 1187450 h 1187450"/>
                <a:gd name="connsiteX21" fmla="*/ 536575 w 1073150"/>
                <a:gd name="connsiteY21" fmla="*/ 1111250 h 1187450"/>
                <a:gd name="connsiteX22" fmla="*/ 612775 w 1073150"/>
                <a:gd name="connsiteY22" fmla="*/ 996950 h 1187450"/>
                <a:gd name="connsiteX23" fmla="*/ 663575 w 1073150"/>
                <a:gd name="connsiteY23" fmla="*/ 930275 h 1187450"/>
                <a:gd name="connsiteX24" fmla="*/ 746125 w 1073150"/>
                <a:gd name="connsiteY24" fmla="*/ 815975 h 1187450"/>
                <a:gd name="connsiteX25" fmla="*/ 803275 w 1073150"/>
                <a:gd name="connsiteY25" fmla="*/ 749300 h 1187450"/>
                <a:gd name="connsiteX26" fmla="*/ 869950 w 1073150"/>
                <a:gd name="connsiteY26" fmla="*/ 650875 h 1187450"/>
                <a:gd name="connsiteX27" fmla="*/ 1069975 w 1073150"/>
                <a:gd name="connsiteY27" fmla="*/ 641350 h 1187450"/>
                <a:gd name="connsiteX28" fmla="*/ 1073150 w 1073150"/>
                <a:gd name="connsiteY28" fmla="*/ 542925 h 1187450"/>
                <a:gd name="connsiteX29" fmla="*/ 869950 w 1073150"/>
                <a:gd name="connsiteY29" fmla="*/ 523875 h 1187450"/>
                <a:gd name="connsiteX0" fmla="*/ 869950 w 1174048"/>
                <a:gd name="connsiteY0" fmla="*/ 523875 h 1187450"/>
                <a:gd name="connsiteX1" fmla="*/ 796925 w 1174048"/>
                <a:gd name="connsiteY1" fmla="*/ 434975 h 1187450"/>
                <a:gd name="connsiteX2" fmla="*/ 749300 w 1174048"/>
                <a:gd name="connsiteY2" fmla="*/ 365125 h 1187450"/>
                <a:gd name="connsiteX3" fmla="*/ 666750 w 1174048"/>
                <a:gd name="connsiteY3" fmla="*/ 257175 h 1187450"/>
                <a:gd name="connsiteX4" fmla="*/ 615950 w 1174048"/>
                <a:gd name="connsiteY4" fmla="*/ 184150 h 1187450"/>
                <a:gd name="connsiteX5" fmla="*/ 504825 w 1174048"/>
                <a:gd name="connsiteY5" fmla="*/ 41275 h 1187450"/>
                <a:gd name="connsiteX6" fmla="*/ 428625 w 1174048"/>
                <a:gd name="connsiteY6" fmla="*/ 0 h 1187450"/>
                <a:gd name="connsiteX7" fmla="*/ 377825 w 1174048"/>
                <a:gd name="connsiteY7" fmla="*/ 3175 h 1187450"/>
                <a:gd name="connsiteX8" fmla="*/ 539750 w 1174048"/>
                <a:gd name="connsiteY8" fmla="*/ 384175 h 1187450"/>
                <a:gd name="connsiteX9" fmla="*/ 482600 w 1174048"/>
                <a:gd name="connsiteY9" fmla="*/ 542925 h 1187450"/>
                <a:gd name="connsiteX10" fmla="*/ 215900 w 1174048"/>
                <a:gd name="connsiteY10" fmla="*/ 552450 h 1187450"/>
                <a:gd name="connsiteX11" fmla="*/ 85725 w 1174048"/>
                <a:gd name="connsiteY11" fmla="*/ 393700 h 1187450"/>
                <a:gd name="connsiteX12" fmla="*/ 0 w 1174048"/>
                <a:gd name="connsiteY12" fmla="*/ 374650 h 1187450"/>
                <a:gd name="connsiteX13" fmla="*/ 53975 w 1174048"/>
                <a:gd name="connsiteY13" fmla="*/ 568325 h 1187450"/>
                <a:gd name="connsiteX14" fmla="*/ 50800 w 1174048"/>
                <a:gd name="connsiteY14" fmla="*/ 619125 h 1187450"/>
                <a:gd name="connsiteX15" fmla="*/ 9525 w 1174048"/>
                <a:gd name="connsiteY15" fmla="*/ 806450 h 1187450"/>
                <a:gd name="connsiteX16" fmla="*/ 88900 w 1174048"/>
                <a:gd name="connsiteY16" fmla="*/ 796925 h 1187450"/>
                <a:gd name="connsiteX17" fmla="*/ 212725 w 1174048"/>
                <a:gd name="connsiteY17" fmla="*/ 615950 h 1187450"/>
                <a:gd name="connsiteX18" fmla="*/ 460375 w 1174048"/>
                <a:gd name="connsiteY18" fmla="*/ 638175 h 1187450"/>
                <a:gd name="connsiteX19" fmla="*/ 536575 w 1174048"/>
                <a:gd name="connsiteY19" fmla="*/ 822325 h 1187450"/>
                <a:gd name="connsiteX20" fmla="*/ 390525 w 1174048"/>
                <a:gd name="connsiteY20" fmla="*/ 1187450 h 1187450"/>
                <a:gd name="connsiteX21" fmla="*/ 536575 w 1174048"/>
                <a:gd name="connsiteY21" fmla="*/ 1111250 h 1187450"/>
                <a:gd name="connsiteX22" fmla="*/ 612775 w 1174048"/>
                <a:gd name="connsiteY22" fmla="*/ 996950 h 1187450"/>
                <a:gd name="connsiteX23" fmla="*/ 663575 w 1174048"/>
                <a:gd name="connsiteY23" fmla="*/ 930275 h 1187450"/>
                <a:gd name="connsiteX24" fmla="*/ 746125 w 1174048"/>
                <a:gd name="connsiteY24" fmla="*/ 815975 h 1187450"/>
                <a:gd name="connsiteX25" fmla="*/ 803275 w 1174048"/>
                <a:gd name="connsiteY25" fmla="*/ 749300 h 1187450"/>
                <a:gd name="connsiteX26" fmla="*/ 869950 w 1174048"/>
                <a:gd name="connsiteY26" fmla="*/ 650875 h 1187450"/>
                <a:gd name="connsiteX27" fmla="*/ 1069975 w 1174048"/>
                <a:gd name="connsiteY27" fmla="*/ 641350 h 1187450"/>
                <a:gd name="connsiteX28" fmla="*/ 1073150 w 1174048"/>
                <a:gd name="connsiteY28" fmla="*/ 542925 h 1187450"/>
                <a:gd name="connsiteX29" fmla="*/ 869950 w 1174048"/>
                <a:gd name="connsiteY29" fmla="*/ 523875 h 1187450"/>
                <a:gd name="connsiteX0" fmla="*/ 869950 w 1203659"/>
                <a:gd name="connsiteY0" fmla="*/ 523875 h 1187450"/>
                <a:gd name="connsiteX1" fmla="*/ 796925 w 1203659"/>
                <a:gd name="connsiteY1" fmla="*/ 434975 h 1187450"/>
                <a:gd name="connsiteX2" fmla="*/ 749300 w 1203659"/>
                <a:gd name="connsiteY2" fmla="*/ 365125 h 1187450"/>
                <a:gd name="connsiteX3" fmla="*/ 666750 w 1203659"/>
                <a:gd name="connsiteY3" fmla="*/ 257175 h 1187450"/>
                <a:gd name="connsiteX4" fmla="*/ 615950 w 1203659"/>
                <a:gd name="connsiteY4" fmla="*/ 184150 h 1187450"/>
                <a:gd name="connsiteX5" fmla="*/ 504825 w 1203659"/>
                <a:gd name="connsiteY5" fmla="*/ 41275 h 1187450"/>
                <a:gd name="connsiteX6" fmla="*/ 428625 w 1203659"/>
                <a:gd name="connsiteY6" fmla="*/ 0 h 1187450"/>
                <a:gd name="connsiteX7" fmla="*/ 377825 w 1203659"/>
                <a:gd name="connsiteY7" fmla="*/ 3175 h 1187450"/>
                <a:gd name="connsiteX8" fmla="*/ 539750 w 1203659"/>
                <a:gd name="connsiteY8" fmla="*/ 384175 h 1187450"/>
                <a:gd name="connsiteX9" fmla="*/ 482600 w 1203659"/>
                <a:gd name="connsiteY9" fmla="*/ 542925 h 1187450"/>
                <a:gd name="connsiteX10" fmla="*/ 215900 w 1203659"/>
                <a:gd name="connsiteY10" fmla="*/ 552450 h 1187450"/>
                <a:gd name="connsiteX11" fmla="*/ 85725 w 1203659"/>
                <a:gd name="connsiteY11" fmla="*/ 393700 h 1187450"/>
                <a:gd name="connsiteX12" fmla="*/ 0 w 1203659"/>
                <a:gd name="connsiteY12" fmla="*/ 374650 h 1187450"/>
                <a:gd name="connsiteX13" fmla="*/ 53975 w 1203659"/>
                <a:gd name="connsiteY13" fmla="*/ 568325 h 1187450"/>
                <a:gd name="connsiteX14" fmla="*/ 50800 w 1203659"/>
                <a:gd name="connsiteY14" fmla="*/ 619125 h 1187450"/>
                <a:gd name="connsiteX15" fmla="*/ 9525 w 1203659"/>
                <a:gd name="connsiteY15" fmla="*/ 806450 h 1187450"/>
                <a:gd name="connsiteX16" fmla="*/ 88900 w 1203659"/>
                <a:gd name="connsiteY16" fmla="*/ 796925 h 1187450"/>
                <a:gd name="connsiteX17" fmla="*/ 212725 w 1203659"/>
                <a:gd name="connsiteY17" fmla="*/ 615950 h 1187450"/>
                <a:gd name="connsiteX18" fmla="*/ 460375 w 1203659"/>
                <a:gd name="connsiteY18" fmla="*/ 638175 h 1187450"/>
                <a:gd name="connsiteX19" fmla="*/ 536575 w 1203659"/>
                <a:gd name="connsiteY19" fmla="*/ 822325 h 1187450"/>
                <a:gd name="connsiteX20" fmla="*/ 390525 w 1203659"/>
                <a:gd name="connsiteY20" fmla="*/ 1187450 h 1187450"/>
                <a:gd name="connsiteX21" fmla="*/ 536575 w 1203659"/>
                <a:gd name="connsiteY21" fmla="*/ 1111250 h 1187450"/>
                <a:gd name="connsiteX22" fmla="*/ 612775 w 1203659"/>
                <a:gd name="connsiteY22" fmla="*/ 996950 h 1187450"/>
                <a:gd name="connsiteX23" fmla="*/ 663575 w 1203659"/>
                <a:gd name="connsiteY23" fmla="*/ 930275 h 1187450"/>
                <a:gd name="connsiteX24" fmla="*/ 746125 w 1203659"/>
                <a:gd name="connsiteY24" fmla="*/ 815975 h 1187450"/>
                <a:gd name="connsiteX25" fmla="*/ 803275 w 1203659"/>
                <a:gd name="connsiteY25" fmla="*/ 749300 h 1187450"/>
                <a:gd name="connsiteX26" fmla="*/ 869950 w 1203659"/>
                <a:gd name="connsiteY26" fmla="*/ 650875 h 1187450"/>
                <a:gd name="connsiteX27" fmla="*/ 1069975 w 1203659"/>
                <a:gd name="connsiteY27" fmla="*/ 641350 h 1187450"/>
                <a:gd name="connsiteX28" fmla="*/ 1073150 w 1203659"/>
                <a:gd name="connsiteY28" fmla="*/ 542925 h 1187450"/>
                <a:gd name="connsiteX29" fmla="*/ 869950 w 1203659"/>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2725 w 1205003"/>
                <a:gd name="connsiteY17" fmla="*/ 61595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 name="connsiteX0" fmla="*/ 869950 w 1205003"/>
                <a:gd name="connsiteY0" fmla="*/ 523875 h 1187450"/>
                <a:gd name="connsiteX1" fmla="*/ 796925 w 1205003"/>
                <a:gd name="connsiteY1" fmla="*/ 434975 h 1187450"/>
                <a:gd name="connsiteX2" fmla="*/ 749300 w 1205003"/>
                <a:gd name="connsiteY2" fmla="*/ 365125 h 1187450"/>
                <a:gd name="connsiteX3" fmla="*/ 666750 w 1205003"/>
                <a:gd name="connsiteY3" fmla="*/ 257175 h 1187450"/>
                <a:gd name="connsiteX4" fmla="*/ 615950 w 1205003"/>
                <a:gd name="connsiteY4" fmla="*/ 184150 h 1187450"/>
                <a:gd name="connsiteX5" fmla="*/ 504825 w 1205003"/>
                <a:gd name="connsiteY5" fmla="*/ 41275 h 1187450"/>
                <a:gd name="connsiteX6" fmla="*/ 428625 w 1205003"/>
                <a:gd name="connsiteY6" fmla="*/ 0 h 1187450"/>
                <a:gd name="connsiteX7" fmla="*/ 377825 w 1205003"/>
                <a:gd name="connsiteY7" fmla="*/ 3175 h 1187450"/>
                <a:gd name="connsiteX8" fmla="*/ 539750 w 1205003"/>
                <a:gd name="connsiteY8" fmla="*/ 384175 h 1187450"/>
                <a:gd name="connsiteX9" fmla="*/ 482600 w 1205003"/>
                <a:gd name="connsiteY9" fmla="*/ 542925 h 1187450"/>
                <a:gd name="connsiteX10" fmla="*/ 215900 w 1205003"/>
                <a:gd name="connsiteY10" fmla="*/ 552450 h 1187450"/>
                <a:gd name="connsiteX11" fmla="*/ 85725 w 1205003"/>
                <a:gd name="connsiteY11" fmla="*/ 393700 h 1187450"/>
                <a:gd name="connsiteX12" fmla="*/ 0 w 1205003"/>
                <a:gd name="connsiteY12" fmla="*/ 374650 h 1187450"/>
                <a:gd name="connsiteX13" fmla="*/ 53975 w 1205003"/>
                <a:gd name="connsiteY13" fmla="*/ 568325 h 1187450"/>
                <a:gd name="connsiteX14" fmla="*/ 50800 w 1205003"/>
                <a:gd name="connsiteY14" fmla="*/ 619125 h 1187450"/>
                <a:gd name="connsiteX15" fmla="*/ 9525 w 1205003"/>
                <a:gd name="connsiteY15" fmla="*/ 806450 h 1187450"/>
                <a:gd name="connsiteX16" fmla="*/ 88900 w 1205003"/>
                <a:gd name="connsiteY16" fmla="*/ 796925 h 1187450"/>
                <a:gd name="connsiteX17" fmla="*/ 215900 w 1205003"/>
                <a:gd name="connsiteY17" fmla="*/ 635000 h 1187450"/>
                <a:gd name="connsiteX18" fmla="*/ 460375 w 1205003"/>
                <a:gd name="connsiteY18" fmla="*/ 638175 h 1187450"/>
                <a:gd name="connsiteX19" fmla="*/ 536575 w 1205003"/>
                <a:gd name="connsiteY19" fmla="*/ 822325 h 1187450"/>
                <a:gd name="connsiteX20" fmla="*/ 390525 w 1205003"/>
                <a:gd name="connsiteY20" fmla="*/ 1187450 h 1187450"/>
                <a:gd name="connsiteX21" fmla="*/ 536575 w 1205003"/>
                <a:gd name="connsiteY21" fmla="*/ 1111250 h 1187450"/>
                <a:gd name="connsiteX22" fmla="*/ 612775 w 1205003"/>
                <a:gd name="connsiteY22" fmla="*/ 996950 h 1187450"/>
                <a:gd name="connsiteX23" fmla="*/ 663575 w 1205003"/>
                <a:gd name="connsiteY23" fmla="*/ 930275 h 1187450"/>
                <a:gd name="connsiteX24" fmla="*/ 746125 w 1205003"/>
                <a:gd name="connsiteY24" fmla="*/ 815975 h 1187450"/>
                <a:gd name="connsiteX25" fmla="*/ 803275 w 1205003"/>
                <a:gd name="connsiteY25" fmla="*/ 749300 h 1187450"/>
                <a:gd name="connsiteX26" fmla="*/ 869950 w 1205003"/>
                <a:gd name="connsiteY26" fmla="*/ 650875 h 1187450"/>
                <a:gd name="connsiteX27" fmla="*/ 1069975 w 1205003"/>
                <a:gd name="connsiteY27" fmla="*/ 641350 h 1187450"/>
                <a:gd name="connsiteX28" fmla="*/ 1073150 w 1205003"/>
                <a:gd name="connsiteY28" fmla="*/ 542925 h 1187450"/>
                <a:gd name="connsiteX29" fmla="*/ 869950 w 1205003"/>
                <a:gd name="connsiteY29" fmla="*/ 523875 h 1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05003" h="1187450">
                  <a:moveTo>
                    <a:pt x="869950" y="523875"/>
                  </a:moveTo>
                  <a:lnTo>
                    <a:pt x="796925" y="434975"/>
                  </a:lnTo>
                  <a:cubicBezTo>
                    <a:pt x="869950" y="383117"/>
                    <a:pt x="784225" y="353483"/>
                    <a:pt x="749300" y="365125"/>
                  </a:cubicBezTo>
                  <a:lnTo>
                    <a:pt x="666750" y="257175"/>
                  </a:lnTo>
                  <a:cubicBezTo>
                    <a:pt x="729192" y="201083"/>
                    <a:pt x="693208" y="183092"/>
                    <a:pt x="615950" y="184150"/>
                  </a:cubicBezTo>
                  <a:lnTo>
                    <a:pt x="504825" y="41275"/>
                  </a:lnTo>
                  <a:cubicBezTo>
                    <a:pt x="466725" y="5292"/>
                    <a:pt x="454025" y="13758"/>
                    <a:pt x="428625" y="0"/>
                  </a:cubicBezTo>
                  <a:lnTo>
                    <a:pt x="377825" y="3175"/>
                  </a:lnTo>
                  <a:lnTo>
                    <a:pt x="539750" y="384175"/>
                  </a:lnTo>
                  <a:cubicBezTo>
                    <a:pt x="552450" y="443442"/>
                    <a:pt x="622300" y="515408"/>
                    <a:pt x="482600" y="542925"/>
                  </a:cubicBezTo>
                  <a:lnTo>
                    <a:pt x="215900" y="552450"/>
                  </a:lnTo>
                  <a:lnTo>
                    <a:pt x="85725" y="393700"/>
                  </a:lnTo>
                  <a:lnTo>
                    <a:pt x="0" y="374650"/>
                  </a:lnTo>
                  <a:lnTo>
                    <a:pt x="53975" y="568325"/>
                  </a:lnTo>
                  <a:cubicBezTo>
                    <a:pt x="14817" y="582083"/>
                    <a:pt x="4233" y="599017"/>
                    <a:pt x="50800" y="619125"/>
                  </a:cubicBezTo>
                  <a:lnTo>
                    <a:pt x="9525" y="806450"/>
                  </a:lnTo>
                  <a:lnTo>
                    <a:pt x="88900" y="796925"/>
                  </a:lnTo>
                  <a:lnTo>
                    <a:pt x="215900" y="635000"/>
                  </a:lnTo>
                  <a:lnTo>
                    <a:pt x="460375" y="638175"/>
                  </a:lnTo>
                  <a:cubicBezTo>
                    <a:pt x="565150" y="670983"/>
                    <a:pt x="603250" y="646642"/>
                    <a:pt x="536575" y="822325"/>
                  </a:cubicBezTo>
                  <a:lnTo>
                    <a:pt x="390525" y="1187450"/>
                  </a:lnTo>
                  <a:cubicBezTo>
                    <a:pt x="439208" y="1162050"/>
                    <a:pt x="452967" y="1231900"/>
                    <a:pt x="536575" y="1111250"/>
                  </a:cubicBezTo>
                  <a:lnTo>
                    <a:pt x="612775" y="996950"/>
                  </a:lnTo>
                  <a:cubicBezTo>
                    <a:pt x="721783" y="1003300"/>
                    <a:pt x="710142" y="955675"/>
                    <a:pt x="663575" y="930275"/>
                  </a:cubicBezTo>
                  <a:lnTo>
                    <a:pt x="746125" y="815975"/>
                  </a:lnTo>
                  <a:cubicBezTo>
                    <a:pt x="838200" y="822325"/>
                    <a:pt x="841375" y="800100"/>
                    <a:pt x="803275" y="749300"/>
                  </a:cubicBezTo>
                  <a:lnTo>
                    <a:pt x="869950" y="650875"/>
                  </a:lnTo>
                  <a:cubicBezTo>
                    <a:pt x="936625" y="647700"/>
                    <a:pt x="987425" y="663575"/>
                    <a:pt x="1069975" y="641350"/>
                  </a:cubicBezTo>
                  <a:cubicBezTo>
                    <a:pt x="1305983" y="605367"/>
                    <a:pt x="1183217" y="569383"/>
                    <a:pt x="1073150" y="542925"/>
                  </a:cubicBezTo>
                  <a:cubicBezTo>
                    <a:pt x="992717" y="527050"/>
                    <a:pt x="909108" y="542925"/>
                    <a:pt x="869950" y="523875"/>
                  </a:cubicBezTo>
                  <a:close/>
                </a:path>
              </a:pathLst>
            </a:cu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spAutoFit/>
            </a:bodyPr>
            <a:lstStyle/>
            <a:p>
              <a:pPr algn="ctr"/>
              <a:endParaRPr lang="en-US" sz="1400" dirty="0">
                <a:solidFill>
                  <a:srgbClr val="002776"/>
                </a:solidFill>
              </a:endParaRPr>
            </a:p>
          </p:txBody>
        </p:sp>
      </p:grpSp>
      <p:pic>
        <p:nvPicPr>
          <p:cNvPr id="26" name="Picture 25"/>
          <p:cNvPicPr>
            <a:picLocks noChangeAspect="1"/>
          </p:cNvPicPr>
          <p:nvPr/>
        </p:nvPicPr>
        <p:blipFill>
          <a:blip r:embed="rId2" cstate="print">
            <a:grayscl/>
            <a:extLst>
              <a:ext uri="{28A0092B-C50C-407E-A947-70E740481C1C}">
                <a14:useLocalDpi xmlns:a14="http://schemas.microsoft.com/office/drawing/2010/main" val="0"/>
              </a:ext>
            </a:extLst>
          </a:blip>
          <a:stretch>
            <a:fillRect/>
          </a:stretch>
        </p:blipFill>
        <p:spPr>
          <a:xfrm>
            <a:off x="3185185" y="2610710"/>
            <a:ext cx="432528" cy="432528"/>
          </a:xfrm>
          <a:prstGeom prst="rect">
            <a:avLst/>
          </a:prstGeom>
        </p:spPr>
      </p:pic>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52988" y="2651138"/>
            <a:ext cx="405747" cy="405747"/>
          </a:xfrm>
          <a:prstGeom prst="rect">
            <a:avLst/>
          </a:prstGeom>
        </p:spPr>
      </p:pic>
      <p:sp>
        <p:nvSpPr>
          <p:cNvPr id="28" name="Rectangle 27"/>
          <p:cNvSpPr/>
          <p:nvPr/>
        </p:nvSpPr>
        <p:spPr>
          <a:xfrm>
            <a:off x="1087371" y="3310331"/>
            <a:ext cx="1935145" cy="523220"/>
          </a:xfrm>
          <a:prstGeom prst="rect">
            <a:avLst/>
          </a:prstGeom>
        </p:spPr>
        <p:txBody>
          <a:bodyPr wrap="none">
            <a:spAutoFit/>
          </a:bodyPr>
          <a:lstStyle/>
          <a:p>
            <a:pPr algn="just"/>
            <a:r>
              <a:rPr lang="en-US" sz="1400" b="1" dirty="0">
                <a:solidFill>
                  <a:srgbClr val="3C8A2E"/>
                </a:solidFill>
                <a:latin typeface="Verdana" panose="020B0604030504040204" pitchFamily="34" charset="0"/>
                <a:ea typeface="Verdana" panose="020B0604030504040204" pitchFamily="34" charset="0"/>
                <a:cs typeface="Verdana" panose="020B0604030504040204" pitchFamily="34" charset="0"/>
              </a:rPr>
              <a:t>RISK </a:t>
            </a:r>
          </a:p>
          <a:p>
            <a:pPr algn="just"/>
            <a:r>
              <a:rPr lang="en-US" sz="1400" b="1" dirty="0">
                <a:solidFill>
                  <a:srgbClr val="3C8A2E"/>
                </a:solidFill>
                <a:latin typeface="Verdana" panose="020B0604030504040204" pitchFamily="34" charset="0"/>
                <a:ea typeface="Verdana" panose="020B0604030504040204" pitchFamily="34" charset="0"/>
                <a:cs typeface="Verdana" panose="020B0604030504040204" pitchFamily="34" charset="0"/>
              </a:rPr>
              <a:t>IDENTIFICATION</a:t>
            </a:r>
          </a:p>
        </p:txBody>
      </p:sp>
      <p:sp>
        <p:nvSpPr>
          <p:cNvPr id="29" name="Rectangle 28"/>
          <p:cNvSpPr/>
          <p:nvPr/>
        </p:nvSpPr>
        <p:spPr>
          <a:xfrm>
            <a:off x="3761130" y="3310331"/>
            <a:ext cx="1754006" cy="523220"/>
          </a:xfrm>
          <a:prstGeom prst="rect">
            <a:avLst/>
          </a:prstGeom>
        </p:spPr>
        <p:txBody>
          <a:bodyPr wrap="none">
            <a:spAutoFit/>
          </a:bodyPr>
          <a:lstStyle/>
          <a:p>
            <a:r>
              <a:rPr lang="en-US" sz="1400" b="1" dirty="0">
                <a:solidFill>
                  <a:srgbClr val="575757"/>
                </a:solidFill>
                <a:latin typeface="Verdana" panose="020B0604030504040204" pitchFamily="34" charset="0"/>
                <a:ea typeface="Verdana" panose="020B0604030504040204" pitchFamily="34" charset="0"/>
                <a:cs typeface="Verdana" panose="020B0604030504040204" pitchFamily="34" charset="0"/>
              </a:rPr>
              <a:t>PROBABILITY </a:t>
            </a:r>
          </a:p>
          <a:p>
            <a:pPr>
              <a:spcAft>
                <a:spcPts val="600"/>
              </a:spcAft>
            </a:pPr>
            <a:r>
              <a:rPr lang="en-US" sz="1400" b="1" dirty="0">
                <a:solidFill>
                  <a:srgbClr val="575757"/>
                </a:solidFill>
                <a:latin typeface="Verdana" panose="020B0604030504040204" pitchFamily="34" charset="0"/>
                <a:ea typeface="Verdana" panose="020B0604030504040204" pitchFamily="34" charset="0"/>
                <a:cs typeface="Verdana" panose="020B0604030504040204" pitchFamily="34" charset="0"/>
              </a:rPr>
              <a:t>AND SEVERITY </a:t>
            </a:r>
          </a:p>
        </p:txBody>
      </p:sp>
      <p:sp>
        <p:nvSpPr>
          <p:cNvPr id="30" name="Rectangle 29"/>
          <p:cNvSpPr/>
          <p:nvPr/>
        </p:nvSpPr>
        <p:spPr>
          <a:xfrm>
            <a:off x="6055811" y="3310331"/>
            <a:ext cx="2353219" cy="523220"/>
          </a:xfrm>
          <a:prstGeom prst="rect">
            <a:avLst/>
          </a:prstGeom>
        </p:spPr>
        <p:txBody>
          <a:bodyPr wrap="square">
            <a:spAutoFit/>
          </a:bodyPr>
          <a:lstStyle/>
          <a:p>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RISK MITIGATION </a:t>
            </a:r>
          </a:p>
          <a:p>
            <a:r>
              <a:rPr lang="en-US" sz="1400" b="1" dirty="0">
                <a:solidFill>
                  <a:srgbClr val="002776"/>
                </a:solidFill>
                <a:latin typeface="Verdana" panose="020B0604030504040204" pitchFamily="34" charset="0"/>
                <a:ea typeface="Verdana" panose="020B0604030504040204" pitchFamily="34" charset="0"/>
                <a:cs typeface="Verdana" panose="020B0604030504040204" pitchFamily="34" charset="0"/>
              </a:rPr>
              <a:t>PLANS</a:t>
            </a:r>
          </a:p>
        </p:txBody>
      </p:sp>
      <p:sp>
        <p:nvSpPr>
          <p:cNvPr id="33" name="Rectangle 32"/>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34" name="Straight Connector 33"/>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263396" y="331644"/>
            <a:ext cx="7021159"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Risk Analysis</a:t>
            </a:r>
          </a:p>
        </p:txBody>
      </p:sp>
    </p:spTree>
    <p:extLst>
      <p:ext uri="{BB962C8B-B14F-4D97-AF65-F5344CB8AC3E}">
        <p14:creationId xmlns:p14="http://schemas.microsoft.com/office/powerpoint/2010/main" val="299110125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8" name="Text Placeholder 1"/>
          <p:cNvSpPr>
            <a:spLocks noGrp="1"/>
          </p:cNvSpPr>
          <p:nvPr>
            <p:ph type="body" sz="quarter" idx="4294967295"/>
          </p:nvPr>
        </p:nvSpPr>
        <p:spPr>
          <a:xfrm>
            <a:off x="344448" y="893775"/>
            <a:ext cx="10075693" cy="637040"/>
          </a:xfrm>
          <a:prstGeom prst="rect">
            <a:avLst/>
          </a:prstGeom>
        </p:spPr>
        <p:txBody>
          <a:bodyPr vert="horz" lIns="0" tIns="0" rIns="0" bIns="0" rtlCol="0">
            <a:normAutofit/>
          </a:bodyPr>
          <a:lstStyle/>
          <a:p>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Deloitte successfully assisted Government of Philippine in structuring Mactan-Cebu International Airport Terminal Project, including an efficient risk allocation between the Government and private sector</a:t>
            </a:r>
          </a:p>
        </p:txBody>
      </p:sp>
      <p:sp>
        <p:nvSpPr>
          <p:cNvPr id="29" name="Right Arrow 28"/>
          <p:cNvSpPr/>
          <p:nvPr/>
        </p:nvSpPr>
        <p:spPr>
          <a:xfrm>
            <a:off x="393698" y="1356345"/>
            <a:ext cx="8242199" cy="2011680"/>
          </a:xfrm>
          <a:prstGeom prst="rightArrow">
            <a:avLst>
              <a:gd name="adj1" fmla="val 80436"/>
              <a:gd name="adj2" fmla="val 50000"/>
            </a:avLst>
          </a:prstGeom>
          <a:solidFill>
            <a:srgbClr val="00A1DE"/>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dirty="0">
              <a:solidFill>
                <a:srgbClr val="002776"/>
              </a:solidFill>
            </a:endParaRPr>
          </a:p>
        </p:txBody>
      </p:sp>
      <p:sp>
        <p:nvSpPr>
          <p:cNvPr id="30" name="Right Arrow 29"/>
          <p:cNvSpPr/>
          <p:nvPr/>
        </p:nvSpPr>
        <p:spPr>
          <a:xfrm>
            <a:off x="394401" y="3204204"/>
            <a:ext cx="8241496" cy="1920240"/>
          </a:xfrm>
          <a:prstGeom prst="rightArrow">
            <a:avLst>
              <a:gd name="adj1" fmla="val 78872"/>
              <a:gd name="adj2" fmla="val 50000"/>
            </a:avLst>
          </a:prstGeom>
          <a:solidFill>
            <a:srgbClr val="8C8C8C"/>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dirty="0">
              <a:solidFill>
                <a:srgbClr val="002776"/>
              </a:solidFill>
            </a:endParaRPr>
          </a:p>
        </p:txBody>
      </p:sp>
      <p:sp>
        <p:nvSpPr>
          <p:cNvPr id="31" name="Right Arrow 30"/>
          <p:cNvSpPr/>
          <p:nvPr/>
        </p:nvSpPr>
        <p:spPr>
          <a:xfrm>
            <a:off x="393700" y="4837397"/>
            <a:ext cx="8242198" cy="2520000"/>
          </a:xfrm>
          <a:prstGeom prst="rightArrow">
            <a:avLst>
              <a:gd name="adj1" fmla="val 66450"/>
              <a:gd name="adj2" fmla="val 50000"/>
            </a:avLst>
          </a:prstGeom>
          <a:solidFill>
            <a:srgbClr val="575757"/>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dirty="0">
              <a:solidFill>
                <a:srgbClr val="002776"/>
              </a:solidFill>
            </a:endParaRPr>
          </a:p>
        </p:txBody>
      </p:sp>
      <p:grpSp>
        <p:nvGrpSpPr>
          <p:cNvPr id="32" name="Group 31"/>
          <p:cNvGrpSpPr/>
          <p:nvPr/>
        </p:nvGrpSpPr>
        <p:grpSpPr>
          <a:xfrm>
            <a:off x="990599" y="1555042"/>
            <a:ext cx="2012635" cy="5368272"/>
            <a:chOff x="510539" y="1271153"/>
            <a:chExt cx="2012635" cy="5368272"/>
          </a:xfrm>
        </p:grpSpPr>
        <p:sp>
          <p:nvSpPr>
            <p:cNvPr id="33" name="Flowchart: Data 9"/>
            <p:cNvSpPr/>
            <p:nvPr/>
          </p:nvSpPr>
          <p:spPr>
            <a:xfrm>
              <a:off x="510539" y="1271153"/>
              <a:ext cx="2012635" cy="5368272"/>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 fmla="*/ 0 w 13050"/>
                <a:gd name="connsiteY0" fmla="*/ 10000 h 10000"/>
                <a:gd name="connsiteX1" fmla="*/ 2000 w 13050"/>
                <a:gd name="connsiteY1" fmla="*/ 0 h 10000"/>
                <a:gd name="connsiteX2" fmla="*/ 13050 w 13050"/>
                <a:gd name="connsiteY2" fmla="*/ 0 h 10000"/>
                <a:gd name="connsiteX3" fmla="*/ 8000 w 13050"/>
                <a:gd name="connsiteY3" fmla="*/ 10000 h 10000"/>
                <a:gd name="connsiteX4" fmla="*/ 0 w 13050"/>
                <a:gd name="connsiteY4" fmla="*/ 10000 h 10000"/>
                <a:gd name="connsiteX0" fmla="*/ 0 w 13050"/>
                <a:gd name="connsiteY0" fmla="*/ 10000 h 10000"/>
                <a:gd name="connsiteX1" fmla="*/ 5300 w 13050"/>
                <a:gd name="connsiteY1" fmla="*/ 0 h 10000"/>
                <a:gd name="connsiteX2" fmla="*/ 13050 w 13050"/>
                <a:gd name="connsiteY2" fmla="*/ 0 h 10000"/>
                <a:gd name="connsiteX3" fmla="*/ 8000 w 13050"/>
                <a:gd name="connsiteY3" fmla="*/ 10000 h 10000"/>
                <a:gd name="connsiteX4" fmla="*/ 0 w 13050"/>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50" h="10000">
                  <a:moveTo>
                    <a:pt x="0" y="10000"/>
                  </a:moveTo>
                  <a:lnTo>
                    <a:pt x="5300" y="0"/>
                  </a:lnTo>
                  <a:lnTo>
                    <a:pt x="13050" y="0"/>
                  </a:lnTo>
                  <a:lnTo>
                    <a:pt x="8000" y="10000"/>
                  </a:lnTo>
                  <a:lnTo>
                    <a:pt x="0" y="10000"/>
                  </a:lnTo>
                  <a:close/>
                </a:path>
              </a:pathLst>
            </a:custGeom>
            <a:solidFill>
              <a:schemeClr val="bg2">
                <a:alpha val="74902"/>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lgn="ctr"/>
              <a:endParaRPr lang="en-US" sz="1400" dirty="0">
                <a:solidFill>
                  <a:srgbClr val="002776"/>
                </a:solidFill>
              </a:endParaRPr>
            </a:p>
          </p:txBody>
        </p:sp>
        <p:sp>
          <p:nvSpPr>
            <p:cNvPr id="34" name="Half Frame 33"/>
            <p:cNvSpPr/>
            <p:nvPr/>
          </p:nvSpPr>
          <p:spPr>
            <a:xfrm rot="8142470">
              <a:off x="1913106" y="1973883"/>
              <a:ext cx="281314" cy="336605"/>
            </a:xfrm>
            <a:prstGeom prst="halfFrame">
              <a:avLst>
                <a:gd name="adj1" fmla="val 26576"/>
                <a:gd name="adj2" fmla="val 25856"/>
              </a:avLst>
            </a:prstGeom>
            <a:solidFill>
              <a:srgbClr val="012169"/>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dirty="0">
                <a:solidFill>
                  <a:srgbClr val="002776"/>
                </a:solidFill>
              </a:endParaRPr>
            </a:p>
          </p:txBody>
        </p:sp>
        <p:sp>
          <p:nvSpPr>
            <p:cNvPr id="35" name="TextBox 34"/>
            <p:cNvSpPr txBox="1"/>
            <p:nvPr/>
          </p:nvSpPr>
          <p:spPr>
            <a:xfrm>
              <a:off x="1297257" y="1482056"/>
              <a:ext cx="724724" cy="1303809"/>
            </a:xfrm>
            <a:prstGeom prst="rect">
              <a:avLst/>
            </a:prstGeom>
            <a:noFill/>
          </p:spPr>
          <p:txBody>
            <a:bodyPr wrap="square" lIns="36000" tIns="36000" rIns="36000" bIns="36000" rtlCol="0">
              <a:spAutoFit/>
            </a:bodyPr>
            <a:lstStyle/>
            <a:p>
              <a:pPr algn="ctr"/>
              <a:r>
                <a:rPr lang="en-US" sz="8000" dirty="0">
                  <a:solidFill>
                    <a:schemeClr val="accent4"/>
                  </a:solidFill>
                </a:rPr>
                <a:t>1</a:t>
              </a:r>
            </a:p>
          </p:txBody>
        </p:sp>
        <p:sp>
          <p:nvSpPr>
            <p:cNvPr id="36" name="Half Frame 35"/>
            <p:cNvSpPr/>
            <p:nvPr/>
          </p:nvSpPr>
          <p:spPr>
            <a:xfrm rot="8142470">
              <a:off x="1742546" y="3642723"/>
              <a:ext cx="281314" cy="336605"/>
            </a:xfrm>
            <a:prstGeom prst="halfFrame">
              <a:avLst>
                <a:gd name="adj1" fmla="val 26576"/>
                <a:gd name="adj2" fmla="val 25856"/>
              </a:avLst>
            </a:prstGeom>
            <a:solidFill>
              <a:srgbClr val="012169"/>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dirty="0">
                <a:solidFill>
                  <a:srgbClr val="002776"/>
                </a:solidFill>
              </a:endParaRPr>
            </a:p>
          </p:txBody>
        </p:sp>
        <p:sp>
          <p:nvSpPr>
            <p:cNvPr id="37" name="TextBox 36"/>
            <p:cNvSpPr txBox="1"/>
            <p:nvPr/>
          </p:nvSpPr>
          <p:spPr>
            <a:xfrm>
              <a:off x="1080976" y="3165184"/>
              <a:ext cx="756507" cy="1303809"/>
            </a:xfrm>
            <a:prstGeom prst="rect">
              <a:avLst/>
            </a:prstGeom>
            <a:noFill/>
          </p:spPr>
          <p:txBody>
            <a:bodyPr wrap="square" lIns="36000" tIns="36000" rIns="36000" bIns="36000" rtlCol="0">
              <a:spAutoFit/>
            </a:bodyPr>
            <a:lstStyle/>
            <a:p>
              <a:pPr algn="ctr"/>
              <a:r>
                <a:rPr lang="en-US" sz="8000" dirty="0">
                  <a:solidFill>
                    <a:schemeClr val="accent4"/>
                  </a:solidFill>
                </a:rPr>
                <a:t>2</a:t>
              </a:r>
            </a:p>
          </p:txBody>
        </p:sp>
        <p:sp>
          <p:nvSpPr>
            <p:cNvPr id="38" name="Half Frame 37"/>
            <p:cNvSpPr/>
            <p:nvPr/>
          </p:nvSpPr>
          <p:spPr>
            <a:xfrm rot="8142470">
              <a:off x="1419535" y="5501831"/>
              <a:ext cx="281314" cy="336605"/>
            </a:xfrm>
            <a:prstGeom prst="halfFrame">
              <a:avLst>
                <a:gd name="adj1" fmla="val 26576"/>
                <a:gd name="adj2" fmla="val 25856"/>
              </a:avLst>
            </a:prstGeom>
            <a:solidFill>
              <a:srgbClr val="012169"/>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spAutoFit/>
            </a:bodyPr>
            <a:lstStyle/>
            <a:p>
              <a:pPr algn="ctr"/>
              <a:endParaRPr lang="en-US" sz="1400" dirty="0">
                <a:solidFill>
                  <a:srgbClr val="002776"/>
                </a:solidFill>
              </a:endParaRPr>
            </a:p>
          </p:txBody>
        </p:sp>
        <p:sp>
          <p:nvSpPr>
            <p:cNvPr id="39" name="TextBox 38"/>
            <p:cNvSpPr txBox="1"/>
            <p:nvPr/>
          </p:nvSpPr>
          <p:spPr>
            <a:xfrm>
              <a:off x="822737" y="5124308"/>
              <a:ext cx="756507" cy="1303809"/>
            </a:xfrm>
            <a:prstGeom prst="rect">
              <a:avLst/>
            </a:prstGeom>
            <a:noFill/>
          </p:spPr>
          <p:txBody>
            <a:bodyPr wrap="square" lIns="36000" tIns="36000" rIns="36000" bIns="36000" rtlCol="0">
              <a:spAutoFit/>
            </a:bodyPr>
            <a:lstStyle/>
            <a:p>
              <a:pPr algn="ctr"/>
              <a:r>
                <a:rPr lang="en-US" sz="8000" dirty="0">
                  <a:solidFill>
                    <a:schemeClr val="accent4"/>
                  </a:solidFill>
                </a:rPr>
                <a:t>3</a:t>
              </a:r>
            </a:p>
          </p:txBody>
        </p:sp>
      </p:grpSp>
      <p:sp>
        <p:nvSpPr>
          <p:cNvPr id="40" name="Rectangle 39"/>
          <p:cNvSpPr/>
          <p:nvPr/>
        </p:nvSpPr>
        <p:spPr>
          <a:xfrm>
            <a:off x="3050092" y="1597405"/>
            <a:ext cx="5207238" cy="1554272"/>
          </a:xfrm>
          <a:prstGeom prst="rect">
            <a:avLst/>
          </a:prstGeom>
        </p:spPr>
        <p:txBody>
          <a:bodyPr wrap="square" lIns="0" tIns="0" rIns="0" bIns="0">
            <a:spAutoFit/>
          </a:bodyPr>
          <a:lstStyle/>
          <a:p>
            <a:pPr>
              <a:spcAft>
                <a:spcPts val="600"/>
              </a:spcAft>
            </a:pPr>
            <a:r>
              <a:rPr lang="en-US" sz="1200" b="1" dirty="0">
                <a:solidFill>
                  <a:srgbClr val="FFFFFF"/>
                </a:solidFill>
                <a:latin typeface="Verdana" panose="020B0604030504040204" pitchFamily="34" charset="0"/>
                <a:ea typeface="Verdana" panose="020B0604030504040204" pitchFamily="34" charset="0"/>
                <a:cs typeface="Verdana" panose="020B0604030504040204" pitchFamily="34" charset="0"/>
              </a:rPr>
              <a:t>Risk Identification and risk impact assessment </a:t>
            </a:r>
          </a:p>
          <a:p>
            <a:pPr>
              <a:spcAft>
                <a:spcPts val="600"/>
              </a:spcAft>
            </a:pPr>
            <a:r>
              <a:rPr lang="en-US" sz="1200" dirty="0">
                <a:solidFill>
                  <a:srgbClr val="FFFFFF"/>
                </a:solidFill>
                <a:latin typeface="Verdana" panose="020B0604030504040204" pitchFamily="34" charset="0"/>
                <a:ea typeface="Verdana" panose="020B0604030504040204" pitchFamily="34" charset="0"/>
                <a:cs typeface="Verdana" panose="020B0604030504040204" pitchFamily="34" charset="0"/>
              </a:rPr>
              <a:t>The team undertook a detailed study of possible risks in the PPP transaction across complete lifecycle of the project ~ development risks, economic risks, traffic risks etc. The team accordingly identified more than 20 critical risks in the project including risks relating to existing employees; coordination with sovereign agencies; risks arising from existing project agreements, risks pertaining to traffic and land etc.</a:t>
            </a:r>
          </a:p>
        </p:txBody>
      </p:sp>
      <p:sp>
        <p:nvSpPr>
          <p:cNvPr id="41" name="Rectangle 40"/>
          <p:cNvSpPr/>
          <p:nvPr/>
        </p:nvSpPr>
        <p:spPr>
          <a:xfrm>
            <a:off x="2767878" y="3470668"/>
            <a:ext cx="5391384" cy="1369606"/>
          </a:xfrm>
          <a:prstGeom prst="rect">
            <a:avLst/>
          </a:prstGeom>
        </p:spPr>
        <p:txBody>
          <a:bodyPr wrap="square" lIns="0" tIns="0" rIns="0" bIns="0">
            <a:spAutoFit/>
          </a:bodyPr>
          <a:lstStyle/>
          <a:p>
            <a:pPr>
              <a:spcAft>
                <a:spcPts val="600"/>
              </a:spcAft>
            </a:pPr>
            <a:r>
              <a:rPr lang="en-US" sz="1200" b="1" dirty="0">
                <a:solidFill>
                  <a:srgbClr val="FFFFFF"/>
                </a:solidFill>
                <a:latin typeface="Verdana" panose="020B0604030504040204" pitchFamily="34" charset="0"/>
                <a:ea typeface="Verdana" panose="020B0604030504040204" pitchFamily="34" charset="0"/>
                <a:cs typeface="Verdana" panose="020B0604030504040204" pitchFamily="34" charset="0"/>
              </a:rPr>
              <a:t>Project structuring and options analysis</a:t>
            </a:r>
          </a:p>
          <a:p>
            <a:pPr>
              <a:spcAft>
                <a:spcPts val="600"/>
              </a:spcAft>
            </a:pPr>
            <a:r>
              <a:rPr lang="en-US" sz="1200" dirty="0">
                <a:solidFill>
                  <a:srgbClr val="FFFFFF"/>
                </a:solidFill>
                <a:latin typeface="Verdana" panose="020B0604030504040204" pitchFamily="34" charset="0"/>
                <a:ea typeface="Verdana" panose="020B0604030504040204" pitchFamily="34" charset="0"/>
                <a:cs typeface="Verdana" panose="020B0604030504040204" pitchFamily="34" charset="0"/>
              </a:rPr>
              <a:t>Based on the risks identified, the team undertook assessment of risk to the private sector investments in the project covering probability and severity of such risks. Accordingly, the team undertook options analysis in terms of concession period, concession scope, performance standards and specifications and its impact on the financial bid; issues around land transfer to private sector etc.</a:t>
            </a:r>
          </a:p>
        </p:txBody>
      </p:sp>
      <p:sp>
        <p:nvSpPr>
          <p:cNvPr id="42" name="Rectangle 41"/>
          <p:cNvSpPr/>
          <p:nvPr/>
        </p:nvSpPr>
        <p:spPr>
          <a:xfrm>
            <a:off x="2485655" y="5328709"/>
            <a:ext cx="5673607" cy="1554272"/>
          </a:xfrm>
          <a:prstGeom prst="rect">
            <a:avLst/>
          </a:prstGeom>
        </p:spPr>
        <p:txBody>
          <a:bodyPr wrap="square" lIns="0" tIns="0" rIns="0" bIns="0">
            <a:spAutoFit/>
          </a:bodyPr>
          <a:lstStyle/>
          <a:p>
            <a:pPr>
              <a:spcAft>
                <a:spcPts val="600"/>
              </a:spcAft>
            </a:pPr>
            <a:r>
              <a:rPr lang="en-US" sz="1200" b="1" dirty="0">
                <a:solidFill>
                  <a:srgbClr val="FFFFFF"/>
                </a:solidFill>
                <a:latin typeface="Verdana" panose="020B0604030504040204" pitchFamily="34" charset="0"/>
                <a:ea typeface="Verdana" panose="020B0604030504040204" pitchFamily="34" charset="0"/>
                <a:cs typeface="Verdana" panose="020B0604030504040204" pitchFamily="34" charset="0"/>
              </a:rPr>
              <a:t>Risk mitigation analysis and contingent liability analysis</a:t>
            </a:r>
          </a:p>
          <a:p>
            <a:pPr>
              <a:spcAft>
                <a:spcPts val="600"/>
              </a:spcAft>
            </a:pPr>
            <a:r>
              <a:rPr lang="en-US" sz="1200" dirty="0">
                <a:solidFill>
                  <a:srgbClr val="FFFFFF"/>
                </a:solidFill>
                <a:latin typeface="Verdana" panose="020B0604030504040204" pitchFamily="34" charset="0"/>
                <a:ea typeface="Verdana" panose="020B0604030504040204" pitchFamily="34" charset="0"/>
                <a:cs typeface="Verdana" panose="020B0604030504040204" pitchFamily="34" charset="0"/>
              </a:rPr>
              <a:t>For the risks allocated to the Govt., the team prepared risk mitigation plan for the Government to hedge its risks. The team also, at a broad level, assessed the risk being transferred to private sector and possible risk mitigation plans, including understanding private sector perspective through bidder discussions, to ensure a successful transaction. Finally, the team quantified the contingent liabilities arising out to the Government on account of the risks being allocated to it.</a:t>
            </a:r>
          </a:p>
        </p:txBody>
      </p:sp>
      <p:pic>
        <p:nvPicPr>
          <p:cNvPr id="4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711" y="3935803"/>
            <a:ext cx="484707"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369" y="5631507"/>
            <a:ext cx="404055"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166" y="2136992"/>
            <a:ext cx="521637"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6" name="Table 45"/>
          <p:cNvGraphicFramePr>
            <a:graphicFrameLocks noGrp="1"/>
          </p:cNvGraphicFramePr>
          <p:nvPr>
            <p:extLst>
              <p:ext uri="{D42A27DB-BD31-4B8C-83A1-F6EECF244321}">
                <p14:modId xmlns:p14="http://schemas.microsoft.com/office/powerpoint/2010/main" val="1680751689"/>
              </p:ext>
            </p:extLst>
          </p:nvPr>
        </p:nvGraphicFramePr>
        <p:xfrm>
          <a:off x="8647419" y="1597405"/>
          <a:ext cx="1719212" cy="5212080"/>
        </p:xfrm>
        <a:graphic>
          <a:graphicData uri="http://schemas.openxmlformats.org/drawingml/2006/table">
            <a:tbl>
              <a:tblPr firstRow="1" bandRow="1">
                <a:tableStyleId>{5C22544A-7EE6-4342-B048-85BDC9FD1C3A}</a:tableStyleId>
              </a:tblPr>
              <a:tblGrid>
                <a:gridCol w="1719212">
                  <a:extLst>
                    <a:ext uri="{9D8B030D-6E8A-4147-A177-3AD203B41FA5}">
                      <a16:colId xmlns:a16="http://schemas.microsoft.com/office/drawing/2014/main" val="20000"/>
                    </a:ext>
                  </a:extLst>
                </a:gridCol>
              </a:tblGrid>
              <a:tr h="20697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cs typeface="Verdana" panose="020B0604030504040204" pitchFamily="34" charset="0"/>
                        </a:rPr>
                        <a:t>The final risk structuring (considering the inputs of private sector) led to Mactan-Cebu PPP project being one of the most successful PPP transactions in Philippines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cs typeface="Verdana" panose="020B0604030504040204" pitchFamily="34" charset="0"/>
                        </a:rPr>
                        <a:t>We have also advised the private sector in Due Diligence and Risk Analysis for Mumbai / Delhi privatization projects and as such understand perspectives on both sides.</a:t>
                      </a:r>
                    </a:p>
                  </a:txBody>
                  <a:tcPr>
                    <a:lnT w="12700" cap="flat" cmpd="sng" algn="ctr">
                      <a:solidFill>
                        <a:schemeClr val="accent3"/>
                      </a:solidFill>
                      <a:prstDash val="solid"/>
                      <a:round/>
                      <a:headEnd type="none" w="med" len="med"/>
                      <a:tailEnd type="none" w="med" len="med"/>
                    </a:lnT>
                    <a:noFill/>
                  </a:tcPr>
                </a:tc>
                <a:extLst>
                  <a:ext uri="{0D108BD9-81ED-4DB2-BD59-A6C34878D82A}">
                    <a16:rowId xmlns:a16="http://schemas.microsoft.com/office/drawing/2014/main" val="10000"/>
                  </a:ext>
                </a:extLst>
              </a:tr>
            </a:tbl>
          </a:graphicData>
        </a:graphic>
      </p:graphicFrame>
      <p:sp>
        <p:nvSpPr>
          <p:cNvPr id="49" name="Rectangle 48"/>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50" name="Straight Connector 4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263396" y="331644"/>
            <a:ext cx="9915584"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Our Experience: Risk Assessment for Airport PPP Projects</a:t>
            </a:r>
          </a:p>
        </p:txBody>
      </p:sp>
    </p:spTree>
    <p:extLst>
      <p:ext uri="{BB962C8B-B14F-4D97-AF65-F5344CB8AC3E}">
        <p14:creationId xmlns:p14="http://schemas.microsoft.com/office/powerpoint/2010/main" val="206277475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2351" y="1989413"/>
            <a:ext cx="4710980" cy="2954089"/>
          </a:xfrm>
          <a:prstGeom prst="rect">
            <a:avLst/>
          </a:prstGeom>
          <a:noFill/>
          <a:ln w="6350">
            <a:solidFill>
              <a:schemeClr val="tx1"/>
            </a:solidFill>
            <a:prstDash val="dash"/>
          </a:ln>
        </p:spPr>
      </p:pic>
      <p:sp>
        <p:nvSpPr>
          <p:cNvPr id="5" name="Rectangle 4"/>
          <p:cNvSpPr/>
          <p:nvPr/>
        </p:nvSpPr>
        <p:spPr>
          <a:xfrm>
            <a:off x="263397" y="1483100"/>
            <a:ext cx="4769249" cy="523220"/>
          </a:xfrm>
          <a:prstGeom prst="rect">
            <a:avLst/>
          </a:prstGeom>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chemeClr val="accent2"/>
                </a:solidFill>
                <a:effectLst/>
                <a:uLnTx/>
                <a:uFillTx/>
                <a:latin typeface="Verdana"/>
                <a:ea typeface="+mn-ea"/>
                <a:cs typeface="+mn-cs"/>
              </a:rPr>
              <a:t>Parameters, formula &amp; process for revision on a periodic basis</a:t>
            </a:r>
          </a:p>
        </p:txBody>
      </p:sp>
      <p:sp>
        <p:nvSpPr>
          <p:cNvPr id="6" name="Rectangle 5"/>
          <p:cNvSpPr/>
          <p:nvPr/>
        </p:nvSpPr>
        <p:spPr>
          <a:xfrm>
            <a:off x="5217227" y="1483100"/>
            <a:ext cx="5149403" cy="52322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a:ea typeface="+mn-ea"/>
                <a:cs typeface="+mn-cs"/>
              </a:rPr>
              <a:t>2. Guidelines for estimation and revision of DF &amp; PSF (SC)</a:t>
            </a:r>
          </a:p>
        </p:txBody>
      </p:sp>
      <p:sp>
        <p:nvSpPr>
          <p:cNvPr id="7" name="Rounded Rectangle 6"/>
          <p:cNvSpPr/>
          <p:nvPr/>
        </p:nvSpPr>
        <p:spPr bwMode="gray">
          <a:xfrm>
            <a:off x="5416963" y="1984464"/>
            <a:ext cx="2460338" cy="1887782"/>
          </a:xfrm>
          <a:prstGeom prst="roundRect">
            <a:avLst/>
          </a:prstGeom>
          <a:noFill/>
          <a:ln w="3175" algn="ctr">
            <a:solidFill>
              <a:schemeClr val="accent2"/>
            </a:solidFill>
            <a:prstDash val="dash"/>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Verdana"/>
                <a:ea typeface="+mn-ea"/>
                <a:cs typeface="+mn-cs"/>
              </a:rPr>
              <a:t>Understand circumstances of Historical Precedents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Capex imposed on airport operator who is paying revenue share. E.g. Metro Connectivity Project of MIAL.</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Reducing the financing risk of a capital intensive project. E.g. DIAL</a:t>
            </a:r>
          </a:p>
        </p:txBody>
      </p:sp>
      <p:sp>
        <p:nvSpPr>
          <p:cNvPr id="8" name="Rounded Rectangle 7"/>
          <p:cNvSpPr/>
          <p:nvPr/>
        </p:nvSpPr>
        <p:spPr bwMode="gray">
          <a:xfrm>
            <a:off x="8061882" y="2000505"/>
            <a:ext cx="2304748" cy="1871741"/>
          </a:xfrm>
          <a:prstGeom prst="roundRect">
            <a:avLst/>
          </a:prstGeom>
          <a:noFill/>
          <a:ln w="3175" algn="ctr">
            <a:solidFill>
              <a:schemeClr val="accent2"/>
            </a:solidFill>
            <a:prstDash val="dash"/>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Verdana"/>
                <a:ea typeface="+mn-ea"/>
                <a:cs typeface="+mn-cs"/>
              </a:rPr>
              <a:t>Study directives issued by Authorities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DF only as a measure of last resort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100" b="0" i="0" u="none" strike="noStrike" kern="1200" cap="none" spc="0" normalizeH="0" baseline="0" noProof="0" dirty="0">
                <a:ln>
                  <a:noFill/>
                </a:ln>
                <a:solidFill>
                  <a:prstClr val="black"/>
                </a:solidFill>
                <a:effectLst/>
                <a:uLnTx/>
                <a:uFillTx/>
                <a:latin typeface="Verdana"/>
                <a:ea typeface="+mn-ea"/>
                <a:cs typeface="+mn-cs"/>
              </a:rPr>
              <a:t>PSF (SC) escrow account should not be used for capital expenditure on security. </a:t>
            </a:r>
          </a:p>
        </p:txBody>
      </p:sp>
      <p:sp>
        <p:nvSpPr>
          <p:cNvPr id="9" name="Rounded Rectangle 8"/>
          <p:cNvSpPr/>
          <p:nvPr/>
        </p:nvSpPr>
        <p:spPr bwMode="gray">
          <a:xfrm>
            <a:off x="5782159" y="4200878"/>
            <a:ext cx="4374573" cy="692435"/>
          </a:xfrm>
          <a:prstGeom prst="roundRect">
            <a:avLst/>
          </a:prstGeom>
          <a:noFill/>
          <a:ln w="3175" algn="ctr">
            <a:solidFill>
              <a:schemeClr val="accent2"/>
            </a:solidFill>
            <a:prstDash val="dash"/>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Verdana"/>
                <a:ea typeface="+mn-ea"/>
                <a:cs typeface="+mn-cs"/>
              </a:rPr>
              <a:t>Suggesting for Formal Guidelines :</a:t>
            </a:r>
          </a:p>
          <a:p>
            <a:pPr marL="228600" marR="0" lvl="0" indent="-228600" algn="l" defTabSz="914400" rtl="0" eaLnBrk="1" fontAlgn="auto" latinLnBrk="0" hangingPunct="1">
              <a:lnSpc>
                <a:spcPct val="106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Process, Terms and Conditions for Approval</a:t>
            </a:r>
          </a:p>
          <a:p>
            <a:pPr marL="228600" marR="0" lvl="0" indent="-228600" algn="l" defTabSz="914400" rtl="0" eaLnBrk="1" fontAlgn="auto" latinLnBrk="0" hangingPunct="1">
              <a:lnSpc>
                <a:spcPct val="106000"/>
              </a:lnSpc>
              <a:spcBef>
                <a:spcPts val="0"/>
              </a:spcBef>
              <a:spcAft>
                <a:spcPts val="0"/>
              </a:spcAft>
              <a:buClrTx/>
              <a:buSzTx/>
              <a:buFontTx/>
              <a:buAutoNum type="arabicPeriod"/>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Mechanism for monitoring and revision</a:t>
            </a:r>
          </a:p>
        </p:txBody>
      </p:sp>
      <p:grpSp>
        <p:nvGrpSpPr>
          <p:cNvPr id="10" name="Group 9"/>
          <p:cNvGrpSpPr/>
          <p:nvPr/>
        </p:nvGrpSpPr>
        <p:grpSpPr>
          <a:xfrm>
            <a:off x="334427" y="5514210"/>
            <a:ext cx="4728904" cy="1386562"/>
            <a:chOff x="3254660" y="4692121"/>
            <a:chExt cx="5369792" cy="1386562"/>
          </a:xfrm>
        </p:grpSpPr>
        <p:sp>
          <p:nvSpPr>
            <p:cNvPr id="11" name="Rectangle 7"/>
            <p:cNvSpPr>
              <a:spLocks noChangeArrowheads="1"/>
            </p:cNvSpPr>
            <p:nvPr/>
          </p:nvSpPr>
          <p:spPr bwMode="auto">
            <a:xfrm>
              <a:off x="3254662" y="5490632"/>
              <a:ext cx="3678197" cy="169277"/>
            </a:xfrm>
            <a:prstGeom prst="rect">
              <a:avLst/>
            </a:prstGeom>
            <a:noFill/>
            <a:ln w="9525">
              <a:noFill/>
              <a:miter lim="800000"/>
              <a:headEnd/>
              <a:tailEnd/>
            </a:ln>
          </p:spPr>
          <p:txBody>
            <a:bodyPr wrap="none" lIns="72000" tIns="0" rIns="7200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046A38">
                      <a:lumMod val="50000"/>
                    </a:srgbClr>
                  </a:solidFill>
                  <a:effectLst/>
                  <a:uLnTx/>
                  <a:uFillTx/>
                  <a:latin typeface="Verdana"/>
                  <a:ea typeface="ＭＳ Ｐゴシック" charset="-128"/>
                  <a:cs typeface="+mn-cs"/>
                </a:rPr>
                <a:t>Would the regulator monitor service levels?</a:t>
              </a:r>
            </a:p>
          </p:txBody>
        </p:sp>
        <p:sp>
          <p:nvSpPr>
            <p:cNvPr id="12" name="Text Box 11"/>
            <p:cNvSpPr txBox="1">
              <a:spLocks noChangeArrowheads="1"/>
            </p:cNvSpPr>
            <p:nvPr/>
          </p:nvSpPr>
          <p:spPr bwMode="auto">
            <a:xfrm>
              <a:off x="3254660" y="4736769"/>
              <a:ext cx="5369792" cy="279180"/>
            </a:xfrm>
            <a:prstGeom prst="rect">
              <a:avLst/>
            </a:prstGeom>
            <a:noFill/>
            <a:ln w="9525" algn="ctr">
              <a:noFill/>
              <a:miter lim="800000"/>
              <a:headEnd/>
              <a:tailEnd/>
            </a:ln>
          </p:spPr>
          <p:txBody>
            <a:bodyPr wrap="square" lIns="90000" tIns="46800" rIns="90000" bIns="4680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200" b="1" i="0" u="none" strike="noStrike" kern="1200" cap="none" spc="0" normalizeH="0" baseline="0" noProof="0" dirty="0">
                  <a:ln>
                    <a:noFill/>
                  </a:ln>
                  <a:solidFill>
                    <a:srgbClr val="046A38">
                      <a:lumMod val="50000"/>
                    </a:srgbClr>
                  </a:solidFill>
                  <a:effectLst/>
                  <a:uLnTx/>
                  <a:uFillTx/>
                  <a:latin typeface="Verdana"/>
                  <a:ea typeface="ＭＳ Ｐゴシック" charset="-128"/>
                  <a:cs typeface="+mn-cs"/>
                </a:rPr>
                <a:t>Role of Regulator in Performance Management</a:t>
              </a:r>
            </a:p>
          </p:txBody>
        </p:sp>
        <p:sp>
          <p:nvSpPr>
            <p:cNvPr id="13" name="Rectangle 12"/>
            <p:cNvSpPr>
              <a:spLocks noChangeArrowheads="1"/>
            </p:cNvSpPr>
            <p:nvPr/>
          </p:nvSpPr>
          <p:spPr bwMode="auto">
            <a:xfrm>
              <a:off x="3254661" y="4692121"/>
              <a:ext cx="5369791" cy="1386562"/>
            </a:xfrm>
            <a:prstGeom prst="rect">
              <a:avLst/>
            </a:prstGeom>
            <a:noFill/>
            <a:ln w="9525" algn="ctr">
              <a:solidFill>
                <a:schemeClr val="accent5"/>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ＭＳ Ｐゴシック" pitchFamily="50" charset="-128"/>
                <a:cs typeface="+mn-cs"/>
              </a:endParaRPr>
            </a:p>
          </p:txBody>
        </p:sp>
        <p:sp>
          <p:nvSpPr>
            <p:cNvPr id="14" name="Rectangle 15"/>
            <p:cNvSpPr>
              <a:spLocks noChangeArrowheads="1"/>
            </p:cNvSpPr>
            <p:nvPr/>
          </p:nvSpPr>
          <p:spPr bwMode="auto">
            <a:xfrm>
              <a:off x="3254662" y="5735107"/>
              <a:ext cx="3605387" cy="169277"/>
            </a:xfrm>
            <a:prstGeom prst="rect">
              <a:avLst/>
            </a:prstGeom>
            <a:noFill/>
            <a:ln w="9525">
              <a:noFill/>
              <a:miter lim="800000"/>
              <a:headEnd/>
              <a:tailEnd/>
            </a:ln>
          </p:spPr>
          <p:txBody>
            <a:bodyPr wrap="none" lIns="72000" tIns="0" rIns="7200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046A38">
                      <a:lumMod val="50000"/>
                    </a:srgbClr>
                  </a:solidFill>
                  <a:effectLst/>
                  <a:uLnTx/>
                  <a:uFillTx/>
                  <a:latin typeface="Verdana"/>
                  <a:ea typeface="ＭＳ Ｐゴシック" charset="-128"/>
                  <a:cs typeface="+mn-cs"/>
                </a:rPr>
                <a:t>How would deficiencies result in penalties?</a:t>
              </a:r>
            </a:p>
          </p:txBody>
        </p:sp>
        <p:sp>
          <p:nvSpPr>
            <p:cNvPr id="15" name="Rectangle 19"/>
            <p:cNvSpPr>
              <a:spLocks noChangeArrowheads="1"/>
            </p:cNvSpPr>
            <p:nvPr/>
          </p:nvSpPr>
          <p:spPr bwMode="auto">
            <a:xfrm>
              <a:off x="3254662" y="5246157"/>
              <a:ext cx="2569665" cy="169277"/>
            </a:xfrm>
            <a:prstGeom prst="rect">
              <a:avLst/>
            </a:prstGeom>
            <a:noFill/>
            <a:ln w="9525">
              <a:noFill/>
              <a:miter lim="800000"/>
              <a:headEnd/>
              <a:tailEnd/>
            </a:ln>
          </p:spPr>
          <p:txBody>
            <a:bodyPr wrap="none" lIns="72000" tIns="0" rIns="7200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1100" b="0" i="0" u="none" strike="noStrike" kern="1200" cap="none" spc="0" normalizeH="0" baseline="0" noProof="0" dirty="0">
                  <a:ln>
                    <a:noFill/>
                  </a:ln>
                  <a:solidFill>
                    <a:srgbClr val="046A38">
                      <a:lumMod val="50000"/>
                    </a:srgbClr>
                  </a:solidFill>
                  <a:effectLst/>
                  <a:uLnTx/>
                  <a:uFillTx/>
                  <a:latin typeface="Verdana"/>
                  <a:ea typeface="ＭＳ Ｐゴシック" charset="-128"/>
                  <a:cs typeface="+mn-cs"/>
                </a:rPr>
                <a:t>Who would set service levels?</a:t>
              </a:r>
            </a:p>
          </p:txBody>
        </p:sp>
        <p:sp>
          <p:nvSpPr>
            <p:cNvPr id="16" name="Rectangle 15"/>
            <p:cNvSpPr>
              <a:spLocks noChangeArrowheads="1"/>
            </p:cNvSpPr>
            <p:nvPr/>
          </p:nvSpPr>
          <p:spPr bwMode="auto">
            <a:xfrm>
              <a:off x="7100259" y="5475721"/>
              <a:ext cx="290513"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17" name="Rectangle 16"/>
            <p:cNvSpPr>
              <a:spLocks noChangeArrowheads="1"/>
            </p:cNvSpPr>
            <p:nvPr/>
          </p:nvSpPr>
          <p:spPr bwMode="auto">
            <a:xfrm>
              <a:off x="7100259" y="5720196"/>
              <a:ext cx="290513"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18" name="Rectangle 17"/>
            <p:cNvSpPr>
              <a:spLocks noChangeArrowheads="1"/>
            </p:cNvSpPr>
            <p:nvPr/>
          </p:nvSpPr>
          <p:spPr bwMode="auto">
            <a:xfrm>
              <a:off x="7100259" y="5231246"/>
              <a:ext cx="290513"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19" name="Rectangle 18"/>
            <p:cNvSpPr>
              <a:spLocks noChangeArrowheads="1"/>
            </p:cNvSpPr>
            <p:nvPr/>
          </p:nvSpPr>
          <p:spPr bwMode="auto">
            <a:xfrm>
              <a:off x="7563809" y="5475721"/>
              <a:ext cx="293688"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20" name="Rectangle 19"/>
            <p:cNvSpPr>
              <a:spLocks noChangeArrowheads="1"/>
            </p:cNvSpPr>
            <p:nvPr/>
          </p:nvSpPr>
          <p:spPr bwMode="auto">
            <a:xfrm>
              <a:off x="7563809" y="5720196"/>
              <a:ext cx="293688"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21" name="Rectangle 20"/>
            <p:cNvSpPr>
              <a:spLocks noChangeArrowheads="1"/>
            </p:cNvSpPr>
            <p:nvPr/>
          </p:nvSpPr>
          <p:spPr bwMode="auto">
            <a:xfrm>
              <a:off x="7563809" y="5231246"/>
              <a:ext cx="293688"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22" name="Rectangle 21"/>
            <p:cNvSpPr>
              <a:spLocks noChangeArrowheads="1"/>
            </p:cNvSpPr>
            <p:nvPr/>
          </p:nvSpPr>
          <p:spPr bwMode="auto">
            <a:xfrm>
              <a:off x="8030533" y="5475721"/>
              <a:ext cx="292100"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23" name="Rectangle 22"/>
            <p:cNvSpPr>
              <a:spLocks noChangeArrowheads="1"/>
            </p:cNvSpPr>
            <p:nvPr/>
          </p:nvSpPr>
          <p:spPr bwMode="auto">
            <a:xfrm>
              <a:off x="8030533" y="5720196"/>
              <a:ext cx="292100"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sp>
          <p:nvSpPr>
            <p:cNvPr id="24" name="Rectangle 23"/>
            <p:cNvSpPr>
              <a:spLocks noChangeArrowheads="1"/>
            </p:cNvSpPr>
            <p:nvPr/>
          </p:nvSpPr>
          <p:spPr bwMode="auto">
            <a:xfrm>
              <a:off x="8030533" y="5231246"/>
              <a:ext cx="292100" cy="155575"/>
            </a:xfrm>
            <a:prstGeom prst="rect">
              <a:avLst/>
            </a:prstGeom>
            <a:solidFill>
              <a:schemeClr val="bg1"/>
            </a:solidFill>
            <a:ln w="9525" algn="ctr">
              <a:solidFill>
                <a:schemeClr val="accent1"/>
              </a:solidFill>
              <a:miter lim="800000"/>
              <a:headEnd/>
              <a:tailEnd/>
            </a:ln>
          </p:spPr>
          <p:txBody>
            <a:bodyPr wrap="none" lIns="90000" tIns="46800" rIns="90000" bIns="468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53565A"/>
                </a:solidFill>
                <a:effectLst/>
                <a:uLnTx/>
                <a:uFillTx/>
                <a:latin typeface="Verdana"/>
                <a:ea typeface="+mn-ea"/>
                <a:cs typeface="+mn-cs"/>
              </a:endParaRPr>
            </a:p>
          </p:txBody>
        </p:sp>
      </p:grpSp>
      <p:sp>
        <p:nvSpPr>
          <p:cNvPr id="25" name="Rectangle 24"/>
          <p:cNvSpPr/>
          <p:nvPr/>
        </p:nvSpPr>
        <p:spPr>
          <a:xfrm>
            <a:off x="253674" y="5111670"/>
            <a:ext cx="5567898" cy="307777"/>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chemeClr val="accent2"/>
                </a:solidFill>
                <a:effectLst/>
                <a:uLnTx/>
                <a:uFillTx/>
                <a:latin typeface="Verdana"/>
                <a:ea typeface="+mn-ea"/>
                <a:cs typeface="+mn-cs"/>
              </a:rPr>
              <a:t>3. Role of Regulator in Performance Management</a:t>
            </a:r>
          </a:p>
        </p:txBody>
      </p:sp>
      <p:sp>
        <p:nvSpPr>
          <p:cNvPr id="26" name="Rectangle 25"/>
          <p:cNvSpPr/>
          <p:nvPr/>
        </p:nvSpPr>
        <p:spPr>
          <a:xfrm>
            <a:off x="5266087" y="5071478"/>
            <a:ext cx="5100543" cy="52322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dirty="0">
                <a:ln>
                  <a:noFill/>
                </a:ln>
                <a:solidFill>
                  <a:schemeClr val="accent2"/>
                </a:solidFill>
                <a:effectLst/>
                <a:uLnTx/>
                <a:uFillTx/>
                <a:latin typeface="Verdana"/>
                <a:ea typeface="+mn-ea"/>
                <a:cs typeface="+mn-cs"/>
              </a:rPr>
              <a:t>4. Regulatory Mechanism for ensuring further Capex Infusion</a:t>
            </a:r>
          </a:p>
        </p:txBody>
      </p:sp>
      <p:grpSp>
        <p:nvGrpSpPr>
          <p:cNvPr id="27" name="Group 26"/>
          <p:cNvGrpSpPr/>
          <p:nvPr/>
        </p:nvGrpSpPr>
        <p:grpSpPr>
          <a:xfrm>
            <a:off x="5956652" y="5586981"/>
            <a:ext cx="4409978" cy="1724003"/>
            <a:chOff x="6412174" y="4758011"/>
            <a:chExt cx="4676606" cy="1724003"/>
          </a:xfrm>
        </p:grpSpPr>
        <p:sp>
          <p:nvSpPr>
            <p:cNvPr id="28" name="AutoShape 4"/>
            <p:cNvSpPr>
              <a:spLocks noChangeArrowheads="1"/>
            </p:cNvSpPr>
            <p:nvPr/>
          </p:nvSpPr>
          <p:spPr bwMode="auto">
            <a:xfrm rot="16200000" flipV="1">
              <a:off x="8321548" y="5234167"/>
              <a:ext cx="525175" cy="197280"/>
            </a:xfrm>
            <a:prstGeom prst="triangle">
              <a:avLst>
                <a:gd name="adj" fmla="val 50000"/>
              </a:avLst>
            </a:prstGeom>
            <a:solidFill>
              <a:schemeClr val="accent2"/>
            </a:solidFill>
            <a:ln w="6350" algn="ctr">
              <a:solidFill>
                <a:schemeClr val="accent2"/>
              </a:solidFill>
              <a:miter lim="800000"/>
              <a:headEnd/>
              <a:tailEnd/>
            </a:ln>
          </p:spPr>
          <p:txBody>
            <a:bodyPr rot="10800000" wrap="square"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a:ea typeface="+mn-ea"/>
                <a:cs typeface="+mn-cs"/>
              </a:endParaRPr>
            </a:p>
          </p:txBody>
        </p:sp>
        <p:sp>
          <p:nvSpPr>
            <p:cNvPr id="29" name="TextBox 28"/>
            <p:cNvSpPr txBox="1"/>
            <p:nvPr/>
          </p:nvSpPr>
          <p:spPr>
            <a:xfrm>
              <a:off x="6537475" y="4861962"/>
              <a:ext cx="1983855" cy="754053"/>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GB" sz="1100" b="1" i="0" u="none" strike="noStrike" kern="1200" cap="none" spc="0" normalizeH="0" baseline="0" noProof="0" dirty="0">
                  <a:ln>
                    <a:noFill/>
                  </a:ln>
                  <a:solidFill>
                    <a:prstClr val="black"/>
                  </a:solidFill>
                  <a:effectLst/>
                  <a:uLnTx/>
                  <a:uFillTx/>
                  <a:latin typeface="Verdana"/>
                  <a:ea typeface="+mn-ea"/>
                  <a:cs typeface="+mn-cs"/>
                </a:rPr>
                <a:t>Substantial Expenses</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Terminal Building</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Runways / Taxiways</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Employee Townships</a:t>
              </a:r>
            </a:p>
          </p:txBody>
        </p:sp>
        <p:sp>
          <p:nvSpPr>
            <p:cNvPr id="30" name="TextBox 29"/>
            <p:cNvSpPr txBox="1"/>
            <p:nvPr/>
          </p:nvSpPr>
          <p:spPr>
            <a:xfrm>
              <a:off x="6537475" y="5749593"/>
              <a:ext cx="2013359" cy="559127"/>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GB" sz="1100" b="1" i="0" u="none" strike="noStrike" kern="1200" cap="none" spc="0" normalizeH="0" baseline="0" noProof="0" dirty="0">
                  <a:ln>
                    <a:noFill/>
                  </a:ln>
                  <a:solidFill>
                    <a:prstClr val="black"/>
                  </a:solidFill>
                  <a:effectLst/>
                  <a:uLnTx/>
                  <a:uFillTx/>
                  <a:latin typeface="Verdana"/>
                  <a:ea typeface="+mn-ea"/>
                  <a:cs typeface="+mn-cs"/>
                </a:rPr>
                <a:t>Minor Expenses</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Landscaping</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Minor Replacements</a:t>
              </a:r>
            </a:p>
          </p:txBody>
        </p:sp>
        <p:sp>
          <p:nvSpPr>
            <p:cNvPr id="31" name="TextBox 30"/>
            <p:cNvSpPr txBox="1"/>
            <p:nvPr/>
          </p:nvSpPr>
          <p:spPr>
            <a:xfrm>
              <a:off x="8809880" y="4863963"/>
              <a:ext cx="2278900" cy="728405"/>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GB" sz="1100" b="1" i="0" u="none" strike="noStrike" kern="1200" cap="none" spc="0" normalizeH="0" baseline="0" noProof="0" dirty="0">
                  <a:ln>
                    <a:noFill/>
                  </a:ln>
                  <a:solidFill>
                    <a:prstClr val="black"/>
                  </a:solidFill>
                  <a:effectLst/>
                  <a:uLnTx/>
                  <a:uFillTx/>
                  <a:latin typeface="Verdana"/>
                  <a:ea typeface="+mn-ea"/>
                  <a:cs typeface="+mn-cs"/>
                </a:rPr>
                <a:t>Process Flow </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In-principle approval for expenses within a range</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Stakeholder Consultation</a:t>
              </a:r>
            </a:p>
          </p:txBody>
        </p:sp>
        <p:sp>
          <p:nvSpPr>
            <p:cNvPr id="32" name="TextBox 31"/>
            <p:cNvSpPr txBox="1"/>
            <p:nvPr/>
          </p:nvSpPr>
          <p:spPr>
            <a:xfrm>
              <a:off x="8809880" y="5774854"/>
              <a:ext cx="1911117" cy="533479"/>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GB" sz="1100" b="1" i="0" u="none" strike="noStrike" kern="1200" cap="none" spc="0" normalizeH="0" baseline="0" noProof="0" dirty="0">
                  <a:ln>
                    <a:noFill/>
                  </a:ln>
                  <a:solidFill>
                    <a:prstClr val="black"/>
                  </a:solidFill>
                  <a:effectLst/>
                  <a:uLnTx/>
                  <a:uFillTx/>
                  <a:latin typeface="Verdana"/>
                  <a:ea typeface="+mn-ea"/>
                  <a:cs typeface="+mn-cs"/>
                </a:rPr>
                <a:t>Process Flow</a:t>
              </a:r>
            </a:p>
            <a:p>
              <a:pPr marL="228600" marR="0" lvl="0" indent="-228600" algn="l" defTabSz="914400" rtl="0" eaLnBrk="1" fontAlgn="auto" latinLnBrk="0" hangingPunct="1">
                <a:lnSpc>
                  <a:spcPct val="100000"/>
                </a:lnSpc>
                <a:spcBef>
                  <a:spcPts val="200"/>
                </a:spcBef>
                <a:spcAft>
                  <a:spcPts val="0"/>
                </a:spcAft>
                <a:buClrTx/>
                <a:buSzPct val="100000"/>
                <a:buFontTx/>
                <a:buAutoNum type="arabicPeriod"/>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Automatic Approval up to a threshold</a:t>
              </a:r>
            </a:p>
          </p:txBody>
        </p:sp>
        <p:sp>
          <p:nvSpPr>
            <p:cNvPr id="33" name="Rounded Rectangle 32"/>
            <p:cNvSpPr/>
            <p:nvPr/>
          </p:nvSpPr>
          <p:spPr bwMode="gray">
            <a:xfrm>
              <a:off x="6412174" y="4758011"/>
              <a:ext cx="4676606" cy="1724003"/>
            </a:xfrm>
            <a:prstGeom prst="roundRect">
              <a:avLst/>
            </a:prstGeom>
            <a:noFill/>
            <a:ln w="3175" algn="ctr">
              <a:solidFill>
                <a:schemeClr val="accent2"/>
              </a:solidFill>
              <a:prstDash val="dash"/>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Verdana"/>
                <a:ea typeface="+mn-ea"/>
                <a:cs typeface="+mn-cs"/>
              </a:endParaRPr>
            </a:p>
          </p:txBody>
        </p:sp>
        <p:sp>
          <p:nvSpPr>
            <p:cNvPr id="34" name="AutoShape 4"/>
            <p:cNvSpPr>
              <a:spLocks noChangeArrowheads="1"/>
            </p:cNvSpPr>
            <p:nvPr/>
          </p:nvSpPr>
          <p:spPr bwMode="auto">
            <a:xfrm rot="16200000" flipV="1">
              <a:off x="8316709" y="5964944"/>
              <a:ext cx="525175" cy="197280"/>
            </a:xfrm>
            <a:prstGeom prst="triangle">
              <a:avLst>
                <a:gd name="adj" fmla="val 50000"/>
              </a:avLst>
            </a:prstGeom>
            <a:solidFill>
              <a:schemeClr val="accent2"/>
            </a:solidFill>
            <a:ln w="6350" algn="ctr">
              <a:solidFill>
                <a:schemeClr val="accent2"/>
              </a:solidFill>
              <a:miter lim="800000"/>
              <a:headEnd/>
              <a:tailEnd/>
            </a:ln>
          </p:spPr>
          <p:txBody>
            <a:bodyPr rot="10800000" wrap="square"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a:ea typeface="+mn-ea"/>
                <a:cs typeface="+mn-cs"/>
              </a:endParaRPr>
            </a:p>
          </p:txBody>
        </p:sp>
      </p:grpSp>
      <p:sp>
        <p:nvSpPr>
          <p:cNvPr id="35" name="TextBox 34"/>
          <p:cNvSpPr txBox="1"/>
          <p:nvPr/>
        </p:nvSpPr>
        <p:spPr>
          <a:xfrm>
            <a:off x="5203250" y="5843688"/>
            <a:ext cx="726206" cy="1118255"/>
          </a:xfrm>
          <a:prstGeom prst="rect">
            <a:avLst/>
          </a:prstGeom>
          <a:noFill/>
          <a:ln>
            <a:solidFill>
              <a:schemeClr val="accent2"/>
            </a:solidFill>
          </a:ln>
        </p:spPr>
        <p:txBody>
          <a:bodyPr vert="horz" wrap="square" lIns="0" tIns="0" rIns="0" bIns="0" rtlCol="0">
            <a:spAutoFit/>
          </a:bodyPr>
          <a:lstStyle/>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Reduce </a:t>
            </a:r>
          </a:p>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Risks to ensure </a:t>
            </a:r>
          </a:p>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Further </a:t>
            </a:r>
          </a:p>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capex </a:t>
            </a:r>
          </a:p>
          <a:p>
            <a:pPr marL="0" marR="0" lvl="0" indent="0" algn="ctr" defTabSz="914400" rtl="0" eaLnBrk="1" fontAlgn="auto" latinLnBrk="0" hangingPunct="1">
              <a:lnSpc>
                <a:spcPct val="100000"/>
              </a:lnSpc>
              <a:spcBef>
                <a:spcPts val="200"/>
              </a:spcBef>
              <a:spcAft>
                <a:spcPts val="0"/>
              </a:spcAft>
              <a:buClrTx/>
              <a:buSzPct val="100000"/>
              <a:buFontTx/>
              <a:buNone/>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infusion</a:t>
            </a:r>
          </a:p>
        </p:txBody>
      </p:sp>
      <p:sp>
        <p:nvSpPr>
          <p:cNvPr id="36" name="AutoShape 4"/>
          <p:cNvSpPr>
            <a:spLocks noChangeArrowheads="1"/>
          </p:cNvSpPr>
          <p:nvPr/>
        </p:nvSpPr>
        <p:spPr bwMode="auto">
          <a:xfrm flipV="1">
            <a:off x="7356563" y="3913955"/>
            <a:ext cx="1133800" cy="251490"/>
          </a:xfrm>
          <a:prstGeom prst="triangle">
            <a:avLst>
              <a:gd name="adj" fmla="val 50000"/>
            </a:avLst>
          </a:prstGeom>
          <a:solidFill>
            <a:schemeClr val="accent2"/>
          </a:solidFill>
          <a:ln w="6350" algn="ctr">
            <a:solidFill>
              <a:schemeClr val="accent2"/>
            </a:solidFill>
            <a:miter lim="800000"/>
            <a:headEnd/>
            <a:tailEnd/>
          </a:ln>
        </p:spPr>
        <p:txBody>
          <a:bodyPr rot="10800000" wrap="square" lIns="36000" tIns="36000" rIns="36000" b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a:ea typeface="+mn-ea"/>
              <a:cs typeface="+mn-cs"/>
            </a:endParaRPr>
          </a:p>
        </p:txBody>
      </p:sp>
      <p:sp>
        <p:nvSpPr>
          <p:cNvPr id="41" name="Rectangle 40"/>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 name="TextBox 1"/>
          <p:cNvSpPr txBox="1"/>
          <p:nvPr/>
        </p:nvSpPr>
        <p:spPr>
          <a:xfrm>
            <a:off x="334427" y="953961"/>
            <a:ext cx="10103234" cy="430887"/>
          </a:xfrm>
          <a:prstGeom prst="rect">
            <a:avLst/>
          </a:prstGeom>
          <a:noFill/>
        </p:spPr>
        <p:txBody>
          <a:bodyPr wrap="square" lIns="0" tIns="0" rIns="0" bIns="0" rtlCol="0">
            <a:spAutoFit/>
          </a:bodyPr>
          <a:lstStyle/>
          <a:p>
            <a:pPr>
              <a:spcBef>
                <a:spcPts val="600"/>
              </a:spcBef>
              <a:buSzPct val="100000"/>
            </a:pPr>
            <a:r>
              <a:rPr lang="en-US" sz="1400" dirty="0">
                <a:solidFill>
                  <a:schemeClr val="accent2"/>
                </a:solidFill>
              </a:rPr>
              <a:t>The team would assist Essel Infraprojects in assessing the building blocks of tariff regulation, review of the various guidelines / relevant orders issued by AERA</a:t>
            </a:r>
            <a:endParaRPr lang="en-IN" sz="1400" dirty="0">
              <a:solidFill>
                <a:schemeClr val="accent2"/>
              </a:solidFill>
            </a:endParaRPr>
          </a:p>
        </p:txBody>
      </p:sp>
      <p:cxnSp>
        <p:nvCxnSpPr>
          <p:cNvPr id="39" name="Straight Connector 38"/>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63396" y="331644"/>
            <a:ext cx="9915584"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Airport Economic Regulation</a:t>
            </a:r>
          </a:p>
        </p:txBody>
      </p:sp>
    </p:spTree>
    <p:extLst>
      <p:ext uri="{BB962C8B-B14F-4D97-AF65-F5344CB8AC3E}">
        <p14:creationId xmlns:p14="http://schemas.microsoft.com/office/powerpoint/2010/main" val="226578836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p:cNvSpPr>
            <a:spLocks noGrp="1"/>
          </p:cNvSpPr>
          <p:nvPr>
            <p:ph type="body" sz="quarter" idx="4294967295"/>
          </p:nvPr>
        </p:nvSpPr>
        <p:spPr>
          <a:xfrm>
            <a:off x="352350" y="861065"/>
            <a:ext cx="10087890" cy="560589"/>
          </a:xfrm>
          <a:prstGeom prst="rect">
            <a:avLst/>
          </a:prstGeom>
        </p:spPr>
        <p:txBody>
          <a:bodyPr vert="horz" lIns="0" tIns="0" rIns="0" bIns="0" rtlCol="0">
            <a:noAutofit/>
          </a:bodyPr>
          <a:lstStyle/>
          <a:p>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We have studied issues with respect to the regulatory philosophy adopted by AERA and the draft Model Concession Agreement issued by erstwhile Planning Commission of India. Three key issues are highlighted below:</a:t>
            </a:r>
          </a:p>
        </p:txBody>
      </p:sp>
      <p:sp>
        <p:nvSpPr>
          <p:cNvPr id="7" name="Rectangle 6"/>
          <p:cNvSpPr/>
          <p:nvPr/>
        </p:nvSpPr>
        <p:spPr>
          <a:xfrm>
            <a:off x="243301" y="1532958"/>
            <a:ext cx="10123327" cy="2162130"/>
          </a:xfrm>
          <a:prstGeom prst="rect">
            <a:avLst/>
          </a:prstGeom>
        </p:spPr>
        <p:txBody>
          <a:bodyPr wrap="square">
            <a:spAutoFit/>
          </a:bodyPr>
          <a:lstStyle/>
          <a:p>
            <a:pPr marL="231775" marR="0" lvl="0" indent="-231775"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002776"/>
                </a:solidFill>
                <a:effectLst/>
                <a:uLnTx/>
                <a:uFillTx/>
                <a:latin typeface="Verdana" panose="020B0604030504040204" pitchFamily="34" charset="0"/>
                <a:ea typeface="Verdana" panose="020B0604030504040204" pitchFamily="34" charset="0"/>
                <a:cs typeface="Verdana" panose="020B0604030504040204" pitchFamily="34" charset="0"/>
              </a:rPr>
              <a:t>Impact of Capital Investments on regulated Tariffs</a:t>
            </a:r>
          </a:p>
          <a:p>
            <a:pPr marL="230188" marR="0" lvl="0" indent="0" algn="just"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Verdana" panose="020B0604030504040204" pitchFamily="34" charset="0"/>
              </a:rPr>
              <a:t>The regulatory approach adopted by AERA is based on a price cap model wherein an operator is provided a yield per passenger, to be recovered from regulated tariffs based on inter alia the capital investments at the airport. However, the draft Model Concession Agreement for Brownfield Airports (MCA) mentions that for expansion of any aeronautical and non-aeronautical assets, the revenues anticipated from growth in traffic shall be the compensation for the Concessionaire and no increase in Fee on account thereof shall be permitted to the Concessionaire for undertaking such investment. </a:t>
            </a:r>
          </a:p>
          <a:p>
            <a:pPr marL="230188" marR="0" lvl="0" indent="0" algn="just" defTabSz="914400"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Verdana" panose="020B0604030504040204" pitchFamily="34" charset="0"/>
              </a:rPr>
              <a:t>The two different approaches, one adopted by AERA and the other that may be provided in the draft Concession Agreement for treatment of capital investment would need to be considered. While AERA has been established based on an Act of Parliament of India whose provisions would override any contrary provisions of a Concession Agreement, it also needs to be considered that AERA Act requires AERA to determine tariff for aeronautical services taking in to consideration, inter alia “concession offered by the Central Government in any agreement or memorandum of understanding or otherwise”.</a:t>
            </a:r>
          </a:p>
        </p:txBody>
      </p:sp>
      <p:sp>
        <p:nvSpPr>
          <p:cNvPr id="8" name="Rectangle 7"/>
          <p:cNvSpPr/>
          <p:nvPr/>
        </p:nvSpPr>
        <p:spPr>
          <a:xfrm>
            <a:off x="253348" y="3834573"/>
            <a:ext cx="10113280" cy="1569660"/>
          </a:xfrm>
          <a:prstGeom prst="rect">
            <a:avLst/>
          </a:prstGeom>
        </p:spPr>
        <p:txBody>
          <a:bodyPr wrap="square">
            <a:spAutoFit/>
          </a:bodyPr>
          <a:lstStyle/>
          <a:p>
            <a:pPr marL="228600" marR="0" lvl="0" indent="-228600" algn="just"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200" b="1" i="0" u="none" strike="noStrike" kern="1200" cap="none" spc="0" normalizeH="0" baseline="0" noProof="0" dirty="0">
                <a:ln>
                  <a:noFill/>
                </a:ln>
                <a:solidFill>
                  <a:srgbClr val="002776"/>
                </a:solidFill>
                <a:effectLst/>
                <a:uLnTx/>
                <a:uFillTx/>
                <a:latin typeface="Verdana" panose="020B0604030504040204" pitchFamily="34" charset="0"/>
                <a:ea typeface="Verdana" panose="020B0604030504040204" pitchFamily="34" charset="0"/>
                <a:cs typeface="Verdana" panose="020B0604030504040204" pitchFamily="34" charset="0"/>
              </a:rPr>
              <a:t>Impact of tariff setting approach that is different from AERA</a:t>
            </a:r>
            <a:endParaRPr kumimoji="0" lang="en-US" sz="1200" b="0" i="0" u="none" strike="noStrike" kern="1200" cap="none" spc="0" normalizeH="0" baseline="0" noProof="0" dirty="0">
              <a:ln>
                <a:noFill/>
              </a:ln>
              <a:solidFill>
                <a:srgbClr val="002776"/>
              </a:solidFill>
              <a:effectLst/>
              <a:uLnTx/>
              <a:uFillTx/>
              <a:latin typeface="Verdana" panose="020B0604030504040204" pitchFamily="34" charset="0"/>
              <a:ea typeface="Verdana" panose="020B0604030504040204" pitchFamily="34" charset="0"/>
              <a:cs typeface="Verdana" panose="020B0604030504040204" pitchFamily="34" charset="0"/>
            </a:endParaRPr>
          </a:p>
          <a:p>
            <a:pPr marL="463550" marR="0" lvl="1" indent="-238125" algn="just" defTabSz="914400" rtl="0" eaLnBrk="1" fontAlgn="auto" latinLnBrk="0" hangingPunct="1">
              <a:lnSpc>
                <a:spcPct val="100000"/>
              </a:lnSpc>
              <a:spcBef>
                <a:spcPts val="0"/>
              </a:spcBef>
              <a:spcAft>
                <a:spcPts val="0"/>
              </a:spcAft>
              <a:buClrTx/>
              <a:buSzTx/>
              <a:buFont typeface="+mj-lt"/>
              <a:buAutoNum type="alphaLcPeriod"/>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Verdana" panose="020B0604030504040204" pitchFamily="34" charset="0"/>
              </a:rPr>
              <a:t>In the MCA, upfront tariffs are defined with reference to increases at specific intervals based on changes in a certain inflation index such as wholesale price index, consumer price index or any other relevant index. Under the regulatory approach adopted by AERA, tariffs would be reset with reference to investments made by the concessionaire to further develop and operate the airport .</a:t>
            </a:r>
          </a:p>
          <a:p>
            <a:pPr marL="463550" marR="0" lvl="1" indent="-238125" algn="just" defTabSz="914400" rtl="0" eaLnBrk="1" fontAlgn="auto" latinLnBrk="0" hangingPunct="1">
              <a:lnSpc>
                <a:spcPct val="100000"/>
              </a:lnSpc>
              <a:spcBef>
                <a:spcPts val="0"/>
              </a:spcBef>
              <a:spcAft>
                <a:spcPts val="0"/>
              </a:spcAft>
              <a:buClrTx/>
              <a:buSzTx/>
              <a:buFont typeface="+mj-lt"/>
              <a:buAutoNum type="alphaLcPeriod"/>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Verdana" panose="020B0604030504040204" pitchFamily="34" charset="0"/>
              </a:rPr>
              <a:t>In case the tariff approach provided in the Concession Agreement is different from the one adopted by AERA and because AERA has the mandate to set tariffs for major airports, an adjustment mechanism would need to be provided in case tariffs set by AERA are at variance with tariffs specified in the Concession Agreement.</a:t>
            </a:r>
          </a:p>
        </p:txBody>
      </p:sp>
      <p:sp>
        <p:nvSpPr>
          <p:cNvPr id="9" name="Rectangle 8"/>
          <p:cNvSpPr/>
          <p:nvPr/>
        </p:nvSpPr>
        <p:spPr>
          <a:xfrm>
            <a:off x="0" y="6456138"/>
            <a:ext cx="10688638" cy="557211"/>
          </a:xfrm>
          <a:prstGeom prst="rect">
            <a:avLst/>
          </a:prstGeom>
          <a:solidFill>
            <a:schemeClr val="tx2"/>
          </a:solidFill>
        </p:spPr>
        <p:txBody>
          <a:bodyPr vert="horz" lIns="0" tIns="0" rIns="0" bIns="0" rtlCol="0" anchor="ctr" anchorCtr="0">
            <a:normAutofit/>
          </a:bodyPr>
          <a:lstStyle/>
          <a:p>
            <a:pPr marL="92075" marR="0" lvl="1" indent="0" algn="ctr" defTabSz="914400" rtl="0" eaLnBrk="1" fontAlgn="auto" latinLnBrk="0" hangingPunct="1">
              <a:lnSpc>
                <a:spcPct val="100000"/>
              </a:lnSpc>
              <a:spcBef>
                <a:spcPts val="1200"/>
              </a:spcBef>
              <a:spcAft>
                <a:spcPts val="0"/>
              </a:spcAft>
              <a:buClrTx/>
              <a:buSzTx/>
              <a:buFontTx/>
              <a:buNone/>
              <a:tabLst/>
              <a:defRPr/>
            </a:pPr>
            <a:r>
              <a:rPr kumimoji="0" lang="en-US" sz="1200" b="1" i="1"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Deloitte is well placed to provide assistance in assessing the impact for such issues in bidding documents and regulatory approach as well as in discussing with AERA and the tendering Authority during the bidding process.</a:t>
            </a:r>
          </a:p>
        </p:txBody>
      </p:sp>
      <p:sp>
        <p:nvSpPr>
          <p:cNvPr id="10" name="Rectangle 9"/>
          <p:cNvSpPr/>
          <p:nvPr/>
        </p:nvSpPr>
        <p:spPr>
          <a:xfrm>
            <a:off x="271248" y="5404233"/>
            <a:ext cx="10095380" cy="1015663"/>
          </a:xfrm>
          <a:prstGeom prst="rect">
            <a:avLst/>
          </a:prstGeom>
        </p:spPr>
        <p:txBody>
          <a:bodyPr wrap="square">
            <a:spAutoFit/>
          </a:bodyPr>
          <a:lstStyle/>
          <a:p>
            <a:pPr marL="231775" marR="0" lvl="0" indent="-231775" algn="just"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2776"/>
                </a:solidFill>
                <a:effectLst/>
                <a:uLnTx/>
                <a:uFillTx/>
                <a:latin typeface="Verdana" panose="020B0604030504040204" pitchFamily="34" charset="0"/>
                <a:ea typeface="Verdana" panose="020B0604030504040204" pitchFamily="34" charset="0"/>
                <a:cs typeface="Verdana" panose="020B0604030504040204" pitchFamily="34" charset="0"/>
              </a:rPr>
              <a:t>3.  Impact of Bidding Variable on the financial feasibility</a:t>
            </a:r>
          </a:p>
          <a:p>
            <a:pPr marL="457200" marR="0" lvl="1" indent="-225425" algn="just" defTabSz="914400" rtl="0" eaLnBrk="1" fontAlgn="auto" latinLnBrk="0" hangingPunct="1">
              <a:lnSpc>
                <a:spcPct val="100000"/>
              </a:lnSpc>
              <a:spcBef>
                <a:spcPts val="0"/>
              </a:spcBef>
              <a:spcAft>
                <a:spcPts val="0"/>
              </a:spcAft>
              <a:buClrTx/>
              <a:buSzTx/>
              <a:buFont typeface="+mj-lt"/>
              <a:buAutoNum type="alphaLcPeriod"/>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Verdana" panose="020B0604030504040204" pitchFamily="34" charset="0"/>
                <a:ea typeface="Verdana" panose="020B0604030504040204" pitchFamily="34" charset="0"/>
                <a:cs typeface="Verdana" panose="020B0604030504040204" pitchFamily="34" charset="0"/>
              </a:rPr>
              <a:t>For a Bidding Variable based on Revenue Share in the case of DIAL and MIAL, revenue share is not allowed to be a cost-pass through for determination of tariffs. Whereas, in case of BIAL and GHIAL, the Concession Agreements do not specify such a restriction. This has a significant impact on the regulatory tariffs permitted by AERA for DIAL and MIAL and the profitability of the SPVs.</a:t>
            </a:r>
          </a:p>
        </p:txBody>
      </p:sp>
      <p:sp>
        <p:nvSpPr>
          <p:cNvPr id="13" name="Rectangle 12"/>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4" name="Straight Connector 13"/>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263396" y="331644"/>
            <a:ext cx="9915584" cy="461665"/>
          </a:xfrm>
          <a:prstGeom prst="rect">
            <a:avLst/>
          </a:prstGeom>
        </p:spPr>
        <p:txBody>
          <a:bodyPr wrap="square">
            <a:spAutoFit/>
          </a:bodyPr>
          <a:lstStyle/>
          <a:p>
            <a:pPr lvl="0" defTabSz="914400">
              <a:spcBef>
                <a:spcPct val="0"/>
              </a:spcBef>
              <a:defRPr/>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AERA Regulatory Philosophy vs. Concession Agreement</a:t>
            </a:r>
          </a:p>
        </p:txBody>
      </p:sp>
    </p:spTree>
    <p:extLst>
      <p:ext uri="{BB962C8B-B14F-4D97-AF65-F5344CB8AC3E}">
        <p14:creationId xmlns:p14="http://schemas.microsoft.com/office/powerpoint/2010/main" val="34634838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txBox="1">
            <a:spLocks/>
          </p:cNvSpPr>
          <p:nvPr/>
        </p:nvSpPr>
        <p:spPr bwMode="gray">
          <a:xfrm>
            <a:off x="562223" y="978757"/>
            <a:ext cx="4401664" cy="5138559"/>
          </a:xfrm>
          <a:prstGeom prst="rect">
            <a:avLst/>
          </a:prstGeom>
          <a:ln>
            <a:noFill/>
          </a:ln>
        </p:spPr>
        <p:txBody>
          <a:bodyPr vert="horz" lIns="0" tIns="0" rIns="0" bIns="0" rtlCol="0">
            <a:noAutofit/>
          </a:bodyPr>
          <a:lstStyle>
            <a:lvl1pPr marL="0" indent="0" algn="l" defTabSz="1008400" rtl="0" eaLnBrk="1" latinLnBrk="0" hangingPunct="1">
              <a:lnSpc>
                <a:spcPct val="95000"/>
              </a:lnSpc>
              <a:spcBef>
                <a:spcPts val="0"/>
              </a:spcBef>
              <a:spcAft>
                <a:spcPts val="0"/>
              </a:spcAft>
              <a:buSzPct val="100000"/>
              <a:buFont typeface="Arial" panose="020B0604020202020204" pitchFamily="34" charset="0"/>
              <a:buNone/>
              <a:defRPr sz="3900" b="0" kern="1200">
                <a:solidFill>
                  <a:schemeClr val="tx1"/>
                </a:solidFill>
                <a:latin typeface="+mn-lt"/>
                <a:ea typeface="+mn-ea"/>
                <a:cs typeface="+mn-cs"/>
              </a:defRPr>
            </a:lvl1pPr>
            <a:lvl2pPr marL="504200" indent="0" algn="l" defTabSz="1008400" rtl="0" eaLnBrk="1" latinLnBrk="0" hangingPunct="1">
              <a:spcBef>
                <a:spcPts val="0"/>
              </a:spcBef>
              <a:spcAft>
                <a:spcPts val="1103"/>
              </a:spcAft>
              <a:buClrTx/>
              <a:buSzPct val="100000"/>
              <a:buFont typeface="Arial"/>
              <a:buNone/>
              <a:defRPr lang="en-US" sz="2206" b="1" kern="1200">
                <a:solidFill>
                  <a:schemeClr val="tx1">
                    <a:tint val="75000"/>
                  </a:schemeClr>
                </a:solidFill>
                <a:latin typeface="+mn-lt"/>
                <a:ea typeface="+mn-ea"/>
                <a:cs typeface="+mn-cs"/>
              </a:defRPr>
            </a:lvl2pPr>
            <a:lvl3pPr marL="1008400" indent="0" algn="l" defTabSz="1008400" rtl="0" eaLnBrk="1" latinLnBrk="0" hangingPunct="1">
              <a:spcBef>
                <a:spcPts val="0"/>
              </a:spcBef>
              <a:spcAft>
                <a:spcPts val="1103"/>
              </a:spcAft>
              <a:buClrTx/>
              <a:buSzPct val="100000"/>
              <a:buFont typeface="Arial" panose="020B0604020202020204" pitchFamily="34" charset="0"/>
              <a:buNone/>
              <a:defRPr lang="en-US" sz="1985" kern="1200">
                <a:solidFill>
                  <a:schemeClr val="tx1">
                    <a:tint val="75000"/>
                  </a:schemeClr>
                </a:solidFill>
                <a:latin typeface="+mn-lt"/>
                <a:ea typeface="+mn-ea"/>
                <a:cs typeface="+mn-cs"/>
              </a:defRPr>
            </a:lvl3pPr>
            <a:lvl4pPr marL="1512600" indent="0" algn="l" defTabSz="1008400" rtl="0" eaLnBrk="1" latinLnBrk="0" hangingPunct="1">
              <a:spcBef>
                <a:spcPts val="0"/>
              </a:spcBef>
              <a:spcAft>
                <a:spcPts val="1103"/>
              </a:spcAft>
              <a:buClrTx/>
              <a:buSzPct val="100000"/>
              <a:buFont typeface="Verdana" panose="020B0604030504040204" pitchFamily="34" charset="0"/>
              <a:buNone/>
              <a:defRPr lang="en-US" sz="1764" kern="1200" baseline="0">
                <a:solidFill>
                  <a:schemeClr val="tx1">
                    <a:tint val="75000"/>
                  </a:schemeClr>
                </a:solidFill>
                <a:latin typeface="+mn-lt"/>
                <a:ea typeface="+mn-ea"/>
                <a:cs typeface="+mn-cs"/>
              </a:defRPr>
            </a:lvl4pPr>
            <a:lvl5pPr marL="2016801" indent="0" algn="l" defTabSz="880600" rtl="0" eaLnBrk="1" latinLnBrk="0" hangingPunct="1">
              <a:spcBef>
                <a:spcPts val="0"/>
              </a:spcBef>
              <a:spcAft>
                <a:spcPts val="1103"/>
              </a:spcAft>
              <a:buClrTx/>
              <a:buSzPct val="100000"/>
              <a:buFont typeface="Verdana" panose="020B0604030504040204" pitchFamily="34" charset="0"/>
              <a:buNone/>
              <a:tabLst/>
              <a:defRPr lang="en-US" sz="1764" kern="1200" baseline="0">
                <a:solidFill>
                  <a:schemeClr val="tx1">
                    <a:tint val="75000"/>
                  </a:schemeClr>
                </a:solidFill>
                <a:latin typeface="+mn-lt"/>
                <a:ea typeface="+mn-ea"/>
                <a:cs typeface="+mn-cs"/>
              </a:defRPr>
            </a:lvl5pPr>
            <a:lvl6pPr marL="2521001" indent="0" algn="l" defTabSz="1008400" rtl="0" eaLnBrk="1" latinLnBrk="0" hangingPunct="1">
              <a:spcBef>
                <a:spcPts val="0"/>
              </a:spcBef>
              <a:spcAft>
                <a:spcPts val="1103"/>
              </a:spcAft>
              <a:buFont typeface="Verdana" panose="020B0604030504040204" pitchFamily="34" charset="0"/>
              <a:buNone/>
              <a:defRPr sz="1764" kern="1200" baseline="0">
                <a:solidFill>
                  <a:schemeClr val="tx1">
                    <a:tint val="75000"/>
                  </a:schemeClr>
                </a:solidFill>
                <a:latin typeface="+mn-lt"/>
                <a:ea typeface="+mn-ea"/>
                <a:cs typeface="+mn-cs"/>
              </a:defRPr>
            </a:lvl6pPr>
            <a:lvl7pPr marL="3025201" indent="0" algn="l" defTabSz="1008400" rtl="0" eaLnBrk="1" latinLnBrk="0" hangingPunct="1">
              <a:spcBef>
                <a:spcPts val="0"/>
              </a:spcBef>
              <a:spcAft>
                <a:spcPts val="1103"/>
              </a:spcAft>
              <a:buFont typeface="Verdana" panose="020B0604030504040204" pitchFamily="34" charset="0"/>
              <a:buNone/>
              <a:defRPr sz="1764" kern="1200">
                <a:solidFill>
                  <a:schemeClr val="tx1">
                    <a:tint val="75000"/>
                  </a:schemeClr>
                </a:solidFill>
                <a:latin typeface="+mn-lt"/>
                <a:ea typeface="+mn-ea"/>
                <a:cs typeface="+mn-cs"/>
              </a:defRPr>
            </a:lvl7pPr>
            <a:lvl8pPr marL="3529401" indent="0" algn="l" defTabSz="1008400" rtl="0" eaLnBrk="1" latinLnBrk="0" hangingPunct="1">
              <a:spcBef>
                <a:spcPts val="0"/>
              </a:spcBef>
              <a:spcAft>
                <a:spcPts val="1103"/>
              </a:spcAft>
              <a:buFont typeface="Verdana" panose="020B0604030504040204" pitchFamily="34" charset="0"/>
              <a:buNone/>
              <a:defRPr sz="1764" kern="1200" baseline="0">
                <a:solidFill>
                  <a:schemeClr val="tx1">
                    <a:tint val="75000"/>
                  </a:schemeClr>
                </a:solidFill>
                <a:latin typeface="+mn-lt"/>
                <a:ea typeface="+mn-ea"/>
                <a:cs typeface="+mn-cs"/>
              </a:defRPr>
            </a:lvl8pPr>
            <a:lvl9pPr marL="4033601" indent="0" algn="l" defTabSz="1008400" rtl="0" eaLnBrk="1" latinLnBrk="0" hangingPunct="1">
              <a:spcBef>
                <a:spcPts val="0"/>
              </a:spcBef>
              <a:spcAft>
                <a:spcPts val="1103"/>
              </a:spcAft>
              <a:buFont typeface="Verdana" panose="020B0604030504040204" pitchFamily="34" charset="0"/>
              <a:buNone/>
              <a:defRPr sz="1764" kern="1200" baseline="0">
                <a:solidFill>
                  <a:schemeClr val="tx1">
                    <a:tint val="75000"/>
                  </a:schemeClr>
                </a:solidFill>
                <a:latin typeface="+mn-lt"/>
                <a:ea typeface="+mn-ea"/>
                <a:cs typeface="+mn-cs"/>
              </a:defRPr>
            </a:lvl9pPr>
          </a:lstStyle>
          <a:p>
            <a:pPr algn="just"/>
            <a:r>
              <a:rPr lang="en-US" sz="1200" b="1" dirty="0"/>
              <a:t>Utilization of Proceeds from the PSF (SC) Escrow account </a:t>
            </a:r>
            <a:r>
              <a:rPr lang="en-US" sz="1200" dirty="0"/>
              <a:t>: Capital expenditure related to security of the airport are not supposed to be incurred from PSF (SC) escrow account; since an Audit was conducted by Comptroller and Auditor General of India. Airport operators are still opposing this move</a:t>
            </a:r>
          </a:p>
          <a:p>
            <a:pPr algn="just"/>
            <a:r>
              <a:rPr lang="en-US" sz="1200" b="1" dirty="0"/>
              <a:t>Charges on aircrafts with less than 80 seats</a:t>
            </a:r>
            <a:r>
              <a:rPr lang="en-US" sz="1200" dirty="0"/>
              <a:t> : An aircraft with a seat capacity of less than 80, being operated by domestic scheduled operators are exempted from payment of landing charges. Airport operators are opposing this rule certified by the DGCA.</a:t>
            </a:r>
          </a:p>
          <a:p>
            <a:pPr algn="just"/>
            <a:r>
              <a:rPr lang="en-GB" sz="1200" b="1" dirty="0"/>
              <a:t>Treatment of Pre-Control Period</a:t>
            </a:r>
            <a:r>
              <a:rPr lang="en-GB" sz="1200" dirty="0"/>
              <a:t> : AERA has not regulated Pre-Control Period losses pertaining to the period prior to the establishment of AERA. Airport Operators however contend that the “Ad-Hoc” Tariff Orders issued by the Ministry ought to be revisited by AERA. </a:t>
            </a:r>
          </a:p>
          <a:p>
            <a:pPr algn="just"/>
            <a:r>
              <a:rPr lang="en-GB" sz="1200" b="1" dirty="0"/>
              <a:t>Treatment of Cargo, Ground Handling and Fuel Farm</a:t>
            </a:r>
            <a:r>
              <a:rPr lang="en-GB" sz="1200" dirty="0"/>
              <a:t> : Due to directives given by the Ministry and provisions of certain Concession Agreements, AERA has applied different treatments of revenues from cargo, ground handling and fuel farm services in case the service has been given out to a concessionaire by the airport operator.</a:t>
            </a:r>
          </a:p>
          <a:p>
            <a:pPr algn="just"/>
            <a:r>
              <a:rPr lang="en-GB" sz="1200" b="1" dirty="0"/>
              <a:t>Hybrid till vs Shared till</a:t>
            </a:r>
            <a:r>
              <a:rPr lang="en-GB" sz="1200" dirty="0"/>
              <a:t> : The Authority’s interpretation of NCAP and the intent of its Order on Till prescribe 30% Shared Till; where only non-aero revenues are within the regulatory purview. Airport operators however, request the Authority to apply 30% hybrid-till where along with revenues, 30% of the costs pertaining to non-aero activities would be within regulatory purview.</a:t>
            </a:r>
          </a:p>
          <a:p>
            <a:pPr marL="171450" indent="-171450" algn="just">
              <a:buFont typeface="Arial" panose="020B0604020202020204" pitchFamily="34" charset="0"/>
              <a:buChar char="•"/>
            </a:pPr>
            <a:endParaRPr lang="en-GB" sz="1200" dirty="0"/>
          </a:p>
        </p:txBody>
      </p:sp>
      <p:sp>
        <p:nvSpPr>
          <p:cNvPr id="5" name="Content Placeholder 3"/>
          <p:cNvSpPr txBox="1">
            <a:spLocks/>
          </p:cNvSpPr>
          <p:nvPr/>
        </p:nvSpPr>
        <p:spPr>
          <a:xfrm>
            <a:off x="5660783" y="1013457"/>
            <a:ext cx="4608632" cy="5053059"/>
          </a:xfrm>
          <a:prstGeom prst="rect">
            <a:avLst/>
          </a:prstGeom>
          <a:ln>
            <a:noFill/>
          </a:ln>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200" b="0" kern="1200">
                <a:solidFill>
                  <a:schemeClr val="tx1"/>
                </a:solidFill>
                <a:latin typeface="+mn-lt"/>
                <a:ea typeface="+mn-ea"/>
                <a:cs typeface="+mn-cs"/>
              </a:defRPr>
            </a:lvl1pPr>
            <a:lvl2pPr marL="127000" indent="-127000" algn="l" defTabSz="914400" rtl="0" eaLnBrk="1" latinLnBrk="0" hangingPunct="1">
              <a:spcBef>
                <a:spcPts val="0"/>
              </a:spcBef>
              <a:spcAft>
                <a:spcPts val="1000"/>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914400" rtl="0" eaLnBrk="1" latinLnBrk="0" hangingPunct="1">
              <a:spcBef>
                <a:spcPts val="0"/>
              </a:spcBef>
              <a:spcAft>
                <a:spcPts val="10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798513" rtl="0" eaLnBrk="1" latinLnBrk="0" hangingPunct="1">
              <a:spcBef>
                <a:spcPts val="0"/>
              </a:spcBef>
              <a:spcAft>
                <a:spcPts val="100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1000"/>
              </a:spcAft>
              <a:buClrTx/>
              <a:buSzPct val="100000"/>
              <a:buFontTx/>
              <a:buNone/>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Treatment of Revenues from Subsidiaries</a:t>
            </a:r>
            <a:r>
              <a:rPr kumimoji="0" lang="en-GB" sz="1200" b="0" i="0" u="none" strike="noStrike" kern="1200" cap="none" spc="0" normalizeH="0" baseline="0" noProof="0" dirty="0">
                <a:ln>
                  <a:noFill/>
                </a:ln>
                <a:solidFill>
                  <a:prstClr val="black"/>
                </a:solidFill>
                <a:effectLst/>
                <a:uLnTx/>
                <a:uFillTx/>
                <a:latin typeface="Verdana"/>
                <a:ea typeface="+mn-ea"/>
                <a:cs typeface="+mn-cs"/>
              </a:rPr>
              <a:t> : The Authority has proposed to treat interest and dividend income from subsidiaries based on the classification of the activity performed by the subsidiary (e.g. revenues from a duty-free subsidiary would be considered non-aeronautical). Airport operators have objected stating that when investments in the subsidiaries have not been included within the regulatory purview, dividend and interest from these subsidiaries should also not be.</a:t>
            </a:r>
          </a:p>
          <a:p>
            <a:pPr lvl="0" algn="just">
              <a:defRPr/>
            </a:pPr>
            <a:r>
              <a:rPr lang="en-US" b="1" dirty="0">
                <a:solidFill>
                  <a:prstClr val="black"/>
                </a:solidFill>
              </a:rPr>
              <a:t>Orders issued by Tribunals: </a:t>
            </a:r>
            <a:r>
              <a:rPr lang="en-US" dirty="0">
                <a:solidFill>
                  <a:prstClr val="black"/>
                </a:solidFill>
              </a:rPr>
              <a:t>TDSAT has issued a judgment and order of the Tribunal dated 23.4.2018 in the case of Delhi International Airport Ltd. (DIAL) where it has given its positions on various decisions of AERA impacting the tariffs of major airports in the country. TDSAT has also issued another order dated 24 May 2018 in respect of the appeal filed by BIAL wherein it has very clearly laid out that “any authority, much less statutory authority, which is to regulate these matters shall have due regard to all the provisions of law including the judgement of this Tribunal.” </a:t>
            </a:r>
          </a:p>
          <a:p>
            <a:pPr marL="0" marR="0" lvl="0" indent="0" algn="just" defTabSz="914400" rtl="0" eaLnBrk="1" fontAlgn="auto" latinLnBrk="0" hangingPunct="1">
              <a:lnSpc>
                <a:spcPct val="100000"/>
              </a:lnSpc>
              <a:spcBef>
                <a:spcPts val="0"/>
              </a:spcBef>
              <a:spcAft>
                <a:spcPts val="1000"/>
              </a:spcAft>
              <a:buClrTx/>
              <a:buSzPct val="100000"/>
              <a:buFontTx/>
              <a:buNone/>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Contradictions between AERA Guidelines and Concession Agreements</a:t>
            </a:r>
            <a:r>
              <a:rPr kumimoji="0" lang="en-GB" sz="1200" b="0" i="0" u="none" strike="noStrike" kern="1200" cap="none" spc="0" normalizeH="0" baseline="0" noProof="0" dirty="0">
                <a:ln>
                  <a:noFill/>
                </a:ln>
                <a:solidFill>
                  <a:prstClr val="black"/>
                </a:solidFill>
                <a:effectLst/>
                <a:uLnTx/>
                <a:uFillTx/>
                <a:latin typeface="Verdana"/>
                <a:ea typeface="+mn-ea"/>
                <a:cs typeface="+mn-cs"/>
              </a:rPr>
              <a:t> : AERA has had to regulate on contradictions between the provisions of the Concession Agreement / RFP for transaction and it’s own Regulatory Guidelines.</a:t>
            </a:r>
          </a:p>
          <a:p>
            <a:pPr marL="279400" marR="0" lvl="2" indent="-127000" algn="just"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Verdana"/>
                <a:ea typeface="+mn-ea"/>
                <a:cs typeface="+mn-cs"/>
              </a:rPr>
              <a:t>Treatment of concessional land provided by Govt. (e.g. HIAL)</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p>
            <a:pPr marL="279400" marR="0" lvl="2" indent="-127000" algn="just"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Verdana"/>
                <a:ea typeface="+mn-ea"/>
                <a:cs typeface="+mn-cs"/>
              </a:rPr>
              <a:t>Pre-specified tariff formula in case of DIAL/MIAL </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p>
            <a:pPr marL="279400" marR="0" lvl="2" indent="-127000" algn="just"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Verdana"/>
                <a:ea typeface="+mn-ea"/>
                <a:cs typeface="+mn-cs"/>
              </a:rPr>
              <a:t>Revenue share and its treatment in terms of pass through</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p>
            <a:pPr marL="279400" marR="0" lvl="2" indent="-127000" algn="just"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GB" sz="1200" b="0" i="0" u="none" strike="noStrike" kern="1200" cap="none" spc="0" normalizeH="0" baseline="0" noProof="0" dirty="0">
                <a:ln>
                  <a:noFill/>
                </a:ln>
                <a:solidFill>
                  <a:prstClr val="black"/>
                </a:solidFill>
                <a:effectLst/>
                <a:uLnTx/>
                <a:uFillTx/>
                <a:latin typeface="Verdana"/>
                <a:ea typeface="+mn-ea"/>
                <a:cs typeface="+mn-cs"/>
              </a:rPr>
              <a:t>Return expectations of investors from time of bidding process</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p:txBody>
      </p:sp>
      <p:grpSp>
        <p:nvGrpSpPr>
          <p:cNvPr id="6" name="Group 309"/>
          <p:cNvGrpSpPr>
            <a:grpSpLocks noChangeAspect="1"/>
          </p:cNvGrpSpPr>
          <p:nvPr/>
        </p:nvGrpSpPr>
        <p:grpSpPr bwMode="auto">
          <a:xfrm>
            <a:off x="108360" y="952497"/>
            <a:ext cx="370106" cy="369021"/>
            <a:chOff x="6585" y="1193"/>
            <a:chExt cx="341" cy="340"/>
          </a:xfrm>
          <a:solidFill>
            <a:schemeClr val="accent4"/>
          </a:solidFill>
        </p:grpSpPr>
        <p:sp>
          <p:nvSpPr>
            <p:cNvPr id="7"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8"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9" name="Group 309"/>
          <p:cNvGrpSpPr>
            <a:grpSpLocks noChangeAspect="1"/>
          </p:cNvGrpSpPr>
          <p:nvPr/>
        </p:nvGrpSpPr>
        <p:grpSpPr bwMode="auto">
          <a:xfrm>
            <a:off x="113245" y="3869202"/>
            <a:ext cx="370106" cy="369021"/>
            <a:chOff x="6585" y="1193"/>
            <a:chExt cx="341" cy="340"/>
          </a:xfrm>
          <a:solidFill>
            <a:schemeClr val="accent4"/>
          </a:solidFill>
        </p:grpSpPr>
        <p:sp>
          <p:nvSpPr>
            <p:cNvPr id="1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12" name="Group 309"/>
          <p:cNvGrpSpPr>
            <a:grpSpLocks noChangeAspect="1"/>
          </p:cNvGrpSpPr>
          <p:nvPr/>
        </p:nvGrpSpPr>
        <p:grpSpPr bwMode="auto">
          <a:xfrm>
            <a:off x="108360" y="2846379"/>
            <a:ext cx="370106" cy="369021"/>
            <a:chOff x="6585" y="1193"/>
            <a:chExt cx="341" cy="340"/>
          </a:xfrm>
          <a:solidFill>
            <a:schemeClr val="accent4"/>
          </a:solidFill>
        </p:grpSpPr>
        <p:sp>
          <p:nvSpPr>
            <p:cNvPr id="13"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4"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15" name="Group 309"/>
          <p:cNvGrpSpPr>
            <a:grpSpLocks noChangeAspect="1"/>
          </p:cNvGrpSpPr>
          <p:nvPr/>
        </p:nvGrpSpPr>
        <p:grpSpPr bwMode="auto">
          <a:xfrm>
            <a:off x="5228657" y="972037"/>
            <a:ext cx="370106" cy="369021"/>
            <a:chOff x="6585" y="1193"/>
            <a:chExt cx="341" cy="340"/>
          </a:xfrm>
          <a:solidFill>
            <a:schemeClr val="accent4"/>
          </a:solidFill>
        </p:grpSpPr>
        <p:sp>
          <p:nvSpPr>
            <p:cNvPr id="16"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17"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18" name="Group 309"/>
          <p:cNvGrpSpPr>
            <a:grpSpLocks noChangeAspect="1"/>
          </p:cNvGrpSpPr>
          <p:nvPr/>
        </p:nvGrpSpPr>
        <p:grpSpPr bwMode="auto">
          <a:xfrm>
            <a:off x="103475" y="2001083"/>
            <a:ext cx="370106" cy="369021"/>
            <a:chOff x="6585" y="1193"/>
            <a:chExt cx="341" cy="340"/>
          </a:xfrm>
          <a:solidFill>
            <a:schemeClr val="accent4"/>
          </a:solidFill>
        </p:grpSpPr>
        <p:sp>
          <p:nvSpPr>
            <p:cNvPr id="19"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0"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21" name="Group 309"/>
          <p:cNvGrpSpPr>
            <a:grpSpLocks noChangeAspect="1"/>
          </p:cNvGrpSpPr>
          <p:nvPr/>
        </p:nvGrpSpPr>
        <p:grpSpPr bwMode="auto">
          <a:xfrm>
            <a:off x="118130" y="5036482"/>
            <a:ext cx="370106" cy="369021"/>
            <a:chOff x="6585" y="1193"/>
            <a:chExt cx="341" cy="340"/>
          </a:xfrm>
          <a:solidFill>
            <a:schemeClr val="accent4"/>
          </a:solidFill>
        </p:grpSpPr>
        <p:sp>
          <p:nvSpPr>
            <p:cNvPr id="22"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3"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24" name="Group 309"/>
          <p:cNvGrpSpPr>
            <a:grpSpLocks noChangeAspect="1"/>
          </p:cNvGrpSpPr>
          <p:nvPr/>
        </p:nvGrpSpPr>
        <p:grpSpPr bwMode="auto">
          <a:xfrm>
            <a:off x="5212531" y="2752467"/>
            <a:ext cx="370106" cy="369021"/>
            <a:chOff x="6585" y="1193"/>
            <a:chExt cx="341" cy="340"/>
          </a:xfrm>
          <a:solidFill>
            <a:schemeClr val="accent4"/>
          </a:solidFill>
        </p:grpSpPr>
        <p:sp>
          <p:nvSpPr>
            <p:cNvPr id="25"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6"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grpSp>
        <p:nvGrpSpPr>
          <p:cNvPr id="27" name="Group 309"/>
          <p:cNvGrpSpPr>
            <a:grpSpLocks noChangeAspect="1"/>
          </p:cNvGrpSpPr>
          <p:nvPr/>
        </p:nvGrpSpPr>
        <p:grpSpPr bwMode="auto">
          <a:xfrm>
            <a:off x="5212531" y="4658537"/>
            <a:ext cx="370106" cy="369021"/>
            <a:chOff x="6585" y="1193"/>
            <a:chExt cx="341" cy="340"/>
          </a:xfrm>
          <a:solidFill>
            <a:schemeClr val="accent4"/>
          </a:solidFill>
        </p:grpSpPr>
        <p:sp>
          <p:nvSpPr>
            <p:cNvPr id="28"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29"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solidFill>
                <a:schemeClr val="accent5"/>
              </a:solid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grpSp>
      <p:sp>
        <p:nvSpPr>
          <p:cNvPr id="30" name="Rounded Rectangle 29"/>
          <p:cNvSpPr/>
          <p:nvPr/>
        </p:nvSpPr>
        <p:spPr>
          <a:xfrm>
            <a:off x="304801" y="854436"/>
            <a:ext cx="4850004" cy="6280290"/>
          </a:xfrm>
          <a:prstGeom prst="roundRect">
            <a:avLst>
              <a:gd name="adj" fmla="val 10178"/>
            </a:avLst>
          </a:prstGeom>
          <a:noFill/>
          <a:ln w="635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a:ea typeface="+mn-ea"/>
              <a:cs typeface="+mn-cs"/>
            </a:endParaRPr>
          </a:p>
        </p:txBody>
      </p:sp>
      <p:sp>
        <p:nvSpPr>
          <p:cNvPr id="31" name="Rounded Rectangle 30"/>
          <p:cNvSpPr/>
          <p:nvPr/>
        </p:nvSpPr>
        <p:spPr>
          <a:xfrm>
            <a:off x="5391807" y="854436"/>
            <a:ext cx="4974823" cy="6280290"/>
          </a:xfrm>
          <a:prstGeom prst="roundRect">
            <a:avLst>
              <a:gd name="adj" fmla="val 10178"/>
            </a:avLst>
          </a:prstGeom>
          <a:noFill/>
          <a:ln w="635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Verdana"/>
              <a:ea typeface="+mn-ea"/>
              <a:cs typeface="+mn-cs"/>
            </a:endParaRPr>
          </a:p>
        </p:txBody>
      </p:sp>
      <p:sp>
        <p:nvSpPr>
          <p:cNvPr id="36" name="Rectangle 35"/>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37" name="Straight Connector 3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263396" y="331644"/>
            <a:ext cx="9915584" cy="46166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Our understanding of economic regulation at 6 PPP Airports</a:t>
            </a:r>
          </a:p>
        </p:txBody>
      </p:sp>
    </p:spTree>
    <p:extLst>
      <p:ext uri="{BB962C8B-B14F-4D97-AF65-F5344CB8AC3E}">
        <p14:creationId xmlns:p14="http://schemas.microsoft.com/office/powerpoint/2010/main" val="420338576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grpSp>
        <p:nvGrpSpPr>
          <p:cNvPr id="4" name="Group 3"/>
          <p:cNvGrpSpPr/>
          <p:nvPr/>
        </p:nvGrpSpPr>
        <p:grpSpPr>
          <a:xfrm>
            <a:off x="388496" y="1763598"/>
            <a:ext cx="9978134" cy="5226749"/>
            <a:chOff x="80712" y="1329197"/>
            <a:chExt cx="11870910" cy="5605695"/>
          </a:xfrm>
        </p:grpSpPr>
        <p:sp>
          <p:nvSpPr>
            <p:cNvPr id="6" name="Block Arc 5"/>
            <p:cNvSpPr/>
            <p:nvPr/>
          </p:nvSpPr>
          <p:spPr bwMode="gray">
            <a:xfrm rot="10800000">
              <a:off x="3923656" y="3535729"/>
              <a:ext cx="3149760" cy="1735653"/>
            </a:xfrm>
            <a:prstGeom prst="blockArc">
              <a:avLst>
                <a:gd name="adj1" fmla="val 10800000"/>
                <a:gd name="adj2" fmla="val 21590333"/>
                <a:gd name="adj3" fmla="val 1919"/>
              </a:avLst>
            </a:prstGeom>
            <a:noFill/>
            <a:ln w="19050" algn="ctr">
              <a:solidFill>
                <a:schemeClr val="bg2">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5" name="Block Arc 4"/>
            <p:cNvSpPr/>
            <p:nvPr/>
          </p:nvSpPr>
          <p:spPr bwMode="gray">
            <a:xfrm>
              <a:off x="3918584" y="2624127"/>
              <a:ext cx="3149760" cy="1735653"/>
            </a:xfrm>
            <a:prstGeom prst="blockArc">
              <a:avLst>
                <a:gd name="adj1" fmla="val 10800000"/>
                <a:gd name="adj2" fmla="val 21590333"/>
                <a:gd name="adj3" fmla="val 1919"/>
              </a:avLst>
            </a:prstGeom>
            <a:noFill/>
            <a:ln w="19050" algn="ctr">
              <a:solidFill>
                <a:schemeClr val="bg2">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7" name="Rectangle 6"/>
            <p:cNvSpPr>
              <a:spLocks noChangeArrowheads="1"/>
            </p:cNvSpPr>
            <p:nvPr/>
          </p:nvSpPr>
          <p:spPr bwMode="auto">
            <a:xfrm>
              <a:off x="8007577" y="3475445"/>
              <a:ext cx="1432805" cy="855458"/>
            </a:xfrm>
            <a:prstGeom prst="rect">
              <a:avLst/>
            </a:prstGeom>
            <a:solidFill>
              <a:schemeClr val="accent5">
                <a:lumMod val="50000"/>
              </a:schemeClr>
            </a:solid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400" b="0" i="0" u="none" strike="noStrike" kern="1200" cap="none" spc="0" normalizeH="0" baseline="0" noProof="0" dirty="0">
                  <a:ln>
                    <a:noFill/>
                  </a:ln>
                  <a:solidFill>
                    <a:prstClr val="white"/>
                  </a:solidFill>
                  <a:effectLst/>
                  <a:uLnTx/>
                  <a:uFillTx/>
                  <a:latin typeface="Verdana"/>
                  <a:ea typeface="ＭＳ Ｐゴシック" pitchFamily="50" charset="-128"/>
                  <a:cs typeface="+mn-cs"/>
                </a:rPr>
                <a:t>Chosen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400" b="0" i="0" u="none" strike="noStrike" kern="1200" cap="none" spc="0" normalizeH="0" baseline="0" noProof="0" dirty="0">
                  <a:ln>
                    <a:noFill/>
                  </a:ln>
                  <a:solidFill>
                    <a:prstClr val="white"/>
                  </a:solidFill>
                  <a:effectLst/>
                  <a:uLnTx/>
                  <a:uFillTx/>
                  <a:latin typeface="Verdana"/>
                  <a:ea typeface="ＭＳ Ｐゴシック" pitchFamily="50" charset="-128"/>
                  <a:cs typeface="+mn-cs"/>
                </a:rPr>
                <a:t>Regulatory Approach</a:t>
              </a:r>
            </a:p>
          </p:txBody>
        </p:sp>
        <p:sp>
          <p:nvSpPr>
            <p:cNvPr id="8" name="Rectangle 7"/>
            <p:cNvSpPr>
              <a:spLocks noChangeArrowheads="1"/>
            </p:cNvSpPr>
            <p:nvPr/>
          </p:nvSpPr>
          <p:spPr bwMode="auto">
            <a:xfrm>
              <a:off x="1294249" y="4678458"/>
              <a:ext cx="2078299" cy="327767"/>
            </a:xfrm>
            <a:prstGeom prst="rect">
              <a:avLst/>
            </a:prstGeom>
            <a:solidFill>
              <a:schemeClr val="accent2"/>
            </a:solid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schemeClr val="bg1"/>
                  </a:solidFill>
                  <a:effectLst/>
                  <a:uLnTx/>
                  <a:uFillTx/>
                  <a:latin typeface="Verdana"/>
                  <a:ea typeface="ＭＳ Ｐゴシック" pitchFamily="50" charset="-128"/>
                  <a:cs typeface="+mn-cs"/>
                </a:rPr>
                <a:t>Issues being faced</a:t>
              </a:r>
            </a:p>
          </p:txBody>
        </p:sp>
        <p:sp>
          <p:nvSpPr>
            <p:cNvPr id="9" name="Rectangle 8"/>
            <p:cNvSpPr>
              <a:spLocks noChangeArrowheads="1"/>
            </p:cNvSpPr>
            <p:nvPr/>
          </p:nvSpPr>
          <p:spPr bwMode="auto">
            <a:xfrm>
              <a:off x="1299321" y="2906751"/>
              <a:ext cx="2073228" cy="350082"/>
            </a:xfrm>
            <a:prstGeom prst="rect">
              <a:avLst/>
            </a:prstGeom>
            <a:solidFill>
              <a:schemeClr val="accent2"/>
            </a:solid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schemeClr val="bg1"/>
                  </a:solidFill>
                  <a:effectLst/>
                  <a:uLnTx/>
                  <a:uFillTx/>
                  <a:latin typeface="Verdana"/>
                  <a:ea typeface="ＭＳ Ｐゴシック" pitchFamily="50" charset="-128"/>
                  <a:cs typeface="+mn-cs"/>
                </a:rPr>
                <a:t>Pitfalls &amp; Practices</a:t>
              </a:r>
            </a:p>
          </p:txBody>
        </p:sp>
        <p:sp>
          <p:nvSpPr>
            <p:cNvPr id="10" name="Rectangle 9"/>
            <p:cNvSpPr>
              <a:spLocks noChangeArrowheads="1"/>
            </p:cNvSpPr>
            <p:nvPr/>
          </p:nvSpPr>
          <p:spPr bwMode="auto">
            <a:xfrm>
              <a:off x="370146" y="6237624"/>
              <a:ext cx="3411821" cy="328496"/>
            </a:xfrm>
            <a:prstGeom prst="rect">
              <a:avLst/>
            </a:prstGeom>
            <a:solidFill>
              <a:schemeClr val="accent2"/>
            </a:solid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schemeClr val="bg1"/>
                  </a:solidFill>
                  <a:effectLst/>
                  <a:uLnTx/>
                  <a:uFillTx/>
                  <a:latin typeface="Verdana"/>
                  <a:ea typeface="ＭＳ Ｐゴシック" pitchFamily="50" charset="-128"/>
                  <a:cs typeface="+mn-cs"/>
                </a:rPr>
                <a:t>Learnings from Indian Context</a:t>
              </a:r>
            </a:p>
          </p:txBody>
        </p:sp>
        <p:sp>
          <p:nvSpPr>
            <p:cNvPr id="11" name="Rectangle 10"/>
            <p:cNvSpPr>
              <a:spLocks noChangeArrowheads="1"/>
            </p:cNvSpPr>
            <p:nvPr/>
          </p:nvSpPr>
          <p:spPr bwMode="auto">
            <a:xfrm>
              <a:off x="370145" y="1678891"/>
              <a:ext cx="1709743" cy="895888"/>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Global Experience in Similar PPP Programs</a:t>
              </a:r>
            </a:p>
          </p:txBody>
        </p:sp>
        <p:sp>
          <p:nvSpPr>
            <p:cNvPr id="12" name="Rectangle 11"/>
            <p:cNvSpPr>
              <a:spLocks noChangeArrowheads="1"/>
            </p:cNvSpPr>
            <p:nvPr/>
          </p:nvSpPr>
          <p:spPr bwMode="auto">
            <a:xfrm>
              <a:off x="370146" y="5362552"/>
              <a:ext cx="1604128" cy="862787"/>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Learnings from the six Indian Airport PPPs</a:t>
              </a:r>
            </a:p>
          </p:txBody>
        </p:sp>
        <p:sp>
          <p:nvSpPr>
            <p:cNvPr id="13" name="Rectangle 12"/>
            <p:cNvSpPr>
              <a:spLocks noChangeArrowheads="1"/>
            </p:cNvSpPr>
            <p:nvPr/>
          </p:nvSpPr>
          <p:spPr bwMode="auto">
            <a:xfrm>
              <a:off x="370146" y="1329197"/>
              <a:ext cx="3411821" cy="328496"/>
            </a:xfrm>
            <a:prstGeom prst="rect">
              <a:avLst/>
            </a:prstGeom>
            <a:solidFill>
              <a:schemeClr val="accent2"/>
            </a:solid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schemeClr val="bg1"/>
                  </a:solidFill>
                  <a:effectLst/>
                  <a:uLnTx/>
                  <a:uFillTx/>
                  <a:latin typeface="Verdana"/>
                  <a:ea typeface="ＭＳ Ｐゴシック" pitchFamily="50" charset="-128"/>
                  <a:cs typeface="+mn-cs"/>
                </a:rPr>
                <a:t>Study Global Practices</a:t>
              </a:r>
            </a:p>
          </p:txBody>
        </p:sp>
        <p:sp>
          <p:nvSpPr>
            <p:cNvPr id="14" name="Rectangle 13"/>
            <p:cNvSpPr>
              <a:spLocks noChangeArrowheads="1"/>
            </p:cNvSpPr>
            <p:nvPr/>
          </p:nvSpPr>
          <p:spPr bwMode="auto">
            <a:xfrm>
              <a:off x="2213263" y="1698480"/>
              <a:ext cx="1568703" cy="882541"/>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Study Global Practices on Airport Regulation</a:t>
              </a:r>
            </a:p>
          </p:txBody>
        </p:sp>
        <p:sp>
          <p:nvSpPr>
            <p:cNvPr id="15" name="Rectangle 14"/>
            <p:cNvSpPr>
              <a:spLocks noChangeArrowheads="1"/>
            </p:cNvSpPr>
            <p:nvPr/>
          </p:nvSpPr>
          <p:spPr bwMode="auto">
            <a:xfrm>
              <a:off x="2084852" y="5375334"/>
              <a:ext cx="1697114" cy="849933"/>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The Experience of Airport Regulation in India</a:t>
              </a:r>
            </a:p>
          </p:txBody>
        </p:sp>
        <p:sp>
          <p:nvSpPr>
            <p:cNvPr id="16" name="Oval 15"/>
            <p:cNvSpPr>
              <a:spLocks noChangeAspect="1" noChangeArrowheads="1"/>
            </p:cNvSpPr>
            <p:nvPr/>
          </p:nvSpPr>
          <p:spPr bwMode="auto">
            <a:xfrm>
              <a:off x="1363965" y="3680755"/>
              <a:ext cx="1248628" cy="547493"/>
            </a:xfrm>
            <a:prstGeom prst="ellipse">
              <a:avLst/>
            </a:prstGeom>
            <a:solidFill>
              <a:schemeClr val="accent4"/>
            </a:solidFill>
            <a:ln w="12700" algn="ctr">
              <a:noFill/>
              <a:round/>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white"/>
                  </a:solidFill>
                  <a:effectLst/>
                  <a:uLnTx/>
                  <a:uFillTx/>
                  <a:latin typeface="Verdana"/>
                  <a:ea typeface="ＭＳ Ｐゴシック" pitchFamily="50" charset="-128"/>
                  <a:cs typeface="+mn-cs"/>
                </a:rPr>
                <a:t>Insight</a:t>
              </a:r>
            </a:p>
          </p:txBody>
        </p:sp>
        <p:sp>
          <p:nvSpPr>
            <p:cNvPr id="17" name="AutoShape 16"/>
            <p:cNvSpPr>
              <a:spLocks noChangeAspect="1" noChangeArrowheads="1"/>
            </p:cNvSpPr>
            <p:nvPr/>
          </p:nvSpPr>
          <p:spPr bwMode="auto">
            <a:xfrm rot="16200000">
              <a:off x="1914266" y="4877831"/>
              <a:ext cx="240144" cy="672377"/>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18" name="Rectangle 17"/>
            <p:cNvSpPr>
              <a:spLocks noChangeArrowheads="1"/>
            </p:cNvSpPr>
            <p:nvPr/>
          </p:nvSpPr>
          <p:spPr bwMode="auto">
            <a:xfrm>
              <a:off x="9889296" y="3014587"/>
              <a:ext cx="2062326" cy="866532"/>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Suggestions for Ministry on plausible Policy Directives</a:t>
              </a:r>
            </a:p>
          </p:txBody>
        </p:sp>
        <p:sp>
          <p:nvSpPr>
            <p:cNvPr id="19" name="Rectangle 18"/>
            <p:cNvSpPr>
              <a:spLocks noChangeArrowheads="1"/>
            </p:cNvSpPr>
            <p:nvPr/>
          </p:nvSpPr>
          <p:spPr bwMode="auto">
            <a:xfrm>
              <a:off x="9889296" y="3940840"/>
              <a:ext cx="2062326" cy="964792"/>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Suggestions to AERA on how to make its framework more robust</a:t>
              </a:r>
            </a:p>
          </p:txBody>
        </p:sp>
        <p:sp>
          <p:nvSpPr>
            <p:cNvPr id="21" name="Rectangle 20"/>
            <p:cNvSpPr>
              <a:spLocks noChangeArrowheads="1"/>
            </p:cNvSpPr>
            <p:nvPr/>
          </p:nvSpPr>
          <p:spPr bwMode="auto">
            <a:xfrm>
              <a:off x="3339410" y="3419382"/>
              <a:ext cx="1731086" cy="1015041"/>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Draft a Concept Paper with various scenarios and alternatives</a:t>
              </a:r>
            </a:p>
          </p:txBody>
        </p:sp>
        <p:sp>
          <p:nvSpPr>
            <p:cNvPr id="22" name="AutoShape 20"/>
            <p:cNvSpPr>
              <a:spLocks noChangeAspect="1" noChangeArrowheads="1"/>
            </p:cNvSpPr>
            <p:nvPr/>
          </p:nvSpPr>
          <p:spPr bwMode="auto">
            <a:xfrm rot="16200000">
              <a:off x="1883095" y="4103049"/>
              <a:ext cx="240144" cy="672377"/>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23" name="AutoShape 21"/>
            <p:cNvSpPr>
              <a:spLocks noChangeAspect="1" noChangeArrowheads="1"/>
            </p:cNvSpPr>
            <p:nvPr/>
          </p:nvSpPr>
          <p:spPr bwMode="auto">
            <a:xfrm rot="16200000" flipH="1">
              <a:off x="1882252" y="3142313"/>
              <a:ext cx="241837" cy="672382"/>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24" name="AutoShape 22"/>
            <p:cNvSpPr>
              <a:spLocks noChangeAspect="1" noChangeArrowheads="1"/>
            </p:cNvSpPr>
            <p:nvPr/>
          </p:nvSpPr>
          <p:spPr bwMode="auto">
            <a:xfrm rot="16200000" flipH="1">
              <a:off x="1914266" y="2354329"/>
              <a:ext cx="240144" cy="672377"/>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26" name="Rectangle 25"/>
            <p:cNvSpPr>
              <a:spLocks noChangeArrowheads="1"/>
            </p:cNvSpPr>
            <p:nvPr/>
          </p:nvSpPr>
          <p:spPr bwMode="auto">
            <a:xfrm>
              <a:off x="4710468" y="2197211"/>
              <a:ext cx="1922121" cy="817375"/>
            </a:xfrm>
            <a:prstGeom prst="rect">
              <a:avLst/>
            </a:prstGeom>
            <a:solidFill>
              <a:schemeClr val="accent3">
                <a:lumMod val="40000"/>
                <a:lumOff val="60000"/>
              </a:schemeClr>
            </a:solid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Feedback from the Government; i.e. MoCA, AERA and AAI</a:t>
              </a:r>
            </a:p>
          </p:txBody>
        </p:sp>
        <p:sp>
          <p:nvSpPr>
            <p:cNvPr id="27" name="Freeform 26"/>
            <p:cNvSpPr>
              <a:spLocks noChangeAspect="1"/>
            </p:cNvSpPr>
            <p:nvPr/>
          </p:nvSpPr>
          <p:spPr bwMode="auto">
            <a:xfrm>
              <a:off x="2647329" y="3687407"/>
              <a:ext cx="566065" cy="534185"/>
            </a:xfrm>
            <a:custGeom>
              <a:avLst/>
              <a:gdLst/>
              <a:ahLst/>
              <a:cxnLst>
                <a:cxn ang="0">
                  <a:pos x="0" y="147"/>
                </a:cxn>
                <a:cxn ang="0">
                  <a:pos x="84" y="0"/>
                </a:cxn>
                <a:cxn ang="0">
                  <a:pos x="84" y="71"/>
                </a:cxn>
                <a:cxn ang="0">
                  <a:pos x="246" y="71"/>
                </a:cxn>
                <a:cxn ang="0">
                  <a:pos x="246" y="3"/>
                </a:cxn>
                <a:cxn ang="0">
                  <a:pos x="323" y="147"/>
                </a:cxn>
                <a:cxn ang="0">
                  <a:pos x="243" y="295"/>
                </a:cxn>
                <a:cxn ang="0">
                  <a:pos x="243" y="219"/>
                </a:cxn>
                <a:cxn ang="0">
                  <a:pos x="84" y="219"/>
                </a:cxn>
                <a:cxn ang="0">
                  <a:pos x="84" y="292"/>
                </a:cxn>
                <a:cxn ang="0">
                  <a:pos x="0" y="147"/>
                </a:cxn>
              </a:cxnLst>
              <a:rect l="0" t="0" r="r" b="b"/>
              <a:pathLst>
                <a:path w="324" h="296">
                  <a:moveTo>
                    <a:pt x="0" y="147"/>
                  </a:moveTo>
                  <a:lnTo>
                    <a:pt x="84" y="0"/>
                  </a:lnTo>
                  <a:lnTo>
                    <a:pt x="84" y="71"/>
                  </a:lnTo>
                  <a:lnTo>
                    <a:pt x="246" y="71"/>
                  </a:lnTo>
                  <a:lnTo>
                    <a:pt x="246" y="3"/>
                  </a:lnTo>
                  <a:lnTo>
                    <a:pt x="323" y="147"/>
                  </a:lnTo>
                  <a:lnTo>
                    <a:pt x="243" y="295"/>
                  </a:lnTo>
                  <a:lnTo>
                    <a:pt x="243" y="219"/>
                  </a:lnTo>
                  <a:lnTo>
                    <a:pt x="84" y="219"/>
                  </a:lnTo>
                  <a:lnTo>
                    <a:pt x="84" y="292"/>
                  </a:lnTo>
                  <a:lnTo>
                    <a:pt x="0" y="147"/>
                  </a:lnTo>
                </a:path>
              </a:pathLst>
            </a:custGeom>
            <a:solidFill>
              <a:schemeClr val="bg2">
                <a:lumMod val="90000"/>
              </a:schemeClr>
            </a:solidFill>
            <a:ln w="12700" cap="flat" cmpd="sng">
              <a:noFill/>
              <a:prstDash val="solid"/>
              <a:round/>
              <a:headEnd type="none" w="med" len="med"/>
              <a:tailEnd type="none" w="med" len="med"/>
            </a:ln>
            <a:effectLst/>
          </p:spPr>
          <p:txBody>
            <a:bodyPr wrap="square" lIns="36000" tIns="36000" rIns="36000" bIns="36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28" name="AutoShape 20"/>
            <p:cNvSpPr>
              <a:spLocks noChangeAspect="1" noChangeArrowheads="1"/>
            </p:cNvSpPr>
            <p:nvPr/>
          </p:nvSpPr>
          <p:spPr bwMode="auto">
            <a:xfrm>
              <a:off x="5223578" y="3691407"/>
              <a:ext cx="341959" cy="473075"/>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29" name="Left Brace 28"/>
            <p:cNvSpPr/>
            <p:nvPr/>
          </p:nvSpPr>
          <p:spPr>
            <a:xfrm>
              <a:off x="9584344" y="3085822"/>
              <a:ext cx="233680" cy="1706880"/>
            </a:xfrm>
            <a:prstGeom prst="leftBrace">
              <a:avLst/>
            </a:prstGeom>
            <a:ln w="28575">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Verdana"/>
                <a:ea typeface="+mn-ea"/>
                <a:cs typeface="+mn-cs"/>
              </a:endParaRPr>
            </a:p>
          </p:txBody>
        </p:sp>
        <p:sp>
          <p:nvSpPr>
            <p:cNvPr id="30" name="AutoShape 20"/>
            <p:cNvSpPr>
              <a:spLocks noChangeAspect="1" noChangeArrowheads="1"/>
            </p:cNvSpPr>
            <p:nvPr/>
          </p:nvSpPr>
          <p:spPr bwMode="auto">
            <a:xfrm>
              <a:off x="7566644" y="3680755"/>
              <a:ext cx="341959" cy="473075"/>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31" name="Flowchart: Merge 30"/>
            <p:cNvSpPr/>
            <p:nvPr/>
          </p:nvSpPr>
          <p:spPr bwMode="gray">
            <a:xfrm rot="10800000">
              <a:off x="6956576" y="4294328"/>
              <a:ext cx="188112" cy="253596"/>
            </a:xfrm>
            <a:prstGeom prst="flowChartMerge">
              <a:avLst/>
            </a:prstGeom>
            <a:solidFill>
              <a:schemeClr val="accent6"/>
            </a:solidFill>
            <a:ln w="19050" algn="ctr">
              <a:solidFill>
                <a:schemeClr val="bg2">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2" name="Flowchart: Merge 31"/>
            <p:cNvSpPr/>
            <p:nvPr/>
          </p:nvSpPr>
          <p:spPr bwMode="gray">
            <a:xfrm>
              <a:off x="6947266" y="3355283"/>
              <a:ext cx="188112" cy="253596"/>
            </a:xfrm>
            <a:prstGeom prst="flowChartMerge">
              <a:avLst/>
            </a:prstGeom>
            <a:solidFill>
              <a:schemeClr val="accent6"/>
            </a:solidFill>
            <a:ln w="19050" algn="ctr">
              <a:solidFill>
                <a:schemeClr val="bg2">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3" name="Rounded Rectangle 32"/>
            <p:cNvSpPr/>
            <p:nvPr/>
          </p:nvSpPr>
          <p:spPr bwMode="gray">
            <a:xfrm>
              <a:off x="4579250" y="1567167"/>
              <a:ext cx="2246793" cy="586520"/>
            </a:xfrm>
            <a:prstGeom prst="roundRect">
              <a:avLst/>
            </a:prstGeom>
            <a:noFill/>
            <a:ln w="3175" algn="ctr">
              <a:solidFill>
                <a:schemeClr val="accent5"/>
              </a:solidFill>
              <a:prstDash val="dash"/>
              <a:miter lim="800000"/>
              <a:headEnd/>
              <a:tailEnd/>
            </a:ln>
          </p:spPr>
          <p:txBody>
            <a:bodyPr wrap="square" lIns="88900" tIns="88900" rIns="88900" bIns="88900" rtlCol="0" anchor="ctr"/>
            <a:lstStyle/>
            <a:p>
              <a:pPr marL="285750" marR="0" lvl="0" indent="-285750" algn="ctr"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Presentations</a:t>
              </a:r>
            </a:p>
            <a:p>
              <a:pPr marL="285750" marR="0" lvl="0" indent="-285750" algn="ctr"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Workshops</a:t>
              </a:r>
            </a:p>
          </p:txBody>
        </p:sp>
        <p:sp>
          <p:nvSpPr>
            <p:cNvPr id="34" name="Rounded Rectangle 33"/>
            <p:cNvSpPr/>
            <p:nvPr/>
          </p:nvSpPr>
          <p:spPr bwMode="gray">
            <a:xfrm>
              <a:off x="4536481" y="5606298"/>
              <a:ext cx="2243426" cy="586520"/>
            </a:xfrm>
            <a:prstGeom prst="roundRect">
              <a:avLst/>
            </a:prstGeom>
            <a:noFill/>
            <a:ln w="3175" algn="ctr">
              <a:solidFill>
                <a:schemeClr val="accent5"/>
              </a:solidFill>
              <a:prstDash val="dash"/>
              <a:miter lim="800000"/>
              <a:headEnd/>
              <a:tailEnd/>
            </a:ln>
          </p:spPr>
          <p:txBody>
            <a:bodyPr wrap="square" lIns="88900" tIns="88900" rIns="88900" bIns="88900" rtlCol="0" anchor="ctr"/>
            <a:lstStyle/>
            <a:p>
              <a:pPr marL="285750" marR="0" lvl="0" indent="-285750" algn="ctr"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Interviews</a:t>
              </a:r>
            </a:p>
            <a:p>
              <a:pPr marL="285750" marR="0" lvl="0" indent="-285750" algn="ctr"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Conference Call</a:t>
              </a:r>
            </a:p>
          </p:txBody>
        </p:sp>
        <p:sp>
          <p:nvSpPr>
            <p:cNvPr id="35" name="Rounded Rectangle 34"/>
            <p:cNvSpPr/>
            <p:nvPr/>
          </p:nvSpPr>
          <p:spPr bwMode="gray">
            <a:xfrm>
              <a:off x="7647517" y="1587331"/>
              <a:ext cx="2951276" cy="1380141"/>
            </a:xfrm>
            <a:prstGeom prst="roundRect">
              <a:avLst/>
            </a:prstGeom>
            <a:noFill/>
            <a:ln w="3175" algn="ctr">
              <a:solidFill>
                <a:schemeClr val="accent5">
                  <a:lumMod val="50000"/>
                </a:schemeClr>
              </a:solidFill>
              <a:prstDash val="dash"/>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Framework / Philosophy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Nature of Regulation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User Consultation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Regulatory Till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Regulators Role in Monitoring Performance</a:t>
              </a:r>
            </a:p>
          </p:txBody>
        </p:sp>
        <p:sp>
          <p:nvSpPr>
            <p:cNvPr id="36" name="Rounded Rectangle 35"/>
            <p:cNvSpPr/>
            <p:nvPr/>
          </p:nvSpPr>
          <p:spPr bwMode="gray">
            <a:xfrm>
              <a:off x="7647518" y="4962991"/>
              <a:ext cx="3271683" cy="1971901"/>
            </a:xfrm>
            <a:prstGeom prst="roundRect">
              <a:avLst/>
            </a:prstGeom>
            <a:noFill/>
            <a:ln w="3175" algn="ctr">
              <a:solidFill>
                <a:schemeClr val="accent5">
                  <a:lumMod val="50000"/>
                </a:schemeClr>
              </a:solidFill>
              <a:prstDash val="dash"/>
              <a:miter lim="800000"/>
              <a:headEnd/>
              <a:tailEnd/>
            </a:ln>
          </p:spPr>
          <p:txBody>
            <a:bodyPr wrap="square" lIns="88900" tIns="88900" rIns="88900" bIns="88900" rtlCol="0" anchor="ctr"/>
            <a:lstStyle/>
            <a:p>
              <a:pPr marL="0" marR="0" lvl="0" indent="0" algn="l" defTabSz="914400" rtl="0" eaLnBrk="1" fontAlgn="auto" latinLnBrk="0" hangingPunct="1">
                <a:lnSpc>
                  <a:spcPct val="106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Verdana"/>
                  <a:ea typeface="+mn-ea"/>
                  <a:cs typeface="+mn-cs"/>
                </a:rPr>
                <a:t>Fine print</a:t>
              </a:r>
            </a:p>
            <a:p>
              <a:pPr marL="171450" marR="0" lvl="0" indent="-171450" algn="l"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prstClr val="black"/>
                  </a:solidFill>
                  <a:effectLst/>
                  <a:uLnTx/>
                  <a:uFillTx/>
                  <a:latin typeface="Verdana"/>
                  <a:ea typeface="+mn-ea"/>
                  <a:cs typeface="+mn-cs"/>
                </a:rPr>
                <a:t>Formula for determining tariff</a:t>
              </a:r>
            </a:p>
            <a:p>
              <a:pPr marL="171450" marR="0" lvl="0" indent="-171450" algn="l"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GB" sz="1200" b="0" i="0" u="none" strike="noStrike" kern="1200" cap="none" spc="0" normalizeH="0" baseline="0" noProof="0" dirty="0">
                  <a:ln>
                    <a:noFill/>
                  </a:ln>
                  <a:solidFill>
                    <a:prstClr val="black"/>
                  </a:solidFill>
                  <a:effectLst/>
                  <a:uLnTx/>
                  <a:uFillTx/>
                  <a:latin typeface="Verdana"/>
                  <a:ea typeface="+mn-ea"/>
                  <a:cs typeface="+mn-cs"/>
                </a:rPr>
                <a:t>Parameters to be considered</a:t>
              </a:r>
            </a:p>
            <a:p>
              <a:pPr marL="171450" marR="0" lvl="0" indent="-171450" algn="l"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Process for revision of tariff</a:t>
              </a:r>
            </a:p>
            <a:p>
              <a:pPr marL="171450" marR="0" lvl="0" indent="-171450" algn="l" defTabSz="914400" rtl="0" eaLnBrk="1" fontAlgn="auto" latinLnBrk="0" hangingPunct="1">
                <a:lnSpc>
                  <a:spcPct val="106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Verdana"/>
                  <a:ea typeface="+mn-ea"/>
                  <a:cs typeface="+mn-cs"/>
                </a:rPr>
                <a:t>Guidelines for applicability, estimation and revision of Development fees</a:t>
              </a:r>
              <a:endParaRPr kumimoji="0" lang="en-GB" sz="1200" b="1" i="0" u="none" strike="noStrike" kern="1200" cap="none" spc="0" normalizeH="0" baseline="0" noProof="0" dirty="0">
                <a:ln>
                  <a:noFill/>
                </a:ln>
                <a:solidFill>
                  <a:prstClr val="black"/>
                </a:solidFill>
                <a:effectLst/>
                <a:uLnTx/>
                <a:uFillTx/>
                <a:latin typeface="Verdana"/>
                <a:ea typeface="+mn-ea"/>
                <a:cs typeface="+mn-cs"/>
              </a:endParaRPr>
            </a:p>
          </p:txBody>
        </p:sp>
        <p:sp>
          <p:nvSpPr>
            <p:cNvPr id="37" name="AutoShape 16"/>
            <p:cNvSpPr>
              <a:spLocks noChangeAspect="1" noChangeArrowheads="1"/>
            </p:cNvSpPr>
            <p:nvPr/>
          </p:nvSpPr>
          <p:spPr bwMode="auto">
            <a:xfrm rot="16200000">
              <a:off x="8603907" y="2865676"/>
              <a:ext cx="240144" cy="672377"/>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38" name="AutoShape 22"/>
            <p:cNvSpPr>
              <a:spLocks noChangeAspect="1" noChangeArrowheads="1"/>
            </p:cNvSpPr>
            <p:nvPr/>
          </p:nvSpPr>
          <p:spPr bwMode="auto">
            <a:xfrm rot="16200000" flipH="1">
              <a:off x="8603906" y="4258172"/>
              <a:ext cx="240144" cy="672377"/>
            </a:xfrm>
            <a:prstGeom prst="rightArrow">
              <a:avLst>
                <a:gd name="adj1" fmla="val 50000"/>
                <a:gd name="adj2" fmla="val 50032"/>
              </a:avLst>
            </a:prstGeom>
            <a:solidFill>
              <a:schemeClr val="bg2">
                <a:lumMod val="90000"/>
              </a:schemeClr>
            </a:solidFill>
            <a:ln w="12700" algn="ctr">
              <a:noFill/>
              <a:miter lim="800000"/>
              <a:headEnd/>
              <a:tailEnd/>
            </a:ln>
            <a:effectLst/>
          </p:spPr>
          <p:txBody>
            <a:bodyPr wrap="square" lIns="36000" tIns="36000" rIns="36000" bIns="36000" anchor="ct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00" b="0" i="0" u="none" strike="noStrike" kern="1200" cap="none" spc="0" normalizeH="0" baseline="0" noProof="0" dirty="0">
                <a:ln>
                  <a:noFill/>
                </a:ln>
                <a:solidFill>
                  <a:prstClr val="white"/>
                </a:solidFill>
                <a:effectLst/>
                <a:uLnTx/>
                <a:uFillTx/>
                <a:latin typeface="Verdana"/>
                <a:ea typeface="+mn-ea"/>
                <a:cs typeface="+mn-cs"/>
              </a:endParaRPr>
            </a:p>
          </p:txBody>
        </p:sp>
        <p:sp>
          <p:nvSpPr>
            <p:cNvPr id="39" name="Rectangle 38"/>
            <p:cNvSpPr>
              <a:spLocks noChangeArrowheads="1"/>
            </p:cNvSpPr>
            <p:nvPr/>
          </p:nvSpPr>
          <p:spPr bwMode="auto">
            <a:xfrm>
              <a:off x="80712" y="3561561"/>
              <a:ext cx="1184280" cy="986363"/>
            </a:xfrm>
            <a:prstGeom prst="rect">
              <a:avLst/>
            </a:prstGeom>
            <a:solidFill>
              <a:schemeClr val="accent2"/>
            </a:solidFill>
            <a:ln w="12700" algn="ctr">
              <a:no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schemeClr val="bg1"/>
                  </a:solidFill>
                  <a:effectLst/>
                  <a:uLnTx/>
                  <a:uFillTx/>
                  <a:latin typeface="Verdana"/>
                  <a:ea typeface="ＭＳ Ｐゴシック" pitchFamily="50" charset="-128"/>
                  <a:cs typeface="+mn-cs"/>
                </a:rPr>
                <a:t>Risks emerging from</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schemeClr val="bg1"/>
                  </a:solidFill>
                  <a:effectLst/>
                  <a:uLnTx/>
                  <a:uFillTx/>
                  <a:latin typeface="Verdana"/>
                  <a:ea typeface="ＭＳ Ｐゴシック" pitchFamily="50" charset="-128"/>
                  <a:cs typeface="+mn-cs"/>
                </a:rPr>
                <a:t>Program</a:t>
              </a:r>
            </a:p>
          </p:txBody>
        </p:sp>
        <p:sp>
          <p:nvSpPr>
            <p:cNvPr id="20" name="Rectangle 19"/>
            <p:cNvSpPr>
              <a:spLocks noChangeArrowheads="1"/>
            </p:cNvSpPr>
            <p:nvPr/>
          </p:nvSpPr>
          <p:spPr bwMode="auto">
            <a:xfrm>
              <a:off x="5818776" y="3513275"/>
              <a:ext cx="1731086" cy="845713"/>
            </a:xfrm>
            <a:prstGeom prst="rect">
              <a:avLst/>
            </a:prstGeom>
            <a:no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Analyze and identify an optimum solution</a:t>
              </a:r>
            </a:p>
          </p:txBody>
        </p:sp>
        <p:sp>
          <p:nvSpPr>
            <p:cNvPr id="25" name="Rectangle 24"/>
            <p:cNvSpPr>
              <a:spLocks noChangeArrowheads="1"/>
            </p:cNvSpPr>
            <p:nvPr/>
          </p:nvSpPr>
          <p:spPr bwMode="auto">
            <a:xfrm>
              <a:off x="4710468" y="4640078"/>
              <a:ext cx="1819586" cy="913403"/>
            </a:xfrm>
            <a:prstGeom prst="rect">
              <a:avLst/>
            </a:prstGeom>
            <a:solidFill>
              <a:schemeClr val="accent3">
                <a:lumMod val="40000"/>
                <a:lumOff val="60000"/>
              </a:schemeClr>
            </a:solidFill>
            <a:ln w="6350" algn="ctr">
              <a:solidFill>
                <a:schemeClr val="accent4"/>
              </a:solidFill>
              <a:miter lim="800000"/>
              <a:headEnd/>
              <a:tailEnd/>
            </a:ln>
            <a:effectLst/>
          </p:spPr>
          <p:txBody>
            <a:bodyPr wrap="square" lIns="88900" tIns="88900" rIns="88900" bIns="88900" anchor="ct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ja-JP" sz="1200" b="0" i="0" u="none" strike="noStrike" kern="1200" cap="none" spc="0" normalizeH="0" baseline="0" noProof="0" dirty="0">
                  <a:ln>
                    <a:noFill/>
                  </a:ln>
                  <a:solidFill>
                    <a:prstClr val="black"/>
                  </a:solidFill>
                  <a:effectLst/>
                  <a:uLnTx/>
                  <a:uFillTx/>
                  <a:latin typeface="Verdana"/>
                  <a:ea typeface="ＭＳ Ｐゴシック" pitchFamily="50" charset="-128"/>
                  <a:cs typeface="+mn-cs"/>
                </a:rPr>
                <a:t>Feedback from stakeholders i.e. Airlines, AOs, ISPs</a:t>
              </a:r>
            </a:p>
          </p:txBody>
        </p:sp>
      </p:grpSp>
      <p:sp>
        <p:nvSpPr>
          <p:cNvPr id="43" name="Text Placeholder 1"/>
          <p:cNvSpPr>
            <a:spLocks noGrp="1"/>
          </p:cNvSpPr>
          <p:nvPr>
            <p:ph type="body" sz="quarter" idx="4294967295"/>
          </p:nvPr>
        </p:nvSpPr>
        <p:spPr>
          <a:xfrm>
            <a:off x="340002" y="935252"/>
            <a:ext cx="10095340" cy="828346"/>
          </a:xfrm>
          <a:prstGeom prst="rect">
            <a:avLst/>
          </a:prstGeom>
        </p:spPr>
        <p:txBody>
          <a:bodyPr vert="horz" lIns="0" tIns="0" rIns="0" bIns="0" rtlCol="0">
            <a:noAutofit/>
          </a:bodyPr>
          <a:lstStyle/>
          <a:p>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Deloitte successfully assisted AERA in structuring the Authority, (1) including development of processes, procedures and systems for its functioning, (2) developing frameworks for economic regulation of services at Major Airports, including assessment of best practices across infrastructure sectors and in other countries</a:t>
            </a:r>
          </a:p>
        </p:txBody>
      </p:sp>
      <p:sp>
        <p:nvSpPr>
          <p:cNvPr id="50" name="Rectangle 49"/>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commercial due diligence and risk analysis</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51" name="Straight Connector 50"/>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263396" y="331644"/>
            <a:ext cx="10337615" cy="461665"/>
          </a:xfrm>
          <a:prstGeom prst="rect">
            <a:avLst/>
          </a:prstGeom>
          <a:noFill/>
        </p:spPr>
        <p:txBody>
          <a:bodyPr wrap="square">
            <a:spAutoFit/>
          </a:bodyPr>
          <a:lstStyle/>
          <a:p>
            <a:pPr lvl="0" defTabSz="914400">
              <a:spcBef>
                <a:spcPct val="0"/>
              </a:spcBef>
              <a:defRPr/>
            </a:pPr>
            <a:r>
              <a:rPr lang="en-US" sz="2400" dirty="0">
                <a:solidFill>
                  <a:prstClr val="black"/>
                </a:solidFill>
                <a:latin typeface="Verdana" panose="020B0604030504040204" pitchFamily="34" charset="0"/>
                <a:ea typeface="Verdana" panose="020B0604030504040204" pitchFamily="34" charset="0"/>
                <a:cs typeface="Verdana" panose="020B0604030504040204" pitchFamily="34" charset="0"/>
              </a:rPr>
              <a:t>Airport Economic Regulation – Our Experience</a:t>
            </a:r>
          </a:p>
        </p:txBody>
      </p:sp>
    </p:spTree>
    <p:extLst>
      <p:ext uri="{BB962C8B-B14F-4D97-AF65-F5344CB8AC3E}">
        <p14:creationId xmlns:p14="http://schemas.microsoft.com/office/powerpoint/2010/main" val="310944858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27732" y="1855186"/>
            <a:ext cx="4238897" cy="4377172"/>
          </a:xfrm>
          <a:prstGeom prst="rect">
            <a:avLst/>
          </a:prstGeom>
          <a:noFill/>
          <a:ln w="9525" cap="flat" cmpd="sng" algn="ctr">
            <a:noFill/>
            <a:prstDash val="solid"/>
          </a:ln>
          <a:effectLst/>
        </p:spPr>
        <p:txBody>
          <a:bodyPr lIns="45720" rIns="45720" numCol="1" rtlCol="0" anchor="ctr"/>
          <a:lstStyle/>
          <a:p>
            <a:pPr marL="88900" lvl="1">
              <a:spcBef>
                <a:spcPts val="600"/>
              </a:spcBef>
              <a:buSzPct val="65000"/>
              <a:defRPr/>
            </a:pPr>
            <a:r>
              <a:rPr lang="en-US" sz="1200" b="1" kern="0" dirty="0">
                <a:latin typeface="Verdana" panose="020B0604030504040204" pitchFamily="34" charset="0"/>
                <a:ea typeface="Verdana" panose="020B0604030504040204" pitchFamily="34" charset="0"/>
                <a:cs typeface="Verdana" panose="020B0604030504040204" pitchFamily="34" charset="0"/>
              </a:rPr>
              <a:t>The financial model will:</a:t>
            </a:r>
          </a:p>
          <a:p>
            <a:pPr marL="285750" lvl="1" indent="-285750">
              <a:spcBef>
                <a:spcPts val="600"/>
              </a:spcBef>
              <a:buSzPct val="65000"/>
              <a:buFont typeface="Arial" panose="020B0604020202020204"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Take inputs from demand projections, life-cycle costs of the project and their timings, aeronautical and non-aeronautical revenue options and their forecast stream (based on forecast of regulated tariffs), capital structure of the SPV etc., and</a:t>
            </a:r>
          </a:p>
          <a:p>
            <a:pPr marL="285750" lvl="1" indent="-285750">
              <a:spcBef>
                <a:spcPts val="600"/>
              </a:spcBef>
              <a:buSzPct val="65000"/>
              <a:buFont typeface="Arial" panose="020B0604020202020204"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Provide an assessment of expected returns from the project based on certain parameters like NPV, IRR, output ratios like DSCR, Cost-Benefit ratio etc.</a:t>
            </a:r>
          </a:p>
          <a:p>
            <a:pPr marL="285750" lvl="1" indent="-285750">
              <a:spcBef>
                <a:spcPts val="600"/>
              </a:spcBef>
              <a:buSzPct val="65000"/>
              <a:buFont typeface="Arial" panose="020B0604020202020204"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Enable undertaking sensitivity analysis to identify key variables / assumptions having the maximum impact on the financial viability so that appropriate risk mitigation can be done for such variables</a:t>
            </a:r>
          </a:p>
          <a:p>
            <a:pPr marL="285750" lvl="1" indent="-285750">
              <a:spcBef>
                <a:spcPts val="600"/>
              </a:spcBef>
              <a:buSzPct val="65000"/>
              <a:buFont typeface="Arial" panose="020B0604020202020204"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Need to be compliant with all applicable accounting (Ind AS), regulatory and tax related aspects based on inputs from other tax / accounting advisor appointed by EIL</a:t>
            </a:r>
          </a:p>
          <a:p>
            <a:pPr marL="285750" lvl="1" indent="-285750">
              <a:spcBef>
                <a:spcPts val="600"/>
              </a:spcBef>
              <a:buSzPct val="65000"/>
              <a:buFont typeface="Arial" panose="020B0604020202020204" pitchFamily="34" charset="0"/>
              <a:buChar char="•"/>
              <a:defRPr/>
            </a:pPr>
            <a:endParaRPr lang="en-US" sz="1200" kern="0" dirty="0">
              <a:latin typeface="Verdana" panose="020B0604030504040204" pitchFamily="34" charset="0"/>
              <a:ea typeface="Verdana" panose="020B0604030504040204" pitchFamily="34" charset="0"/>
              <a:cs typeface="Verdana" panose="020B0604030504040204" pitchFamily="34" charset="0"/>
            </a:endParaRPr>
          </a:p>
        </p:txBody>
      </p:sp>
      <p:sp>
        <p:nvSpPr>
          <p:cNvPr id="8" name="Rectangle 7"/>
          <p:cNvSpPr/>
          <p:nvPr/>
        </p:nvSpPr>
        <p:spPr>
          <a:xfrm>
            <a:off x="-80388" y="999939"/>
            <a:ext cx="10447017" cy="738664"/>
          </a:xfrm>
          <a:prstGeom prst="rect">
            <a:avLst/>
          </a:prstGeom>
        </p:spPr>
        <p:txBody>
          <a:bodyPr wrap="square">
            <a:spAutoFit/>
          </a:bodyPr>
          <a:lstStyle/>
          <a:p>
            <a:pPr marL="339725" algn="just">
              <a:spcAft>
                <a:spcPts val="300"/>
              </a:spcAft>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The financial analysis of the project will use inputs from the commercial due diligence, risk analysis, inputs from other consultants (including demand projections, technical feasibility, and cost estimates) and will reflect on the level of returns that are expected for shareholders and lenders. </a:t>
            </a:r>
          </a:p>
        </p:txBody>
      </p:sp>
      <p:pic>
        <p:nvPicPr>
          <p:cNvPr id="9" name="Picture 8"/>
          <p:cNvPicPr>
            <a:picLocks noChangeAspect="1"/>
          </p:cNvPicPr>
          <p:nvPr/>
        </p:nvPicPr>
        <p:blipFill>
          <a:blip r:embed="rId2"/>
          <a:stretch>
            <a:fillRect/>
          </a:stretch>
        </p:blipFill>
        <p:spPr>
          <a:xfrm>
            <a:off x="352350" y="1855186"/>
            <a:ext cx="5606323" cy="4377172"/>
          </a:xfrm>
          <a:prstGeom prst="rect">
            <a:avLst/>
          </a:prstGeom>
        </p:spPr>
      </p:pic>
      <p:sp>
        <p:nvSpPr>
          <p:cNvPr id="12" name="Rectangle 11"/>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Business / Financial Model</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3" name="Straight Connector 12"/>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63396" y="331644"/>
            <a:ext cx="9915584" cy="461665"/>
          </a:xfrm>
          <a:prstGeom prst="rect">
            <a:avLst/>
          </a:prstGeom>
        </p:spPr>
        <p:txBody>
          <a:bodyPr wrap="square">
            <a:spAutoFit/>
          </a:bodyPr>
          <a:lstStyle/>
          <a:p>
            <a:pPr lvl="0" defTabSz="914400">
              <a:spcBef>
                <a:spcPct val="0"/>
              </a:spcBef>
              <a:defRPr/>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Business / Financial Model</a:t>
            </a:r>
          </a:p>
        </p:txBody>
      </p:sp>
    </p:spTree>
    <p:extLst>
      <p:ext uri="{BB962C8B-B14F-4D97-AF65-F5344CB8AC3E}">
        <p14:creationId xmlns:p14="http://schemas.microsoft.com/office/powerpoint/2010/main" val="245608889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52350" y="1157691"/>
            <a:ext cx="10014280" cy="5767809"/>
            <a:chOff x="208779" y="835412"/>
            <a:chExt cx="8640311" cy="5651908"/>
          </a:xfrm>
        </p:grpSpPr>
        <p:grpSp>
          <p:nvGrpSpPr>
            <p:cNvPr id="23" name="Group 22"/>
            <p:cNvGrpSpPr/>
            <p:nvPr/>
          </p:nvGrpSpPr>
          <p:grpSpPr>
            <a:xfrm>
              <a:off x="879077" y="983760"/>
              <a:ext cx="7970013" cy="5446625"/>
              <a:chOff x="1152037" y="983760"/>
              <a:chExt cx="7970013" cy="5446625"/>
            </a:xfrm>
          </p:grpSpPr>
          <p:grpSp>
            <p:nvGrpSpPr>
              <p:cNvPr id="21" name="Group 20"/>
              <p:cNvGrpSpPr/>
              <p:nvPr/>
            </p:nvGrpSpPr>
            <p:grpSpPr>
              <a:xfrm>
                <a:off x="1152037" y="983760"/>
                <a:ext cx="7970013" cy="5446625"/>
                <a:chOff x="537886" y="983760"/>
                <a:chExt cx="7970013" cy="5446625"/>
              </a:xfrm>
            </p:grpSpPr>
            <p:grpSp>
              <p:nvGrpSpPr>
                <p:cNvPr id="16" name="Group 15"/>
                <p:cNvGrpSpPr/>
                <p:nvPr/>
              </p:nvGrpSpPr>
              <p:grpSpPr>
                <a:xfrm>
                  <a:off x="551534" y="983760"/>
                  <a:ext cx="7956365" cy="5437027"/>
                  <a:chOff x="537886" y="1516022"/>
                  <a:chExt cx="7956365" cy="5437027"/>
                </a:xfrm>
              </p:grpSpPr>
              <p:sp>
                <p:nvSpPr>
                  <p:cNvPr id="5" name="AutoShape 10"/>
                  <p:cNvSpPr>
                    <a:spLocks noChangeArrowheads="1"/>
                  </p:cNvSpPr>
                  <p:nvPr/>
                </p:nvSpPr>
                <p:spPr bwMode="auto">
                  <a:xfrm>
                    <a:off x="3549211" y="1516022"/>
                    <a:ext cx="2520000" cy="548640"/>
                  </a:xfrm>
                  <a:prstGeom prst="chevron">
                    <a:avLst>
                      <a:gd name="adj" fmla="val 32490"/>
                    </a:avLst>
                  </a:prstGeom>
                  <a:solidFill>
                    <a:schemeClr val="accent1"/>
                  </a:solidFill>
                  <a:ln w="6350" algn="ctr">
                    <a:noFill/>
                    <a:miter lim="800000"/>
                    <a:headEnd type="none" w="sm" len="sm"/>
                    <a:tailEnd type="none" w="sm" len="sm"/>
                  </a:ln>
                </p:spPr>
                <p:txBody>
                  <a:bodyPr lIns="31561" tIns="31561" rIns="31561" bIns="31561" anchor="ctr"/>
                  <a:lstStyle/>
                  <a:p>
                    <a:pPr indent="4176" algn="ctr" defTabSz="801654">
                      <a:defRPr/>
                    </a:pPr>
                    <a:r>
                      <a:rPr lang="en-GB" altLang="ja-JP" sz="1200" kern="0" dirty="0">
                        <a:solidFill>
                          <a:prstClr val="white"/>
                        </a:solidFill>
                        <a:latin typeface="Verdana"/>
                        <a:cs typeface="Arial" pitchFamily="34" charset="0"/>
                      </a:rPr>
                      <a:t>Key Funding options</a:t>
                    </a:r>
                    <a:endParaRPr lang="en-GB" altLang="ja-JP" sz="1200" kern="0" dirty="0">
                      <a:solidFill>
                        <a:prstClr val="white"/>
                      </a:solidFill>
                      <a:latin typeface="Verdana"/>
                      <a:ea typeface="ＭＳ Ｐゴシック" panose="020B0600070205080204" pitchFamily="34" charset="-128"/>
                      <a:cs typeface="Arial" pitchFamily="34" charset="0"/>
                    </a:endParaRPr>
                  </a:p>
                </p:txBody>
              </p:sp>
              <p:sp>
                <p:nvSpPr>
                  <p:cNvPr id="6" name="AutoShape 11"/>
                  <p:cNvSpPr>
                    <a:spLocks noChangeArrowheads="1"/>
                  </p:cNvSpPr>
                  <p:nvPr/>
                </p:nvSpPr>
                <p:spPr bwMode="auto">
                  <a:xfrm>
                    <a:off x="1029211" y="1516022"/>
                    <a:ext cx="2520000" cy="548640"/>
                  </a:xfrm>
                  <a:prstGeom prst="homePlate">
                    <a:avLst>
                      <a:gd name="adj" fmla="val 31290"/>
                    </a:avLst>
                  </a:prstGeom>
                  <a:solidFill>
                    <a:schemeClr val="accent2"/>
                  </a:solidFill>
                  <a:ln w="6350" algn="ctr">
                    <a:noFill/>
                    <a:miter lim="800000"/>
                    <a:headEnd type="none" w="sm" len="sm"/>
                    <a:tailEnd type="none" w="sm" len="sm"/>
                  </a:ln>
                </p:spPr>
                <p:txBody>
                  <a:bodyPr lIns="31561" tIns="31561" rIns="31561" bIns="31561" anchor="ctr"/>
                  <a:lstStyle/>
                  <a:p>
                    <a:pPr marL="150310" indent="-150310" algn="ctr" defTabSz="801654">
                      <a:defRPr/>
                    </a:pPr>
                    <a:r>
                      <a:rPr lang="en-GB" sz="1200" kern="0" dirty="0">
                        <a:solidFill>
                          <a:prstClr val="white"/>
                        </a:solidFill>
                        <a:latin typeface="Verdana"/>
                        <a:cs typeface="Arial" pitchFamily="34" charset="0"/>
                      </a:rPr>
                      <a:t>Investment assessment</a:t>
                    </a:r>
                    <a:endParaRPr lang="en-GB" altLang="ja-JP" sz="1200" kern="0" dirty="0">
                      <a:solidFill>
                        <a:prstClr val="white"/>
                      </a:solidFill>
                      <a:latin typeface="Verdana"/>
                      <a:ea typeface="ＭＳ Ｐゴシック" pitchFamily="50" charset="-128"/>
                      <a:cs typeface="Arial" pitchFamily="34" charset="0"/>
                    </a:endParaRPr>
                  </a:p>
                </p:txBody>
              </p:sp>
              <p:sp>
                <p:nvSpPr>
                  <p:cNvPr id="8" name="AutoShape 29"/>
                  <p:cNvSpPr>
                    <a:spLocks noChangeArrowheads="1"/>
                  </p:cNvSpPr>
                  <p:nvPr/>
                </p:nvSpPr>
                <p:spPr bwMode="auto">
                  <a:xfrm>
                    <a:off x="6047241" y="1529171"/>
                    <a:ext cx="2447010" cy="548640"/>
                  </a:xfrm>
                  <a:prstGeom prst="chevron">
                    <a:avLst>
                      <a:gd name="adj" fmla="val 30967"/>
                    </a:avLst>
                  </a:prstGeom>
                  <a:solidFill>
                    <a:schemeClr val="tx1"/>
                  </a:solidFill>
                  <a:ln w="6350" algn="ctr">
                    <a:noFill/>
                    <a:miter lim="800000"/>
                    <a:headEnd type="none" w="sm" len="sm"/>
                    <a:tailEnd type="none" w="sm" len="sm"/>
                  </a:ln>
                </p:spPr>
                <p:txBody>
                  <a:bodyPr lIns="31561" tIns="31561" rIns="31561" bIns="31561" anchor="ctr"/>
                  <a:lstStyle/>
                  <a:p>
                    <a:pPr marL="150310" indent="-150310" algn="ctr" defTabSz="801654">
                      <a:defRPr/>
                    </a:pPr>
                    <a:r>
                      <a:rPr lang="en-GB" altLang="ja-JP" sz="1200" kern="0" dirty="0">
                        <a:solidFill>
                          <a:prstClr val="white"/>
                        </a:solidFill>
                        <a:latin typeface="Verdana"/>
                        <a:cs typeface="Arial" pitchFamily="34" charset="0"/>
                      </a:rPr>
                      <a:t>Options and ways for raising Funds</a:t>
                    </a:r>
                    <a:endParaRPr lang="en-GB" altLang="ja-JP" sz="1200" kern="0" dirty="0">
                      <a:solidFill>
                        <a:prstClr val="white"/>
                      </a:solidFill>
                      <a:latin typeface="Verdana"/>
                      <a:ea typeface="ＭＳ Ｐゴシック" panose="020B0600070205080204" pitchFamily="34" charset="-128"/>
                      <a:cs typeface="Arial" pitchFamily="34" charset="0"/>
                    </a:endParaRPr>
                  </a:p>
                </p:txBody>
              </p:sp>
              <p:cxnSp>
                <p:nvCxnSpPr>
                  <p:cNvPr id="10" name="Straight Connector 9"/>
                  <p:cNvCxnSpPr/>
                  <p:nvPr/>
                </p:nvCxnSpPr>
                <p:spPr>
                  <a:xfrm flipV="1">
                    <a:off x="537886" y="2123815"/>
                    <a:ext cx="7956365" cy="5234"/>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37886" y="6116481"/>
                    <a:ext cx="7956365"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440029" y="2129049"/>
                    <a:ext cx="0" cy="4824000"/>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980788" y="2129049"/>
                    <a:ext cx="0" cy="4824000"/>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8494251" y="2129049"/>
                    <a:ext cx="0" cy="4824000"/>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 name="Straight Connector 18"/>
                <p:cNvCxnSpPr/>
                <p:nvPr/>
              </p:nvCxnSpPr>
              <p:spPr>
                <a:xfrm flipV="1">
                  <a:off x="537886" y="4540164"/>
                  <a:ext cx="7970013" cy="6368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537886" y="6415553"/>
                  <a:ext cx="7970012" cy="1483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p:cNvCxnSpPr/>
              <p:nvPr/>
            </p:nvCxnSpPr>
            <p:spPr>
              <a:xfrm>
                <a:off x="1517973" y="1591553"/>
                <a:ext cx="0" cy="4824000"/>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7" name="TextBox 26"/>
            <p:cNvSpPr txBox="1"/>
            <p:nvPr/>
          </p:nvSpPr>
          <p:spPr>
            <a:xfrm rot="16200000">
              <a:off x="-379836" y="3062462"/>
              <a:ext cx="2872317" cy="159330"/>
            </a:xfrm>
            <a:prstGeom prst="rect">
              <a:avLst/>
            </a:prstGeom>
            <a:noFill/>
          </p:spPr>
          <p:txBody>
            <a:bodyPr vert="horz" wrap="square" lIns="0" tIns="0" rIns="0" bIns="0" rtlCol="0">
              <a:spAutoFit/>
            </a:bodyPr>
            <a:lstStyle/>
            <a:p>
              <a:pPr algn="ctr" defTabSz="801654">
                <a:spcBef>
                  <a:spcPts val="175"/>
                </a:spcBef>
                <a:buSzPct val="100000"/>
                <a:defRPr/>
              </a:pPr>
              <a:r>
                <a:rPr lang="en-US" sz="1200" b="1" dirty="0">
                  <a:solidFill>
                    <a:srgbClr val="53565A"/>
                  </a:solidFill>
                  <a:latin typeface="Verdana"/>
                </a:rPr>
                <a:t>ACTIVITIES</a:t>
              </a:r>
              <a:endParaRPr lang="en-IN" sz="1200" b="1" dirty="0">
                <a:solidFill>
                  <a:srgbClr val="53565A"/>
                </a:solidFill>
                <a:latin typeface="Verdana"/>
              </a:endParaRPr>
            </a:p>
          </p:txBody>
        </p:sp>
        <p:sp>
          <p:nvSpPr>
            <p:cNvPr id="28" name="TextBox 27"/>
            <p:cNvSpPr txBox="1"/>
            <p:nvPr/>
          </p:nvSpPr>
          <p:spPr>
            <a:xfrm rot="16200000">
              <a:off x="523925" y="5004937"/>
              <a:ext cx="1088875" cy="159330"/>
            </a:xfrm>
            <a:prstGeom prst="rect">
              <a:avLst/>
            </a:prstGeom>
            <a:noFill/>
          </p:spPr>
          <p:txBody>
            <a:bodyPr vert="horz" wrap="square" lIns="0" tIns="0" rIns="0" bIns="0" rtlCol="0">
              <a:spAutoFit/>
            </a:bodyPr>
            <a:lstStyle/>
            <a:p>
              <a:pPr algn="ctr" defTabSz="801654">
                <a:spcBef>
                  <a:spcPts val="175"/>
                </a:spcBef>
                <a:buSzPct val="100000"/>
                <a:defRPr/>
              </a:pPr>
              <a:r>
                <a:rPr lang="en-US" sz="1200" b="1" dirty="0">
                  <a:solidFill>
                    <a:srgbClr val="53565A"/>
                  </a:solidFill>
                  <a:latin typeface="Verdana"/>
                </a:rPr>
                <a:t>OUTPUT</a:t>
              </a:r>
              <a:endParaRPr lang="en-IN" sz="1200" b="1" dirty="0">
                <a:solidFill>
                  <a:srgbClr val="53565A"/>
                </a:solidFill>
                <a:latin typeface="Verdana"/>
              </a:endParaRPr>
            </a:p>
          </p:txBody>
        </p:sp>
        <p:sp>
          <p:nvSpPr>
            <p:cNvPr id="29" name="TextBox 28"/>
            <p:cNvSpPr txBox="1"/>
            <p:nvPr/>
          </p:nvSpPr>
          <p:spPr>
            <a:xfrm rot="16200000">
              <a:off x="626758" y="5940140"/>
              <a:ext cx="871172" cy="159330"/>
            </a:xfrm>
            <a:prstGeom prst="rect">
              <a:avLst/>
            </a:prstGeom>
            <a:noFill/>
          </p:spPr>
          <p:txBody>
            <a:bodyPr vert="horz" wrap="square" lIns="0" tIns="0" rIns="0" bIns="0" rtlCol="0">
              <a:spAutoFit/>
            </a:bodyPr>
            <a:lstStyle/>
            <a:p>
              <a:pPr algn="ctr" defTabSz="801654">
                <a:spcBef>
                  <a:spcPts val="175"/>
                </a:spcBef>
                <a:buSzPct val="100000"/>
                <a:defRPr/>
              </a:pPr>
              <a:r>
                <a:rPr lang="en-US" sz="1200" b="1" dirty="0">
                  <a:solidFill>
                    <a:srgbClr val="53565A"/>
                  </a:solidFill>
                  <a:latin typeface="Verdana"/>
                </a:rPr>
                <a:t>TOOLS</a:t>
              </a:r>
              <a:endParaRPr lang="en-IN" sz="1200" b="1" dirty="0">
                <a:solidFill>
                  <a:srgbClr val="53565A"/>
                </a:solidFill>
                <a:latin typeface="Verdana"/>
              </a:endParaRPr>
            </a:p>
          </p:txBody>
        </p:sp>
        <p:cxnSp>
          <p:nvCxnSpPr>
            <p:cNvPr id="30" name="Straight Connector 29"/>
            <p:cNvCxnSpPr/>
            <p:nvPr/>
          </p:nvCxnSpPr>
          <p:spPr>
            <a:xfrm>
              <a:off x="878798" y="1591553"/>
              <a:ext cx="0" cy="4824000"/>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gray">
            <a:xfrm>
              <a:off x="1384050" y="4706163"/>
              <a:ext cx="2300843" cy="778484"/>
            </a:xfrm>
            <a:prstGeom prst="rect">
              <a:avLst/>
            </a:prstGeom>
            <a:solidFill>
              <a:schemeClr val="accent3">
                <a:lumMod val="20000"/>
                <a:lumOff val="80000"/>
              </a:schemeClr>
            </a:solidFill>
            <a:ln w="19050" algn="ctr">
              <a:solidFill>
                <a:schemeClr val="accent2"/>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Total Investment requirement over a horizon of 20 years</a:t>
              </a:r>
              <a:endParaRPr lang="en-IN" sz="1200" dirty="0">
                <a:solidFill>
                  <a:prstClr val="black"/>
                </a:solidFill>
                <a:latin typeface="Verdana"/>
              </a:endParaRPr>
            </a:p>
          </p:txBody>
        </p:sp>
        <p:sp>
          <p:nvSpPr>
            <p:cNvPr id="35" name="Rectangle 34"/>
            <p:cNvSpPr/>
            <p:nvPr/>
          </p:nvSpPr>
          <p:spPr bwMode="gray">
            <a:xfrm>
              <a:off x="3921650" y="4706163"/>
              <a:ext cx="2300843" cy="778484"/>
            </a:xfrm>
            <a:prstGeom prst="rect">
              <a:avLst/>
            </a:prstGeom>
            <a:solidFill>
              <a:schemeClr val="accent3">
                <a:lumMod val="20000"/>
                <a:lumOff val="80000"/>
              </a:schemeClr>
            </a:solidFill>
            <a:ln w="19050" algn="ctr">
              <a:solidFill>
                <a:schemeClr val="accent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Identification of various suitable funding sources and financing instruments</a:t>
              </a:r>
              <a:endParaRPr lang="en-IN" sz="1200" dirty="0">
                <a:solidFill>
                  <a:prstClr val="black"/>
                </a:solidFill>
                <a:latin typeface="Verdana"/>
              </a:endParaRPr>
            </a:p>
          </p:txBody>
        </p:sp>
        <p:sp>
          <p:nvSpPr>
            <p:cNvPr id="37" name="Rectangle 36"/>
            <p:cNvSpPr/>
            <p:nvPr/>
          </p:nvSpPr>
          <p:spPr bwMode="gray">
            <a:xfrm>
              <a:off x="6415728" y="4725396"/>
              <a:ext cx="2300843" cy="778484"/>
            </a:xfrm>
            <a:prstGeom prst="rect">
              <a:avLst/>
            </a:prstGeom>
            <a:solidFill>
              <a:schemeClr val="accent3">
                <a:lumMod val="20000"/>
                <a:lumOff val="80000"/>
              </a:schemeClr>
            </a:solidFill>
            <a:ln w="19050" algn="ctr">
              <a:solidFill>
                <a:schemeClr val="tx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Options for raising Funds</a:t>
              </a:r>
              <a:endParaRPr lang="en-IN" sz="1200" dirty="0">
                <a:solidFill>
                  <a:prstClr val="black"/>
                </a:solidFill>
                <a:latin typeface="Verdana"/>
              </a:endParaRPr>
            </a:p>
          </p:txBody>
        </p:sp>
        <p:cxnSp>
          <p:nvCxnSpPr>
            <p:cNvPr id="39" name="Straight Arrow Connector 38"/>
            <p:cNvCxnSpPr>
              <a:stCxn id="32" idx="3"/>
              <a:endCxn id="35" idx="1"/>
            </p:cNvCxnSpPr>
            <p:nvPr/>
          </p:nvCxnSpPr>
          <p:spPr>
            <a:xfrm>
              <a:off x="3684893" y="5095405"/>
              <a:ext cx="236757"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6230896" y="5101489"/>
              <a:ext cx="216000" cy="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3" name="Freeform 33"/>
            <p:cNvSpPr>
              <a:spLocks noChangeAspect="1" noEditPoints="1"/>
            </p:cNvSpPr>
            <p:nvPr/>
          </p:nvSpPr>
          <p:spPr bwMode="auto">
            <a:xfrm>
              <a:off x="268212" y="4901071"/>
              <a:ext cx="488743" cy="383183"/>
            </a:xfrm>
            <a:custGeom>
              <a:avLst/>
              <a:gdLst/>
              <a:ahLst/>
              <a:cxnLst>
                <a:cxn ang="0">
                  <a:pos x="62" y="55"/>
                </a:cxn>
                <a:cxn ang="0">
                  <a:pos x="8" y="55"/>
                </a:cxn>
                <a:cxn ang="0">
                  <a:pos x="8" y="19"/>
                </a:cxn>
                <a:cxn ang="0">
                  <a:pos x="19" y="19"/>
                </a:cxn>
                <a:cxn ang="0">
                  <a:pos x="28" y="10"/>
                </a:cxn>
                <a:cxn ang="0">
                  <a:pos x="4" y="10"/>
                </a:cxn>
                <a:cxn ang="0">
                  <a:pos x="0" y="14"/>
                </a:cxn>
                <a:cxn ang="0">
                  <a:pos x="0" y="60"/>
                </a:cxn>
                <a:cxn ang="0">
                  <a:pos x="4" y="64"/>
                </a:cxn>
                <a:cxn ang="0">
                  <a:pos x="66" y="64"/>
                </a:cxn>
                <a:cxn ang="0">
                  <a:pos x="70" y="60"/>
                </a:cxn>
                <a:cxn ang="0">
                  <a:pos x="70" y="44"/>
                </a:cxn>
                <a:cxn ang="0">
                  <a:pos x="62" y="51"/>
                </a:cxn>
                <a:cxn ang="0">
                  <a:pos x="62" y="55"/>
                </a:cxn>
                <a:cxn ang="0">
                  <a:pos x="55" y="27"/>
                </a:cxn>
                <a:cxn ang="0">
                  <a:pos x="55" y="41"/>
                </a:cxn>
                <a:cxn ang="0">
                  <a:pos x="82" y="20"/>
                </a:cxn>
                <a:cxn ang="0">
                  <a:pos x="55" y="0"/>
                </a:cxn>
                <a:cxn ang="0">
                  <a:pos x="55" y="13"/>
                </a:cxn>
                <a:cxn ang="0">
                  <a:pos x="22" y="45"/>
                </a:cxn>
                <a:cxn ang="0">
                  <a:pos x="55" y="27"/>
                </a:cxn>
              </a:cxnLst>
              <a:rect l="0" t="0" r="r" b="b"/>
              <a:pathLst>
                <a:path w="82" h="64">
                  <a:moveTo>
                    <a:pt x="62" y="55"/>
                  </a:moveTo>
                  <a:cubicBezTo>
                    <a:pt x="8" y="55"/>
                    <a:pt x="8" y="55"/>
                    <a:pt x="8" y="55"/>
                  </a:cubicBezTo>
                  <a:cubicBezTo>
                    <a:pt x="8" y="19"/>
                    <a:pt x="8" y="19"/>
                    <a:pt x="8" y="19"/>
                  </a:cubicBezTo>
                  <a:cubicBezTo>
                    <a:pt x="19" y="19"/>
                    <a:pt x="19" y="19"/>
                    <a:pt x="19" y="19"/>
                  </a:cubicBezTo>
                  <a:cubicBezTo>
                    <a:pt x="19" y="19"/>
                    <a:pt x="22" y="15"/>
                    <a:pt x="28" y="10"/>
                  </a:cubicBezTo>
                  <a:cubicBezTo>
                    <a:pt x="4" y="10"/>
                    <a:pt x="4" y="10"/>
                    <a:pt x="4" y="10"/>
                  </a:cubicBezTo>
                  <a:cubicBezTo>
                    <a:pt x="2" y="10"/>
                    <a:pt x="0" y="12"/>
                    <a:pt x="0" y="14"/>
                  </a:cubicBezTo>
                  <a:cubicBezTo>
                    <a:pt x="0" y="60"/>
                    <a:pt x="0" y="60"/>
                    <a:pt x="0" y="60"/>
                  </a:cubicBezTo>
                  <a:cubicBezTo>
                    <a:pt x="0" y="62"/>
                    <a:pt x="2" y="64"/>
                    <a:pt x="4" y="64"/>
                  </a:cubicBezTo>
                  <a:cubicBezTo>
                    <a:pt x="66" y="64"/>
                    <a:pt x="66" y="64"/>
                    <a:pt x="66" y="64"/>
                  </a:cubicBezTo>
                  <a:cubicBezTo>
                    <a:pt x="68" y="64"/>
                    <a:pt x="70" y="62"/>
                    <a:pt x="70" y="60"/>
                  </a:cubicBezTo>
                  <a:cubicBezTo>
                    <a:pt x="70" y="44"/>
                    <a:pt x="70" y="44"/>
                    <a:pt x="70" y="44"/>
                  </a:cubicBezTo>
                  <a:cubicBezTo>
                    <a:pt x="62" y="51"/>
                    <a:pt x="62" y="51"/>
                    <a:pt x="62" y="51"/>
                  </a:cubicBezTo>
                  <a:lnTo>
                    <a:pt x="62" y="55"/>
                  </a:lnTo>
                  <a:close/>
                  <a:moveTo>
                    <a:pt x="55" y="27"/>
                  </a:moveTo>
                  <a:cubicBezTo>
                    <a:pt x="55" y="41"/>
                    <a:pt x="55" y="41"/>
                    <a:pt x="55" y="41"/>
                  </a:cubicBezTo>
                  <a:cubicBezTo>
                    <a:pt x="82" y="20"/>
                    <a:pt x="82" y="20"/>
                    <a:pt x="82" y="20"/>
                  </a:cubicBezTo>
                  <a:cubicBezTo>
                    <a:pt x="55" y="0"/>
                    <a:pt x="55" y="0"/>
                    <a:pt x="55" y="0"/>
                  </a:cubicBezTo>
                  <a:cubicBezTo>
                    <a:pt x="55" y="13"/>
                    <a:pt x="55" y="13"/>
                    <a:pt x="55" y="13"/>
                  </a:cubicBezTo>
                  <a:cubicBezTo>
                    <a:pt x="22" y="13"/>
                    <a:pt x="22" y="45"/>
                    <a:pt x="22" y="45"/>
                  </a:cubicBezTo>
                  <a:cubicBezTo>
                    <a:pt x="31" y="30"/>
                    <a:pt x="37" y="27"/>
                    <a:pt x="55" y="27"/>
                  </a:cubicBezTo>
                  <a:close/>
                </a:path>
              </a:pathLst>
            </a:custGeom>
            <a:solidFill>
              <a:schemeClr val="accent3"/>
            </a:solidFill>
            <a:ln w="9525">
              <a:solidFill>
                <a:schemeClr val="accent3"/>
              </a:solidFill>
              <a:round/>
              <a:headEnd/>
              <a:tailEnd/>
            </a:ln>
          </p:spPr>
          <p:txBody>
            <a:bodyPr vert="horz" wrap="square" lIns="80165" tIns="40082" rIns="80165" bIns="40082" numCol="1" anchor="t" anchorCtr="0" compatLnSpc="1">
              <a:prstTxWarp prst="textNoShape">
                <a:avLst/>
              </a:prstTxWarp>
            </a:bodyPr>
            <a:lstStyle/>
            <a:p>
              <a:pPr defTabSz="801654">
                <a:defRPr/>
              </a:pPr>
              <a:endParaRPr lang="en-GB" sz="1200" dirty="0">
                <a:solidFill>
                  <a:prstClr val="black"/>
                </a:solidFill>
                <a:latin typeface="Verdana"/>
              </a:endParaRPr>
            </a:p>
          </p:txBody>
        </p:sp>
        <p:sp>
          <p:nvSpPr>
            <p:cNvPr id="44" name="Freeform 45"/>
            <p:cNvSpPr>
              <a:spLocks noChangeAspect="1" noEditPoints="1"/>
            </p:cNvSpPr>
            <p:nvPr/>
          </p:nvSpPr>
          <p:spPr bwMode="auto">
            <a:xfrm>
              <a:off x="268212" y="5808066"/>
              <a:ext cx="475200" cy="423477"/>
            </a:xfrm>
            <a:custGeom>
              <a:avLst/>
              <a:gdLst/>
              <a:ahLst/>
              <a:cxnLst>
                <a:cxn ang="0">
                  <a:pos x="13" y="24"/>
                </a:cxn>
                <a:cxn ang="0">
                  <a:pos x="24" y="28"/>
                </a:cxn>
                <a:cxn ang="0">
                  <a:pos x="25" y="28"/>
                </a:cxn>
                <a:cxn ang="0">
                  <a:pos x="31" y="22"/>
                </a:cxn>
                <a:cxn ang="0">
                  <a:pos x="32" y="21"/>
                </a:cxn>
                <a:cxn ang="0">
                  <a:pos x="29" y="17"/>
                </a:cxn>
                <a:cxn ang="0">
                  <a:pos x="45" y="1"/>
                </a:cxn>
                <a:cxn ang="0">
                  <a:pos x="32" y="1"/>
                </a:cxn>
                <a:cxn ang="0">
                  <a:pos x="17" y="8"/>
                </a:cxn>
                <a:cxn ang="0">
                  <a:pos x="11" y="13"/>
                </a:cxn>
                <a:cxn ang="0">
                  <a:pos x="9" y="19"/>
                </a:cxn>
                <a:cxn ang="0">
                  <a:pos x="3" y="21"/>
                </a:cxn>
                <a:cxn ang="0">
                  <a:pos x="0" y="23"/>
                </a:cxn>
                <a:cxn ang="0">
                  <a:pos x="0" y="25"/>
                </a:cxn>
                <a:cxn ang="0">
                  <a:pos x="6" y="31"/>
                </a:cxn>
                <a:cxn ang="0">
                  <a:pos x="8" y="31"/>
                </a:cxn>
                <a:cxn ang="0">
                  <a:pos x="11" y="29"/>
                </a:cxn>
                <a:cxn ang="0">
                  <a:pos x="13" y="24"/>
                </a:cxn>
                <a:cxn ang="0">
                  <a:pos x="36" y="26"/>
                </a:cxn>
                <a:cxn ang="0">
                  <a:pos x="34" y="26"/>
                </a:cxn>
                <a:cxn ang="0">
                  <a:pos x="28" y="31"/>
                </a:cxn>
                <a:cxn ang="0">
                  <a:pos x="28" y="33"/>
                </a:cxn>
                <a:cxn ang="0">
                  <a:pos x="62" y="71"/>
                </a:cxn>
                <a:cxn ang="0">
                  <a:pos x="65" y="72"/>
                </a:cxn>
                <a:cxn ang="0">
                  <a:pos x="69" y="68"/>
                </a:cxn>
                <a:cxn ang="0">
                  <a:pos x="70" y="65"/>
                </a:cxn>
                <a:cxn ang="0">
                  <a:pos x="36" y="26"/>
                </a:cxn>
                <a:cxn ang="0">
                  <a:pos x="81" y="10"/>
                </a:cxn>
                <a:cxn ang="0">
                  <a:pos x="79" y="9"/>
                </a:cxn>
                <a:cxn ang="0">
                  <a:pos x="75" y="15"/>
                </a:cxn>
                <a:cxn ang="0">
                  <a:pos x="67" y="17"/>
                </a:cxn>
                <a:cxn ang="0">
                  <a:pos x="65" y="10"/>
                </a:cxn>
                <a:cxn ang="0">
                  <a:pos x="69" y="3"/>
                </a:cxn>
                <a:cxn ang="0">
                  <a:pos x="67" y="2"/>
                </a:cxn>
                <a:cxn ang="0">
                  <a:pos x="56" y="11"/>
                </a:cxn>
                <a:cxn ang="0">
                  <a:pos x="52" y="25"/>
                </a:cxn>
                <a:cxn ang="0">
                  <a:pos x="47" y="31"/>
                </a:cxn>
                <a:cxn ang="0">
                  <a:pos x="52" y="37"/>
                </a:cxn>
                <a:cxn ang="0">
                  <a:pos x="59" y="31"/>
                </a:cxn>
                <a:cxn ang="0">
                  <a:pos x="67" y="28"/>
                </a:cxn>
                <a:cxn ang="0">
                  <a:pos x="80" y="23"/>
                </a:cxn>
                <a:cxn ang="0">
                  <a:pos x="81" y="10"/>
                </a:cxn>
                <a:cxn ang="0">
                  <a:pos x="11" y="66"/>
                </a:cxn>
                <a:cxn ang="0">
                  <a:pos x="11" y="69"/>
                </a:cxn>
                <a:cxn ang="0">
                  <a:pos x="15" y="73"/>
                </a:cxn>
                <a:cxn ang="0">
                  <a:pos x="18" y="72"/>
                </a:cxn>
                <a:cxn ang="0">
                  <a:pos x="38" y="52"/>
                </a:cxn>
                <a:cxn ang="0">
                  <a:pos x="32" y="45"/>
                </a:cxn>
                <a:cxn ang="0">
                  <a:pos x="11" y="66"/>
                </a:cxn>
              </a:cxnLst>
              <a:rect l="0" t="0" r="r" b="b"/>
              <a:pathLst>
                <a:path w="82" h="73">
                  <a:moveTo>
                    <a:pt x="13" y="24"/>
                  </a:moveTo>
                  <a:cubicBezTo>
                    <a:pt x="16" y="21"/>
                    <a:pt x="20" y="23"/>
                    <a:pt x="24" y="28"/>
                  </a:cubicBezTo>
                  <a:cubicBezTo>
                    <a:pt x="24" y="29"/>
                    <a:pt x="25" y="28"/>
                    <a:pt x="25" y="28"/>
                  </a:cubicBezTo>
                  <a:cubicBezTo>
                    <a:pt x="26" y="27"/>
                    <a:pt x="31" y="22"/>
                    <a:pt x="31" y="22"/>
                  </a:cubicBezTo>
                  <a:cubicBezTo>
                    <a:pt x="32" y="22"/>
                    <a:pt x="32" y="21"/>
                    <a:pt x="32" y="21"/>
                  </a:cubicBezTo>
                  <a:cubicBezTo>
                    <a:pt x="31" y="20"/>
                    <a:pt x="30" y="18"/>
                    <a:pt x="29" y="17"/>
                  </a:cubicBezTo>
                  <a:cubicBezTo>
                    <a:pt x="21" y="7"/>
                    <a:pt x="49" y="1"/>
                    <a:pt x="45" y="1"/>
                  </a:cubicBezTo>
                  <a:cubicBezTo>
                    <a:pt x="42" y="1"/>
                    <a:pt x="34" y="0"/>
                    <a:pt x="32" y="1"/>
                  </a:cubicBezTo>
                  <a:cubicBezTo>
                    <a:pt x="27" y="1"/>
                    <a:pt x="21" y="6"/>
                    <a:pt x="17" y="8"/>
                  </a:cubicBezTo>
                  <a:cubicBezTo>
                    <a:pt x="13" y="11"/>
                    <a:pt x="11" y="13"/>
                    <a:pt x="11" y="13"/>
                  </a:cubicBezTo>
                  <a:cubicBezTo>
                    <a:pt x="10" y="14"/>
                    <a:pt x="11" y="17"/>
                    <a:pt x="9" y="19"/>
                  </a:cubicBezTo>
                  <a:cubicBezTo>
                    <a:pt x="6" y="21"/>
                    <a:pt x="5" y="19"/>
                    <a:pt x="3" y="21"/>
                  </a:cubicBezTo>
                  <a:cubicBezTo>
                    <a:pt x="3" y="21"/>
                    <a:pt x="1" y="23"/>
                    <a:pt x="0" y="23"/>
                  </a:cubicBezTo>
                  <a:cubicBezTo>
                    <a:pt x="0" y="23"/>
                    <a:pt x="0" y="24"/>
                    <a:pt x="0" y="25"/>
                  </a:cubicBezTo>
                  <a:cubicBezTo>
                    <a:pt x="0" y="25"/>
                    <a:pt x="5" y="31"/>
                    <a:pt x="6" y="31"/>
                  </a:cubicBezTo>
                  <a:cubicBezTo>
                    <a:pt x="6" y="32"/>
                    <a:pt x="7" y="32"/>
                    <a:pt x="8" y="31"/>
                  </a:cubicBezTo>
                  <a:cubicBezTo>
                    <a:pt x="9" y="31"/>
                    <a:pt x="11" y="29"/>
                    <a:pt x="11" y="29"/>
                  </a:cubicBezTo>
                  <a:cubicBezTo>
                    <a:pt x="11" y="29"/>
                    <a:pt x="11" y="25"/>
                    <a:pt x="13" y="24"/>
                  </a:cubicBezTo>
                  <a:close/>
                  <a:moveTo>
                    <a:pt x="36" y="26"/>
                  </a:moveTo>
                  <a:cubicBezTo>
                    <a:pt x="35" y="26"/>
                    <a:pt x="35" y="26"/>
                    <a:pt x="34" y="26"/>
                  </a:cubicBezTo>
                  <a:cubicBezTo>
                    <a:pt x="28" y="31"/>
                    <a:pt x="28" y="31"/>
                    <a:pt x="28" y="31"/>
                  </a:cubicBezTo>
                  <a:cubicBezTo>
                    <a:pt x="28" y="32"/>
                    <a:pt x="28" y="32"/>
                    <a:pt x="28" y="33"/>
                  </a:cubicBezTo>
                  <a:cubicBezTo>
                    <a:pt x="62" y="71"/>
                    <a:pt x="62" y="71"/>
                    <a:pt x="62" y="71"/>
                  </a:cubicBezTo>
                  <a:cubicBezTo>
                    <a:pt x="63" y="72"/>
                    <a:pt x="64" y="72"/>
                    <a:pt x="65" y="72"/>
                  </a:cubicBezTo>
                  <a:cubicBezTo>
                    <a:pt x="69" y="68"/>
                    <a:pt x="69" y="68"/>
                    <a:pt x="69" y="68"/>
                  </a:cubicBezTo>
                  <a:cubicBezTo>
                    <a:pt x="70" y="68"/>
                    <a:pt x="70" y="66"/>
                    <a:pt x="70" y="65"/>
                  </a:cubicBezTo>
                  <a:lnTo>
                    <a:pt x="36" y="26"/>
                  </a:lnTo>
                  <a:close/>
                  <a:moveTo>
                    <a:pt x="81" y="10"/>
                  </a:moveTo>
                  <a:cubicBezTo>
                    <a:pt x="81" y="8"/>
                    <a:pt x="80" y="8"/>
                    <a:pt x="79" y="9"/>
                  </a:cubicBezTo>
                  <a:cubicBezTo>
                    <a:pt x="79" y="10"/>
                    <a:pt x="76" y="14"/>
                    <a:pt x="75" y="15"/>
                  </a:cubicBezTo>
                  <a:cubicBezTo>
                    <a:pt x="74" y="17"/>
                    <a:pt x="72" y="20"/>
                    <a:pt x="67" y="17"/>
                  </a:cubicBezTo>
                  <a:cubicBezTo>
                    <a:pt x="63" y="14"/>
                    <a:pt x="64" y="11"/>
                    <a:pt x="65" y="10"/>
                  </a:cubicBezTo>
                  <a:cubicBezTo>
                    <a:pt x="66" y="8"/>
                    <a:pt x="69" y="4"/>
                    <a:pt x="69" y="3"/>
                  </a:cubicBezTo>
                  <a:cubicBezTo>
                    <a:pt x="69" y="3"/>
                    <a:pt x="69" y="1"/>
                    <a:pt x="67" y="2"/>
                  </a:cubicBezTo>
                  <a:cubicBezTo>
                    <a:pt x="66" y="2"/>
                    <a:pt x="57" y="6"/>
                    <a:pt x="56" y="11"/>
                  </a:cubicBezTo>
                  <a:cubicBezTo>
                    <a:pt x="55" y="16"/>
                    <a:pt x="57" y="21"/>
                    <a:pt x="52" y="25"/>
                  </a:cubicBezTo>
                  <a:cubicBezTo>
                    <a:pt x="47" y="31"/>
                    <a:pt x="47" y="31"/>
                    <a:pt x="47" y="31"/>
                  </a:cubicBezTo>
                  <a:cubicBezTo>
                    <a:pt x="52" y="37"/>
                    <a:pt x="52" y="37"/>
                    <a:pt x="52" y="37"/>
                  </a:cubicBezTo>
                  <a:cubicBezTo>
                    <a:pt x="59" y="31"/>
                    <a:pt x="59" y="31"/>
                    <a:pt x="59" y="31"/>
                  </a:cubicBezTo>
                  <a:cubicBezTo>
                    <a:pt x="61" y="29"/>
                    <a:pt x="64" y="28"/>
                    <a:pt x="67" y="28"/>
                  </a:cubicBezTo>
                  <a:cubicBezTo>
                    <a:pt x="74" y="30"/>
                    <a:pt x="78" y="27"/>
                    <a:pt x="80" y="23"/>
                  </a:cubicBezTo>
                  <a:cubicBezTo>
                    <a:pt x="82" y="20"/>
                    <a:pt x="81" y="12"/>
                    <a:pt x="81" y="10"/>
                  </a:cubicBezTo>
                  <a:close/>
                  <a:moveTo>
                    <a:pt x="11" y="66"/>
                  </a:moveTo>
                  <a:cubicBezTo>
                    <a:pt x="10" y="67"/>
                    <a:pt x="10" y="68"/>
                    <a:pt x="11" y="69"/>
                  </a:cubicBezTo>
                  <a:cubicBezTo>
                    <a:pt x="15" y="73"/>
                    <a:pt x="15" y="73"/>
                    <a:pt x="15" y="73"/>
                  </a:cubicBezTo>
                  <a:cubicBezTo>
                    <a:pt x="16" y="73"/>
                    <a:pt x="17" y="73"/>
                    <a:pt x="18" y="72"/>
                  </a:cubicBezTo>
                  <a:cubicBezTo>
                    <a:pt x="38" y="52"/>
                    <a:pt x="38" y="52"/>
                    <a:pt x="38" y="52"/>
                  </a:cubicBezTo>
                  <a:cubicBezTo>
                    <a:pt x="32" y="45"/>
                    <a:pt x="32" y="45"/>
                    <a:pt x="32" y="45"/>
                  </a:cubicBezTo>
                  <a:lnTo>
                    <a:pt x="11" y="66"/>
                  </a:lnTo>
                  <a:close/>
                </a:path>
              </a:pathLst>
            </a:custGeom>
            <a:solidFill>
              <a:schemeClr val="accent3"/>
            </a:solidFill>
            <a:ln w="9525">
              <a:solidFill>
                <a:schemeClr val="accent3"/>
              </a:solidFill>
              <a:round/>
              <a:headEnd/>
              <a:tailEnd/>
            </a:ln>
          </p:spPr>
          <p:txBody>
            <a:bodyPr vert="horz" wrap="square" lIns="80165" tIns="40082" rIns="80165" bIns="40082" numCol="1" anchor="t" anchorCtr="0" compatLnSpc="1">
              <a:prstTxWarp prst="textNoShape">
                <a:avLst/>
              </a:prstTxWarp>
            </a:bodyPr>
            <a:lstStyle/>
            <a:p>
              <a:pPr defTabSz="801654">
                <a:defRPr/>
              </a:pPr>
              <a:endParaRPr lang="en-GB" sz="1200" dirty="0">
                <a:solidFill>
                  <a:prstClr val="black"/>
                </a:solidFill>
                <a:latin typeface="Verdana"/>
              </a:endParaRPr>
            </a:p>
          </p:txBody>
        </p:sp>
        <p:sp>
          <p:nvSpPr>
            <p:cNvPr id="45" name="Freeform 45"/>
            <p:cNvSpPr>
              <a:spLocks noChangeAspect="1" noEditPoints="1"/>
            </p:cNvSpPr>
            <p:nvPr/>
          </p:nvSpPr>
          <p:spPr bwMode="auto">
            <a:xfrm>
              <a:off x="208779" y="2751604"/>
              <a:ext cx="560043" cy="560043"/>
            </a:xfrm>
            <a:custGeom>
              <a:avLst/>
              <a:gdLst/>
              <a:ahLst/>
              <a:cxnLst>
                <a:cxn ang="0">
                  <a:pos x="80" y="31"/>
                </a:cxn>
                <a:cxn ang="0">
                  <a:pos x="50" y="23"/>
                </a:cxn>
                <a:cxn ang="0">
                  <a:pos x="44" y="3"/>
                </a:cxn>
                <a:cxn ang="0">
                  <a:pos x="40" y="1"/>
                </a:cxn>
                <a:cxn ang="0">
                  <a:pos x="3" y="11"/>
                </a:cxn>
                <a:cxn ang="0">
                  <a:pos x="1" y="15"/>
                </a:cxn>
                <a:cxn ang="0">
                  <a:pos x="14" y="64"/>
                </a:cxn>
                <a:cxn ang="0">
                  <a:pos x="18" y="66"/>
                </a:cxn>
                <a:cxn ang="0">
                  <a:pos x="33" y="62"/>
                </a:cxn>
                <a:cxn ang="0">
                  <a:pos x="31" y="70"/>
                </a:cxn>
                <a:cxn ang="0">
                  <a:pos x="33" y="74"/>
                </a:cxn>
                <a:cxn ang="0">
                  <a:pos x="66" y="82"/>
                </a:cxn>
                <a:cxn ang="0">
                  <a:pos x="70" y="80"/>
                </a:cxn>
                <a:cxn ang="0">
                  <a:pos x="82" y="35"/>
                </a:cxn>
                <a:cxn ang="0">
                  <a:pos x="80" y="31"/>
                </a:cxn>
                <a:cxn ang="0">
                  <a:pos x="7" y="16"/>
                </a:cxn>
                <a:cxn ang="0">
                  <a:pos x="39" y="7"/>
                </a:cxn>
                <a:cxn ang="0">
                  <a:pos x="51" y="51"/>
                </a:cxn>
                <a:cxn ang="0">
                  <a:pos x="19" y="60"/>
                </a:cxn>
                <a:cxn ang="0">
                  <a:pos x="7" y="16"/>
                </a:cxn>
                <a:cxn ang="0">
                  <a:pos x="65" y="76"/>
                </a:cxn>
                <a:cxn ang="0">
                  <a:pos x="37" y="69"/>
                </a:cxn>
                <a:cxn ang="0">
                  <a:pos x="39" y="60"/>
                </a:cxn>
                <a:cxn ang="0">
                  <a:pos x="55" y="56"/>
                </a:cxn>
                <a:cxn ang="0">
                  <a:pos x="58" y="52"/>
                </a:cxn>
                <a:cxn ang="0">
                  <a:pos x="51" y="29"/>
                </a:cxn>
                <a:cxn ang="0">
                  <a:pos x="76" y="36"/>
                </a:cxn>
                <a:cxn ang="0">
                  <a:pos x="65" y="76"/>
                </a:cxn>
              </a:cxnLst>
              <a:rect l="0" t="0" r="r" b="b"/>
              <a:pathLst>
                <a:path w="83" h="83">
                  <a:moveTo>
                    <a:pt x="80" y="31"/>
                  </a:moveTo>
                  <a:cubicBezTo>
                    <a:pt x="50" y="23"/>
                    <a:pt x="50" y="23"/>
                    <a:pt x="50" y="23"/>
                  </a:cubicBezTo>
                  <a:cubicBezTo>
                    <a:pt x="44" y="3"/>
                    <a:pt x="44" y="3"/>
                    <a:pt x="44" y="3"/>
                  </a:cubicBezTo>
                  <a:cubicBezTo>
                    <a:pt x="44" y="1"/>
                    <a:pt x="42" y="0"/>
                    <a:pt x="40" y="1"/>
                  </a:cubicBezTo>
                  <a:cubicBezTo>
                    <a:pt x="3" y="11"/>
                    <a:pt x="3" y="11"/>
                    <a:pt x="3" y="11"/>
                  </a:cubicBezTo>
                  <a:cubicBezTo>
                    <a:pt x="1" y="11"/>
                    <a:pt x="0" y="13"/>
                    <a:pt x="1" y="15"/>
                  </a:cubicBezTo>
                  <a:cubicBezTo>
                    <a:pt x="14" y="64"/>
                    <a:pt x="14" y="64"/>
                    <a:pt x="14" y="64"/>
                  </a:cubicBezTo>
                  <a:cubicBezTo>
                    <a:pt x="14" y="66"/>
                    <a:pt x="16" y="67"/>
                    <a:pt x="18" y="66"/>
                  </a:cubicBezTo>
                  <a:cubicBezTo>
                    <a:pt x="33" y="62"/>
                    <a:pt x="33" y="62"/>
                    <a:pt x="33" y="62"/>
                  </a:cubicBezTo>
                  <a:cubicBezTo>
                    <a:pt x="31" y="70"/>
                    <a:pt x="31" y="70"/>
                    <a:pt x="31" y="70"/>
                  </a:cubicBezTo>
                  <a:cubicBezTo>
                    <a:pt x="30" y="71"/>
                    <a:pt x="31" y="73"/>
                    <a:pt x="33" y="74"/>
                  </a:cubicBezTo>
                  <a:cubicBezTo>
                    <a:pt x="66" y="82"/>
                    <a:pt x="66" y="82"/>
                    <a:pt x="66" y="82"/>
                  </a:cubicBezTo>
                  <a:cubicBezTo>
                    <a:pt x="68" y="83"/>
                    <a:pt x="70" y="82"/>
                    <a:pt x="70" y="80"/>
                  </a:cubicBezTo>
                  <a:cubicBezTo>
                    <a:pt x="82" y="35"/>
                    <a:pt x="82" y="35"/>
                    <a:pt x="82" y="35"/>
                  </a:cubicBezTo>
                  <a:cubicBezTo>
                    <a:pt x="83" y="33"/>
                    <a:pt x="82" y="32"/>
                    <a:pt x="80" y="31"/>
                  </a:cubicBezTo>
                  <a:close/>
                  <a:moveTo>
                    <a:pt x="7" y="16"/>
                  </a:moveTo>
                  <a:cubicBezTo>
                    <a:pt x="39" y="7"/>
                    <a:pt x="39" y="7"/>
                    <a:pt x="39" y="7"/>
                  </a:cubicBezTo>
                  <a:cubicBezTo>
                    <a:pt x="51" y="51"/>
                    <a:pt x="51" y="51"/>
                    <a:pt x="51" y="51"/>
                  </a:cubicBezTo>
                  <a:cubicBezTo>
                    <a:pt x="19" y="60"/>
                    <a:pt x="19" y="60"/>
                    <a:pt x="19" y="60"/>
                  </a:cubicBezTo>
                  <a:lnTo>
                    <a:pt x="7" y="16"/>
                  </a:lnTo>
                  <a:close/>
                  <a:moveTo>
                    <a:pt x="65" y="76"/>
                  </a:moveTo>
                  <a:cubicBezTo>
                    <a:pt x="37" y="69"/>
                    <a:pt x="37" y="69"/>
                    <a:pt x="37" y="69"/>
                  </a:cubicBezTo>
                  <a:cubicBezTo>
                    <a:pt x="39" y="60"/>
                    <a:pt x="39" y="60"/>
                    <a:pt x="39" y="60"/>
                  </a:cubicBezTo>
                  <a:cubicBezTo>
                    <a:pt x="55" y="56"/>
                    <a:pt x="55" y="56"/>
                    <a:pt x="55" y="56"/>
                  </a:cubicBezTo>
                  <a:cubicBezTo>
                    <a:pt x="57" y="56"/>
                    <a:pt x="58" y="54"/>
                    <a:pt x="58" y="52"/>
                  </a:cubicBezTo>
                  <a:cubicBezTo>
                    <a:pt x="51" y="29"/>
                    <a:pt x="51" y="29"/>
                    <a:pt x="51" y="29"/>
                  </a:cubicBezTo>
                  <a:cubicBezTo>
                    <a:pt x="76" y="36"/>
                    <a:pt x="76" y="36"/>
                    <a:pt x="76" y="36"/>
                  </a:cubicBezTo>
                  <a:lnTo>
                    <a:pt x="65" y="76"/>
                  </a:lnTo>
                  <a:close/>
                </a:path>
              </a:pathLst>
            </a:custGeom>
            <a:solidFill>
              <a:schemeClr val="accent3"/>
            </a:solidFill>
            <a:ln w="9525">
              <a:solidFill>
                <a:schemeClr val="accent3"/>
              </a:solidFill>
              <a:round/>
              <a:headEnd/>
              <a:tailEnd/>
            </a:ln>
          </p:spPr>
          <p:txBody>
            <a:bodyPr vert="horz" wrap="square" lIns="80165" tIns="40082" rIns="80165" bIns="40082" numCol="1" anchor="t" anchorCtr="0" compatLnSpc="1">
              <a:prstTxWarp prst="textNoShape">
                <a:avLst/>
              </a:prstTxWarp>
            </a:bodyPr>
            <a:lstStyle/>
            <a:p>
              <a:pPr defTabSz="801654">
                <a:defRPr/>
              </a:pPr>
              <a:endParaRPr lang="en-GB" sz="1200" dirty="0">
                <a:solidFill>
                  <a:prstClr val="black"/>
                </a:solidFill>
                <a:latin typeface="Verdana"/>
              </a:endParaRPr>
            </a:p>
          </p:txBody>
        </p:sp>
        <p:sp>
          <p:nvSpPr>
            <p:cNvPr id="46" name="TextBox 45"/>
            <p:cNvSpPr txBox="1"/>
            <p:nvPr/>
          </p:nvSpPr>
          <p:spPr>
            <a:xfrm>
              <a:off x="1354989" y="5697239"/>
              <a:ext cx="2300843" cy="690429"/>
            </a:xfrm>
            <a:prstGeom prst="rect">
              <a:avLst/>
            </a:prstGeom>
            <a:noFill/>
          </p:spPr>
          <p:txBody>
            <a:bodyPr vert="horz" wrap="square" lIns="0" tIns="0" rIns="0" bIns="0" rtlCol="0">
              <a:spAutoFit/>
            </a:bodyPr>
            <a:lstStyle/>
            <a:p>
              <a:pPr algn="ctr" defTabSz="801654">
                <a:spcBef>
                  <a:spcPts val="175"/>
                </a:spcBef>
                <a:buSzPct val="100000"/>
                <a:defRPr/>
              </a:pPr>
              <a:r>
                <a:rPr lang="en-US" sz="1200" dirty="0">
                  <a:solidFill>
                    <a:prstClr val="black"/>
                  </a:solidFill>
                  <a:latin typeface="Verdana"/>
                </a:rPr>
                <a:t>Expert estimates</a:t>
              </a:r>
            </a:p>
            <a:p>
              <a:pPr algn="ctr" defTabSz="801654">
                <a:spcBef>
                  <a:spcPts val="175"/>
                </a:spcBef>
                <a:buSzPct val="100000"/>
                <a:defRPr/>
              </a:pPr>
              <a:r>
                <a:rPr lang="en-US" sz="1200" dirty="0">
                  <a:solidFill>
                    <a:prstClr val="black"/>
                  </a:solidFill>
                  <a:latin typeface="Verdana"/>
                </a:rPr>
                <a:t>Stakeholder Consultation</a:t>
              </a:r>
            </a:p>
            <a:p>
              <a:pPr algn="ctr" defTabSz="801654">
                <a:spcBef>
                  <a:spcPts val="175"/>
                </a:spcBef>
                <a:buSzPct val="100000"/>
                <a:defRPr/>
              </a:pPr>
              <a:r>
                <a:rPr lang="en-US" sz="1200" dirty="0">
                  <a:solidFill>
                    <a:prstClr val="black"/>
                  </a:solidFill>
                  <a:latin typeface="Verdana"/>
                </a:rPr>
                <a:t>Cost benchmarking</a:t>
              </a:r>
              <a:endParaRPr lang="en-IN" sz="1200" dirty="0">
                <a:solidFill>
                  <a:prstClr val="black"/>
                </a:solidFill>
                <a:latin typeface="Verdana"/>
              </a:endParaRPr>
            </a:p>
          </p:txBody>
        </p:sp>
        <p:sp>
          <p:nvSpPr>
            <p:cNvPr id="48" name="TextBox 47"/>
            <p:cNvSpPr txBox="1"/>
            <p:nvPr/>
          </p:nvSpPr>
          <p:spPr>
            <a:xfrm>
              <a:off x="3950657" y="5615507"/>
              <a:ext cx="2300843" cy="871813"/>
            </a:xfrm>
            <a:prstGeom prst="rect">
              <a:avLst/>
            </a:prstGeom>
            <a:noFill/>
          </p:spPr>
          <p:txBody>
            <a:bodyPr vert="horz" wrap="square" lIns="0" tIns="0" rIns="0" bIns="0" rtlCol="0">
              <a:spAutoFit/>
            </a:bodyPr>
            <a:lstStyle/>
            <a:p>
              <a:pPr algn="ctr" defTabSz="801654">
                <a:spcBef>
                  <a:spcPts val="175"/>
                </a:spcBef>
                <a:buSzPct val="100000"/>
                <a:defRPr/>
              </a:pPr>
              <a:r>
                <a:rPr lang="en-US" sz="1200" dirty="0">
                  <a:solidFill>
                    <a:prstClr val="black"/>
                  </a:solidFill>
                  <a:latin typeface="Verdana"/>
                </a:rPr>
                <a:t>Interviews and consultation with Banks /FI, Infrastructure developers, fund managers</a:t>
              </a:r>
            </a:p>
            <a:p>
              <a:pPr algn="ctr" defTabSz="801654">
                <a:spcBef>
                  <a:spcPts val="175"/>
                </a:spcBef>
                <a:buSzPct val="100000"/>
                <a:defRPr/>
              </a:pPr>
              <a:r>
                <a:rPr lang="en-US" sz="1200" dirty="0">
                  <a:solidFill>
                    <a:prstClr val="black"/>
                  </a:solidFill>
                  <a:latin typeface="Verdana"/>
                </a:rPr>
                <a:t>Secondary research</a:t>
              </a:r>
              <a:endParaRPr lang="en-IN" sz="1200" dirty="0">
                <a:solidFill>
                  <a:prstClr val="black"/>
                </a:solidFill>
                <a:latin typeface="Verdana"/>
              </a:endParaRPr>
            </a:p>
          </p:txBody>
        </p:sp>
        <p:grpSp>
          <p:nvGrpSpPr>
            <p:cNvPr id="51" name="Group 50"/>
            <p:cNvGrpSpPr/>
            <p:nvPr/>
          </p:nvGrpSpPr>
          <p:grpSpPr>
            <a:xfrm>
              <a:off x="1384049" y="1685178"/>
              <a:ext cx="2300844" cy="2748237"/>
              <a:chOff x="1384049" y="1685178"/>
              <a:chExt cx="2300844" cy="2748237"/>
            </a:xfrm>
          </p:grpSpPr>
          <p:sp>
            <p:nvSpPr>
              <p:cNvPr id="18" name="Rectangle 17"/>
              <p:cNvSpPr/>
              <p:nvPr/>
            </p:nvSpPr>
            <p:spPr bwMode="gray">
              <a:xfrm>
                <a:off x="1384049" y="1685178"/>
                <a:ext cx="2300844" cy="827593"/>
              </a:xfrm>
              <a:prstGeom prst="rect">
                <a:avLst/>
              </a:prstGeom>
              <a:solidFill>
                <a:schemeClr val="bg1"/>
              </a:solidFill>
              <a:ln w="19050" algn="ctr">
                <a:solidFill>
                  <a:schemeClr val="accent2"/>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Identification of various cost heads; like new terminal buildings, procure of machine &amp; equip, etc.</a:t>
                </a:r>
                <a:endParaRPr lang="en-IN" sz="1200" dirty="0">
                  <a:solidFill>
                    <a:prstClr val="black"/>
                  </a:solidFill>
                  <a:latin typeface="Verdana"/>
                </a:endParaRPr>
              </a:p>
            </p:txBody>
          </p:sp>
          <p:sp>
            <p:nvSpPr>
              <p:cNvPr id="33" name="Rectangle 32"/>
              <p:cNvSpPr/>
              <p:nvPr/>
            </p:nvSpPr>
            <p:spPr bwMode="gray">
              <a:xfrm>
                <a:off x="1384049" y="2737956"/>
                <a:ext cx="2300843" cy="720000"/>
              </a:xfrm>
              <a:prstGeom prst="rect">
                <a:avLst/>
              </a:prstGeom>
              <a:noFill/>
              <a:ln w="19050" algn="ctr">
                <a:solidFill>
                  <a:schemeClr val="accent2"/>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Assessment of whole Life cycle cost – Pre construction, Construction and Ops stage </a:t>
                </a:r>
                <a:endParaRPr lang="en-IN" sz="1200" dirty="0">
                  <a:solidFill>
                    <a:prstClr val="black"/>
                  </a:solidFill>
                  <a:latin typeface="Verdana"/>
                </a:endParaRPr>
              </a:p>
            </p:txBody>
          </p:sp>
          <p:sp>
            <p:nvSpPr>
              <p:cNvPr id="34" name="Rectangle 33"/>
              <p:cNvSpPr/>
              <p:nvPr/>
            </p:nvSpPr>
            <p:spPr bwMode="gray">
              <a:xfrm>
                <a:off x="1384049" y="3713415"/>
                <a:ext cx="2300843" cy="720000"/>
              </a:xfrm>
              <a:prstGeom prst="rect">
                <a:avLst/>
              </a:prstGeom>
              <a:noFill/>
              <a:ln w="19050" algn="ctr">
                <a:solidFill>
                  <a:schemeClr val="accent2"/>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Phasing plan for the costs based on development, replacement, ops requirements</a:t>
                </a:r>
                <a:endParaRPr lang="en-IN" sz="1200" dirty="0">
                  <a:solidFill>
                    <a:prstClr val="black"/>
                  </a:solidFill>
                  <a:latin typeface="Verdana"/>
                </a:endParaRPr>
              </a:p>
            </p:txBody>
          </p:sp>
          <p:sp>
            <p:nvSpPr>
              <p:cNvPr id="49" name="Down Arrow 48"/>
              <p:cNvSpPr/>
              <p:nvPr/>
            </p:nvSpPr>
            <p:spPr bwMode="gray">
              <a:xfrm>
                <a:off x="2427819" y="2512595"/>
                <a:ext cx="247933" cy="224234"/>
              </a:xfrm>
              <a:prstGeom prst="downArrow">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1200" b="1" dirty="0">
                  <a:solidFill>
                    <a:prstClr val="white"/>
                  </a:solidFill>
                  <a:latin typeface="Verdana"/>
                </a:endParaRPr>
              </a:p>
            </p:txBody>
          </p:sp>
          <p:sp>
            <p:nvSpPr>
              <p:cNvPr id="50" name="Down Arrow 49"/>
              <p:cNvSpPr/>
              <p:nvPr/>
            </p:nvSpPr>
            <p:spPr bwMode="gray">
              <a:xfrm>
                <a:off x="2427819" y="3455689"/>
                <a:ext cx="247933" cy="252000"/>
              </a:xfrm>
              <a:prstGeom prst="downArrow">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1200" b="1" dirty="0">
                  <a:solidFill>
                    <a:prstClr val="white"/>
                  </a:solidFill>
                  <a:latin typeface="Verdana"/>
                </a:endParaRPr>
              </a:p>
            </p:txBody>
          </p:sp>
        </p:grpSp>
        <p:grpSp>
          <p:nvGrpSpPr>
            <p:cNvPr id="64" name="Group 63"/>
            <p:cNvGrpSpPr/>
            <p:nvPr/>
          </p:nvGrpSpPr>
          <p:grpSpPr>
            <a:xfrm>
              <a:off x="6428971" y="1702570"/>
              <a:ext cx="2300844" cy="2744961"/>
              <a:chOff x="-1157921" y="1701603"/>
              <a:chExt cx="2300844" cy="2744961"/>
            </a:xfrm>
          </p:grpSpPr>
          <p:sp>
            <p:nvSpPr>
              <p:cNvPr id="65" name="Rectangle 64"/>
              <p:cNvSpPr/>
              <p:nvPr/>
            </p:nvSpPr>
            <p:spPr bwMode="gray">
              <a:xfrm>
                <a:off x="-1157920" y="1701603"/>
                <a:ext cx="2300843" cy="810026"/>
              </a:xfrm>
              <a:prstGeom prst="rect">
                <a:avLst/>
              </a:prstGeom>
              <a:solidFill>
                <a:schemeClr val="bg1"/>
              </a:solidFill>
              <a:ln w="19050" algn="ctr">
                <a:solidFill>
                  <a:schemeClr val="tx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Bank / FI loans through Syndication</a:t>
                </a:r>
                <a:endParaRPr lang="en-IN" sz="1200" dirty="0">
                  <a:solidFill>
                    <a:prstClr val="black"/>
                  </a:solidFill>
                  <a:latin typeface="Verdana"/>
                </a:endParaRPr>
              </a:p>
            </p:txBody>
          </p:sp>
          <p:sp>
            <p:nvSpPr>
              <p:cNvPr id="66" name="Rectangle 65"/>
              <p:cNvSpPr/>
              <p:nvPr/>
            </p:nvSpPr>
            <p:spPr bwMode="gray">
              <a:xfrm>
                <a:off x="-1157921" y="2751106"/>
                <a:ext cx="2300843" cy="720000"/>
              </a:xfrm>
              <a:prstGeom prst="rect">
                <a:avLst/>
              </a:prstGeom>
              <a:noFill/>
              <a:ln w="19050" algn="ctr">
                <a:solidFill>
                  <a:schemeClr val="tx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Bond issuance (Corporate, Tax free, Masala Bond etc.)</a:t>
                </a:r>
                <a:endParaRPr lang="en-IN" sz="1200" dirty="0">
                  <a:solidFill>
                    <a:prstClr val="black"/>
                  </a:solidFill>
                  <a:latin typeface="Verdana"/>
                </a:endParaRPr>
              </a:p>
            </p:txBody>
          </p:sp>
          <p:sp>
            <p:nvSpPr>
              <p:cNvPr id="67" name="Rectangle 66"/>
              <p:cNvSpPr/>
              <p:nvPr/>
            </p:nvSpPr>
            <p:spPr bwMode="gray">
              <a:xfrm>
                <a:off x="-1157921" y="3706723"/>
                <a:ext cx="2300843" cy="739841"/>
              </a:xfrm>
              <a:prstGeom prst="rect">
                <a:avLst/>
              </a:prstGeom>
              <a:noFill/>
              <a:ln w="19050" algn="ctr">
                <a:solidFill>
                  <a:schemeClr val="tx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Alternative funding mechanisms</a:t>
                </a:r>
                <a:endParaRPr lang="en-IN" sz="1200" dirty="0">
                  <a:solidFill>
                    <a:prstClr val="black"/>
                  </a:solidFill>
                  <a:latin typeface="Verdana"/>
                </a:endParaRPr>
              </a:p>
            </p:txBody>
          </p:sp>
        </p:grpSp>
        <p:sp>
          <p:nvSpPr>
            <p:cNvPr id="71" name="TextBox 70"/>
            <p:cNvSpPr txBox="1"/>
            <p:nvPr/>
          </p:nvSpPr>
          <p:spPr>
            <a:xfrm>
              <a:off x="6391691" y="5688390"/>
              <a:ext cx="2300843" cy="690429"/>
            </a:xfrm>
            <a:prstGeom prst="rect">
              <a:avLst/>
            </a:prstGeom>
            <a:noFill/>
          </p:spPr>
          <p:txBody>
            <a:bodyPr vert="horz" wrap="square" lIns="0" tIns="0" rIns="0" bIns="0" rtlCol="0">
              <a:spAutoFit/>
            </a:bodyPr>
            <a:lstStyle/>
            <a:p>
              <a:pPr algn="ctr" defTabSz="801654">
                <a:spcBef>
                  <a:spcPts val="175"/>
                </a:spcBef>
                <a:buSzPct val="100000"/>
                <a:defRPr/>
              </a:pPr>
              <a:r>
                <a:rPr lang="en-US" sz="1200" dirty="0">
                  <a:solidFill>
                    <a:prstClr val="black"/>
                  </a:solidFill>
                  <a:latin typeface="Verdana"/>
                </a:rPr>
                <a:t>Stakeholder Consultation</a:t>
              </a:r>
            </a:p>
            <a:p>
              <a:pPr algn="ctr" defTabSz="801654">
                <a:spcBef>
                  <a:spcPts val="175"/>
                </a:spcBef>
                <a:buSzPct val="100000"/>
                <a:defRPr/>
              </a:pPr>
              <a:r>
                <a:rPr lang="en-US" sz="1200" dirty="0">
                  <a:solidFill>
                    <a:prstClr val="black"/>
                  </a:solidFill>
                  <a:latin typeface="Verdana"/>
                </a:rPr>
                <a:t>Secondary research </a:t>
              </a:r>
            </a:p>
            <a:p>
              <a:pPr algn="ctr" defTabSz="801654">
                <a:spcBef>
                  <a:spcPts val="175"/>
                </a:spcBef>
                <a:buSzPct val="100000"/>
                <a:defRPr/>
              </a:pPr>
              <a:r>
                <a:rPr lang="en-US" sz="1200" dirty="0">
                  <a:solidFill>
                    <a:prstClr val="black"/>
                  </a:solidFill>
                  <a:latin typeface="Verdana"/>
                </a:rPr>
                <a:t>Market assessment</a:t>
              </a:r>
            </a:p>
          </p:txBody>
        </p:sp>
        <p:grpSp>
          <p:nvGrpSpPr>
            <p:cNvPr id="52" name="Group 51"/>
            <p:cNvGrpSpPr/>
            <p:nvPr/>
          </p:nvGrpSpPr>
          <p:grpSpPr>
            <a:xfrm>
              <a:off x="3924815" y="1689517"/>
              <a:ext cx="2300844" cy="2744865"/>
              <a:chOff x="1384049" y="1688550"/>
              <a:chExt cx="2300844" cy="2744865"/>
            </a:xfrm>
          </p:grpSpPr>
          <p:sp>
            <p:nvSpPr>
              <p:cNvPr id="55" name="Rectangle 54"/>
              <p:cNvSpPr/>
              <p:nvPr/>
            </p:nvSpPr>
            <p:spPr bwMode="gray">
              <a:xfrm>
                <a:off x="1384049" y="3706722"/>
                <a:ext cx="2300843" cy="726693"/>
              </a:xfrm>
              <a:prstGeom prst="rect">
                <a:avLst/>
              </a:prstGeom>
              <a:noFill/>
              <a:ln w="19050" algn="ctr">
                <a:solidFill>
                  <a:schemeClr val="accent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Assessment of capital availability, Risk – return and other key features</a:t>
                </a:r>
                <a:endParaRPr lang="en-IN" sz="1200" dirty="0">
                  <a:solidFill>
                    <a:prstClr val="black"/>
                  </a:solidFill>
                  <a:latin typeface="Verdana"/>
                </a:endParaRPr>
              </a:p>
            </p:txBody>
          </p:sp>
          <p:sp>
            <p:nvSpPr>
              <p:cNvPr id="53" name="Rectangle 52"/>
              <p:cNvSpPr/>
              <p:nvPr/>
            </p:nvSpPr>
            <p:spPr bwMode="gray">
              <a:xfrm>
                <a:off x="1384050" y="1688550"/>
                <a:ext cx="2300843" cy="823078"/>
              </a:xfrm>
              <a:prstGeom prst="rect">
                <a:avLst/>
              </a:prstGeom>
              <a:solidFill>
                <a:schemeClr val="bg1"/>
              </a:solidFill>
              <a:ln w="19050" algn="ctr">
                <a:solidFill>
                  <a:schemeClr val="accent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Identification of various financing sources i.e. Banks, FI, market</a:t>
                </a:r>
                <a:endParaRPr lang="en-IN" sz="1200" dirty="0">
                  <a:solidFill>
                    <a:prstClr val="black"/>
                  </a:solidFill>
                  <a:latin typeface="Verdana"/>
                </a:endParaRPr>
              </a:p>
            </p:txBody>
          </p:sp>
        </p:grpSp>
        <p:sp>
          <p:nvSpPr>
            <p:cNvPr id="80" name="Rectangle 79"/>
            <p:cNvSpPr/>
            <p:nvPr/>
          </p:nvSpPr>
          <p:spPr bwMode="gray">
            <a:xfrm>
              <a:off x="1531193" y="853494"/>
              <a:ext cx="252000" cy="252000"/>
            </a:xfrm>
            <a:prstGeom prst="rect">
              <a:avLst/>
            </a:prstGeom>
            <a:solidFill>
              <a:schemeClr val="tx1">
                <a:lumMod val="50000"/>
                <a:lumOff val="50000"/>
              </a:schemeClr>
            </a:solidFill>
            <a:ln w="19050" algn="ctr">
              <a:solidFill>
                <a:schemeClr val="bg1"/>
              </a:solidFill>
              <a:miter lim="800000"/>
              <a:headEnd/>
              <a:tailEnd/>
            </a:ln>
          </p:spPr>
          <p:txBody>
            <a:bodyPr wrap="square" lIns="0" tIns="0" rIns="0" bIns="0" rtlCol="0" anchor="ctr"/>
            <a:lstStyle/>
            <a:p>
              <a:pPr algn="ctr" defTabSz="801654">
                <a:lnSpc>
                  <a:spcPct val="106000"/>
                </a:lnSpc>
                <a:defRPr/>
              </a:pPr>
              <a:r>
                <a:rPr lang="en-US" sz="1200" b="1" dirty="0">
                  <a:solidFill>
                    <a:prstClr val="white"/>
                  </a:solidFill>
                  <a:latin typeface="Verdana"/>
                </a:rPr>
                <a:t>1</a:t>
              </a:r>
              <a:endParaRPr lang="en-IN" sz="1200" b="1" dirty="0">
                <a:solidFill>
                  <a:prstClr val="white"/>
                </a:solidFill>
                <a:latin typeface="Verdana"/>
              </a:endParaRPr>
            </a:p>
          </p:txBody>
        </p:sp>
        <p:sp>
          <p:nvSpPr>
            <p:cNvPr id="81" name="Rectangle 80"/>
            <p:cNvSpPr/>
            <p:nvPr/>
          </p:nvSpPr>
          <p:spPr bwMode="gray">
            <a:xfrm>
              <a:off x="4113807" y="854355"/>
              <a:ext cx="252000" cy="252000"/>
            </a:xfrm>
            <a:prstGeom prst="rect">
              <a:avLst/>
            </a:prstGeom>
            <a:solidFill>
              <a:schemeClr val="tx1">
                <a:lumMod val="50000"/>
                <a:lumOff val="50000"/>
              </a:schemeClr>
            </a:solidFill>
            <a:ln w="19050" algn="ctr">
              <a:solidFill>
                <a:schemeClr val="bg1"/>
              </a:solidFill>
              <a:miter lim="800000"/>
              <a:headEnd/>
              <a:tailEnd/>
            </a:ln>
          </p:spPr>
          <p:txBody>
            <a:bodyPr wrap="square" lIns="0" tIns="0" rIns="0" bIns="0" rtlCol="0" anchor="ctr"/>
            <a:lstStyle/>
            <a:p>
              <a:pPr algn="ctr" defTabSz="801654">
                <a:lnSpc>
                  <a:spcPct val="106000"/>
                </a:lnSpc>
                <a:defRPr/>
              </a:pPr>
              <a:r>
                <a:rPr lang="en-US" sz="1200" b="1" dirty="0">
                  <a:solidFill>
                    <a:prstClr val="white"/>
                  </a:solidFill>
                  <a:latin typeface="Verdana"/>
                </a:rPr>
                <a:t>2</a:t>
              </a:r>
              <a:endParaRPr lang="en-IN" sz="1200" b="1" dirty="0">
                <a:solidFill>
                  <a:prstClr val="white"/>
                </a:solidFill>
                <a:latin typeface="Verdana"/>
              </a:endParaRPr>
            </a:p>
          </p:txBody>
        </p:sp>
        <p:sp>
          <p:nvSpPr>
            <p:cNvPr id="82" name="Rectangle 81"/>
            <p:cNvSpPr/>
            <p:nvPr/>
          </p:nvSpPr>
          <p:spPr bwMode="gray">
            <a:xfrm>
              <a:off x="6542485" y="835412"/>
              <a:ext cx="252000" cy="252000"/>
            </a:xfrm>
            <a:prstGeom prst="rect">
              <a:avLst/>
            </a:prstGeom>
            <a:solidFill>
              <a:schemeClr val="tx1">
                <a:lumMod val="50000"/>
                <a:lumOff val="50000"/>
              </a:schemeClr>
            </a:solidFill>
            <a:ln w="19050" algn="ctr">
              <a:solidFill>
                <a:schemeClr val="bg1"/>
              </a:solidFill>
              <a:miter lim="800000"/>
              <a:headEnd/>
              <a:tailEnd/>
            </a:ln>
          </p:spPr>
          <p:txBody>
            <a:bodyPr wrap="square" lIns="0" tIns="0" rIns="0" bIns="0" rtlCol="0" anchor="ctr"/>
            <a:lstStyle/>
            <a:p>
              <a:pPr algn="ctr" defTabSz="801654">
                <a:lnSpc>
                  <a:spcPct val="106000"/>
                </a:lnSpc>
                <a:defRPr/>
              </a:pPr>
              <a:r>
                <a:rPr lang="en-US" sz="1200" b="1" dirty="0">
                  <a:solidFill>
                    <a:prstClr val="white"/>
                  </a:solidFill>
                  <a:latin typeface="Verdana"/>
                </a:rPr>
                <a:t>3</a:t>
              </a:r>
              <a:endParaRPr lang="en-IN" sz="1200" b="1" dirty="0">
                <a:solidFill>
                  <a:prstClr val="white"/>
                </a:solidFill>
                <a:latin typeface="Verdana"/>
              </a:endParaRPr>
            </a:p>
          </p:txBody>
        </p:sp>
      </p:grpSp>
      <p:sp>
        <p:nvSpPr>
          <p:cNvPr id="68" name="Title 2"/>
          <p:cNvSpPr txBox="1">
            <a:spLocks/>
          </p:cNvSpPr>
          <p:nvPr/>
        </p:nvSpPr>
        <p:spPr bwMode="gray">
          <a:xfrm>
            <a:off x="352350" y="922749"/>
            <a:ext cx="9785950" cy="291787"/>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algn="just" defTabSz="801654">
              <a:defRPr/>
            </a:pPr>
            <a:r>
              <a:rPr lang="en-US" sz="1403" dirty="0">
                <a:solidFill>
                  <a:schemeClr val="accent2"/>
                </a:solidFill>
                <a:latin typeface="Verdana"/>
              </a:rPr>
              <a:t>The team would assist Essel Infraprojects in identifying funding options</a:t>
            </a:r>
          </a:p>
        </p:txBody>
      </p:sp>
      <p:sp>
        <p:nvSpPr>
          <p:cNvPr id="73" name="Down Arrow 72"/>
          <p:cNvSpPr/>
          <p:nvPr/>
        </p:nvSpPr>
        <p:spPr bwMode="gray">
          <a:xfrm>
            <a:off x="5901279" y="3831701"/>
            <a:ext cx="223488" cy="285197"/>
          </a:xfrm>
          <a:prstGeom prst="downArrow">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964" b="1" dirty="0">
              <a:solidFill>
                <a:prstClr val="white"/>
              </a:solidFill>
              <a:latin typeface="Verdana"/>
            </a:endParaRPr>
          </a:p>
        </p:txBody>
      </p:sp>
      <p:sp>
        <p:nvSpPr>
          <p:cNvPr id="74" name="Rectangle 73"/>
          <p:cNvSpPr/>
          <p:nvPr/>
        </p:nvSpPr>
        <p:spPr bwMode="gray">
          <a:xfrm>
            <a:off x="4650477" y="3102875"/>
            <a:ext cx="2664760" cy="728826"/>
          </a:xfrm>
          <a:prstGeom prst="rect">
            <a:avLst/>
          </a:prstGeom>
          <a:noFill/>
          <a:ln w="19050" algn="ctr">
            <a:solidFill>
              <a:schemeClr val="accent1"/>
            </a:solidFill>
            <a:miter lim="800000"/>
            <a:headEnd/>
            <a:tailEnd/>
          </a:ln>
        </p:spPr>
        <p:txBody>
          <a:bodyPr wrap="square" lIns="77938" tIns="77938" rIns="77938" bIns="77938" rtlCol="0" anchor="ctr"/>
          <a:lstStyle/>
          <a:p>
            <a:pPr algn="ctr" defTabSz="801654">
              <a:lnSpc>
                <a:spcPct val="106000"/>
              </a:lnSpc>
              <a:defRPr/>
            </a:pPr>
            <a:r>
              <a:rPr lang="en-US" sz="1200" dirty="0">
                <a:solidFill>
                  <a:prstClr val="black"/>
                </a:solidFill>
                <a:latin typeface="Verdana"/>
              </a:rPr>
              <a:t>Assessment of suitable financing instruments, vis-a-vis investment characteristics  </a:t>
            </a:r>
            <a:endParaRPr lang="en-IN" sz="1200" dirty="0">
              <a:solidFill>
                <a:prstClr val="black"/>
              </a:solidFill>
              <a:latin typeface="Verdana"/>
            </a:endParaRPr>
          </a:p>
        </p:txBody>
      </p:sp>
      <p:sp>
        <p:nvSpPr>
          <p:cNvPr id="77" name="Down Arrow 76"/>
          <p:cNvSpPr/>
          <p:nvPr/>
        </p:nvSpPr>
        <p:spPr bwMode="gray">
          <a:xfrm>
            <a:off x="5883456" y="2869268"/>
            <a:ext cx="253009" cy="243909"/>
          </a:xfrm>
          <a:prstGeom prst="downArrow">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964" b="1" dirty="0">
              <a:solidFill>
                <a:prstClr val="white"/>
              </a:solidFill>
              <a:latin typeface="Verdana"/>
            </a:endParaRPr>
          </a:p>
        </p:txBody>
      </p:sp>
      <p:sp>
        <p:nvSpPr>
          <p:cNvPr id="86" name="Rectangle 85"/>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Required advisory assistance: financing structure / funding options</a:t>
            </a:r>
          </a:p>
        </p:txBody>
      </p:sp>
      <p:cxnSp>
        <p:nvCxnSpPr>
          <p:cNvPr id="87" name="Straight Connector 8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91" name="Down Arrow 90"/>
          <p:cNvSpPr/>
          <p:nvPr/>
        </p:nvSpPr>
        <p:spPr bwMode="gray">
          <a:xfrm>
            <a:off x="8813378" y="3829727"/>
            <a:ext cx="223488" cy="285197"/>
          </a:xfrm>
          <a:prstGeom prst="downArrow">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964" b="1" dirty="0">
              <a:solidFill>
                <a:prstClr val="white"/>
              </a:solidFill>
              <a:latin typeface="Verdana"/>
            </a:endParaRPr>
          </a:p>
        </p:txBody>
      </p:sp>
      <p:sp>
        <p:nvSpPr>
          <p:cNvPr id="92" name="Down Arrow 91"/>
          <p:cNvSpPr/>
          <p:nvPr/>
        </p:nvSpPr>
        <p:spPr bwMode="gray">
          <a:xfrm>
            <a:off x="8795555" y="2867294"/>
            <a:ext cx="253009" cy="243909"/>
          </a:xfrm>
          <a:prstGeom prst="downArrow">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964" b="1" dirty="0">
              <a:solidFill>
                <a:prstClr val="white"/>
              </a:solidFill>
              <a:latin typeface="Verdana"/>
            </a:endParaRPr>
          </a:p>
        </p:txBody>
      </p:sp>
      <p:sp>
        <p:nvSpPr>
          <p:cNvPr id="57" name="Rectangle 56"/>
          <p:cNvSpPr/>
          <p:nvPr/>
        </p:nvSpPr>
        <p:spPr>
          <a:xfrm>
            <a:off x="263396" y="331644"/>
            <a:ext cx="9915584" cy="425758"/>
          </a:xfrm>
          <a:prstGeom prst="rect">
            <a:avLst/>
          </a:prstGeom>
        </p:spPr>
        <p:txBody>
          <a:bodyPr wrap="square">
            <a:spAutoFit/>
          </a:bodyPr>
          <a:lstStyle/>
          <a:p>
            <a:pPr defTabSz="914253">
              <a:lnSpc>
                <a:spcPts val="2599"/>
              </a:lnSpc>
              <a:defRPr/>
            </a:pPr>
            <a:r>
              <a:rPr lang="en-US" sz="2400" dirty="0"/>
              <a:t>Financing Structures / Funding Options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7870050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49633636"/>
              </p:ext>
            </p:extLst>
          </p:nvPr>
        </p:nvGraphicFramePr>
        <p:xfrm>
          <a:off x="352349" y="1625541"/>
          <a:ext cx="10039104" cy="4743554"/>
        </p:xfrm>
        <a:graphic>
          <a:graphicData uri="http://schemas.openxmlformats.org/drawingml/2006/table">
            <a:tbl>
              <a:tblPr firstRow="1" bandRow="1">
                <a:tableStyleId>{21E4AEA4-8DFA-4A89-87EB-49C32662AFE0}</a:tableStyleId>
              </a:tblPr>
              <a:tblGrid>
                <a:gridCol w="5019552">
                  <a:extLst>
                    <a:ext uri="{9D8B030D-6E8A-4147-A177-3AD203B41FA5}">
                      <a16:colId xmlns:a16="http://schemas.microsoft.com/office/drawing/2014/main" val="1249621920"/>
                    </a:ext>
                  </a:extLst>
                </a:gridCol>
                <a:gridCol w="5019552">
                  <a:extLst>
                    <a:ext uri="{9D8B030D-6E8A-4147-A177-3AD203B41FA5}">
                      <a16:colId xmlns:a16="http://schemas.microsoft.com/office/drawing/2014/main" val="2900404270"/>
                    </a:ext>
                  </a:extLst>
                </a:gridCol>
              </a:tblGrid>
              <a:tr h="454267">
                <a:tc>
                  <a:txBody>
                    <a:bodyPr/>
                    <a:lstStyle/>
                    <a:p>
                      <a:pPr algn="ctr"/>
                      <a:r>
                        <a:rPr lang="en-US" sz="1200" dirty="0"/>
                        <a:t>Fund provider</a:t>
                      </a:r>
                      <a:r>
                        <a:rPr lang="en-US" sz="1200" baseline="0" dirty="0"/>
                        <a:t> and Instruments</a:t>
                      </a:r>
                      <a:endParaRPr lang="en-IN" sz="1200" dirty="0"/>
                    </a:p>
                  </a:txBody>
                  <a:tcPr marL="80165" marR="80165" marT="40082" marB="4008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Typical Investment horizon</a:t>
                      </a:r>
                      <a:endParaRPr lang="en-IN" sz="1200" dirty="0"/>
                    </a:p>
                  </a:txBody>
                  <a:tcPr marL="80165" marR="80165" marT="40082" marB="40082" anchor="ctr"/>
                </a:tc>
                <a:extLst>
                  <a:ext uri="{0D108BD9-81ED-4DB2-BD59-A6C34878D82A}">
                    <a16:rowId xmlns:a16="http://schemas.microsoft.com/office/drawing/2014/main" val="3822046136"/>
                  </a:ext>
                </a:extLst>
              </a:tr>
              <a:tr h="2931898">
                <a:tc>
                  <a:txBody>
                    <a:bodyPr/>
                    <a:lstStyle/>
                    <a:p>
                      <a:endParaRPr lang="en-IN" sz="1700" dirty="0"/>
                    </a:p>
                  </a:txBody>
                  <a:tcPr marL="80165" marR="80165" marT="40082" marB="40082"/>
                </a:tc>
                <a:tc>
                  <a:txBody>
                    <a:bodyPr/>
                    <a:lstStyle/>
                    <a:p>
                      <a:endParaRPr lang="en-IN" sz="1700" dirty="0"/>
                    </a:p>
                  </a:txBody>
                  <a:tcPr marL="80165" marR="80165" marT="40082" marB="40082"/>
                </a:tc>
                <a:extLst>
                  <a:ext uri="{0D108BD9-81ED-4DB2-BD59-A6C34878D82A}">
                    <a16:rowId xmlns:a16="http://schemas.microsoft.com/office/drawing/2014/main" val="4134882154"/>
                  </a:ext>
                </a:extLst>
              </a:tr>
              <a:tr h="1357389">
                <a:tc>
                  <a:txBody>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u="none" strike="noStrike" kern="1200" cap="none" spc="0" normalizeH="0" baseline="0" noProof="0" dirty="0">
                          <a:ln>
                            <a:noFill/>
                          </a:ln>
                          <a:effectLst/>
                          <a:uLnTx/>
                          <a:uFillTx/>
                        </a:rPr>
                        <a:t>Identification of various fund provider </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u="none" strike="noStrike" kern="1200" cap="none" spc="0" normalizeH="0" baseline="0" noProof="0" dirty="0">
                          <a:ln>
                            <a:noFill/>
                          </a:ln>
                          <a:effectLst/>
                          <a:uLnTx/>
                          <a:uFillTx/>
                        </a:rPr>
                        <a:t>Study the different funding instruments available</a:t>
                      </a:r>
                    </a:p>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200" u="none" strike="noStrike" kern="1200" cap="none" spc="0" normalizeH="0" baseline="0" noProof="0" dirty="0">
                          <a:ln>
                            <a:noFill/>
                          </a:ln>
                          <a:effectLst/>
                          <a:uLnTx/>
                          <a:uFillTx/>
                        </a:rPr>
                        <a:t>Analyse the key characteristics of these instruments like, interest cost, tenure, repayment profile, complexity in issuance etc.</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txBody>
                  <a:tcPr marL="80165" marR="80165" marT="40082" marB="40082"/>
                </a:tc>
                <a:tc>
                  <a:txBody>
                    <a:bodyPr/>
                    <a:lstStyle/>
                    <a:p>
                      <a:pPr marL="171450" indent="-171450" algn="l" defTabSz="914400" rtl="0" eaLnBrk="1" latinLnBrk="0" hangingPunct="1">
                        <a:spcAft>
                          <a:spcPts val="1200"/>
                        </a:spcAft>
                        <a:buFont typeface="Wingdings" panose="05000000000000000000" pitchFamily="2" charset="2"/>
                        <a:buChar char="§"/>
                      </a:pPr>
                      <a:r>
                        <a:rPr lang="en-US" sz="1200" kern="1200" dirty="0"/>
                        <a:t>Understand the objective of fund</a:t>
                      </a:r>
                      <a:r>
                        <a:rPr lang="en-US" sz="1200" kern="1200" baseline="0" dirty="0"/>
                        <a:t> providers like Government, private developers, Banks, Financial institutions.</a:t>
                      </a:r>
                    </a:p>
                    <a:p>
                      <a:pPr marL="171450" indent="-171450" algn="l" defTabSz="914400" rtl="0" eaLnBrk="1" latinLnBrk="0" hangingPunct="1">
                        <a:spcAft>
                          <a:spcPts val="1200"/>
                        </a:spcAft>
                        <a:buFont typeface="Wingdings" panose="05000000000000000000" pitchFamily="2" charset="2"/>
                        <a:buChar char="§"/>
                      </a:pPr>
                      <a:r>
                        <a:rPr lang="en-US" sz="1200" kern="1200" baseline="0" dirty="0"/>
                        <a:t>Analyse their risk – return preferences by conducting consultation / secondary research</a:t>
                      </a:r>
                      <a:endParaRPr lang="en-US" sz="1200" kern="1200" dirty="0">
                        <a:solidFill>
                          <a:schemeClr val="dk1"/>
                        </a:solidFill>
                        <a:latin typeface="+mn-lt"/>
                        <a:ea typeface="+mn-ea"/>
                        <a:cs typeface="+mn-cs"/>
                      </a:endParaRPr>
                    </a:p>
                  </a:txBody>
                  <a:tcPr marL="80165" marR="80165" marT="40082" marB="40082"/>
                </a:tc>
                <a:extLst>
                  <a:ext uri="{0D108BD9-81ED-4DB2-BD59-A6C34878D82A}">
                    <a16:rowId xmlns:a16="http://schemas.microsoft.com/office/drawing/2014/main" val="2018215250"/>
                  </a:ext>
                </a:extLst>
              </a:tr>
            </a:tbl>
          </a:graphicData>
        </a:graphic>
      </p:graphicFrame>
      <p:grpSp>
        <p:nvGrpSpPr>
          <p:cNvPr id="9" name="Group 8"/>
          <p:cNvGrpSpPr/>
          <p:nvPr/>
        </p:nvGrpSpPr>
        <p:grpSpPr>
          <a:xfrm>
            <a:off x="582349" y="2113150"/>
            <a:ext cx="4803061" cy="2806191"/>
            <a:chOff x="557002" y="1415377"/>
            <a:chExt cx="3553269" cy="3200883"/>
          </a:xfrm>
        </p:grpSpPr>
        <p:sp>
          <p:nvSpPr>
            <p:cNvPr id="87" name="Rectangle 86"/>
            <p:cNvSpPr/>
            <p:nvPr/>
          </p:nvSpPr>
          <p:spPr bwMode="gray">
            <a:xfrm>
              <a:off x="1787244" y="3747733"/>
              <a:ext cx="1124415" cy="394043"/>
            </a:xfrm>
            <a:prstGeom prst="rect">
              <a:avLst/>
            </a:prstGeom>
            <a:solidFill>
              <a:schemeClr val="accent4"/>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IDF</a:t>
              </a:r>
              <a:endParaRPr lang="en-IN" sz="1200" b="1" dirty="0">
                <a:solidFill>
                  <a:prstClr val="white"/>
                </a:solidFill>
                <a:latin typeface="Verdana"/>
              </a:endParaRPr>
            </a:p>
          </p:txBody>
        </p:sp>
        <p:sp>
          <p:nvSpPr>
            <p:cNvPr id="88" name="Rectangle 87"/>
            <p:cNvSpPr/>
            <p:nvPr/>
          </p:nvSpPr>
          <p:spPr bwMode="gray">
            <a:xfrm>
              <a:off x="2985855" y="3756470"/>
              <a:ext cx="1124415" cy="394043"/>
            </a:xfrm>
            <a:prstGeom prst="rect">
              <a:avLst/>
            </a:prstGeom>
            <a:solidFill>
              <a:schemeClr val="accent4"/>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Bond Markets</a:t>
              </a:r>
              <a:endParaRPr lang="en-IN" sz="1200" b="1" dirty="0">
                <a:solidFill>
                  <a:prstClr val="white"/>
                </a:solidFill>
                <a:latin typeface="Verdana"/>
              </a:endParaRPr>
            </a:p>
          </p:txBody>
        </p:sp>
        <p:grpSp>
          <p:nvGrpSpPr>
            <p:cNvPr id="6" name="Group 5"/>
            <p:cNvGrpSpPr/>
            <p:nvPr/>
          </p:nvGrpSpPr>
          <p:grpSpPr>
            <a:xfrm>
              <a:off x="557002" y="1415377"/>
              <a:ext cx="3553269" cy="3200883"/>
              <a:chOff x="557002" y="1415377"/>
              <a:chExt cx="3553269" cy="3200883"/>
            </a:xfrm>
          </p:grpSpPr>
          <p:grpSp>
            <p:nvGrpSpPr>
              <p:cNvPr id="76" name="Group 75"/>
              <p:cNvGrpSpPr/>
              <p:nvPr/>
            </p:nvGrpSpPr>
            <p:grpSpPr>
              <a:xfrm>
                <a:off x="557002" y="1415377"/>
                <a:ext cx="3553269" cy="2732735"/>
                <a:chOff x="6213052" y="1469366"/>
                <a:chExt cx="5477298" cy="2732735"/>
              </a:xfrm>
            </p:grpSpPr>
            <p:sp>
              <p:nvSpPr>
                <p:cNvPr id="77" name="Rectangle 76"/>
                <p:cNvSpPr/>
                <p:nvPr/>
              </p:nvSpPr>
              <p:spPr bwMode="gray">
                <a:xfrm>
                  <a:off x="6213052" y="1472578"/>
                  <a:ext cx="1733265" cy="59928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Project Loan</a:t>
                  </a:r>
                  <a:endParaRPr lang="en-IN" sz="1200" b="1" dirty="0">
                    <a:solidFill>
                      <a:prstClr val="white"/>
                    </a:solidFill>
                    <a:latin typeface="Verdana"/>
                  </a:endParaRPr>
                </a:p>
              </p:txBody>
            </p:sp>
            <p:sp>
              <p:nvSpPr>
                <p:cNvPr id="78" name="Rectangle 77"/>
                <p:cNvSpPr/>
                <p:nvPr/>
              </p:nvSpPr>
              <p:spPr bwMode="gray">
                <a:xfrm>
                  <a:off x="8085069" y="1472578"/>
                  <a:ext cx="1733265" cy="59928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Corporate Loan</a:t>
                  </a:r>
                  <a:endParaRPr lang="en-IN" sz="1200" b="1" dirty="0">
                    <a:solidFill>
                      <a:prstClr val="white"/>
                    </a:solidFill>
                    <a:latin typeface="Verdana"/>
                  </a:endParaRPr>
                </a:p>
              </p:txBody>
            </p:sp>
            <p:sp>
              <p:nvSpPr>
                <p:cNvPr id="79" name="Rectangle 78"/>
                <p:cNvSpPr/>
                <p:nvPr/>
              </p:nvSpPr>
              <p:spPr bwMode="gray">
                <a:xfrm>
                  <a:off x="9957085" y="1469366"/>
                  <a:ext cx="1733265" cy="59928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Working Capital</a:t>
                  </a:r>
                  <a:endParaRPr lang="en-IN" sz="1200" b="1" dirty="0">
                    <a:solidFill>
                      <a:prstClr val="white"/>
                    </a:solidFill>
                    <a:latin typeface="Verdana"/>
                  </a:endParaRPr>
                </a:p>
              </p:txBody>
            </p:sp>
            <p:sp>
              <p:nvSpPr>
                <p:cNvPr id="80" name="Rectangle 79"/>
                <p:cNvSpPr/>
                <p:nvPr/>
              </p:nvSpPr>
              <p:spPr bwMode="gray">
                <a:xfrm>
                  <a:off x="6220490" y="2148658"/>
                  <a:ext cx="1733265" cy="59928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Buyer’s Credit</a:t>
                  </a:r>
                  <a:endParaRPr lang="en-IN" sz="1200" b="1" dirty="0">
                    <a:solidFill>
                      <a:prstClr val="white"/>
                    </a:solidFill>
                    <a:latin typeface="Verdana"/>
                  </a:endParaRPr>
                </a:p>
              </p:txBody>
            </p:sp>
            <p:sp>
              <p:nvSpPr>
                <p:cNvPr id="81" name="Rectangle 80"/>
                <p:cNvSpPr/>
                <p:nvPr/>
              </p:nvSpPr>
              <p:spPr bwMode="gray">
                <a:xfrm>
                  <a:off x="8092507" y="2143639"/>
                  <a:ext cx="1733265" cy="59928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Budgetary Support</a:t>
                  </a:r>
                  <a:endParaRPr lang="en-IN" sz="1200" b="1" dirty="0">
                    <a:solidFill>
                      <a:prstClr val="white"/>
                    </a:solidFill>
                    <a:latin typeface="Verdana"/>
                  </a:endParaRPr>
                </a:p>
              </p:txBody>
            </p:sp>
            <p:sp>
              <p:nvSpPr>
                <p:cNvPr id="82" name="Rectangle 81"/>
                <p:cNvSpPr/>
                <p:nvPr/>
              </p:nvSpPr>
              <p:spPr bwMode="gray">
                <a:xfrm>
                  <a:off x="9957085" y="2148658"/>
                  <a:ext cx="1733265" cy="59928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Corporate Bonds</a:t>
                  </a:r>
                  <a:endParaRPr lang="en-IN" sz="1200" b="1" dirty="0">
                    <a:solidFill>
                      <a:prstClr val="white"/>
                    </a:solidFill>
                    <a:latin typeface="Verdana"/>
                  </a:endParaRPr>
                </a:p>
              </p:txBody>
            </p:sp>
            <p:sp>
              <p:nvSpPr>
                <p:cNvPr id="83" name="Rectangle 82"/>
                <p:cNvSpPr/>
                <p:nvPr/>
              </p:nvSpPr>
              <p:spPr bwMode="gray">
                <a:xfrm>
                  <a:off x="6213052" y="2836199"/>
                  <a:ext cx="1733265" cy="691947"/>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External Commercial Borrowings</a:t>
                  </a:r>
                  <a:endParaRPr lang="en-IN" sz="1200" b="1" dirty="0">
                    <a:solidFill>
                      <a:prstClr val="white"/>
                    </a:solidFill>
                    <a:latin typeface="Verdana"/>
                  </a:endParaRPr>
                </a:p>
              </p:txBody>
            </p:sp>
            <p:sp>
              <p:nvSpPr>
                <p:cNvPr id="84" name="Rectangle 83"/>
                <p:cNvSpPr/>
                <p:nvPr/>
              </p:nvSpPr>
              <p:spPr bwMode="gray">
                <a:xfrm>
                  <a:off x="9957084" y="2810529"/>
                  <a:ext cx="1733265" cy="711131"/>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Masala Bond</a:t>
                  </a:r>
                  <a:endParaRPr lang="en-IN" sz="1200" b="1" dirty="0">
                    <a:solidFill>
                      <a:prstClr val="white"/>
                    </a:solidFill>
                    <a:latin typeface="Verdana"/>
                  </a:endParaRPr>
                </a:p>
              </p:txBody>
            </p:sp>
            <p:sp>
              <p:nvSpPr>
                <p:cNvPr id="85" name="Rectangle 84"/>
                <p:cNvSpPr/>
                <p:nvPr/>
              </p:nvSpPr>
              <p:spPr bwMode="gray">
                <a:xfrm>
                  <a:off x="8096246" y="2826162"/>
                  <a:ext cx="1733265" cy="693392"/>
                </a:xfrm>
                <a:prstGeom prst="rect">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Infrastructure Tax free Bond</a:t>
                  </a:r>
                  <a:endParaRPr lang="en-IN" sz="1200" b="1" dirty="0">
                    <a:solidFill>
                      <a:prstClr val="white"/>
                    </a:solidFill>
                    <a:latin typeface="Verdana"/>
                  </a:endParaRPr>
                </a:p>
              </p:txBody>
            </p:sp>
            <p:sp>
              <p:nvSpPr>
                <p:cNvPr id="86" name="Rectangle 85"/>
                <p:cNvSpPr/>
                <p:nvPr/>
              </p:nvSpPr>
              <p:spPr bwMode="gray">
                <a:xfrm>
                  <a:off x="6213052" y="3808058"/>
                  <a:ext cx="1733265" cy="394043"/>
                </a:xfrm>
                <a:prstGeom prst="rect">
                  <a:avLst/>
                </a:prstGeom>
                <a:solidFill>
                  <a:schemeClr val="accent4"/>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Banks / FI</a:t>
                  </a:r>
                  <a:endParaRPr lang="en-IN" sz="1200" b="1" dirty="0">
                    <a:solidFill>
                      <a:prstClr val="white"/>
                    </a:solidFill>
                    <a:latin typeface="Verdana"/>
                  </a:endParaRPr>
                </a:p>
              </p:txBody>
            </p:sp>
          </p:grpSp>
          <p:sp>
            <p:nvSpPr>
              <p:cNvPr id="89" name="Rectangle 88"/>
              <p:cNvSpPr/>
              <p:nvPr/>
            </p:nvSpPr>
            <p:spPr bwMode="gray">
              <a:xfrm>
                <a:off x="557002" y="4213071"/>
                <a:ext cx="1124415" cy="394043"/>
              </a:xfrm>
              <a:prstGeom prst="rect">
                <a:avLst/>
              </a:prstGeom>
              <a:solidFill>
                <a:schemeClr val="accent4"/>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Government</a:t>
                </a:r>
                <a:endParaRPr lang="en-IN" sz="1200" b="1" dirty="0">
                  <a:solidFill>
                    <a:prstClr val="white"/>
                  </a:solidFill>
                  <a:latin typeface="Verdana"/>
                </a:endParaRPr>
              </a:p>
            </p:txBody>
          </p:sp>
          <p:sp>
            <p:nvSpPr>
              <p:cNvPr id="90" name="Rectangle 89"/>
              <p:cNvSpPr/>
              <p:nvPr/>
            </p:nvSpPr>
            <p:spPr bwMode="gray">
              <a:xfrm>
                <a:off x="1787244" y="4213071"/>
                <a:ext cx="1124415" cy="394043"/>
              </a:xfrm>
              <a:prstGeom prst="rect">
                <a:avLst/>
              </a:prstGeom>
              <a:solidFill>
                <a:schemeClr val="accent4"/>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Private Developer</a:t>
                </a:r>
                <a:endParaRPr lang="en-IN" sz="1200" b="1" dirty="0">
                  <a:solidFill>
                    <a:prstClr val="white"/>
                  </a:solidFill>
                  <a:latin typeface="Verdana"/>
                </a:endParaRPr>
              </a:p>
            </p:txBody>
          </p:sp>
          <p:sp>
            <p:nvSpPr>
              <p:cNvPr id="91" name="Rectangle 90"/>
              <p:cNvSpPr/>
              <p:nvPr/>
            </p:nvSpPr>
            <p:spPr bwMode="gray">
              <a:xfrm>
                <a:off x="2971366" y="4222217"/>
                <a:ext cx="1124415" cy="394043"/>
              </a:xfrm>
              <a:prstGeom prst="rect">
                <a:avLst/>
              </a:prstGeom>
              <a:solidFill>
                <a:schemeClr val="accent4"/>
              </a:solidFill>
              <a:ln w="19050" algn="ctr">
                <a:noFill/>
                <a:miter lim="800000"/>
                <a:headEnd/>
                <a:tailEnd/>
              </a:ln>
            </p:spPr>
            <p:txBody>
              <a:bodyPr wrap="square" lIns="77938" tIns="77938" rIns="77938" bIns="77938" rtlCol="0" anchor="ctr"/>
              <a:lstStyle/>
              <a:p>
                <a:pPr algn="ctr" defTabSz="801654">
                  <a:lnSpc>
                    <a:spcPct val="106000"/>
                  </a:lnSpc>
                  <a:defRPr/>
                </a:pPr>
                <a:r>
                  <a:rPr lang="en-US" sz="1200" b="1" dirty="0">
                    <a:solidFill>
                      <a:prstClr val="white"/>
                    </a:solidFill>
                    <a:latin typeface="Verdana"/>
                  </a:rPr>
                  <a:t>Pension Funds</a:t>
                </a:r>
                <a:endParaRPr lang="en-IN" sz="1200" b="1" dirty="0">
                  <a:solidFill>
                    <a:prstClr val="white"/>
                  </a:solidFill>
                  <a:latin typeface="Verdana"/>
                </a:endParaRPr>
              </a:p>
            </p:txBody>
          </p:sp>
        </p:grpSp>
        <p:sp>
          <p:nvSpPr>
            <p:cNvPr id="8" name="Isosceles Triangle 7"/>
            <p:cNvSpPr/>
            <p:nvPr/>
          </p:nvSpPr>
          <p:spPr bwMode="gray">
            <a:xfrm>
              <a:off x="557002" y="3497080"/>
              <a:ext cx="3484192" cy="178949"/>
            </a:xfrm>
            <a:prstGeom prst="triangle">
              <a:avLst/>
            </a:prstGeom>
            <a:solidFill>
              <a:schemeClr val="accent3"/>
            </a:solidFill>
            <a:ln w="19050" algn="ctr">
              <a:noFill/>
              <a:miter lim="800000"/>
              <a:headEnd/>
              <a:tailEnd/>
            </a:ln>
          </p:spPr>
          <p:txBody>
            <a:bodyPr wrap="square" lIns="77938" tIns="77938" rIns="77938" bIns="77938" rtlCol="0" anchor="ctr"/>
            <a:lstStyle/>
            <a:p>
              <a:pPr algn="ctr" defTabSz="801654">
                <a:lnSpc>
                  <a:spcPct val="106000"/>
                </a:lnSpc>
                <a:defRPr/>
              </a:pPr>
              <a:endParaRPr lang="en-IN" sz="1403" b="1" dirty="0">
                <a:solidFill>
                  <a:prstClr val="white"/>
                </a:solidFill>
                <a:latin typeface="Verdana"/>
              </a:endParaRPr>
            </a:p>
          </p:txBody>
        </p:sp>
      </p:grpSp>
      <p:sp>
        <p:nvSpPr>
          <p:cNvPr id="32" name="Title 2"/>
          <p:cNvSpPr txBox="1">
            <a:spLocks/>
          </p:cNvSpPr>
          <p:nvPr/>
        </p:nvSpPr>
        <p:spPr bwMode="gray">
          <a:xfrm>
            <a:off x="352350" y="937816"/>
            <a:ext cx="9785950" cy="291787"/>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algn="just" defTabSz="801654">
              <a:defRPr/>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Deloitte’s close association with the sector and stakeholders has helped our experts understand the challenges related to financing and funding of large PPP airport projects in India</a:t>
            </a:r>
          </a:p>
        </p:txBody>
      </p:sp>
      <p:graphicFrame>
        <p:nvGraphicFramePr>
          <p:cNvPr id="34" name="Chart Placeholder 15"/>
          <p:cNvGraphicFramePr>
            <a:graphicFrameLocks/>
          </p:cNvGraphicFramePr>
          <p:nvPr/>
        </p:nvGraphicFramePr>
        <p:xfrm>
          <a:off x="5435086" y="2031149"/>
          <a:ext cx="4880553" cy="3240934"/>
        </p:xfrm>
        <a:graphic>
          <a:graphicData uri="http://schemas.openxmlformats.org/drawingml/2006/chart">
            <c:chart xmlns:c="http://schemas.openxmlformats.org/drawingml/2006/chart" xmlns:r="http://schemas.openxmlformats.org/officeDocument/2006/relationships" r:id="rId2"/>
          </a:graphicData>
        </a:graphic>
      </p:graphicFrame>
      <p:sp>
        <p:nvSpPr>
          <p:cNvPr id="27" name="TextBox 26"/>
          <p:cNvSpPr txBox="1"/>
          <p:nvPr/>
        </p:nvSpPr>
        <p:spPr>
          <a:xfrm rot="20517360">
            <a:off x="1553467" y="3169612"/>
            <a:ext cx="7550082" cy="242887"/>
          </a:xfrm>
          <a:prstGeom prst="rect">
            <a:avLst/>
          </a:prstGeom>
          <a:solidFill>
            <a:schemeClr val="accent1">
              <a:tint val="20000"/>
              <a:alpha val="54000"/>
            </a:schemeClr>
          </a:solidFill>
        </p:spPr>
        <p:txBody>
          <a:bodyPr vert="horz" wrap="square" lIns="0" tIns="0" rIns="0" bIns="0" rtlCol="0">
            <a:spAutoFit/>
          </a:bodyPr>
          <a:lstStyle/>
          <a:p>
            <a:pPr algn="ctr" defTabSz="801654">
              <a:lnSpc>
                <a:spcPct val="150000"/>
              </a:lnSpc>
              <a:spcBef>
                <a:spcPts val="526"/>
              </a:spcBef>
              <a:spcAft>
                <a:spcPts val="526"/>
              </a:spcAft>
              <a:buSzPct val="100000"/>
              <a:defRPr/>
            </a:pPr>
            <a:r>
              <a:rPr lang="en-US" sz="1052" b="1" dirty="0">
                <a:solidFill>
                  <a:prstClr val="black"/>
                </a:solidFill>
                <a:latin typeface="Verdana"/>
              </a:rPr>
              <a:t>ILLUSTRATIVE</a:t>
            </a:r>
            <a:endParaRPr lang="en-IN" sz="1052" b="1" dirty="0">
              <a:solidFill>
                <a:prstClr val="black"/>
              </a:solidFill>
              <a:latin typeface="Verdana"/>
            </a:endParaRPr>
          </a:p>
        </p:txBody>
      </p:sp>
      <p:sp>
        <p:nvSpPr>
          <p:cNvPr id="28" name="Rectangle 27"/>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Required advisory assistance: financing structure / funding options</a:t>
            </a:r>
          </a:p>
        </p:txBody>
      </p:sp>
      <p:cxnSp>
        <p:nvCxnSpPr>
          <p:cNvPr id="29" name="Straight Connector 28"/>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263396" y="331644"/>
            <a:ext cx="9915584" cy="449803"/>
          </a:xfrm>
          <a:prstGeom prst="rect">
            <a:avLst/>
          </a:prstGeom>
        </p:spPr>
        <p:txBody>
          <a:bodyPr wrap="square">
            <a:spAutoFit/>
          </a:bodyPr>
          <a:lstStyle/>
          <a:p>
            <a:pPr>
              <a:lnSpc>
                <a:spcPct val="106000"/>
              </a:lnSpc>
              <a:spcBef>
                <a:spcPct val="0"/>
              </a:spcBef>
            </a:pPr>
            <a:r>
              <a:rPr lang="en-US" sz="2400" dirty="0"/>
              <a:t>Our understanding of key funding options</a:t>
            </a:r>
            <a:endParaRPr lang="en-IN" sz="2400" dirty="0"/>
          </a:p>
        </p:txBody>
      </p:sp>
    </p:spTree>
    <p:extLst>
      <p:ext uri="{BB962C8B-B14F-4D97-AF65-F5344CB8AC3E}">
        <p14:creationId xmlns:p14="http://schemas.microsoft.com/office/powerpoint/2010/main" val="34654156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2"/>
          <p:cNvSpPr txBox="1">
            <a:spLocks/>
          </p:cNvSpPr>
          <p:nvPr/>
        </p:nvSpPr>
        <p:spPr bwMode="gray">
          <a:xfrm>
            <a:off x="152325" y="893387"/>
            <a:ext cx="9785950" cy="650711"/>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mj-lt"/>
                <a:ea typeface="+mj-ea"/>
                <a:cs typeface="+mj-cs"/>
              </a:defRPr>
            </a:lvl1pPr>
          </a:lstStyle>
          <a:p>
            <a:pPr marL="231775" lvl="1" algn="just">
              <a:buSzPct val="65000"/>
              <a:defRPr/>
            </a:pPr>
            <a:r>
              <a:rPr lang="en-US" sz="1400" kern="0" dirty="0">
                <a:solidFill>
                  <a:schemeClr val="accent2"/>
                </a:solidFill>
                <a:latin typeface="Verdana" panose="020B0604030504040204" pitchFamily="34" charset="0"/>
                <a:ea typeface="Verdana" panose="020B0604030504040204" pitchFamily="34" charset="0"/>
                <a:cs typeface="Verdana" panose="020B0604030504040204" pitchFamily="34" charset="0"/>
              </a:rPr>
              <a:t>Airport projects in India are unique among infrastructure sector: </a:t>
            </a:r>
          </a:p>
          <a:p>
            <a:pPr marL="403225" lvl="1" indent="-171450" algn="just">
              <a:buSzPct val="65000"/>
              <a:buFont typeface="Arial" panose="020B0604020202020204" pitchFamily="34" charset="0"/>
              <a:buChar char="•"/>
              <a:defRPr/>
            </a:pPr>
            <a:r>
              <a:rPr lang="en-US" sz="1200" kern="0" dirty="0">
                <a:solidFill>
                  <a:schemeClr val="accent2"/>
                </a:solidFill>
                <a:latin typeface="Verdana" panose="020B0604030504040204" pitchFamily="34" charset="0"/>
                <a:ea typeface="Verdana" panose="020B0604030504040204" pitchFamily="34" charset="0"/>
                <a:cs typeface="Verdana" panose="020B0604030504040204" pitchFamily="34" charset="0"/>
              </a:rPr>
              <a:t>Investments are carried out in phases – Regular capital investments provide multiple options for structuring</a:t>
            </a:r>
          </a:p>
          <a:p>
            <a:pPr marL="403225" lvl="1" indent="-171450" algn="just">
              <a:buSzPct val="65000"/>
              <a:buFont typeface="Arial" panose="020B0604020202020204" pitchFamily="34" charset="0"/>
              <a:buChar char="•"/>
              <a:defRPr/>
            </a:pPr>
            <a:r>
              <a:rPr lang="en-US" sz="1200" kern="0" dirty="0">
                <a:solidFill>
                  <a:schemeClr val="accent2"/>
                </a:solidFill>
                <a:latin typeface="Verdana" panose="020B0604030504040204" pitchFamily="34" charset="0"/>
                <a:ea typeface="Verdana" panose="020B0604030504040204" pitchFamily="34" charset="0"/>
                <a:cs typeface="Verdana" panose="020B0604030504040204" pitchFamily="34" charset="0"/>
              </a:rPr>
              <a:t>Alternate sources of financing specific to the airport industry– </a:t>
            </a:r>
            <a:r>
              <a:rPr lang="en-US" sz="1200" b="1" kern="0" dirty="0">
                <a:solidFill>
                  <a:schemeClr val="accent2"/>
                </a:solidFill>
                <a:latin typeface="Verdana" panose="020B0604030504040204" pitchFamily="34" charset="0"/>
                <a:ea typeface="Verdana" panose="020B0604030504040204" pitchFamily="34" charset="0"/>
                <a:cs typeface="Verdana" panose="020B0604030504040204" pitchFamily="34" charset="0"/>
              </a:rPr>
              <a:t>Land Monetization, Airport Development Fund</a:t>
            </a:r>
          </a:p>
          <a:p>
            <a:pPr marL="285750" indent="-285750" algn="just" defTabSz="801654">
              <a:buFont typeface="Arial" panose="020B0604020202020204" pitchFamily="34" charset="0"/>
              <a:buChar char="•"/>
              <a:defRPr/>
            </a:pPr>
            <a:endPar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endParaRPr>
          </a:p>
        </p:txBody>
      </p:sp>
      <p:sp>
        <p:nvSpPr>
          <p:cNvPr id="28" name="Rectangle 27"/>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Required advisory assistance: financing structure / funding options</a:t>
            </a:r>
          </a:p>
        </p:txBody>
      </p:sp>
      <p:cxnSp>
        <p:nvCxnSpPr>
          <p:cNvPr id="29" name="Straight Connector 28"/>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263396" y="331644"/>
            <a:ext cx="9915584" cy="449803"/>
          </a:xfrm>
          <a:prstGeom prst="rect">
            <a:avLst/>
          </a:prstGeom>
        </p:spPr>
        <p:txBody>
          <a:bodyPr wrap="square">
            <a:spAutoFit/>
          </a:bodyPr>
          <a:lstStyle/>
          <a:p>
            <a:pPr>
              <a:lnSpc>
                <a:spcPct val="106000"/>
              </a:lnSpc>
              <a:spcBef>
                <a:spcPct val="0"/>
              </a:spcBef>
            </a:pPr>
            <a:r>
              <a:rPr lang="en-US" sz="2400" dirty="0"/>
              <a:t>Funding the development of an Airport in the Indian context</a:t>
            </a:r>
          </a:p>
        </p:txBody>
      </p:sp>
      <p:cxnSp>
        <p:nvCxnSpPr>
          <p:cNvPr id="33" name="Straight Connector 32"/>
          <p:cNvCxnSpPr/>
          <p:nvPr/>
        </p:nvCxnSpPr>
        <p:spPr>
          <a:xfrm>
            <a:off x="7400263" y="2024977"/>
            <a:ext cx="0" cy="731520"/>
          </a:xfrm>
          <a:prstGeom prst="line">
            <a:avLst/>
          </a:prstGeom>
          <a:noFill/>
          <a:ln w="28575" cap="flat" cmpd="sng" algn="ctr">
            <a:noFill/>
            <a:prstDash val="sysDash"/>
          </a:ln>
          <a:effectLst/>
        </p:spPr>
      </p:cxnSp>
      <p:cxnSp>
        <p:nvCxnSpPr>
          <p:cNvPr id="35" name="Straight Connector 34"/>
          <p:cNvCxnSpPr/>
          <p:nvPr/>
        </p:nvCxnSpPr>
        <p:spPr>
          <a:xfrm>
            <a:off x="3730929" y="2020495"/>
            <a:ext cx="0" cy="731520"/>
          </a:xfrm>
          <a:prstGeom prst="line">
            <a:avLst/>
          </a:prstGeom>
          <a:noFill/>
          <a:ln w="28575" cap="flat" cmpd="sng" algn="ctr">
            <a:noFill/>
            <a:prstDash val="sysDash"/>
          </a:ln>
          <a:effectLst/>
        </p:spPr>
      </p:cxnSp>
      <p:cxnSp>
        <p:nvCxnSpPr>
          <p:cNvPr id="36" name="Straight Connector 35"/>
          <p:cNvCxnSpPr/>
          <p:nvPr/>
        </p:nvCxnSpPr>
        <p:spPr>
          <a:xfrm>
            <a:off x="5340576" y="2033942"/>
            <a:ext cx="0" cy="731520"/>
          </a:xfrm>
          <a:prstGeom prst="line">
            <a:avLst/>
          </a:prstGeom>
          <a:noFill/>
          <a:ln w="28575" cap="flat" cmpd="sng" algn="ctr">
            <a:noFill/>
            <a:prstDash val="sysDash"/>
          </a:ln>
          <a:effectLst/>
        </p:spPr>
      </p:cxnSp>
      <p:sp>
        <p:nvSpPr>
          <p:cNvPr id="37" name="Hexagon 36"/>
          <p:cNvSpPr/>
          <p:nvPr/>
        </p:nvSpPr>
        <p:spPr>
          <a:xfrm>
            <a:off x="1787238" y="1963708"/>
            <a:ext cx="1792654" cy="333909"/>
          </a:xfrm>
          <a:prstGeom prst="hexagon">
            <a:avLst/>
          </a:prstGeom>
          <a:solidFill>
            <a:srgbClr val="33B4E5"/>
          </a:solidFill>
          <a:ln w="25400" cap="flat" cmpd="sng" algn="ctr">
            <a:noFill/>
            <a:prstDash val="solid"/>
          </a:ln>
          <a:effectLst/>
        </p:spPr>
        <p:txBody>
          <a:bodyPr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Equity</a:t>
            </a:r>
          </a:p>
        </p:txBody>
      </p:sp>
      <p:sp>
        <p:nvSpPr>
          <p:cNvPr id="38" name="Hexagon 37"/>
          <p:cNvSpPr/>
          <p:nvPr/>
        </p:nvSpPr>
        <p:spPr>
          <a:xfrm>
            <a:off x="3767096" y="1977155"/>
            <a:ext cx="1343714" cy="352121"/>
          </a:xfrm>
          <a:prstGeom prst="hexagon">
            <a:avLst/>
          </a:prstGeom>
          <a:solidFill>
            <a:srgbClr val="33B4E5"/>
          </a:solidFill>
          <a:ln w="25400" cap="flat" cmpd="sng" algn="ctr">
            <a:noFill/>
            <a:prstDash val="solid"/>
          </a:ln>
          <a:effectLst/>
        </p:spPr>
        <p:txBody>
          <a:bodyPr tIns="0"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Quasi Equity</a:t>
            </a:r>
          </a:p>
        </p:txBody>
      </p:sp>
      <p:sp>
        <p:nvSpPr>
          <p:cNvPr id="39" name="Hexagon 38"/>
          <p:cNvSpPr/>
          <p:nvPr/>
        </p:nvSpPr>
        <p:spPr>
          <a:xfrm>
            <a:off x="7304573" y="1970294"/>
            <a:ext cx="2909156" cy="327323"/>
          </a:xfrm>
          <a:prstGeom prst="hexagon">
            <a:avLst/>
          </a:prstGeom>
          <a:solidFill>
            <a:srgbClr val="33B4E5"/>
          </a:solidFill>
          <a:ln w="25400" cap="flat" cmpd="sng" algn="ctr">
            <a:noFill/>
            <a:prstDash val="solid"/>
          </a:ln>
          <a:effectLst/>
        </p:spPr>
        <p:txBody>
          <a:bodyPr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Debt</a:t>
            </a:r>
          </a:p>
        </p:txBody>
      </p:sp>
      <p:cxnSp>
        <p:nvCxnSpPr>
          <p:cNvPr id="40" name="Straight Connector 39"/>
          <p:cNvCxnSpPr/>
          <p:nvPr/>
        </p:nvCxnSpPr>
        <p:spPr>
          <a:xfrm>
            <a:off x="11920598" y="2027914"/>
            <a:ext cx="0" cy="1188720"/>
          </a:xfrm>
          <a:prstGeom prst="line">
            <a:avLst/>
          </a:prstGeom>
          <a:noFill/>
          <a:ln w="28575" cap="flat" cmpd="sng" algn="ctr">
            <a:noFill/>
            <a:prstDash val="sysDash"/>
          </a:ln>
          <a:effectLst/>
        </p:spPr>
      </p:cxnSp>
      <p:sp>
        <p:nvSpPr>
          <p:cNvPr id="41" name="Hexagon 40"/>
          <p:cNvSpPr/>
          <p:nvPr/>
        </p:nvSpPr>
        <p:spPr>
          <a:xfrm>
            <a:off x="426214" y="1643953"/>
            <a:ext cx="9901814" cy="270069"/>
          </a:xfrm>
          <a:prstGeom prst="hexagon">
            <a:avLst/>
          </a:prstGeom>
          <a:solidFill>
            <a:schemeClr val="accent2"/>
          </a:solidFill>
          <a:ln w="25400" cap="flat" cmpd="sng" algn="ctr">
            <a:noFill/>
            <a:prstDash val="solid"/>
          </a:ln>
          <a:effectLst/>
        </p:spPr>
        <p:txBody>
          <a:bodyPr rtlCol="0" anchor="ctr"/>
          <a:lstStyle/>
          <a:p>
            <a:pPr algn="ctr" defTabSz="844083" fontAlgn="base">
              <a:spcBef>
                <a:spcPct val="0"/>
              </a:spcBef>
              <a:spcAft>
                <a:spcPct val="0"/>
              </a:spcAft>
              <a:defRPr/>
            </a:pPr>
            <a:r>
              <a:rPr lang="en-US" sz="14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Possible Sources of Financing of Airports in India</a:t>
            </a:r>
          </a:p>
        </p:txBody>
      </p:sp>
      <p:sp>
        <p:nvSpPr>
          <p:cNvPr id="42" name="Rectangle 41"/>
          <p:cNvSpPr/>
          <p:nvPr/>
        </p:nvSpPr>
        <p:spPr>
          <a:xfrm>
            <a:off x="448366" y="1963708"/>
            <a:ext cx="1089284" cy="744583"/>
          </a:xfrm>
          <a:prstGeom prst="rect">
            <a:avLst/>
          </a:prstGeom>
          <a:solidFill>
            <a:srgbClr val="335291"/>
          </a:solidFill>
          <a:ln w="38100" cap="flat" cmpd="sng" algn="ctr">
            <a:noFill/>
            <a:prstDash val="solid"/>
          </a:ln>
          <a:effectLst/>
        </p:spPr>
        <p:txBody>
          <a:bodyPr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Project Financing of the Airport</a:t>
            </a:r>
          </a:p>
        </p:txBody>
      </p:sp>
      <p:sp>
        <p:nvSpPr>
          <p:cNvPr id="43" name="Hexagon 42"/>
          <p:cNvSpPr/>
          <p:nvPr/>
        </p:nvSpPr>
        <p:spPr>
          <a:xfrm>
            <a:off x="5358813" y="1977156"/>
            <a:ext cx="1755257" cy="348105"/>
          </a:xfrm>
          <a:prstGeom prst="hexagon">
            <a:avLst/>
          </a:prstGeom>
          <a:solidFill>
            <a:srgbClr val="33B4E5"/>
          </a:solidFill>
          <a:ln w="25400" cap="flat" cmpd="sng" algn="ctr">
            <a:noFill/>
            <a:prstDash val="solid"/>
          </a:ln>
          <a:effectLst/>
        </p:spPr>
        <p:txBody>
          <a:bodyPr tIns="0"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Direct User Payments</a:t>
            </a:r>
          </a:p>
        </p:txBody>
      </p:sp>
      <p:sp>
        <p:nvSpPr>
          <p:cNvPr id="44" name="Hexagon 43"/>
          <p:cNvSpPr/>
          <p:nvPr/>
        </p:nvSpPr>
        <p:spPr>
          <a:xfrm>
            <a:off x="8948092" y="2359571"/>
            <a:ext cx="1265636" cy="364680"/>
          </a:xfrm>
          <a:prstGeom prst="hexagon">
            <a:avLst/>
          </a:prstGeom>
          <a:solidFill>
            <a:srgbClr val="72C7E7">
              <a:lumMod val="50000"/>
            </a:srgbClr>
          </a:solidFill>
          <a:ln w="25400" cap="flat" cmpd="sng" algn="ctr">
            <a:noFill/>
            <a:prstDash val="solid"/>
          </a:ln>
          <a:effectLst/>
        </p:spPr>
        <p:txBody>
          <a:bodyPr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ECBs</a:t>
            </a:r>
          </a:p>
        </p:txBody>
      </p:sp>
      <p:sp>
        <p:nvSpPr>
          <p:cNvPr id="45" name="Hexagon 44"/>
          <p:cNvSpPr/>
          <p:nvPr/>
        </p:nvSpPr>
        <p:spPr>
          <a:xfrm>
            <a:off x="7318299" y="2358491"/>
            <a:ext cx="1477393" cy="365760"/>
          </a:xfrm>
          <a:prstGeom prst="hexagon">
            <a:avLst/>
          </a:prstGeom>
          <a:solidFill>
            <a:srgbClr val="72C7E7">
              <a:lumMod val="50000"/>
            </a:srgbClr>
          </a:solidFill>
          <a:ln w="25400" cap="flat" cmpd="sng" algn="ctr">
            <a:noFill/>
            <a:prstDash val="solid"/>
          </a:ln>
          <a:effectLst/>
        </p:spPr>
        <p:txBody>
          <a:bodyPr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Local Debt</a:t>
            </a:r>
          </a:p>
        </p:txBody>
      </p:sp>
      <p:cxnSp>
        <p:nvCxnSpPr>
          <p:cNvPr id="46" name="Straight Connector 45"/>
          <p:cNvCxnSpPr/>
          <p:nvPr/>
        </p:nvCxnSpPr>
        <p:spPr>
          <a:xfrm>
            <a:off x="1854204" y="2023844"/>
            <a:ext cx="0" cy="1188720"/>
          </a:xfrm>
          <a:prstGeom prst="line">
            <a:avLst/>
          </a:prstGeom>
          <a:noFill/>
          <a:ln w="28575" cap="flat" cmpd="sng" algn="ctr">
            <a:noFill/>
            <a:prstDash val="sysDash"/>
          </a:ln>
          <a:effectLst/>
        </p:spPr>
      </p:cxnSp>
      <p:sp>
        <p:nvSpPr>
          <p:cNvPr id="47" name="Hexagon 46"/>
          <p:cNvSpPr/>
          <p:nvPr/>
        </p:nvSpPr>
        <p:spPr>
          <a:xfrm>
            <a:off x="1787238" y="2361232"/>
            <a:ext cx="810022" cy="351188"/>
          </a:xfrm>
          <a:prstGeom prst="hexagon">
            <a:avLst/>
          </a:prstGeom>
          <a:solidFill>
            <a:srgbClr val="92D050"/>
          </a:solidFill>
          <a:ln w="25400" cap="flat" cmpd="sng" algn="ctr">
            <a:noFill/>
            <a:prstDash val="solid"/>
          </a:ln>
          <a:effectLst/>
        </p:spPr>
        <p:txBody>
          <a:bodyPr rtlCol="0" anchor="ctr"/>
          <a:lstStyle/>
          <a:p>
            <a:pPr algn="ctr" defTabSz="844083" fontAlgn="base">
              <a:spcBef>
                <a:spcPct val="0"/>
              </a:spcBef>
              <a:spcAft>
                <a:spcPct val="0"/>
              </a:spcAft>
              <a:defRPr/>
            </a:pPr>
            <a:r>
              <a:rPr lang="en-US" sz="10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Govt. </a:t>
            </a:r>
          </a:p>
        </p:txBody>
      </p:sp>
      <p:sp>
        <p:nvSpPr>
          <p:cNvPr id="48" name="Hexagon 47"/>
          <p:cNvSpPr/>
          <p:nvPr/>
        </p:nvSpPr>
        <p:spPr>
          <a:xfrm>
            <a:off x="2737062" y="2349384"/>
            <a:ext cx="845874" cy="361180"/>
          </a:xfrm>
          <a:prstGeom prst="hexagon">
            <a:avLst/>
          </a:prstGeom>
          <a:solidFill>
            <a:srgbClr val="72C7E7">
              <a:lumMod val="50000"/>
            </a:srgbClr>
          </a:solidFill>
          <a:ln w="25400" cap="flat" cmpd="sng" algn="ctr">
            <a:noFill/>
            <a:prstDash val="solid"/>
          </a:ln>
          <a:effectLst/>
        </p:spPr>
        <p:txBody>
          <a:bodyPr lIns="0" rIns="0"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Private Sector</a:t>
            </a:r>
          </a:p>
        </p:txBody>
      </p:sp>
      <p:sp>
        <p:nvSpPr>
          <p:cNvPr id="49" name="Hexagon 48"/>
          <p:cNvSpPr/>
          <p:nvPr/>
        </p:nvSpPr>
        <p:spPr>
          <a:xfrm>
            <a:off x="3767097" y="2362039"/>
            <a:ext cx="1331076" cy="346252"/>
          </a:xfrm>
          <a:prstGeom prst="hexagon">
            <a:avLst/>
          </a:prstGeom>
          <a:solidFill>
            <a:srgbClr val="3C8A2E">
              <a:lumMod val="60000"/>
              <a:lumOff val="40000"/>
            </a:srgbClr>
          </a:solidFill>
          <a:ln w="25400" cap="flat" cmpd="sng" algn="ctr">
            <a:noFill/>
            <a:prstDash val="solid"/>
          </a:ln>
          <a:effectLst/>
        </p:spPr>
        <p:txBody>
          <a:bodyPr lIns="0" rIns="0"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Land Monetization</a:t>
            </a:r>
          </a:p>
        </p:txBody>
      </p:sp>
      <p:sp>
        <p:nvSpPr>
          <p:cNvPr id="50" name="Hexagon 49"/>
          <p:cNvSpPr/>
          <p:nvPr/>
        </p:nvSpPr>
        <p:spPr>
          <a:xfrm>
            <a:off x="5382631" y="2362039"/>
            <a:ext cx="1727061" cy="346252"/>
          </a:xfrm>
          <a:prstGeom prst="hexagon">
            <a:avLst/>
          </a:prstGeom>
          <a:solidFill>
            <a:srgbClr val="3C8A2E">
              <a:lumMod val="60000"/>
              <a:lumOff val="40000"/>
            </a:srgbClr>
          </a:solidFill>
          <a:ln w="25400" cap="flat" cmpd="sng" algn="ctr">
            <a:noFill/>
            <a:prstDash val="solid"/>
          </a:ln>
          <a:effectLst/>
        </p:spPr>
        <p:txBody>
          <a:bodyPr rtlCol="0" anchor="ctr"/>
          <a:lstStyle/>
          <a:p>
            <a:pPr algn="ctr" defTabSz="844083" fontAlgn="base">
              <a:spcBef>
                <a:spcPct val="0"/>
              </a:spcBef>
              <a:spcAft>
                <a:spcPct val="0"/>
              </a:spcAft>
              <a:defRPr/>
            </a:pPr>
            <a:r>
              <a:rPr lang="en-US" sz="1050" b="1" kern="0" dirty="0">
                <a:solidFill>
                  <a:srgbClr val="FFFFFF"/>
                </a:solidFill>
                <a:latin typeface="Verdana" panose="020B0604030504040204" pitchFamily="34" charset="0"/>
                <a:ea typeface="Verdana" panose="020B0604030504040204" pitchFamily="34" charset="0"/>
                <a:cs typeface="Verdana" panose="020B0604030504040204" pitchFamily="34" charset="0"/>
              </a:rPr>
              <a:t>Development Fund</a:t>
            </a:r>
          </a:p>
        </p:txBody>
      </p:sp>
      <p:sp>
        <p:nvSpPr>
          <p:cNvPr id="51" name="Rectangle 50"/>
          <p:cNvSpPr/>
          <p:nvPr/>
        </p:nvSpPr>
        <p:spPr>
          <a:xfrm>
            <a:off x="426212" y="1752402"/>
            <a:ext cx="10078602" cy="1507674"/>
          </a:xfrm>
          <a:prstGeom prst="rect">
            <a:avLst/>
          </a:prstGeom>
          <a:noFill/>
          <a:ln w="9525" cap="flat" cmpd="sng" algn="ctr">
            <a:noFill/>
            <a:prstDash val="solid"/>
          </a:ln>
          <a:effectLst/>
        </p:spPr>
        <p:txBody>
          <a:bodyPr rtlCol="0" anchor="ctr"/>
          <a:lstStyle/>
          <a:p>
            <a:pPr algn="ctr">
              <a:defRPr/>
            </a:pPr>
            <a:endParaRPr lang="en-US" kern="0" dirty="0">
              <a:solidFill>
                <a:prstClr val="white"/>
              </a:solidFill>
              <a:latin typeface="Cambria" panose="02040503050406030204" pitchFamily="18" charset="0"/>
            </a:endParaRPr>
          </a:p>
        </p:txBody>
      </p:sp>
      <p:cxnSp>
        <p:nvCxnSpPr>
          <p:cNvPr id="52" name="Straight Connector 51"/>
          <p:cNvCxnSpPr/>
          <p:nvPr/>
        </p:nvCxnSpPr>
        <p:spPr>
          <a:xfrm>
            <a:off x="10289928" y="1897535"/>
            <a:ext cx="0" cy="763200"/>
          </a:xfrm>
          <a:prstGeom prst="line">
            <a:avLst/>
          </a:prstGeom>
          <a:noFill/>
          <a:ln w="28575" cap="flat" cmpd="sng" algn="ctr">
            <a:solidFill>
              <a:sysClr val="window" lastClr="FFFFFF">
                <a:lumMod val="75000"/>
              </a:sysClr>
            </a:solidFill>
            <a:prstDash val="sysDash"/>
          </a:ln>
          <a:effectLst/>
        </p:spPr>
      </p:cxnSp>
      <p:cxnSp>
        <p:nvCxnSpPr>
          <p:cNvPr id="53" name="Straight Connector 52"/>
          <p:cNvCxnSpPr/>
          <p:nvPr/>
        </p:nvCxnSpPr>
        <p:spPr>
          <a:xfrm flipH="1">
            <a:off x="1702676" y="1944577"/>
            <a:ext cx="491" cy="763714"/>
          </a:xfrm>
          <a:prstGeom prst="line">
            <a:avLst/>
          </a:prstGeom>
          <a:noFill/>
          <a:ln w="28575" cap="flat" cmpd="sng" algn="ctr">
            <a:solidFill>
              <a:sysClr val="window" lastClr="FFFFFF">
                <a:lumMod val="75000"/>
              </a:sysClr>
            </a:solidFill>
            <a:prstDash val="sysDash"/>
          </a:ln>
          <a:effectLst/>
        </p:spPr>
      </p:cxnSp>
      <p:cxnSp>
        <p:nvCxnSpPr>
          <p:cNvPr id="54" name="Straight Connector 53"/>
          <p:cNvCxnSpPr/>
          <p:nvPr/>
        </p:nvCxnSpPr>
        <p:spPr>
          <a:xfrm>
            <a:off x="7202062" y="1953672"/>
            <a:ext cx="0" cy="763200"/>
          </a:xfrm>
          <a:prstGeom prst="line">
            <a:avLst/>
          </a:prstGeom>
          <a:noFill/>
          <a:ln w="28575" cap="flat" cmpd="sng" algn="ctr">
            <a:solidFill>
              <a:sysClr val="window" lastClr="FFFFFF">
                <a:lumMod val="75000"/>
              </a:sysClr>
            </a:solidFill>
            <a:prstDash val="sysDash"/>
          </a:ln>
          <a:effectLst/>
        </p:spPr>
      </p:cxnSp>
      <p:cxnSp>
        <p:nvCxnSpPr>
          <p:cNvPr id="55" name="Straight Connector 54"/>
          <p:cNvCxnSpPr/>
          <p:nvPr/>
        </p:nvCxnSpPr>
        <p:spPr>
          <a:xfrm>
            <a:off x="5248420" y="1946891"/>
            <a:ext cx="0" cy="763200"/>
          </a:xfrm>
          <a:prstGeom prst="line">
            <a:avLst/>
          </a:prstGeom>
          <a:noFill/>
          <a:ln w="28575" cap="flat" cmpd="sng" algn="ctr">
            <a:solidFill>
              <a:sysClr val="window" lastClr="FFFFFF">
                <a:lumMod val="75000"/>
              </a:sysClr>
            </a:solidFill>
            <a:prstDash val="sysDash"/>
          </a:ln>
          <a:effectLst/>
        </p:spPr>
      </p:cxnSp>
      <p:cxnSp>
        <p:nvCxnSpPr>
          <p:cNvPr id="56" name="Straight Connector 55"/>
          <p:cNvCxnSpPr/>
          <p:nvPr/>
        </p:nvCxnSpPr>
        <p:spPr>
          <a:xfrm>
            <a:off x="3678870" y="1937926"/>
            <a:ext cx="0" cy="763200"/>
          </a:xfrm>
          <a:prstGeom prst="line">
            <a:avLst/>
          </a:prstGeom>
          <a:noFill/>
          <a:ln w="28575" cap="flat" cmpd="sng" algn="ctr">
            <a:solidFill>
              <a:sysClr val="window" lastClr="FFFFFF">
                <a:lumMod val="75000"/>
              </a:sysClr>
            </a:solidFill>
            <a:prstDash val="sysDash"/>
          </a:ln>
          <a:effectLst/>
        </p:spPr>
      </p:cxnSp>
      <p:cxnSp>
        <p:nvCxnSpPr>
          <p:cNvPr id="57" name="Straight Connector 56"/>
          <p:cNvCxnSpPr/>
          <p:nvPr/>
        </p:nvCxnSpPr>
        <p:spPr>
          <a:xfrm>
            <a:off x="8871892" y="2358491"/>
            <a:ext cx="0" cy="365760"/>
          </a:xfrm>
          <a:prstGeom prst="line">
            <a:avLst/>
          </a:prstGeom>
          <a:noFill/>
          <a:ln w="28575" cap="flat" cmpd="sng" algn="ctr">
            <a:solidFill>
              <a:sysClr val="window" lastClr="FFFFFF">
                <a:lumMod val="75000"/>
              </a:sysClr>
            </a:solidFill>
            <a:prstDash val="sysDash"/>
          </a:ln>
          <a:effectLst/>
        </p:spPr>
      </p:cxnSp>
      <p:cxnSp>
        <p:nvCxnSpPr>
          <p:cNvPr id="58" name="Straight Connector 57"/>
          <p:cNvCxnSpPr/>
          <p:nvPr/>
        </p:nvCxnSpPr>
        <p:spPr>
          <a:xfrm>
            <a:off x="2663990" y="2405567"/>
            <a:ext cx="0" cy="274320"/>
          </a:xfrm>
          <a:prstGeom prst="line">
            <a:avLst/>
          </a:prstGeom>
          <a:noFill/>
          <a:ln w="28575" cap="flat" cmpd="sng" algn="ctr">
            <a:solidFill>
              <a:sysClr val="window" lastClr="FFFFFF">
                <a:lumMod val="75000"/>
              </a:sysClr>
            </a:solidFill>
            <a:prstDash val="sysDash"/>
          </a:ln>
          <a:effectLst/>
        </p:spPr>
      </p:cxnSp>
      <p:graphicFrame>
        <p:nvGraphicFramePr>
          <p:cNvPr id="59" name="Table 58"/>
          <p:cNvGraphicFramePr>
            <a:graphicFrameLocks noGrp="1"/>
          </p:cNvGraphicFramePr>
          <p:nvPr>
            <p:extLst>
              <p:ext uri="{D42A27DB-BD31-4B8C-83A1-F6EECF244321}">
                <p14:modId xmlns:p14="http://schemas.microsoft.com/office/powerpoint/2010/main" val="3614837826"/>
              </p:ext>
            </p:extLst>
          </p:nvPr>
        </p:nvGraphicFramePr>
        <p:xfrm>
          <a:off x="437881" y="2850761"/>
          <a:ext cx="9918239" cy="4465320"/>
        </p:xfrm>
        <a:graphic>
          <a:graphicData uri="http://schemas.openxmlformats.org/drawingml/2006/table">
            <a:tbl>
              <a:tblPr firstRow="1" bandRow="1"/>
              <a:tblGrid>
                <a:gridCol w="1538064">
                  <a:extLst>
                    <a:ext uri="{9D8B030D-6E8A-4147-A177-3AD203B41FA5}">
                      <a16:colId xmlns:a16="http://schemas.microsoft.com/office/drawing/2014/main" val="20000"/>
                    </a:ext>
                  </a:extLst>
                </a:gridCol>
                <a:gridCol w="3394842">
                  <a:extLst>
                    <a:ext uri="{9D8B030D-6E8A-4147-A177-3AD203B41FA5}">
                      <a16:colId xmlns:a16="http://schemas.microsoft.com/office/drawing/2014/main" val="20001"/>
                    </a:ext>
                  </a:extLst>
                </a:gridCol>
                <a:gridCol w="4985333">
                  <a:extLst>
                    <a:ext uri="{9D8B030D-6E8A-4147-A177-3AD203B41FA5}">
                      <a16:colId xmlns:a16="http://schemas.microsoft.com/office/drawing/2014/main" val="20002"/>
                    </a:ext>
                  </a:extLst>
                </a:gridCol>
              </a:tblGrid>
              <a:tr h="263131">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117475" indent="0" algn="l"/>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Capital Sources</a:t>
                      </a:r>
                      <a:endPar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a:noFill/>
                    </a:lnL>
                    <a:lnR>
                      <a:noFill/>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tx1"/>
                          </a:solidFill>
                          <a:latin typeface="Arial"/>
                        </a:defRPr>
                      </a:lvl1pPr>
                      <a:lvl2pPr marL="457200" algn="l" defTabSz="914400" rtl="0" eaLnBrk="1" latinLnBrk="0" hangingPunct="1">
                        <a:defRPr sz="1800" b="1" kern="1200">
                          <a:solidFill>
                            <a:schemeClr val="tx1"/>
                          </a:solidFill>
                          <a:latin typeface="Arial"/>
                        </a:defRPr>
                      </a:lvl2pPr>
                      <a:lvl3pPr marL="914400" algn="l" defTabSz="914400" rtl="0" eaLnBrk="1" latinLnBrk="0" hangingPunct="1">
                        <a:defRPr sz="1800" b="1" kern="1200">
                          <a:solidFill>
                            <a:schemeClr val="tx1"/>
                          </a:solidFill>
                          <a:latin typeface="Arial"/>
                        </a:defRPr>
                      </a:lvl3pPr>
                      <a:lvl4pPr marL="1371600" algn="l" defTabSz="914400" rtl="0" eaLnBrk="1" latinLnBrk="0" hangingPunct="1">
                        <a:defRPr sz="1800" b="1" kern="1200">
                          <a:solidFill>
                            <a:schemeClr val="tx1"/>
                          </a:solidFill>
                          <a:latin typeface="Arial"/>
                        </a:defRPr>
                      </a:lvl4pPr>
                      <a:lvl5pPr marL="1828800" algn="l" defTabSz="914400" rtl="0" eaLnBrk="1" latinLnBrk="0" hangingPunct="1">
                        <a:defRPr sz="1800" b="1" kern="1200">
                          <a:solidFill>
                            <a:schemeClr val="tx1"/>
                          </a:solidFill>
                          <a:latin typeface="Arial"/>
                        </a:defRPr>
                      </a:lvl5pPr>
                      <a:lvl6pPr marL="2286000" algn="l" defTabSz="914400" rtl="0" eaLnBrk="1" latinLnBrk="0" hangingPunct="1">
                        <a:defRPr sz="1800" b="1" kern="1200">
                          <a:solidFill>
                            <a:schemeClr val="tx1"/>
                          </a:solidFill>
                          <a:latin typeface="Arial"/>
                        </a:defRPr>
                      </a:lvl6pPr>
                      <a:lvl7pPr marL="2743200" algn="l" defTabSz="914400" rtl="0" eaLnBrk="1" latinLnBrk="0" hangingPunct="1">
                        <a:defRPr sz="1800" b="1" kern="1200">
                          <a:solidFill>
                            <a:schemeClr val="tx1"/>
                          </a:solidFill>
                          <a:latin typeface="Arial"/>
                        </a:defRPr>
                      </a:lvl7pPr>
                      <a:lvl8pPr marL="3200400" algn="l" defTabSz="914400" rtl="0" eaLnBrk="1" latinLnBrk="0" hangingPunct="1">
                        <a:defRPr sz="1800" b="1" kern="1200">
                          <a:solidFill>
                            <a:schemeClr val="tx1"/>
                          </a:solidFill>
                          <a:latin typeface="Arial"/>
                        </a:defRPr>
                      </a:lvl8pPr>
                      <a:lvl9pPr marL="3657600" algn="l" defTabSz="914400" rtl="0" eaLnBrk="1" latinLnBrk="0" hangingPunct="1">
                        <a:defRPr sz="1800" b="1" kern="1200">
                          <a:solidFill>
                            <a:schemeClr val="tx1"/>
                          </a:solidFill>
                          <a:latin typeface="Arial"/>
                        </a:defRPr>
                      </a:lvl9pPr>
                    </a:lstStyle>
                    <a:p>
                      <a:pPr marL="236538" indent="0" algn="ct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Funding</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Provider</a:t>
                      </a:r>
                      <a:endPar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a:noFill/>
                    </a:lnL>
                    <a:lnR>
                      <a:noFill/>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6538" indent="0" algn="ctr"/>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Deloitte Insight</a:t>
                      </a:r>
                    </a:p>
                  </a:txBody>
                  <a:tcPr>
                    <a:lnL>
                      <a:noFill/>
                    </a:lnL>
                    <a:lnR>
                      <a:noFill/>
                    </a:lnR>
                    <a:lnT w="12700" cap="flat" cmpd="sng" algn="ctr">
                      <a:solidFill>
                        <a:schemeClr val="accent1">
                          <a:lumMod val="50000"/>
                        </a:schemeClr>
                      </a:solidFill>
                      <a:prstDash val="solid"/>
                      <a:round/>
                      <a:headEnd type="none" w="med" len="med"/>
                      <a:tailEnd type="none" w="med" len="med"/>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9469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7475" indent="0" algn="l"/>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Equity:</a:t>
                      </a:r>
                      <a:endPar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a:noFill/>
                    </a:lnL>
                    <a:lnR>
                      <a:noFill/>
                    </a:lnR>
                    <a:lnT w="12700" cap="flat" cmpd="sng" algn="ctr">
                      <a:solidFill>
                        <a:schemeClr val="accent1">
                          <a:lumMod val="50000"/>
                        </a:schemeClr>
                      </a:solidFill>
                      <a:prstDash val="solid"/>
                      <a:round/>
                      <a:headEnd type="none" w="med" len="med"/>
                      <a:tailEnd type="none" w="med" len="med"/>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20650" marR="0" lvl="1" indent="-117475" algn="just" defTabSz="914400" rtl="0" eaLnBrk="1" fontAlgn="auto" latinLnBrk="0" hangingPunct="1">
                        <a:lnSpc>
                          <a:spcPct val="100000"/>
                        </a:lnSpc>
                        <a:spcBef>
                          <a:spcPts val="300"/>
                        </a:spcBef>
                        <a:spcAft>
                          <a:spcPts val="0"/>
                        </a:spcAft>
                        <a:buClrTx/>
                        <a:buSzPct val="65000"/>
                        <a:buFont typeface="Arial" panose="020B0604020202020204" pitchFamily="34" charset="0"/>
                        <a:buChar char="•"/>
                        <a:tabLst>
                          <a:tab pos="53975" algn="l"/>
                        </a:tabLst>
                        <a:defRPr/>
                      </a:pP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Equity stake from promoter, operator and based on the SPV structure - stake from AAI/other Govt. agency</a:t>
                      </a:r>
                    </a:p>
                  </a:txBody>
                  <a:tcPr>
                    <a:lnL>
                      <a:noFill/>
                    </a:lnL>
                    <a:lnR>
                      <a:noFill/>
                    </a:lnR>
                    <a:lnT w="12700" cap="flat" cmpd="sng" algn="ctr">
                      <a:solidFill>
                        <a:schemeClr val="accent1">
                          <a:lumMod val="50000"/>
                        </a:schemeClr>
                      </a:solidFill>
                      <a:prstDash val="solid"/>
                      <a:round/>
                      <a:headEnd type="none" w="med" len="med"/>
                      <a:tailEnd type="none" w="med" len="med"/>
                    </a:lnT>
                    <a:lnB>
                      <a:noFill/>
                    </a:lnB>
                    <a:lnTlToBr w="12700" cmpd="sng">
                      <a:noFill/>
                      <a:prstDash val="solid"/>
                    </a:lnTlToBr>
                    <a:lnBlToTr w="12700" cmpd="sng">
                      <a:noFill/>
                      <a:prstDash val="solid"/>
                    </a:lnBlToTr>
                    <a:solidFill>
                      <a:sysClr val="window" lastClr="FFFFFF"/>
                    </a:solidFill>
                  </a:tcPr>
                </a:tc>
                <a:tc>
                  <a:txBody>
                    <a:bodyPr/>
                    <a:lstStyle/>
                    <a:p>
                      <a:pPr marL="171450" marR="0" lvl="1" indent="-171450" algn="l" defTabSz="914400" rtl="0" eaLnBrk="1" fontAlgn="auto" latinLnBrk="0" hangingPunct="1">
                        <a:lnSpc>
                          <a:spcPct val="100000"/>
                        </a:lnSpc>
                        <a:spcBef>
                          <a:spcPts val="300"/>
                        </a:spcBef>
                        <a:spcAft>
                          <a:spcPts val="0"/>
                        </a:spcAft>
                        <a:buClrTx/>
                        <a:buSzPct val="65000"/>
                        <a:buFont typeface="Arial" panose="020B0604020202020204" pitchFamily="34" charset="0"/>
                        <a:buChar char="•"/>
                        <a:tabLst/>
                        <a:defRPr/>
                      </a:pP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Return on equity considered by AERA is in the range of 14% -16%</a:t>
                      </a:r>
                    </a:p>
                  </a:txBody>
                  <a:tcPr>
                    <a:lnL>
                      <a:noFill/>
                    </a:lnL>
                    <a:lnR>
                      <a:noFill/>
                    </a:lnR>
                    <a:lnT w="12700" cap="flat" cmpd="sng" algn="ctr">
                      <a:solidFill>
                        <a:schemeClr val="accent1">
                          <a:lumMod val="50000"/>
                        </a:schemeClr>
                      </a:solidFill>
                      <a:prstDash val="solid"/>
                      <a:round/>
                      <a:headEnd type="none" w="med" len="med"/>
                      <a:tailEnd type="none" w="med" len="med"/>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68975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7475" indent="0" algn="l"/>
                      <a:r>
                        <a:rPr lang="en-US" sz="1200" b="1" kern="1200" dirty="0">
                          <a:solidFill>
                            <a:schemeClr val="tx1"/>
                          </a:solidFill>
                          <a:latin typeface="Verdana" panose="020B0604030504040204" pitchFamily="34" charset="0"/>
                          <a:ea typeface="Verdana" panose="020B0604030504040204" pitchFamily="34" charset="0"/>
                          <a:cs typeface="Verdana" panose="020B0604030504040204" pitchFamily="34" charset="0"/>
                        </a:rPr>
                        <a:t>Debt:</a:t>
                      </a:r>
                      <a:r>
                        <a:rPr lang="en-US" sz="1200" b="1" kern="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20650" lvl="1" indent="-117475" algn="just">
                        <a:spcBef>
                          <a:spcPts val="300"/>
                        </a:spcBef>
                        <a:buSzPct val="65000"/>
                        <a:buFont typeface="Arial" panose="020B0604020202020204" pitchFamily="34" charset="0"/>
                        <a:buChar char="•"/>
                      </a:pPr>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External</a:t>
                      </a:r>
                      <a:r>
                        <a:rPr lang="en-US" sz="1200" b="1" baseline="0" dirty="0">
                          <a:solidFill>
                            <a:schemeClr val="tx1"/>
                          </a:solidFill>
                          <a:latin typeface="Verdana" panose="020B0604030504040204" pitchFamily="34" charset="0"/>
                          <a:ea typeface="Verdana" panose="020B0604030504040204" pitchFamily="34" charset="0"/>
                          <a:cs typeface="Verdana" panose="020B0604030504040204" pitchFamily="34" charset="0"/>
                        </a:rPr>
                        <a:t> Commercial Borrowing</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 Borrowings from foreign markets</a:t>
                      </a:r>
                    </a:p>
                    <a:p>
                      <a:pPr marL="120650" lvl="1" indent="-117475" algn="just">
                        <a:spcBef>
                          <a:spcPts val="300"/>
                        </a:spcBef>
                        <a:buSzPct val="65000"/>
                        <a:buFont typeface="Arial" panose="020B0604020202020204" pitchFamily="34" charset="0"/>
                        <a:buChar char="•"/>
                      </a:pPr>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Long Term Debt:  </a:t>
                      </a:r>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from Commercial banks and Financial Institutions.</a:t>
                      </a: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tc>
                  <a:txBody>
                    <a:bodyPr/>
                    <a:lstStyle/>
                    <a:p>
                      <a:pPr marL="171450" lvl="1" indent="-171450" algn="just">
                        <a:spcBef>
                          <a:spcPts val="300"/>
                        </a:spcBef>
                        <a:buSzPct val="65000"/>
                        <a:buFont typeface="Arial" panose="020B0604020202020204"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LIBOR linked with certain amount spread. Government does not permit airports in India to cover forex losses through UDF. However with the costs attached to hedging, its important to employ suitable hedging options. Natural Hedge: Airports with large international traffic have large revenues in dollars ($). </a:t>
                      </a:r>
                    </a:p>
                    <a:p>
                      <a:pPr marL="171450" lvl="1" indent="-171450" algn="just">
                        <a:spcBef>
                          <a:spcPts val="300"/>
                        </a:spcBef>
                        <a:buSzPct val="65000"/>
                        <a:buFont typeface="Arial" panose="020B0604020202020204"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Fixed/floater interest rate loans</a:t>
                      </a:r>
                    </a:p>
                  </a:txBody>
                  <a:tcPr>
                    <a:lnL>
                      <a:noFill/>
                    </a:lnL>
                    <a:lnR>
                      <a:noFill/>
                    </a:lnR>
                    <a:lnT>
                      <a:noFill/>
                    </a:lnT>
                    <a:lnB>
                      <a:no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121698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17475" indent="0" algn="l"/>
                      <a:r>
                        <a:rPr lang="en-US" sz="1200" b="1" kern="1200" dirty="0">
                          <a:solidFill>
                            <a:schemeClr val="tx1"/>
                          </a:solidFill>
                          <a:latin typeface="Verdana" panose="020B0604030504040204" pitchFamily="34" charset="0"/>
                          <a:ea typeface="Verdana" panose="020B0604030504040204" pitchFamily="34" charset="0"/>
                          <a:cs typeface="Verdana" panose="020B0604030504040204" pitchFamily="34" charset="0"/>
                        </a:rPr>
                        <a:t>Other Finances</a:t>
                      </a:r>
                    </a:p>
                  </a:txBody>
                  <a:tcPr>
                    <a:lnL>
                      <a:noFill/>
                    </a:lnL>
                    <a:lnR>
                      <a:noFill/>
                    </a:lnR>
                    <a:lnT>
                      <a:noFill/>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120650" lvl="1" indent="-117475" algn="just">
                        <a:spcBef>
                          <a:spcPts val="300"/>
                        </a:spcBef>
                        <a:buSzPct val="65000"/>
                        <a:buFont typeface="Arial" panose="020B0604020202020204" pitchFamily="34" charset="0"/>
                        <a:buChar char="•"/>
                      </a:pPr>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Airport Development Fund (ADF)</a:t>
                      </a:r>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b="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Last resort financing where money is collected directly from</a:t>
                      </a:r>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passengers, after approval of AERA. However, given the scrutiny surrounded</a:t>
                      </a:r>
                      <a:r>
                        <a:rPr lang="en-US" sz="1200" b="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around this charge, it is unlikely that the airport operators will be permitted ADF in future.</a:t>
                      </a:r>
                      <a:endPar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120650" lvl="1" indent="-117475" algn="just">
                        <a:spcBef>
                          <a:spcPts val="300"/>
                        </a:spcBef>
                        <a:buSzPct val="65000"/>
                        <a:buFont typeface="Arial" panose="020B0604020202020204" pitchFamily="34" charset="0"/>
                        <a:buChar char="•"/>
                      </a:pPr>
                      <a:r>
                        <a:rPr lang="en-US" sz="1200" b="1" dirty="0">
                          <a:solidFill>
                            <a:schemeClr val="tx1"/>
                          </a:solidFill>
                          <a:latin typeface="Verdana" panose="020B0604030504040204" pitchFamily="34" charset="0"/>
                          <a:ea typeface="Verdana" panose="020B0604030504040204" pitchFamily="34" charset="0"/>
                          <a:cs typeface="Verdana" panose="020B0604030504040204" pitchFamily="34" charset="0"/>
                        </a:rPr>
                        <a:t>Land</a:t>
                      </a:r>
                      <a:r>
                        <a:rPr lang="en-US" sz="1200" b="1" baseline="0" dirty="0">
                          <a:solidFill>
                            <a:schemeClr val="tx1"/>
                          </a:solidFill>
                          <a:latin typeface="Verdana" panose="020B0604030504040204" pitchFamily="34" charset="0"/>
                          <a:ea typeface="Verdana" panose="020B0604030504040204" pitchFamily="34" charset="0"/>
                          <a:cs typeface="Verdana" panose="020B0604030504040204" pitchFamily="34" charset="0"/>
                        </a:rPr>
                        <a:t> Monetization</a:t>
                      </a:r>
                      <a:r>
                        <a:rPr lang="en-US" sz="1200" b="0" baseline="0" dirty="0">
                          <a:solidFill>
                            <a:schemeClr val="tx1"/>
                          </a:solidFill>
                          <a:latin typeface="Verdana" panose="020B0604030504040204" pitchFamily="34" charset="0"/>
                          <a:ea typeface="Verdana" panose="020B0604030504040204" pitchFamily="34" charset="0"/>
                          <a:cs typeface="Verdana" panose="020B0604030504040204" pitchFamily="34" charset="0"/>
                        </a:rPr>
                        <a:t>:</a:t>
                      </a:r>
                      <a:r>
                        <a:rPr lang="en-US" sz="1200" b="1"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b="0" baseline="0" dirty="0">
                          <a:solidFill>
                            <a:schemeClr val="tx1"/>
                          </a:solidFill>
                          <a:latin typeface="Verdana" panose="020B0604030504040204" pitchFamily="34" charset="0"/>
                          <a:ea typeface="Verdana" panose="020B0604030504040204" pitchFamily="34" charset="0"/>
                          <a:cs typeface="Verdana" panose="020B0604030504040204" pitchFamily="34" charset="0"/>
                        </a:rPr>
                        <a:t>D</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eposits or upfront payment from concessionaires against land</a:t>
                      </a:r>
                      <a:endPar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a:lnL>
                      <a:noFill/>
                    </a:lnL>
                    <a:lnR>
                      <a:noFill/>
                    </a:lnR>
                    <a:lnT>
                      <a:noFill/>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171450" lvl="1" indent="-171450" algn="just">
                        <a:spcBef>
                          <a:spcPts val="300"/>
                        </a:spcBef>
                        <a:buSzPct val="65000"/>
                        <a:buFont typeface="Arial" panose="020B0604020202020204"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No return</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on ADF funding used in the project; does not form part of regulatory asset base. Deloitte has a stated advantage of having assessed the impact of DF funding on WACC ~ for DIAL and MIAL. The airport can securitize future cash flows from DF collections.</a:t>
                      </a:r>
                    </a:p>
                    <a:p>
                      <a:pPr marL="171450" lvl="1" indent="-171450" algn="just">
                        <a:spcBef>
                          <a:spcPts val="300"/>
                        </a:spcBef>
                        <a:buSzPct val="65000"/>
                        <a:buFont typeface="Arial" panose="020B0604020202020204" pitchFamily="34" charset="0"/>
                        <a:buChar char="•"/>
                      </a:pP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For deposits raised against land, cost of financing is considered at the rate which airport has to pay interest on the deposits. Deloitte has an in-depth understanding of the land monetization challenges from a concession and regulatory perspective.</a:t>
                      </a:r>
                    </a:p>
                  </a:txBody>
                  <a:tcPr>
                    <a:lnL>
                      <a:noFill/>
                    </a:lnL>
                    <a:lnR>
                      <a:noFill/>
                    </a:lnR>
                    <a:lnT>
                      <a:noFill/>
                    </a:lnT>
                    <a:lnB w="1270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3029710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8" name="Rectangle 7"/>
          <p:cNvSpPr/>
          <p:nvPr/>
        </p:nvSpPr>
        <p:spPr>
          <a:xfrm>
            <a:off x="264053" y="1067799"/>
            <a:ext cx="7518594" cy="5692712"/>
          </a:xfrm>
          <a:prstGeom prst="rect">
            <a:avLst/>
          </a:prstGeom>
        </p:spPr>
        <p:txBody>
          <a:bodyPr wrap="square">
            <a:spAutoFit/>
          </a:bodyPr>
          <a:lstStyle/>
          <a:p>
            <a:pPr algn="just">
              <a:lnSpc>
                <a:spcPct val="107000"/>
              </a:lnSpc>
            </a:pPr>
            <a:r>
              <a:rPr lang="en-GB" sz="1200" b="1" dirty="0">
                <a:solidFill>
                  <a:srgbClr val="002776"/>
                </a:solidFill>
                <a:latin typeface="Verdana" panose="020B0604030504040204" pitchFamily="34" charset="0"/>
                <a:ea typeface="Verdana" panose="020B0604030504040204" pitchFamily="34" charset="0"/>
                <a:cs typeface="Verdana" panose="020B0604030504040204" pitchFamily="34" charset="0"/>
              </a:rPr>
              <a:t>1. Financial Structuring and debt syndication to private sector developers for road PPP projects </a:t>
            </a:r>
          </a:p>
          <a:p>
            <a:pPr algn="just">
              <a:lnSpc>
                <a:spcPct val="107000"/>
              </a:lnSpc>
              <a:spcAft>
                <a:spcPts val="800"/>
              </a:spcAft>
            </a:pPr>
            <a:r>
              <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rPr>
              <a:t>The team has advised a number of private sector developers in financial structuring for PPP projects including assessment of various sources of financing, analysing cost of financing for various sources, </a:t>
            </a: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analysis of project financial risks</a:t>
            </a:r>
            <a:r>
              <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rPr>
              <a:t> etc. For these The team also assisted the developers in debt syndication for such projects and heled them in achieving financial close for such projects.</a:t>
            </a:r>
          </a:p>
          <a:p>
            <a:pPr algn="just">
              <a:lnSpc>
                <a:spcPct val="107000"/>
              </a:lnSpc>
            </a:pPr>
            <a:r>
              <a:rPr lang="en-GB" sz="1200" b="1" dirty="0">
                <a:solidFill>
                  <a:srgbClr val="002776"/>
                </a:solidFill>
                <a:latin typeface="Verdana" panose="020B0604030504040204" pitchFamily="34" charset="0"/>
                <a:ea typeface="Verdana" panose="020B0604030504040204" pitchFamily="34" charset="0"/>
                <a:cs typeface="Verdana" panose="020B0604030504040204" pitchFamily="34" charset="0"/>
              </a:rPr>
              <a:t>2. Cross Border Acquisition/ Equity Deals for Various Companies</a:t>
            </a:r>
          </a:p>
          <a:p>
            <a:r>
              <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rPr>
              <a:t>The team has supported clients in development of financial model to analyse financial attractiveness to the investor, structuring the financial transaction  and supporting the client in undertaking negotiations for these deals.</a:t>
            </a:r>
          </a:p>
          <a:p>
            <a:endParaRPr lang="en-US" altLang="en-US" sz="1200" b="1" dirty="0">
              <a:solidFill>
                <a:srgbClr val="002776"/>
              </a:solidFill>
              <a:latin typeface="Verdana" panose="020B0604030504040204" pitchFamily="34" charset="0"/>
              <a:ea typeface="Verdana" panose="020B0604030504040204" pitchFamily="34" charset="0"/>
              <a:cs typeface="Verdana" panose="020B0604030504040204" pitchFamily="34" charset="0"/>
            </a:endParaRPr>
          </a:p>
          <a:p>
            <a:r>
              <a:rPr lang="en-US" altLang="en-US" sz="1200" b="1" dirty="0">
                <a:solidFill>
                  <a:srgbClr val="002776"/>
                </a:solidFill>
                <a:latin typeface="Verdana" panose="020B0604030504040204" pitchFamily="34" charset="0"/>
                <a:ea typeface="Verdana" panose="020B0604030504040204" pitchFamily="34" charset="0"/>
                <a:cs typeface="Verdana" panose="020B0604030504040204" pitchFamily="34" charset="0"/>
              </a:rPr>
              <a:t>3. </a:t>
            </a:r>
            <a:r>
              <a:rPr lang="en-GB" altLang="en-US" sz="1200" b="1" dirty="0">
                <a:solidFill>
                  <a:srgbClr val="002776"/>
                </a:solidFill>
                <a:latin typeface="Verdana" panose="020B0604030504040204" pitchFamily="34" charset="0"/>
                <a:ea typeface="Verdana" panose="020B0604030504040204" pitchFamily="34" charset="0"/>
                <a:cs typeface="Verdana" panose="020B0604030504040204" pitchFamily="34" charset="0"/>
              </a:rPr>
              <a:t>Conceptualization of Road Funds for development of High Density Corridors using PPP </a:t>
            </a:r>
            <a:endParaRPr lang="en-US" altLang="en-US" sz="1200" b="1" dirty="0">
              <a:solidFill>
                <a:srgbClr val="002776"/>
              </a:solidFill>
              <a:latin typeface="Verdana" panose="020B0604030504040204" pitchFamily="34" charset="0"/>
              <a:ea typeface="Verdana" panose="020B0604030504040204" pitchFamily="34" charset="0"/>
              <a:cs typeface="Verdana" panose="020B0604030504040204" pitchFamily="34" charset="0"/>
            </a:endParaRPr>
          </a:p>
          <a:p>
            <a:r>
              <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rPr>
              <a:t>Engagements included conceptualization and design of Road Funds for meeting the requirements of Viability Gap Funding, evaluation of various funding options and analysis of  each option to recommend the optimal financing option</a:t>
            </a:r>
          </a:p>
          <a:p>
            <a:endPar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pPr algn="just">
              <a:lnSpc>
                <a:spcPct val="107000"/>
              </a:lnSpc>
            </a:pPr>
            <a:r>
              <a:rPr lang="en-GB" sz="1200" b="1" dirty="0">
                <a:solidFill>
                  <a:srgbClr val="002776"/>
                </a:solidFill>
                <a:latin typeface="Verdana" panose="020B0604030504040204" pitchFamily="34" charset="0"/>
                <a:ea typeface="Verdana" panose="020B0604030504040204" pitchFamily="34" charset="0"/>
                <a:cs typeface="Verdana" panose="020B0604030504040204" pitchFamily="34" charset="0"/>
              </a:rPr>
              <a:t>4. Assistance to NHAI in Rs. 10,000 Cr Tax-Free Bonds Issue</a:t>
            </a:r>
            <a:endParaRPr lang="en-US" sz="1200" b="1" dirty="0">
              <a:solidFill>
                <a:srgbClr val="002776"/>
              </a:solidFill>
              <a:latin typeface="Verdana" panose="020B0604030504040204" pitchFamily="34" charset="0"/>
              <a:ea typeface="Verdana" panose="020B0604030504040204" pitchFamily="34" charset="0"/>
              <a:cs typeface="Verdana" panose="020B0604030504040204" pitchFamily="34" charset="0"/>
            </a:endParaRPr>
          </a:p>
          <a:p>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The team advised NHAI in </a:t>
            </a:r>
            <a:r>
              <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rPr>
              <a:t>evaluation of sources of funds, including private financing, domestic borrowing, and multilateral financing. Further the team also provided inputs in drafting the Shelf Prospectus and inputs for obtaining credit rating for issuance of Bonds.</a:t>
            </a:r>
            <a:r>
              <a:rPr lang="en-GB" sz="1200" b="1" dirty="0">
                <a:solidFill>
                  <a:srgbClr val="002776"/>
                </a:solidFill>
                <a:latin typeface="Verdana" panose="020B0604030504040204" pitchFamily="34" charset="0"/>
                <a:ea typeface="Verdana" panose="020B0604030504040204" pitchFamily="34" charset="0"/>
                <a:cs typeface="Verdana" panose="020B0604030504040204" pitchFamily="34" charset="0"/>
              </a:rPr>
              <a:t> </a:t>
            </a:r>
          </a:p>
          <a:p>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pPr algn="just">
              <a:lnSpc>
                <a:spcPct val="107000"/>
              </a:lnSpc>
            </a:pPr>
            <a:r>
              <a:rPr lang="en-GB" sz="1200" b="1" dirty="0">
                <a:solidFill>
                  <a:srgbClr val="002776"/>
                </a:solidFill>
                <a:latin typeface="Verdana" panose="020B0604030504040204" pitchFamily="34" charset="0"/>
                <a:ea typeface="Verdana" panose="020B0604030504040204" pitchFamily="34" charset="0"/>
                <a:cs typeface="Verdana" panose="020B0604030504040204" pitchFamily="34" charset="0"/>
              </a:rPr>
              <a:t>5. </a:t>
            </a:r>
            <a:r>
              <a:rPr lang="en-US" sz="1200" b="1" dirty="0">
                <a:solidFill>
                  <a:srgbClr val="002776"/>
                </a:solidFill>
                <a:latin typeface="Verdana" panose="020B0604030504040204" pitchFamily="34" charset="0"/>
                <a:ea typeface="Verdana" panose="020B0604030504040204" pitchFamily="34" charset="0"/>
                <a:cs typeface="Verdana" panose="020B0604030504040204" pitchFamily="34" charset="0"/>
              </a:rPr>
              <a:t>Transaction Advisory Services for multiple airports in Philippines under Public-Private Partnership</a:t>
            </a:r>
          </a:p>
          <a:p>
            <a:pPr algn="just"/>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Under this engagement, the team assisted the client in preparation of business case to assess viability of concessionaire airports in the country. Under this study, the team assessed the possible financing plan which the private sector may evaluate to adopt for implementing the projects</a:t>
            </a:r>
            <a:r>
              <a:rPr lang="en-GB" sz="1200" dirty="0">
                <a:solidFill>
                  <a:srgbClr val="000000"/>
                </a:solidFill>
                <a:latin typeface="Verdana" panose="020B0604030504040204" pitchFamily="34" charset="0"/>
                <a:ea typeface="Verdana" panose="020B0604030504040204" pitchFamily="34" charset="0"/>
                <a:cs typeface="Verdana" panose="020B0604030504040204" pitchFamily="34" charset="0"/>
              </a:rPr>
              <a:t>.</a:t>
            </a:r>
          </a:p>
        </p:txBody>
      </p:sp>
      <p:sp>
        <p:nvSpPr>
          <p:cNvPr id="9" name="Text Placeholder 1"/>
          <p:cNvSpPr txBox="1">
            <a:spLocks/>
          </p:cNvSpPr>
          <p:nvPr/>
        </p:nvSpPr>
        <p:spPr>
          <a:xfrm>
            <a:off x="296924" y="875706"/>
            <a:ext cx="10764053" cy="808131"/>
          </a:xfrm>
          <a:prstGeom prst="rect">
            <a:avLst/>
          </a:prstGeom>
        </p:spPr>
        <p:txBody>
          <a:bodyPr vert="horz" lIns="0" tIns="0" rIns="0" bIns="0" rtlCol="0">
            <a:normAutofit/>
          </a:bodyPr>
          <a:lstStyle>
            <a:lvl1pPr marL="0" indent="0" algn="l" defTabSz="914400" rtl="0" eaLnBrk="1" latinLnBrk="0" hangingPunct="1">
              <a:spcBef>
                <a:spcPts val="1200"/>
              </a:spcBef>
              <a:buFont typeface="Arial" pitchFamily="34" charset="0"/>
              <a:buNone/>
              <a:defRPr sz="3000" b="0" kern="1200">
                <a:solidFill>
                  <a:srgbClr val="575757"/>
                </a:solidFill>
                <a:latin typeface="+mn-lt"/>
                <a:ea typeface="+mn-ea"/>
                <a:cs typeface="+mn-cs"/>
              </a:defRPr>
            </a:lvl1pPr>
            <a:lvl2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3pPr>
            <a:lvl4pPr marL="447675" indent="-180975"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endParaRPr lang="en-US" sz="2000" dirty="0">
              <a:latin typeface="Cambria" panose="02040503050406030204" pitchFamily="18" charset="0"/>
            </a:endParaRPr>
          </a:p>
        </p:txBody>
      </p:sp>
      <p:graphicFrame>
        <p:nvGraphicFramePr>
          <p:cNvPr id="12" name="Table 11"/>
          <p:cNvGraphicFramePr>
            <a:graphicFrameLocks noGrp="1"/>
          </p:cNvGraphicFramePr>
          <p:nvPr/>
        </p:nvGraphicFramePr>
        <p:xfrm>
          <a:off x="7890447" y="1166096"/>
          <a:ext cx="2476183" cy="2286000"/>
        </p:xfrm>
        <a:graphic>
          <a:graphicData uri="http://schemas.openxmlformats.org/drawingml/2006/table">
            <a:tbl>
              <a:tblPr firstRow="1" bandRow="1">
                <a:tableStyleId>{5FD0F851-EC5A-4D38-B0AD-8093EC10F338}</a:tableStyleId>
              </a:tblPr>
              <a:tblGrid>
                <a:gridCol w="2476183">
                  <a:extLst>
                    <a:ext uri="{9D8B030D-6E8A-4147-A177-3AD203B41FA5}">
                      <a16:colId xmlns:a16="http://schemas.microsoft.com/office/drawing/2014/main" val="20000"/>
                    </a:ext>
                  </a:extLst>
                </a:gridCol>
              </a:tblGrid>
              <a:tr h="223696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600" b="0" u="none" strike="noStrike" kern="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The team has extensive experience of advising private sector sponsors and Government Authorities in financial structuring, fund raising, financial planning etc.</a:t>
                      </a:r>
                      <a:endParaRPr kumimoji="0" lang="en-US" sz="1600" b="0" i="1" u="none" strike="noStrike" kern="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a:tc>
                <a:extLst>
                  <a:ext uri="{0D108BD9-81ED-4DB2-BD59-A6C34878D82A}">
                    <a16:rowId xmlns:a16="http://schemas.microsoft.com/office/drawing/2014/main" val="10000"/>
                  </a:ext>
                </a:extLst>
              </a:tr>
            </a:tbl>
          </a:graphicData>
        </a:graphic>
      </p:graphicFrame>
      <p:sp>
        <p:nvSpPr>
          <p:cNvPr id="16" name="Rectangle 15"/>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Required advisory assistance: financing structure / funding options</a:t>
            </a:r>
          </a:p>
        </p:txBody>
      </p:sp>
      <p:cxnSp>
        <p:nvCxnSpPr>
          <p:cNvPr id="17" name="Straight Connector 1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63396" y="331644"/>
            <a:ext cx="10103234" cy="461665"/>
          </a:xfrm>
          <a:prstGeom prst="rect">
            <a:avLst/>
          </a:prstGeom>
        </p:spPr>
        <p:txBody>
          <a:bodyPr wrap="square">
            <a:spAutoFit/>
          </a:bodyPr>
          <a:lstStyle/>
          <a:p>
            <a:r>
              <a:rPr lang="en-US" sz="2400" dirty="0"/>
              <a:t>Our Experience: Finalizing financing structures and fund raising</a:t>
            </a:r>
          </a:p>
        </p:txBody>
      </p:sp>
    </p:spTree>
    <p:extLst>
      <p:ext uri="{BB962C8B-B14F-4D97-AF65-F5344CB8AC3E}">
        <p14:creationId xmlns:p14="http://schemas.microsoft.com/office/powerpoint/2010/main" val="76648604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015105" y="3166150"/>
            <a:ext cx="8349253" cy="922906"/>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Review of projected expense schedule for the airport prepared by the technical consultants</a:t>
            </a:r>
          </a:p>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Benchmark various cost elements vis-à-vis other comparable airports in India</a:t>
            </a:r>
          </a:p>
        </p:txBody>
      </p:sp>
      <p:sp>
        <p:nvSpPr>
          <p:cNvPr id="8" name="Rectangle 7"/>
          <p:cNvSpPr/>
          <p:nvPr/>
        </p:nvSpPr>
        <p:spPr>
          <a:xfrm>
            <a:off x="450202" y="3664635"/>
            <a:ext cx="1323366" cy="1643527"/>
          </a:xfrm>
          <a:prstGeom prst="rect">
            <a:avLst/>
          </a:prstGeom>
        </p:spPr>
        <p:txBody>
          <a:bodyPr wrap="square">
            <a:spAutoFit/>
          </a:bodyPr>
          <a:lstStyle/>
          <a:p>
            <a:pPr marL="0" lvl="1" defTabSz="957263" fontAlgn="base">
              <a:lnSpc>
                <a:spcPct val="90000"/>
              </a:lnSpc>
              <a:spcBef>
                <a:spcPts val="400"/>
              </a:spcBef>
              <a:defRPr/>
            </a:pPr>
            <a:r>
              <a:rPr lang="en-US" sz="1400" dirty="0">
                <a:latin typeface="Verdana" panose="020B0604030504040204" pitchFamily="34" charset="0"/>
                <a:ea typeface="Verdana" panose="020B0604030504040204" pitchFamily="34" charset="0"/>
                <a:cs typeface="Verdana" panose="020B0604030504040204" pitchFamily="34" charset="0"/>
              </a:rPr>
              <a:t>O&amp;M costs can have huge impact on viability and hence an assessment is critical</a:t>
            </a:r>
            <a:endParaRPr lang="en-US" sz="1400" i="1" dirty="0">
              <a:latin typeface="Verdana" panose="020B0604030504040204" pitchFamily="34" charset="0"/>
              <a:ea typeface="Verdana" panose="020B0604030504040204" pitchFamily="34" charset="0"/>
              <a:cs typeface="Verdana" panose="020B0604030504040204" pitchFamily="34" charset="0"/>
            </a:endParaRPr>
          </a:p>
        </p:txBody>
      </p:sp>
      <p:sp>
        <p:nvSpPr>
          <p:cNvPr id="9" name="Left Brace 8"/>
          <p:cNvSpPr/>
          <p:nvPr/>
        </p:nvSpPr>
        <p:spPr>
          <a:xfrm>
            <a:off x="1669226" y="2700905"/>
            <a:ext cx="337971" cy="3367914"/>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9"/>
          <p:cNvSpPr/>
          <p:nvPr/>
        </p:nvSpPr>
        <p:spPr>
          <a:xfrm>
            <a:off x="2015107" y="2941540"/>
            <a:ext cx="8341342" cy="230531"/>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4763"/>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Cost of Operations</a:t>
            </a:r>
          </a:p>
        </p:txBody>
      </p:sp>
      <p:sp>
        <p:nvSpPr>
          <p:cNvPr id="12" name="Rounded Rectangle 11"/>
          <p:cNvSpPr/>
          <p:nvPr/>
        </p:nvSpPr>
        <p:spPr>
          <a:xfrm>
            <a:off x="2017378" y="4817954"/>
            <a:ext cx="8349252" cy="1250865"/>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around ability of the Concessionaire to novate / terminate existing contracts</a:t>
            </a:r>
          </a:p>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around mandatory requirements around transfer of employees</a:t>
            </a:r>
          </a:p>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around Minimum Performance Standards and Specification and corresponding impact on the costs</a:t>
            </a:r>
          </a:p>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around mandatory consents / approvals / insurances etc.</a:t>
            </a:r>
          </a:p>
        </p:txBody>
      </p:sp>
      <p:sp>
        <p:nvSpPr>
          <p:cNvPr id="13" name="Rounded Rectangle 12"/>
          <p:cNvSpPr/>
          <p:nvPr/>
        </p:nvSpPr>
        <p:spPr>
          <a:xfrm>
            <a:off x="2023815" y="4486399"/>
            <a:ext cx="8341342" cy="328508"/>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4763"/>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Review bidding documents to examine provisions impacting O&amp;M requirements</a:t>
            </a:r>
          </a:p>
        </p:txBody>
      </p:sp>
      <p:sp>
        <p:nvSpPr>
          <p:cNvPr id="16" name="Rectangle 15"/>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Business / Financial Model</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7" name="Straight Connector 1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63396" y="331644"/>
            <a:ext cx="991558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Preparation of Business/Financial Model – Capital / O&amp;M costs</a:t>
            </a:r>
          </a:p>
        </p:txBody>
      </p:sp>
      <p:sp>
        <p:nvSpPr>
          <p:cNvPr id="20" name="Rounded Rectangle 19"/>
          <p:cNvSpPr/>
          <p:nvPr/>
        </p:nvSpPr>
        <p:spPr>
          <a:xfrm>
            <a:off x="2021543" y="1348264"/>
            <a:ext cx="8341342" cy="1136975"/>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4049" tIns="0" rIns="0" bIns="0" rtlCol="0" anchor="ctr"/>
          <a:lstStyle/>
          <a:p>
            <a:pPr marL="146135" indent="-143352">
              <a:spcAft>
                <a:spcPts val="600"/>
              </a:spcAft>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Proposed multi year tariff proposal for the first control period FY16-FY21 will be studied vis-à-vis the requirements mentioned in the Concession Agreement</a:t>
            </a:r>
          </a:p>
          <a:p>
            <a:pPr marL="146135" indent="-143352">
              <a:spcAft>
                <a:spcPts val="600"/>
              </a:spcAft>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High level review of projections and estimates from the external advisors to arrive at CAPEX requirements for the project</a:t>
            </a:r>
          </a:p>
        </p:txBody>
      </p:sp>
      <p:sp>
        <p:nvSpPr>
          <p:cNvPr id="19" name="Rounded Rectangle 18"/>
          <p:cNvSpPr/>
          <p:nvPr/>
        </p:nvSpPr>
        <p:spPr>
          <a:xfrm>
            <a:off x="2021543" y="1106637"/>
            <a:ext cx="8341342" cy="231087"/>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4049" tIns="0" rIns="0" bIns="0" rtlCol="0" anchor="ctr"/>
          <a:lstStyle/>
          <a:p>
            <a:pPr marL="4176"/>
            <a:r>
              <a:rPr lang="en-US" sz="1403" b="1" dirty="0">
                <a:solidFill>
                  <a:srgbClr val="FFFFFF"/>
                </a:solidFill>
                <a:latin typeface="Verdana" panose="020B0604030504040204" pitchFamily="34" charset="0"/>
                <a:ea typeface="Verdana" panose="020B0604030504040204" pitchFamily="34" charset="0"/>
                <a:cs typeface="Verdana" panose="020B0604030504040204" pitchFamily="34" charset="0"/>
              </a:rPr>
              <a:t>Capital investment proposed to AERA</a:t>
            </a:r>
          </a:p>
        </p:txBody>
      </p:sp>
      <p:sp>
        <p:nvSpPr>
          <p:cNvPr id="21" name="Rectangle 20"/>
          <p:cNvSpPr/>
          <p:nvPr/>
        </p:nvSpPr>
        <p:spPr>
          <a:xfrm>
            <a:off x="352350" y="1482016"/>
            <a:ext cx="1305696" cy="675185"/>
          </a:xfrm>
          <a:prstGeom prst="rect">
            <a:avLst/>
          </a:prstGeom>
        </p:spPr>
        <p:txBody>
          <a:bodyPr wrap="square">
            <a:spAutoFit/>
          </a:bodyPr>
          <a:lstStyle/>
          <a:p>
            <a:pPr marL="0" lvl="1" defTabSz="839232" fontAlgn="base">
              <a:lnSpc>
                <a:spcPct val="90000"/>
              </a:lnSpc>
              <a:spcBef>
                <a:spcPts val="351"/>
              </a:spcBef>
              <a:defRPr/>
            </a:pPr>
            <a:r>
              <a:rPr lang="en-US" sz="1403" dirty="0">
                <a:latin typeface="Verdana" panose="020B0604030504040204" pitchFamily="34" charset="0"/>
                <a:ea typeface="Verdana" panose="020B0604030504040204" pitchFamily="34" charset="0"/>
                <a:cs typeface="Verdana" panose="020B0604030504040204" pitchFamily="34" charset="0"/>
              </a:rPr>
              <a:t>Assessment of CAPEX requirement</a:t>
            </a:r>
            <a:endParaRPr lang="en-US" sz="1403" i="1" dirty="0">
              <a:latin typeface="Verdana" panose="020B0604030504040204" pitchFamily="34" charset="0"/>
              <a:ea typeface="Verdana" panose="020B0604030504040204" pitchFamily="34" charset="0"/>
              <a:cs typeface="Verdana" panose="020B0604030504040204" pitchFamily="34" charset="0"/>
            </a:endParaRPr>
          </a:p>
        </p:txBody>
      </p:sp>
      <p:sp>
        <p:nvSpPr>
          <p:cNvPr id="22" name="Left Brace 21"/>
          <p:cNvSpPr/>
          <p:nvPr/>
        </p:nvSpPr>
        <p:spPr>
          <a:xfrm>
            <a:off x="1658046" y="1120823"/>
            <a:ext cx="231045" cy="1364416"/>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8400706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051369" y="1492252"/>
            <a:ext cx="8297465" cy="743841"/>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Based on traffic projections provided by Essel Infraprojects and due diligence undertaken, assist Essel Infraprojects in undertaking an assessment of regulated tariffs for considering Hybrid Till model proposed by NCAP / AERA</a:t>
            </a:r>
          </a:p>
        </p:txBody>
      </p:sp>
      <p:sp>
        <p:nvSpPr>
          <p:cNvPr id="5" name="Rounded Rectangle 4"/>
          <p:cNvSpPr/>
          <p:nvPr/>
        </p:nvSpPr>
        <p:spPr>
          <a:xfrm>
            <a:off x="2051370" y="2604462"/>
            <a:ext cx="8299010" cy="750689"/>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Based on due diligence and inputs of technical consultant on area availability for retail / F&amp;B etc., develop projections of non-aeronautical revenue as envisaged from the facilities proposed for development in the bidding document </a:t>
            </a:r>
          </a:p>
        </p:txBody>
      </p:sp>
      <p:sp>
        <p:nvSpPr>
          <p:cNvPr id="6" name="Rectangle 5"/>
          <p:cNvSpPr/>
          <p:nvPr/>
        </p:nvSpPr>
        <p:spPr>
          <a:xfrm>
            <a:off x="352350" y="2403306"/>
            <a:ext cx="1333994" cy="2225225"/>
          </a:xfrm>
          <a:prstGeom prst="rect">
            <a:avLst/>
          </a:prstGeom>
        </p:spPr>
        <p:txBody>
          <a:bodyPr wrap="square">
            <a:spAutoFit/>
          </a:bodyPr>
          <a:lstStyle/>
          <a:p>
            <a:pPr marL="0" lvl="1" defTabSz="957263" fontAlgn="base">
              <a:lnSpc>
                <a:spcPct val="90000"/>
              </a:lnSpc>
              <a:spcBef>
                <a:spcPts val="400"/>
              </a:spcBef>
              <a:defRPr/>
            </a:pPr>
            <a:r>
              <a:rPr lang="en-US" sz="1400" dirty="0">
                <a:latin typeface="Verdana" panose="020B0604030504040204" pitchFamily="34" charset="0"/>
                <a:ea typeface="Verdana" panose="020B0604030504040204" pitchFamily="34" charset="0"/>
                <a:cs typeface="Verdana" panose="020B0604030504040204" pitchFamily="34" charset="0"/>
              </a:rPr>
              <a:t>Aeronautical and Non-aeronautical revenue projections will need to have reference to AERA regulatory philosophy</a:t>
            </a:r>
            <a:endParaRPr lang="en-US" sz="1400" i="1" dirty="0">
              <a:latin typeface="Verdana" panose="020B0604030504040204" pitchFamily="34" charset="0"/>
              <a:ea typeface="Verdana" panose="020B0604030504040204" pitchFamily="34" charset="0"/>
              <a:cs typeface="Verdana" panose="020B0604030504040204" pitchFamily="34" charset="0"/>
            </a:endParaRPr>
          </a:p>
        </p:txBody>
      </p:sp>
      <p:sp>
        <p:nvSpPr>
          <p:cNvPr id="7" name="Left Brace 6"/>
          <p:cNvSpPr/>
          <p:nvPr/>
        </p:nvSpPr>
        <p:spPr>
          <a:xfrm>
            <a:off x="1701748" y="1220900"/>
            <a:ext cx="257681" cy="4872418"/>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9"/>
          <p:cNvSpPr/>
          <p:nvPr/>
        </p:nvSpPr>
        <p:spPr>
          <a:xfrm>
            <a:off x="2057807" y="4052974"/>
            <a:ext cx="8299010" cy="2040344"/>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around treatment of AERA determined charges and tariff profile, if any, in the bidding documents</a:t>
            </a:r>
          </a:p>
          <a:p>
            <a:pPr marL="166688"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Assessment of existing project agreements for the airport, as provided in the Data Room for non-aeronautical services:</a:t>
            </a:r>
          </a:p>
          <a:p>
            <a:pPr marL="623888" lvl="1"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in the Bidding Documents around ability of the Concessionaire to novate/ terminate such agreements</a:t>
            </a:r>
          </a:p>
          <a:p>
            <a:pPr marL="623888" lvl="1"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Provisions in the Bidding Documents around reconciliation of payments / accounts between the Authority and the Concessionaire required under such contracts etc.</a:t>
            </a:r>
          </a:p>
          <a:p>
            <a:pPr marL="623888" lvl="1" indent="-163513">
              <a:lnSpc>
                <a:spcPct val="120000"/>
              </a:lnSpc>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Incorporation of projected revenues based on such existing agreements in the Financial Model</a:t>
            </a:r>
          </a:p>
        </p:txBody>
      </p:sp>
      <p:sp>
        <p:nvSpPr>
          <p:cNvPr id="8" name="Rounded Rectangle 7"/>
          <p:cNvSpPr/>
          <p:nvPr/>
        </p:nvSpPr>
        <p:spPr>
          <a:xfrm>
            <a:off x="2051371" y="1270595"/>
            <a:ext cx="8291147" cy="230531"/>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4763"/>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Aeronautical Revenues</a:t>
            </a:r>
          </a:p>
        </p:txBody>
      </p:sp>
      <p:sp>
        <p:nvSpPr>
          <p:cNvPr id="9" name="Rounded Rectangle 8"/>
          <p:cNvSpPr/>
          <p:nvPr/>
        </p:nvSpPr>
        <p:spPr>
          <a:xfrm>
            <a:off x="2057807" y="2374150"/>
            <a:ext cx="8291147" cy="230531"/>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4763"/>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Non-Aeronautical Revenues</a:t>
            </a:r>
          </a:p>
        </p:txBody>
      </p:sp>
      <p:sp>
        <p:nvSpPr>
          <p:cNvPr id="11" name="Rounded Rectangle 10"/>
          <p:cNvSpPr/>
          <p:nvPr/>
        </p:nvSpPr>
        <p:spPr>
          <a:xfrm>
            <a:off x="2060079" y="3490153"/>
            <a:ext cx="8291147" cy="549286"/>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4763"/>
            <a:r>
              <a:rPr lang="en-US" sz="1400" b="1" dirty="0">
                <a:solidFill>
                  <a:srgbClr val="FFFFFF"/>
                </a:solidFill>
                <a:latin typeface="Verdana" panose="020B0604030504040204" pitchFamily="34" charset="0"/>
                <a:ea typeface="Verdana" panose="020B0604030504040204" pitchFamily="34" charset="0"/>
                <a:cs typeface="Verdana" panose="020B0604030504040204" pitchFamily="34" charset="0"/>
              </a:rPr>
              <a:t>Review the bidding documents to examine provisions impacting projected revenue</a:t>
            </a:r>
          </a:p>
        </p:txBody>
      </p:sp>
      <p:sp>
        <p:nvSpPr>
          <p:cNvPr id="17" name="Rectangle 16"/>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Business / Financial Model</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8" name="Straight Connector 17"/>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63396" y="331644"/>
            <a:ext cx="991558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Preparation of Business/Financial Model – Revenues </a:t>
            </a:r>
          </a:p>
        </p:txBody>
      </p:sp>
    </p:spTree>
    <p:extLst>
      <p:ext uri="{BB962C8B-B14F-4D97-AF65-F5344CB8AC3E}">
        <p14:creationId xmlns:p14="http://schemas.microsoft.com/office/powerpoint/2010/main" val="414517220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6000" y="5929453"/>
            <a:ext cx="7676968" cy="276999"/>
          </a:xfrm>
          <a:prstGeom prst="rect">
            <a:avLst/>
          </a:prstGeom>
          <a:noFill/>
        </p:spPr>
        <p:txBody>
          <a:bodyPr wrap="square" rtlCol="0">
            <a:spAutoFit/>
          </a:bodyPr>
          <a:lstStyle/>
          <a:p>
            <a:r>
              <a:rPr lang="en-US" sz="1200" dirty="0">
                <a:latin typeface="Verdana" panose="020B0604030504040204" pitchFamily="34" charset="0"/>
                <a:ea typeface="Verdana" panose="020B0604030504040204" pitchFamily="34" charset="0"/>
                <a:cs typeface="Verdana" panose="020B0604030504040204" pitchFamily="34" charset="0"/>
              </a:rPr>
              <a:t>Note: Benchmarking parameters will be subject to publicly available information of other airports</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
        <p:nvSpPr>
          <p:cNvPr id="7" name="TextBox 6"/>
          <p:cNvSpPr txBox="1"/>
          <p:nvPr/>
        </p:nvSpPr>
        <p:spPr>
          <a:xfrm>
            <a:off x="352350" y="1181894"/>
            <a:ext cx="10014280" cy="3323987"/>
          </a:xfrm>
          <a:prstGeom prst="rect">
            <a:avLst/>
          </a:prstGeom>
          <a:noFill/>
        </p:spPr>
        <p:txBody>
          <a:bodyPr wrap="square" rtlCol="0">
            <a:spAutoFit/>
          </a:bodyPr>
          <a:lstStyle/>
          <a:p>
            <a:pPr algn="just"/>
            <a:r>
              <a:rPr lang="en-US" sz="1400" kern="0" dirty="0">
                <a:latin typeface="Verdana" panose="020B0604030504040204" pitchFamily="34" charset="0"/>
                <a:ea typeface="Verdana" panose="020B0604030504040204" pitchFamily="34" charset="0"/>
                <a:cs typeface="Verdana" panose="020B0604030504040204" pitchFamily="34" charset="0"/>
              </a:rPr>
              <a:t>The team would analyze available trends in airports industry to understand undertake benchmarking exercise with other airports (India PPP airports and other Indian airports) to broadly assess feasibility of the project for Essel Infraprojects. </a:t>
            </a:r>
          </a:p>
          <a:p>
            <a:endParaRPr lang="en-US" sz="1400" kern="0" dirty="0">
              <a:latin typeface="Verdana" panose="020B0604030504040204" pitchFamily="34" charset="0"/>
              <a:ea typeface="Verdana" panose="020B0604030504040204" pitchFamily="34" charset="0"/>
              <a:cs typeface="Verdana" panose="020B0604030504040204" pitchFamily="34" charset="0"/>
            </a:endParaRPr>
          </a:p>
          <a:p>
            <a:r>
              <a:rPr lang="en-US" sz="1400" kern="0" dirty="0">
                <a:latin typeface="Verdana" panose="020B0604030504040204" pitchFamily="34" charset="0"/>
                <a:ea typeface="Verdana" panose="020B0604030504040204" pitchFamily="34" charset="0"/>
                <a:cs typeface="Verdana" panose="020B0604030504040204" pitchFamily="34" charset="0"/>
              </a:rPr>
              <a:t>Deloitte would help estimate a the optimum range for relevant key indicators such as :</a:t>
            </a:r>
          </a:p>
          <a:p>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Aeronautical revenue per pax</a:t>
            </a:r>
          </a:p>
          <a:p>
            <a:pPr marL="285750" indent="-285750">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Non –Aeronautical revenue per pax</a:t>
            </a:r>
          </a:p>
          <a:p>
            <a:pPr marL="285750" indent="-285750">
              <a:buFont typeface="Arial" panose="020B0604020202020204" pitchFamily="34" charset="0"/>
              <a:buChar char="•"/>
            </a:pPr>
            <a:r>
              <a:rPr lang="en-US" sz="1400" kern="0" dirty="0">
                <a:latin typeface="Verdana" panose="020B0604030504040204" pitchFamily="34" charset="0"/>
                <a:ea typeface="Verdana" panose="020B0604030504040204" pitchFamily="34" charset="0"/>
                <a:cs typeface="Verdana" panose="020B0604030504040204" pitchFamily="34" charset="0"/>
              </a:rPr>
              <a:t>Operating costs per pax</a:t>
            </a:r>
          </a:p>
          <a:p>
            <a:pPr marL="285750" indent="-285750">
              <a:buFont typeface="Arial" panose="020B0604020202020204" pitchFamily="34" charset="0"/>
              <a:buChar cha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n-US" sz="1400" kern="0" dirty="0">
              <a:latin typeface="Verdana" panose="020B0604030504040204" pitchFamily="34" charset="0"/>
              <a:ea typeface="Verdana" panose="020B0604030504040204" pitchFamily="34" charset="0"/>
              <a:cs typeface="Verdana" panose="020B0604030504040204" pitchFamily="34" charset="0"/>
            </a:endParaRPr>
          </a:p>
          <a:p>
            <a:r>
              <a:rPr lang="en-US" sz="1400" kern="0" dirty="0">
                <a:latin typeface="Verdana" panose="020B0604030504040204" pitchFamily="34" charset="0"/>
                <a:ea typeface="Verdana" panose="020B0604030504040204" pitchFamily="34" charset="0"/>
                <a:cs typeface="Verdana" panose="020B0604030504040204" pitchFamily="34" charset="0"/>
              </a:rPr>
              <a:t>However, each of the above aspect </a:t>
            </a:r>
            <a:r>
              <a:rPr lang="en-US" sz="1400" dirty="0">
                <a:latin typeface="Verdana" panose="020B0604030504040204" pitchFamily="34" charset="0"/>
                <a:ea typeface="Verdana" panose="020B0604030504040204" pitchFamily="34" charset="0"/>
                <a:cs typeface="Verdana" panose="020B0604030504040204" pitchFamily="34" charset="0"/>
              </a:rPr>
              <a:t>are critically linked to management decision and strategy with respect to the airport operations as well as the capital costs / terminal plans and </a:t>
            </a:r>
            <a:r>
              <a:rPr lang="en-US" sz="1400" kern="0" dirty="0">
                <a:latin typeface="Verdana" panose="020B0604030504040204" pitchFamily="34" charset="0"/>
                <a:ea typeface="Verdana" panose="020B0604030504040204" pitchFamily="34" charset="0"/>
                <a:cs typeface="Verdana" panose="020B0604030504040204" pitchFamily="34" charset="0"/>
              </a:rPr>
              <a:t>can significantly impact the project viability and therefore, the final decisions around each of the above indicators would have to be provided by Essel Infraprojects for the purpose of financial model</a:t>
            </a:r>
            <a:r>
              <a:rPr lang="en-US" sz="1400" dirty="0">
                <a:latin typeface="Verdana" panose="020B0604030504040204" pitchFamily="34" charset="0"/>
                <a:ea typeface="Verdana" panose="020B0604030504040204" pitchFamily="34" charset="0"/>
                <a:cs typeface="Verdana" panose="020B0604030504040204" pitchFamily="34" charset="0"/>
              </a:rPr>
              <a:t> through their technical / real estate teams.</a:t>
            </a:r>
            <a:endParaRPr lang="en-US" sz="1400" kern="0" dirty="0">
              <a:latin typeface="Verdana" panose="020B0604030504040204" pitchFamily="34" charset="0"/>
              <a:ea typeface="Verdana" panose="020B0604030504040204" pitchFamily="34" charset="0"/>
              <a:cs typeface="Verdana" panose="020B0604030504040204" pitchFamily="34" charset="0"/>
            </a:endParaRPr>
          </a:p>
        </p:txBody>
      </p:sp>
      <p:sp>
        <p:nvSpPr>
          <p:cNvPr id="8" name="Rectangle 7"/>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Business / Financial Model</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8"/>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63396" y="331644"/>
            <a:ext cx="991558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Preparation of Business/Financial Model – Benchmarking </a:t>
            </a:r>
          </a:p>
        </p:txBody>
      </p:sp>
    </p:spTree>
    <p:extLst>
      <p:ext uri="{BB962C8B-B14F-4D97-AF65-F5344CB8AC3E}">
        <p14:creationId xmlns:p14="http://schemas.microsoft.com/office/powerpoint/2010/main" val="231216932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236016" y="1944864"/>
            <a:ext cx="8130614" cy="1580166"/>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Analysis of PPP project structure provided in the draft Concession Agreement</a:t>
            </a:r>
          </a:p>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Analysis of provisions in the draft contracts/ agreements</a:t>
            </a:r>
          </a:p>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Estimation of Capital and O&amp;M Costs / Contingencies, taxes and analysis of cost recovery options</a:t>
            </a:r>
          </a:p>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Estimation of aeronautical and non-aeronautical revenue potential</a:t>
            </a:r>
          </a:p>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Additional cost and expenses based on Due Diligence of various aspects such as:</a:t>
            </a:r>
          </a:p>
          <a:p>
            <a:pPr marL="469900" indent="-285750">
              <a:buFont typeface="Courier New" pitchFamily="49" charset="0"/>
              <a:buChar char="o"/>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Existing contracts at the airport with third-party concessionaires</a:t>
            </a:r>
          </a:p>
          <a:p>
            <a:pPr marL="469900" indent="-285750">
              <a:buFont typeface="Courier New" pitchFamily="49" charset="0"/>
              <a:buChar char="o"/>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Consents/approvals required by the Concessionaire from regulatory authorities for the project</a:t>
            </a:r>
          </a:p>
        </p:txBody>
      </p:sp>
      <p:sp>
        <p:nvSpPr>
          <p:cNvPr id="7" name="Rectangle 6"/>
          <p:cNvSpPr/>
          <p:nvPr/>
        </p:nvSpPr>
        <p:spPr>
          <a:xfrm>
            <a:off x="352349" y="2954945"/>
            <a:ext cx="1616365" cy="757130"/>
          </a:xfrm>
          <a:prstGeom prst="rect">
            <a:avLst/>
          </a:prstGeom>
        </p:spPr>
        <p:txBody>
          <a:bodyPr wrap="square">
            <a:spAutoFit/>
          </a:bodyPr>
          <a:lstStyle/>
          <a:p>
            <a:pPr marL="0" lvl="1" defTabSz="957263" fontAlgn="base">
              <a:lnSpc>
                <a:spcPct val="90000"/>
              </a:lnSpc>
              <a:spcBef>
                <a:spcPts val="400"/>
              </a:spcBef>
              <a:defRPr/>
            </a:pPr>
            <a:r>
              <a:rPr lang="en-US" sz="1600" dirty="0">
                <a:latin typeface="Verdana" panose="020B0604030504040204" pitchFamily="34" charset="0"/>
                <a:ea typeface="Verdana" panose="020B0604030504040204" pitchFamily="34" charset="0"/>
                <a:cs typeface="Verdana" panose="020B0604030504040204" pitchFamily="34" charset="0"/>
              </a:rPr>
              <a:t>Financial Feasibility Assessment</a:t>
            </a:r>
            <a:endParaRPr lang="en-US" sz="1600" i="1" dirty="0">
              <a:latin typeface="Verdana" panose="020B0604030504040204" pitchFamily="34" charset="0"/>
              <a:ea typeface="Verdana" panose="020B0604030504040204" pitchFamily="34" charset="0"/>
              <a:cs typeface="Verdana" panose="020B0604030504040204" pitchFamily="34" charset="0"/>
            </a:endParaRPr>
          </a:p>
        </p:txBody>
      </p:sp>
      <p:sp>
        <p:nvSpPr>
          <p:cNvPr id="8" name="Left Brace 7"/>
          <p:cNvSpPr/>
          <p:nvPr/>
        </p:nvSpPr>
        <p:spPr>
          <a:xfrm>
            <a:off x="1688124" y="1575879"/>
            <a:ext cx="448906" cy="3370859"/>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9" name="Rounded Rectangle 8"/>
          <p:cNvSpPr/>
          <p:nvPr/>
        </p:nvSpPr>
        <p:spPr>
          <a:xfrm>
            <a:off x="2227477" y="1575879"/>
            <a:ext cx="8139151" cy="298649"/>
          </a:xfrm>
          <a:prstGeom prst="roundRect">
            <a:avLst/>
          </a:prstGeom>
          <a:solidFill>
            <a:schemeClr val="accent2"/>
          </a:solidFill>
          <a:ln>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4763"/>
            <a:r>
              <a:rPr lang="en-US" sz="1600" b="1" dirty="0">
                <a:solidFill>
                  <a:srgbClr val="FFFFFF"/>
                </a:solidFill>
                <a:latin typeface="Verdana" panose="020B0604030504040204" pitchFamily="34" charset="0"/>
                <a:ea typeface="Verdana" panose="020B0604030504040204" pitchFamily="34" charset="0"/>
                <a:cs typeface="Verdana" panose="020B0604030504040204" pitchFamily="34" charset="0"/>
              </a:rPr>
              <a:t>Financial Model to be developed based on various inputs from…</a:t>
            </a:r>
          </a:p>
        </p:txBody>
      </p:sp>
      <p:sp>
        <p:nvSpPr>
          <p:cNvPr id="10" name="Rounded Rectangle 9"/>
          <p:cNvSpPr/>
          <p:nvPr/>
        </p:nvSpPr>
        <p:spPr>
          <a:xfrm>
            <a:off x="2236015" y="3688541"/>
            <a:ext cx="8130613" cy="1258197"/>
          </a:xfrm>
          <a:prstGeom prst="roundRect">
            <a:avLst>
              <a:gd name="adj" fmla="val 3713"/>
            </a:avLst>
          </a:prstGeom>
          <a:noFill/>
          <a:ln w="1270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27432" tIns="0" rIns="0" bIns="0" rtlCol="0" anchor="ctr"/>
          <a:lstStyle/>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Financial analysis of the project in terms of key ratios (Financial Internal Rate of Return, Net Present Value, Debt Service Coverage Ratio, Cost Benefit Ratio, etc.) </a:t>
            </a:r>
          </a:p>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Mapping of cash flow requirements, dividends, etc.</a:t>
            </a:r>
          </a:p>
          <a:p>
            <a:pPr marL="166688" indent="-163513">
              <a:buFont typeface="Arial" pitchFamily="34" charset="0"/>
              <a:buChar cha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Scenarios, and sensitivity analysis of project ratios with respect to changes (in certain ranges say +/– 10%) for select critical variables</a:t>
            </a:r>
          </a:p>
        </p:txBody>
      </p:sp>
      <p:sp>
        <p:nvSpPr>
          <p:cNvPr id="13" name="Rectangle 12"/>
          <p:cNvSpPr/>
          <p:nvPr/>
        </p:nvSpPr>
        <p:spPr>
          <a:xfrm>
            <a:off x="3469297" y="57154"/>
            <a:ext cx="6970943" cy="307777"/>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Business / Financial Model</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14" name="Straight Connector 13"/>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263396" y="331644"/>
            <a:ext cx="1017684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Preparation of Business/Financial Model – Feasibility Assessment</a:t>
            </a:r>
          </a:p>
        </p:txBody>
      </p:sp>
    </p:spTree>
    <p:extLst>
      <p:ext uri="{BB962C8B-B14F-4D97-AF65-F5344CB8AC3E}">
        <p14:creationId xmlns:p14="http://schemas.microsoft.com/office/powerpoint/2010/main" val="80710349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755093" y="2189153"/>
            <a:ext cx="3611537" cy="3292796"/>
          </a:xfrm>
          <a:prstGeom prst="rect">
            <a:avLst/>
          </a:prstGeom>
          <a:noFill/>
          <a:ln w="9525" cap="flat" cmpd="sng" algn="ctr">
            <a:noFill/>
            <a:prstDash val="solid"/>
          </a:ln>
          <a:effectLst/>
        </p:spPr>
        <p:txBody>
          <a:bodyPr lIns="45720" rIns="45720" numCol="1" rtlCol="0" anchor="ctr"/>
          <a:lstStyle/>
          <a:p>
            <a:pPr marL="374650" lvl="1" indent="-285750">
              <a:spcBef>
                <a:spcPts val="600"/>
              </a:spcBef>
              <a:buSzPct val="65000"/>
              <a:buFont typeface="Arial" panose="020B0604020202020204" pitchFamily="34" charset="0"/>
              <a:buChar char="•"/>
              <a:defRPr/>
            </a:pPr>
            <a:r>
              <a:rPr lang="en-US" sz="1400" kern="0" dirty="0">
                <a:latin typeface="Verdana" panose="020B0604030504040204" pitchFamily="34" charset="0"/>
                <a:ea typeface="Verdana" panose="020B0604030504040204" pitchFamily="34" charset="0"/>
                <a:cs typeface="Verdana" panose="020B0604030504040204" pitchFamily="34" charset="0"/>
              </a:rPr>
              <a:t>Bid Strategy for the transaction needs to be guided by the strategic objective of the management of EIL in terms of aspects like duration of investments, expected returns vis-à-vis estimated risk, inputs from competition assessment etc.</a:t>
            </a:r>
          </a:p>
          <a:p>
            <a:pPr marL="374650" lvl="1" indent="-285750">
              <a:spcBef>
                <a:spcPts val="600"/>
              </a:spcBef>
              <a:buSzPct val="65000"/>
              <a:buFont typeface="Arial" panose="020B0604020202020204" pitchFamily="34" charset="0"/>
              <a:buChar char="•"/>
              <a:defRPr/>
            </a:pPr>
            <a:r>
              <a:rPr lang="en-US" sz="1400" kern="0" dirty="0">
                <a:latin typeface="Verdana" panose="020B0604030504040204" pitchFamily="34" charset="0"/>
                <a:ea typeface="Verdana" panose="020B0604030504040204" pitchFamily="34" charset="0"/>
                <a:cs typeface="Verdana" panose="020B0604030504040204" pitchFamily="34" charset="0"/>
              </a:rPr>
              <a:t>As shown in the diagram, the financial feasibility of the project as well as the risk assessment, will both contribute towards finalizing the bidding strategy for these transactions.</a:t>
            </a:r>
          </a:p>
        </p:txBody>
      </p:sp>
      <p:grpSp>
        <p:nvGrpSpPr>
          <p:cNvPr id="7" name="Group 6"/>
          <p:cNvGrpSpPr/>
          <p:nvPr/>
        </p:nvGrpSpPr>
        <p:grpSpPr>
          <a:xfrm>
            <a:off x="352350" y="1198265"/>
            <a:ext cx="6141809" cy="5337203"/>
            <a:chOff x="473304" y="863572"/>
            <a:chExt cx="6769269" cy="5711016"/>
          </a:xfrm>
        </p:grpSpPr>
        <p:sp>
          <p:nvSpPr>
            <p:cNvPr id="8" name="Arc 2"/>
            <p:cNvSpPr>
              <a:spLocks/>
            </p:cNvSpPr>
            <p:nvPr/>
          </p:nvSpPr>
          <p:spPr bwMode="auto">
            <a:xfrm rot="16200000">
              <a:off x="-67407" y="2675303"/>
              <a:ext cx="4971247" cy="2224087"/>
            </a:xfrm>
            <a:custGeom>
              <a:avLst/>
              <a:gdLst>
                <a:gd name="T0" fmla="*/ 0 w 43200"/>
                <a:gd name="T1" fmla="*/ 2147483647 h 21715"/>
                <a:gd name="T2" fmla="*/ 2147483647 w 43200"/>
                <a:gd name="T3" fmla="*/ 2147483647 h 21715"/>
                <a:gd name="T4" fmla="*/ 2147483647 w 43200"/>
                <a:gd name="T5" fmla="*/ 2147483647 h 21715"/>
                <a:gd name="T6" fmla="*/ 0 60000 65536"/>
                <a:gd name="T7" fmla="*/ 0 60000 65536"/>
                <a:gd name="T8" fmla="*/ 0 60000 65536"/>
                <a:gd name="T9" fmla="*/ 0 w 43200"/>
                <a:gd name="T10" fmla="*/ 0 h 21715"/>
                <a:gd name="T11" fmla="*/ 43200 w 43200"/>
                <a:gd name="T12" fmla="*/ 21715 h 21715"/>
              </a:gdLst>
              <a:ahLst/>
              <a:cxnLst>
                <a:cxn ang="T6">
                  <a:pos x="T0" y="T1"/>
                </a:cxn>
                <a:cxn ang="T7">
                  <a:pos x="T2" y="T3"/>
                </a:cxn>
                <a:cxn ang="T8">
                  <a:pos x="T4" y="T5"/>
                </a:cxn>
              </a:cxnLst>
              <a:rect l="T9" t="T10" r="T11" b="T12"/>
              <a:pathLst>
                <a:path w="43200" h="21715" fill="none" extrusionOk="0">
                  <a:moveTo>
                    <a:pt x="0" y="21714"/>
                  </a:moveTo>
                  <a:cubicBezTo>
                    <a:pt x="0" y="21676"/>
                    <a:pt x="0" y="21638"/>
                    <a:pt x="0" y="21600"/>
                  </a:cubicBezTo>
                  <a:cubicBezTo>
                    <a:pt x="0" y="9670"/>
                    <a:pt x="9670" y="0"/>
                    <a:pt x="21600" y="0"/>
                  </a:cubicBezTo>
                  <a:cubicBezTo>
                    <a:pt x="33529" y="-1"/>
                    <a:pt x="43199" y="9670"/>
                    <a:pt x="43200" y="21599"/>
                  </a:cubicBezTo>
                </a:path>
                <a:path w="43200" h="21715" stroke="0" extrusionOk="0">
                  <a:moveTo>
                    <a:pt x="0" y="21714"/>
                  </a:moveTo>
                  <a:cubicBezTo>
                    <a:pt x="0" y="21676"/>
                    <a:pt x="0" y="21638"/>
                    <a:pt x="0" y="21600"/>
                  </a:cubicBezTo>
                  <a:cubicBezTo>
                    <a:pt x="0" y="9670"/>
                    <a:pt x="9670" y="0"/>
                    <a:pt x="21600" y="0"/>
                  </a:cubicBezTo>
                  <a:cubicBezTo>
                    <a:pt x="33529" y="-1"/>
                    <a:pt x="43199" y="9670"/>
                    <a:pt x="43200" y="21599"/>
                  </a:cubicBezTo>
                  <a:lnTo>
                    <a:pt x="21600" y="21600"/>
                  </a:lnTo>
                  <a:close/>
                </a:path>
              </a:pathLst>
            </a:custGeom>
            <a:noFill/>
            <a:ln w="635000">
              <a:solidFill>
                <a:schemeClr val="accent4"/>
              </a:solidFill>
              <a:round/>
              <a:headEnd/>
              <a:tailEnd/>
            </a:ln>
          </p:spPr>
          <p:txBody>
            <a:bodyPr wrap="square" lIns="36000" tIns="36000" rIns="36000" bIns="36000" anchor="ctr"/>
            <a:lstStyle/>
            <a:p>
              <a:pPr algn="ctr">
                <a:defRPr/>
              </a:pPr>
              <a:endParaRPr lang="en-US" altLang="ja-JP" sz="1200" b="1" kern="0" dirty="0">
                <a:solidFill>
                  <a:srgbClr val="0070C0"/>
                </a:solidFill>
                <a:latin typeface="Cambria" pitchFamily="18" charset="0"/>
              </a:endParaRPr>
            </a:p>
          </p:txBody>
        </p:sp>
        <p:sp>
          <p:nvSpPr>
            <p:cNvPr id="9" name="AutoShape 4"/>
            <p:cNvSpPr>
              <a:spLocks noChangeArrowheads="1"/>
            </p:cNvSpPr>
            <p:nvPr/>
          </p:nvSpPr>
          <p:spPr bwMode="auto">
            <a:xfrm rot="16200000" flipV="1">
              <a:off x="4645739" y="3496131"/>
              <a:ext cx="1934225" cy="459496"/>
            </a:xfrm>
            <a:prstGeom prst="triangle">
              <a:avLst>
                <a:gd name="adj" fmla="val 50000"/>
              </a:avLst>
            </a:prstGeom>
            <a:solidFill>
              <a:schemeClr val="accent3">
                <a:lumMod val="50000"/>
              </a:schemeClr>
            </a:solidFill>
            <a:ln w="6350" algn="ctr">
              <a:solidFill>
                <a:schemeClr val="accent4"/>
              </a:solidFill>
              <a:miter lim="800000"/>
              <a:headEnd/>
              <a:tailEnd/>
            </a:ln>
            <a:effectLst/>
          </p:spPr>
          <p:txBody>
            <a:bodyPr rot="10800000" wrap="square" lIns="36000" tIns="36000" rIns="36000" bIns="36000" anchor="ctr"/>
            <a:lstStyle/>
            <a:p>
              <a:pPr algn="ctr">
                <a:defRPr/>
              </a:pPr>
              <a:endParaRPr lang="en-US" sz="1200" kern="0" dirty="0">
                <a:solidFill>
                  <a:srgbClr val="FFFFFF"/>
                </a:solidFill>
                <a:latin typeface="Cambria" pitchFamily="18" charset="0"/>
              </a:endParaRPr>
            </a:p>
          </p:txBody>
        </p:sp>
        <p:sp>
          <p:nvSpPr>
            <p:cNvPr id="10" name="Oval 9"/>
            <p:cNvSpPr>
              <a:spLocks noChangeArrowheads="1"/>
            </p:cNvSpPr>
            <p:nvPr/>
          </p:nvSpPr>
          <p:spPr bwMode="gray">
            <a:xfrm>
              <a:off x="2427069" y="5698288"/>
              <a:ext cx="1359420"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defRPr/>
              </a:pPr>
              <a:r>
                <a:rPr lang="en-US" altLang="ja-JP" sz="1200" b="1" i="1" kern="0" dirty="0">
                  <a:solidFill>
                    <a:srgbClr val="005587"/>
                  </a:solidFill>
                  <a:latin typeface="Cambria" pitchFamily="18" charset="0"/>
                </a:rPr>
                <a:t>Review of Documents</a:t>
              </a:r>
            </a:p>
          </p:txBody>
        </p:sp>
        <p:sp>
          <p:nvSpPr>
            <p:cNvPr id="11" name="Oval 10"/>
            <p:cNvSpPr>
              <a:spLocks noChangeArrowheads="1"/>
            </p:cNvSpPr>
            <p:nvPr/>
          </p:nvSpPr>
          <p:spPr bwMode="gray">
            <a:xfrm>
              <a:off x="1315951" y="5148140"/>
              <a:ext cx="1359420"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defRPr/>
              </a:pPr>
              <a:r>
                <a:rPr lang="en-US" sz="1200" b="1" i="1" kern="0" dirty="0">
                  <a:solidFill>
                    <a:srgbClr val="005587"/>
                  </a:solidFill>
                  <a:latin typeface="Cambria" pitchFamily="18" charset="0"/>
                  <a:ea typeface="ＭＳ Ｐゴシック" pitchFamily="50" charset="-128"/>
                </a:rPr>
                <a:t>Due Diligence</a:t>
              </a:r>
            </a:p>
          </p:txBody>
        </p:sp>
        <p:sp>
          <p:nvSpPr>
            <p:cNvPr id="12" name="Oval 11"/>
            <p:cNvSpPr>
              <a:spLocks noChangeArrowheads="1"/>
            </p:cNvSpPr>
            <p:nvPr/>
          </p:nvSpPr>
          <p:spPr bwMode="gray">
            <a:xfrm>
              <a:off x="2218837" y="863572"/>
              <a:ext cx="1359419"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buFont typeface="Wingdings 2" pitchFamily="18" charset="2"/>
                <a:buNone/>
                <a:defRPr/>
              </a:pPr>
              <a:r>
                <a:rPr lang="en-US" sz="1200" b="1" i="1" kern="0" dirty="0">
                  <a:solidFill>
                    <a:srgbClr val="005587"/>
                  </a:solidFill>
                  <a:latin typeface="Cambria" pitchFamily="18" charset="0"/>
                  <a:ea typeface="ＭＳ Ｐゴシック" pitchFamily="50" charset="-128"/>
                </a:rPr>
                <a:t>Concession Period</a:t>
              </a:r>
            </a:p>
          </p:txBody>
        </p:sp>
        <p:sp>
          <p:nvSpPr>
            <p:cNvPr id="13" name="Oval 12"/>
            <p:cNvSpPr>
              <a:spLocks noChangeArrowheads="1"/>
            </p:cNvSpPr>
            <p:nvPr/>
          </p:nvSpPr>
          <p:spPr bwMode="gray">
            <a:xfrm flipH="1">
              <a:off x="473304" y="3387245"/>
              <a:ext cx="1359420"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buFont typeface="Wingdings 2" pitchFamily="18" charset="2"/>
                <a:buNone/>
                <a:defRPr/>
              </a:pPr>
              <a:r>
                <a:rPr lang="en-US" sz="1200" b="1" i="1" kern="0" dirty="0">
                  <a:solidFill>
                    <a:srgbClr val="005587"/>
                  </a:solidFill>
                  <a:latin typeface="Cambria" pitchFamily="18" charset="0"/>
                  <a:ea typeface="ＭＳ Ｐゴシック" pitchFamily="50" charset="-128"/>
                </a:rPr>
                <a:t>Tariff and Revenue</a:t>
              </a:r>
            </a:p>
          </p:txBody>
        </p:sp>
        <p:sp>
          <p:nvSpPr>
            <p:cNvPr id="14" name="Oval 13"/>
            <p:cNvSpPr>
              <a:spLocks noChangeArrowheads="1"/>
            </p:cNvSpPr>
            <p:nvPr/>
          </p:nvSpPr>
          <p:spPr bwMode="gray">
            <a:xfrm flipH="1">
              <a:off x="1240215" y="1531166"/>
              <a:ext cx="1359419"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defRPr/>
              </a:pPr>
              <a:r>
                <a:rPr lang="en-US" sz="1200" b="1" i="1" kern="0" dirty="0">
                  <a:solidFill>
                    <a:srgbClr val="005587"/>
                  </a:solidFill>
                  <a:latin typeface="Cambria" pitchFamily="18" charset="0"/>
                  <a:ea typeface="ＭＳ Ｐゴシック" pitchFamily="50" charset="-128"/>
                </a:rPr>
                <a:t>Capital Expenses</a:t>
              </a:r>
            </a:p>
          </p:txBody>
        </p:sp>
        <p:sp>
          <p:nvSpPr>
            <p:cNvPr id="15" name="Oval 14"/>
            <p:cNvSpPr>
              <a:spLocks noChangeArrowheads="1"/>
            </p:cNvSpPr>
            <p:nvPr/>
          </p:nvSpPr>
          <p:spPr bwMode="gray">
            <a:xfrm flipH="1">
              <a:off x="528346" y="2383738"/>
              <a:ext cx="1359420"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defRPr/>
              </a:pPr>
              <a:r>
                <a:rPr lang="en-US" sz="1200" b="1" i="1" kern="0" dirty="0">
                  <a:solidFill>
                    <a:srgbClr val="005587"/>
                  </a:solidFill>
                  <a:latin typeface="Cambria" pitchFamily="18" charset="0"/>
                  <a:ea typeface="ＭＳ Ｐゴシック" pitchFamily="50" charset="-128"/>
                </a:rPr>
                <a:t>O&amp;M Expenses</a:t>
              </a:r>
            </a:p>
          </p:txBody>
        </p:sp>
        <p:sp>
          <p:nvSpPr>
            <p:cNvPr id="18" name="Oval 17"/>
            <p:cNvSpPr>
              <a:spLocks noChangeArrowheads="1"/>
            </p:cNvSpPr>
            <p:nvPr/>
          </p:nvSpPr>
          <p:spPr bwMode="gray">
            <a:xfrm flipH="1">
              <a:off x="3909243" y="2674869"/>
              <a:ext cx="1359420" cy="876300"/>
            </a:xfrm>
            <a:prstGeom prst="ellipse">
              <a:avLst/>
            </a:prstGeom>
            <a:solidFill>
              <a:schemeClr val="accent4"/>
            </a:solidFill>
            <a:ln w="28575" algn="ctr">
              <a:solidFill>
                <a:schemeClr val="accent4"/>
              </a:solidFill>
              <a:round/>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0" tIns="0" rIns="0" bIns="0" anchor="ctr" anchorCtr="1"/>
            <a:lstStyle/>
            <a:p>
              <a:pPr algn="ctr">
                <a:lnSpc>
                  <a:spcPct val="106000"/>
                </a:lnSpc>
                <a:buClr>
                  <a:srgbClr val="000000"/>
                </a:buClr>
                <a:buFont typeface="Wingdings 2" pitchFamily="18" charset="2"/>
                <a:buNone/>
                <a:defRPr/>
              </a:pPr>
              <a:r>
                <a:rPr lang="en-US" sz="1200" b="1" kern="0" dirty="0">
                  <a:solidFill>
                    <a:srgbClr val="FFFFFF"/>
                  </a:solidFill>
                  <a:latin typeface="Cambria" pitchFamily="18" charset="0"/>
                  <a:ea typeface="ＭＳ Ｐゴシック" pitchFamily="50" charset="-128"/>
                </a:rPr>
                <a:t>Financial Feasibility</a:t>
              </a:r>
            </a:p>
          </p:txBody>
        </p:sp>
        <p:sp>
          <p:nvSpPr>
            <p:cNvPr id="19" name="Oval 18"/>
            <p:cNvSpPr>
              <a:spLocks noChangeArrowheads="1"/>
            </p:cNvSpPr>
            <p:nvPr/>
          </p:nvSpPr>
          <p:spPr bwMode="gray">
            <a:xfrm flipH="1">
              <a:off x="3915592" y="4058315"/>
              <a:ext cx="1359420" cy="876300"/>
            </a:xfrm>
            <a:prstGeom prst="ellipse">
              <a:avLst/>
            </a:prstGeom>
            <a:solidFill>
              <a:srgbClr val="3C8A2E">
                <a:lumMod val="75000"/>
              </a:srgbClr>
            </a:solidFill>
            <a:ln w="28575" algn="ctr">
              <a:solidFill>
                <a:schemeClr val="accent4"/>
              </a:solidFill>
              <a:round/>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0" tIns="0" rIns="0" bIns="0" anchor="ctr" anchorCtr="1"/>
            <a:lstStyle/>
            <a:p>
              <a:pPr algn="ctr">
                <a:lnSpc>
                  <a:spcPct val="106000"/>
                </a:lnSpc>
                <a:buClr>
                  <a:srgbClr val="000000"/>
                </a:buClr>
                <a:buFont typeface="Wingdings 2" pitchFamily="18" charset="2"/>
                <a:buNone/>
                <a:defRPr/>
              </a:pPr>
              <a:r>
                <a:rPr lang="en-US" sz="1200" b="1" kern="0" dirty="0">
                  <a:solidFill>
                    <a:srgbClr val="FFFFFF"/>
                  </a:solidFill>
                  <a:latin typeface="Cambria" pitchFamily="18" charset="0"/>
                  <a:ea typeface="ＭＳ Ｐゴシック" pitchFamily="50" charset="-128"/>
                </a:rPr>
                <a:t>Risk Assessment</a:t>
              </a:r>
            </a:p>
          </p:txBody>
        </p:sp>
        <p:sp>
          <p:nvSpPr>
            <p:cNvPr id="20" name="Rounded Rectangle 19"/>
            <p:cNvSpPr/>
            <p:nvPr/>
          </p:nvSpPr>
          <p:spPr>
            <a:xfrm>
              <a:off x="5903165" y="3312828"/>
              <a:ext cx="1339408" cy="745487"/>
            </a:xfrm>
            <a:prstGeom prst="roundRect">
              <a:avLst/>
            </a:prstGeom>
            <a:solidFill>
              <a:srgbClr val="002776"/>
            </a:solidFill>
            <a:ln w="12700" cap="flat" cmpd="sng" algn="ctr">
              <a:solidFill>
                <a:schemeClr val="accent4"/>
              </a:solid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45720" tIns="45720" rIns="45720" rtlCol="0" anchor="ctr"/>
            <a:lstStyle/>
            <a:p>
              <a:pPr algn="ctr">
                <a:defRPr/>
              </a:pPr>
              <a:r>
                <a:rPr lang="en-US" sz="1200" b="1" kern="0" dirty="0">
                  <a:solidFill>
                    <a:srgbClr val="FFFFFF"/>
                  </a:solidFill>
                  <a:latin typeface="Cambria" pitchFamily="18" charset="0"/>
                </a:rPr>
                <a:t>Bidding</a:t>
              </a:r>
            </a:p>
          </p:txBody>
        </p:sp>
        <p:cxnSp>
          <p:nvCxnSpPr>
            <p:cNvPr id="21" name="Straight Arrow Connector 20"/>
            <p:cNvCxnSpPr>
              <a:stCxn id="13" idx="2"/>
              <a:endCxn id="18" idx="6"/>
            </p:cNvCxnSpPr>
            <p:nvPr/>
          </p:nvCxnSpPr>
          <p:spPr>
            <a:xfrm flipV="1">
              <a:off x="1832724" y="3113019"/>
              <a:ext cx="2076519" cy="712376"/>
            </a:xfrm>
            <a:prstGeom prst="straightConnector1">
              <a:avLst/>
            </a:prstGeom>
            <a:noFill/>
            <a:ln w="28575" cap="flat" cmpd="sng" algn="ctr">
              <a:solidFill>
                <a:schemeClr val="accent4"/>
              </a:solidFill>
              <a:prstDash val="solid"/>
              <a:tailEnd type="arrow"/>
            </a:ln>
            <a:effectLst/>
          </p:spPr>
        </p:cxnSp>
        <p:cxnSp>
          <p:nvCxnSpPr>
            <p:cNvPr id="22" name="Straight Arrow Connector 21"/>
            <p:cNvCxnSpPr>
              <a:stCxn id="14" idx="2"/>
              <a:endCxn id="18" idx="7"/>
            </p:cNvCxnSpPr>
            <p:nvPr/>
          </p:nvCxnSpPr>
          <p:spPr>
            <a:xfrm>
              <a:off x="2599634" y="1969316"/>
              <a:ext cx="1508691" cy="833884"/>
            </a:xfrm>
            <a:prstGeom prst="straightConnector1">
              <a:avLst/>
            </a:prstGeom>
            <a:noFill/>
            <a:ln w="28575" cap="flat" cmpd="sng" algn="ctr">
              <a:solidFill>
                <a:schemeClr val="accent4"/>
              </a:solidFill>
              <a:prstDash val="solid"/>
              <a:tailEnd type="arrow"/>
            </a:ln>
            <a:effectLst/>
          </p:spPr>
        </p:cxnSp>
        <p:cxnSp>
          <p:nvCxnSpPr>
            <p:cNvPr id="23" name="Straight Arrow Connector 22"/>
            <p:cNvCxnSpPr>
              <a:stCxn id="15" idx="2"/>
              <a:endCxn id="18" idx="6"/>
            </p:cNvCxnSpPr>
            <p:nvPr/>
          </p:nvCxnSpPr>
          <p:spPr>
            <a:xfrm>
              <a:off x="1887766" y="2821888"/>
              <a:ext cx="2021477" cy="291131"/>
            </a:xfrm>
            <a:prstGeom prst="straightConnector1">
              <a:avLst/>
            </a:prstGeom>
            <a:noFill/>
            <a:ln w="28575" cap="flat" cmpd="sng" algn="ctr">
              <a:solidFill>
                <a:schemeClr val="accent4"/>
              </a:solidFill>
              <a:prstDash val="solid"/>
              <a:tailEnd type="arrow"/>
            </a:ln>
            <a:effectLst/>
          </p:spPr>
        </p:cxnSp>
        <p:cxnSp>
          <p:nvCxnSpPr>
            <p:cNvPr id="24" name="Straight Arrow Connector 23"/>
            <p:cNvCxnSpPr>
              <a:stCxn id="12" idx="5"/>
              <a:endCxn id="18" idx="0"/>
            </p:cNvCxnSpPr>
            <p:nvPr/>
          </p:nvCxnSpPr>
          <p:spPr>
            <a:xfrm>
              <a:off x="3379174" y="1611541"/>
              <a:ext cx="1209779" cy="1063328"/>
            </a:xfrm>
            <a:prstGeom prst="straightConnector1">
              <a:avLst/>
            </a:prstGeom>
            <a:noFill/>
            <a:ln w="28575" cap="flat" cmpd="sng" algn="ctr">
              <a:solidFill>
                <a:schemeClr val="accent4"/>
              </a:solidFill>
              <a:prstDash val="solid"/>
              <a:tailEnd type="arrow"/>
            </a:ln>
            <a:effectLst/>
          </p:spPr>
        </p:cxnSp>
        <p:cxnSp>
          <p:nvCxnSpPr>
            <p:cNvPr id="25" name="Straight Arrow Connector 24"/>
            <p:cNvCxnSpPr>
              <a:stCxn id="11" idx="0"/>
              <a:endCxn id="18" idx="5"/>
            </p:cNvCxnSpPr>
            <p:nvPr/>
          </p:nvCxnSpPr>
          <p:spPr>
            <a:xfrm flipV="1">
              <a:off x="1995661" y="3422838"/>
              <a:ext cx="2112664" cy="1725302"/>
            </a:xfrm>
            <a:prstGeom prst="straightConnector1">
              <a:avLst/>
            </a:prstGeom>
            <a:noFill/>
            <a:ln w="28575" cap="flat" cmpd="sng" algn="ctr">
              <a:solidFill>
                <a:schemeClr val="accent4"/>
              </a:solidFill>
              <a:prstDash val="solid"/>
              <a:tailEnd type="arrow"/>
            </a:ln>
            <a:effectLst/>
          </p:spPr>
        </p:cxnSp>
        <p:cxnSp>
          <p:nvCxnSpPr>
            <p:cNvPr id="26" name="Straight Arrow Connector 25"/>
            <p:cNvCxnSpPr>
              <a:stCxn id="10" idx="0"/>
              <a:endCxn id="18" idx="5"/>
            </p:cNvCxnSpPr>
            <p:nvPr/>
          </p:nvCxnSpPr>
          <p:spPr>
            <a:xfrm flipV="1">
              <a:off x="3106779" y="3422838"/>
              <a:ext cx="1001546" cy="2275450"/>
            </a:xfrm>
            <a:prstGeom prst="straightConnector1">
              <a:avLst/>
            </a:prstGeom>
            <a:noFill/>
            <a:ln w="28575" cap="flat" cmpd="sng" algn="ctr">
              <a:solidFill>
                <a:schemeClr val="accent4"/>
              </a:solidFill>
              <a:prstDash val="solid"/>
              <a:tailEnd type="arrow"/>
            </a:ln>
            <a:effectLst/>
          </p:spPr>
        </p:cxnSp>
        <p:cxnSp>
          <p:nvCxnSpPr>
            <p:cNvPr id="27" name="Straight Arrow Connector 26"/>
            <p:cNvCxnSpPr>
              <a:stCxn id="11" idx="7"/>
              <a:endCxn id="19" idx="5"/>
            </p:cNvCxnSpPr>
            <p:nvPr/>
          </p:nvCxnSpPr>
          <p:spPr>
            <a:xfrm flipV="1">
              <a:off x="2476289" y="4806284"/>
              <a:ext cx="1638385" cy="470187"/>
            </a:xfrm>
            <a:prstGeom prst="straightConnector1">
              <a:avLst/>
            </a:prstGeom>
            <a:noFill/>
            <a:ln w="28575" cap="flat" cmpd="sng" algn="ctr">
              <a:solidFill>
                <a:schemeClr val="accent4"/>
              </a:solidFill>
              <a:prstDash val="solid"/>
              <a:tailEnd type="arrow"/>
            </a:ln>
            <a:effectLst/>
          </p:spPr>
        </p:cxnSp>
        <p:cxnSp>
          <p:nvCxnSpPr>
            <p:cNvPr id="28" name="Straight Arrow Connector 27"/>
            <p:cNvCxnSpPr>
              <a:endCxn id="19" idx="4"/>
            </p:cNvCxnSpPr>
            <p:nvPr/>
          </p:nvCxnSpPr>
          <p:spPr>
            <a:xfrm flipV="1">
              <a:off x="3358573" y="4934615"/>
              <a:ext cx="1236729" cy="822406"/>
            </a:xfrm>
            <a:prstGeom prst="straightConnector1">
              <a:avLst/>
            </a:prstGeom>
            <a:noFill/>
            <a:ln w="28575" cap="flat" cmpd="sng" algn="ctr">
              <a:solidFill>
                <a:schemeClr val="accent4"/>
              </a:solidFill>
              <a:prstDash val="solid"/>
              <a:tailEnd type="arrow"/>
            </a:ln>
            <a:effectLst/>
          </p:spPr>
        </p:cxnSp>
        <p:sp>
          <p:nvSpPr>
            <p:cNvPr id="29" name="Oval 28"/>
            <p:cNvSpPr>
              <a:spLocks noChangeArrowheads="1"/>
            </p:cNvSpPr>
            <p:nvPr/>
          </p:nvSpPr>
          <p:spPr bwMode="gray">
            <a:xfrm>
              <a:off x="653450" y="4352384"/>
              <a:ext cx="1359419" cy="876300"/>
            </a:xfrm>
            <a:prstGeom prst="ellipse">
              <a:avLst/>
            </a:prstGeom>
            <a:solidFill>
              <a:srgbClr val="FFFFFF"/>
            </a:solidFill>
            <a:ln w="28575" algn="ctr">
              <a:solidFill>
                <a:schemeClr val="accent4"/>
              </a:solidFill>
              <a:round/>
              <a:headEnd/>
              <a:tailEnd/>
            </a:ln>
          </p:spPr>
          <p:txBody>
            <a:bodyPr wrap="square" lIns="0" tIns="0" rIns="0" bIns="0" anchor="ctr" anchorCtr="1"/>
            <a:lstStyle/>
            <a:p>
              <a:pPr algn="ctr">
                <a:lnSpc>
                  <a:spcPct val="106000"/>
                </a:lnSpc>
                <a:buClr>
                  <a:srgbClr val="000000"/>
                </a:buClr>
                <a:buFont typeface="Wingdings 2" pitchFamily="18" charset="2"/>
                <a:buNone/>
                <a:defRPr/>
              </a:pPr>
              <a:r>
                <a:rPr lang="en-US" sz="1200" b="1" i="1" kern="0" dirty="0">
                  <a:solidFill>
                    <a:srgbClr val="005587"/>
                  </a:solidFill>
                  <a:latin typeface="Cambria" pitchFamily="18" charset="0"/>
                  <a:ea typeface="ＭＳ Ｐゴシック" pitchFamily="50" charset="-128"/>
                </a:rPr>
                <a:t>Traffic</a:t>
              </a:r>
            </a:p>
          </p:txBody>
        </p:sp>
        <p:cxnSp>
          <p:nvCxnSpPr>
            <p:cNvPr id="30" name="Straight Arrow Connector 29"/>
            <p:cNvCxnSpPr>
              <a:stCxn id="29" idx="7"/>
              <a:endCxn id="18" idx="5"/>
            </p:cNvCxnSpPr>
            <p:nvPr/>
          </p:nvCxnSpPr>
          <p:spPr>
            <a:xfrm flipV="1">
              <a:off x="1813787" y="3422838"/>
              <a:ext cx="2294538" cy="1057877"/>
            </a:xfrm>
            <a:prstGeom prst="straightConnector1">
              <a:avLst/>
            </a:prstGeom>
            <a:noFill/>
            <a:ln w="28575" cap="flat" cmpd="sng" algn="ctr">
              <a:solidFill>
                <a:schemeClr val="accent4"/>
              </a:solidFill>
              <a:prstDash val="solid"/>
              <a:tailEnd type="arrow"/>
            </a:ln>
            <a:effectLst/>
          </p:spPr>
        </p:cxnSp>
        <p:cxnSp>
          <p:nvCxnSpPr>
            <p:cNvPr id="31" name="Straight Arrow Connector 30"/>
            <p:cNvCxnSpPr>
              <a:endCxn id="19" idx="6"/>
            </p:cNvCxnSpPr>
            <p:nvPr/>
          </p:nvCxnSpPr>
          <p:spPr>
            <a:xfrm flipV="1">
              <a:off x="1909037" y="4496465"/>
              <a:ext cx="2006555" cy="70888"/>
            </a:xfrm>
            <a:prstGeom prst="straightConnector1">
              <a:avLst/>
            </a:prstGeom>
            <a:noFill/>
            <a:ln w="28575" cap="flat" cmpd="sng" algn="ctr">
              <a:solidFill>
                <a:schemeClr val="accent4"/>
              </a:solidFill>
              <a:prstDash val="solid"/>
              <a:tailEnd type="arrow"/>
            </a:ln>
            <a:effectLst/>
          </p:spPr>
        </p:cxnSp>
        <p:cxnSp>
          <p:nvCxnSpPr>
            <p:cNvPr id="32" name="Straight Arrow Connector 31"/>
            <p:cNvCxnSpPr>
              <a:stCxn id="13" idx="2"/>
              <a:endCxn id="19" idx="6"/>
            </p:cNvCxnSpPr>
            <p:nvPr/>
          </p:nvCxnSpPr>
          <p:spPr>
            <a:xfrm>
              <a:off x="1832724" y="3825395"/>
              <a:ext cx="2082868" cy="671070"/>
            </a:xfrm>
            <a:prstGeom prst="straightConnector1">
              <a:avLst/>
            </a:prstGeom>
            <a:noFill/>
            <a:ln w="28575" cap="flat" cmpd="sng" algn="ctr">
              <a:solidFill>
                <a:schemeClr val="accent4"/>
              </a:solidFill>
              <a:prstDash val="solid"/>
              <a:tailEnd type="arrow"/>
            </a:ln>
            <a:effectLst/>
          </p:spPr>
        </p:cxnSp>
      </p:grpSp>
      <p:sp>
        <p:nvSpPr>
          <p:cNvPr id="36" name="Rectangle 35"/>
          <p:cNvSpPr/>
          <p:nvPr/>
        </p:nvSpPr>
        <p:spPr>
          <a:xfrm>
            <a:off x="2290627" y="57154"/>
            <a:ext cx="8149613" cy="307777"/>
          </a:xfrm>
          <a:prstGeom prst="rect">
            <a:avLst/>
          </a:prstGeom>
        </p:spPr>
        <p:txBody>
          <a:bodyPr wrap="square">
            <a:spAutoFit/>
          </a:bodyPr>
          <a:lstStyle/>
          <a:p>
            <a:pPr lvl="0" algn="r" defTabSz="914400">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a:t>
            </a: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bid development strategy and bid process management</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37" name="Straight Connector 3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263396" y="331644"/>
            <a:ext cx="991558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Bid Development Strategy and Bid Process Management</a:t>
            </a:r>
          </a:p>
        </p:txBody>
      </p:sp>
    </p:spTree>
    <p:extLst>
      <p:ext uri="{BB962C8B-B14F-4D97-AF65-F5344CB8AC3E}">
        <p14:creationId xmlns:p14="http://schemas.microsoft.com/office/powerpoint/2010/main" val="323546587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2350" y="2082400"/>
            <a:ext cx="1530238" cy="3194721"/>
          </a:xfrm>
          <a:prstGeom prst="rect">
            <a:avLst/>
          </a:prstGeom>
        </p:spPr>
        <p:txBody>
          <a:bodyPr wrap="square" lIns="27432" rIns="0">
            <a:spAutoFit/>
          </a:bodyPr>
          <a:lstStyle/>
          <a:p>
            <a:pPr marL="0" lvl="1" defTabSz="957263" fontAlgn="base">
              <a:lnSpc>
                <a:spcPct val="90000"/>
              </a:lnSpc>
              <a:spcBef>
                <a:spcPts val="400"/>
              </a:spcBef>
              <a:defRPr/>
            </a:pPr>
            <a:r>
              <a:rPr lang="en-US" sz="1600" dirty="0">
                <a:latin typeface="Verdana" panose="020B0604030504040204" pitchFamily="34" charset="0"/>
                <a:ea typeface="Verdana" panose="020B0604030504040204" pitchFamily="34" charset="0"/>
                <a:cs typeface="Verdana" panose="020B0604030504040204" pitchFamily="34" charset="0"/>
              </a:rPr>
              <a:t>Assistance through integration and presentation of the business model during meetings/ presentations with other consultants/ </a:t>
            </a:r>
            <a:r>
              <a:rPr lang="en-US" sz="1600" kern="0" dirty="0">
                <a:latin typeface="Verdana" panose="020B0604030504040204" pitchFamily="34" charset="0"/>
                <a:ea typeface="Verdana" panose="020B0604030504040204" pitchFamily="34" charset="0"/>
                <a:cs typeface="Verdana" panose="020B0604030504040204" pitchFamily="34" charset="0"/>
              </a:rPr>
              <a:t>tendering authority</a:t>
            </a:r>
            <a:endParaRPr lang="en-US" sz="1600" i="1" dirty="0">
              <a:latin typeface="Verdana" panose="020B0604030504040204" pitchFamily="34" charset="0"/>
              <a:ea typeface="Verdana" panose="020B0604030504040204" pitchFamily="34" charset="0"/>
              <a:cs typeface="Verdana" panose="020B0604030504040204" pitchFamily="34" charset="0"/>
            </a:endParaRPr>
          </a:p>
        </p:txBody>
      </p:sp>
      <p:sp>
        <p:nvSpPr>
          <p:cNvPr id="7" name="Left Brace 6"/>
          <p:cNvSpPr/>
          <p:nvPr/>
        </p:nvSpPr>
        <p:spPr>
          <a:xfrm>
            <a:off x="1913905" y="994280"/>
            <a:ext cx="324853" cy="5516287"/>
          </a:xfrm>
          <a:prstGeom prst="leftBrace">
            <a:avLst/>
          </a:prstGeom>
          <a:noFill/>
          <a:ln w="12700" cap="flat" cmpd="sng" algn="ctr">
            <a:solidFill>
              <a:srgbClr val="002776"/>
            </a:solidFill>
            <a:prstDash val="solid"/>
          </a:ln>
          <a:effectLst/>
        </p:spPr>
        <p:txBody>
          <a:bodyPr rtlCol="0" anchor="ctr"/>
          <a:lstStyle/>
          <a:p>
            <a:pPr algn="ctr">
              <a:defRPr/>
            </a:pPr>
            <a:endParaRPr lang="en-US" kern="0" dirty="0">
              <a:solidFill>
                <a:srgbClr val="002776"/>
              </a:solidFill>
            </a:endParaRPr>
          </a:p>
        </p:txBody>
      </p:sp>
      <p:grpSp>
        <p:nvGrpSpPr>
          <p:cNvPr id="8" name="Group 7"/>
          <p:cNvGrpSpPr/>
          <p:nvPr/>
        </p:nvGrpSpPr>
        <p:grpSpPr>
          <a:xfrm>
            <a:off x="2258943" y="997155"/>
            <a:ext cx="8107687" cy="5513412"/>
            <a:chOff x="2101437" y="835939"/>
            <a:chExt cx="9498033" cy="3274384"/>
          </a:xfrm>
        </p:grpSpPr>
        <p:sp>
          <p:nvSpPr>
            <p:cNvPr id="9" name="Rounded Rectangle 8"/>
            <p:cNvSpPr/>
            <p:nvPr/>
          </p:nvSpPr>
          <p:spPr>
            <a:xfrm>
              <a:off x="2101437" y="835939"/>
              <a:ext cx="9475155" cy="263589"/>
            </a:xfrm>
            <a:prstGeom prst="roundRect">
              <a:avLst/>
            </a:prstGeom>
            <a:solidFill>
              <a:schemeClr val="accent2"/>
            </a:solidFill>
            <a:ln w="25400" cap="flat" cmpd="sng" algn="ctr">
              <a:solidFill>
                <a:schemeClr val="accent2"/>
              </a:solidFill>
              <a:prstDash val="solid"/>
            </a:ln>
            <a:effectLst/>
          </p:spPr>
          <p:txBody>
            <a:bodyPr lIns="27432" tIns="0" rIns="0" bIns="0" rtlCol="0" anchor="ctr"/>
            <a:lstStyle/>
            <a:p>
              <a:pPr marL="4763">
                <a:defRPr/>
              </a:pPr>
              <a:r>
                <a:rPr lang="en-US" sz="16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Development of a Bid Strategy</a:t>
              </a:r>
            </a:p>
          </p:txBody>
        </p:sp>
        <p:sp>
          <p:nvSpPr>
            <p:cNvPr id="10" name="Rounded Rectangle 9"/>
            <p:cNvSpPr/>
            <p:nvPr/>
          </p:nvSpPr>
          <p:spPr>
            <a:xfrm>
              <a:off x="2112074" y="1099529"/>
              <a:ext cx="9484702" cy="845624"/>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in identifying the strategic objective of the management in terms of aspects like duration of investments, expected returns vis-à-vis estimated risk, inputs from competition assessment </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Coordinating the work of other independent and internal experts to support with analysis and materials for internal approvals</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Coordinating with external advisors (accounting, fiscal, legal, tax) during the bid due diligence and clarification process.</a:t>
              </a:r>
            </a:p>
          </p:txBody>
        </p:sp>
        <p:sp>
          <p:nvSpPr>
            <p:cNvPr id="11" name="Rounded Rectangle 10"/>
            <p:cNvSpPr/>
            <p:nvPr/>
          </p:nvSpPr>
          <p:spPr>
            <a:xfrm>
              <a:off x="2112134" y="1982513"/>
              <a:ext cx="9487336" cy="277518"/>
            </a:xfrm>
            <a:prstGeom prst="roundRect">
              <a:avLst/>
            </a:prstGeom>
            <a:solidFill>
              <a:schemeClr val="accent2"/>
            </a:solidFill>
            <a:ln w="25400" cap="flat" cmpd="sng" algn="ctr">
              <a:solidFill>
                <a:schemeClr val="accent2"/>
              </a:solidFill>
              <a:prstDash val="solid"/>
            </a:ln>
            <a:effectLst/>
          </p:spPr>
          <p:txBody>
            <a:bodyPr lIns="27432" tIns="0" rIns="0" bIns="0" rtlCol="0" anchor="ctr"/>
            <a:lstStyle/>
            <a:p>
              <a:pPr marL="4763">
                <a:defRPr/>
              </a:pPr>
              <a:r>
                <a:rPr lang="en-US" sz="16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Assistance in preparation of queries and clarifications</a:t>
              </a:r>
            </a:p>
          </p:txBody>
        </p:sp>
        <p:sp>
          <p:nvSpPr>
            <p:cNvPr id="12" name="Rounded Rectangle 11"/>
            <p:cNvSpPr/>
            <p:nvPr/>
          </p:nvSpPr>
          <p:spPr>
            <a:xfrm>
              <a:off x="2112134" y="2254881"/>
              <a:ext cx="9487336" cy="831899"/>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Participation in interactions/ site-visits along with key airport officials at the airport, to seek further inputs and data</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in undertaking in interfacing with tendering authority for various aspects</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in framing questions and request clarifications to enable modifications to the project and bidding documents</a:t>
              </a:r>
            </a:p>
          </p:txBody>
        </p:sp>
        <p:sp>
          <p:nvSpPr>
            <p:cNvPr id="13" name="Rounded Rectangle 12"/>
            <p:cNvSpPr/>
            <p:nvPr/>
          </p:nvSpPr>
          <p:spPr>
            <a:xfrm>
              <a:off x="2109986" y="3124139"/>
              <a:ext cx="9487336" cy="277518"/>
            </a:xfrm>
            <a:prstGeom prst="roundRect">
              <a:avLst/>
            </a:prstGeom>
            <a:solidFill>
              <a:schemeClr val="accent2"/>
            </a:solidFill>
            <a:ln w="25400" cap="flat" cmpd="sng" algn="ctr">
              <a:solidFill>
                <a:schemeClr val="accent2"/>
              </a:solidFill>
              <a:prstDash val="solid"/>
            </a:ln>
            <a:effectLst/>
          </p:spPr>
          <p:txBody>
            <a:bodyPr lIns="27432" tIns="0" rIns="0" bIns="0" rtlCol="0" anchor="ctr"/>
            <a:lstStyle/>
            <a:p>
              <a:pPr marL="4763">
                <a:defRPr/>
              </a:pPr>
              <a:r>
                <a:rPr lang="en-US" sz="16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Assistance in preparation of Bid Documents</a:t>
              </a:r>
            </a:p>
          </p:txBody>
        </p:sp>
        <p:sp>
          <p:nvSpPr>
            <p:cNvPr id="14" name="Rounded Rectangle 13"/>
            <p:cNvSpPr/>
            <p:nvPr/>
          </p:nvSpPr>
          <p:spPr>
            <a:xfrm>
              <a:off x="2109986" y="3396508"/>
              <a:ext cx="9487336" cy="713815"/>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in preparation of bid documents in response to RFP documents issued by the tendering authority </a:t>
              </a:r>
            </a:p>
            <a:p>
              <a:pPr marL="469900" indent="-285750">
                <a:buFont typeface="Courier New" pitchFamily="49" charset="0"/>
                <a:buChar char="o"/>
                <a:defRPr/>
              </a:pPr>
              <a:r>
                <a:rPr lang="en-US" sz="1200" kern="0" dirty="0">
                  <a:latin typeface="Verdana" panose="020B0604030504040204" pitchFamily="34" charset="0"/>
                  <a:ea typeface="Verdana" panose="020B0604030504040204" pitchFamily="34" charset="0"/>
                  <a:cs typeface="Verdana" panose="020B0604030504040204" pitchFamily="34" charset="0"/>
                </a:rPr>
                <a:t>Focus on understanding and discussing the requirements laid out in the RFP documents and assisting in preparing the bid including the preparation of the financial section of the bid submission.</a:t>
              </a:r>
            </a:p>
          </p:txBody>
        </p:sp>
      </p:grpSp>
      <p:sp>
        <p:nvSpPr>
          <p:cNvPr id="19" name="Rectangle 18"/>
          <p:cNvSpPr/>
          <p:nvPr/>
        </p:nvSpPr>
        <p:spPr>
          <a:xfrm>
            <a:off x="2290627" y="57154"/>
            <a:ext cx="8149613" cy="307777"/>
          </a:xfrm>
          <a:prstGeom prst="rect">
            <a:avLst/>
          </a:prstGeom>
        </p:spPr>
        <p:txBody>
          <a:bodyPr wrap="square">
            <a:spAutoFit/>
          </a:bodyPr>
          <a:lstStyle/>
          <a:p>
            <a:pPr lvl="0" algn="r" defTabSz="914400">
              <a:defRPr/>
            </a:pPr>
            <a:r>
              <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Required advisory</a:t>
            </a:r>
            <a:r>
              <a:rPr kumimoji="0" lang="en-US" sz="1400" b="0" i="0" u="none" strike="noStrike" kern="1200" cap="none" spc="0" normalizeH="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rPr>
              <a:t> assistance – </a:t>
            </a: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bid development strategy and bid process management</a:t>
            </a:r>
            <a:endParaRPr kumimoji="0" lang="en-US" sz="1400" b="0" i="0" u="none" strike="noStrike" kern="1200" cap="none" spc="0" normalizeH="0" baseline="0" noProof="0" dirty="0">
              <a:ln>
                <a:noFill/>
              </a:ln>
              <a:solidFill>
                <a:schemeClr val="accent2"/>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cxnSp>
        <p:nvCxnSpPr>
          <p:cNvPr id="20" name="Straight Connector 1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63396" y="331644"/>
            <a:ext cx="991558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Bid Process related assistance</a:t>
            </a:r>
          </a:p>
        </p:txBody>
      </p:sp>
    </p:spTree>
    <p:extLst>
      <p:ext uri="{BB962C8B-B14F-4D97-AF65-F5344CB8AC3E}">
        <p14:creationId xmlns:p14="http://schemas.microsoft.com/office/powerpoint/2010/main" val="1195652651"/>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Required advisory assistance: Bid Submission</a:t>
            </a:r>
          </a:p>
        </p:txBody>
      </p: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defRPr/>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Assistance in Bid Submission and Onboarding O&amp;M Partner</a:t>
            </a:r>
          </a:p>
        </p:txBody>
      </p:sp>
      <p:sp>
        <p:nvSpPr>
          <p:cNvPr id="38" name="Rectangle 37"/>
          <p:cNvSpPr/>
          <p:nvPr/>
        </p:nvSpPr>
        <p:spPr>
          <a:xfrm>
            <a:off x="352350" y="931755"/>
            <a:ext cx="9792289" cy="5665462"/>
          </a:xfrm>
          <a:prstGeom prst="rect">
            <a:avLst/>
          </a:prstGeom>
        </p:spPr>
        <p:txBody>
          <a:bodyPr wrap="square">
            <a:spAutoFit/>
          </a:bodyPr>
          <a:lstStyle/>
          <a:p>
            <a:pPr algn="just">
              <a:spcAft>
                <a:spcPts val="300"/>
              </a:spcAft>
            </a:pPr>
            <a:r>
              <a:rPr lang="en-US" sz="1400" dirty="0">
                <a:solidFill>
                  <a:schemeClr val="accent2"/>
                </a:solidFill>
                <a:latin typeface="+mj-lt"/>
                <a:ea typeface="Calibri" panose="020F0502020204030204" pitchFamily="34" charset="0"/>
                <a:cs typeface="Times New Roman" panose="02020603050405020304" pitchFamily="18" charset="0"/>
              </a:rPr>
              <a:t>The focus here would be on identification of a company/ companies willing to partner with Essel Infraprojects for O&amp;M of the Project. </a:t>
            </a:r>
          </a:p>
          <a:p>
            <a:pPr algn="just">
              <a:spcAft>
                <a:spcPts val="300"/>
              </a:spcAft>
            </a:pPr>
            <a:endParaRPr lang="en-US" sz="1400" b="1" dirty="0">
              <a:solidFill>
                <a:srgbClr val="002776"/>
              </a:solidFill>
              <a:latin typeface="+mj-lt"/>
              <a:ea typeface="Calibri" panose="020F0502020204030204" pitchFamily="34" charset="0"/>
              <a:cs typeface="Times New Roman" panose="02020603050405020304" pitchFamily="18" charset="0"/>
            </a:endParaRPr>
          </a:p>
          <a:p>
            <a:pPr algn="just">
              <a:spcAft>
                <a:spcPts val="300"/>
              </a:spcAft>
            </a:pPr>
            <a:r>
              <a:rPr lang="en-US" sz="1400" b="1" dirty="0">
                <a:solidFill>
                  <a:srgbClr val="002776"/>
                </a:solidFill>
                <a:latin typeface="+mj-lt"/>
                <a:ea typeface="Calibri" panose="020F0502020204030204" pitchFamily="34" charset="0"/>
                <a:cs typeface="Times New Roman" panose="02020603050405020304" pitchFamily="18" charset="0"/>
              </a:rPr>
              <a:t>Scope of Work</a:t>
            </a:r>
          </a:p>
          <a:p>
            <a:pPr algn="just">
              <a:spcAft>
                <a:spcPts val="300"/>
              </a:spcAft>
            </a:pPr>
            <a:r>
              <a:rPr lang="en-US" sz="1200" dirty="0">
                <a:solidFill>
                  <a:srgbClr val="000000"/>
                </a:solidFill>
                <a:latin typeface="+mj-lt"/>
                <a:ea typeface="Calibri" panose="020F0502020204030204" pitchFamily="34" charset="0"/>
                <a:cs typeface="Times New Roman" panose="02020603050405020304" pitchFamily="18" charset="0"/>
              </a:rPr>
              <a:t>The activities proposed to be undertaken under this phase are as follows:</a:t>
            </a:r>
          </a:p>
          <a:p>
            <a:pPr marL="342900" indent="-342900" algn="just">
              <a:spcAft>
                <a:spcPts val="300"/>
              </a:spcAft>
              <a:buFont typeface="+mj-lt"/>
              <a:buAutoNum type="arabicPeriod"/>
            </a:pPr>
            <a:r>
              <a:rPr lang="en-US" sz="1200" dirty="0">
                <a:solidFill>
                  <a:srgbClr val="000000"/>
                </a:solidFill>
                <a:latin typeface="+mj-lt"/>
                <a:ea typeface="Calibri" panose="020F0502020204030204" pitchFamily="34" charset="0"/>
                <a:cs typeface="Times New Roman" panose="02020603050405020304" pitchFamily="18" charset="0"/>
              </a:rPr>
              <a:t>Assist Essel Infraprojects in identifying the required competencies / minimum qualification requirements under the bidding documents. This would facilitate Essel Infraprojects in identifying the gaps and therefore, the desired requirements of the potential partner. These competencies would be discussed and finalised in consultation with Essel Infraprojects.</a:t>
            </a:r>
          </a:p>
          <a:p>
            <a:pPr marL="342900" indent="-342900" algn="just">
              <a:spcAft>
                <a:spcPts val="300"/>
              </a:spcAft>
              <a:buFont typeface="+mj-lt"/>
              <a:buAutoNum type="arabicPeriod"/>
            </a:pPr>
            <a:r>
              <a:rPr lang="en-US" sz="1200" dirty="0">
                <a:solidFill>
                  <a:srgbClr val="000000"/>
                </a:solidFill>
                <a:latin typeface="+mj-lt"/>
                <a:ea typeface="Calibri" panose="020F0502020204030204" pitchFamily="34" charset="0"/>
                <a:cs typeface="Times New Roman" panose="02020603050405020304" pitchFamily="18" charset="0"/>
              </a:rPr>
              <a:t>Assist Essel Infraprojects in approaching potential partners.</a:t>
            </a:r>
          </a:p>
          <a:p>
            <a:pPr marL="342900" lvl="0" indent="-342900" algn="just">
              <a:spcAft>
                <a:spcPts val="300"/>
              </a:spcAft>
              <a:buFont typeface="+mj-lt"/>
              <a:buAutoNum type="arabicPeriod"/>
            </a:pPr>
            <a:r>
              <a:rPr lang="en-GB" sz="1200" dirty="0">
                <a:solidFill>
                  <a:srgbClr val="000000"/>
                </a:solidFill>
                <a:latin typeface="+mj-lt"/>
                <a:ea typeface="Calibri" panose="020F0502020204030204" pitchFamily="34" charset="0"/>
                <a:cs typeface="Times New Roman" panose="02020603050405020304" pitchFamily="18" charset="0"/>
              </a:rPr>
              <a:t>In case more than one potential partner evinces interest, we would assist Essel Infraprojects in the process of evaluating the proposal of the interested Partners from a commercial perspective</a:t>
            </a:r>
            <a:endParaRPr lang="en-US" sz="1200" dirty="0">
              <a:solidFill>
                <a:srgbClr val="000000"/>
              </a:solidFill>
              <a:latin typeface="+mj-lt"/>
              <a:ea typeface="Calibri" panose="020F0502020204030204" pitchFamily="34" charset="0"/>
              <a:cs typeface="Times New Roman" panose="02020603050405020304" pitchFamily="18" charset="0"/>
            </a:endParaRPr>
          </a:p>
          <a:p>
            <a:pPr marL="342900" lvl="0" indent="-342900" algn="just">
              <a:spcAft>
                <a:spcPts val="300"/>
              </a:spcAft>
              <a:buFont typeface="+mj-lt"/>
              <a:buAutoNum type="arabicPeriod"/>
            </a:pPr>
            <a:r>
              <a:rPr lang="en-GB" sz="1200" dirty="0">
                <a:solidFill>
                  <a:srgbClr val="000000"/>
                </a:solidFill>
                <a:latin typeface="+mj-lt"/>
                <a:ea typeface="Calibri" panose="020F0502020204030204" pitchFamily="34" charset="0"/>
                <a:cs typeface="Times New Roman" panose="02020603050405020304" pitchFamily="18" charset="0"/>
              </a:rPr>
              <a:t>Review and comment on the commercial/ financial aspects of the Memorandum of Understanding (MoU) developed by Legal Advisors of Essel Infraprojects and provide our views on the same. </a:t>
            </a:r>
          </a:p>
          <a:p>
            <a:pPr algn="just">
              <a:spcAft>
                <a:spcPts val="800"/>
              </a:spcAft>
              <a:tabLst>
                <a:tab pos="3705225" algn="l"/>
              </a:tabLst>
            </a:pPr>
            <a:endParaRPr lang="en-US" sz="1200" b="1" dirty="0">
              <a:solidFill>
                <a:srgbClr val="002776"/>
              </a:solidFill>
              <a:latin typeface="+mj-lt"/>
              <a:ea typeface="Calibri" panose="020F0502020204030204" pitchFamily="34" charset="0"/>
              <a:cs typeface="Times New Roman" panose="02020603050405020304" pitchFamily="18" charset="0"/>
            </a:endParaRPr>
          </a:p>
          <a:p>
            <a:pPr algn="just">
              <a:spcAft>
                <a:spcPts val="800"/>
              </a:spcAft>
              <a:tabLst>
                <a:tab pos="3705225" algn="l"/>
              </a:tabLst>
            </a:pPr>
            <a:r>
              <a:rPr lang="en-US" sz="1400" b="1" dirty="0">
                <a:solidFill>
                  <a:srgbClr val="002776"/>
                </a:solidFill>
                <a:latin typeface="+mj-lt"/>
                <a:ea typeface="Calibri" panose="020F0502020204030204" pitchFamily="34" charset="0"/>
                <a:cs typeface="Times New Roman" panose="02020603050405020304" pitchFamily="18" charset="0"/>
              </a:rPr>
              <a:t>Considerations to the above scope of work</a:t>
            </a:r>
          </a:p>
          <a:p>
            <a:pPr marL="342900" lvl="0" indent="-342900" algn="just">
              <a:spcAft>
                <a:spcPts val="300"/>
              </a:spcAft>
              <a:buFont typeface="+mj-lt"/>
              <a:buAutoNum type="arabicPeriod"/>
            </a:pPr>
            <a:r>
              <a:rPr lang="en-GB" sz="1200" dirty="0">
                <a:solidFill>
                  <a:srgbClr val="000000"/>
                </a:solidFill>
                <a:latin typeface="+mj-lt"/>
                <a:ea typeface="Calibri" panose="020F0502020204030204" pitchFamily="34" charset="0"/>
                <a:cs typeface="Times New Roman" panose="02020603050405020304" pitchFamily="18" charset="0"/>
              </a:rPr>
              <a:t>Considering the nature of service, we have envisaged providing review assistance in signing of MoU with maximum of 1 Indian/ international partners</a:t>
            </a:r>
            <a:endParaRPr lang="en-US" sz="1200" dirty="0">
              <a:solidFill>
                <a:srgbClr val="000000"/>
              </a:solidFill>
              <a:latin typeface="+mj-lt"/>
              <a:ea typeface="Calibri" panose="020F0502020204030204" pitchFamily="34" charset="0"/>
              <a:cs typeface="Times New Roman" panose="02020603050405020304" pitchFamily="18" charset="0"/>
            </a:endParaRPr>
          </a:p>
          <a:p>
            <a:pPr marL="342900" lvl="0" indent="-342900" algn="just">
              <a:spcAft>
                <a:spcPts val="300"/>
              </a:spcAft>
              <a:buFont typeface="+mj-lt"/>
              <a:buAutoNum type="arabicPeriod"/>
            </a:pPr>
            <a:r>
              <a:rPr lang="en-GB" sz="1200" dirty="0">
                <a:solidFill>
                  <a:srgbClr val="000000"/>
                </a:solidFill>
                <a:latin typeface="+mj-lt"/>
                <a:ea typeface="Calibri" panose="020F0502020204030204" pitchFamily="34" charset="0"/>
                <a:cs typeface="Times New Roman" panose="02020603050405020304" pitchFamily="18" charset="0"/>
              </a:rPr>
              <a:t>The target identification and credentials assessment shall be done solely based on secondary data using Deloitte’s internal databases, published information, industry reports and any information / data provided by Client and interactions with entities specified under relevant sections of our scope of work. The disclosure of any confidential information would be contingent upon express permission for the same from the identified target. This would include, but will not be limited to, any information (expressed OR deemed confidential) pertaining to the existing / previous clients of Deloitte</a:t>
            </a:r>
            <a:endParaRPr lang="en-US" sz="1200" dirty="0">
              <a:solidFill>
                <a:srgbClr val="000000"/>
              </a:solidFill>
              <a:latin typeface="+mj-lt"/>
              <a:ea typeface="Calibri" panose="020F0502020204030204" pitchFamily="34" charset="0"/>
              <a:cs typeface="Times New Roman" panose="02020603050405020304" pitchFamily="18" charset="0"/>
            </a:endParaRPr>
          </a:p>
          <a:p>
            <a:pPr marL="342900" lvl="0" indent="-342900" algn="just">
              <a:spcAft>
                <a:spcPts val="300"/>
              </a:spcAft>
              <a:buFont typeface="+mj-lt"/>
              <a:buAutoNum type="arabicPeriod"/>
            </a:pPr>
            <a:r>
              <a:rPr lang="en-GB" sz="1200" dirty="0">
                <a:solidFill>
                  <a:srgbClr val="000000"/>
                </a:solidFill>
                <a:latin typeface="+mj-lt"/>
                <a:ea typeface="Calibri" panose="020F0502020204030204" pitchFamily="34" charset="0"/>
                <a:cs typeface="Times New Roman" panose="02020603050405020304" pitchFamily="18" charset="0"/>
              </a:rPr>
              <a:t>We have not envisaged undertaking any international travel. In case such travel is required, we would require reimbursement of expenses for the same. </a:t>
            </a:r>
            <a:endParaRPr lang="en-US" sz="1200" dirty="0">
              <a:solidFill>
                <a:srgbClr val="000000"/>
              </a:solidFill>
              <a:latin typeface="+mj-lt"/>
              <a:ea typeface="Calibri" panose="020F0502020204030204" pitchFamily="34" charset="0"/>
              <a:cs typeface="Times New Roman" panose="02020603050405020304" pitchFamily="18" charset="0"/>
            </a:endParaRPr>
          </a:p>
        </p:txBody>
      </p:sp>
      <p:cxnSp>
        <p:nvCxnSpPr>
          <p:cNvPr id="39" name="Straight Connector 38"/>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2617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Advisory assistance</a:t>
            </a:r>
          </a:p>
        </p:txBody>
      </p:sp>
      <p:cxnSp>
        <p:nvCxnSpPr>
          <p:cNvPr id="18" name="Straight Connector 17"/>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63396" y="331644"/>
            <a:ext cx="10103234" cy="425758"/>
          </a:xfrm>
          <a:prstGeom prst="rect">
            <a:avLst/>
          </a:prstGeom>
        </p:spPr>
        <p:txBody>
          <a:bodyPr wrap="square">
            <a:spAutoFit/>
          </a:bodyPr>
          <a:lstStyle/>
          <a:p>
            <a:pPr defTabSz="914253">
              <a:lnSpc>
                <a:spcPts val="2599"/>
              </a:lnSpc>
              <a:defRPr/>
            </a:pPr>
            <a:r>
              <a:rPr lang="en-US" sz="2400" dirty="0">
                <a:latin typeface="Verdana" panose="020B0604030504040204" pitchFamily="34" charset="0"/>
                <a:ea typeface="Verdana" panose="020B0604030504040204" pitchFamily="34" charset="0"/>
                <a:cs typeface="Verdana" panose="020B0604030504040204" pitchFamily="34" charset="0"/>
              </a:rPr>
              <a:t>Comments on Scope of Work</a:t>
            </a:r>
          </a:p>
        </p:txBody>
      </p:sp>
      <p:sp>
        <p:nvSpPr>
          <p:cNvPr id="14" name="TextBox 13"/>
          <p:cNvSpPr txBox="1"/>
          <p:nvPr/>
        </p:nvSpPr>
        <p:spPr>
          <a:xfrm>
            <a:off x="270306" y="919030"/>
            <a:ext cx="10096324" cy="6001643"/>
          </a:xfrm>
          <a:prstGeom prst="rect">
            <a:avLst/>
          </a:prstGeom>
          <a:noFill/>
        </p:spPr>
        <p:txBody>
          <a:bodyPr wrap="square" rtlCol="0">
            <a:spAutoFit/>
          </a:bodyPr>
          <a:lstStyle/>
          <a:p>
            <a:pPr algn="just"/>
            <a:r>
              <a:rPr lang="en-US" sz="1400" b="1" dirty="0">
                <a:solidFill>
                  <a:schemeClr val="accent2"/>
                </a:solidFill>
                <a:latin typeface="+mj-lt"/>
              </a:rPr>
              <a:t>Following are specific comments on the scope of work</a:t>
            </a:r>
          </a:p>
          <a:p>
            <a:pPr algn="just"/>
            <a:endParaRPr lang="en-US" sz="1200" dirty="0">
              <a:solidFill>
                <a:prstClr val="black"/>
              </a:solidFill>
              <a:latin typeface="+mj-lt"/>
            </a:endParaRPr>
          </a:p>
          <a:p>
            <a:pPr marL="285750" indent="-285750" algn="just">
              <a:buFont typeface="Arial" panose="020B0604020202020204" pitchFamily="34" charset="0"/>
              <a:buChar char="•"/>
            </a:pPr>
            <a:r>
              <a:rPr lang="en-US" sz="1200" b="1" u="sng" dirty="0">
                <a:solidFill>
                  <a:prstClr val="black"/>
                </a:solidFill>
                <a:latin typeface="+mj-lt"/>
              </a:rPr>
              <a:t>Airport Master planning and assessment of capital investment </a:t>
            </a:r>
            <a:r>
              <a:rPr lang="en-US" sz="1200" dirty="0">
                <a:solidFill>
                  <a:prstClr val="black"/>
                </a:solidFill>
                <a:latin typeface="+mj-lt"/>
              </a:rPr>
              <a:t>– Our scope of work doesn’t include undertaking any assessment of infrastructure / facility requirement (and their associated costs) and a detailed master planning. We assume that Essel Infraprojects would undertake such tasks on its own or through technical consultants which will be incorporated in the financial model. </a:t>
            </a:r>
          </a:p>
          <a:p>
            <a:pPr marL="285750" indent="-285750" algn="just">
              <a:buFont typeface="Arial" panose="020B0604020202020204" pitchFamily="34" charset="0"/>
              <a:buChar char="•"/>
            </a:pPr>
            <a:endParaRPr lang="en-US" sz="1200" dirty="0">
              <a:solidFill>
                <a:prstClr val="black"/>
              </a:solidFill>
              <a:latin typeface="+mj-lt"/>
            </a:endParaRPr>
          </a:p>
          <a:p>
            <a:pPr marL="285750" indent="-285750" algn="just">
              <a:buFont typeface="Arial" panose="020B0604020202020204" pitchFamily="34" charset="0"/>
              <a:buChar char="•"/>
            </a:pPr>
            <a:r>
              <a:rPr lang="en-US" sz="1200" b="1" u="sng" dirty="0">
                <a:solidFill>
                  <a:prstClr val="black"/>
                </a:solidFill>
                <a:latin typeface="+mj-lt"/>
              </a:rPr>
              <a:t>Commercial Development </a:t>
            </a:r>
            <a:r>
              <a:rPr lang="en-US" sz="1200" dirty="0">
                <a:solidFill>
                  <a:prstClr val="black"/>
                </a:solidFill>
                <a:latin typeface="+mj-lt"/>
              </a:rPr>
              <a:t>– Our scope doesn’t include undertaking detailed assessment / surveys of commercial / real estate development potential within the project land. We understand that Essel Infraprojects would be appointing a separate real estate consultants who would work closely with the technical arm of the client to assess the potential of commercial / real estate development. </a:t>
            </a:r>
          </a:p>
          <a:p>
            <a:pPr marL="285750" indent="-285750" algn="just">
              <a:buFont typeface="Arial" panose="020B0604020202020204" pitchFamily="34" charset="0"/>
              <a:buChar char="•"/>
            </a:pPr>
            <a:endParaRPr lang="en-US" sz="1200" b="1" u="sng" dirty="0">
              <a:solidFill>
                <a:prstClr val="black"/>
              </a:solidFill>
              <a:latin typeface="+mj-lt"/>
            </a:endParaRPr>
          </a:p>
          <a:p>
            <a:pPr marL="285750" indent="-285750" algn="just">
              <a:buFont typeface="Arial" panose="020B0604020202020204" pitchFamily="34" charset="0"/>
              <a:buChar char="•"/>
            </a:pPr>
            <a:r>
              <a:rPr lang="en-US" sz="1200" b="1" u="sng" dirty="0">
                <a:solidFill>
                  <a:prstClr val="black"/>
                </a:solidFill>
                <a:latin typeface="+mj-lt"/>
              </a:rPr>
              <a:t>Due-Diligence </a:t>
            </a:r>
            <a:r>
              <a:rPr lang="en-US" sz="1200" dirty="0">
                <a:solidFill>
                  <a:prstClr val="black"/>
                </a:solidFill>
                <a:latin typeface="+mj-lt"/>
              </a:rPr>
              <a:t>– Our scope does not include undertaking:</a:t>
            </a:r>
          </a:p>
          <a:p>
            <a:pPr lvl="1" indent="-171450" algn="just">
              <a:buFont typeface="Arial" panose="020B0604020202020204" pitchFamily="34" charset="0"/>
              <a:buChar char="•"/>
            </a:pPr>
            <a:r>
              <a:rPr lang="en-GB" sz="1200" dirty="0">
                <a:solidFill>
                  <a:prstClr val="black"/>
                </a:solidFill>
                <a:latin typeface="+mj-lt"/>
              </a:rPr>
              <a:t>Legal review / legal due diligence of the information provided by </a:t>
            </a:r>
            <a:r>
              <a:rPr lang="en-US" sz="1200" dirty="0">
                <a:solidFill>
                  <a:prstClr val="black"/>
                </a:solidFill>
                <a:latin typeface="+mj-lt"/>
              </a:rPr>
              <a:t>Government Authorities</a:t>
            </a:r>
            <a:r>
              <a:rPr lang="en-GB" sz="1200" dirty="0">
                <a:solidFill>
                  <a:prstClr val="black"/>
                </a:solidFill>
                <a:latin typeface="+mj-lt"/>
              </a:rPr>
              <a:t>, for instance, review of land records, estimation of any liabilities resulting from such legal due diligence including employees related liabilities, etc.</a:t>
            </a:r>
            <a:endParaRPr lang="en-US" sz="1200" dirty="0">
              <a:solidFill>
                <a:prstClr val="black"/>
              </a:solidFill>
              <a:latin typeface="+mj-lt"/>
            </a:endParaRPr>
          </a:p>
          <a:p>
            <a:pPr lvl="1" indent="-171450" algn="just">
              <a:buFont typeface="Arial" panose="020B0604020202020204" pitchFamily="34" charset="0"/>
              <a:buChar char="•"/>
            </a:pPr>
            <a:r>
              <a:rPr lang="en-GB" sz="1200" dirty="0">
                <a:solidFill>
                  <a:prstClr val="black"/>
                </a:solidFill>
                <a:latin typeface="+mj-lt"/>
              </a:rPr>
              <a:t>Financial Due Diligence of the airport </a:t>
            </a:r>
          </a:p>
          <a:p>
            <a:pPr lvl="1" indent="-171450" algn="just">
              <a:buFont typeface="Arial" panose="020B0604020202020204" pitchFamily="34" charset="0"/>
              <a:buChar char="•"/>
            </a:pPr>
            <a:r>
              <a:rPr lang="en-GB" sz="1200" dirty="0">
                <a:solidFill>
                  <a:prstClr val="black"/>
                </a:solidFill>
                <a:latin typeface="+mj-lt"/>
              </a:rPr>
              <a:t>Tax due diligence – review of tax records, review of any ongoing tax litigation and impact on the financial viability, tax implications of the project etc.</a:t>
            </a:r>
          </a:p>
          <a:p>
            <a:pPr lvl="1" indent="-171450" algn="just">
              <a:buFont typeface="Arial" panose="020B0604020202020204" pitchFamily="34" charset="0"/>
              <a:buChar char="•"/>
            </a:pPr>
            <a:r>
              <a:rPr lang="en-US" sz="1200" dirty="0">
                <a:solidFill>
                  <a:prstClr val="black"/>
                </a:solidFill>
                <a:latin typeface="+mj-lt"/>
              </a:rPr>
              <a:t>Technical due diligence viz. state of assets – condition of asset / lands; etc. </a:t>
            </a:r>
          </a:p>
          <a:p>
            <a:pPr marL="285750" indent="-285750" algn="just">
              <a:buFont typeface="Arial" panose="020B0604020202020204" pitchFamily="34" charset="0"/>
              <a:buChar char="•"/>
            </a:pPr>
            <a:endParaRPr lang="en-US" sz="1200" b="1" u="sng" dirty="0">
              <a:solidFill>
                <a:prstClr val="black"/>
              </a:solidFill>
              <a:latin typeface="+mj-lt"/>
            </a:endParaRPr>
          </a:p>
          <a:p>
            <a:pPr marL="285750" indent="-285750" algn="just">
              <a:buFont typeface="Arial" panose="020B0604020202020204" pitchFamily="34" charset="0"/>
              <a:buChar char="•"/>
            </a:pPr>
            <a:r>
              <a:rPr lang="en-US" sz="1200" b="1" u="sng" dirty="0">
                <a:solidFill>
                  <a:prstClr val="black"/>
                </a:solidFill>
                <a:latin typeface="+mj-lt"/>
              </a:rPr>
              <a:t>Post-bid assistance </a:t>
            </a:r>
            <a:r>
              <a:rPr lang="en-US" sz="1200" dirty="0">
                <a:solidFill>
                  <a:prstClr val="black"/>
                </a:solidFill>
                <a:latin typeface="+mj-lt"/>
              </a:rPr>
              <a:t>– Our scope of work does not include any kind of post-bid advisory assistance.</a:t>
            </a:r>
          </a:p>
          <a:p>
            <a:pPr marL="285750" indent="-285750" algn="just">
              <a:buFont typeface="Arial" panose="020B0604020202020204" pitchFamily="34" charset="0"/>
              <a:buChar char="•"/>
            </a:pPr>
            <a:endParaRPr lang="en-US" sz="1200" b="1" u="sng" dirty="0">
              <a:solidFill>
                <a:prstClr val="black"/>
              </a:solidFill>
              <a:latin typeface="+mj-lt"/>
            </a:endParaRPr>
          </a:p>
          <a:p>
            <a:pPr marL="285750" indent="-285750" algn="just">
              <a:buFont typeface="Arial" panose="020B0604020202020204" pitchFamily="34" charset="0"/>
              <a:buChar char="•"/>
            </a:pPr>
            <a:r>
              <a:rPr lang="en-US" sz="1200" b="1" u="sng" dirty="0">
                <a:solidFill>
                  <a:prstClr val="black"/>
                </a:solidFill>
                <a:latin typeface="+mj-lt"/>
              </a:rPr>
              <a:t>Regulatory assistance </a:t>
            </a:r>
            <a:r>
              <a:rPr lang="en-US" sz="1200" dirty="0">
                <a:solidFill>
                  <a:prstClr val="black"/>
                </a:solidFill>
                <a:latin typeface="+mj-lt"/>
              </a:rPr>
              <a:t>– Our Scope would include review of economic regulatory guidelines only for the purpose of considering the same in the financial model for bidding. In the event of client winning the bid, we can assist the client in any tariff proposal preparation for submission to AERA for tariff determination as an additional scope and commensurate fee at such time.</a:t>
            </a:r>
          </a:p>
          <a:p>
            <a:pPr marL="285750" indent="-285750" algn="just">
              <a:buFont typeface="Arial" panose="020B0604020202020204" pitchFamily="34" charset="0"/>
              <a:buChar char="•"/>
            </a:pPr>
            <a:endParaRPr lang="en-US" sz="1200" dirty="0">
              <a:solidFill>
                <a:prstClr val="black"/>
              </a:solidFill>
              <a:latin typeface="+mj-lt"/>
            </a:endParaRPr>
          </a:p>
          <a:p>
            <a:pPr marL="285750" indent="-285750" algn="just">
              <a:buFont typeface="Arial" panose="020B0604020202020204" pitchFamily="34" charset="0"/>
              <a:buChar char="•"/>
            </a:pPr>
            <a:r>
              <a:rPr lang="en-US" sz="1200" dirty="0">
                <a:solidFill>
                  <a:prstClr val="black"/>
                </a:solidFill>
                <a:latin typeface="+mj-lt"/>
              </a:rPr>
              <a:t>The scope of work does not envisage any periodic updation to the financial model after submission of final financial model upon incorporating inputs from various consultants</a:t>
            </a:r>
          </a:p>
          <a:p>
            <a:pPr marL="285750" indent="-285750" algn="just">
              <a:buFont typeface="Arial" panose="020B0604020202020204" pitchFamily="34" charset="0"/>
              <a:buChar char="•"/>
            </a:pPr>
            <a:endParaRPr lang="en-US" sz="1200" dirty="0">
              <a:solidFill>
                <a:prstClr val="black"/>
              </a:solidFill>
              <a:latin typeface="+mj-lt"/>
            </a:endParaRPr>
          </a:p>
          <a:p>
            <a:pPr marL="285750" indent="-285750" algn="just">
              <a:buFont typeface="Arial" panose="020B0604020202020204" pitchFamily="34" charset="0"/>
              <a:buChar char="•"/>
            </a:pPr>
            <a:r>
              <a:rPr lang="en-US" sz="1200" dirty="0">
                <a:solidFill>
                  <a:prstClr val="black"/>
                </a:solidFill>
                <a:latin typeface="+mj-lt"/>
              </a:rPr>
              <a:t>Our scope of work does not include any other service not covered under the scope of advisory assistance as presented in the previous slides.</a:t>
            </a:r>
          </a:p>
        </p:txBody>
      </p:sp>
    </p:spTree>
    <p:extLst>
      <p:ext uri="{BB962C8B-B14F-4D97-AF65-F5344CB8AC3E}">
        <p14:creationId xmlns:p14="http://schemas.microsoft.com/office/powerpoint/2010/main" val="35372026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480000" y="2160001"/>
            <a:ext cx="10030576" cy="1354217"/>
          </a:xfrm>
        </p:spPr>
        <p:txBody>
          <a:bodyPr/>
          <a:lstStyle/>
          <a:p>
            <a:r>
              <a:rPr lang="en-US" sz="3600" dirty="0">
                <a:solidFill>
                  <a:schemeClr val="bg1"/>
                </a:solidFill>
                <a:latin typeface="Verdana" panose="020B0604030504040204" pitchFamily="34" charset="0"/>
                <a:ea typeface="Verdana" panose="020B0604030504040204" pitchFamily="34" charset="0"/>
                <a:cs typeface="Verdana" panose="020B0604030504040204" pitchFamily="34" charset="0"/>
              </a:rPr>
              <a:t>Additional Services which can be provided</a:t>
            </a:r>
          </a:p>
        </p:txBody>
      </p:sp>
    </p:spTree>
    <p:extLst>
      <p:ext uri="{BB962C8B-B14F-4D97-AF65-F5344CB8AC3E}">
        <p14:creationId xmlns:p14="http://schemas.microsoft.com/office/powerpoint/2010/main" val="145557089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2350" y="3151792"/>
            <a:ext cx="1496547" cy="2225225"/>
          </a:xfrm>
          <a:prstGeom prst="rect">
            <a:avLst/>
          </a:prstGeom>
        </p:spPr>
        <p:txBody>
          <a:bodyPr wrap="square" lIns="27432" rIns="0">
            <a:spAutoFit/>
          </a:bodyPr>
          <a:lstStyle/>
          <a:p>
            <a:pPr marL="0" lvl="1" defTabSz="957263" fontAlgn="base">
              <a:lnSpc>
                <a:spcPct val="90000"/>
              </a:lnSpc>
              <a:spcBef>
                <a:spcPts val="400"/>
              </a:spcBef>
              <a:defRPr/>
            </a:pPr>
            <a:r>
              <a:rPr lang="en-US" sz="1400" dirty="0">
                <a:latin typeface="Verdana" panose="020B0604030504040204" pitchFamily="34" charset="0"/>
                <a:ea typeface="Verdana" panose="020B0604030504040204" pitchFamily="34" charset="0"/>
                <a:cs typeface="Verdana" panose="020B0604030504040204" pitchFamily="34" charset="0"/>
              </a:rPr>
              <a:t>In the event, Essel Infraprojects emerges as a successful bidder, additional assistance could be provided in various areas related to:</a:t>
            </a:r>
            <a:endParaRPr lang="en-US" sz="1400" i="1" dirty="0">
              <a:latin typeface="Verdana" panose="020B0604030504040204" pitchFamily="34" charset="0"/>
              <a:ea typeface="Verdana" panose="020B0604030504040204" pitchFamily="34" charset="0"/>
              <a:cs typeface="Verdana" panose="020B0604030504040204" pitchFamily="34" charset="0"/>
            </a:endParaRPr>
          </a:p>
        </p:txBody>
      </p:sp>
      <p:sp>
        <p:nvSpPr>
          <p:cNvPr id="7" name="Rounded Rectangle 6"/>
          <p:cNvSpPr/>
          <p:nvPr/>
        </p:nvSpPr>
        <p:spPr>
          <a:xfrm>
            <a:off x="2096288" y="1934600"/>
            <a:ext cx="8272113" cy="308667"/>
          </a:xfrm>
          <a:prstGeom prst="roundRect">
            <a:avLst/>
          </a:prstGeom>
          <a:solidFill>
            <a:schemeClr val="accent2"/>
          </a:solidFill>
          <a:ln w="25400" cap="flat" cmpd="sng" algn="ctr">
            <a:solidFill>
              <a:schemeClr val="accent2"/>
            </a:solidFill>
            <a:prstDash val="solid"/>
          </a:ln>
          <a:effectLst/>
        </p:spPr>
        <p:txBody>
          <a:bodyPr lIns="27432" tIns="0" rIns="0" bIns="0" rtlCol="0" anchor="ctr"/>
          <a:lstStyle/>
          <a:p>
            <a:pPr marL="4763">
              <a:defRPr/>
            </a:pPr>
            <a:r>
              <a:rPr lang="en-US" sz="16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Final negotiation and signing of the Concession Agreement  </a:t>
            </a:r>
          </a:p>
        </p:txBody>
      </p:sp>
      <p:sp>
        <p:nvSpPr>
          <p:cNvPr id="8" name="Left Brace 7"/>
          <p:cNvSpPr/>
          <p:nvPr/>
        </p:nvSpPr>
        <p:spPr>
          <a:xfrm>
            <a:off x="1630949" y="1934600"/>
            <a:ext cx="364738" cy="4604404"/>
          </a:xfrm>
          <a:prstGeom prst="leftBrace">
            <a:avLst/>
          </a:prstGeom>
          <a:noFill/>
          <a:ln w="12700" cap="flat" cmpd="sng" algn="ctr">
            <a:solidFill>
              <a:srgbClr val="002776"/>
            </a:solidFill>
            <a:prstDash val="solid"/>
          </a:ln>
          <a:effectLst/>
        </p:spPr>
        <p:txBody>
          <a:bodyPr rtlCol="0" anchor="ctr"/>
          <a:lstStyle/>
          <a:p>
            <a:pPr algn="ctr">
              <a:defRPr/>
            </a:pPr>
            <a:endParaRPr lang="en-US" kern="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9" name="Rounded Rectangle 8"/>
          <p:cNvSpPr/>
          <p:nvPr/>
        </p:nvSpPr>
        <p:spPr>
          <a:xfrm>
            <a:off x="2108393" y="2968706"/>
            <a:ext cx="8282746" cy="270681"/>
          </a:xfrm>
          <a:prstGeom prst="roundRect">
            <a:avLst/>
          </a:prstGeom>
          <a:solidFill>
            <a:schemeClr val="accent2"/>
          </a:solidFill>
          <a:ln w="25400" cap="flat" cmpd="sng" algn="ctr">
            <a:solidFill>
              <a:schemeClr val="accent2"/>
            </a:solidFill>
            <a:prstDash val="solid"/>
          </a:ln>
          <a:effectLst/>
        </p:spPr>
        <p:txBody>
          <a:bodyPr lIns="27432" tIns="0" rIns="0" bIns="0" rtlCol="0" anchor="ctr"/>
          <a:lstStyle/>
          <a:p>
            <a:pPr marL="4763">
              <a:defRPr/>
            </a:pPr>
            <a:r>
              <a:rPr lang="en-US" sz="16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Documentation and Financial Model Support</a:t>
            </a:r>
          </a:p>
        </p:txBody>
      </p:sp>
      <p:sp>
        <p:nvSpPr>
          <p:cNvPr id="10" name="Rounded Rectangle 9"/>
          <p:cNvSpPr/>
          <p:nvPr/>
        </p:nvSpPr>
        <p:spPr>
          <a:xfrm>
            <a:off x="2108392" y="3296867"/>
            <a:ext cx="8258237" cy="1752139"/>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Development of a detailed, long form, financial term sheet based on Essel’s structural objectives for the financing of the Project</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Providing assistance in preparation, negotiation, review and execution of all transaction documentation related to financing, including coordinating the debt providers’ final due diligence, model audit and conditions precedent under the agreement.</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Updating and finalizing the Financial Model based on negotiation results and the signed agreement for subsequent use after the financial close.</a:t>
            </a:r>
          </a:p>
        </p:txBody>
      </p:sp>
      <p:sp>
        <p:nvSpPr>
          <p:cNvPr id="11" name="Rounded Rectangle 10"/>
          <p:cNvSpPr/>
          <p:nvPr/>
        </p:nvSpPr>
        <p:spPr>
          <a:xfrm>
            <a:off x="2112875" y="2282840"/>
            <a:ext cx="8258237" cy="533564"/>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Providing clarifications to the tendering authority, if required and signing of the concession agreement</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Preparation, negotiation, review and execution of all transaction documentation related to financing</a:t>
            </a:r>
          </a:p>
        </p:txBody>
      </p:sp>
      <p:sp>
        <p:nvSpPr>
          <p:cNvPr id="12" name="Rounded Rectangle 11"/>
          <p:cNvSpPr/>
          <p:nvPr/>
        </p:nvSpPr>
        <p:spPr>
          <a:xfrm>
            <a:off x="2108393" y="5283188"/>
            <a:ext cx="8307253" cy="340730"/>
          </a:xfrm>
          <a:prstGeom prst="roundRect">
            <a:avLst/>
          </a:prstGeom>
          <a:solidFill>
            <a:schemeClr val="accent2"/>
          </a:solidFill>
          <a:ln w="25400" cap="flat" cmpd="sng" algn="ctr">
            <a:solidFill>
              <a:schemeClr val="accent2"/>
            </a:solidFill>
            <a:prstDash val="solid"/>
          </a:ln>
          <a:effectLst/>
        </p:spPr>
        <p:txBody>
          <a:bodyPr lIns="27432" tIns="0" rIns="0" bIns="0" rtlCol="0" anchor="t"/>
          <a:lstStyle/>
          <a:p>
            <a:pPr marL="4763">
              <a:defRPr/>
            </a:pPr>
            <a:r>
              <a:rPr lang="en-US" sz="16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Fund Raising Procedure</a:t>
            </a:r>
          </a:p>
        </p:txBody>
      </p:sp>
      <p:sp>
        <p:nvSpPr>
          <p:cNvPr id="13" name="Rounded Rectangle 12"/>
          <p:cNvSpPr/>
          <p:nvPr/>
        </p:nvSpPr>
        <p:spPr>
          <a:xfrm>
            <a:off x="2114311" y="5667636"/>
            <a:ext cx="8282746" cy="871368"/>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Structuring and executing the long term financial strategy based on the adopted financing strategy</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if applicable, with syndication of the equity and debt facilities</a:t>
            </a:r>
          </a:p>
        </p:txBody>
      </p:sp>
      <p:sp>
        <p:nvSpPr>
          <p:cNvPr id="17" name="Rectangle 16"/>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Additional advisory assistance</a:t>
            </a:r>
          </a:p>
        </p:txBody>
      </p:sp>
      <p:cxnSp>
        <p:nvCxnSpPr>
          <p:cNvPr id="18" name="Straight Connector 17"/>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63396" y="331644"/>
            <a:ext cx="10103234" cy="425758"/>
          </a:xfrm>
          <a:prstGeom prst="rect">
            <a:avLst/>
          </a:prstGeom>
        </p:spPr>
        <p:txBody>
          <a:bodyPr wrap="square">
            <a:spAutoFit/>
          </a:bodyPr>
          <a:lstStyle/>
          <a:p>
            <a:pPr defTabSz="914253">
              <a:lnSpc>
                <a:spcPts val="2599"/>
              </a:lnSpc>
              <a:defRPr/>
            </a:pPr>
            <a:r>
              <a:rPr lang="en-US" sz="2400" dirty="0">
                <a:latin typeface="Verdana" panose="020B0604030504040204" pitchFamily="34" charset="0"/>
                <a:ea typeface="Verdana" panose="020B0604030504040204" pitchFamily="34" charset="0"/>
                <a:cs typeface="Verdana" panose="020B0604030504040204" pitchFamily="34" charset="0"/>
              </a:rPr>
              <a:t>Additional services which can be provided post bidding (1/2)</a:t>
            </a:r>
          </a:p>
        </p:txBody>
      </p:sp>
      <p:sp>
        <p:nvSpPr>
          <p:cNvPr id="15" name="Text Placeholder 1"/>
          <p:cNvSpPr txBox="1">
            <a:spLocks/>
          </p:cNvSpPr>
          <p:nvPr/>
        </p:nvSpPr>
        <p:spPr>
          <a:xfrm>
            <a:off x="352350" y="1016403"/>
            <a:ext cx="10014280" cy="928579"/>
          </a:xfrm>
          <a:prstGeom prst="rect">
            <a:avLst/>
          </a:prstGeom>
        </p:spPr>
        <p:txBody>
          <a:bodyPr vert="horz" lIns="0" tIns="0" rIns="0" bIns="0" rtlCol="0">
            <a:noAutofit/>
          </a:bodyPr>
          <a:lstStyle>
            <a:lvl1pPr marL="0" indent="0" algn="l" defTabSz="914400" rtl="0" eaLnBrk="1" latinLnBrk="0" hangingPunct="1">
              <a:spcBef>
                <a:spcPts val="1200"/>
              </a:spcBef>
              <a:buFont typeface="Arial" pitchFamily="34" charset="0"/>
              <a:buNone/>
              <a:defRPr sz="3000" b="0" kern="1200">
                <a:solidFill>
                  <a:srgbClr val="575757"/>
                </a:solidFill>
                <a:latin typeface="+mn-lt"/>
                <a:ea typeface="+mn-ea"/>
                <a:cs typeface="+mn-cs"/>
              </a:defRPr>
            </a:lvl1pPr>
            <a:lvl2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3pPr>
            <a:lvl4pPr marL="447675" indent="-180975"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441325" indent="-166688"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Essel Infraprojects would require advisory assistance post bidding in the event of emerging as a winning bidder around various areas such as business planning, taxation related aspects, regulatory submissions to AERA etc. Some of the areas where Deloitte can provide advisory assistance include:</a:t>
            </a:r>
          </a:p>
        </p:txBody>
      </p:sp>
    </p:spTree>
    <p:extLst>
      <p:ext uri="{BB962C8B-B14F-4D97-AF65-F5344CB8AC3E}">
        <p14:creationId xmlns:p14="http://schemas.microsoft.com/office/powerpoint/2010/main" val="3416654850"/>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2350" y="2356247"/>
            <a:ext cx="1520251" cy="674031"/>
          </a:xfrm>
          <a:prstGeom prst="rect">
            <a:avLst/>
          </a:prstGeom>
        </p:spPr>
        <p:txBody>
          <a:bodyPr wrap="square" lIns="27432" rIns="0">
            <a:spAutoFit/>
          </a:bodyPr>
          <a:lstStyle/>
          <a:p>
            <a:pPr marL="0" lvl="1" defTabSz="957263" fontAlgn="base">
              <a:lnSpc>
                <a:spcPct val="90000"/>
              </a:lnSpc>
              <a:spcBef>
                <a:spcPts val="400"/>
              </a:spcBef>
              <a:defRPr/>
            </a:pPr>
            <a:r>
              <a:rPr lang="en-US" sz="1400" dirty="0">
                <a:latin typeface="Verdana" panose="020B0604030504040204" pitchFamily="34" charset="0"/>
                <a:ea typeface="Verdana" panose="020B0604030504040204" pitchFamily="34" charset="0"/>
                <a:cs typeface="Verdana" panose="020B0604030504040204" pitchFamily="34" charset="0"/>
              </a:rPr>
              <a:t>Additional services that can be provided</a:t>
            </a:r>
            <a:endParaRPr lang="en-US" sz="1400" i="1" dirty="0">
              <a:latin typeface="Verdana" panose="020B0604030504040204" pitchFamily="34" charset="0"/>
              <a:ea typeface="Verdana" panose="020B0604030504040204" pitchFamily="34" charset="0"/>
              <a:cs typeface="Verdana" panose="020B0604030504040204" pitchFamily="34" charset="0"/>
            </a:endParaRPr>
          </a:p>
        </p:txBody>
      </p:sp>
      <p:sp>
        <p:nvSpPr>
          <p:cNvPr id="7" name="Left Brace 6"/>
          <p:cNvSpPr/>
          <p:nvPr/>
        </p:nvSpPr>
        <p:spPr>
          <a:xfrm>
            <a:off x="1872601" y="1124921"/>
            <a:ext cx="364738" cy="3542406"/>
          </a:xfrm>
          <a:prstGeom prst="leftBrace">
            <a:avLst/>
          </a:prstGeom>
          <a:noFill/>
          <a:ln w="12700" cap="flat" cmpd="sng" algn="ctr">
            <a:solidFill>
              <a:srgbClr val="002776"/>
            </a:solidFill>
            <a:prstDash val="solid"/>
          </a:ln>
          <a:effectLst/>
        </p:spPr>
        <p:txBody>
          <a:bodyPr rtlCol="0" anchor="ctr"/>
          <a:lstStyle/>
          <a:p>
            <a:pPr algn="ctr">
              <a:defRPr/>
            </a:pPr>
            <a:endParaRPr lang="en-US" kern="0" dirty="0">
              <a:solidFill>
                <a:srgbClr val="002776"/>
              </a:solidFill>
              <a:latin typeface="Verdana" panose="020B0604030504040204" pitchFamily="34" charset="0"/>
              <a:ea typeface="Verdana" panose="020B0604030504040204" pitchFamily="34" charset="0"/>
              <a:cs typeface="Verdana" panose="020B0604030504040204" pitchFamily="34" charset="0"/>
            </a:endParaRPr>
          </a:p>
        </p:txBody>
      </p:sp>
      <p:sp>
        <p:nvSpPr>
          <p:cNvPr id="9" name="Rounded Rectangle 8"/>
          <p:cNvSpPr/>
          <p:nvPr/>
        </p:nvSpPr>
        <p:spPr>
          <a:xfrm>
            <a:off x="2411662" y="2981481"/>
            <a:ext cx="7950302" cy="950320"/>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Development of ancillary / related revenues sources</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in implementing concession programs</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Bid-process management for selection of concessionaires </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Review concession performance and evaluate individual tenant performance</a:t>
            </a:r>
          </a:p>
        </p:txBody>
      </p:sp>
      <p:sp>
        <p:nvSpPr>
          <p:cNvPr id="11" name="Rounded Rectangle 10"/>
          <p:cNvSpPr/>
          <p:nvPr/>
        </p:nvSpPr>
        <p:spPr>
          <a:xfrm>
            <a:off x="2387569" y="4357462"/>
            <a:ext cx="7975366" cy="364729"/>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Submission of Tariff Proposals to AERA</a:t>
            </a:r>
          </a:p>
        </p:txBody>
      </p:sp>
      <p:sp>
        <p:nvSpPr>
          <p:cNvPr id="13" name="Rounded Rectangle 12"/>
          <p:cNvSpPr/>
          <p:nvPr/>
        </p:nvSpPr>
        <p:spPr>
          <a:xfrm>
            <a:off x="2411662" y="1570651"/>
            <a:ext cx="7954967" cy="988823"/>
          </a:xfrm>
          <a:prstGeom prst="roundRect">
            <a:avLst>
              <a:gd name="adj" fmla="val 3713"/>
            </a:avLst>
          </a:prstGeom>
          <a:noFill/>
          <a:ln w="12700" cap="flat" cmpd="sng" algn="ctr">
            <a:solidFill>
              <a:srgbClr val="92D400"/>
            </a:solidFill>
            <a:prstDash val="dash"/>
          </a:ln>
          <a:effectLst/>
        </p:spPr>
        <p:txBody>
          <a:bodyPr lIns="27432" tIns="0" rIns="0" bIns="0" rtlCol="0" anchor="ctr"/>
          <a:lstStyle/>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Design of organization structure through process and role mapping, manpower assessment, design of Performance Management Systems, etc.</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Program management for the PPP Project </a:t>
            </a:r>
          </a:p>
          <a:p>
            <a:pPr marL="166688" indent="-163513">
              <a:buFont typeface="Arial" pitchFamily="34" charset="0"/>
              <a:buChar char="•"/>
              <a:defRPr/>
            </a:pPr>
            <a:r>
              <a:rPr lang="en-US" sz="1200" kern="0" dirty="0">
                <a:latin typeface="Verdana" panose="020B0604030504040204" pitchFamily="34" charset="0"/>
                <a:ea typeface="Verdana" panose="020B0604030504040204" pitchFamily="34" charset="0"/>
                <a:cs typeface="Verdana" panose="020B0604030504040204" pitchFamily="34" charset="0"/>
              </a:rPr>
              <a:t>Assistance in taxation related aspects</a:t>
            </a:r>
          </a:p>
        </p:txBody>
      </p:sp>
      <p:sp>
        <p:nvSpPr>
          <p:cNvPr id="8" name="Rounded Rectangle 7"/>
          <p:cNvSpPr/>
          <p:nvPr/>
        </p:nvSpPr>
        <p:spPr>
          <a:xfrm>
            <a:off x="2411662" y="2620503"/>
            <a:ext cx="7950302" cy="367801"/>
          </a:xfrm>
          <a:prstGeom prst="roundRect">
            <a:avLst/>
          </a:prstGeom>
          <a:solidFill>
            <a:schemeClr val="accent2"/>
          </a:solidFill>
          <a:ln w="25400" cap="flat" cmpd="sng" algn="ctr">
            <a:solidFill>
              <a:schemeClr val="accent2"/>
            </a:solidFill>
            <a:prstDash val="solid"/>
          </a:ln>
          <a:effectLst/>
        </p:spPr>
        <p:txBody>
          <a:bodyPr lIns="27432" tIns="0" rIns="0" bIns="0" rtlCol="0" anchor="ctr"/>
          <a:lstStyle/>
          <a:p>
            <a:pPr marL="4763">
              <a:defRPr/>
            </a:pPr>
            <a:r>
              <a:rPr lang="en-US" sz="14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Selection of third-party concessionaires</a:t>
            </a:r>
          </a:p>
        </p:txBody>
      </p:sp>
      <p:sp>
        <p:nvSpPr>
          <p:cNvPr id="10" name="Rounded Rectangle 9"/>
          <p:cNvSpPr/>
          <p:nvPr/>
        </p:nvSpPr>
        <p:spPr>
          <a:xfrm>
            <a:off x="2387569" y="3982147"/>
            <a:ext cx="7975365" cy="367801"/>
          </a:xfrm>
          <a:prstGeom prst="roundRect">
            <a:avLst/>
          </a:prstGeom>
          <a:solidFill>
            <a:schemeClr val="accent2"/>
          </a:solidFill>
          <a:ln w="25400" cap="flat" cmpd="sng" algn="ctr">
            <a:solidFill>
              <a:schemeClr val="accent2"/>
            </a:solidFill>
            <a:prstDash val="solid"/>
          </a:ln>
          <a:effectLst/>
        </p:spPr>
        <p:txBody>
          <a:bodyPr lIns="27432" tIns="0" rIns="0" bIns="0" rtlCol="0" anchor="t"/>
          <a:lstStyle/>
          <a:p>
            <a:pPr marL="4763">
              <a:defRPr/>
            </a:pPr>
            <a:r>
              <a:rPr lang="en-US" sz="14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Regulatory proposals for determination of aeronautical tariffs</a:t>
            </a:r>
          </a:p>
        </p:txBody>
      </p:sp>
      <p:sp>
        <p:nvSpPr>
          <p:cNvPr id="12" name="Rounded Rectangle 11"/>
          <p:cNvSpPr/>
          <p:nvPr/>
        </p:nvSpPr>
        <p:spPr>
          <a:xfrm>
            <a:off x="2407177" y="1190733"/>
            <a:ext cx="7954967" cy="367801"/>
          </a:xfrm>
          <a:prstGeom prst="roundRect">
            <a:avLst/>
          </a:prstGeom>
          <a:solidFill>
            <a:schemeClr val="accent2"/>
          </a:solidFill>
          <a:ln w="25400" cap="flat" cmpd="sng" algn="ctr">
            <a:solidFill>
              <a:schemeClr val="accent2"/>
            </a:solidFill>
            <a:prstDash val="solid"/>
          </a:ln>
          <a:effectLst/>
        </p:spPr>
        <p:txBody>
          <a:bodyPr lIns="27432" tIns="0" rIns="0" bIns="0" rtlCol="0" anchor="t"/>
          <a:lstStyle/>
          <a:p>
            <a:pPr marL="4763">
              <a:defRPr/>
            </a:pPr>
            <a:r>
              <a:rPr lang="en-US" sz="1400" b="1" kern="0" dirty="0">
                <a:solidFill>
                  <a:srgbClr val="FFFFFF"/>
                </a:solidFill>
                <a:latin typeface="Verdana" panose="020B0604030504040204" pitchFamily="34" charset="0"/>
                <a:ea typeface="Verdana" panose="020B0604030504040204" pitchFamily="34" charset="0"/>
                <a:cs typeface="Verdana" panose="020B0604030504040204" pitchFamily="34" charset="0"/>
              </a:rPr>
              <a:t>Business Planning for operating the Airport </a:t>
            </a:r>
          </a:p>
        </p:txBody>
      </p:sp>
      <p:sp>
        <p:nvSpPr>
          <p:cNvPr id="17" name="Rectangle 16"/>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Additional advisory assistance</a:t>
            </a:r>
          </a:p>
        </p:txBody>
      </p:sp>
      <p:cxnSp>
        <p:nvCxnSpPr>
          <p:cNvPr id="18" name="Straight Connector 17"/>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63396" y="331644"/>
            <a:ext cx="10103234" cy="425758"/>
          </a:xfrm>
          <a:prstGeom prst="rect">
            <a:avLst/>
          </a:prstGeom>
        </p:spPr>
        <p:txBody>
          <a:bodyPr wrap="square">
            <a:spAutoFit/>
          </a:bodyPr>
          <a:lstStyle/>
          <a:p>
            <a:pPr defTabSz="914253">
              <a:lnSpc>
                <a:spcPts val="2599"/>
              </a:lnSpc>
              <a:defRPr/>
            </a:pPr>
            <a:r>
              <a:rPr lang="en-US" sz="2400" dirty="0">
                <a:latin typeface="Verdana" panose="020B0604030504040204" pitchFamily="34" charset="0"/>
                <a:ea typeface="Verdana" panose="020B0604030504040204" pitchFamily="34" charset="0"/>
                <a:cs typeface="Verdana" panose="020B0604030504040204" pitchFamily="34" charset="0"/>
              </a:rPr>
              <a:t>Additional services which can be provided post bidding (2/2)</a:t>
            </a:r>
          </a:p>
        </p:txBody>
      </p:sp>
    </p:spTree>
    <p:extLst>
      <p:ext uri="{BB962C8B-B14F-4D97-AF65-F5344CB8AC3E}">
        <p14:creationId xmlns:p14="http://schemas.microsoft.com/office/powerpoint/2010/main" val="290686435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626" y="0"/>
            <a:ext cx="10685012" cy="7562849"/>
          </a:xfrm>
          <a:prstGeom prst="rect">
            <a:avLst/>
          </a:prstGeom>
        </p:spPr>
      </p:pic>
      <p:sp>
        <p:nvSpPr>
          <p:cNvPr id="6" name="Trapezoid 5"/>
          <p:cNvSpPr/>
          <p:nvPr/>
        </p:nvSpPr>
        <p:spPr bwMode="gray">
          <a:xfrm rot="16200000" flipH="1">
            <a:off x="2341681" y="4214894"/>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 name="Trapezoid 6"/>
          <p:cNvSpPr/>
          <p:nvPr/>
        </p:nvSpPr>
        <p:spPr bwMode="gray">
          <a:xfrm rot="5400000">
            <a:off x="3646881" y="4214893"/>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 name="object 3"/>
          <p:cNvSpPr/>
          <p:nvPr/>
        </p:nvSpPr>
        <p:spPr>
          <a:xfrm>
            <a:off x="3898921" y="3962399"/>
            <a:ext cx="6789717" cy="723456"/>
          </a:xfrm>
          <a:custGeom>
            <a:avLst/>
            <a:gdLst/>
            <a:ahLst/>
            <a:cxnLst/>
            <a:rect l="l" t="t" r="r" b="b"/>
            <a:pathLst>
              <a:path w="6320155" h="1188720">
                <a:moveTo>
                  <a:pt x="0" y="1188720"/>
                </a:moveTo>
                <a:lnTo>
                  <a:pt x="6320027" y="1188720"/>
                </a:lnTo>
                <a:lnTo>
                  <a:pt x="6320027" y="0"/>
                </a:lnTo>
                <a:lnTo>
                  <a:pt x="0" y="0"/>
                </a:lnTo>
                <a:lnTo>
                  <a:pt x="0" y="1188720"/>
                </a:lnTo>
                <a:close/>
              </a:path>
            </a:pathLst>
          </a:custGeom>
          <a:solidFill>
            <a:schemeClr val="bg1"/>
          </a:solidFill>
        </p:spPr>
        <p:txBody>
          <a:bodyPr wrap="square" lIns="0" tIns="0" rIns="0" bIns="0" rtlCol="0"/>
          <a:lstStyle/>
          <a:p>
            <a:endParaRPr lang="en-GB" sz="2197" dirty="0"/>
          </a:p>
        </p:txBody>
      </p:sp>
      <p:sp>
        <p:nvSpPr>
          <p:cNvPr id="9" name="object 4"/>
          <p:cNvSpPr txBox="1"/>
          <p:nvPr/>
        </p:nvSpPr>
        <p:spPr>
          <a:xfrm>
            <a:off x="4597867" y="4130861"/>
            <a:ext cx="5588123" cy="369332"/>
          </a:xfrm>
          <a:prstGeom prst="rect">
            <a:avLst/>
          </a:prstGeom>
        </p:spPr>
        <p:txBody>
          <a:bodyPr vert="horz" wrap="square" lIns="0" tIns="0" rIns="0" bIns="0" rtlCol="0">
            <a:spAutoFit/>
          </a:bodyPr>
          <a:lstStyle/>
          <a:p>
            <a:pPr marL="93296"/>
            <a:r>
              <a:rPr lang="en-GB" sz="2400" dirty="0">
                <a:latin typeface="Verdana" panose="020B0604030504040204" pitchFamily="34" charset="0"/>
                <a:ea typeface="Verdana" panose="020B0604030504040204" pitchFamily="34" charset="0"/>
                <a:cs typeface="Verdana" panose="020B0604030504040204" pitchFamily="34" charset="0"/>
              </a:rPr>
              <a:t>Our Value Proposition</a:t>
            </a:r>
          </a:p>
        </p:txBody>
      </p:sp>
      <p:sp>
        <p:nvSpPr>
          <p:cNvPr id="10" name="object 5"/>
          <p:cNvSpPr/>
          <p:nvPr/>
        </p:nvSpPr>
        <p:spPr>
          <a:xfrm>
            <a:off x="3008354" y="3764700"/>
            <a:ext cx="1099624" cy="1118854"/>
          </a:xfrm>
          <a:custGeom>
            <a:avLst/>
            <a:gdLst/>
            <a:ahLst/>
            <a:cxnLst/>
            <a:rect l="l" t="t" r="r" b="b"/>
            <a:pathLst>
              <a:path w="1458595" h="1188720">
                <a:moveTo>
                  <a:pt x="0" y="1188720"/>
                </a:moveTo>
                <a:lnTo>
                  <a:pt x="1458467" y="1188720"/>
                </a:lnTo>
                <a:lnTo>
                  <a:pt x="1458467" y="0"/>
                </a:lnTo>
                <a:lnTo>
                  <a:pt x="0" y="0"/>
                </a:lnTo>
                <a:lnTo>
                  <a:pt x="0" y="1188720"/>
                </a:lnTo>
                <a:close/>
              </a:path>
            </a:pathLst>
          </a:custGeom>
          <a:solidFill>
            <a:srgbClr val="00A0DE"/>
          </a:solidFill>
        </p:spPr>
        <p:txBody>
          <a:bodyPr wrap="square" lIns="0" tIns="0" rIns="0" bIns="0" rtlCol="0"/>
          <a:lstStyle/>
          <a:p>
            <a:endParaRPr lang="en-GB" sz="2197" dirty="0"/>
          </a:p>
        </p:txBody>
      </p:sp>
      <p:sp>
        <p:nvSpPr>
          <p:cNvPr id="14" name="Rectangle 13"/>
          <p:cNvSpPr/>
          <p:nvPr/>
        </p:nvSpPr>
        <p:spPr bwMode="gray">
          <a:xfrm>
            <a:off x="0" y="3962400"/>
            <a:ext cx="2800315" cy="72345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 name="Group 583"/>
          <p:cNvGrpSpPr>
            <a:grpSpLocks noChangeAspect="1"/>
          </p:cNvGrpSpPr>
          <p:nvPr/>
        </p:nvGrpSpPr>
        <p:grpSpPr bwMode="auto">
          <a:xfrm>
            <a:off x="3054802" y="3828134"/>
            <a:ext cx="992911" cy="990000"/>
            <a:chOff x="1138" y="1953"/>
            <a:chExt cx="341" cy="340"/>
          </a:xfrm>
          <a:solidFill>
            <a:schemeClr val="bg1"/>
          </a:solidFill>
        </p:grpSpPr>
        <p:sp>
          <p:nvSpPr>
            <p:cNvPr id="36" name="Freeform 584"/>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585"/>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24"/>
          <p:cNvGrpSpPr/>
          <p:nvPr/>
        </p:nvGrpSpPr>
        <p:grpSpPr>
          <a:xfrm>
            <a:off x="662032" y="4119931"/>
            <a:ext cx="1998746" cy="443146"/>
            <a:chOff x="662032" y="4119931"/>
            <a:chExt cx="1998746" cy="443146"/>
          </a:xfrm>
        </p:grpSpPr>
        <p:grpSp>
          <p:nvGrpSpPr>
            <p:cNvPr id="26" name="Group 309"/>
            <p:cNvGrpSpPr>
              <a:grpSpLocks noChangeAspect="1"/>
            </p:cNvGrpSpPr>
            <p:nvPr/>
          </p:nvGrpSpPr>
          <p:grpSpPr bwMode="auto">
            <a:xfrm>
              <a:off x="2223897" y="4122662"/>
              <a:ext cx="436881" cy="435600"/>
              <a:chOff x="6585" y="1193"/>
              <a:chExt cx="341" cy="340"/>
            </a:xfrm>
            <a:solidFill>
              <a:srgbClr val="00A0DE"/>
            </a:solidFill>
          </p:grpSpPr>
          <p:sp>
            <p:nvSpPr>
              <p:cNvPr id="5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7" name="Group 69"/>
            <p:cNvGrpSpPr>
              <a:grpSpLocks noChangeAspect="1"/>
            </p:cNvGrpSpPr>
            <p:nvPr/>
          </p:nvGrpSpPr>
          <p:grpSpPr bwMode="auto">
            <a:xfrm>
              <a:off x="662032" y="4119931"/>
              <a:ext cx="435600" cy="435600"/>
              <a:chOff x="4334" y="1990"/>
              <a:chExt cx="340" cy="340"/>
            </a:xfrm>
            <a:solidFill>
              <a:srgbClr val="00A0DE"/>
            </a:solidFill>
          </p:grpSpPr>
          <p:sp>
            <p:nvSpPr>
              <p:cNvPr id="41" name="Freeform 70"/>
              <p:cNvSpPr>
                <a:spLocks noEditPoints="1"/>
              </p:cNvSpPr>
              <p:nvPr/>
            </p:nvSpPr>
            <p:spPr bwMode="auto">
              <a:xfrm>
                <a:off x="4398" y="2054"/>
                <a:ext cx="212"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70 w 320"/>
                  <a:gd name="T11" fmla="*/ 298 h 320"/>
                  <a:gd name="T12" fmla="*/ 170 w 320"/>
                  <a:gd name="T13" fmla="*/ 288 h 320"/>
                  <a:gd name="T14" fmla="*/ 160 w 320"/>
                  <a:gd name="T15" fmla="*/ 277 h 320"/>
                  <a:gd name="T16" fmla="*/ 149 w 320"/>
                  <a:gd name="T17" fmla="*/ 288 h 320"/>
                  <a:gd name="T18" fmla="*/ 149 w 320"/>
                  <a:gd name="T19" fmla="*/ 298 h 320"/>
                  <a:gd name="T20" fmla="*/ 22 w 320"/>
                  <a:gd name="T21" fmla="*/ 170 h 320"/>
                  <a:gd name="T22" fmla="*/ 32 w 320"/>
                  <a:gd name="T23" fmla="*/ 170 h 320"/>
                  <a:gd name="T24" fmla="*/ 42 w 320"/>
                  <a:gd name="T25" fmla="*/ 160 h 320"/>
                  <a:gd name="T26" fmla="*/ 32 w 320"/>
                  <a:gd name="T27" fmla="*/ 149 h 320"/>
                  <a:gd name="T28" fmla="*/ 22 w 320"/>
                  <a:gd name="T29" fmla="*/ 149 h 320"/>
                  <a:gd name="T30" fmla="*/ 149 w 320"/>
                  <a:gd name="T31" fmla="*/ 22 h 320"/>
                  <a:gd name="T32" fmla="*/ 149 w 320"/>
                  <a:gd name="T33" fmla="*/ 32 h 320"/>
                  <a:gd name="T34" fmla="*/ 160 w 320"/>
                  <a:gd name="T35" fmla="*/ 42 h 320"/>
                  <a:gd name="T36" fmla="*/ 170 w 320"/>
                  <a:gd name="T37" fmla="*/ 32 h 320"/>
                  <a:gd name="T38" fmla="*/ 170 w 320"/>
                  <a:gd name="T39" fmla="*/ 22 h 320"/>
                  <a:gd name="T40" fmla="*/ 298 w 320"/>
                  <a:gd name="T41" fmla="*/ 149 h 320"/>
                  <a:gd name="T42" fmla="*/ 288 w 320"/>
                  <a:gd name="T43" fmla="*/ 149 h 320"/>
                  <a:gd name="T44" fmla="*/ 277 w 320"/>
                  <a:gd name="T45" fmla="*/ 160 h 320"/>
                  <a:gd name="T46" fmla="*/ 288 w 320"/>
                  <a:gd name="T47" fmla="*/ 170 h 320"/>
                  <a:gd name="T48" fmla="*/ 298 w 320"/>
                  <a:gd name="T49" fmla="*/ 170 h 320"/>
                  <a:gd name="T50" fmla="*/ 170 w 320"/>
                  <a:gd name="T51" fmla="*/ 298 h 320"/>
                  <a:gd name="T52" fmla="*/ 216 w 320"/>
                  <a:gd name="T53" fmla="*/ 90 h 320"/>
                  <a:gd name="T54" fmla="*/ 133 w 320"/>
                  <a:gd name="T55" fmla="*/ 127 h 320"/>
                  <a:gd name="T56" fmla="*/ 127 w 320"/>
                  <a:gd name="T57" fmla="*/ 133 h 320"/>
                  <a:gd name="T58" fmla="*/ 90 w 320"/>
                  <a:gd name="T59" fmla="*/ 216 h 320"/>
                  <a:gd name="T60" fmla="*/ 92 w 320"/>
                  <a:gd name="T61" fmla="*/ 228 h 320"/>
                  <a:gd name="T62" fmla="*/ 99 w 320"/>
                  <a:gd name="T63" fmla="*/ 231 h 320"/>
                  <a:gd name="T64" fmla="*/ 104 w 320"/>
                  <a:gd name="T65" fmla="*/ 230 h 320"/>
                  <a:gd name="T66" fmla="*/ 187 w 320"/>
                  <a:gd name="T67" fmla="*/ 192 h 320"/>
                  <a:gd name="T68" fmla="*/ 192 w 320"/>
                  <a:gd name="T69" fmla="*/ 187 h 320"/>
                  <a:gd name="T70" fmla="*/ 230 w 320"/>
                  <a:gd name="T71" fmla="*/ 104 h 320"/>
                  <a:gd name="T72" fmla="*/ 228 w 320"/>
                  <a:gd name="T73" fmla="*/ 92 h 320"/>
                  <a:gd name="T74" fmla="*/ 216 w 320"/>
                  <a:gd name="T75" fmla="*/ 90 h 320"/>
                  <a:gd name="T76" fmla="*/ 140 w 320"/>
                  <a:gd name="T77" fmla="*/ 155 h 320"/>
                  <a:gd name="T78" fmla="*/ 164 w 320"/>
                  <a:gd name="T79" fmla="*/ 179 h 320"/>
                  <a:gd name="T80" fmla="*/ 121 w 320"/>
                  <a:gd name="T81" fmla="*/ 199 h 320"/>
                  <a:gd name="T82" fmla="*/ 140 w 320"/>
                  <a:gd name="T83" fmla="*/ 155 h 320"/>
                  <a:gd name="T84" fmla="*/ 179 w 320"/>
                  <a:gd name="T85" fmla="*/ 164 h 320"/>
                  <a:gd name="T86" fmla="*/ 155 w 320"/>
                  <a:gd name="T87" fmla="*/ 140 h 320"/>
                  <a:gd name="T88" fmla="*/ 199 w 320"/>
                  <a:gd name="T89" fmla="*/ 121 h 320"/>
                  <a:gd name="T90" fmla="*/ 179 w 320"/>
                  <a:gd name="T91" fmla="*/ 1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70" y="298"/>
                    </a:moveTo>
                    <a:cubicBezTo>
                      <a:pt x="170" y="288"/>
                      <a:pt x="170" y="288"/>
                      <a:pt x="170" y="288"/>
                    </a:cubicBezTo>
                    <a:cubicBezTo>
                      <a:pt x="170" y="282"/>
                      <a:pt x="166" y="277"/>
                      <a:pt x="160" y="277"/>
                    </a:cubicBezTo>
                    <a:cubicBezTo>
                      <a:pt x="154" y="277"/>
                      <a:pt x="149" y="282"/>
                      <a:pt x="149" y="288"/>
                    </a:cubicBezTo>
                    <a:cubicBezTo>
                      <a:pt x="149" y="298"/>
                      <a:pt x="149" y="298"/>
                      <a:pt x="149" y="298"/>
                    </a:cubicBezTo>
                    <a:cubicBezTo>
                      <a:pt x="81" y="293"/>
                      <a:pt x="27" y="238"/>
                      <a:pt x="22" y="170"/>
                    </a:cubicBezTo>
                    <a:cubicBezTo>
                      <a:pt x="32" y="170"/>
                      <a:pt x="32" y="170"/>
                      <a:pt x="32" y="170"/>
                    </a:cubicBezTo>
                    <a:cubicBezTo>
                      <a:pt x="38" y="170"/>
                      <a:pt x="42" y="166"/>
                      <a:pt x="42" y="160"/>
                    </a:cubicBezTo>
                    <a:cubicBezTo>
                      <a:pt x="42" y="154"/>
                      <a:pt x="38" y="149"/>
                      <a:pt x="32" y="149"/>
                    </a:cubicBezTo>
                    <a:cubicBezTo>
                      <a:pt x="22" y="149"/>
                      <a:pt x="22" y="149"/>
                      <a:pt x="22" y="149"/>
                    </a:cubicBezTo>
                    <a:cubicBezTo>
                      <a:pt x="27" y="81"/>
                      <a:pt x="81" y="27"/>
                      <a:pt x="149" y="22"/>
                    </a:cubicBezTo>
                    <a:cubicBezTo>
                      <a:pt x="149" y="32"/>
                      <a:pt x="149" y="32"/>
                      <a:pt x="149" y="32"/>
                    </a:cubicBezTo>
                    <a:cubicBezTo>
                      <a:pt x="149" y="38"/>
                      <a:pt x="154" y="42"/>
                      <a:pt x="160" y="42"/>
                    </a:cubicBezTo>
                    <a:cubicBezTo>
                      <a:pt x="166" y="42"/>
                      <a:pt x="170" y="38"/>
                      <a:pt x="170" y="32"/>
                    </a:cubicBezTo>
                    <a:cubicBezTo>
                      <a:pt x="170" y="22"/>
                      <a:pt x="170" y="22"/>
                      <a:pt x="170" y="22"/>
                    </a:cubicBezTo>
                    <a:cubicBezTo>
                      <a:pt x="238" y="27"/>
                      <a:pt x="293" y="81"/>
                      <a:pt x="298" y="149"/>
                    </a:cubicBezTo>
                    <a:cubicBezTo>
                      <a:pt x="288" y="149"/>
                      <a:pt x="288" y="149"/>
                      <a:pt x="288" y="149"/>
                    </a:cubicBezTo>
                    <a:cubicBezTo>
                      <a:pt x="282" y="149"/>
                      <a:pt x="277" y="154"/>
                      <a:pt x="277" y="160"/>
                    </a:cubicBezTo>
                    <a:cubicBezTo>
                      <a:pt x="277" y="166"/>
                      <a:pt x="282" y="170"/>
                      <a:pt x="288" y="170"/>
                    </a:cubicBezTo>
                    <a:cubicBezTo>
                      <a:pt x="298" y="170"/>
                      <a:pt x="298" y="170"/>
                      <a:pt x="298" y="170"/>
                    </a:cubicBezTo>
                    <a:cubicBezTo>
                      <a:pt x="293" y="238"/>
                      <a:pt x="238" y="293"/>
                      <a:pt x="170" y="298"/>
                    </a:cubicBezTo>
                    <a:close/>
                    <a:moveTo>
                      <a:pt x="216" y="90"/>
                    </a:moveTo>
                    <a:cubicBezTo>
                      <a:pt x="133" y="127"/>
                      <a:pt x="133" y="127"/>
                      <a:pt x="133" y="127"/>
                    </a:cubicBezTo>
                    <a:cubicBezTo>
                      <a:pt x="130" y="128"/>
                      <a:pt x="128" y="130"/>
                      <a:pt x="127" y="133"/>
                    </a:cubicBezTo>
                    <a:cubicBezTo>
                      <a:pt x="90" y="216"/>
                      <a:pt x="90" y="216"/>
                      <a:pt x="90" y="216"/>
                    </a:cubicBezTo>
                    <a:cubicBezTo>
                      <a:pt x="88" y="220"/>
                      <a:pt x="89" y="224"/>
                      <a:pt x="92" y="228"/>
                    </a:cubicBezTo>
                    <a:cubicBezTo>
                      <a:pt x="94" y="230"/>
                      <a:pt x="97" y="231"/>
                      <a:pt x="99" y="231"/>
                    </a:cubicBezTo>
                    <a:cubicBezTo>
                      <a:pt x="101" y="231"/>
                      <a:pt x="102" y="230"/>
                      <a:pt x="104" y="230"/>
                    </a:cubicBezTo>
                    <a:cubicBezTo>
                      <a:pt x="187" y="192"/>
                      <a:pt x="187" y="192"/>
                      <a:pt x="187" y="192"/>
                    </a:cubicBezTo>
                    <a:cubicBezTo>
                      <a:pt x="189" y="191"/>
                      <a:pt x="191" y="189"/>
                      <a:pt x="192" y="187"/>
                    </a:cubicBezTo>
                    <a:cubicBezTo>
                      <a:pt x="230" y="104"/>
                      <a:pt x="230" y="104"/>
                      <a:pt x="230" y="104"/>
                    </a:cubicBezTo>
                    <a:cubicBezTo>
                      <a:pt x="232" y="100"/>
                      <a:pt x="231" y="95"/>
                      <a:pt x="228" y="92"/>
                    </a:cubicBezTo>
                    <a:cubicBezTo>
                      <a:pt x="224" y="89"/>
                      <a:pt x="220" y="88"/>
                      <a:pt x="216" y="90"/>
                    </a:cubicBezTo>
                    <a:close/>
                    <a:moveTo>
                      <a:pt x="140" y="155"/>
                    </a:moveTo>
                    <a:cubicBezTo>
                      <a:pt x="164" y="179"/>
                      <a:pt x="164" y="179"/>
                      <a:pt x="164" y="179"/>
                    </a:cubicBezTo>
                    <a:cubicBezTo>
                      <a:pt x="121" y="199"/>
                      <a:pt x="121" y="199"/>
                      <a:pt x="121" y="199"/>
                    </a:cubicBezTo>
                    <a:lnTo>
                      <a:pt x="140" y="155"/>
                    </a:lnTo>
                    <a:close/>
                    <a:moveTo>
                      <a:pt x="179" y="164"/>
                    </a:moveTo>
                    <a:cubicBezTo>
                      <a:pt x="155" y="140"/>
                      <a:pt x="155" y="140"/>
                      <a:pt x="155" y="140"/>
                    </a:cubicBezTo>
                    <a:cubicBezTo>
                      <a:pt x="199" y="121"/>
                      <a:pt x="199" y="121"/>
                      <a:pt x="199" y="121"/>
                    </a:cubicBezTo>
                    <a:lnTo>
                      <a:pt x="179" y="16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1"/>
              <p:cNvSpPr>
                <a:spLocks noEditPoints="1"/>
              </p:cNvSpPr>
              <p:nvPr/>
            </p:nvSpPr>
            <p:spPr bwMode="auto">
              <a:xfrm>
                <a:off x="4334"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8" name="Group 305"/>
            <p:cNvGrpSpPr>
              <a:grpSpLocks noChangeAspect="1"/>
            </p:cNvGrpSpPr>
            <p:nvPr/>
          </p:nvGrpSpPr>
          <p:grpSpPr bwMode="auto">
            <a:xfrm>
              <a:off x="1182848" y="4124522"/>
              <a:ext cx="435600" cy="435600"/>
              <a:chOff x="6599" y="1143"/>
              <a:chExt cx="340" cy="340"/>
            </a:xfrm>
            <a:solidFill>
              <a:srgbClr val="00A0DE"/>
            </a:solidFill>
          </p:grpSpPr>
          <p:sp>
            <p:nvSpPr>
              <p:cNvPr id="39" name="Freeform 306"/>
              <p:cNvSpPr>
                <a:spLocks noEditPoints="1"/>
              </p:cNvSpPr>
              <p:nvPr/>
            </p:nvSpPr>
            <p:spPr bwMode="auto">
              <a:xfrm>
                <a:off x="6599" y="114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07"/>
              <p:cNvSpPr>
                <a:spLocks noEditPoints="1"/>
              </p:cNvSpPr>
              <p:nvPr/>
            </p:nvSpPr>
            <p:spPr bwMode="auto">
              <a:xfrm>
                <a:off x="6712" y="1205"/>
                <a:ext cx="113" cy="214"/>
              </a:xfrm>
              <a:custGeom>
                <a:avLst/>
                <a:gdLst>
                  <a:gd name="T0" fmla="*/ 160 w 171"/>
                  <a:gd name="T1" fmla="*/ 88 h 323"/>
                  <a:gd name="T2" fmla="*/ 128 w 171"/>
                  <a:gd name="T3" fmla="*/ 88 h 323"/>
                  <a:gd name="T4" fmla="*/ 128 w 171"/>
                  <a:gd name="T5" fmla="*/ 35 h 323"/>
                  <a:gd name="T6" fmla="*/ 128 w 171"/>
                  <a:gd name="T7" fmla="*/ 35 h 323"/>
                  <a:gd name="T8" fmla="*/ 138 w 171"/>
                  <a:gd name="T9" fmla="*/ 27 h 323"/>
                  <a:gd name="T10" fmla="*/ 132 w 171"/>
                  <a:gd name="T11" fmla="*/ 12 h 323"/>
                  <a:gd name="T12" fmla="*/ 39 w 171"/>
                  <a:gd name="T13" fmla="*/ 12 h 323"/>
                  <a:gd name="T14" fmla="*/ 33 w 171"/>
                  <a:gd name="T15" fmla="*/ 25 h 323"/>
                  <a:gd name="T16" fmla="*/ 43 w 171"/>
                  <a:gd name="T17" fmla="*/ 32 h 323"/>
                  <a:gd name="T18" fmla="*/ 43 w 171"/>
                  <a:gd name="T19" fmla="*/ 88 h 323"/>
                  <a:gd name="T20" fmla="*/ 11 w 171"/>
                  <a:gd name="T21" fmla="*/ 88 h 323"/>
                  <a:gd name="T22" fmla="*/ 0 w 171"/>
                  <a:gd name="T23" fmla="*/ 99 h 323"/>
                  <a:gd name="T24" fmla="*/ 0 w 171"/>
                  <a:gd name="T25" fmla="*/ 291 h 323"/>
                  <a:gd name="T26" fmla="*/ 11 w 171"/>
                  <a:gd name="T27" fmla="*/ 301 h 323"/>
                  <a:gd name="T28" fmla="*/ 22 w 171"/>
                  <a:gd name="T29" fmla="*/ 301 h 323"/>
                  <a:gd name="T30" fmla="*/ 22 w 171"/>
                  <a:gd name="T31" fmla="*/ 312 h 323"/>
                  <a:gd name="T32" fmla="*/ 32 w 171"/>
                  <a:gd name="T33" fmla="*/ 323 h 323"/>
                  <a:gd name="T34" fmla="*/ 43 w 171"/>
                  <a:gd name="T35" fmla="*/ 312 h 323"/>
                  <a:gd name="T36" fmla="*/ 43 w 171"/>
                  <a:gd name="T37" fmla="*/ 301 h 323"/>
                  <a:gd name="T38" fmla="*/ 128 w 171"/>
                  <a:gd name="T39" fmla="*/ 301 h 323"/>
                  <a:gd name="T40" fmla="*/ 128 w 171"/>
                  <a:gd name="T41" fmla="*/ 312 h 323"/>
                  <a:gd name="T42" fmla="*/ 139 w 171"/>
                  <a:gd name="T43" fmla="*/ 323 h 323"/>
                  <a:gd name="T44" fmla="*/ 150 w 171"/>
                  <a:gd name="T45" fmla="*/ 312 h 323"/>
                  <a:gd name="T46" fmla="*/ 150 w 171"/>
                  <a:gd name="T47" fmla="*/ 301 h 323"/>
                  <a:gd name="T48" fmla="*/ 160 w 171"/>
                  <a:gd name="T49" fmla="*/ 301 h 323"/>
                  <a:gd name="T50" fmla="*/ 171 w 171"/>
                  <a:gd name="T51" fmla="*/ 291 h 323"/>
                  <a:gd name="T52" fmla="*/ 171 w 171"/>
                  <a:gd name="T53" fmla="*/ 99 h 323"/>
                  <a:gd name="T54" fmla="*/ 160 w 171"/>
                  <a:gd name="T55" fmla="*/ 88 h 323"/>
                  <a:gd name="T56" fmla="*/ 64 w 171"/>
                  <a:gd name="T57" fmla="*/ 26 h 323"/>
                  <a:gd name="T58" fmla="*/ 107 w 171"/>
                  <a:gd name="T59" fmla="*/ 26 h 323"/>
                  <a:gd name="T60" fmla="*/ 107 w 171"/>
                  <a:gd name="T61" fmla="*/ 88 h 323"/>
                  <a:gd name="T62" fmla="*/ 64 w 171"/>
                  <a:gd name="T63" fmla="*/ 88 h 323"/>
                  <a:gd name="T64" fmla="*/ 64 w 171"/>
                  <a:gd name="T65" fmla="*/ 26 h 323"/>
                  <a:gd name="T66" fmla="*/ 150 w 171"/>
                  <a:gd name="T67" fmla="*/ 280 h 323"/>
                  <a:gd name="T68" fmla="*/ 22 w 171"/>
                  <a:gd name="T69" fmla="*/ 280 h 323"/>
                  <a:gd name="T70" fmla="*/ 22 w 171"/>
                  <a:gd name="T71" fmla="*/ 109 h 323"/>
                  <a:gd name="T72" fmla="*/ 150 w 171"/>
                  <a:gd name="T73" fmla="*/ 109 h 323"/>
                  <a:gd name="T74" fmla="*/ 150 w 171"/>
                  <a:gd name="T75" fmla="*/ 280 h 323"/>
                  <a:gd name="T76" fmla="*/ 118 w 171"/>
                  <a:gd name="T77" fmla="*/ 131 h 323"/>
                  <a:gd name="T78" fmla="*/ 128 w 171"/>
                  <a:gd name="T79" fmla="*/ 141 h 323"/>
                  <a:gd name="T80" fmla="*/ 118 w 171"/>
                  <a:gd name="T81" fmla="*/ 152 h 323"/>
                  <a:gd name="T82" fmla="*/ 54 w 171"/>
                  <a:gd name="T83" fmla="*/ 152 h 323"/>
                  <a:gd name="T84" fmla="*/ 43 w 171"/>
                  <a:gd name="T85" fmla="*/ 141 h 323"/>
                  <a:gd name="T86" fmla="*/ 54 w 171"/>
                  <a:gd name="T87" fmla="*/ 131 h 323"/>
                  <a:gd name="T88" fmla="*/ 118 w 171"/>
                  <a:gd name="T89" fmla="*/ 131 h 323"/>
                  <a:gd name="T90" fmla="*/ 128 w 171"/>
                  <a:gd name="T91" fmla="*/ 248 h 323"/>
                  <a:gd name="T92" fmla="*/ 118 w 171"/>
                  <a:gd name="T93" fmla="*/ 259 h 323"/>
                  <a:gd name="T94" fmla="*/ 54 w 171"/>
                  <a:gd name="T95" fmla="*/ 259 h 323"/>
                  <a:gd name="T96" fmla="*/ 43 w 171"/>
                  <a:gd name="T97" fmla="*/ 248 h 323"/>
                  <a:gd name="T98" fmla="*/ 54 w 171"/>
                  <a:gd name="T99" fmla="*/ 237 h 323"/>
                  <a:gd name="T100" fmla="*/ 118 w 171"/>
                  <a:gd name="T101" fmla="*/ 237 h 323"/>
                  <a:gd name="T102" fmla="*/ 128 w 171"/>
                  <a:gd name="T103" fmla="*/ 24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1" h="323">
                    <a:moveTo>
                      <a:pt x="160" y="88"/>
                    </a:moveTo>
                    <a:cubicBezTo>
                      <a:pt x="128" y="88"/>
                      <a:pt x="128" y="88"/>
                      <a:pt x="128" y="88"/>
                    </a:cubicBezTo>
                    <a:cubicBezTo>
                      <a:pt x="128" y="35"/>
                      <a:pt x="128" y="35"/>
                      <a:pt x="128" y="35"/>
                    </a:cubicBezTo>
                    <a:cubicBezTo>
                      <a:pt x="128" y="35"/>
                      <a:pt x="128" y="35"/>
                      <a:pt x="128" y="35"/>
                    </a:cubicBezTo>
                    <a:cubicBezTo>
                      <a:pt x="133" y="35"/>
                      <a:pt x="137" y="31"/>
                      <a:pt x="138" y="27"/>
                    </a:cubicBezTo>
                    <a:cubicBezTo>
                      <a:pt x="140" y="21"/>
                      <a:pt x="138" y="14"/>
                      <a:pt x="132" y="12"/>
                    </a:cubicBezTo>
                    <a:cubicBezTo>
                      <a:pt x="103" y="0"/>
                      <a:pt x="69" y="0"/>
                      <a:pt x="39" y="12"/>
                    </a:cubicBezTo>
                    <a:cubicBezTo>
                      <a:pt x="34" y="14"/>
                      <a:pt x="31" y="20"/>
                      <a:pt x="33" y="25"/>
                    </a:cubicBezTo>
                    <a:cubicBezTo>
                      <a:pt x="35" y="30"/>
                      <a:pt x="39" y="32"/>
                      <a:pt x="43" y="32"/>
                    </a:cubicBezTo>
                    <a:cubicBezTo>
                      <a:pt x="43" y="88"/>
                      <a:pt x="43" y="88"/>
                      <a:pt x="43" y="88"/>
                    </a:cubicBezTo>
                    <a:cubicBezTo>
                      <a:pt x="11" y="88"/>
                      <a:pt x="11" y="88"/>
                      <a:pt x="11" y="88"/>
                    </a:cubicBezTo>
                    <a:cubicBezTo>
                      <a:pt x="5" y="88"/>
                      <a:pt x="0" y="93"/>
                      <a:pt x="0" y="99"/>
                    </a:cubicBezTo>
                    <a:cubicBezTo>
                      <a:pt x="0" y="291"/>
                      <a:pt x="0" y="291"/>
                      <a:pt x="0" y="291"/>
                    </a:cubicBezTo>
                    <a:cubicBezTo>
                      <a:pt x="0" y="297"/>
                      <a:pt x="5" y="301"/>
                      <a:pt x="11" y="301"/>
                    </a:cubicBezTo>
                    <a:cubicBezTo>
                      <a:pt x="22" y="301"/>
                      <a:pt x="22" y="301"/>
                      <a:pt x="22" y="301"/>
                    </a:cubicBezTo>
                    <a:cubicBezTo>
                      <a:pt x="22" y="312"/>
                      <a:pt x="22" y="312"/>
                      <a:pt x="22" y="312"/>
                    </a:cubicBezTo>
                    <a:cubicBezTo>
                      <a:pt x="22" y="318"/>
                      <a:pt x="26" y="323"/>
                      <a:pt x="32" y="323"/>
                    </a:cubicBezTo>
                    <a:cubicBezTo>
                      <a:pt x="38" y="323"/>
                      <a:pt x="43" y="318"/>
                      <a:pt x="43" y="312"/>
                    </a:cubicBezTo>
                    <a:cubicBezTo>
                      <a:pt x="43" y="301"/>
                      <a:pt x="43" y="301"/>
                      <a:pt x="43" y="301"/>
                    </a:cubicBezTo>
                    <a:cubicBezTo>
                      <a:pt x="128" y="301"/>
                      <a:pt x="128" y="301"/>
                      <a:pt x="128" y="301"/>
                    </a:cubicBezTo>
                    <a:cubicBezTo>
                      <a:pt x="128" y="312"/>
                      <a:pt x="128" y="312"/>
                      <a:pt x="128" y="312"/>
                    </a:cubicBezTo>
                    <a:cubicBezTo>
                      <a:pt x="128" y="318"/>
                      <a:pt x="133" y="323"/>
                      <a:pt x="139" y="323"/>
                    </a:cubicBezTo>
                    <a:cubicBezTo>
                      <a:pt x="145" y="323"/>
                      <a:pt x="150" y="318"/>
                      <a:pt x="150" y="312"/>
                    </a:cubicBezTo>
                    <a:cubicBezTo>
                      <a:pt x="150" y="301"/>
                      <a:pt x="150" y="301"/>
                      <a:pt x="150" y="301"/>
                    </a:cubicBezTo>
                    <a:cubicBezTo>
                      <a:pt x="160" y="301"/>
                      <a:pt x="160" y="301"/>
                      <a:pt x="160" y="301"/>
                    </a:cubicBezTo>
                    <a:cubicBezTo>
                      <a:pt x="166" y="301"/>
                      <a:pt x="171" y="297"/>
                      <a:pt x="171" y="291"/>
                    </a:cubicBezTo>
                    <a:cubicBezTo>
                      <a:pt x="171" y="99"/>
                      <a:pt x="171" y="99"/>
                      <a:pt x="171" y="99"/>
                    </a:cubicBezTo>
                    <a:cubicBezTo>
                      <a:pt x="171" y="93"/>
                      <a:pt x="166" y="88"/>
                      <a:pt x="160" y="88"/>
                    </a:cubicBezTo>
                    <a:close/>
                    <a:moveTo>
                      <a:pt x="64" y="26"/>
                    </a:moveTo>
                    <a:cubicBezTo>
                      <a:pt x="78" y="23"/>
                      <a:pt x="93" y="23"/>
                      <a:pt x="107" y="26"/>
                    </a:cubicBezTo>
                    <a:cubicBezTo>
                      <a:pt x="107" y="88"/>
                      <a:pt x="107" y="88"/>
                      <a:pt x="107" y="88"/>
                    </a:cubicBezTo>
                    <a:cubicBezTo>
                      <a:pt x="64" y="88"/>
                      <a:pt x="64" y="88"/>
                      <a:pt x="64" y="88"/>
                    </a:cubicBezTo>
                    <a:lnTo>
                      <a:pt x="64" y="26"/>
                    </a:lnTo>
                    <a:close/>
                    <a:moveTo>
                      <a:pt x="150" y="280"/>
                    </a:moveTo>
                    <a:cubicBezTo>
                      <a:pt x="22" y="280"/>
                      <a:pt x="22" y="280"/>
                      <a:pt x="22" y="280"/>
                    </a:cubicBezTo>
                    <a:cubicBezTo>
                      <a:pt x="22" y="109"/>
                      <a:pt x="22" y="109"/>
                      <a:pt x="22" y="109"/>
                    </a:cubicBezTo>
                    <a:cubicBezTo>
                      <a:pt x="150" y="109"/>
                      <a:pt x="150" y="109"/>
                      <a:pt x="150" y="109"/>
                    </a:cubicBezTo>
                    <a:lnTo>
                      <a:pt x="150" y="280"/>
                    </a:lnTo>
                    <a:close/>
                    <a:moveTo>
                      <a:pt x="118" y="131"/>
                    </a:moveTo>
                    <a:cubicBezTo>
                      <a:pt x="124" y="131"/>
                      <a:pt x="128" y="135"/>
                      <a:pt x="128" y="141"/>
                    </a:cubicBezTo>
                    <a:cubicBezTo>
                      <a:pt x="128" y="147"/>
                      <a:pt x="124" y="152"/>
                      <a:pt x="118" y="152"/>
                    </a:cubicBezTo>
                    <a:cubicBezTo>
                      <a:pt x="54" y="152"/>
                      <a:pt x="54" y="152"/>
                      <a:pt x="54" y="152"/>
                    </a:cubicBezTo>
                    <a:cubicBezTo>
                      <a:pt x="48" y="152"/>
                      <a:pt x="43" y="147"/>
                      <a:pt x="43" y="141"/>
                    </a:cubicBezTo>
                    <a:cubicBezTo>
                      <a:pt x="43" y="135"/>
                      <a:pt x="48" y="131"/>
                      <a:pt x="54" y="131"/>
                    </a:cubicBezTo>
                    <a:lnTo>
                      <a:pt x="118" y="131"/>
                    </a:lnTo>
                    <a:close/>
                    <a:moveTo>
                      <a:pt x="128" y="248"/>
                    </a:moveTo>
                    <a:cubicBezTo>
                      <a:pt x="128" y="254"/>
                      <a:pt x="124" y="259"/>
                      <a:pt x="118" y="259"/>
                    </a:cubicBezTo>
                    <a:cubicBezTo>
                      <a:pt x="54" y="259"/>
                      <a:pt x="54" y="259"/>
                      <a:pt x="54" y="259"/>
                    </a:cubicBezTo>
                    <a:cubicBezTo>
                      <a:pt x="48" y="259"/>
                      <a:pt x="43" y="254"/>
                      <a:pt x="43" y="248"/>
                    </a:cubicBezTo>
                    <a:cubicBezTo>
                      <a:pt x="43" y="242"/>
                      <a:pt x="48" y="237"/>
                      <a:pt x="54" y="237"/>
                    </a:cubicBezTo>
                    <a:cubicBezTo>
                      <a:pt x="118" y="237"/>
                      <a:pt x="118" y="237"/>
                      <a:pt x="118" y="237"/>
                    </a:cubicBezTo>
                    <a:cubicBezTo>
                      <a:pt x="124" y="237"/>
                      <a:pt x="128" y="242"/>
                      <a:pt x="128" y="24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 name="Group 784"/>
            <p:cNvGrpSpPr>
              <a:grpSpLocks noChangeAspect="1"/>
            </p:cNvGrpSpPr>
            <p:nvPr/>
          </p:nvGrpSpPr>
          <p:grpSpPr bwMode="auto">
            <a:xfrm>
              <a:off x="1700839" y="4127477"/>
              <a:ext cx="435600" cy="435600"/>
              <a:chOff x="2657" y="3361"/>
              <a:chExt cx="340" cy="340"/>
            </a:xfrm>
            <a:solidFill>
              <a:srgbClr val="00A0DE"/>
            </a:solidFill>
          </p:grpSpPr>
          <p:sp>
            <p:nvSpPr>
              <p:cNvPr id="31" name="Freeform 785"/>
              <p:cNvSpPr>
                <a:spLocks noEditPoints="1"/>
              </p:cNvSpPr>
              <p:nvPr/>
            </p:nvSpPr>
            <p:spPr bwMode="auto">
              <a:xfrm>
                <a:off x="2721" y="3439"/>
                <a:ext cx="212" cy="170"/>
              </a:xfrm>
              <a:custGeom>
                <a:avLst/>
                <a:gdLst>
                  <a:gd name="T0" fmla="*/ 313 w 320"/>
                  <a:gd name="T1" fmla="*/ 33 h 257"/>
                  <a:gd name="T2" fmla="*/ 239 w 320"/>
                  <a:gd name="T3" fmla="*/ 1 h 257"/>
                  <a:gd name="T4" fmla="*/ 230 w 320"/>
                  <a:gd name="T5" fmla="*/ 1 h 257"/>
                  <a:gd name="T6" fmla="*/ 160 w 320"/>
                  <a:gd name="T7" fmla="*/ 31 h 257"/>
                  <a:gd name="T8" fmla="*/ 89 w 320"/>
                  <a:gd name="T9" fmla="*/ 1 h 257"/>
                  <a:gd name="T10" fmla="*/ 81 w 320"/>
                  <a:gd name="T11" fmla="*/ 1 h 257"/>
                  <a:gd name="T12" fmla="*/ 6 w 320"/>
                  <a:gd name="T13" fmla="*/ 33 h 257"/>
                  <a:gd name="T14" fmla="*/ 0 w 320"/>
                  <a:gd name="T15" fmla="*/ 43 h 257"/>
                  <a:gd name="T16" fmla="*/ 0 w 320"/>
                  <a:gd name="T17" fmla="*/ 245 h 257"/>
                  <a:gd name="T18" fmla="*/ 4 w 320"/>
                  <a:gd name="T19" fmla="*/ 254 h 257"/>
                  <a:gd name="T20" fmla="*/ 15 w 320"/>
                  <a:gd name="T21" fmla="*/ 255 h 257"/>
                  <a:gd name="T22" fmla="*/ 85 w 320"/>
                  <a:gd name="T23" fmla="*/ 225 h 257"/>
                  <a:gd name="T24" fmla="*/ 155 w 320"/>
                  <a:gd name="T25" fmla="*/ 255 h 257"/>
                  <a:gd name="T26" fmla="*/ 164 w 320"/>
                  <a:gd name="T27" fmla="*/ 255 h 257"/>
                  <a:gd name="T28" fmla="*/ 234 w 320"/>
                  <a:gd name="T29" fmla="*/ 225 h 257"/>
                  <a:gd name="T30" fmla="*/ 305 w 320"/>
                  <a:gd name="T31" fmla="*/ 255 h 257"/>
                  <a:gd name="T32" fmla="*/ 309 w 320"/>
                  <a:gd name="T33" fmla="*/ 256 h 257"/>
                  <a:gd name="T34" fmla="*/ 315 w 320"/>
                  <a:gd name="T35" fmla="*/ 254 h 257"/>
                  <a:gd name="T36" fmla="*/ 320 w 320"/>
                  <a:gd name="T37" fmla="*/ 245 h 257"/>
                  <a:gd name="T38" fmla="*/ 320 w 320"/>
                  <a:gd name="T39" fmla="*/ 43 h 257"/>
                  <a:gd name="T40" fmla="*/ 313 w 320"/>
                  <a:gd name="T41" fmla="*/ 33 h 257"/>
                  <a:gd name="T42" fmla="*/ 96 w 320"/>
                  <a:gd name="T43" fmla="*/ 27 h 257"/>
                  <a:gd name="T44" fmla="*/ 149 w 320"/>
                  <a:gd name="T45" fmla="*/ 50 h 257"/>
                  <a:gd name="T46" fmla="*/ 149 w 320"/>
                  <a:gd name="T47" fmla="*/ 229 h 257"/>
                  <a:gd name="T48" fmla="*/ 96 w 320"/>
                  <a:gd name="T49" fmla="*/ 206 h 257"/>
                  <a:gd name="T50" fmla="*/ 96 w 320"/>
                  <a:gd name="T51" fmla="*/ 27 h 257"/>
                  <a:gd name="T52" fmla="*/ 170 w 320"/>
                  <a:gd name="T53" fmla="*/ 50 h 257"/>
                  <a:gd name="T54" fmla="*/ 224 w 320"/>
                  <a:gd name="T55" fmla="*/ 27 h 257"/>
                  <a:gd name="T56" fmla="*/ 224 w 320"/>
                  <a:gd name="T57" fmla="*/ 206 h 257"/>
                  <a:gd name="T58" fmla="*/ 170 w 320"/>
                  <a:gd name="T59" fmla="*/ 229 h 257"/>
                  <a:gd name="T60" fmla="*/ 170 w 320"/>
                  <a:gd name="T61" fmla="*/ 50 h 257"/>
                  <a:gd name="T62" fmla="*/ 21 w 320"/>
                  <a:gd name="T63" fmla="*/ 50 h 257"/>
                  <a:gd name="T64" fmla="*/ 74 w 320"/>
                  <a:gd name="T65" fmla="*/ 27 h 257"/>
                  <a:gd name="T66" fmla="*/ 74 w 320"/>
                  <a:gd name="T67" fmla="*/ 206 h 257"/>
                  <a:gd name="T68" fmla="*/ 21 w 320"/>
                  <a:gd name="T69" fmla="*/ 229 h 257"/>
                  <a:gd name="T70" fmla="*/ 21 w 320"/>
                  <a:gd name="T71" fmla="*/ 50 h 257"/>
                  <a:gd name="T72" fmla="*/ 298 w 320"/>
                  <a:gd name="T73" fmla="*/ 229 h 257"/>
                  <a:gd name="T74" fmla="*/ 245 w 320"/>
                  <a:gd name="T75" fmla="*/ 206 h 257"/>
                  <a:gd name="T76" fmla="*/ 245 w 320"/>
                  <a:gd name="T77" fmla="*/ 27 h 257"/>
                  <a:gd name="T78" fmla="*/ 298 w 320"/>
                  <a:gd name="T79" fmla="*/ 50 h 257"/>
                  <a:gd name="T80" fmla="*/ 298 w 320"/>
                  <a:gd name="T8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57">
                    <a:moveTo>
                      <a:pt x="313" y="33"/>
                    </a:moveTo>
                    <a:cubicBezTo>
                      <a:pt x="239" y="1"/>
                      <a:pt x="239" y="1"/>
                      <a:pt x="239" y="1"/>
                    </a:cubicBezTo>
                    <a:cubicBezTo>
                      <a:pt x="236" y="0"/>
                      <a:pt x="233" y="0"/>
                      <a:pt x="230" y="1"/>
                    </a:cubicBezTo>
                    <a:cubicBezTo>
                      <a:pt x="160" y="31"/>
                      <a:pt x="160" y="31"/>
                      <a:pt x="160" y="31"/>
                    </a:cubicBezTo>
                    <a:cubicBezTo>
                      <a:pt x="89" y="1"/>
                      <a:pt x="89" y="1"/>
                      <a:pt x="89" y="1"/>
                    </a:cubicBezTo>
                    <a:cubicBezTo>
                      <a:pt x="87" y="0"/>
                      <a:pt x="83" y="0"/>
                      <a:pt x="81" y="1"/>
                    </a:cubicBezTo>
                    <a:cubicBezTo>
                      <a:pt x="6" y="33"/>
                      <a:pt x="6" y="33"/>
                      <a:pt x="6" y="33"/>
                    </a:cubicBezTo>
                    <a:cubicBezTo>
                      <a:pt x="2" y="35"/>
                      <a:pt x="0" y="38"/>
                      <a:pt x="0" y="43"/>
                    </a:cubicBezTo>
                    <a:cubicBezTo>
                      <a:pt x="0" y="245"/>
                      <a:pt x="0" y="245"/>
                      <a:pt x="0" y="245"/>
                    </a:cubicBezTo>
                    <a:cubicBezTo>
                      <a:pt x="0" y="249"/>
                      <a:pt x="1" y="252"/>
                      <a:pt x="4" y="254"/>
                    </a:cubicBezTo>
                    <a:cubicBezTo>
                      <a:pt x="7" y="256"/>
                      <a:pt x="11" y="257"/>
                      <a:pt x="15" y="255"/>
                    </a:cubicBezTo>
                    <a:cubicBezTo>
                      <a:pt x="85" y="225"/>
                      <a:pt x="85" y="225"/>
                      <a:pt x="85" y="225"/>
                    </a:cubicBezTo>
                    <a:cubicBezTo>
                      <a:pt x="155" y="255"/>
                      <a:pt x="155" y="255"/>
                      <a:pt x="155" y="255"/>
                    </a:cubicBezTo>
                    <a:cubicBezTo>
                      <a:pt x="158" y="256"/>
                      <a:pt x="161" y="256"/>
                      <a:pt x="164" y="255"/>
                    </a:cubicBezTo>
                    <a:cubicBezTo>
                      <a:pt x="234" y="225"/>
                      <a:pt x="234" y="225"/>
                      <a:pt x="234" y="225"/>
                    </a:cubicBezTo>
                    <a:cubicBezTo>
                      <a:pt x="305" y="255"/>
                      <a:pt x="305" y="255"/>
                      <a:pt x="305" y="255"/>
                    </a:cubicBezTo>
                    <a:cubicBezTo>
                      <a:pt x="306" y="256"/>
                      <a:pt x="308" y="256"/>
                      <a:pt x="309" y="256"/>
                    </a:cubicBezTo>
                    <a:cubicBezTo>
                      <a:pt x="311" y="256"/>
                      <a:pt x="313" y="255"/>
                      <a:pt x="315" y="254"/>
                    </a:cubicBezTo>
                    <a:cubicBezTo>
                      <a:pt x="318" y="252"/>
                      <a:pt x="320" y="249"/>
                      <a:pt x="320" y="245"/>
                    </a:cubicBezTo>
                    <a:cubicBezTo>
                      <a:pt x="320" y="43"/>
                      <a:pt x="320" y="43"/>
                      <a:pt x="320" y="43"/>
                    </a:cubicBezTo>
                    <a:cubicBezTo>
                      <a:pt x="320" y="38"/>
                      <a:pt x="317" y="35"/>
                      <a:pt x="313" y="33"/>
                    </a:cubicBezTo>
                    <a:close/>
                    <a:moveTo>
                      <a:pt x="96" y="27"/>
                    </a:moveTo>
                    <a:cubicBezTo>
                      <a:pt x="149" y="50"/>
                      <a:pt x="149" y="50"/>
                      <a:pt x="149" y="50"/>
                    </a:cubicBezTo>
                    <a:cubicBezTo>
                      <a:pt x="149" y="229"/>
                      <a:pt x="149" y="229"/>
                      <a:pt x="149" y="229"/>
                    </a:cubicBezTo>
                    <a:cubicBezTo>
                      <a:pt x="96" y="206"/>
                      <a:pt x="96" y="206"/>
                      <a:pt x="96" y="206"/>
                    </a:cubicBezTo>
                    <a:lnTo>
                      <a:pt x="96" y="27"/>
                    </a:lnTo>
                    <a:close/>
                    <a:moveTo>
                      <a:pt x="170" y="50"/>
                    </a:moveTo>
                    <a:cubicBezTo>
                      <a:pt x="224" y="27"/>
                      <a:pt x="224" y="27"/>
                      <a:pt x="224" y="27"/>
                    </a:cubicBezTo>
                    <a:cubicBezTo>
                      <a:pt x="224" y="206"/>
                      <a:pt x="224" y="206"/>
                      <a:pt x="224" y="206"/>
                    </a:cubicBezTo>
                    <a:cubicBezTo>
                      <a:pt x="170" y="229"/>
                      <a:pt x="170" y="229"/>
                      <a:pt x="170" y="229"/>
                    </a:cubicBezTo>
                    <a:lnTo>
                      <a:pt x="170" y="50"/>
                    </a:lnTo>
                    <a:close/>
                    <a:moveTo>
                      <a:pt x="21" y="50"/>
                    </a:moveTo>
                    <a:cubicBezTo>
                      <a:pt x="74" y="27"/>
                      <a:pt x="74" y="27"/>
                      <a:pt x="74" y="27"/>
                    </a:cubicBezTo>
                    <a:cubicBezTo>
                      <a:pt x="74" y="206"/>
                      <a:pt x="74" y="206"/>
                      <a:pt x="74" y="206"/>
                    </a:cubicBezTo>
                    <a:cubicBezTo>
                      <a:pt x="21" y="229"/>
                      <a:pt x="21" y="229"/>
                      <a:pt x="21" y="229"/>
                    </a:cubicBezTo>
                    <a:lnTo>
                      <a:pt x="21" y="50"/>
                    </a:lnTo>
                    <a:close/>
                    <a:moveTo>
                      <a:pt x="298" y="229"/>
                    </a:moveTo>
                    <a:cubicBezTo>
                      <a:pt x="245" y="206"/>
                      <a:pt x="245" y="206"/>
                      <a:pt x="245" y="206"/>
                    </a:cubicBezTo>
                    <a:cubicBezTo>
                      <a:pt x="245" y="27"/>
                      <a:pt x="245" y="27"/>
                      <a:pt x="245" y="27"/>
                    </a:cubicBezTo>
                    <a:cubicBezTo>
                      <a:pt x="298" y="50"/>
                      <a:pt x="298" y="50"/>
                      <a:pt x="298" y="50"/>
                    </a:cubicBezTo>
                    <a:lnTo>
                      <a:pt x="298" y="2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786"/>
              <p:cNvSpPr>
                <a:spLocks noEditPoints="1"/>
              </p:cNvSpPr>
              <p:nvPr/>
            </p:nvSpPr>
            <p:spPr bwMode="auto">
              <a:xfrm>
                <a:off x="2657" y="33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3" name="TextBox 32"/>
          <p:cNvSpPr txBox="1"/>
          <p:nvPr/>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en-GB" sz="700" noProof="0" dirty="0">
                <a:solidFill>
                  <a:schemeClr val="bg1"/>
                </a:solidFill>
              </a:rPr>
              <a:t>© 2018 Deloitte Touche Tohmatsu India LLP</a:t>
            </a:r>
          </a:p>
        </p:txBody>
      </p:sp>
    </p:spTree>
    <p:extLst>
      <p:ext uri="{BB962C8B-B14F-4D97-AF65-F5344CB8AC3E}">
        <p14:creationId xmlns:p14="http://schemas.microsoft.com/office/powerpoint/2010/main" val="119077457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bwMode="auto">
          <a:xfrm>
            <a:off x="8159511" y="3900441"/>
            <a:ext cx="2280729" cy="3121134"/>
          </a:xfrm>
          <a:prstGeom prst="rect">
            <a:avLst/>
          </a:prstGeom>
          <a:solidFill>
            <a:schemeClr val="accent2"/>
          </a:solidFill>
          <a:ln w="6350" cap="flat" cmpd="sng" algn="ctr">
            <a:solidFill>
              <a:schemeClr val="accent2"/>
            </a:solidFill>
            <a:prstDash val="solid"/>
            <a:round/>
            <a:headEnd type="none" w="med" len="med"/>
            <a:tailEnd type="none" w="med" len="med"/>
          </a:ln>
          <a:effectLst/>
        </p:spPr>
        <p:txBody>
          <a:bodyPr vert="horz" wrap="square" lIns="32727" tIns="32727" rIns="32727" bIns="32727"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white"/>
                </a:solidFill>
                <a:effectLst/>
                <a:uLnTx/>
                <a:uFillTx/>
                <a:latin typeface="+mj-lt"/>
              </a:rPr>
              <a:t>Advisory Panel</a:t>
            </a:r>
          </a:p>
        </p:txBody>
      </p:sp>
      <p:sp>
        <p:nvSpPr>
          <p:cNvPr id="4" name="Rectangle 3"/>
          <p:cNvSpPr/>
          <p:nvPr/>
        </p:nvSpPr>
        <p:spPr>
          <a:xfrm>
            <a:off x="5584372" y="1034149"/>
            <a:ext cx="4839631" cy="1374669"/>
          </a:xfrm>
          <a:prstGeom prst="rect">
            <a:avLst/>
          </a:prstGeom>
          <a:solidFill>
            <a:srgbClr val="012169"/>
          </a:solidFill>
        </p:spPr>
        <p:txBody>
          <a:bodyPr wrap="square" rIns="91440">
            <a:no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chemeClr val="bg1"/>
                </a:solidFill>
                <a:effectLst/>
                <a:uLnTx/>
                <a:uFillTx/>
                <a:latin typeface="+mj-lt"/>
                <a:ea typeface="Verdana" panose="020B0604030504040204" pitchFamily="34" charset="0"/>
                <a:cs typeface="Verdana" panose="020B0604030504040204" pitchFamily="34" charset="0"/>
              </a:rPr>
              <a:t>The group is led by a team of professionals with significant experience in various aspects of the Airports Sector including PPP Structuring, Transaction Advisory Support, Regulatory Assessment, Financing and Investment Structuring, Technical Airport Assessment, Commercial Review, Financial Assessment, etc.</a:t>
            </a:r>
          </a:p>
        </p:txBody>
      </p:sp>
      <p:grpSp>
        <p:nvGrpSpPr>
          <p:cNvPr id="22" name="Group 21"/>
          <p:cNvGrpSpPr/>
          <p:nvPr/>
        </p:nvGrpSpPr>
        <p:grpSpPr>
          <a:xfrm>
            <a:off x="5600609" y="2515288"/>
            <a:ext cx="4839631" cy="386119"/>
            <a:chOff x="6508376" y="2452215"/>
            <a:chExt cx="5091093" cy="292577"/>
          </a:xfrm>
        </p:grpSpPr>
        <p:sp>
          <p:nvSpPr>
            <p:cNvPr id="5" name="Rectangle 4"/>
            <p:cNvSpPr/>
            <p:nvPr/>
          </p:nvSpPr>
          <p:spPr bwMode="auto">
            <a:xfrm>
              <a:off x="6853975" y="2490430"/>
              <a:ext cx="4745494" cy="254362"/>
            </a:xfrm>
            <a:prstGeom prst="rect">
              <a:avLst/>
            </a:prstGeom>
            <a:solidFill>
              <a:schemeClr val="accent2"/>
            </a:solidFill>
            <a:ln w="6350" cap="flat" cmpd="sng" algn="ctr">
              <a:no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white"/>
                  </a:solidFill>
                  <a:effectLst/>
                  <a:uLnTx/>
                  <a:uFillTx/>
                  <a:latin typeface="+mj-lt"/>
                  <a:ea typeface="Verdana" panose="020B0604030504040204" pitchFamily="34" charset="0"/>
                  <a:cs typeface="Verdana" panose="020B0604030504040204" pitchFamily="34" charset="0"/>
                </a:rPr>
                <a:t>Project </a:t>
              </a:r>
              <a:r>
                <a:rPr kumimoji="0" lang="en-GB" sz="1600" b="0"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Team</a:t>
              </a:r>
            </a:p>
          </p:txBody>
        </p:sp>
        <p:grpSp>
          <p:nvGrpSpPr>
            <p:cNvPr id="12" name="Group 11"/>
            <p:cNvGrpSpPr/>
            <p:nvPr/>
          </p:nvGrpSpPr>
          <p:grpSpPr>
            <a:xfrm>
              <a:off x="6508376" y="2452215"/>
              <a:ext cx="345599" cy="287009"/>
              <a:chOff x="4184198" y="4369629"/>
              <a:chExt cx="513402" cy="518081"/>
            </a:xfrm>
          </p:grpSpPr>
          <p:sp>
            <p:nvSpPr>
              <p:cNvPr id="13" name="Freeform 44"/>
              <p:cNvSpPr>
                <a:spLocks/>
              </p:cNvSpPr>
              <p:nvPr/>
            </p:nvSpPr>
            <p:spPr bwMode="auto">
              <a:xfrm>
                <a:off x="4191000" y="4389380"/>
                <a:ext cx="506599" cy="498330"/>
              </a:xfrm>
              <a:custGeom>
                <a:avLst/>
                <a:gdLst>
                  <a:gd name="T0" fmla="*/ 240 w 306"/>
                  <a:gd name="T1" fmla="*/ 220 h 294"/>
                  <a:gd name="T2" fmla="*/ 206 w 306"/>
                  <a:gd name="T3" fmla="*/ 202 h 294"/>
                  <a:gd name="T4" fmla="*/ 192 w 306"/>
                  <a:gd name="T5" fmla="*/ 190 h 294"/>
                  <a:gd name="T6" fmla="*/ 188 w 306"/>
                  <a:gd name="T7" fmla="*/ 176 h 294"/>
                  <a:gd name="T8" fmla="*/ 186 w 306"/>
                  <a:gd name="T9" fmla="*/ 166 h 294"/>
                  <a:gd name="T10" fmla="*/ 188 w 306"/>
                  <a:gd name="T11" fmla="*/ 158 h 294"/>
                  <a:gd name="T12" fmla="*/ 200 w 306"/>
                  <a:gd name="T13" fmla="*/ 142 h 294"/>
                  <a:gd name="T14" fmla="*/ 204 w 306"/>
                  <a:gd name="T15" fmla="*/ 126 h 294"/>
                  <a:gd name="T16" fmla="*/ 206 w 306"/>
                  <a:gd name="T17" fmla="*/ 122 h 294"/>
                  <a:gd name="T18" fmla="*/ 212 w 306"/>
                  <a:gd name="T19" fmla="*/ 118 h 294"/>
                  <a:gd name="T20" fmla="*/ 216 w 306"/>
                  <a:gd name="T21" fmla="*/ 112 h 294"/>
                  <a:gd name="T22" fmla="*/ 220 w 306"/>
                  <a:gd name="T23" fmla="*/ 98 h 294"/>
                  <a:gd name="T24" fmla="*/ 218 w 306"/>
                  <a:gd name="T25" fmla="*/ 92 h 294"/>
                  <a:gd name="T26" fmla="*/ 214 w 306"/>
                  <a:gd name="T27" fmla="*/ 84 h 294"/>
                  <a:gd name="T28" fmla="*/ 218 w 306"/>
                  <a:gd name="T29" fmla="*/ 56 h 294"/>
                  <a:gd name="T30" fmla="*/ 218 w 306"/>
                  <a:gd name="T31" fmla="*/ 48 h 294"/>
                  <a:gd name="T32" fmla="*/ 212 w 306"/>
                  <a:gd name="T33" fmla="*/ 32 h 294"/>
                  <a:gd name="T34" fmla="*/ 198 w 306"/>
                  <a:gd name="T35" fmla="*/ 14 h 294"/>
                  <a:gd name="T36" fmla="*/ 172 w 306"/>
                  <a:gd name="T37" fmla="*/ 2 h 294"/>
                  <a:gd name="T38" fmla="*/ 152 w 306"/>
                  <a:gd name="T39" fmla="*/ 0 h 294"/>
                  <a:gd name="T40" fmla="*/ 118 w 306"/>
                  <a:gd name="T41" fmla="*/ 6 h 294"/>
                  <a:gd name="T42" fmla="*/ 98 w 306"/>
                  <a:gd name="T43" fmla="*/ 22 h 294"/>
                  <a:gd name="T44" fmla="*/ 90 w 306"/>
                  <a:gd name="T45" fmla="*/ 40 h 294"/>
                  <a:gd name="T46" fmla="*/ 88 w 306"/>
                  <a:gd name="T47" fmla="*/ 56 h 294"/>
                  <a:gd name="T48" fmla="*/ 92 w 306"/>
                  <a:gd name="T49" fmla="*/ 84 h 294"/>
                  <a:gd name="T50" fmla="*/ 90 w 306"/>
                  <a:gd name="T51" fmla="*/ 88 h 294"/>
                  <a:gd name="T52" fmla="*/ 86 w 306"/>
                  <a:gd name="T53" fmla="*/ 98 h 294"/>
                  <a:gd name="T54" fmla="*/ 88 w 306"/>
                  <a:gd name="T55" fmla="*/ 106 h 294"/>
                  <a:gd name="T56" fmla="*/ 92 w 306"/>
                  <a:gd name="T57" fmla="*/ 116 h 294"/>
                  <a:gd name="T58" fmla="*/ 98 w 306"/>
                  <a:gd name="T59" fmla="*/ 120 h 294"/>
                  <a:gd name="T60" fmla="*/ 102 w 306"/>
                  <a:gd name="T61" fmla="*/ 126 h 294"/>
                  <a:gd name="T62" fmla="*/ 104 w 306"/>
                  <a:gd name="T63" fmla="*/ 136 h 294"/>
                  <a:gd name="T64" fmla="*/ 112 w 306"/>
                  <a:gd name="T65" fmla="*/ 150 h 294"/>
                  <a:gd name="T66" fmla="*/ 118 w 306"/>
                  <a:gd name="T67" fmla="*/ 160 h 294"/>
                  <a:gd name="T68" fmla="*/ 120 w 306"/>
                  <a:gd name="T69" fmla="*/ 166 h 294"/>
                  <a:gd name="T70" fmla="*/ 116 w 306"/>
                  <a:gd name="T71" fmla="*/ 184 h 294"/>
                  <a:gd name="T72" fmla="*/ 108 w 306"/>
                  <a:gd name="T73" fmla="*/ 198 h 294"/>
                  <a:gd name="T74" fmla="*/ 92 w 306"/>
                  <a:gd name="T75" fmla="*/ 208 h 294"/>
                  <a:gd name="T76" fmla="*/ 66 w 306"/>
                  <a:gd name="T77" fmla="*/ 220 h 294"/>
                  <a:gd name="T78" fmla="*/ 18 w 306"/>
                  <a:gd name="T79" fmla="*/ 242 h 294"/>
                  <a:gd name="T80" fmla="*/ 0 w 306"/>
                  <a:gd name="T81" fmla="*/ 256 h 294"/>
                  <a:gd name="T82" fmla="*/ 0 w 306"/>
                  <a:gd name="T83" fmla="*/ 260 h 294"/>
                  <a:gd name="T84" fmla="*/ 152 w 306"/>
                  <a:gd name="T85" fmla="*/ 294 h 294"/>
                  <a:gd name="T86" fmla="*/ 306 w 306"/>
                  <a:gd name="T87" fmla="*/ 294 h 294"/>
                  <a:gd name="T88" fmla="*/ 306 w 306"/>
                  <a:gd name="T89" fmla="*/ 260 h 294"/>
                  <a:gd name="T90" fmla="*/ 302 w 306"/>
                  <a:gd name="T91" fmla="*/ 250 h 294"/>
                  <a:gd name="T92" fmla="*/ 268 w 306"/>
                  <a:gd name="T93" fmla="*/ 230 h 294"/>
                  <a:gd name="T94" fmla="*/ 240 w 306"/>
                  <a:gd name="T95" fmla="*/ 220 h 294"/>
                  <a:gd name="connsiteX0" fmla="*/ 7843 w 10000"/>
                  <a:gd name="connsiteY0" fmla="*/ 7483 h 10671"/>
                  <a:gd name="connsiteX1" fmla="*/ 7843 w 10000"/>
                  <a:gd name="connsiteY1" fmla="*/ 7483 h 10671"/>
                  <a:gd name="connsiteX2" fmla="*/ 6993 w 10000"/>
                  <a:gd name="connsiteY2" fmla="*/ 7075 h 10671"/>
                  <a:gd name="connsiteX3" fmla="*/ 6732 w 10000"/>
                  <a:gd name="connsiteY3" fmla="*/ 6871 h 10671"/>
                  <a:gd name="connsiteX4" fmla="*/ 6471 w 10000"/>
                  <a:gd name="connsiteY4" fmla="*/ 6735 h 10671"/>
                  <a:gd name="connsiteX5" fmla="*/ 6275 w 10000"/>
                  <a:gd name="connsiteY5" fmla="*/ 6463 h 10671"/>
                  <a:gd name="connsiteX6" fmla="*/ 6209 w 10000"/>
                  <a:gd name="connsiteY6" fmla="*/ 6259 h 10671"/>
                  <a:gd name="connsiteX7" fmla="*/ 6144 w 10000"/>
                  <a:gd name="connsiteY7" fmla="*/ 5986 h 10671"/>
                  <a:gd name="connsiteX8" fmla="*/ 6078 w 10000"/>
                  <a:gd name="connsiteY8" fmla="*/ 5646 h 10671"/>
                  <a:gd name="connsiteX9" fmla="*/ 6078 w 10000"/>
                  <a:gd name="connsiteY9" fmla="*/ 5646 h 10671"/>
                  <a:gd name="connsiteX10" fmla="*/ 6144 w 10000"/>
                  <a:gd name="connsiteY10" fmla="*/ 5442 h 10671"/>
                  <a:gd name="connsiteX11" fmla="*/ 6144 w 10000"/>
                  <a:gd name="connsiteY11" fmla="*/ 5374 h 10671"/>
                  <a:gd name="connsiteX12" fmla="*/ 6340 w 10000"/>
                  <a:gd name="connsiteY12" fmla="*/ 5102 h 10671"/>
                  <a:gd name="connsiteX13" fmla="*/ 6536 w 10000"/>
                  <a:gd name="connsiteY13" fmla="*/ 4830 h 10671"/>
                  <a:gd name="connsiteX14" fmla="*/ 6601 w 10000"/>
                  <a:gd name="connsiteY14" fmla="*/ 4626 h 10671"/>
                  <a:gd name="connsiteX15" fmla="*/ 6667 w 10000"/>
                  <a:gd name="connsiteY15" fmla="*/ 4286 h 10671"/>
                  <a:gd name="connsiteX16" fmla="*/ 6667 w 10000"/>
                  <a:gd name="connsiteY16" fmla="*/ 4286 h 10671"/>
                  <a:gd name="connsiteX17" fmla="*/ 6732 w 10000"/>
                  <a:gd name="connsiteY17" fmla="*/ 4150 h 10671"/>
                  <a:gd name="connsiteX18" fmla="*/ 6797 w 10000"/>
                  <a:gd name="connsiteY18" fmla="*/ 4082 h 10671"/>
                  <a:gd name="connsiteX19" fmla="*/ 6928 w 10000"/>
                  <a:gd name="connsiteY19" fmla="*/ 4014 h 10671"/>
                  <a:gd name="connsiteX20" fmla="*/ 6993 w 10000"/>
                  <a:gd name="connsiteY20" fmla="*/ 3946 h 10671"/>
                  <a:gd name="connsiteX21" fmla="*/ 7059 w 10000"/>
                  <a:gd name="connsiteY21" fmla="*/ 3810 h 10671"/>
                  <a:gd name="connsiteX22" fmla="*/ 7124 w 10000"/>
                  <a:gd name="connsiteY22" fmla="*/ 3605 h 10671"/>
                  <a:gd name="connsiteX23" fmla="*/ 7190 w 10000"/>
                  <a:gd name="connsiteY23" fmla="*/ 3333 h 10671"/>
                  <a:gd name="connsiteX24" fmla="*/ 7190 w 10000"/>
                  <a:gd name="connsiteY24" fmla="*/ 3333 h 10671"/>
                  <a:gd name="connsiteX25" fmla="*/ 7124 w 10000"/>
                  <a:gd name="connsiteY25" fmla="*/ 3129 h 10671"/>
                  <a:gd name="connsiteX26" fmla="*/ 7059 w 10000"/>
                  <a:gd name="connsiteY26" fmla="*/ 2993 h 10671"/>
                  <a:gd name="connsiteX27" fmla="*/ 6993 w 10000"/>
                  <a:gd name="connsiteY27" fmla="*/ 2857 h 10671"/>
                  <a:gd name="connsiteX28" fmla="*/ 6993 w 10000"/>
                  <a:gd name="connsiteY28" fmla="*/ 2857 h 10671"/>
                  <a:gd name="connsiteX29" fmla="*/ 7124 w 10000"/>
                  <a:gd name="connsiteY29" fmla="*/ 1905 h 10671"/>
                  <a:gd name="connsiteX30" fmla="*/ 7124 w 10000"/>
                  <a:gd name="connsiteY30" fmla="*/ 1905 h 10671"/>
                  <a:gd name="connsiteX31" fmla="*/ 7124 w 10000"/>
                  <a:gd name="connsiteY31" fmla="*/ 1633 h 10671"/>
                  <a:gd name="connsiteX32" fmla="*/ 7059 w 10000"/>
                  <a:gd name="connsiteY32" fmla="*/ 1361 h 10671"/>
                  <a:gd name="connsiteX33" fmla="*/ 6928 w 10000"/>
                  <a:gd name="connsiteY33" fmla="*/ 1088 h 10671"/>
                  <a:gd name="connsiteX34" fmla="*/ 6732 w 10000"/>
                  <a:gd name="connsiteY34" fmla="*/ 748 h 10671"/>
                  <a:gd name="connsiteX35" fmla="*/ 6471 w 10000"/>
                  <a:gd name="connsiteY35" fmla="*/ 476 h 10671"/>
                  <a:gd name="connsiteX36" fmla="*/ 6078 w 10000"/>
                  <a:gd name="connsiteY36" fmla="*/ 204 h 10671"/>
                  <a:gd name="connsiteX37" fmla="*/ 5621 w 10000"/>
                  <a:gd name="connsiteY37" fmla="*/ 68 h 10671"/>
                  <a:gd name="connsiteX38" fmla="*/ 4967 w 10000"/>
                  <a:gd name="connsiteY38" fmla="*/ 0 h 10671"/>
                  <a:gd name="connsiteX39" fmla="*/ 4967 w 10000"/>
                  <a:gd name="connsiteY39" fmla="*/ 0 h 10671"/>
                  <a:gd name="connsiteX40" fmla="*/ 4379 w 10000"/>
                  <a:gd name="connsiteY40" fmla="*/ 68 h 10671"/>
                  <a:gd name="connsiteX41" fmla="*/ 3856 w 10000"/>
                  <a:gd name="connsiteY41" fmla="*/ 204 h 10671"/>
                  <a:gd name="connsiteX42" fmla="*/ 3529 w 10000"/>
                  <a:gd name="connsiteY42" fmla="*/ 476 h 10671"/>
                  <a:gd name="connsiteX43" fmla="*/ 3203 w 10000"/>
                  <a:gd name="connsiteY43" fmla="*/ 748 h 10671"/>
                  <a:gd name="connsiteX44" fmla="*/ 3072 w 10000"/>
                  <a:gd name="connsiteY44" fmla="*/ 1088 h 10671"/>
                  <a:gd name="connsiteX45" fmla="*/ 2941 w 10000"/>
                  <a:gd name="connsiteY45" fmla="*/ 1361 h 10671"/>
                  <a:gd name="connsiteX46" fmla="*/ 2876 w 10000"/>
                  <a:gd name="connsiteY46" fmla="*/ 1633 h 10671"/>
                  <a:gd name="connsiteX47" fmla="*/ 2876 w 10000"/>
                  <a:gd name="connsiteY47" fmla="*/ 1905 h 10671"/>
                  <a:gd name="connsiteX48" fmla="*/ 2876 w 10000"/>
                  <a:gd name="connsiteY48" fmla="*/ 1905 h 10671"/>
                  <a:gd name="connsiteX49" fmla="*/ 3007 w 10000"/>
                  <a:gd name="connsiteY49" fmla="*/ 2857 h 10671"/>
                  <a:gd name="connsiteX50" fmla="*/ 3007 w 10000"/>
                  <a:gd name="connsiteY50" fmla="*/ 2857 h 10671"/>
                  <a:gd name="connsiteX51" fmla="*/ 2941 w 10000"/>
                  <a:gd name="connsiteY51" fmla="*/ 2993 h 10671"/>
                  <a:gd name="connsiteX52" fmla="*/ 2876 w 10000"/>
                  <a:gd name="connsiteY52" fmla="*/ 3129 h 10671"/>
                  <a:gd name="connsiteX53" fmla="*/ 2810 w 10000"/>
                  <a:gd name="connsiteY53" fmla="*/ 3333 h 10671"/>
                  <a:gd name="connsiteX54" fmla="*/ 2810 w 10000"/>
                  <a:gd name="connsiteY54" fmla="*/ 3333 h 10671"/>
                  <a:gd name="connsiteX55" fmla="*/ 2876 w 10000"/>
                  <a:gd name="connsiteY55" fmla="*/ 3605 h 10671"/>
                  <a:gd name="connsiteX56" fmla="*/ 2941 w 10000"/>
                  <a:gd name="connsiteY56" fmla="*/ 3810 h 10671"/>
                  <a:gd name="connsiteX57" fmla="*/ 3007 w 10000"/>
                  <a:gd name="connsiteY57" fmla="*/ 3946 h 10671"/>
                  <a:gd name="connsiteX58" fmla="*/ 3072 w 10000"/>
                  <a:gd name="connsiteY58" fmla="*/ 4014 h 10671"/>
                  <a:gd name="connsiteX59" fmla="*/ 3203 w 10000"/>
                  <a:gd name="connsiteY59" fmla="*/ 4082 h 10671"/>
                  <a:gd name="connsiteX60" fmla="*/ 3268 w 10000"/>
                  <a:gd name="connsiteY60" fmla="*/ 4150 h 10671"/>
                  <a:gd name="connsiteX61" fmla="*/ 3333 w 10000"/>
                  <a:gd name="connsiteY61" fmla="*/ 4286 h 10671"/>
                  <a:gd name="connsiteX62" fmla="*/ 3333 w 10000"/>
                  <a:gd name="connsiteY62" fmla="*/ 4286 h 10671"/>
                  <a:gd name="connsiteX63" fmla="*/ 3399 w 10000"/>
                  <a:gd name="connsiteY63" fmla="*/ 4626 h 10671"/>
                  <a:gd name="connsiteX64" fmla="*/ 3464 w 10000"/>
                  <a:gd name="connsiteY64" fmla="*/ 4830 h 10671"/>
                  <a:gd name="connsiteX65" fmla="*/ 3660 w 10000"/>
                  <a:gd name="connsiteY65" fmla="*/ 5102 h 10671"/>
                  <a:gd name="connsiteX66" fmla="*/ 3856 w 10000"/>
                  <a:gd name="connsiteY66" fmla="*/ 5374 h 10671"/>
                  <a:gd name="connsiteX67" fmla="*/ 3856 w 10000"/>
                  <a:gd name="connsiteY67" fmla="*/ 5442 h 10671"/>
                  <a:gd name="connsiteX68" fmla="*/ 3922 w 10000"/>
                  <a:gd name="connsiteY68" fmla="*/ 5646 h 10671"/>
                  <a:gd name="connsiteX69" fmla="*/ 3922 w 10000"/>
                  <a:gd name="connsiteY69" fmla="*/ 5646 h 10671"/>
                  <a:gd name="connsiteX70" fmla="*/ 3856 w 10000"/>
                  <a:gd name="connsiteY70" fmla="*/ 5986 h 10671"/>
                  <a:gd name="connsiteX71" fmla="*/ 3791 w 10000"/>
                  <a:gd name="connsiteY71" fmla="*/ 6259 h 10671"/>
                  <a:gd name="connsiteX72" fmla="*/ 3660 w 10000"/>
                  <a:gd name="connsiteY72" fmla="*/ 6463 h 10671"/>
                  <a:gd name="connsiteX73" fmla="*/ 3529 w 10000"/>
                  <a:gd name="connsiteY73" fmla="*/ 6735 h 10671"/>
                  <a:gd name="connsiteX74" fmla="*/ 3268 w 10000"/>
                  <a:gd name="connsiteY74" fmla="*/ 6871 h 10671"/>
                  <a:gd name="connsiteX75" fmla="*/ 3007 w 10000"/>
                  <a:gd name="connsiteY75" fmla="*/ 7075 h 10671"/>
                  <a:gd name="connsiteX76" fmla="*/ 2157 w 10000"/>
                  <a:gd name="connsiteY76" fmla="*/ 7483 h 10671"/>
                  <a:gd name="connsiteX77" fmla="*/ 2157 w 10000"/>
                  <a:gd name="connsiteY77" fmla="*/ 7483 h 10671"/>
                  <a:gd name="connsiteX78" fmla="*/ 1242 w 10000"/>
                  <a:gd name="connsiteY78" fmla="*/ 7823 h 10671"/>
                  <a:gd name="connsiteX79" fmla="*/ 588 w 10000"/>
                  <a:gd name="connsiteY79" fmla="*/ 8231 h 10671"/>
                  <a:gd name="connsiteX80" fmla="*/ 131 w 10000"/>
                  <a:gd name="connsiteY80" fmla="*/ 8503 h 10671"/>
                  <a:gd name="connsiteX81" fmla="*/ 0 w 10000"/>
                  <a:gd name="connsiteY81" fmla="*/ 8707 h 10671"/>
                  <a:gd name="connsiteX82" fmla="*/ 0 w 10000"/>
                  <a:gd name="connsiteY82" fmla="*/ 8844 h 10671"/>
                  <a:gd name="connsiteX83" fmla="*/ 0 w 10000"/>
                  <a:gd name="connsiteY83" fmla="*/ 8844 h 10671"/>
                  <a:gd name="connsiteX84" fmla="*/ 0 w 10000"/>
                  <a:gd name="connsiteY84" fmla="*/ 10000 h 10671"/>
                  <a:gd name="connsiteX85" fmla="*/ 5016 w 10000"/>
                  <a:gd name="connsiteY85" fmla="*/ 10671 h 10671"/>
                  <a:gd name="connsiteX86" fmla="*/ 10000 w 10000"/>
                  <a:gd name="connsiteY86" fmla="*/ 10000 h 10671"/>
                  <a:gd name="connsiteX87" fmla="*/ 10000 w 10000"/>
                  <a:gd name="connsiteY87" fmla="*/ 10000 h 10671"/>
                  <a:gd name="connsiteX88" fmla="*/ 10000 w 10000"/>
                  <a:gd name="connsiteY88" fmla="*/ 8844 h 10671"/>
                  <a:gd name="connsiteX89" fmla="*/ 10000 w 10000"/>
                  <a:gd name="connsiteY89" fmla="*/ 8844 h 10671"/>
                  <a:gd name="connsiteX90" fmla="*/ 9935 w 10000"/>
                  <a:gd name="connsiteY90" fmla="*/ 8707 h 10671"/>
                  <a:gd name="connsiteX91" fmla="*/ 9869 w 10000"/>
                  <a:gd name="connsiteY91" fmla="*/ 8503 h 10671"/>
                  <a:gd name="connsiteX92" fmla="*/ 9412 w 10000"/>
                  <a:gd name="connsiteY92" fmla="*/ 8231 h 10671"/>
                  <a:gd name="connsiteX93" fmla="*/ 8758 w 10000"/>
                  <a:gd name="connsiteY93" fmla="*/ 7823 h 10671"/>
                  <a:gd name="connsiteX94" fmla="*/ 7843 w 10000"/>
                  <a:gd name="connsiteY94" fmla="*/ 7483 h 10671"/>
                  <a:gd name="connsiteX95" fmla="*/ 7843 w 10000"/>
                  <a:gd name="connsiteY95" fmla="*/ 7483 h 10671"/>
                  <a:gd name="connsiteX0" fmla="*/ 7843 w 10000"/>
                  <a:gd name="connsiteY0" fmla="*/ 7483 h 10705"/>
                  <a:gd name="connsiteX1" fmla="*/ 7843 w 10000"/>
                  <a:gd name="connsiteY1" fmla="*/ 7483 h 10705"/>
                  <a:gd name="connsiteX2" fmla="*/ 6993 w 10000"/>
                  <a:gd name="connsiteY2" fmla="*/ 7075 h 10705"/>
                  <a:gd name="connsiteX3" fmla="*/ 6732 w 10000"/>
                  <a:gd name="connsiteY3" fmla="*/ 6871 h 10705"/>
                  <a:gd name="connsiteX4" fmla="*/ 6471 w 10000"/>
                  <a:gd name="connsiteY4" fmla="*/ 6735 h 10705"/>
                  <a:gd name="connsiteX5" fmla="*/ 6275 w 10000"/>
                  <a:gd name="connsiteY5" fmla="*/ 6463 h 10705"/>
                  <a:gd name="connsiteX6" fmla="*/ 6209 w 10000"/>
                  <a:gd name="connsiteY6" fmla="*/ 6259 h 10705"/>
                  <a:gd name="connsiteX7" fmla="*/ 6144 w 10000"/>
                  <a:gd name="connsiteY7" fmla="*/ 5986 h 10705"/>
                  <a:gd name="connsiteX8" fmla="*/ 6078 w 10000"/>
                  <a:gd name="connsiteY8" fmla="*/ 5646 h 10705"/>
                  <a:gd name="connsiteX9" fmla="*/ 6078 w 10000"/>
                  <a:gd name="connsiteY9" fmla="*/ 5646 h 10705"/>
                  <a:gd name="connsiteX10" fmla="*/ 6144 w 10000"/>
                  <a:gd name="connsiteY10" fmla="*/ 5442 h 10705"/>
                  <a:gd name="connsiteX11" fmla="*/ 6144 w 10000"/>
                  <a:gd name="connsiteY11" fmla="*/ 5374 h 10705"/>
                  <a:gd name="connsiteX12" fmla="*/ 6340 w 10000"/>
                  <a:gd name="connsiteY12" fmla="*/ 5102 h 10705"/>
                  <a:gd name="connsiteX13" fmla="*/ 6536 w 10000"/>
                  <a:gd name="connsiteY13" fmla="*/ 4830 h 10705"/>
                  <a:gd name="connsiteX14" fmla="*/ 6601 w 10000"/>
                  <a:gd name="connsiteY14" fmla="*/ 4626 h 10705"/>
                  <a:gd name="connsiteX15" fmla="*/ 6667 w 10000"/>
                  <a:gd name="connsiteY15" fmla="*/ 4286 h 10705"/>
                  <a:gd name="connsiteX16" fmla="*/ 6667 w 10000"/>
                  <a:gd name="connsiteY16" fmla="*/ 4286 h 10705"/>
                  <a:gd name="connsiteX17" fmla="*/ 6732 w 10000"/>
                  <a:gd name="connsiteY17" fmla="*/ 4150 h 10705"/>
                  <a:gd name="connsiteX18" fmla="*/ 6797 w 10000"/>
                  <a:gd name="connsiteY18" fmla="*/ 4082 h 10705"/>
                  <a:gd name="connsiteX19" fmla="*/ 6928 w 10000"/>
                  <a:gd name="connsiteY19" fmla="*/ 4014 h 10705"/>
                  <a:gd name="connsiteX20" fmla="*/ 6993 w 10000"/>
                  <a:gd name="connsiteY20" fmla="*/ 3946 h 10705"/>
                  <a:gd name="connsiteX21" fmla="*/ 7059 w 10000"/>
                  <a:gd name="connsiteY21" fmla="*/ 3810 h 10705"/>
                  <a:gd name="connsiteX22" fmla="*/ 7124 w 10000"/>
                  <a:gd name="connsiteY22" fmla="*/ 3605 h 10705"/>
                  <a:gd name="connsiteX23" fmla="*/ 7190 w 10000"/>
                  <a:gd name="connsiteY23" fmla="*/ 3333 h 10705"/>
                  <a:gd name="connsiteX24" fmla="*/ 7190 w 10000"/>
                  <a:gd name="connsiteY24" fmla="*/ 3333 h 10705"/>
                  <a:gd name="connsiteX25" fmla="*/ 7124 w 10000"/>
                  <a:gd name="connsiteY25" fmla="*/ 3129 h 10705"/>
                  <a:gd name="connsiteX26" fmla="*/ 7059 w 10000"/>
                  <a:gd name="connsiteY26" fmla="*/ 2993 h 10705"/>
                  <a:gd name="connsiteX27" fmla="*/ 6993 w 10000"/>
                  <a:gd name="connsiteY27" fmla="*/ 2857 h 10705"/>
                  <a:gd name="connsiteX28" fmla="*/ 6993 w 10000"/>
                  <a:gd name="connsiteY28" fmla="*/ 2857 h 10705"/>
                  <a:gd name="connsiteX29" fmla="*/ 7124 w 10000"/>
                  <a:gd name="connsiteY29" fmla="*/ 1905 h 10705"/>
                  <a:gd name="connsiteX30" fmla="*/ 7124 w 10000"/>
                  <a:gd name="connsiteY30" fmla="*/ 1905 h 10705"/>
                  <a:gd name="connsiteX31" fmla="*/ 7124 w 10000"/>
                  <a:gd name="connsiteY31" fmla="*/ 1633 h 10705"/>
                  <a:gd name="connsiteX32" fmla="*/ 7059 w 10000"/>
                  <a:gd name="connsiteY32" fmla="*/ 1361 h 10705"/>
                  <a:gd name="connsiteX33" fmla="*/ 6928 w 10000"/>
                  <a:gd name="connsiteY33" fmla="*/ 1088 h 10705"/>
                  <a:gd name="connsiteX34" fmla="*/ 6732 w 10000"/>
                  <a:gd name="connsiteY34" fmla="*/ 748 h 10705"/>
                  <a:gd name="connsiteX35" fmla="*/ 6471 w 10000"/>
                  <a:gd name="connsiteY35" fmla="*/ 476 h 10705"/>
                  <a:gd name="connsiteX36" fmla="*/ 6078 w 10000"/>
                  <a:gd name="connsiteY36" fmla="*/ 204 h 10705"/>
                  <a:gd name="connsiteX37" fmla="*/ 5621 w 10000"/>
                  <a:gd name="connsiteY37" fmla="*/ 68 h 10705"/>
                  <a:gd name="connsiteX38" fmla="*/ 4967 w 10000"/>
                  <a:gd name="connsiteY38" fmla="*/ 0 h 10705"/>
                  <a:gd name="connsiteX39" fmla="*/ 4967 w 10000"/>
                  <a:gd name="connsiteY39" fmla="*/ 0 h 10705"/>
                  <a:gd name="connsiteX40" fmla="*/ 4379 w 10000"/>
                  <a:gd name="connsiteY40" fmla="*/ 68 h 10705"/>
                  <a:gd name="connsiteX41" fmla="*/ 3856 w 10000"/>
                  <a:gd name="connsiteY41" fmla="*/ 204 h 10705"/>
                  <a:gd name="connsiteX42" fmla="*/ 3529 w 10000"/>
                  <a:gd name="connsiteY42" fmla="*/ 476 h 10705"/>
                  <a:gd name="connsiteX43" fmla="*/ 3203 w 10000"/>
                  <a:gd name="connsiteY43" fmla="*/ 748 h 10705"/>
                  <a:gd name="connsiteX44" fmla="*/ 3072 w 10000"/>
                  <a:gd name="connsiteY44" fmla="*/ 1088 h 10705"/>
                  <a:gd name="connsiteX45" fmla="*/ 2941 w 10000"/>
                  <a:gd name="connsiteY45" fmla="*/ 1361 h 10705"/>
                  <a:gd name="connsiteX46" fmla="*/ 2876 w 10000"/>
                  <a:gd name="connsiteY46" fmla="*/ 1633 h 10705"/>
                  <a:gd name="connsiteX47" fmla="*/ 2876 w 10000"/>
                  <a:gd name="connsiteY47" fmla="*/ 1905 h 10705"/>
                  <a:gd name="connsiteX48" fmla="*/ 2876 w 10000"/>
                  <a:gd name="connsiteY48" fmla="*/ 1905 h 10705"/>
                  <a:gd name="connsiteX49" fmla="*/ 3007 w 10000"/>
                  <a:gd name="connsiteY49" fmla="*/ 2857 h 10705"/>
                  <a:gd name="connsiteX50" fmla="*/ 3007 w 10000"/>
                  <a:gd name="connsiteY50" fmla="*/ 2857 h 10705"/>
                  <a:gd name="connsiteX51" fmla="*/ 2941 w 10000"/>
                  <a:gd name="connsiteY51" fmla="*/ 2993 h 10705"/>
                  <a:gd name="connsiteX52" fmla="*/ 2876 w 10000"/>
                  <a:gd name="connsiteY52" fmla="*/ 3129 h 10705"/>
                  <a:gd name="connsiteX53" fmla="*/ 2810 w 10000"/>
                  <a:gd name="connsiteY53" fmla="*/ 3333 h 10705"/>
                  <a:gd name="connsiteX54" fmla="*/ 2810 w 10000"/>
                  <a:gd name="connsiteY54" fmla="*/ 3333 h 10705"/>
                  <a:gd name="connsiteX55" fmla="*/ 2876 w 10000"/>
                  <a:gd name="connsiteY55" fmla="*/ 3605 h 10705"/>
                  <a:gd name="connsiteX56" fmla="*/ 2941 w 10000"/>
                  <a:gd name="connsiteY56" fmla="*/ 3810 h 10705"/>
                  <a:gd name="connsiteX57" fmla="*/ 3007 w 10000"/>
                  <a:gd name="connsiteY57" fmla="*/ 3946 h 10705"/>
                  <a:gd name="connsiteX58" fmla="*/ 3072 w 10000"/>
                  <a:gd name="connsiteY58" fmla="*/ 4014 h 10705"/>
                  <a:gd name="connsiteX59" fmla="*/ 3203 w 10000"/>
                  <a:gd name="connsiteY59" fmla="*/ 4082 h 10705"/>
                  <a:gd name="connsiteX60" fmla="*/ 3268 w 10000"/>
                  <a:gd name="connsiteY60" fmla="*/ 4150 h 10705"/>
                  <a:gd name="connsiteX61" fmla="*/ 3333 w 10000"/>
                  <a:gd name="connsiteY61" fmla="*/ 4286 h 10705"/>
                  <a:gd name="connsiteX62" fmla="*/ 3333 w 10000"/>
                  <a:gd name="connsiteY62" fmla="*/ 4286 h 10705"/>
                  <a:gd name="connsiteX63" fmla="*/ 3399 w 10000"/>
                  <a:gd name="connsiteY63" fmla="*/ 4626 h 10705"/>
                  <a:gd name="connsiteX64" fmla="*/ 3464 w 10000"/>
                  <a:gd name="connsiteY64" fmla="*/ 4830 h 10705"/>
                  <a:gd name="connsiteX65" fmla="*/ 3660 w 10000"/>
                  <a:gd name="connsiteY65" fmla="*/ 5102 h 10705"/>
                  <a:gd name="connsiteX66" fmla="*/ 3856 w 10000"/>
                  <a:gd name="connsiteY66" fmla="*/ 5374 h 10705"/>
                  <a:gd name="connsiteX67" fmla="*/ 3856 w 10000"/>
                  <a:gd name="connsiteY67" fmla="*/ 5442 h 10705"/>
                  <a:gd name="connsiteX68" fmla="*/ 3922 w 10000"/>
                  <a:gd name="connsiteY68" fmla="*/ 5646 h 10705"/>
                  <a:gd name="connsiteX69" fmla="*/ 3922 w 10000"/>
                  <a:gd name="connsiteY69" fmla="*/ 5646 h 10705"/>
                  <a:gd name="connsiteX70" fmla="*/ 3856 w 10000"/>
                  <a:gd name="connsiteY70" fmla="*/ 5986 h 10705"/>
                  <a:gd name="connsiteX71" fmla="*/ 3791 w 10000"/>
                  <a:gd name="connsiteY71" fmla="*/ 6259 h 10705"/>
                  <a:gd name="connsiteX72" fmla="*/ 3660 w 10000"/>
                  <a:gd name="connsiteY72" fmla="*/ 6463 h 10705"/>
                  <a:gd name="connsiteX73" fmla="*/ 3529 w 10000"/>
                  <a:gd name="connsiteY73" fmla="*/ 6735 h 10705"/>
                  <a:gd name="connsiteX74" fmla="*/ 3268 w 10000"/>
                  <a:gd name="connsiteY74" fmla="*/ 6871 h 10705"/>
                  <a:gd name="connsiteX75" fmla="*/ 3007 w 10000"/>
                  <a:gd name="connsiteY75" fmla="*/ 7075 h 10705"/>
                  <a:gd name="connsiteX76" fmla="*/ 2157 w 10000"/>
                  <a:gd name="connsiteY76" fmla="*/ 7483 h 10705"/>
                  <a:gd name="connsiteX77" fmla="*/ 2157 w 10000"/>
                  <a:gd name="connsiteY77" fmla="*/ 7483 h 10705"/>
                  <a:gd name="connsiteX78" fmla="*/ 1242 w 10000"/>
                  <a:gd name="connsiteY78" fmla="*/ 7823 h 10705"/>
                  <a:gd name="connsiteX79" fmla="*/ 588 w 10000"/>
                  <a:gd name="connsiteY79" fmla="*/ 8231 h 10705"/>
                  <a:gd name="connsiteX80" fmla="*/ 131 w 10000"/>
                  <a:gd name="connsiteY80" fmla="*/ 8503 h 10705"/>
                  <a:gd name="connsiteX81" fmla="*/ 0 w 10000"/>
                  <a:gd name="connsiteY81" fmla="*/ 8707 h 10705"/>
                  <a:gd name="connsiteX82" fmla="*/ 0 w 10000"/>
                  <a:gd name="connsiteY82" fmla="*/ 8844 h 10705"/>
                  <a:gd name="connsiteX83" fmla="*/ 0 w 10000"/>
                  <a:gd name="connsiteY83" fmla="*/ 8844 h 10705"/>
                  <a:gd name="connsiteX84" fmla="*/ 0 w 10000"/>
                  <a:gd name="connsiteY84" fmla="*/ 10000 h 10705"/>
                  <a:gd name="connsiteX85" fmla="*/ 5016 w 10000"/>
                  <a:gd name="connsiteY85" fmla="*/ 10671 h 10705"/>
                  <a:gd name="connsiteX86" fmla="*/ 10000 w 10000"/>
                  <a:gd name="connsiteY86" fmla="*/ 10000 h 10705"/>
                  <a:gd name="connsiteX87" fmla="*/ 10000 w 10000"/>
                  <a:gd name="connsiteY87" fmla="*/ 10000 h 10705"/>
                  <a:gd name="connsiteX88" fmla="*/ 10000 w 10000"/>
                  <a:gd name="connsiteY88" fmla="*/ 8844 h 10705"/>
                  <a:gd name="connsiteX89" fmla="*/ 10000 w 10000"/>
                  <a:gd name="connsiteY89" fmla="*/ 8844 h 10705"/>
                  <a:gd name="connsiteX90" fmla="*/ 9935 w 10000"/>
                  <a:gd name="connsiteY90" fmla="*/ 8707 h 10705"/>
                  <a:gd name="connsiteX91" fmla="*/ 9869 w 10000"/>
                  <a:gd name="connsiteY91" fmla="*/ 8503 h 10705"/>
                  <a:gd name="connsiteX92" fmla="*/ 9412 w 10000"/>
                  <a:gd name="connsiteY92" fmla="*/ 8231 h 10705"/>
                  <a:gd name="connsiteX93" fmla="*/ 8758 w 10000"/>
                  <a:gd name="connsiteY93" fmla="*/ 7823 h 10705"/>
                  <a:gd name="connsiteX94" fmla="*/ 7843 w 10000"/>
                  <a:gd name="connsiteY94" fmla="*/ 7483 h 10705"/>
                  <a:gd name="connsiteX95" fmla="*/ 7843 w 10000"/>
                  <a:gd name="connsiteY95" fmla="*/ 7483 h 10705"/>
                  <a:gd name="connsiteX0" fmla="*/ 7843 w 10000"/>
                  <a:gd name="connsiteY0" fmla="*/ 7483 h 10705"/>
                  <a:gd name="connsiteX1" fmla="*/ 7843 w 10000"/>
                  <a:gd name="connsiteY1" fmla="*/ 7483 h 10705"/>
                  <a:gd name="connsiteX2" fmla="*/ 6993 w 10000"/>
                  <a:gd name="connsiteY2" fmla="*/ 7075 h 10705"/>
                  <a:gd name="connsiteX3" fmla="*/ 6732 w 10000"/>
                  <a:gd name="connsiteY3" fmla="*/ 6871 h 10705"/>
                  <a:gd name="connsiteX4" fmla="*/ 6471 w 10000"/>
                  <a:gd name="connsiteY4" fmla="*/ 6735 h 10705"/>
                  <a:gd name="connsiteX5" fmla="*/ 6275 w 10000"/>
                  <a:gd name="connsiteY5" fmla="*/ 6463 h 10705"/>
                  <a:gd name="connsiteX6" fmla="*/ 6209 w 10000"/>
                  <a:gd name="connsiteY6" fmla="*/ 6259 h 10705"/>
                  <a:gd name="connsiteX7" fmla="*/ 6144 w 10000"/>
                  <a:gd name="connsiteY7" fmla="*/ 5986 h 10705"/>
                  <a:gd name="connsiteX8" fmla="*/ 6078 w 10000"/>
                  <a:gd name="connsiteY8" fmla="*/ 5646 h 10705"/>
                  <a:gd name="connsiteX9" fmla="*/ 6078 w 10000"/>
                  <a:gd name="connsiteY9" fmla="*/ 5646 h 10705"/>
                  <a:gd name="connsiteX10" fmla="*/ 6144 w 10000"/>
                  <a:gd name="connsiteY10" fmla="*/ 5442 h 10705"/>
                  <a:gd name="connsiteX11" fmla="*/ 6144 w 10000"/>
                  <a:gd name="connsiteY11" fmla="*/ 5374 h 10705"/>
                  <a:gd name="connsiteX12" fmla="*/ 6340 w 10000"/>
                  <a:gd name="connsiteY12" fmla="*/ 5102 h 10705"/>
                  <a:gd name="connsiteX13" fmla="*/ 6536 w 10000"/>
                  <a:gd name="connsiteY13" fmla="*/ 4830 h 10705"/>
                  <a:gd name="connsiteX14" fmla="*/ 6601 w 10000"/>
                  <a:gd name="connsiteY14" fmla="*/ 4626 h 10705"/>
                  <a:gd name="connsiteX15" fmla="*/ 6667 w 10000"/>
                  <a:gd name="connsiteY15" fmla="*/ 4286 h 10705"/>
                  <a:gd name="connsiteX16" fmla="*/ 6667 w 10000"/>
                  <a:gd name="connsiteY16" fmla="*/ 4286 h 10705"/>
                  <a:gd name="connsiteX17" fmla="*/ 6732 w 10000"/>
                  <a:gd name="connsiteY17" fmla="*/ 4150 h 10705"/>
                  <a:gd name="connsiteX18" fmla="*/ 6797 w 10000"/>
                  <a:gd name="connsiteY18" fmla="*/ 4082 h 10705"/>
                  <a:gd name="connsiteX19" fmla="*/ 6928 w 10000"/>
                  <a:gd name="connsiteY19" fmla="*/ 4014 h 10705"/>
                  <a:gd name="connsiteX20" fmla="*/ 6993 w 10000"/>
                  <a:gd name="connsiteY20" fmla="*/ 3946 h 10705"/>
                  <a:gd name="connsiteX21" fmla="*/ 7059 w 10000"/>
                  <a:gd name="connsiteY21" fmla="*/ 3810 h 10705"/>
                  <a:gd name="connsiteX22" fmla="*/ 7124 w 10000"/>
                  <a:gd name="connsiteY22" fmla="*/ 3605 h 10705"/>
                  <a:gd name="connsiteX23" fmla="*/ 7190 w 10000"/>
                  <a:gd name="connsiteY23" fmla="*/ 3333 h 10705"/>
                  <a:gd name="connsiteX24" fmla="*/ 7190 w 10000"/>
                  <a:gd name="connsiteY24" fmla="*/ 3333 h 10705"/>
                  <a:gd name="connsiteX25" fmla="*/ 7124 w 10000"/>
                  <a:gd name="connsiteY25" fmla="*/ 3129 h 10705"/>
                  <a:gd name="connsiteX26" fmla="*/ 7059 w 10000"/>
                  <a:gd name="connsiteY26" fmla="*/ 2993 h 10705"/>
                  <a:gd name="connsiteX27" fmla="*/ 6993 w 10000"/>
                  <a:gd name="connsiteY27" fmla="*/ 2857 h 10705"/>
                  <a:gd name="connsiteX28" fmla="*/ 6993 w 10000"/>
                  <a:gd name="connsiteY28" fmla="*/ 2857 h 10705"/>
                  <a:gd name="connsiteX29" fmla="*/ 7124 w 10000"/>
                  <a:gd name="connsiteY29" fmla="*/ 1905 h 10705"/>
                  <a:gd name="connsiteX30" fmla="*/ 7124 w 10000"/>
                  <a:gd name="connsiteY30" fmla="*/ 1905 h 10705"/>
                  <a:gd name="connsiteX31" fmla="*/ 7124 w 10000"/>
                  <a:gd name="connsiteY31" fmla="*/ 1633 h 10705"/>
                  <a:gd name="connsiteX32" fmla="*/ 7059 w 10000"/>
                  <a:gd name="connsiteY32" fmla="*/ 1361 h 10705"/>
                  <a:gd name="connsiteX33" fmla="*/ 6928 w 10000"/>
                  <a:gd name="connsiteY33" fmla="*/ 1088 h 10705"/>
                  <a:gd name="connsiteX34" fmla="*/ 6732 w 10000"/>
                  <a:gd name="connsiteY34" fmla="*/ 748 h 10705"/>
                  <a:gd name="connsiteX35" fmla="*/ 6471 w 10000"/>
                  <a:gd name="connsiteY35" fmla="*/ 476 h 10705"/>
                  <a:gd name="connsiteX36" fmla="*/ 6078 w 10000"/>
                  <a:gd name="connsiteY36" fmla="*/ 204 h 10705"/>
                  <a:gd name="connsiteX37" fmla="*/ 5621 w 10000"/>
                  <a:gd name="connsiteY37" fmla="*/ 68 h 10705"/>
                  <a:gd name="connsiteX38" fmla="*/ 4967 w 10000"/>
                  <a:gd name="connsiteY38" fmla="*/ 0 h 10705"/>
                  <a:gd name="connsiteX39" fmla="*/ 4967 w 10000"/>
                  <a:gd name="connsiteY39" fmla="*/ 0 h 10705"/>
                  <a:gd name="connsiteX40" fmla="*/ 4379 w 10000"/>
                  <a:gd name="connsiteY40" fmla="*/ 68 h 10705"/>
                  <a:gd name="connsiteX41" fmla="*/ 3856 w 10000"/>
                  <a:gd name="connsiteY41" fmla="*/ 204 h 10705"/>
                  <a:gd name="connsiteX42" fmla="*/ 3529 w 10000"/>
                  <a:gd name="connsiteY42" fmla="*/ 476 h 10705"/>
                  <a:gd name="connsiteX43" fmla="*/ 3203 w 10000"/>
                  <a:gd name="connsiteY43" fmla="*/ 748 h 10705"/>
                  <a:gd name="connsiteX44" fmla="*/ 3072 w 10000"/>
                  <a:gd name="connsiteY44" fmla="*/ 1088 h 10705"/>
                  <a:gd name="connsiteX45" fmla="*/ 2941 w 10000"/>
                  <a:gd name="connsiteY45" fmla="*/ 1361 h 10705"/>
                  <a:gd name="connsiteX46" fmla="*/ 2876 w 10000"/>
                  <a:gd name="connsiteY46" fmla="*/ 1633 h 10705"/>
                  <a:gd name="connsiteX47" fmla="*/ 2876 w 10000"/>
                  <a:gd name="connsiteY47" fmla="*/ 1905 h 10705"/>
                  <a:gd name="connsiteX48" fmla="*/ 2876 w 10000"/>
                  <a:gd name="connsiteY48" fmla="*/ 1905 h 10705"/>
                  <a:gd name="connsiteX49" fmla="*/ 3007 w 10000"/>
                  <a:gd name="connsiteY49" fmla="*/ 2857 h 10705"/>
                  <a:gd name="connsiteX50" fmla="*/ 3007 w 10000"/>
                  <a:gd name="connsiteY50" fmla="*/ 2857 h 10705"/>
                  <a:gd name="connsiteX51" fmla="*/ 2941 w 10000"/>
                  <a:gd name="connsiteY51" fmla="*/ 2993 h 10705"/>
                  <a:gd name="connsiteX52" fmla="*/ 2876 w 10000"/>
                  <a:gd name="connsiteY52" fmla="*/ 3129 h 10705"/>
                  <a:gd name="connsiteX53" fmla="*/ 2810 w 10000"/>
                  <a:gd name="connsiteY53" fmla="*/ 3333 h 10705"/>
                  <a:gd name="connsiteX54" fmla="*/ 2810 w 10000"/>
                  <a:gd name="connsiteY54" fmla="*/ 3333 h 10705"/>
                  <a:gd name="connsiteX55" fmla="*/ 2876 w 10000"/>
                  <a:gd name="connsiteY55" fmla="*/ 3605 h 10705"/>
                  <a:gd name="connsiteX56" fmla="*/ 2941 w 10000"/>
                  <a:gd name="connsiteY56" fmla="*/ 3810 h 10705"/>
                  <a:gd name="connsiteX57" fmla="*/ 3007 w 10000"/>
                  <a:gd name="connsiteY57" fmla="*/ 3946 h 10705"/>
                  <a:gd name="connsiteX58" fmla="*/ 3072 w 10000"/>
                  <a:gd name="connsiteY58" fmla="*/ 4014 h 10705"/>
                  <a:gd name="connsiteX59" fmla="*/ 3203 w 10000"/>
                  <a:gd name="connsiteY59" fmla="*/ 4082 h 10705"/>
                  <a:gd name="connsiteX60" fmla="*/ 3268 w 10000"/>
                  <a:gd name="connsiteY60" fmla="*/ 4150 h 10705"/>
                  <a:gd name="connsiteX61" fmla="*/ 3333 w 10000"/>
                  <a:gd name="connsiteY61" fmla="*/ 4286 h 10705"/>
                  <a:gd name="connsiteX62" fmla="*/ 3333 w 10000"/>
                  <a:gd name="connsiteY62" fmla="*/ 4286 h 10705"/>
                  <a:gd name="connsiteX63" fmla="*/ 3399 w 10000"/>
                  <a:gd name="connsiteY63" fmla="*/ 4626 h 10705"/>
                  <a:gd name="connsiteX64" fmla="*/ 3464 w 10000"/>
                  <a:gd name="connsiteY64" fmla="*/ 4830 h 10705"/>
                  <a:gd name="connsiteX65" fmla="*/ 3660 w 10000"/>
                  <a:gd name="connsiteY65" fmla="*/ 5102 h 10705"/>
                  <a:gd name="connsiteX66" fmla="*/ 3856 w 10000"/>
                  <a:gd name="connsiteY66" fmla="*/ 5374 h 10705"/>
                  <a:gd name="connsiteX67" fmla="*/ 3856 w 10000"/>
                  <a:gd name="connsiteY67" fmla="*/ 5442 h 10705"/>
                  <a:gd name="connsiteX68" fmla="*/ 3922 w 10000"/>
                  <a:gd name="connsiteY68" fmla="*/ 5646 h 10705"/>
                  <a:gd name="connsiteX69" fmla="*/ 3922 w 10000"/>
                  <a:gd name="connsiteY69" fmla="*/ 5646 h 10705"/>
                  <a:gd name="connsiteX70" fmla="*/ 3856 w 10000"/>
                  <a:gd name="connsiteY70" fmla="*/ 5986 h 10705"/>
                  <a:gd name="connsiteX71" fmla="*/ 3791 w 10000"/>
                  <a:gd name="connsiteY71" fmla="*/ 6259 h 10705"/>
                  <a:gd name="connsiteX72" fmla="*/ 3660 w 10000"/>
                  <a:gd name="connsiteY72" fmla="*/ 6463 h 10705"/>
                  <a:gd name="connsiteX73" fmla="*/ 3529 w 10000"/>
                  <a:gd name="connsiteY73" fmla="*/ 6735 h 10705"/>
                  <a:gd name="connsiteX74" fmla="*/ 3268 w 10000"/>
                  <a:gd name="connsiteY74" fmla="*/ 6871 h 10705"/>
                  <a:gd name="connsiteX75" fmla="*/ 3007 w 10000"/>
                  <a:gd name="connsiteY75" fmla="*/ 7075 h 10705"/>
                  <a:gd name="connsiteX76" fmla="*/ 2157 w 10000"/>
                  <a:gd name="connsiteY76" fmla="*/ 7483 h 10705"/>
                  <a:gd name="connsiteX77" fmla="*/ 2157 w 10000"/>
                  <a:gd name="connsiteY77" fmla="*/ 7483 h 10705"/>
                  <a:gd name="connsiteX78" fmla="*/ 1242 w 10000"/>
                  <a:gd name="connsiteY78" fmla="*/ 7823 h 10705"/>
                  <a:gd name="connsiteX79" fmla="*/ 588 w 10000"/>
                  <a:gd name="connsiteY79" fmla="*/ 8231 h 10705"/>
                  <a:gd name="connsiteX80" fmla="*/ 131 w 10000"/>
                  <a:gd name="connsiteY80" fmla="*/ 8503 h 10705"/>
                  <a:gd name="connsiteX81" fmla="*/ 0 w 10000"/>
                  <a:gd name="connsiteY81" fmla="*/ 8707 h 10705"/>
                  <a:gd name="connsiteX82" fmla="*/ 0 w 10000"/>
                  <a:gd name="connsiteY82" fmla="*/ 8844 h 10705"/>
                  <a:gd name="connsiteX83" fmla="*/ 0 w 10000"/>
                  <a:gd name="connsiteY83" fmla="*/ 8844 h 10705"/>
                  <a:gd name="connsiteX84" fmla="*/ 0 w 10000"/>
                  <a:gd name="connsiteY84" fmla="*/ 10000 h 10705"/>
                  <a:gd name="connsiteX85" fmla="*/ 5016 w 10000"/>
                  <a:gd name="connsiteY85" fmla="*/ 10671 h 10705"/>
                  <a:gd name="connsiteX86" fmla="*/ 10000 w 10000"/>
                  <a:gd name="connsiteY86" fmla="*/ 10000 h 10705"/>
                  <a:gd name="connsiteX87" fmla="*/ 10000 w 10000"/>
                  <a:gd name="connsiteY87" fmla="*/ 10000 h 10705"/>
                  <a:gd name="connsiteX88" fmla="*/ 10000 w 10000"/>
                  <a:gd name="connsiteY88" fmla="*/ 8844 h 10705"/>
                  <a:gd name="connsiteX89" fmla="*/ 10000 w 10000"/>
                  <a:gd name="connsiteY89" fmla="*/ 8844 h 10705"/>
                  <a:gd name="connsiteX90" fmla="*/ 9935 w 10000"/>
                  <a:gd name="connsiteY90" fmla="*/ 8707 h 10705"/>
                  <a:gd name="connsiteX91" fmla="*/ 9869 w 10000"/>
                  <a:gd name="connsiteY91" fmla="*/ 8503 h 10705"/>
                  <a:gd name="connsiteX92" fmla="*/ 9412 w 10000"/>
                  <a:gd name="connsiteY92" fmla="*/ 8231 h 10705"/>
                  <a:gd name="connsiteX93" fmla="*/ 8758 w 10000"/>
                  <a:gd name="connsiteY93" fmla="*/ 7823 h 10705"/>
                  <a:gd name="connsiteX94" fmla="*/ 7843 w 10000"/>
                  <a:gd name="connsiteY94" fmla="*/ 7483 h 10705"/>
                  <a:gd name="connsiteX95" fmla="*/ 7843 w 10000"/>
                  <a:gd name="connsiteY95" fmla="*/ 7483 h 10705"/>
                  <a:gd name="connsiteX0" fmla="*/ 7843 w 10000"/>
                  <a:gd name="connsiteY0" fmla="*/ 7483 h 10710"/>
                  <a:gd name="connsiteX1" fmla="*/ 7843 w 10000"/>
                  <a:gd name="connsiteY1" fmla="*/ 7483 h 10710"/>
                  <a:gd name="connsiteX2" fmla="*/ 6993 w 10000"/>
                  <a:gd name="connsiteY2" fmla="*/ 7075 h 10710"/>
                  <a:gd name="connsiteX3" fmla="*/ 6732 w 10000"/>
                  <a:gd name="connsiteY3" fmla="*/ 6871 h 10710"/>
                  <a:gd name="connsiteX4" fmla="*/ 6471 w 10000"/>
                  <a:gd name="connsiteY4" fmla="*/ 6735 h 10710"/>
                  <a:gd name="connsiteX5" fmla="*/ 6275 w 10000"/>
                  <a:gd name="connsiteY5" fmla="*/ 6463 h 10710"/>
                  <a:gd name="connsiteX6" fmla="*/ 6209 w 10000"/>
                  <a:gd name="connsiteY6" fmla="*/ 6259 h 10710"/>
                  <a:gd name="connsiteX7" fmla="*/ 6144 w 10000"/>
                  <a:gd name="connsiteY7" fmla="*/ 5986 h 10710"/>
                  <a:gd name="connsiteX8" fmla="*/ 6078 w 10000"/>
                  <a:gd name="connsiteY8" fmla="*/ 5646 h 10710"/>
                  <a:gd name="connsiteX9" fmla="*/ 6078 w 10000"/>
                  <a:gd name="connsiteY9" fmla="*/ 5646 h 10710"/>
                  <a:gd name="connsiteX10" fmla="*/ 6144 w 10000"/>
                  <a:gd name="connsiteY10" fmla="*/ 5442 h 10710"/>
                  <a:gd name="connsiteX11" fmla="*/ 6144 w 10000"/>
                  <a:gd name="connsiteY11" fmla="*/ 5374 h 10710"/>
                  <a:gd name="connsiteX12" fmla="*/ 6340 w 10000"/>
                  <a:gd name="connsiteY12" fmla="*/ 5102 h 10710"/>
                  <a:gd name="connsiteX13" fmla="*/ 6536 w 10000"/>
                  <a:gd name="connsiteY13" fmla="*/ 4830 h 10710"/>
                  <a:gd name="connsiteX14" fmla="*/ 6601 w 10000"/>
                  <a:gd name="connsiteY14" fmla="*/ 4626 h 10710"/>
                  <a:gd name="connsiteX15" fmla="*/ 6667 w 10000"/>
                  <a:gd name="connsiteY15" fmla="*/ 4286 h 10710"/>
                  <a:gd name="connsiteX16" fmla="*/ 6667 w 10000"/>
                  <a:gd name="connsiteY16" fmla="*/ 4286 h 10710"/>
                  <a:gd name="connsiteX17" fmla="*/ 6732 w 10000"/>
                  <a:gd name="connsiteY17" fmla="*/ 4150 h 10710"/>
                  <a:gd name="connsiteX18" fmla="*/ 6797 w 10000"/>
                  <a:gd name="connsiteY18" fmla="*/ 4082 h 10710"/>
                  <a:gd name="connsiteX19" fmla="*/ 6928 w 10000"/>
                  <a:gd name="connsiteY19" fmla="*/ 4014 h 10710"/>
                  <a:gd name="connsiteX20" fmla="*/ 6993 w 10000"/>
                  <a:gd name="connsiteY20" fmla="*/ 3946 h 10710"/>
                  <a:gd name="connsiteX21" fmla="*/ 7059 w 10000"/>
                  <a:gd name="connsiteY21" fmla="*/ 3810 h 10710"/>
                  <a:gd name="connsiteX22" fmla="*/ 7124 w 10000"/>
                  <a:gd name="connsiteY22" fmla="*/ 3605 h 10710"/>
                  <a:gd name="connsiteX23" fmla="*/ 7190 w 10000"/>
                  <a:gd name="connsiteY23" fmla="*/ 3333 h 10710"/>
                  <a:gd name="connsiteX24" fmla="*/ 7190 w 10000"/>
                  <a:gd name="connsiteY24" fmla="*/ 3333 h 10710"/>
                  <a:gd name="connsiteX25" fmla="*/ 7124 w 10000"/>
                  <a:gd name="connsiteY25" fmla="*/ 3129 h 10710"/>
                  <a:gd name="connsiteX26" fmla="*/ 7059 w 10000"/>
                  <a:gd name="connsiteY26" fmla="*/ 2993 h 10710"/>
                  <a:gd name="connsiteX27" fmla="*/ 6993 w 10000"/>
                  <a:gd name="connsiteY27" fmla="*/ 2857 h 10710"/>
                  <a:gd name="connsiteX28" fmla="*/ 6993 w 10000"/>
                  <a:gd name="connsiteY28" fmla="*/ 2857 h 10710"/>
                  <a:gd name="connsiteX29" fmla="*/ 7124 w 10000"/>
                  <a:gd name="connsiteY29" fmla="*/ 1905 h 10710"/>
                  <a:gd name="connsiteX30" fmla="*/ 7124 w 10000"/>
                  <a:gd name="connsiteY30" fmla="*/ 1905 h 10710"/>
                  <a:gd name="connsiteX31" fmla="*/ 7124 w 10000"/>
                  <a:gd name="connsiteY31" fmla="*/ 1633 h 10710"/>
                  <a:gd name="connsiteX32" fmla="*/ 7059 w 10000"/>
                  <a:gd name="connsiteY32" fmla="*/ 1361 h 10710"/>
                  <a:gd name="connsiteX33" fmla="*/ 6928 w 10000"/>
                  <a:gd name="connsiteY33" fmla="*/ 1088 h 10710"/>
                  <a:gd name="connsiteX34" fmla="*/ 6732 w 10000"/>
                  <a:gd name="connsiteY34" fmla="*/ 748 h 10710"/>
                  <a:gd name="connsiteX35" fmla="*/ 6471 w 10000"/>
                  <a:gd name="connsiteY35" fmla="*/ 476 h 10710"/>
                  <a:gd name="connsiteX36" fmla="*/ 6078 w 10000"/>
                  <a:gd name="connsiteY36" fmla="*/ 204 h 10710"/>
                  <a:gd name="connsiteX37" fmla="*/ 5621 w 10000"/>
                  <a:gd name="connsiteY37" fmla="*/ 68 h 10710"/>
                  <a:gd name="connsiteX38" fmla="*/ 4967 w 10000"/>
                  <a:gd name="connsiteY38" fmla="*/ 0 h 10710"/>
                  <a:gd name="connsiteX39" fmla="*/ 4967 w 10000"/>
                  <a:gd name="connsiteY39" fmla="*/ 0 h 10710"/>
                  <a:gd name="connsiteX40" fmla="*/ 4379 w 10000"/>
                  <a:gd name="connsiteY40" fmla="*/ 68 h 10710"/>
                  <a:gd name="connsiteX41" fmla="*/ 3856 w 10000"/>
                  <a:gd name="connsiteY41" fmla="*/ 204 h 10710"/>
                  <a:gd name="connsiteX42" fmla="*/ 3529 w 10000"/>
                  <a:gd name="connsiteY42" fmla="*/ 476 h 10710"/>
                  <a:gd name="connsiteX43" fmla="*/ 3203 w 10000"/>
                  <a:gd name="connsiteY43" fmla="*/ 748 h 10710"/>
                  <a:gd name="connsiteX44" fmla="*/ 3072 w 10000"/>
                  <a:gd name="connsiteY44" fmla="*/ 1088 h 10710"/>
                  <a:gd name="connsiteX45" fmla="*/ 2941 w 10000"/>
                  <a:gd name="connsiteY45" fmla="*/ 1361 h 10710"/>
                  <a:gd name="connsiteX46" fmla="*/ 2876 w 10000"/>
                  <a:gd name="connsiteY46" fmla="*/ 1633 h 10710"/>
                  <a:gd name="connsiteX47" fmla="*/ 2876 w 10000"/>
                  <a:gd name="connsiteY47" fmla="*/ 1905 h 10710"/>
                  <a:gd name="connsiteX48" fmla="*/ 2876 w 10000"/>
                  <a:gd name="connsiteY48" fmla="*/ 1905 h 10710"/>
                  <a:gd name="connsiteX49" fmla="*/ 3007 w 10000"/>
                  <a:gd name="connsiteY49" fmla="*/ 2857 h 10710"/>
                  <a:gd name="connsiteX50" fmla="*/ 3007 w 10000"/>
                  <a:gd name="connsiteY50" fmla="*/ 2857 h 10710"/>
                  <a:gd name="connsiteX51" fmla="*/ 2941 w 10000"/>
                  <a:gd name="connsiteY51" fmla="*/ 2993 h 10710"/>
                  <a:gd name="connsiteX52" fmla="*/ 2876 w 10000"/>
                  <a:gd name="connsiteY52" fmla="*/ 3129 h 10710"/>
                  <a:gd name="connsiteX53" fmla="*/ 2810 w 10000"/>
                  <a:gd name="connsiteY53" fmla="*/ 3333 h 10710"/>
                  <a:gd name="connsiteX54" fmla="*/ 2810 w 10000"/>
                  <a:gd name="connsiteY54" fmla="*/ 3333 h 10710"/>
                  <a:gd name="connsiteX55" fmla="*/ 2876 w 10000"/>
                  <a:gd name="connsiteY55" fmla="*/ 3605 h 10710"/>
                  <a:gd name="connsiteX56" fmla="*/ 2941 w 10000"/>
                  <a:gd name="connsiteY56" fmla="*/ 3810 h 10710"/>
                  <a:gd name="connsiteX57" fmla="*/ 3007 w 10000"/>
                  <a:gd name="connsiteY57" fmla="*/ 3946 h 10710"/>
                  <a:gd name="connsiteX58" fmla="*/ 3072 w 10000"/>
                  <a:gd name="connsiteY58" fmla="*/ 4014 h 10710"/>
                  <a:gd name="connsiteX59" fmla="*/ 3203 w 10000"/>
                  <a:gd name="connsiteY59" fmla="*/ 4082 h 10710"/>
                  <a:gd name="connsiteX60" fmla="*/ 3268 w 10000"/>
                  <a:gd name="connsiteY60" fmla="*/ 4150 h 10710"/>
                  <a:gd name="connsiteX61" fmla="*/ 3333 w 10000"/>
                  <a:gd name="connsiteY61" fmla="*/ 4286 h 10710"/>
                  <a:gd name="connsiteX62" fmla="*/ 3333 w 10000"/>
                  <a:gd name="connsiteY62" fmla="*/ 4286 h 10710"/>
                  <a:gd name="connsiteX63" fmla="*/ 3399 w 10000"/>
                  <a:gd name="connsiteY63" fmla="*/ 4626 h 10710"/>
                  <a:gd name="connsiteX64" fmla="*/ 3464 w 10000"/>
                  <a:gd name="connsiteY64" fmla="*/ 4830 h 10710"/>
                  <a:gd name="connsiteX65" fmla="*/ 3660 w 10000"/>
                  <a:gd name="connsiteY65" fmla="*/ 5102 h 10710"/>
                  <a:gd name="connsiteX66" fmla="*/ 3856 w 10000"/>
                  <a:gd name="connsiteY66" fmla="*/ 5374 h 10710"/>
                  <a:gd name="connsiteX67" fmla="*/ 3856 w 10000"/>
                  <a:gd name="connsiteY67" fmla="*/ 5442 h 10710"/>
                  <a:gd name="connsiteX68" fmla="*/ 3922 w 10000"/>
                  <a:gd name="connsiteY68" fmla="*/ 5646 h 10710"/>
                  <a:gd name="connsiteX69" fmla="*/ 3922 w 10000"/>
                  <a:gd name="connsiteY69" fmla="*/ 5646 h 10710"/>
                  <a:gd name="connsiteX70" fmla="*/ 3856 w 10000"/>
                  <a:gd name="connsiteY70" fmla="*/ 5986 h 10710"/>
                  <a:gd name="connsiteX71" fmla="*/ 3791 w 10000"/>
                  <a:gd name="connsiteY71" fmla="*/ 6259 h 10710"/>
                  <a:gd name="connsiteX72" fmla="*/ 3660 w 10000"/>
                  <a:gd name="connsiteY72" fmla="*/ 6463 h 10710"/>
                  <a:gd name="connsiteX73" fmla="*/ 3529 w 10000"/>
                  <a:gd name="connsiteY73" fmla="*/ 6735 h 10710"/>
                  <a:gd name="connsiteX74" fmla="*/ 3268 w 10000"/>
                  <a:gd name="connsiteY74" fmla="*/ 6871 h 10710"/>
                  <a:gd name="connsiteX75" fmla="*/ 3007 w 10000"/>
                  <a:gd name="connsiteY75" fmla="*/ 7075 h 10710"/>
                  <a:gd name="connsiteX76" fmla="*/ 2157 w 10000"/>
                  <a:gd name="connsiteY76" fmla="*/ 7483 h 10710"/>
                  <a:gd name="connsiteX77" fmla="*/ 2157 w 10000"/>
                  <a:gd name="connsiteY77" fmla="*/ 7483 h 10710"/>
                  <a:gd name="connsiteX78" fmla="*/ 1242 w 10000"/>
                  <a:gd name="connsiteY78" fmla="*/ 7823 h 10710"/>
                  <a:gd name="connsiteX79" fmla="*/ 588 w 10000"/>
                  <a:gd name="connsiteY79" fmla="*/ 8231 h 10710"/>
                  <a:gd name="connsiteX80" fmla="*/ 131 w 10000"/>
                  <a:gd name="connsiteY80" fmla="*/ 8503 h 10710"/>
                  <a:gd name="connsiteX81" fmla="*/ 0 w 10000"/>
                  <a:gd name="connsiteY81" fmla="*/ 8707 h 10710"/>
                  <a:gd name="connsiteX82" fmla="*/ 0 w 10000"/>
                  <a:gd name="connsiteY82" fmla="*/ 8844 h 10710"/>
                  <a:gd name="connsiteX83" fmla="*/ 0 w 10000"/>
                  <a:gd name="connsiteY83" fmla="*/ 8844 h 10710"/>
                  <a:gd name="connsiteX84" fmla="*/ 0 w 10000"/>
                  <a:gd name="connsiteY84" fmla="*/ 10000 h 10710"/>
                  <a:gd name="connsiteX85" fmla="*/ 5016 w 10000"/>
                  <a:gd name="connsiteY85" fmla="*/ 10671 h 10710"/>
                  <a:gd name="connsiteX86" fmla="*/ 10000 w 10000"/>
                  <a:gd name="connsiteY86" fmla="*/ 10000 h 10710"/>
                  <a:gd name="connsiteX87" fmla="*/ 10000 w 10000"/>
                  <a:gd name="connsiteY87" fmla="*/ 10000 h 10710"/>
                  <a:gd name="connsiteX88" fmla="*/ 10000 w 10000"/>
                  <a:gd name="connsiteY88" fmla="*/ 8844 h 10710"/>
                  <a:gd name="connsiteX89" fmla="*/ 10000 w 10000"/>
                  <a:gd name="connsiteY89" fmla="*/ 8844 h 10710"/>
                  <a:gd name="connsiteX90" fmla="*/ 9935 w 10000"/>
                  <a:gd name="connsiteY90" fmla="*/ 8707 h 10710"/>
                  <a:gd name="connsiteX91" fmla="*/ 9869 w 10000"/>
                  <a:gd name="connsiteY91" fmla="*/ 8503 h 10710"/>
                  <a:gd name="connsiteX92" fmla="*/ 9412 w 10000"/>
                  <a:gd name="connsiteY92" fmla="*/ 8231 h 10710"/>
                  <a:gd name="connsiteX93" fmla="*/ 8758 w 10000"/>
                  <a:gd name="connsiteY93" fmla="*/ 7823 h 10710"/>
                  <a:gd name="connsiteX94" fmla="*/ 7843 w 10000"/>
                  <a:gd name="connsiteY94" fmla="*/ 7483 h 10710"/>
                  <a:gd name="connsiteX95" fmla="*/ 7843 w 10000"/>
                  <a:gd name="connsiteY95" fmla="*/ 7483 h 10710"/>
                  <a:gd name="connsiteX0" fmla="*/ 7843 w 10000"/>
                  <a:gd name="connsiteY0" fmla="*/ 7483 h 10710"/>
                  <a:gd name="connsiteX1" fmla="*/ 7843 w 10000"/>
                  <a:gd name="connsiteY1" fmla="*/ 7483 h 10710"/>
                  <a:gd name="connsiteX2" fmla="*/ 6993 w 10000"/>
                  <a:gd name="connsiteY2" fmla="*/ 7075 h 10710"/>
                  <a:gd name="connsiteX3" fmla="*/ 6732 w 10000"/>
                  <a:gd name="connsiteY3" fmla="*/ 6871 h 10710"/>
                  <a:gd name="connsiteX4" fmla="*/ 6471 w 10000"/>
                  <a:gd name="connsiteY4" fmla="*/ 6735 h 10710"/>
                  <a:gd name="connsiteX5" fmla="*/ 6275 w 10000"/>
                  <a:gd name="connsiteY5" fmla="*/ 6463 h 10710"/>
                  <a:gd name="connsiteX6" fmla="*/ 6209 w 10000"/>
                  <a:gd name="connsiteY6" fmla="*/ 6259 h 10710"/>
                  <a:gd name="connsiteX7" fmla="*/ 6144 w 10000"/>
                  <a:gd name="connsiteY7" fmla="*/ 5986 h 10710"/>
                  <a:gd name="connsiteX8" fmla="*/ 6078 w 10000"/>
                  <a:gd name="connsiteY8" fmla="*/ 5646 h 10710"/>
                  <a:gd name="connsiteX9" fmla="*/ 6078 w 10000"/>
                  <a:gd name="connsiteY9" fmla="*/ 5646 h 10710"/>
                  <a:gd name="connsiteX10" fmla="*/ 6144 w 10000"/>
                  <a:gd name="connsiteY10" fmla="*/ 5442 h 10710"/>
                  <a:gd name="connsiteX11" fmla="*/ 6144 w 10000"/>
                  <a:gd name="connsiteY11" fmla="*/ 5374 h 10710"/>
                  <a:gd name="connsiteX12" fmla="*/ 6340 w 10000"/>
                  <a:gd name="connsiteY12" fmla="*/ 5102 h 10710"/>
                  <a:gd name="connsiteX13" fmla="*/ 6536 w 10000"/>
                  <a:gd name="connsiteY13" fmla="*/ 4830 h 10710"/>
                  <a:gd name="connsiteX14" fmla="*/ 6601 w 10000"/>
                  <a:gd name="connsiteY14" fmla="*/ 4626 h 10710"/>
                  <a:gd name="connsiteX15" fmla="*/ 6667 w 10000"/>
                  <a:gd name="connsiteY15" fmla="*/ 4286 h 10710"/>
                  <a:gd name="connsiteX16" fmla="*/ 6667 w 10000"/>
                  <a:gd name="connsiteY16" fmla="*/ 4286 h 10710"/>
                  <a:gd name="connsiteX17" fmla="*/ 6732 w 10000"/>
                  <a:gd name="connsiteY17" fmla="*/ 4150 h 10710"/>
                  <a:gd name="connsiteX18" fmla="*/ 6797 w 10000"/>
                  <a:gd name="connsiteY18" fmla="*/ 4082 h 10710"/>
                  <a:gd name="connsiteX19" fmla="*/ 6928 w 10000"/>
                  <a:gd name="connsiteY19" fmla="*/ 4014 h 10710"/>
                  <a:gd name="connsiteX20" fmla="*/ 6993 w 10000"/>
                  <a:gd name="connsiteY20" fmla="*/ 3946 h 10710"/>
                  <a:gd name="connsiteX21" fmla="*/ 7059 w 10000"/>
                  <a:gd name="connsiteY21" fmla="*/ 3810 h 10710"/>
                  <a:gd name="connsiteX22" fmla="*/ 7124 w 10000"/>
                  <a:gd name="connsiteY22" fmla="*/ 3605 h 10710"/>
                  <a:gd name="connsiteX23" fmla="*/ 7190 w 10000"/>
                  <a:gd name="connsiteY23" fmla="*/ 3333 h 10710"/>
                  <a:gd name="connsiteX24" fmla="*/ 7190 w 10000"/>
                  <a:gd name="connsiteY24" fmla="*/ 3333 h 10710"/>
                  <a:gd name="connsiteX25" fmla="*/ 7124 w 10000"/>
                  <a:gd name="connsiteY25" fmla="*/ 3129 h 10710"/>
                  <a:gd name="connsiteX26" fmla="*/ 7059 w 10000"/>
                  <a:gd name="connsiteY26" fmla="*/ 2993 h 10710"/>
                  <a:gd name="connsiteX27" fmla="*/ 6993 w 10000"/>
                  <a:gd name="connsiteY27" fmla="*/ 2857 h 10710"/>
                  <a:gd name="connsiteX28" fmla="*/ 6993 w 10000"/>
                  <a:gd name="connsiteY28" fmla="*/ 2857 h 10710"/>
                  <a:gd name="connsiteX29" fmla="*/ 7124 w 10000"/>
                  <a:gd name="connsiteY29" fmla="*/ 1905 h 10710"/>
                  <a:gd name="connsiteX30" fmla="*/ 7124 w 10000"/>
                  <a:gd name="connsiteY30" fmla="*/ 1905 h 10710"/>
                  <a:gd name="connsiteX31" fmla="*/ 7124 w 10000"/>
                  <a:gd name="connsiteY31" fmla="*/ 1633 h 10710"/>
                  <a:gd name="connsiteX32" fmla="*/ 7059 w 10000"/>
                  <a:gd name="connsiteY32" fmla="*/ 1361 h 10710"/>
                  <a:gd name="connsiteX33" fmla="*/ 6928 w 10000"/>
                  <a:gd name="connsiteY33" fmla="*/ 1088 h 10710"/>
                  <a:gd name="connsiteX34" fmla="*/ 6732 w 10000"/>
                  <a:gd name="connsiteY34" fmla="*/ 748 h 10710"/>
                  <a:gd name="connsiteX35" fmla="*/ 6471 w 10000"/>
                  <a:gd name="connsiteY35" fmla="*/ 476 h 10710"/>
                  <a:gd name="connsiteX36" fmla="*/ 6078 w 10000"/>
                  <a:gd name="connsiteY36" fmla="*/ 204 h 10710"/>
                  <a:gd name="connsiteX37" fmla="*/ 5621 w 10000"/>
                  <a:gd name="connsiteY37" fmla="*/ 68 h 10710"/>
                  <a:gd name="connsiteX38" fmla="*/ 4967 w 10000"/>
                  <a:gd name="connsiteY38" fmla="*/ 0 h 10710"/>
                  <a:gd name="connsiteX39" fmla="*/ 4967 w 10000"/>
                  <a:gd name="connsiteY39" fmla="*/ 0 h 10710"/>
                  <a:gd name="connsiteX40" fmla="*/ 4379 w 10000"/>
                  <a:gd name="connsiteY40" fmla="*/ 68 h 10710"/>
                  <a:gd name="connsiteX41" fmla="*/ 3856 w 10000"/>
                  <a:gd name="connsiteY41" fmla="*/ 204 h 10710"/>
                  <a:gd name="connsiteX42" fmla="*/ 3529 w 10000"/>
                  <a:gd name="connsiteY42" fmla="*/ 476 h 10710"/>
                  <a:gd name="connsiteX43" fmla="*/ 3203 w 10000"/>
                  <a:gd name="connsiteY43" fmla="*/ 748 h 10710"/>
                  <a:gd name="connsiteX44" fmla="*/ 3072 w 10000"/>
                  <a:gd name="connsiteY44" fmla="*/ 1088 h 10710"/>
                  <a:gd name="connsiteX45" fmla="*/ 2941 w 10000"/>
                  <a:gd name="connsiteY45" fmla="*/ 1361 h 10710"/>
                  <a:gd name="connsiteX46" fmla="*/ 2876 w 10000"/>
                  <a:gd name="connsiteY46" fmla="*/ 1633 h 10710"/>
                  <a:gd name="connsiteX47" fmla="*/ 2876 w 10000"/>
                  <a:gd name="connsiteY47" fmla="*/ 1905 h 10710"/>
                  <a:gd name="connsiteX48" fmla="*/ 2876 w 10000"/>
                  <a:gd name="connsiteY48" fmla="*/ 1905 h 10710"/>
                  <a:gd name="connsiteX49" fmla="*/ 3007 w 10000"/>
                  <a:gd name="connsiteY49" fmla="*/ 2857 h 10710"/>
                  <a:gd name="connsiteX50" fmla="*/ 3007 w 10000"/>
                  <a:gd name="connsiteY50" fmla="*/ 2857 h 10710"/>
                  <a:gd name="connsiteX51" fmla="*/ 2941 w 10000"/>
                  <a:gd name="connsiteY51" fmla="*/ 2993 h 10710"/>
                  <a:gd name="connsiteX52" fmla="*/ 2876 w 10000"/>
                  <a:gd name="connsiteY52" fmla="*/ 3129 h 10710"/>
                  <a:gd name="connsiteX53" fmla="*/ 2810 w 10000"/>
                  <a:gd name="connsiteY53" fmla="*/ 3333 h 10710"/>
                  <a:gd name="connsiteX54" fmla="*/ 2810 w 10000"/>
                  <a:gd name="connsiteY54" fmla="*/ 3333 h 10710"/>
                  <a:gd name="connsiteX55" fmla="*/ 2876 w 10000"/>
                  <a:gd name="connsiteY55" fmla="*/ 3605 h 10710"/>
                  <a:gd name="connsiteX56" fmla="*/ 2941 w 10000"/>
                  <a:gd name="connsiteY56" fmla="*/ 3810 h 10710"/>
                  <a:gd name="connsiteX57" fmla="*/ 3007 w 10000"/>
                  <a:gd name="connsiteY57" fmla="*/ 3946 h 10710"/>
                  <a:gd name="connsiteX58" fmla="*/ 3072 w 10000"/>
                  <a:gd name="connsiteY58" fmla="*/ 4014 h 10710"/>
                  <a:gd name="connsiteX59" fmla="*/ 3203 w 10000"/>
                  <a:gd name="connsiteY59" fmla="*/ 4082 h 10710"/>
                  <a:gd name="connsiteX60" fmla="*/ 3268 w 10000"/>
                  <a:gd name="connsiteY60" fmla="*/ 4150 h 10710"/>
                  <a:gd name="connsiteX61" fmla="*/ 3333 w 10000"/>
                  <a:gd name="connsiteY61" fmla="*/ 4286 h 10710"/>
                  <a:gd name="connsiteX62" fmla="*/ 3333 w 10000"/>
                  <a:gd name="connsiteY62" fmla="*/ 4286 h 10710"/>
                  <a:gd name="connsiteX63" fmla="*/ 3399 w 10000"/>
                  <a:gd name="connsiteY63" fmla="*/ 4626 h 10710"/>
                  <a:gd name="connsiteX64" fmla="*/ 3464 w 10000"/>
                  <a:gd name="connsiteY64" fmla="*/ 4830 h 10710"/>
                  <a:gd name="connsiteX65" fmla="*/ 3660 w 10000"/>
                  <a:gd name="connsiteY65" fmla="*/ 5102 h 10710"/>
                  <a:gd name="connsiteX66" fmla="*/ 3856 w 10000"/>
                  <a:gd name="connsiteY66" fmla="*/ 5374 h 10710"/>
                  <a:gd name="connsiteX67" fmla="*/ 3856 w 10000"/>
                  <a:gd name="connsiteY67" fmla="*/ 5442 h 10710"/>
                  <a:gd name="connsiteX68" fmla="*/ 3922 w 10000"/>
                  <a:gd name="connsiteY68" fmla="*/ 5646 h 10710"/>
                  <a:gd name="connsiteX69" fmla="*/ 3922 w 10000"/>
                  <a:gd name="connsiteY69" fmla="*/ 5646 h 10710"/>
                  <a:gd name="connsiteX70" fmla="*/ 3856 w 10000"/>
                  <a:gd name="connsiteY70" fmla="*/ 5986 h 10710"/>
                  <a:gd name="connsiteX71" fmla="*/ 3791 w 10000"/>
                  <a:gd name="connsiteY71" fmla="*/ 6259 h 10710"/>
                  <a:gd name="connsiteX72" fmla="*/ 3660 w 10000"/>
                  <a:gd name="connsiteY72" fmla="*/ 6463 h 10710"/>
                  <a:gd name="connsiteX73" fmla="*/ 3529 w 10000"/>
                  <a:gd name="connsiteY73" fmla="*/ 6735 h 10710"/>
                  <a:gd name="connsiteX74" fmla="*/ 3268 w 10000"/>
                  <a:gd name="connsiteY74" fmla="*/ 6871 h 10710"/>
                  <a:gd name="connsiteX75" fmla="*/ 3007 w 10000"/>
                  <a:gd name="connsiteY75" fmla="*/ 7075 h 10710"/>
                  <a:gd name="connsiteX76" fmla="*/ 2157 w 10000"/>
                  <a:gd name="connsiteY76" fmla="*/ 7483 h 10710"/>
                  <a:gd name="connsiteX77" fmla="*/ 2157 w 10000"/>
                  <a:gd name="connsiteY77" fmla="*/ 7483 h 10710"/>
                  <a:gd name="connsiteX78" fmla="*/ 1242 w 10000"/>
                  <a:gd name="connsiteY78" fmla="*/ 7823 h 10710"/>
                  <a:gd name="connsiteX79" fmla="*/ 588 w 10000"/>
                  <a:gd name="connsiteY79" fmla="*/ 8231 h 10710"/>
                  <a:gd name="connsiteX80" fmla="*/ 131 w 10000"/>
                  <a:gd name="connsiteY80" fmla="*/ 8503 h 10710"/>
                  <a:gd name="connsiteX81" fmla="*/ 0 w 10000"/>
                  <a:gd name="connsiteY81" fmla="*/ 8707 h 10710"/>
                  <a:gd name="connsiteX82" fmla="*/ 0 w 10000"/>
                  <a:gd name="connsiteY82" fmla="*/ 8844 h 10710"/>
                  <a:gd name="connsiteX83" fmla="*/ 0 w 10000"/>
                  <a:gd name="connsiteY83" fmla="*/ 8844 h 10710"/>
                  <a:gd name="connsiteX84" fmla="*/ 0 w 10000"/>
                  <a:gd name="connsiteY84" fmla="*/ 10000 h 10710"/>
                  <a:gd name="connsiteX85" fmla="*/ 5016 w 10000"/>
                  <a:gd name="connsiteY85" fmla="*/ 10671 h 10710"/>
                  <a:gd name="connsiteX86" fmla="*/ 10000 w 10000"/>
                  <a:gd name="connsiteY86" fmla="*/ 10000 h 10710"/>
                  <a:gd name="connsiteX87" fmla="*/ 10000 w 10000"/>
                  <a:gd name="connsiteY87" fmla="*/ 10000 h 10710"/>
                  <a:gd name="connsiteX88" fmla="*/ 10000 w 10000"/>
                  <a:gd name="connsiteY88" fmla="*/ 8844 h 10710"/>
                  <a:gd name="connsiteX89" fmla="*/ 10000 w 10000"/>
                  <a:gd name="connsiteY89" fmla="*/ 8844 h 10710"/>
                  <a:gd name="connsiteX90" fmla="*/ 9935 w 10000"/>
                  <a:gd name="connsiteY90" fmla="*/ 8707 h 10710"/>
                  <a:gd name="connsiteX91" fmla="*/ 9869 w 10000"/>
                  <a:gd name="connsiteY91" fmla="*/ 8503 h 10710"/>
                  <a:gd name="connsiteX92" fmla="*/ 9412 w 10000"/>
                  <a:gd name="connsiteY92" fmla="*/ 8231 h 10710"/>
                  <a:gd name="connsiteX93" fmla="*/ 8758 w 10000"/>
                  <a:gd name="connsiteY93" fmla="*/ 7823 h 10710"/>
                  <a:gd name="connsiteX94" fmla="*/ 7843 w 10000"/>
                  <a:gd name="connsiteY94" fmla="*/ 7483 h 10710"/>
                  <a:gd name="connsiteX95" fmla="*/ 7843 w 10000"/>
                  <a:gd name="connsiteY95" fmla="*/ 7483 h 10710"/>
                  <a:gd name="connsiteX0" fmla="*/ 7843 w 10000"/>
                  <a:gd name="connsiteY0" fmla="*/ 7483 h 10759"/>
                  <a:gd name="connsiteX1" fmla="*/ 7843 w 10000"/>
                  <a:gd name="connsiteY1" fmla="*/ 7483 h 10759"/>
                  <a:gd name="connsiteX2" fmla="*/ 6993 w 10000"/>
                  <a:gd name="connsiteY2" fmla="*/ 7075 h 10759"/>
                  <a:gd name="connsiteX3" fmla="*/ 6732 w 10000"/>
                  <a:gd name="connsiteY3" fmla="*/ 6871 h 10759"/>
                  <a:gd name="connsiteX4" fmla="*/ 6471 w 10000"/>
                  <a:gd name="connsiteY4" fmla="*/ 6735 h 10759"/>
                  <a:gd name="connsiteX5" fmla="*/ 6275 w 10000"/>
                  <a:gd name="connsiteY5" fmla="*/ 6463 h 10759"/>
                  <a:gd name="connsiteX6" fmla="*/ 6209 w 10000"/>
                  <a:gd name="connsiteY6" fmla="*/ 6259 h 10759"/>
                  <a:gd name="connsiteX7" fmla="*/ 6144 w 10000"/>
                  <a:gd name="connsiteY7" fmla="*/ 5986 h 10759"/>
                  <a:gd name="connsiteX8" fmla="*/ 6078 w 10000"/>
                  <a:gd name="connsiteY8" fmla="*/ 5646 h 10759"/>
                  <a:gd name="connsiteX9" fmla="*/ 6078 w 10000"/>
                  <a:gd name="connsiteY9" fmla="*/ 5646 h 10759"/>
                  <a:gd name="connsiteX10" fmla="*/ 6144 w 10000"/>
                  <a:gd name="connsiteY10" fmla="*/ 5442 h 10759"/>
                  <a:gd name="connsiteX11" fmla="*/ 6144 w 10000"/>
                  <a:gd name="connsiteY11" fmla="*/ 5374 h 10759"/>
                  <a:gd name="connsiteX12" fmla="*/ 6340 w 10000"/>
                  <a:gd name="connsiteY12" fmla="*/ 5102 h 10759"/>
                  <a:gd name="connsiteX13" fmla="*/ 6536 w 10000"/>
                  <a:gd name="connsiteY13" fmla="*/ 4830 h 10759"/>
                  <a:gd name="connsiteX14" fmla="*/ 6601 w 10000"/>
                  <a:gd name="connsiteY14" fmla="*/ 4626 h 10759"/>
                  <a:gd name="connsiteX15" fmla="*/ 6667 w 10000"/>
                  <a:gd name="connsiteY15" fmla="*/ 4286 h 10759"/>
                  <a:gd name="connsiteX16" fmla="*/ 6667 w 10000"/>
                  <a:gd name="connsiteY16" fmla="*/ 4286 h 10759"/>
                  <a:gd name="connsiteX17" fmla="*/ 6732 w 10000"/>
                  <a:gd name="connsiteY17" fmla="*/ 4150 h 10759"/>
                  <a:gd name="connsiteX18" fmla="*/ 6797 w 10000"/>
                  <a:gd name="connsiteY18" fmla="*/ 4082 h 10759"/>
                  <a:gd name="connsiteX19" fmla="*/ 6928 w 10000"/>
                  <a:gd name="connsiteY19" fmla="*/ 4014 h 10759"/>
                  <a:gd name="connsiteX20" fmla="*/ 6993 w 10000"/>
                  <a:gd name="connsiteY20" fmla="*/ 3946 h 10759"/>
                  <a:gd name="connsiteX21" fmla="*/ 7059 w 10000"/>
                  <a:gd name="connsiteY21" fmla="*/ 3810 h 10759"/>
                  <a:gd name="connsiteX22" fmla="*/ 7124 w 10000"/>
                  <a:gd name="connsiteY22" fmla="*/ 3605 h 10759"/>
                  <a:gd name="connsiteX23" fmla="*/ 7190 w 10000"/>
                  <a:gd name="connsiteY23" fmla="*/ 3333 h 10759"/>
                  <a:gd name="connsiteX24" fmla="*/ 7190 w 10000"/>
                  <a:gd name="connsiteY24" fmla="*/ 3333 h 10759"/>
                  <a:gd name="connsiteX25" fmla="*/ 7124 w 10000"/>
                  <a:gd name="connsiteY25" fmla="*/ 3129 h 10759"/>
                  <a:gd name="connsiteX26" fmla="*/ 7059 w 10000"/>
                  <a:gd name="connsiteY26" fmla="*/ 2993 h 10759"/>
                  <a:gd name="connsiteX27" fmla="*/ 6993 w 10000"/>
                  <a:gd name="connsiteY27" fmla="*/ 2857 h 10759"/>
                  <a:gd name="connsiteX28" fmla="*/ 6993 w 10000"/>
                  <a:gd name="connsiteY28" fmla="*/ 2857 h 10759"/>
                  <a:gd name="connsiteX29" fmla="*/ 7124 w 10000"/>
                  <a:gd name="connsiteY29" fmla="*/ 1905 h 10759"/>
                  <a:gd name="connsiteX30" fmla="*/ 7124 w 10000"/>
                  <a:gd name="connsiteY30" fmla="*/ 1905 h 10759"/>
                  <a:gd name="connsiteX31" fmla="*/ 7124 w 10000"/>
                  <a:gd name="connsiteY31" fmla="*/ 1633 h 10759"/>
                  <a:gd name="connsiteX32" fmla="*/ 7059 w 10000"/>
                  <a:gd name="connsiteY32" fmla="*/ 1361 h 10759"/>
                  <a:gd name="connsiteX33" fmla="*/ 6928 w 10000"/>
                  <a:gd name="connsiteY33" fmla="*/ 1088 h 10759"/>
                  <a:gd name="connsiteX34" fmla="*/ 6732 w 10000"/>
                  <a:gd name="connsiteY34" fmla="*/ 748 h 10759"/>
                  <a:gd name="connsiteX35" fmla="*/ 6471 w 10000"/>
                  <a:gd name="connsiteY35" fmla="*/ 476 h 10759"/>
                  <a:gd name="connsiteX36" fmla="*/ 6078 w 10000"/>
                  <a:gd name="connsiteY36" fmla="*/ 204 h 10759"/>
                  <a:gd name="connsiteX37" fmla="*/ 5621 w 10000"/>
                  <a:gd name="connsiteY37" fmla="*/ 68 h 10759"/>
                  <a:gd name="connsiteX38" fmla="*/ 4967 w 10000"/>
                  <a:gd name="connsiteY38" fmla="*/ 0 h 10759"/>
                  <a:gd name="connsiteX39" fmla="*/ 4967 w 10000"/>
                  <a:gd name="connsiteY39" fmla="*/ 0 h 10759"/>
                  <a:gd name="connsiteX40" fmla="*/ 4379 w 10000"/>
                  <a:gd name="connsiteY40" fmla="*/ 68 h 10759"/>
                  <a:gd name="connsiteX41" fmla="*/ 3856 w 10000"/>
                  <a:gd name="connsiteY41" fmla="*/ 204 h 10759"/>
                  <a:gd name="connsiteX42" fmla="*/ 3529 w 10000"/>
                  <a:gd name="connsiteY42" fmla="*/ 476 h 10759"/>
                  <a:gd name="connsiteX43" fmla="*/ 3203 w 10000"/>
                  <a:gd name="connsiteY43" fmla="*/ 748 h 10759"/>
                  <a:gd name="connsiteX44" fmla="*/ 3072 w 10000"/>
                  <a:gd name="connsiteY44" fmla="*/ 1088 h 10759"/>
                  <a:gd name="connsiteX45" fmla="*/ 2941 w 10000"/>
                  <a:gd name="connsiteY45" fmla="*/ 1361 h 10759"/>
                  <a:gd name="connsiteX46" fmla="*/ 2876 w 10000"/>
                  <a:gd name="connsiteY46" fmla="*/ 1633 h 10759"/>
                  <a:gd name="connsiteX47" fmla="*/ 2876 w 10000"/>
                  <a:gd name="connsiteY47" fmla="*/ 1905 h 10759"/>
                  <a:gd name="connsiteX48" fmla="*/ 2876 w 10000"/>
                  <a:gd name="connsiteY48" fmla="*/ 1905 h 10759"/>
                  <a:gd name="connsiteX49" fmla="*/ 3007 w 10000"/>
                  <a:gd name="connsiteY49" fmla="*/ 2857 h 10759"/>
                  <a:gd name="connsiteX50" fmla="*/ 3007 w 10000"/>
                  <a:gd name="connsiteY50" fmla="*/ 2857 h 10759"/>
                  <a:gd name="connsiteX51" fmla="*/ 2941 w 10000"/>
                  <a:gd name="connsiteY51" fmla="*/ 2993 h 10759"/>
                  <a:gd name="connsiteX52" fmla="*/ 2876 w 10000"/>
                  <a:gd name="connsiteY52" fmla="*/ 3129 h 10759"/>
                  <a:gd name="connsiteX53" fmla="*/ 2810 w 10000"/>
                  <a:gd name="connsiteY53" fmla="*/ 3333 h 10759"/>
                  <a:gd name="connsiteX54" fmla="*/ 2810 w 10000"/>
                  <a:gd name="connsiteY54" fmla="*/ 3333 h 10759"/>
                  <a:gd name="connsiteX55" fmla="*/ 2876 w 10000"/>
                  <a:gd name="connsiteY55" fmla="*/ 3605 h 10759"/>
                  <a:gd name="connsiteX56" fmla="*/ 2941 w 10000"/>
                  <a:gd name="connsiteY56" fmla="*/ 3810 h 10759"/>
                  <a:gd name="connsiteX57" fmla="*/ 3007 w 10000"/>
                  <a:gd name="connsiteY57" fmla="*/ 3946 h 10759"/>
                  <a:gd name="connsiteX58" fmla="*/ 3072 w 10000"/>
                  <a:gd name="connsiteY58" fmla="*/ 4014 h 10759"/>
                  <a:gd name="connsiteX59" fmla="*/ 3203 w 10000"/>
                  <a:gd name="connsiteY59" fmla="*/ 4082 h 10759"/>
                  <a:gd name="connsiteX60" fmla="*/ 3268 w 10000"/>
                  <a:gd name="connsiteY60" fmla="*/ 4150 h 10759"/>
                  <a:gd name="connsiteX61" fmla="*/ 3333 w 10000"/>
                  <a:gd name="connsiteY61" fmla="*/ 4286 h 10759"/>
                  <a:gd name="connsiteX62" fmla="*/ 3333 w 10000"/>
                  <a:gd name="connsiteY62" fmla="*/ 4286 h 10759"/>
                  <a:gd name="connsiteX63" fmla="*/ 3399 w 10000"/>
                  <a:gd name="connsiteY63" fmla="*/ 4626 h 10759"/>
                  <a:gd name="connsiteX64" fmla="*/ 3464 w 10000"/>
                  <a:gd name="connsiteY64" fmla="*/ 4830 h 10759"/>
                  <a:gd name="connsiteX65" fmla="*/ 3660 w 10000"/>
                  <a:gd name="connsiteY65" fmla="*/ 5102 h 10759"/>
                  <a:gd name="connsiteX66" fmla="*/ 3856 w 10000"/>
                  <a:gd name="connsiteY66" fmla="*/ 5374 h 10759"/>
                  <a:gd name="connsiteX67" fmla="*/ 3856 w 10000"/>
                  <a:gd name="connsiteY67" fmla="*/ 5442 h 10759"/>
                  <a:gd name="connsiteX68" fmla="*/ 3922 w 10000"/>
                  <a:gd name="connsiteY68" fmla="*/ 5646 h 10759"/>
                  <a:gd name="connsiteX69" fmla="*/ 3922 w 10000"/>
                  <a:gd name="connsiteY69" fmla="*/ 5646 h 10759"/>
                  <a:gd name="connsiteX70" fmla="*/ 3856 w 10000"/>
                  <a:gd name="connsiteY70" fmla="*/ 5986 h 10759"/>
                  <a:gd name="connsiteX71" fmla="*/ 3791 w 10000"/>
                  <a:gd name="connsiteY71" fmla="*/ 6259 h 10759"/>
                  <a:gd name="connsiteX72" fmla="*/ 3660 w 10000"/>
                  <a:gd name="connsiteY72" fmla="*/ 6463 h 10759"/>
                  <a:gd name="connsiteX73" fmla="*/ 3529 w 10000"/>
                  <a:gd name="connsiteY73" fmla="*/ 6735 h 10759"/>
                  <a:gd name="connsiteX74" fmla="*/ 3268 w 10000"/>
                  <a:gd name="connsiteY74" fmla="*/ 6871 h 10759"/>
                  <a:gd name="connsiteX75" fmla="*/ 3007 w 10000"/>
                  <a:gd name="connsiteY75" fmla="*/ 7075 h 10759"/>
                  <a:gd name="connsiteX76" fmla="*/ 2157 w 10000"/>
                  <a:gd name="connsiteY76" fmla="*/ 7483 h 10759"/>
                  <a:gd name="connsiteX77" fmla="*/ 2157 w 10000"/>
                  <a:gd name="connsiteY77" fmla="*/ 7483 h 10759"/>
                  <a:gd name="connsiteX78" fmla="*/ 1242 w 10000"/>
                  <a:gd name="connsiteY78" fmla="*/ 7823 h 10759"/>
                  <a:gd name="connsiteX79" fmla="*/ 588 w 10000"/>
                  <a:gd name="connsiteY79" fmla="*/ 8231 h 10759"/>
                  <a:gd name="connsiteX80" fmla="*/ 131 w 10000"/>
                  <a:gd name="connsiteY80" fmla="*/ 8503 h 10759"/>
                  <a:gd name="connsiteX81" fmla="*/ 0 w 10000"/>
                  <a:gd name="connsiteY81" fmla="*/ 8707 h 10759"/>
                  <a:gd name="connsiteX82" fmla="*/ 0 w 10000"/>
                  <a:gd name="connsiteY82" fmla="*/ 8844 h 10759"/>
                  <a:gd name="connsiteX83" fmla="*/ 0 w 10000"/>
                  <a:gd name="connsiteY83" fmla="*/ 8844 h 10759"/>
                  <a:gd name="connsiteX84" fmla="*/ 0 w 10000"/>
                  <a:gd name="connsiteY84" fmla="*/ 10000 h 10759"/>
                  <a:gd name="connsiteX85" fmla="*/ 5016 w 10000"/>
                  <a:gd name="connsiteY85" fmla="*/ 10671 h 10759"/>
                  <a:gd name="connsiteX86" fmla="*/ 10000 w 10000"/>
                  <a:gd name="connsiteY86" fmla="*/ 10000 h 10759"/>
                  <a:gd name="connsiteX87" fmla="*/ 10000 w 10000"/>
                  <a:gd name="connsiteY87" fmla="*/ 10000 h 10759"/>
                  <a:gd name="connsiteX88" fmla="*/ 10000 w 10000"/>
                  <a:gd name="connsiteY88" fmla="*/ 8844 h 10759"/>
                  <a:gd name="connsiteX89" fmla="*/ 10000 w 10000"/>
                  <a:gd name="connsiteY89" fmla="*/ 8844 h 10759"/>
                  <a:gd name="connsiteX90" fmla="*/ 9935 w 10000"/>
                  <a:gd name="connsiteY90" fmla="*/ 8707 h 10759"/>
                  <a:gd name="connsiteX91" fmla="*/ 9869 w 10000"/>
                  <a:gd name="connsiteY91" fmla="*/ 8503 h 10759"/>
                  <a:gd name="connsiteX92" fmla="*/ 9412 w 10000"/>
                  <a:gd name="connsiteY92" fmla="*/ 8231 h 10759"/>
                  <a:gd name="connsiteX93" fmla="*/ 8758 w 10000"/>
                  <a:gd name="connsiteY93" fmla="*/ 7823 h 10759"/>
                  <a:gd name="connsiteX94" fmla="*/ 7843 w 10000"/>
                  <a:gd name="connsiteY94" fmla="*/ 7483 h 10759"/>
                  <a:gd name="connsiteX95" fmla="*/ 7843 w 10000"/>
                  <a:gd name="connsiteY95" fmla="*/ 7483 h 10759"/>
                  <a:gd name="connsiteX0" fmla="*/ 7843 w 10000"/>
                  <a:gd name="connsiteY0" fmla="*/ 7483 h 10759"/>
                  <a:gd name="connsiteX1" fmla="*/ 7843 w 10000"/>
                  <a:gd name="connsiteY1" fmla="*/ 7483 h 10759"/>
                  <a:gd name="connsiteX2" fmla="*/ 6993 w 10000"/>
                  <a:gd name="connsiteY2" fmla="*/ 7075 h 10759"/>
                  <a:gd name="connsiteX3" fmla="*/ 6732 w 10000"/>
                  <a:gd name="connsiteY3" fmla="*/ 6871 h 10759"/>
                  <a:gd name="connsiteX4" fmla="*/ 6471 w 10000"/>
                  <a:gd name="connsiteY4" fmla="*/ 6735 h 10759"/>
                  <a:gd name="connsiteX5" fmla="*/ 6275 w 10000"/>
                  <a:gd name="connsiteY5" fmla="*/ 6463 h 10759"/>
                  <a:gd name="connsiteX6" fmla="*/ 6209 w 10000"/>
                  <a:gd name="connsiteY6" fmla="*/ 6259 h 10759"/>
                  <a:gd name="connsiteX7" fmla="*/ 6144 w 10000"/>
                  <a:gd name="connsiteY7" fmla="*/ 5986 h 10759"/>
                  <a:gd name="connsiteX8" fmla="*/ 6078 w 10000"/>
                  <a:gd name="connsiteY8" fmla="*/ 5646 h 10759"/>
                  <a:gd name="connsiteX9" fmla="*/ 6078 w 10000"/>
                  <a:gd name="connsiteY9" fmla="*/ 5646 h 10759"/>
                  <a:gd name="connsiteX10" fmla="*/ 6144 w 10000"/>
                  <a:gd name="connsiteY10" fmla="*/ 5442 h 10759"/>
                  <a:gd name="connsiteX11" fmla="*/ 6144 w 10000"/>
                  <a:gd name="connsiteY11" fmla="*/ 5374 h 10759"/>
                  <a:gd name="connsiteX12" fmla="*/ 6340 w 10000"/>
                  <a:gd name="connsiteY12" fmla="*/ 5102 h 10759"/>
                  <a:gd name="connsiteX13" fmla="*/ 6536 w 10000"/>
                  <a:gd name="connsiteY13" fmla="*/ 4830 h 10759"/>
                  <a:gd name="connsiteX14" fmla="*/ 6601 w 10000"/>
                  <a:gd name="connsiteY14" fmla="*/ 4626 h 10759"/>
                  <a:gd name="connsiteX15" fmla="*/ 6667 w 10000"/>
                  <a:gd name="connsiteY15" fmla="*/ 4286 h 10759"/>
                  <a:gd name="connsiteX16" fmla="*/ 6667 w 10000"/>
                  <a:gd name="connsiteY16" fmla="*/ 4286 h 10759"/>
                  <a:gd name="connsiteX17" fmla="*/ 6732 w 10000"/>
                  <a:gd name="connsiteY17" fmla="*/ 4150 h 10759"/>
                  <a:gd name="connsiteX18" fmla="*/ 6797 w 10000"/>
                  <a:gd name="connsiteY18" fmla="*/ 4082 h 10759"/>
                  <a:gd name="connsiteX19" fmla="*/ 6928 w 10000"/>
                  <a:gd name="connsiteY19" fmla="*/ 4014 h 10759"/>
                  <a:gd name="connsiteX20" fmla="*/ 6993 w 10000"/>
                  <a:gd name="connsiteY20" fmla="*/ 3946 h 10759"/>
                  <a:gd name="connsiteX21" fmla="*/ 7059 w 10000"/>
                  <a:gd name="connsiteY21" fmla="*/ 3810 h 10759"/>
                  <a:gd name="connsiteX22" fmla="*/ 7124 w 10000"/>
                  <a:gd name="connsiteY22" fmla="*/ 3605 h 10759"/>
                  <a:gd name="connsiteX23" fmla="*/ 7190 w 10000"/>
                  <a:gd name="connsiteY23" fmla="*/ 3333 h 10759"/>
                  <a:gd name="connsiteX24" fmla="*/ 7190 w 10000"/>
                  <a:gd name="connsiteY24" fmla="*/ 3333 h 10759"/>
                  <a:gd name="connsiteX25" fmla="*/ 7124 w 10000"/>
                  <a:gd name="connsiteY25" fmla="*/ 3129 h 10759"/>
                  <a:gd name="connsiteX26" fmla="*/ 7059 w 10000"/>
                  <a:gd name="connsiteY26" fmla="*/ 2993 h 10759"/>
                  <a:gd name="connsiteX27" fmla="*/ 6993 w 10000"/>
                  <a:gd name="connsiteY27" fmla="*/ 2857 h 10759"/>
                  <a:gd name="connsiteX28" fmla="*/ 6993 w 10000"/>
                  <a:gd name="connsiteY28" fmla="*/ 2857 h 10759"/>
                  <a:gd name="connsiteX29" fmla="*/ 7124 w 10000"/>
                  <a:gd name="connsiteY29" fmla="*/ 1905 h 10759"/>
                  <a:gd name="connsiteX30" fmla="*/ 7124 w 10000"/>
                  <a:gd name="connsiteY30" fmla="*/ 1905 h 10759"/>
                  <a:gd name="connsiteX31" fmla="*/ 7124 w 10000"/>
                  <a:gd name="connsiteY31" fmla="*/ 1633 h 10759"/>
                  <a:gd name="connsiteX32" fmla="*/ 7059 w 10000"/>
                  <a:gd name="connsiteY32" fmla="*/ 1361 h 10759"/>
                  <a:gd name="connsiteX33" fmla="*/ 6928 w 10000"/>
                  <a:gd name="connsiteY33" fmla="*/ 1088 h 10759"/>
                  <a:gd name="connsiteX34" fmla="*/ 6732 w 10000"/>
                  <a:gd name="connsiteY34" fmla="*/ 748 h 10759"/>
                  <a:gd name="connsiteX35" fmla="*/ 6471 w 10000"/>
                  <a:gd name="connsiteY35" fmla="*/ 476 h 10759"/>
                  <a:gd name="connsiteX36" fmla="*/ 6078 w 10000"/>
                  <a:gd name="connsiteY36" fmla="*/ 204 h 10759"/>
                  <a:gd name="connsiteX37" fmla="*/ 5621 w 10000"/>
                  <a:gd name="connsiteY37" fmla="*/ 68 h 10759"/>
                  <a:gd name="connsiteX38" fmla="*/ 4967 w 10000"/>
                  <a:gd name="connsiteY38" fmla="*/ 0 h 10759"/>
                  <a:gd name="connsiteX39" fmla="*/ 4967 w 10000"/>
                  <a:gd name="connsiteY39" fmla="*/ 0 h 10759"/>
                  <a:gd name="connsiteX40" fmla="*/ 4379 w 10000"/>
                  <a:gd name="connsiteY40" fmla="*/ 68 h 10759"/>
                  <a:gd name="connsiteX41" fmla="*/ 3856 w 10000"/>
                  <a:gd name="connsiteY41" fmla="*/ 204 h 10759"/>
                  <a:gd name="connsiteX42" fmla="*/ 3529 w 10000"/>
                  <a:gd name="connsiteY42" fmla="*/ 476 h 10759"/>
                  <a:gd name="connsiteX43" fmla="*/ 3203 w 10000"/>
                  <a:gd name="connsiteY43" fmla="*/ 748 h 10759"/>
                  <a:gd name="connsiteX44" fmla="*/ 3072 w 10000"/>
                  <a:gd name="connsiteY44" fmla="*/ 1088 h 10759"/>
                  <a:gd name="connsiteX45" fmla="*/ 2941 w 10000"/>
                  <a:gd name="connsiteY45" fmla="*/ 1361 h 10759"/>
                  <a:gd name="connsiteX46" fmla="*/ 2876 w 10000"/>
                  <a:gd name="connsiteY46" fmla="*/ 1633 h 10759"/>
                  <a:gd name="connsiteX47" fmla="*/ 2876 w 10000"/>
                  <a:gd name="connsiteY47" fmla="*/ 1905 h 10759"/>
                  <a:gd name="connsiteX48" fmla="*/ 2876 w 10000"/>
                  <a:gd name="connsiteY48" fmla="*/ 1905 h 10759"/>
                  <a:gd name="connsiteX49" fmla="*/ 3007 w 10000"/>
                  <a:gd name="connsiteY49" fmla="*/ 2857 h 10759"/>
                  <a:gd name="connsiteX50" fmla="*/ 3007 w 10000"/>
                  <a:gd name="connsiteY50" fmla="*/ 2857 h 10759"/>
                  <a:gd name="connsiteX51" fmla="*/ 2941 w 10000"/>
                  <a:gd name="connsiteY51" fmla="*/ 2993 h 10759"/>
                  <a:gd name="connsiteX52" fmla="*/ 2876 w 10000"/>
                  <a:gd name="connsiteY52" fmla="*/ 3129 h 10759"/>
                  <a:gd name="connsiteX53" fmla="*/ 2810 w 10000"/>
                  <a:gd name="connsiteY53" fmla="*/ 3333 h 10759"/>
                  <a:gd name="connsiteX54" fmla="*/ 2810 w 10000"/>
                  <a:gd name="connsiteY54" fmla="*/ 3333 h 10759"/>
                  <a:gd name="connsiteX55" fmla="*/ 2876 w 10000"/>
                  <a:gd name="connsiteY55" fmla="*/ 3605 h 10759"/>
                  <a:gd name="connsiteX56" fmla="*/ 2941 w 10000"/>
                  <a:gd name="connsiteY56" fmla="*/ 3810 h 10759"/>
                  <a:gd name="connsiteX57" fmla="*/ 3007 w 10000"/>
                  <a:gd name="connsiteY57" fmla="*/ 3946 h 10759"/>
                  <a:gd name="connsiteX58" fmla="*/ 3072 w 10000"/>
                  <a:gd name="connsiteY58" fmla="*/ 4014 h 10759"/>
                  <a:gd name="connsiteX59" fmla="*/ 3203 w 10000"/>
                  <a:gd name="connsiteY59" fmla="*/ 4082 h 10759"/>
                  <a:gd name="connsiteX60" fmla="*/ 3268 w 10000"/>
                  <a:gd name="connsiteY60" fmla="*/ 4150 h 10759"/>
                  <a:gd name="connsiteX61" fmla="*/ 3333 w 10000"/>
                  <a:gd name="connsiteY61" fmla="*/ 4286 h 10759"/>
                  <a:gd name="connsiteX62" fmla="*/ 3333 w 10000"/>
                  <a:gd name="connsiteY62" fmla="*/ 4286 h 10759"/>
                  <a:gd name="connsiteX63" fmla="*/ 3399 w 10000"/>
                  <a:gd name="connsiteY63" fmla="*/ 4626 h 10759"/>
                  <a:gd name="connsiteX64" fmla="*/ 3464 w 10000"/>
                  <a:gd name="connsiteY64" fmla="*/ 4830 h 10759"/>
                  <a:gd name="connsiteX65" fmla="*/ 3660 w 10000"/>
                  <a:gd name="connsiteY65" fmla="*/ 5102 h 10759"/>
                  <a:gd name="connsiteX66" fmla="*/ 3856 w 10000"/>
                  <a:gd name="connsiteY66" fmla="*/ 5374 h 10759"/>
                  <a:gd name="connsiteX67" fmla="*/ 3856 w 10000"/>
                  <a:gd name="connsiteY67" fmla="*/ 5442 h 10759"/>
                  <a:gd name="connsiteX68" fmla="*/ 3922 w 10000"/>
                  <a:gd name="connsiteY68" fmla="*/ 5646 h 10759"/>
                  <a:gd name="connsiteX69" fmla="*/ 3922 w 10000"/>
                  <a:gd name="connsiteY69" fmla="*/ 5646 h 10759"/>
                  <a:gd name="connsiteX70" fmla="*/ 3856 w 10000"/>
                  <a:gd name="connsiteY70" fmla="*/ 5986 h 10759"/>
                  <a:gd name="connsiteX71" fmla="*/ 3791 w 10000"/>
                  <a:gd name="connsiteY71" fmla="*/ 6259 h 10759"/>
                  <a:gd name="connsiteX72" fmla="*/ 3660 w 10000"/>
                  <a:gd name="connsiteY72" fmla="*/ 6463 h 10759"/>
                  <a:gd name="connsiteX73" fmla="*/ 3529 w 10000"/>
                  <a:gd name="connsiteY73" fmla="*/ 6735 h 10759"/>
                  <a:gd name="connsiteX74" fmla="*/ 3268 w 10000"/>
                  <a:gd name="connsiteY74" fmla="*/ 6871 h 10759"/>
                  <a:gd name="connsiteX75" fmla="*/ 3007 w 10000"/>
                  <a:gd name="connsiteY75" fmla="*/ 7075 h 10759"/>
                  <a:gd name="connsiteX76" fmla="*/ 2157 w 10000"/>
                  <a:gd name="connsiteY76" fmla="*/ 7483 h 10759"/>
                  <a:gd name="connsiteX77" fmla="*/ 2157 w 10000"/>
                  <a:gd name="connsiteY77" fmla="*/ 7483 h 10759"/>
                  <a:gd name="connsiteX78" fmla="*/ 1242 w 10000"/>
                  <a:gd name="connsiteY78" fmla="*/ 7823 h 10759"/>
                  <a:gd name="connsiteX79" fmla="*/ 588 w 10000"/>
                  <a:gd name="connsiteY79" fmla="*/ 8231 h 10759"/>
                  <a:gd name="connsiteX80" fmla="*/ 131 w 10000"/>
                  <a:gd name="connsiteY80" fmla="*/ 8503 h 10759"/>
                  <a:gd name="connsiteX81" fmla="*/ 0 w 10000"/>
                  <a:gd name="connsiteY81" fmla="*/ 8707 h 10759"/>
                  <a:gd name="connsiteX82" fmla="*/ 0 w 10000"/>
                  <a:gd name="connsiteY82" fmla="*/ 8844 h 10759"/>
                  <a:gd name="connsiteX83" fmla="*/ 0 w 10000"/>
                  <a:gd name="connsiteY83" fmla="*/ 8844 h 10759"/>
                  <a:gd name="connsiteX84" fmla="*/ 0 w 10000"/>
                  <a:gd name="connsiteY84" fmla="*/ 9845 h 10759"/>
                  <a:gd name="connsiteX85" fmla="*/ 5016 w 10000"/>
                  <a:gd name="connsiteY85" fmla="*/ 10671 h 10759"/>
                  <a:gd name="connsiteX86" fmla="*/ 10000 w 10000"/>
                  <a:gd name="connsiteY86" fmla="*/ 10000 h 10759"/>
                  <a:gd name="connsiteX87" fmla="*/ 10000 w 10000"/>
                  <a:gd name="connsiteY87" fmla="*/ 10000 h 10759"/>
                  <a:gd name="connsiteX88" fmla="*/ 10000 w 10000"/>
                  <a:gd name="connsiteY88" fmla="*/ 8844 h 10759"/>
                  <a:gd name="connsiteX89" fmla="*/ 10000 w 10000"/>
                  <a:gd name="connsiteY89" fmla="*/ 8844 h 10759"/>
                  <a:gd name="connsiteX90" fmla="*/ 9935 w 10000"/>
                  <a:gd name="connsiteY90" fmla="*/ 8707 h 10759"/>
                  <a:gd name="connsiteX91" fmla="*/ 9869 w 10000"/>
                  <a:gd name="connsiteY91" fmla="*/ 8503 h 10759"/>
                  <a:gd name="connsiteX92" fmla="*/ 9412 w 10000"/>
                  <a:gd name="connsiteY92" fmla="*/ 8231 h 10759"/>
                  <a:gd name="connsiteX93" fmla="*/ 8758 w 10000"/>
                  <a:gd name="connsiteY93" fmla="*/ 7823 h 10759"/>
                  <a:gd name="connsiteX94" fmla="*/ 7843 w 10000"/>
                  <a:gd name="connsiteY94" fmla="*/ 7483 h 10759"/>
                  <a:gd name="connsiteX95" fmla="*/ 7843 w 10000"/>
                  <a:gd name="connsiteY95" fmla="*/ 7483 h 10759"/>
                  <a:gd name="connsiteX0" fmla="*/ 7843 w 10000"/>
                  <a:gd name="connsiteY0" fmla="*/ 7483 h 10759"/>
                  <a:gd name="connsiteX1" fmla="*/ 7843 w 10000"/>
                  <a:gd name="connsiteY1" fmla="*/ 7483 h 10759"/>
                  <a:gd name="connsiteX2" fmla="*/ 6993 w 10000"/>
                  <a:gd name="connsiteY2" fmla="*/ 7075 h 10759"/>
                  <a:gd name="connsiteX3" fmla="*/ 6732 w 10000"/>
                  <a:gd name="connsiteY3" fmla="*/ 6871 h 10759"/>
                  <a:gd name="connsiteX4" fmla="*/ 6471 w 10000"/>
                  <a:gd name="connsiteY4" fmla="*/ 6735 h 10759"/>
                  <a:gd name="connsiteX5" fmla="*/ 6275 w 10000"/>
                  <a:gd name="connsiteY5" fmla="*/ 6463 h 10759"/>
                  <a:gd name="connsiteX6" fmla="*/ 6209 w 10000"/>
                  <a:gd name="connsiteY6" fmla="*/ 6259 h 10759"/>
                  <a:gd name="connsiteX7" fmla="*/ 6144 w 10000"/>
                  <a:gd name="connsiteY7" fmla="*/ 5986 h 10759"/>
                  <a:gd name="connsiteX8" fmla="*/ 6078 w 10000"/>
                  <a:gd name="connsiteY8" fmla="*/ 5646 h 10759"/>
                  <a:gd name="connsiteX9" fmla="*/ 6078 w 10000"/>
                  <a:gd name="connsiteY9" fmla="*/ 5646 h 10759"/>
                  <a:gd name="connsiteX10" fmla="*/ 6144 w 10000"/>
                  <a:gd name="connsiteY10" fmla="*/ 5442 h 10759"/>
                  <a:gd name="connsiteX11" fmla="*/ 6144 w 10000"/>
                  <a:gd name="connsiteY11" fmla="*/ 5374 h 10759"/>
                  <a:gd name="connsiteX12" fmla="*/ 6340 w 10000"/>
                  <a:gd name="connsiteY12" fmla="*/ 5102 h 10759"/>
                  <a:gd name="connsiteX13" fmla="*/ 6536 w 10000"/>
                  <a:gd name="connsiteY13" fmla="*/ 4830 h 10759"/>
                  <a:gd name="connsiteX14" fmla="*/ 6601 w 10000"/>
                  <a:gd name="connsiteY14" fmla="*/ 4626 h 10759"/>
                  <a:gd name="connsiteX15" fmla="*/ 6667 w 10000"/>
                  <a:gd name="connsiteY15" fmla="*/ 4286 h 10759"/>
                  <a:gd name="connsiteX16" fmla="*/ 6667 w 10000"/>
                  <a:gd name="connsiteY16" fmla="*/ 4286 h 10759"/>
                  <a:gd name="connsiteX17" fmla="*/ 6732 w 10000"/>
                  <a:gd name="connsiteY17" fmla="*/ 4150 h 10759"/>
                  <a:gd name="connsiteX18" fmla="*/ 6797 w 10000"/>
                  <a:gd name="connsiteY18" fmla="*/ 4082 h 10759"/>
                  <a:gd name="connsiteX19" fmla="*/ 6928 w 10000"/>
                  <a:gd name="connsiteY19" fmla="*/ 4014 h 10759"/>
                  <a:gd name="connsiteX20" fmla="*/ 6993 w 10000"/>
                  <a:gd name="connsiteY20" fmla="*/ 3946 h 10759"/>
                  <a:gd name="connsiteX21" fmla="*/ 7059 w 10000"/>
                  <a:gd name="connsiteY21" fmla="*/ 3810 h 10759"/>
                  <a:gd name="connsiteX22" fmla="*/ 7124 w 10000"/>
                  <a:gd name="connsiteY22" fmla="*/ 3605 h 10759"/>
                  <a:gd name="connsiteX23" fmla="*/ 7190 w 10000"/>
                  <a:gd name="connsiteY23" fmla="*/ 3333 h 10759"/>
                  <a:gd name="connsiteX24" fmla="*/ 7190 w 10000"/>
                  <a:gd name="connsiteY24" fmla="*/ 3333 h 10759"/>
                  <a:gd name="connsiteX25" fmla="*/ 7124 w 10000"/>
                  <a:gd name="connsiteY25" fmla="*/ 3129 h 10759"/>
                  <a:gd name="connsiteX26" fmla="*/ 7059 w 10000"/>
                  <a:gd name="connsiteY26" fmla="*/ 2993 h 10759"/>
                  <a:gd name="connsiteX27" fmla="*/ 6993 w 10000"/>
                  <a:gd name="connsiteY27" fmla="*/ 2857 h 10759"/>
                  <a:gd name="connsiteX28" fmla="*/ 6993 w 10000"/>
                  <a:gd name="connsiteY28" fmla="*/ 2857 h 10759"/>
                  <a:gd name="connsiteX29" fmla="*/ 7124 w 10000"/>
                  <a:gd name="connsiteY29" fmla="*/ 1905 h 10759"/>
                  <a:gd name="connsiteX30" fmla="*/ 7124 w 10000"/>
                  <a:gd name="connsiteY30" fmla="*/ 1905 h 10759"/>
                  <a:gd name="connsiteX31" fmla="*/ 7124 w 10000"/>
                  <a:gd name="connsiteY31" fmla="*/ 1633 h 10759"/>
                  <a:gd name="connsiteX32" fmla="*/ 7059 w 10000"/>
                  <a:gd name="connsiteY32" fmla="*/ 1361 h 10759"/>
                  <a:gd name="connsiteX33" fmla="*/ 6928 w 10000"/>
                  <a:gd name="connsiteY33" fmla="*/ 1088 h 10759"/>
                  <a:gd name="connsiteX34" fmla="*/ 6732 w 10000"/>
                  <a:gd name="connsiteY34" fmla="*/ 748 h 10759"/>
                  <a:gd name="connsiteX35" fmla="*/ 6471 w 10000"/>
                  <a:gd name="connsiteY35" fmla="*/ 476 h 10759"/>
                  <a:gd name="connsiteX36" fmla="*/ 6078 w 10000"/>
                  <a:gd name="connsiteY36" fmla="*/ 204 h 10759"/>
                  <a:gd name="connsiteX37" fmla="*/ 5621 w 10000"/>
                  <a:gd name="connsiteY37" fmla="*/ 68 h 10759"/>
                  <a:gd name="connsiteX38" fmla="*/ 4967 w 10000"/>
                  <a:gd name="connsiteY38" fmla="*/ 0 h 10759"/>
                  <a:gd name="connsiteX39" fmla="*/ 4967 w 10000"/>
                  <a:gd name="connsiteY39" fmla="*/ 0 h 10759"/>
                  <a:gd name="connsiteX40" fmla="*/ 4379 w 10000"/>
                  <a:gd name="connsiteY40" fmla="*/ 68 h 10759"/>
                  <a:gd name="connsiteX41" fmla="*/ 3856 w 10000"/>
                  <a:gd name="connsiteY41" fmla="*/ 204 h 10759"/>
                  <a:gd name="connsiteX42" fmla="*/ 3529 w 10000"/>
                  <a:gd name="connsiteY42" fmla="*/ 476 h 10759"/>
                  <a:gd name="connsiteX43" fmla="*/ 3203 w 10000"/>
                  <a:gd name="connsiteY43" fmla="*/ 748 h 10759"/>
                  <a:gd name="connsiteX44" fmla="*/ 3072 w 10000"/>
                  <a:gd name="connsiteY44" fmla="*/ 1088 h 10759"/>
                  <a:gd name="connsiteX45" fmla="*/ 2941 w 10000"/>
                  <a:gd name="connsiteY45" fmla="*/ 1361 h 10759"/>
                  <a:gd name="connsiteX46" fmla="*/ 2876 w 10000"/>
                  <a:gd name="connsiteY46" fmla="*/ 1633 h 10759"/>
                  <a:gd name="connsiteX47" fmla="*/ 2876 w 10000"/>
                  <a:gd name="connsiteY47" fmla="*/ 1905 h 10759"/>
                  <a:gd name="connsiteX48" fmla="*/ 2876 w 10000"/>
                  <a:gd name="connsiteY48" fmla="*/ 1905 h 10759"/>
                  <a:gd name="connsiteX49" fmla="*/ 3007 w 10000"/>
                  <a:gd name="connsiteY49" fmla="*/ 2857 h 10759"/>
                  <a:gd name="connsiteX50" fmla="*/ 3007 w 10000"/>
                  <a:gd name="connsiteY50" fmla="*/ 2857 h 10759"/>
                  <a:gd name="connsiteX51" fmla="*/ 2941 w 10000"/>
                  <a:gd name="connsiteY51" fmla="*/ 2993 h 10759"/>
                  <a:gd name="connsiteX52" fmla="*/ 2876 w 10000"/>
                  <a:gd name="connsiteY52" fmla="*/ 3129 h 10759"/>
                  <a:gd name="connsiteX53" fmla="*/ 2810 w 10000"/>
                  <a:gd name="connsiteY53" fmla="*/ 3333 h 10759"/>
                  <a:gd name="connsiteX54" fmla="*/ 2810 w 10000"/>
                  <a:gd name="connsiteY54" fmla="*/ 3333 h 10759"/>
                  <a:gd name="connsiteX55" fmla="*/ 2876 w 10000"/>
                  <a:gd name="connsiteY55" fmla="*/ 3605 h 10759"/>
                  <a:gd name="connsiteX56" fmla="*/ 2941 w 10000"/>
                  <a:gd name="connsiteY56" fmla="*/ 3810 h 10759"/>
                  <a:gd name="connsiteX57" fmla="*/ 3007 w 10000"/>
                  <a:gd name="connsiteY57" fmla="*/ 3946 h 10759"/>
                  <a:gd name="connsiteX58" fmla="*/ 3072 w 10000"/>
                  <a:gd name="connsiteY58" fmla="*/ 4014 h 10759"/>
                  <a:gd name="connsiteX59" fmla="*/ 3203 w 10000"/>
                  <a:gd name="connsiteY59" fmla="*/ 4082 h 10759"/>
                  <a:gd name="connsiteX60" fmla="*/ 3268 w 10000"/>
                  <a:gd name="connsiteY60" fmla="*/ 4150 h 10759"/>
                  <a:gd name="connsiteX61" fmla="*/ 3333 w 10000"/>
                  <a:gd name="connsiteY61" fmla="*/ 4286 h 10759"/>
                  <a:gd name="connsiteX62" fmla="*/ 3333 w 10000"/>
                  <a:gd name="connsiteY62" fmla="*/ 4286 h 10759"/>
                  <a:gd name="connsiteX63" fmla="*/ 3399 w 10000"/>
                  <a:gd name="connsiteY63" fmla="*/ 4626 h 10759"/>
                  <a:gd name="connsiteX64" fmla="*/ 3464 w 10000"/>
                  <a:gd name="connsiteY64" fmla="*/ 4830 h 10759"/>
                  <a:gd name="connsiteX65" fmla="*/ 3660 w 10000"/>
                  <a:gd name="connsiteY65" fmla="*/ 5102 h 10759"/>
                  <a:gd name="connsiteX66" fmla="*/ 3856 w 10000"/>
                  <a:gd name="connsiteY66" fmla="*/ 5374 h 10759"/>
                  <a:gd name="connsiteX67" fmla="*/ 3856 w 10000"/>
                  <a:gd name="connsiteY67" fmla="*/ 5442 h 10759"/>
                  <a:gd name="connsiteX68" fmla="*/ 3922 w 10000"/>
                  <a:gd name="connsiteY68" fmla="*/ 5646 h 10759"/>
                  <a:gd name="connsiteX69" fmla="*/ 3922 w 10000"/>
                  <a:gd name="connsiteY69" fmla="*/ 5646 h 10759"/>
                  <a:gd name="connsiteX70" fmla="*/ 3856 w 10000"/>
                  <a:gd name="connsiteY70" fmla="*/ 5986 h 10759"/>
                  <a:gd name="connsiteX71" fmla="*/ 3791 w 10000"/>
                  <a:gd name="connsiteY71" fmla="*/ 6259 h 10759"/>
                  <a:gd name="connsiteX72" fmla="*/ 3660 w 10000"/>
                  <a:gd name="connsiteY72" fmla="*/ 6463 h 10759"/>
                  <a:gd name="connsiteX73" fmla="*/ 3529 w 10000"/>
                  <a:gd name="connsiteY73" fmla="*/ 6735 h 10759"/>
                  <a:gd name="connsiteX74" fmla="*/ 3268 w 10000"/>
                  <a:gd name="connsiteY74" fmla="*/ 6871 h 10759"/>
                  <a:gd name="connsiteX75" fmla="*/ 3007 w 10000"/>
                  <a:gd name="connsiteY75" fmla="*/ 7075 h 10759"/>
                  <a:gd name="connsiteX76" fmla="*/ 2157 w 10000"/>
                  <a:gd name="connsiteY76" fmla="*/ 7483 h 10759"/>
                  <a:gd name="connsiteX77" fmla="*/ 2157 w 10000"/>
                  <a:gd name="connsiteY77" fmla="*/ 7483 h 10759"/>
                  <a:gd name="connsiteX78" fmla="*/ 1242 w 10000"/>
                  <a:gd name="connsiteY78" fmla="*/ 7823 h 10759"/>
                  <a:gd name="connsiteX79" fmla="*/ 588 w 10000"/>
                  <a:gd name="connsiteY79" fmla="*/ 8231 h 10759"/>
                  <a:gd name="connsiteX80" fmla="*/ 131 w 10000"/>
                  <a:gd name="connsiteY80" fmla="*/ 8503 h 10759"/>
                  <a:gd name="connsiteX81" fmla="*/ 0 w 10000"/>
                  <a:gd name="connsiteY81" fmla="*/ 8707 h 10759"/>
                  <a:gd name="connsiteX82" fmla="*/ 0 w 10000"/>
                  <a:gd name="connsiteY82" fmla="*/ 8844 h 10759"/>
                  <a:gd name="connsiteX83" fmla="*/ 0 w 10000"/>
                  <a:gd name="connsiteY83" fmla="*/ 8844 h 10759"/>
                  <a:gd name="connsiteX84" fmla="*/ 0 w 10000"/>
                  <a:gd name="connsiteY84" fmla="*/ 9845 h 10759"/>
                  <a:gd name="connsiteX85" fmla="*/ 5016 w 10000"/>
                  <a:gd name="connsiteY85" fmla="*/ 10671 h 10759"/>
                  <a:gd name="connsiteX86" fmla="*/ 10000 w 10000"/>
                  <a:gd name="connsiteY86" fmla="*/ 10000 h 10759"/>
                  <a:gd name="connsiteX87" fmla="*/ 10000 w 10000"/>
                  <a:gd name="connsiteY87" fmla="*/ 10000 h 10759"/>
                  <a:gd name="connsiteX88" fmla="*/ 10000 w 10000"/>
                  <a:gd name="connsiteY88" fmla="*/ 8844 h 10759"/>
                  <a:gd name="connsiteX89" fmla="*/ 10000 w 10000"/>
                  <a:gd name="connsiteY89" fmla="*/ 8844 h 10759"/>
                  <a:gd name="connsiteX90" fmla="*/ 9935 w 10000"/>
                  <a:gd name="connsiteY90" fmla="*/ 8707 h 10759"/>
                  <a:gd name="connsiteX91" fmla="*/ 9869 w 10000"/>
                  <a:gd name="connsiteY91" fmla="*/ 8503 h 10759"/>
                  <a:gd name="connsiteX92" fmla="*/ 9412 w 10000"/>
                  <a:gd name="connsiteY92" fmla="*/ 8231 h 10759"/>
                  <a:gd name="connsiteX93" fmla="*/ 8758 w 10000"/>
                  <a:gd name="connsiteY93" fmla="*/ 7823 h 10759"/>
                  <a:gd name="connsiteX94" fmla="*/ 7843 w 10000"/>
                  <a:gd name="connsiteY94" fmla="*/ 7483 h 10759"/>
                  <a:gd name="connsiteX95" fmla="*/ 7843 w 10000"/>
                  <a:gd name="connsiteY95" fmla="*/ 7483 h 10759"/>
                  <a:gd name="connsiteX0" fmla="*/ 7843 w 10000"/>
                  <a:gd name="connsiteY0" fmla="*/ 7483 h 10844"/>
                  <a:gd name="connsiteX1" fmla="*/ 7843 w 10000"/>
                  <a:gd name="connsiteY1" fmla="*/ 7483 h 10844"/>
                  <a:gd name="connsiteX2" fmla="*/ 6993 w 10000"/>
                  <a:gd name="connsiteY2" fmla="*/ 7075 h 10844"/>
                  <a:gd name="connsiteX3" fmla="*/ 6732 w 10000"/>
                  <a:gd name="connsiteY3" fmla="*/ 6871 h 10844"/>
                  <a:gd name="connsiteX4" fmla="*/ 6471 w 10000"/>
                  <a:gd name="connsiteY4" fmla="*/ 6735 h 10844"/>
                  <a:gd name="connsiteX5" fmla="*/ 6275 w 10000"/>
                  <a:gd name="connsiteY5" fmla="*/ 6463 h 10844"/>
                  <a:gd name="connsiteX6" fmla="*/ 6209 w 10000"/>
                  <a:gd name="connsiteY6" fmla="*/ 6259 h 10844"/>
                  <a:gd name="connsiteX7" fmla="*/ 6144 w 10000"/>
                  <a:gd name="connsiteY7" fmla="*/ 5986 h 10844"/>
                  <a:gd name="connsiteX8" fmla="*/ 6078 w 10000"/>
                  <a:gd name="connsiteY8" fmla="*/ 5646 h 10844"/>
                  <a:gd name="connsiteX9" fmla="*/ 6078 w 10000"/>
                  <a:gd name="connsiteY9" fmla="*/ 5646 h 10844"/>
                  <a:gd name="connsiteX10" fmla="*/ 6144 w 10000"/>
                  <a:gd name="connsiteY10" fmla="*/ 5442 h 10844"/>
                  <a:gd name="connsiteX11" fmla="*/ 6144 w 10000"/>
                  <a:gd name="connsiteY11" fmla="*/ 5374 h 10844"/>
                  <a:gd name="connsiteX12" fmla="*/ 6340 w 10000"/>
                  <a:gd name="connsiteY12" fmla="*/ 5102 h 10844"/>
                  <a:gd name="connsiteX13" fmla="*/ 6536 w 10000"/>
                  <a:gd name="connsiteY13" fmla="*/ 4830 h 10844"/>
                  <a:gd name="connsiteX14" fmla="*/ 6601 w 10000"/>
                  <a:gd name="connsiteY14" fmla="*/ 4626 h 10844"/>
                  <a:gd name="connsiteX15" fmla="*/ 6667 w 10000"/>
                  <a:gd name="connsiteY15" fmla="*/ 4286 h 10844"/>
                  <a:gd name="connsiteX16" fmla="*/ 6667 w 10000"/>
                  <a:gd name="connsiteY16" fmla="*/ 4286 h 10844"/>
                  <a:gd name="connsiteX17" fmla="*/ 6732 w 10000"/>
                  <a:gd name="connsiteY17" fmla="*/ 4150 h 10844"/>
                  <a:gd name="connsiteX18" fmla="*/ 6797 w 10000"/>
                  <a:gd name="connsiteY18" fmla="*/ 4082 h 10844"/>
                  <a:gd name="connsiteX19" fmla="*/ 6928 w 10000"/>
                  <a:gd name="connsiteY19" fmla="*/ 4014 h 10844"/>
                  <a:gd name="connsiteX20" fmla="*/ 6993 w 10000"/>
                  <a:gd name="connsiteY20" fmla="*/ 3946 h 10844"/>
                  <a:gd name="connsiteX21" fmla="*/ 7059 w 10000"/>
                  <a:gd name="connsiteY21" fmla="*/ 3810 h 10844"/>
                  <a:gd name="connsiteX22" fmla="*/ 7124 w 10000"/>
                  <a:gd name="connsiteY22" fmla="*/ 3605 h 10844"/>
                  <a:gd name="connsiteX23" fmla="*/ 7190 w 10000"/>
                  <a:gd name="connsiteY23" fmla="*/ 3333 h 10844"/>
                  <a:gd name="connsiteX24" fmla="*/ 7190 w 10000"/>
                  <a:gd name="connsiteY24" fmla="*/ 3333 h 10844"/>
                  <a:gd name="connsiteX25" fmla="*/ 7124 w 10000"/>
                  <a:gd name="connsiteY25" fmla="*/ 3129 h 10844"/>
                  <a:gd name="connsiteX26" fmla="*/ 7059 w 10000"/>
                  <a:gd name="connsiteY26" fmla="*/ 2993 h 10844"/>
                  <a:gd name="connsiteX27" fmla="*/ 6993 w 10000"/>
                  <a:gd name="connsiteY27" fmla="*/ 2857 h 10844"/>
                  <a:gd name="connsiteX28" fmla="*/ 6993 w 10000"/>
                  <a:gd name="connsiteY28" fmla="*/ 2857 h 10844"/>
                  <a:gd name="connsiteX29" fmla="*/ 7124 w 10000"/>
                  <a:gd name="connsiteY29" fmla="*/ 1905 h 10844"/>
                  <a:gd name="connsiteX30" fmla="*/ 7124 w 10000"/>
                  <a:gd name="connsiteY30" fmla="*/ 1905 h 10844"/>
                  <a:gd name="connsiteX31" fmla="*/ 7124 w 10000"/>
                  <a:gd name="connsiteY31" fmla="*/ 1633 h 10844"/>
                  <a:gd name="connsiteX32" fmla="*/ 7059 w 10000"/>
                  <a:gd name="connsiteY32" fmla="*/ 1361 h 10844"/>
                  <a:gd name="connsiteX33" fmla="*/ 6928 w 10000"/>
                  <a:gd name="connsiteY33" fmla="*/ 1088 h 10844"/>
                  <a:gd name="connsiteX34" fmla="*/ 6732 w 10000"/>
                  <a:gd name="connsiteY34" fmla="*/ 748 h 10844"/>
                  <a:gd name="connsiteX35" fmla="*/ 6471 w 10000"/>
                  <a:gd name="connsiteY35" fmla="*/ 476 h 10844"/>
                  <a:gd name="connsiteX36" fmla="*/ 6078 w 10000"/>
                  <a:gd name="connsiteY36" fmla="*/ 204 h 10844"/>
                  <a:gd name="connsiteX37" fmla="*/ 5621 w 10000"/>
                  <a:gd name="connsiteY37" fmla="*/ 68 h 10844"/>
                  <a:gd name="connsiteX38" fmla="*/ 4967 w 10000"/>
                  <a:gd name="connsiteY38" fmla="*/ 0 h 10844"/>
                  <a:gd name="connsiteX39" fmla="*/ 4967 w 10000"/>
                  <a:gd name="connsiteY39" fmla="*/ 0 h 10844"/>
                  <a:gd name="connsiteX40" fmla="*/ 4379 w 10000"/>
                  <a:gd name="connsiteY40" fmla="*/ 68 h 10844"/>
                  <a:gd name="connsiteX41" fmla="*/ 3856 w 10000"/>
                  <a:gd name="connsiteY41" fmla="*/ 204 h 10844"/>
                  <a:gd name="connsiteX42" fmla="*/ 3529 w 10000"/>
                  <a:gd name="connsiteY42" fmla="*/ 476 h 10844"/>
                  <a:gd name="connsiteX43" fmla="*/ 3203 w 10000"/>
                  <a:gd name="connsiteY43" fmla="*/ 748 h 10844"/>
                  <a:gd name="connsiteX44" fmla="*/ 3072 w 10000"/>
                  <a:gd name="connsiteY44" fmla="*/ 1088 h 10844"/>
                  <a:gd name="connsiteX45" fmla="*/ 2941 w 10000"/>
                  <a:gd name="connsiteY45" fmla="*/ 1361 h 10844"/>
                  <a:gd name="connsiteX46" fmla="*/ 2876 w 10000"/>
                  <a:gd name="connsiteY46" fmla="*/ 1633 h 10844"/>
                  <a:gd name="connsiteX47" fmla="*/ 2876 w 10000"/>
                  <a:gd name="connsiteY47" fmla="*/ 1905 h 10844"/>
                  <a:gd name="connsiteX48" fmla="*/ 2876 w 10000"/>
                  <a:gd name="connsiteY48" fmla="*/ 1905 h 10844"/>
                  <a:gd name="connsiteX49" fmla="*/ 3007 w 10000"/>
                  <a:gd name="connsiteY49" fmla="*/ 2857 h 10844"/>
                  <a:gd name="connsiteX50" fmla="*/ 3007 w 10000"/>
                  <a:gd name="connsiteY50" fmla="*/ 2857 h 10844"/>
                  <a:gd name="connsiteX51" fmla="*/ 2941 w 10000"/>
                  <a:gd name="connsiteY51" fmla="*/ 2993 h 10844"/>
                  <a:gd name="connsiteX52" fmla="*/ 2876 w 10000"/>
                  <a:gd name="connsiteY52" fmla="*/ 3129 h 10844"/>
                  <a:gd name="connsiteX53" fmla="*/ 2810 w 10000"/>
                  <a:gd name="connsiteY53" fmla="*/ 3333 h 10844"/>
                  <a:gd name="connsiteX54" fmla="*/ 2810 w 10000"/>
                  <a:gd name="connsiteY54" fmla="*/ 3333 h 10844"/>
                  <a:gd name="connsiteX55" fmla="*/ 2876 w 10000"/>
                  <a:gd name="connsiteY55" fmla="*/ 3605 h 10844"/>
                  <a:gd name="connsiteX56" fmla="*/ 2941 w 10000"/>
                  <a:gd name="connsiteY56" fmla="*/ 3810 h 10844"/>
                  <a:gd name="connsiteX57" fmla="*/ 3007 w 10000"/>
                  <a:gd name="connsiteY57" fmla="*/ 3946 h 10844"/>
                  <a:gd name="connsiteX58" fmla="*/ 3072 w 10000"/>
                  <a:gd name="connsiteY58" fmla="*/ 4014 h 10844"/>
                  <a:gd name="connsiteX59" fmla="*/ 3203 w 10000"/>
                  <a:gd name="connsiteY59" fmla="*/ 4082 h 10844"/>
                  <a:gd name="connsiteX60" fmla="*/ 3268 w 10000"/>
                  <a:gd name="connsiteY60" fmla="*/ 4150 h 10844"/>
                  <a:gd name="connsiteX61" fmla="*/ 3333 w 10000"/>
                  <a:gd name="connsiteY61" fmla="*/ 4286 h 10844"/>
                  <a:gd name="connsiteX62" fmla="*/ 3333 w 10000"/>
                  <a:gd name="connsiteY62" fmla="*/ 4286 h 10844"/>
                  <a:gd name="connsiteX63" fmla="*/ 3399 w 10000"/>
                  <a:gd name="connsiteY63" fmla="*/ 4626 h 10844"/>
                  <a:gd name="connsiteX64" fmla="*/ 3464 w 10000"/>
                  <a:gd name="connsiteY64" fmla="*/ 4830 h 10844"/>
                  <a:gd name="connsiteX65" fmla="*/ 3660 w 10000"/>
                  <a:gd name="connsiteY65" fmla="*/ 5102 h 10844"/>
                  <a:gd name="connsiteX66" fmla="*/ 3856 w 10000"/>
                  <a:gd name="connsiteY66" fmla="*/ 5374 h 10844"/>
                  <a:gd name="connsiteX67" fmla="*/ 3856 w 10000"/>
                  <a:gd name="connsiteY67" fmla="*/ 5442 h 10844"/>
                  <a:gd name="connsiteX68" fmla="*/ 3922 w 10000"/>
                  <a:gd name="connsiteY68" fmla="*/ 5646 h 10844"/>
                  <a:gd name="connsiteX69" fmla="*/ 3922 w 10000"/>
                  <a:gd name="connsiteY69" fmla="*/ 5646 h 10844"/>
                  <a:gd name="connsiteX70" fmla="*/ 3856 w 10000"/>
                  <a:gd name="connsiteY70" fmla="*/ 5986 h 10844"/>
                  <a:gd name="connsiteX71" fmla="*/ 3791 w 10000"/>
                  <a:gd name="connsiteY71" fmla="*/ 6259 h 10844"/>
                  <a:gd name="connsiteX72" fmla="*/ 3660 w 10000"/>
                  <a:gd name="connsiteY72" fmla="*/ 6463 h 10844"/>
                  <a:gd name="connsiteX73" fmla="*/ 3529 w 10000"/>
                  <a:gd name="connsiteY73" fmla="*/ 6735 h 10844"/>
                  <a:gd name="connsiteX74" fmla="*/ 3268 w 10000"/>
                  <a:gd name="connsiteY74" fmla="*/ 6871 h 10844"/>
                  <a:gd name="connsiteX75" fmla="*/ 3007 w 10000"/>
                  <a:gd name="connsiteY75" fmla="*/ 7075 h 10844"/>
                  <a:gd name="connsiteX76" fmla="*/ 2157 w 10000"/>
                  <a:gd name="connsiteY76" fmla="*/ 7483 h 10844"/>
                  <a:gd name="connsiteX77" fmla="*/ 2157 w 10000"/>
                  <a:gd name="connsiteY77" fmla="*/ 7483 h 10844"/>
                  <a:gd name="connsiteX78" fmla="*/ 1242 w 10000"/>
                  <a:gd name="connsiteY78" fmla="*/ 7823 h 10844"/>
                  <a:gd name="connsiteX79" fmla="*/ 588 w 10000"/>
                  <a:gd name="connsiteY79" fmla="*/ 8231 h 10844"/>
                  <a:gd name="connsiteX80" fmla="*/ 131 w 10000"/>
                  <a:gd name="connsiteY80" fmla="*/ 8503 h 10844"/>
                  <a:gd name="connsiteX81" fmla="*/ 0 w 10000"/>
                  <a:gd name="connsiteY81" fmla="*/ 8707 h 10844"/>
                  <a:gd name="connsiteX82" fmla="*/ 0 w 10000"/>
                  <a:gd name="connsiteY82" fmla="*/ 8844 h 10844"/>
                  <a:gd name="connsiteX83" fmla="*/ 0 w 10000"/>
                  <a:gd name="connsiteY83" fmla="*/ 8844 h 10844"/>
                  <a:gd name="connsiteX84" fmla="*/ 0 w 10000"/>
                  <a:gd name="connsiteY84" fmla="*/ 9845 h 10844"/>
                  <a:gd name="connsiteX85" fmla="*/ 4820 w 10000"/>
                  <a:gd name="connsiteY85" fmla="*/ 10774 h 10844"/>
                  <a:gd name="connsiteX86" fmla="*/ 10000 w 10000"/>
                  <a:gd name="connsiteY86" fmla="*/ 10000 h 10844"/>
                  <a:gd name="connsiteX87" fmla="*/ 10000 w 10000"/>
                  <a:gd name="connsiteY87" fmla="*/ 10000 h 10844"/>
                  <a:gd name="connsiteX88" fmla="*/ 10000 w 10000"/>
                  <a:gd name="connsiteY88" fmla="*/ 8844 h 10844"/>
                  <a:gd name="connsiteX89" fmla="*/ 10000 w 10000"/>
                  <a:gd name="connsiteY89" fmla="*/ 8844 h 10844"/>
                  <a:gd name="connsiteX90" fmla="*/ 9935 w 10000"/>
                  <a:gd name="connsiteY90" fmla="*/ 8707 h 10844"/>
                  <a:gd name="connsiteX91" fmla="*/ 9869 w 10000"/>
                  <a:gd name="connsiteY91" fmla="*/ 8503 h 10844"/>
                  <a:gd name="connsiteX92" fmla="*/ 9412 w 10000"/>
                  <a:gd name="connsiteY92" fmla="*/ 8231 h 10844"/>
                  <a:gd name="connsiteX93" fmla="*/ 8758 w 10000"/>
                  <a:gd name="connsiteY93" fmla="*/ 7823 h 10844"/>
                  <a:gd name="connsiteX94" fmla="*/ 7843 w 10000"/>
                  <a:gd name="connsiteY94" fmla="*/ 7483 h 10844"/>
                  <a:gd name="connsiteX95" fmla="*/ 7843 w 10000"/>
                  <a:gd name="connsiteY95" fmla="*/ 7483 h 10844"/>
                  <a:gd name="connsiteX0" fmla="*/ 7843 w 10000"/>
                  <a:gd name="connsiteY0" fmla="*/ 7483 h 10783"/>
                  <a:gd name="connsiteX1" fmla="*/ 7843 w 10000"/>
                  <a:gd name="connsiteY1" fmla="*/ 7483 h 10783"/>
                  <a:gd name="connsiteX2" fmla="*/ 6993 w 10000"/>
                  <a:gd name="connsiteY2" fmla="*/ 7075 h 10783"/>
                  <a:gd name="connsiteX3" fmla="*/ 6732 w 10000"/>
                  <a:gd name="connsiteY3" fmla="*/ 6871 h 10783"/>
                  <a:gd name="connsiteX4" fmla="*/ 6471 w 10000"/>
                  <a:gd name="connsiteY4" fmla="*/ 6735 h 10783"/>
                  <a:gd name="connsiteX5" fmla="*/ 6275 w 10000"/>
                  <a:gd name="connsiteY5" fmla="*/ 6463 h 10783"/>
                  <a:gd name="connsiteX6" fmla="*/ 6209 w 10000"/>
                  <a:gd name="connsiteY6" fmla="*/ 6259 h 10783"/>
                  <a:gd name="connsiteX7" fmla="*/ 6144 w 10000"/>
                  <a:gd name="connsiteY7" fmla="*/ 5986 h 10783"/>
                  <a:gd name="connsiteX8" fmla="*/ 6078 w 10000"/>
                  <a:gd name="connsiteY8" fmla="*/ 5646 h 10783"/>
                  <a:gd name="connsiteX9" fmla="*/ 6078 w 10000"/>
                  <a:gd name="connsiteY9" fmla="*/ 5646 h 10783"/>
                  <a:gd name="connsiteX10" fmla="*/ 6144 w 10000"/>
                  <a:gd name="connsiteY10" fmla="*/ 5442 h 10783"/>
                  <a:gd name="connsiteX11" fmla="*/ 6144 w 10000"/>
                  <a:gd name="connsiteY11" fmla="*/ 5374 h 10783"/>
                  <a:gd name="connsiteX12" fmla="*/ 6340 w 10000"/>
                  <a:gd name="connsiteY12" fmla="*/ 5102 h 10783"/>
                  <a:gd name="connsiteX13" fmla="*/ 6536 w 10000"/>
                  <a:gd name="connsiteY13" fmla="*/ 4830 h 10783"/>
                  <a:gd name="connsiteX14" fmla="*/ 6601 w 10000"/>
                  <a:gd name="connsiteY14" fmla="*/ 4626 h 10783"/>
                  <a:gd name="connsiteX15" fmla="*/ 6667 w 10000"/>
                  <a:gd name="connsiteY15" fmla="*/ 4286 h 10783"/>
                  <a:gd name="connsiteX16" fmla="*/ 6667 w 10000"/>
                  <a:gd name="connsiteY16" fmla="*/ 4286 h 10783"/>
                  <a:gd name="connsiteX17" fmla="*/ 6732 w 10000"/>
                  <a:gd name="connsiteY17" fmla="*/ 4150 h 10783"/>
                  <a:gd name="connsiteX18" fmla="*/ 6797 w 10000"/>
                  <a:gd name="connsiteY18" fmla="*/ 4082 h 10783"/>
                  <a:gd name="connsiteX19" fmla="*/ 6928 w 10000"/>
                  <a:gd name="connsiteY19" fmla="*/ 4014 h 10783"/>
                  <a:gd name="connsiteX20" fmla="*/ 6993 w 10000"/>
                  <a:gd name="connsiteY20" fmla="*/ 3946 h 10783"/>
                  <a:gd name="connsiteX21" fmla="*/ 7059 w 10000"/>
                  <a:gd name="connsiteY21" fmla="*/ 3810 h 10783"/>
                  <a:gd name="connsiteX22" fmla="*/ 7124 w 10000"/>
                  <a:gd name="connsiteY22" fmla="*/ 3605 h 10783"/>
                  <a:gd name="connsiteX23" fmla="*/ 7190 w 10000"/>
                  <a:gd name="connsiteY23" fmla="*/ 3333 h 10783"/>
                  <a:gd name="connsiteX24" fmla="*/ 7190 w 10000"/>
                  <a:gd name="connsiteY24" fmla="*/ 3333 h 10783"/>
                  <a:gd name="connsiteX25" fmla="*/ 7124 w 10000"/>
                  <a:gd name="connsiteY25" fmla="*/ 3129 h 10783"/>
                  <a:gd name="connsiteX26" fmla="*/ 7059 w 10000"/>
                  <a:gd name="connsiteY26" fmla="*/ 2993 h 10783"/>
                  <a:gd name="connsiteX27" fmla="*/ 6993 w 10000"/>
                  <a:gd name="connsiteY27" fmla="*/ 2857 h 10783"/>
                  <a:gd name="connsiteX28" fmla="*/ 6993 w 10000"/>
                  <a:gd name="connsiteY28" fmla="*/ 2857 h 10783"/>
                  <a:gd name="connsiteX29" fmla="*/ 7124 w 10000"/>
                  <a:gd name="connsiteY29" fmla="*/ 1905 h 10783"/>
                  <a:gd name="connsiteX30" fmla="*/ 7124 w 10000"/>
                  <a:gd name="connsiteY30" fmla="*/ 1905 h 10783"/>
                  <a:gd name="connsiteX31" fmla="*/ 7124 w 10000"/>
                  <a:gd name="connsiteY31" fmla="*/ 1633 h 10783"/>
                  <a:gd name="connsiteX32" fmla="*/ 7059 w 10000"/>
                  <a:gd name="connsiteY32" fmla="*/ 1361 h 10783"/>
                  <a:gd name="connsiteX33" fmla="*/ 6928 w 10000"/>
                  <a:gd name="connsiteY33" fmla="*/ 1088 h 10783"/>
                  <a:gd name="connsiteX34" fmla="*/ 6732 w 10000"/>
                  <a:gd name="connsiteY34" fmla="*/ 748 h 10783"/>
                  <a:gd name="connsiteX35" fmla="*/ 6471 w 10000"/>
                  <a:gd name="connsiteY35" fmla="*/ 476 h 10783"/>
                  <a:gd name="connsiteX36" fmla="*/ 6078 w 10000"/>
                  <a:gd name="connsiteY36" fmla="*/ 204 h 10783"/>
                  <a:gd name="connsiteX37" fmla="*/ 5621 w 10000"/>
                  <a:gd name="connsiteY37" fmla="*/ 68 h 10783"/>
                  <a:gd name="connsiteX38" fmla="*/ 4967 w 10000"/>
                  <a:gd name="connsiteY38" fmla="*/ 0 h 10783"/>
                  <a:gd name="connsiteX39" fmla="*/ 4967 w 10000"/>
                  <a:gd name="connsiteY39" fmla="*/ 0 h 10783"/>
                  <a:gd name="connsiteX40" fmla="*/ 4379 w 10000"/>
                  <a:gd name="connsiteY40" fmla="*/ 68 h 10783"/>
                  <a:gd name="connsiteX41" fmla="*/ 3856 w 10000"/>
                  <a:gd name="connsiteY41" fmla="*/ 204 h 10783"/>
                  <a:gd name="connsiteX42" fmla="*/ 3529 w 10000"/>
                  <a:gd name="connsiteY42" fmla="*/ 476 h 10783"/>
                  <a:gd name="connsiteX43" fmla="*/ 3203 w 10000"/>
                  <a:gd name="connsiteY43" fmla="*/ 748 h 10783"/>
                  <a:gd name="connsiteX44" fmla="*/ 3072 w 10000"/>
                  <a:gd name="connsiteY44" fmla="*/ 1088 h 10783"/>
                  <a:gd name="connsiteX45" fmla="*/ 2941 w 10000"/>
                  <a:gd name="connsiteY45" fmla="*/ 1361 h 10783"/>
                  <a:gd name="connsiteX46" fmla="*/ 2876 w 10000"/>
                  <a:gd name="connsiteY46" fmla="*/ 1633 h 10783"/>
                  <a:gd name="connsiteX47" fmla="*/ 2876 w 10000"/>
                  <a:gd name="connsiteY47" fmla="*/ 1905 h 10783"/>
                  <a:gd name="connsiteX48" fmla="*/ 2876 w 10000"/>
                  <a:gd name="connsiteY48" fmla="*/ 1905 h 10783"/>
                  <a:gd name="connsiteX49" fmla="*/ 3007 w 10000"/>
                  <a:gd name="connsiteY49" fmla="*/ 2857 h 10783"/>
                  <a:gd name="connsiteX50" fmla="*/ 3007 w 10000"/>
                  <a:gd name="connsiteY50" fmla="*/ 2857 h 10783"/>
                  <a:gd name="connsiteX51" fmla="*/ 2941 w 10000"/>
                  <a:gd name="connsiteY51" fmla="*/ 2993 h 10783"/>
                  <a:gd name="connsiteX52" fmla="*/ 2876 w 10000"/>
                  <a:gd name="connsiteY52" fmla="*/ 3129 h 10783"/>
                  <a:gd name="connsiteX53" fmla="*/ 2810 w 10000"/>
                  <a:gd name="connsiteY53" fmla="*/ 3333 h 10783"/>
                  <a:gd name="connsiteX54" fmla="*/ 2810 w 10000"/>
                  <a:gd name="connsiteY54" fmla="*/ 3333 h 10783"/>
                  <a:gd name="connsiteX55" fmla="*/ 2876 w 10000"/>
                  <a:gd name="connsiteY55" fmla="*/ 3605 h 10783"/>
                  <a:gd name="connsiteX56" fmla="*/ 2941 w 10000"/>
                  <a:gd name="connsiteY56" fmla="*/ 3810 h 10783"/>
                  <a:gd name="connsiteX57" fmla="*/ 3007 w 10000"/>
                  <a:gd name="connsiteY57" fmla="*/ 3946 h 10783"/>
                  <a:gd name="connsiteX58" fmla="*/ 3072 w 10000"/>
                  <a:gd name="connsiteY58" fmla="*/ 4014 h 10783"/>
                  <a:gd name="connsiteX59" fmla="*/ 3203 w 10000"/>
                  <a:gd name="connsiteY59" fmla="*/ 4082 h 10783"/>
                  <a:gd name="connsiteX60" fmla="*/ 3268 w 10000"/>
                  <a:gd name="connsiteY60" fmla="*/ 4150 h 10783"/>
                  <a:gd name="connsiteX61" fmla="*/ 3333 w 10000"/>
                  <a:gd name="connsiteY61" fmla="*/ 4286 h 10783"/>
                  <a:gd name="connsiteX62" fmla="*/ 3333 w 10000"/>
                  <a:gd name="connsiteY62" fmla="*/ 4286 h 10783"/>
                  <a:gd name="connsiteX63" fmla="*/ 3399 w 10000"/>
                  <a:gd name="connsiteY63" fmla="*/ 4626 h 10783"/>
                  <a:gd name="connsiteX64" fmla="*/ 3464 w 10000"/>
                  <a:gd name="connsiteY64" fmla="*/ 4830 h 10783"/>
                  <a:gd name="connsiteX65" fmla="*/ 3660 w 10000"/>
                  <a:gd name="connsiteY65" fmla="*/ 5102 h 10783"/>
                  <a:gd name="connsiteX66" fmla="*/ 3856 w 10000"/>
                  <a:gd name="connsiteY66" fmla="*/ 5374 h 10783"/>
                  <a:gd name="connsiteX67" fmla="*/ 3856 w 10000"/>
                  <a:gd name="connsiteY67" fmla="*/ 5442 h 10783"/>
                  <a:gd name="connsiteX68" fmla="*/ 3922 w 10000"/>
                  <a:gd name="connsiteY68" fmla="*/ 5646 h 10783"/>
                  <a:gd name="connsiteX69" fmla="*/ 3922 w 10000"/>
                  <a:gd name="connsiteY69" fmla="*/ 5646 h 10783"/>
                  <a:gd name="connsiteX70" fmla="*/ 3856 w 10000"/>
                  <a:gd name="connsiteY70" fmla="*/ 5986 h 10783"/>
                  <a:gd name="connsiteX71" fmla="*/ 3791 w 10000"/>
                  <a:gd name="connsiteY71" fmla="*/ 6259 h 10783"/>
                  <a:gd name="connsiteX72" fmla="*/ 3660 w 10000"/>
                  <a:gd name="connsiteY72" fmla="*/ 6463 h 10783"/>
                  <a:gd name="connsiteX73" fmla="*/ 3529 w 10000"/>
                  <a:gd name="connsiteY73" fmla="*/ 6735 h 10783"/>
                  <a:gd name="connsiteX74" fmla="*/ 3268 w 10000"/>
                  <a:gd name="connsiteY74" fmla="*/ 6871 h 10783"/>
                  <a:gd name="connsiteX75" fmla="*/ 3007 w 10000"/>
                  <a:gd name="connsiteY75" fmla="*/ 7075 h 10783"/>
                  <a:gd name="connsiteX76" fmla="*/ 2157 w 10000"/>
                  <a:gd name="connsiteY76" fmla="*/ 7483 h 10783"/>
                  <a:gd name="connsiteX77" fmla="*/ 2157 w 10000"/>
                  <a:gd name="connsiteY77" fmla="*/ 7483 h 10783"/>
                  <a:gd name="connsiteX78" fmla="*/ 1242 w 10000"/>
                  <a:gd name="connsiteY78" fmla="*/ 7823 h 10783"/>
                  <a:gd name="connsiteX79" fmla="*/ 588 w 10000"/>
                  <a:gd name="connsiteY79" fmla="*/ 8231 h 10783"/>
                  <a:gd name="connsiteX80" fmla="*/ 131 w 10000"/>
                  <a:gd name="connsiteY80" fmla="*/ 8503 h 10783"/>
                  <a:gd name="connsiteX81" fmla="*/ 0 w 10000"/>
                  <a:gd name="connsiteY81" fmla="*/ 8707 h 10783"/>
                  <a:gd name="connsiteX82" fmla="*/ 0 w 10000"/>
                  <a:gd name="connsiteY82" fmla="*/ 8844 h 10783"/>
                  <a:gd name="connsiteX83" fmla="*/ 0 w 10000"/>
                  <a:gd name="connsiteY83" fmla="*/ 8844 h 10783"/>
                  <a:gd name="connsiteX84" fmla="*/ 0 w 10000"/>
                  <a:gd name="connsiteY84" fmla="*/ 9845 h 10783"/>
                  <a:gd name="connsiteX85" fmla="*/ 4820 w 10000"/>
                  <a:gd name="connsiteY85" fmla="*/ 10774 h 10783"/>
                  <a:gd name="connsiteX86" fmla="*/ 10000 w 10000"/>
                  <a:gd name="connsiteY86" fmla="*/ 10000 h 10783"/>
                  <a:gd name="connsiteX87" fmla="*/ 10000 w 10000"/>
                  <a:gd name="connsiteY87" fmla="*/ 10000 h 10783"/>
                  <a:gd name="connsiteX88" fmla="*/ 10000 w 10000"/>
                  <a:gd name="connsiteY88" fmla="*/ 8844 h 10783"/>
                  <a:gd name="connsiteX89" fmla="*/ 10000 w 10000"/>
                  <a:gd name="connsiteY89" fmla="*/ 8844 h 10783"/>
                  <a:gd name="connsiteX90" fmla="*/ 9935 w 10000"/>
                  <a:gd name="connsiteY90" fmla="*/ 8707 h 10783"/>
                  <a:gd name="connsiteX91" fmla="*/ 9869 w 10000"/>
                  <a:gd name="connsiteY91" fmla="*/ 8503 h 10783"/>
                  <a:gd name="connsiteX92" fmla="*/ 9412 w 10000"/>
                  <a:gd name="connsiteY92" fmla="*/ 8231 h 10783"/>
                  <a:gd name="connsiteX93" fmla="*/ 8758 w 10000"/>
                  <a:gd name="connsiteY93" fmla="*/ 7823 h 10783"/>
                  <a:gd name="connsiteX94" fmla="*/ 7843 w 10000"/>
                  <a:gd name="connsiteY94" fmla="*/ 7483 h 10783"/>
                  <a:gd name="connsiteX95" fmla="*/ 7843 w 10000"/>
                  <a:gd name="connsiteY95" fmla="*/ 7483 h 10783"/>
                  <a:gd name="connsiteX0" fmla="*/ 7843 w 10000"/>
                  <a:gd name="connsiteY0" fmla="*/ 7483 h 10783"/>
                  <a:gd name="connsiteX1" fmla="*/ 7843 w 10000"/>
                  <a:gd name="connsiteY1" fmla="*/ 7483 h 10783"/>
                  <a:gd name="connsiteX2" fmla="*/ 6993 w 10000"/>
                  <a:gd name="connsiteY2" fmla="*/ 7075 h 10783"/>
                  <a:gd name="connsiteX3" fmla="*/ 6732 w 10000"/>
                  <a:gd name="connsiteY3" fmla="*/ 6871 h 10783"/>
                  <a:gd name="connsiteX4" fmla="*/ 6471 w 10000"/>
                  <a:gd name="connsiteY4" fmla="*/ 6735 h 10783"/>
                  <a:gd name="connsiteX5" fmla="*/ 6275 w 10000"/>
                  <a:gd name="connsiteY5" fmla="*/ 6463 h 10783"/>
                  <a:gd name="connsiteX6" fmla="*/ 6209 w 10000"/>
                  <a:gd name="connsiteY6" fmla="*/ 6259 h 10783"/>
                  <a:gd name="connsiteX7" fmla="*/ 6144 w 10000"/>
                  <a:gd name="connsiteY7" fmla="*/ 5986 h 10783"/>
                  <a:gd name="connsiteX8" fmla="*/ 6078 w 10000"/>
                  <a:gd name="connsiteY8" fmla="*/ 5646 h 10783"/>
                  <a:gd name="connsiteX9" fmla="*/ 6078 w 10000"/>
                  <a:gd name="connsiteY9" fmla="*/ 5646 h 10783"/>
                  <a:gd name="connsiteX10" fmla="*/ 6144 w 10000"/>
                  <a:gd name="connsiteY10" fmla="*/ 5442 h 10783"/>
                  <a:gd name="connsiteX11" fmla="*/ 6144 w 10000"/>
                  <a:gd name="connsiteY11" fmla="*/ 5374 h 10783"/>
                  <a:gd name="connsiteX12" fmla="*/ 6340 w 10000"/>
                  <a:gd name="connsiteY12" fmla="*/ 5102 h 10783"/>
                  <a:gd name="connsiteX13" fmla="*/ 6536 w 10000"/>
                  <a:gd name="connsiteY13" fmla="*/ 4830 h 10783"/>
                  <a:gd name="connsiteX14" fmla="*/ 6601 w 10000"/>
                  <a:gd name="connsiteY14" fmla="*/ 4626 h 10783"/>
                  <a:gd name="connsiteX15" fmla="*/ 6667 w 10000"/>
                  <a:gd name="connsiteY15" fmla="*/ 4286 h 10783"/>
                  <a:gd name="connsiteX16" fmla="*/ 6667 w 10000"/>
                  <a:gd name="connsiteY16" fmla="*/ 4286 h 10783"/>
                  <a:gd name="connsiteX17" fmla="*/ 6732 w 10000"/>
                  <a:gd name="connsiteY17" fmla="*/ 4150 h 10783"/>
                  <a:gd name="connsiteX18" fmla="*/ 6797 w 10000"/>
                  <a:gd name="connsiteY18" fmla="*/ 4082 h 10783"/>
                  <a:gd name="connsiteX19" fmla="*/ 6928 w 10000"/>
                  <a:gd name="connsiteY19" fmla="*/ 4014 h 10783"/>
                  <a:gd name="connsiteX20" fmla="*/ 6993 w 10000"/>
                  <a:gd name="connsiteY20" fmla="*/ 3946 h 10783"/>
                  <a:gd name="connsiteX21" fmla="*/ 7059 w 10000"/>
                  <a:gd name="connsiteY21" fmla="*/ 3810 h 10783"/>
                  <a:gd name="connsiteX22" fmla="*/ 7124 w 10000"/>
                  <a:gd name="connsiteY22" fmla="*/ 3605 h 10783"/>
                  <a:gd name="connsiteX23" fmla="*/ 7190 w 10000"/>
                  <a:gd name="connsiteY23" fmla="*/ 3333 h 10783"/>
                  <a:gd name="connsiteX24" fmla="*/ 7190 w 10000"/>
                  <a:gd name="connsiteY24" fmla="*/ 3333 h 10783"/>
                  <a:gd name="connsiteX25" fmla="*/ 7124 w 10000"/>
                  <a:gd name="connsiteY25" fmla="*/ 3129 h 10783"/>
                  <a:gd name="connsiteX26" fmla="*/ 7059 w 10000"/>
                  <a:gd name="connsiteY26" fmla="*/ 2993 h 10783"/>
                  <a:gd name="connsiteX27" fmla="*/ 6993 w 10000"/>
                  <a:gd name="connsiteY27" fmla="*/ 2857 h 10783"/>
                  <a:gd name="connsiteX28" fmla="*/ 6993 w 10000"/>
                  <a:gd name="connsiteY28" fmla="*/ 2857 h 10783"/>
                  <a:gd name="connsiteX29" fmla="*/ 7124 w 10000"/>
                  <a:gd name="connsiteY29" fmla="*/ 1905 h 10783"/>
                  <a:gd name="connsiteX30" fmla="*/ 7124 w 10000"/>
                  <a:gd name="connsiteY30" fmla="*/ 1905 h 10783"/>
                  <a:gd name="connsiteX31" fmla="*/ 7124 w 10000"/>
                  <a:gd name="connsiteY31" fmla="*/ 1633 h 10783"/>
                  <a:gd name="connsiteX32" fmla="*/ 7059 w 10000"/>
                  <a:gd name="connsiteY32" fmla="*/ 1361 h 10783"/>
                  <a:gd name="connsiteX33" fmla="*/ 6928 w 10000"/>
                  <a:gd name="connsiteY33" fmla="*/ 1088 h 10783"/>
                  <a:gd name="connsiteX34" fmla="*/ 6732 w 10000"/>
                  <a:gd name="connsiteY34" fmla="*/ 748 h 10783"/>
                  <a:gd name="connsiteX35" fmla="*/ 6471 w 10000"/>
                  <a:gd name="connsiteY35" fmla="*/ 476 h 10783"/>
                  <a:gd name="connsiteX36" fmla="*/ 6078 w 10000"/>
                  <a:gd name="connsiteY36" fmla="*/ 204 h 10783"/>
                  <a:gd name="connsiteX37" fmla="*/ 5621 w 10000"/>
                  <a:gd name="connsiteY37" fmla="*/ 68 h 10783"/>
                  <a:gd name="connsiteX38" fmla="*/ 4967 w 10000"/>
                  <a:gd name="connsiteY38" fmla="*/ 0 h 10783"/>
                  <a:gd name="connsiteX39" fmla="*/ 4967 w 10000"/>
                  <a:gd name="connsiteY39" fmla="*/ 0 h 10783"/>
                  <a:gd name="connsiteX40" fmla="*/ 4379 w 10000"/>
                  <a:gd name="connsiteY40" fmla="*/ 68 h 10783"/>
                  <a:gd name="connsiteX41" fmla="*/ 3856 w 10000"/>
                  <a:gd name="connsiteY41" fmla="*/ 204 h 10783"/>
                  <a:gd name="connsiteX42" fmla="*/ 3529 w 10000"/>
                  <a:gd name="connsiteY42" fmla="*/ 476 h 10783"/>
                  <a:gd name="connsiteX43" fmla="*/ 3203 w 10000"/>
                  <a:gd name="connsiteY43" fmla="*/ 748 h 10783"/>
                  <a:gd name="connsiteX44" fmla="*/ 3072 w 10000"/>
                  <a:gd name="connsiteY44" fmla="*/ 1088 h 10783"/>
                  <a:gd name="connsiteX45" fmla="*/ 2941 w 10000"/>
                  <a:gd name="connsiteY45" fmla="*/ 1361 h 10783"/>
                  <a:gd name="connsiteX46" fmla="*/ 2876 w 10000"/>
                  <a:gd name="connsiteY46" fmla="*/ 1633 h 10783"/>
                  <a:gd name="connsiteX47" fmla="*/ 2876 w 10000"/>
                  <a:gd name="connsiteY47" fmla="*/ 1905 h 10783"/>
                  <a:gd name="connsiteX48" fmla="*/ 2876 w 10000"/>
                  <a:gd name="connsiteY48" fmla="*/ 1905 h 10783"/>
                  <a:gd name="connsiteX49" fmla="*/ 3007 w 10000"/>
                  <a:gd name="connsiteY49" fmla="*/ 2857 h 10783"/>
                  <a:gd name="connsiteX50" fmla="*/ 3007 w 10000"/>
                  <a:gd name="connsiteY50" fmla="*/ 2857 h 10783"/>
                  <a:gd name="connsiteX51" fmla="*/ 2941 w 10000"/>
                  <a:gd name="connsiteY51" fmla="*/ 2993 h 10783"/>
                  <a:gd name="connsiteX52" fmla="*/ 2876 w 10000"/>
                  <a:gd name="connsiteY52" fmla="*/ 3129 h 10783"/>
                  <a:gd name="connsiteX53" fmla="*/ 2810 w 10000"/>
                  <a:gd name="connsiteY53" fmla="*/ 3333 h 10783"/>
                  <a:gd name="connsiteX54" fmla="*/ 2810 w 10000"/>
                  <a:gd name="connsiteY54" fmla="*/ 3333 h 10783"/>
                  <a:gd name="connsiteX55" fmla="*/ 2876 w 10000"/>
                  <a:gd name="connsiteY55" fmla="*/ 3605 h 10783"/>
                  <a:gd name="connsiteX56" fmla="*/ 2941 w 10000"/>
                  <a:gd name="connsiteY56" fmla="*/ 3810 h 10783"/>
                  <a:gd name="connsiteX57" fmla="*/ 3007 w 10000"/>
                  <a:gd name="connsiteY57" fmla="*/ 3946 h 10783"/>
                  <a:gd name="connsiteX58" fmla="*/ 3072 w 10000"/>
                  <a:gd name="connsiteY58" fmla="*/ 4014 h 10783"/>
                  <a:gd name="connsiteX59" fmla="*/ 3203 w 10000"/>
                  <a:gd name="connsiteY59" fmla="*/ 4082 h 10783"/>
                  <a:gd name="connsiteX60" fmla="*/ 3268 w 10000"/>
                  <a:gd name="connsiteY60" fmla="*/ 4150 h 10783"/>
                  <a:gd name="connsiteX61" fmla="*/ 3333 w 10000"/>
                  <a:gd name="connsiteY61" fmla="*/ 4286 h 10783"/>
                  <a:gd name="connsiteX62" fmla="*/ 3333 w 10000"/>
                  <a:gd name="connsiteY62" fmla="*/ 4286 h 10783"/>
                  <a:gd name="connsiteX63" fmla="*/ 3399 w 10000"/>
                  <a:gd name="connsiteY63" fmla="*/ 4626 h 10783"/>
                  <a:gd name="connsiteX64" fmla="*/ 3464 w 10000"/>
                  <a:gd name="connsiteY64" fmla="*/ 4830 h 10783"/>
                  <a:gd name="connsiteX65" fmla="*/ 3660 w 10000"/>
                  <a:gd name="connsiteY65" fmla="*/ 5102 h 10783"/>
                  <a:gd name="connsiteX66" fmla="*/ 3856 w 10000"/>
                  <a:gd name="connsiteY66" fmla="*/ 5374 h 10783"/>
                  <a:gd name="connsiteX67" fmla="*/ 3856 w 10000"/>
                  <a:gd name="connsiteY67" fmla="*/ 5442 h 10783"/>
                  <a:gd name="connsiteX68" fmla="*/ 3922 w 10000"/>
                  <a:gd name="connsiteY68" fmla="*/ 5646 h 10783"/>
                  <a:gd name="connsiteX69" fmla="*/ 3922 w 10000"/>
                  <a:gd name="connsiteY69" fmla="*/ 5646 h 10783"/>
                  <a:gd name="connsiteX70" fmla="*/ 3856 w 10000"/>
                  <a:gd name="connsiteY70" fmla="*/ 5986 h 10783"/>
                  <a:gd name="connsiteX71" fmla="*/ 3791 w 10000"/>
                  <a:gd name="connsiteY71" fmla="*/ 6259 h 10783"/>
                  <a:gd name="connsiteX72" fmla="*/ 3660 w 10000"/>
                  <a:gd name="connsiteY72" fmla="*/ 6463 h 10783"/>
                  <a:gd name="connsiteX73" fmla="*/ 3529 w 10000"/>
                  <a:gd name="connsiteY73" fmla="*/ 6735 h 10783"/>
                  <a:gd name="connsiteX74" fmla="*/ 3268 w 10000"/>
                  <a:gd name="connsiteY74" fmla="*/ 6871 h 10783"/>
                  <a:gd name="connsiteX75" fmla="*/ 3007 w 10000"/>
                  <a:gd name="connsiteY75" fmla="*/ 7075 h 10783"/>
                  <a:gd name="connsiteX76" fmla="*/ 2157 w 10000"/>
                  <a:gd name="connsiteY76" fmla="*/ 7483 h 10783"/>
                  <a:gd name="connsiteX77" fmla="*/ 2157 w 10000"/>
                  <a:gd name="connsiteY77" fmla="*/ 7483 h 10783"/>
                  <a:gd name="connsiteX78" fmla="*/ 1242 w 10000"/>
                  <a:gd name="connsiteY78" fmla="*/ 7823 h 10783"/>
                  <a:gd name="connsiteX79" fmla="*/ 588 w 10000"/>
                  <a:gd name="connsiteY79" fmla="*/ 8231 h 10783"/>
                  <a:gd name="connsiteX80" fmla="*/ 131 w 10000"/>
                  <a:gd name="connsiteY80" fmla="*/ 8503 h 10783"/>
                  <a:gd name="connsiteX81" fmla="*/ 0 w 10000"/>
                  <a:gd name="connsiteY81" fmla="*/ 8707 h 10783"/>
                  <a:gd name="connsiteX82" fmla="*/ 0 w 10000"/>
                  <a:gd name="connsiteY82" fmla="*/ 8844 h 10783"/>
                  <a:gd name="connsiteX83" fmla="*/ 0 w 10000"/>
                  <a:gd name="connsiteY83" fmla="*/ 8844 h 10783"/>
                  <a:gd name="connsiteX84" fmla="*/ 0 w 10000"/>
                  <a:gd name="connsiteY84" fmla="*/ 9845 h 10783"/>
                  <a:gd name="connsiteX85" fmla="*/ 4820 w 10000"/>
                  <a:gd name="connsiteY85" fmla="*/ 10774 h 10783"/>
                  <a:gd name="connsiteX86" fmla="*/ 10000 w 10000"/>
                  <a:gd name="connsiteY86" fmla="*/ 10000 h 10783"/>
                  <a:gd name="connsiteX87" fmla="*/ 9812 w 10000"/>
                  <a:gd name="connsiteY87" fmla="*/ 9742 h 10783"/>
                  <a:gd name="connsiteX88" fmla="*/ 10000 w 10000"/>
                  <a:gd name="connsiteY88" fmla="*/ 8844 h 10783"/>
                  <a:gd name="connsiteX89" fmla="*/ 10000 w 10000"/>
                  <a:gd name="connsiteY89" fmla="*/ 8844 h 10783"/>
                  <a:gd name="connsiteX90" fmla="*/ 9935 w 10000"/>
                  <a:gd name="connsiteY90" fmla="*/ 8707 h 10783"/>
                  <a:gd name="connsiteX91" fmla="*/ 9869 w 10000"/>
                  <a:gd name="connsiteY91" fmla="*/ 8503 h 10783"/>
                  <a:gd name="connsiteX92" fmla="*/ 9412 w 10000"/>
                  <a:gd name="connsiteY92" fmla="*/ 8231 h 10783"/>
                  <a:gd name="connsiteX93" fmla="*/ 8758 w 10000"/>
                  <a:gd name="connsiteY93" fmla="*/ 7823 h 10783"/>
                  <a:gd name="connsiteX94" fmla="*/ 7843 w 10000"/>
                  <a:gd name="connsiteY94" fmla="*/ 7483 h 10783"/>
                  <a:gd name="connsiteX95" fmla="*/ 7843 w 10000"/>
                  <a:gd name="connsiteY95" fmla="*/ 7483 h 10783"/>
                  <a:gd name="connsiteX0" fmla="*/ 7843 w 10000"/>
                  <a:gd name="connsiteY0" fmla="*/ 7483 h 10805"/>
                  <a:gd name="connsiteX1" fmla="*/ 7843 w 10000"/>
                  <a:gd name="connsiteY1" fmla="*/ 7483 h 10805"/>
                  <a:gd name="connsiteX2" fmla="*/ 6993 w 10000"/>
                  <a:gd name="connsiteY2" fmla="*/ 7075 h 10805"/>
                  <a:gd name="connsiteX3" fmla="*/ 6732 w 10000"/>
                  <a:gd name="connsiteY3" fmla="*/ 6871 h 10805"/>
                  <a:gd name="connsiteX4" fmla="*/ 6471 w 10000"/>
                  <a:gd name="connsiteY4" fmla="*/ 6735 h 10805"/>
                  <a:gd name="connsiteX5" fmla="*/ 6275 w 10000"/>
                  <a:gd name="connsiteY5" fmla="*/ 6463 h 10805"/>
                  <a:gd name="connsiteX6" fmla="*/ 6209 w 10000"/>
                  <a:gd name="connsiteY6" fmla="*/ 6259 h 10805"/>
                  <a:gd name="connsiteX7" fmla="*/ 6144 w 10000"/>
                  <a:gd name="connsiteY7" fmla="*/ 5986 h 10805"/>
                  <a:gd name="connsiteX8" fmla="*/ 6078 w 10000"/>
                  <a:gd name="connsiteY8" fmla="*/ 5646 h 10805"/>
                  <a:gd name="connsiteX9" fmla="*/ 6078 w 10000"/>
                  <a:gd name="connsiteY9" fmla="*/ 5646 h 10805"/>
                  <a:gd name="connsiteX10" fmla="*/ 6144 w 10000"/>
                  <a:gd name="connsiteY10" fmla="*/ 5442 h 10805"/>
                  <a:gd name="connsiteX11" fmla="*/ 6144 w 10000"/>
                  <a:gd name="connsiteY11" fmla="*/ 5374 h 10805"/>
                  <a:gd name="connsiteX12" fmla="*/ 6340 w 10000"/>
                  <a:gd name="connsiteY12" fmla="*/ 5102 h 10805"/>
                  <a:gd name="connsiteX13" fmla="*/ 6536 w 10000"/>
                  <a:gd name="connsiteY13" fmla="*/ 4830 h 10805"/>
                  <a:gd name="connsiteX14" fmla="*/ 6601 w 10000"/>
                  <a:gd name="connsiteY14" fmla="*/ 4626 h 10805"/>
                  <a:gd name="connsiteX15" fmla="*/ 6667 w 10000"/>
                  <a:gd name="connsiteY15" fmla="*/ 4286 h 10805"/>
                  <a:gd name="connsiteX16" fmla="*/ 6667 w 10000"/>
                  <a:gd name="connsiteY16" fmla="*/ 4286 h 10805"/>
                  <a:gd name="connsiteX17" fmla="*/ 6732 w 10000"/>
                  <a:gd name="connsiteY17" fmla="*/ 4150 h 10805"/>
                  <a:gd name="connsiteX18" fmla="*/ 6797 w 10000"/>
                  <a:gd name="connsiteY18" fmla="*/ 4082 h 10805"/>
                  <a:gd name="connsiteX19" fmla="*/ 6928 w 10000"/>
                  <a:gd name="connsiteY19" fmla="*/ 4014 h 10805"/>
                  <a:gd name="connsiteX20" fmla="*/ 6993 w 10000"/>
                  <a:gd name="connsiteY20" fmla="*/ 3946 h 10805"/>
                  <a:gd name="connsiteX21" fmla="*/ 7059 w 10000"/>
                  <a:gd name="connsiteY21" fmla="*/ 3810 h 10805"/>
                  <a:gd name="connsiteX22" fmla="*/ 7124 w 10000"/>
                  <a:gd name="connsiteY22" fmla="*/ 3605 h 10805"/>
                  <a:gd name="connsiteX23" fmla="*/ 7190 w 10000"/>
                  <a:gd name="connsiteY23" fmla="*/ 3333 h 10805"/>
                  <a:gd name="connsiteX24" fmla="*/ 7190 w 10000"/>
                  <a:gd name="connsiteY24" fmla="*/ 3333 h 10805"/>
                  <a:gd name="connsiteX25" fmla="*/ 7124 w 10000"/>
                  <a:gd name="connsiteY25" fmla="*/ 3129 h 10805"/>
                  <a:gd name="connsiteX26" fmla="*/ 7059 w 10000"/>
                  <a:gd name="connsiteY26" fmla="*/ 2993 h 10805"/>
                  <a:gd name="connsiteX27" fmla="*/ 6993 w 10000"/>
                  <a:gd name="connsiteY27" fmla="*/ 2857 h 10805"/>
                  <a:gd name="connsiteX28" fmla="*/ 6993 w 10000"/>
                  <a:gd name="connsiteY28" fmla="*/ 2857 h 10805"/>
                  <a:gd name="connsiteX29" fmla="*/ 7124 w 10000"/>
                  <a:gd name="connsiteY29" fmla="*/ 1905 h 10805"/>
                  <a:gd name="connsiteX30" fmla="*/ 7124 w 10000"/>
                  <a:gd name="connsiteY30" fmla="*/ 1905 h 10805"/>
                  <a:gd name="connsiteX31" fmla="*/ 7124 w 10000"/>
                  <a:gd name="connsiteY31" fmla="*/ 1633 h 10805"/>
                  <a:gd name="connsiteX32" fmla="*/ 7059 w 10000"/>
                  <a:gd name="connsiteY32" fmla="*/ 1361 h 10805"/>
                  <a:gd name="connsiteX33" fmla="*/ 6928 w 10000"/>
                  <a:gd name="connsiteY33" fmla="*/ 1088 h 10805"/>
                  <a:gd name="connsiteX34" fmla="*/ 6732 w 10000"/>
                  <a:gd name="connsiteY34" fmla="*/ 748 h 10805"/>
                  <a:gd name="connsiteX35" fmla="*/ 6471 w 10000"/>
                  <a:gd name="connsiteY35" fmla="*/ 476 h 10805"/>
                  <a:gd name="connsiteX36" fmla="*/ 6078 w 10000"/>
                  <a:gd name="connsiteY36" fmla="*/ 204 h 10805"/>
                  <a:gd name="connsiteX37" fmla="*/ 5621 w 10000"/>
                  <a:gd name="connsiteY37" fmla="*/ 68 h 10805"/>
                  <a:gd name="connsiteX38" fmla="*/ 4967 w 10000"/>
                  <a:gd name="connsiteY38" fmla="*/ 0 h 10805"/>
                  <a:gd name="connsiteX39" fmla="*/ 4967 w 10000"/>
                  <a:gd name="connsiteY39" fmla="*/ 0 h 10805"/>
                  <a:gd name="connsiteX40" fmla="*/ 4379 w 10000"/>
                  <a:gd name="connsiteY40" fmla="*/ 68 h 10805"/>
                  <a:gd name="connsiteX41" fmla="*/ 3856 w 10000"/>
                  <a:gd name="connsiteY41" fmla="*/ 204 h 10805"/>
                  <a:gd name="connsiteX42" fmla="*/ 3529 w 10000"/>
                  <a:gd name="connsiteY42" fmla="*/ 476 h 10805"/>
                  <a:gd name="connsiteX43" fmla="*/ 3203 w 10000"/>
                  <a:gd name="connsiteY43" fmla="*/ 748 h 10805"/>
                  <a:gd name="connsiteX44" fmla="*/ 3072 w 10000"/>
                  <a:gd name="connsiteY44" fmla="*/ 1088 h 10805"/>
                  <a:gd name="connsiteX45" fmla="*/ 2941 w 10000"/>
                  <a:gd name="connsiteY45" fmla="*/ 1361 h 10805"/>
                  <a:gd name="connsiteX46" fmla="*/ 2876 w 10000"/>
                  <a:gd name="connsiteY46" fmla="*/ 1633 h 10805"/>
                  <a:gd name="connsiteX47" fmla="*/ 2876 w 10000"/>
                  <a:gd name="connsiteY47" fmla="*/ 1905 h 10805"/>
                  <a:gd name="connsiteX48" fmla="*/ 2876 w 10000"/>
                  <a:gd name="connsiteY48" fmla="*/ 1905 h 10805"/>
                  <a:gd name="connsiteX49" fmla="*/ 3007 w 10000"/>
                  <a:gd name="connsiteY49" fmla="*/ 2857 h 10805"/>
                  <a:gd name="connsiteX50" fmla="*/ 3007 w 10000"/>
                  <a:gd name="connsiteY50" fmla="*/ 2857 h 10805"/>
                  <a:gd name="connsiteX51" fmla="*/ 2941 w 10000"/>
                  <a:gd name="connsiteY51" fmla="*/ 2993 h 10805"/>
                  <a:gd name="connsiteX52" fmla="*/ 2876 w 10000"/>
                  <a:gd name="connsiteY52" fmla="*/ 3129 h 10805"/>
                  <a:gd name="connsiteX53" fmla="*/ 2810 w 10000"/>
                  <a:gd name="connsiteY53" fmla="*/ 3333 h 10805"/>
                  <a:gd name="connsiteX54" fmla="*/ 2810 w 10000"/>
                  <a:gd name="connsiteY54" fmla="*/ 3333 h 10805"/>
                  <a:gd name="connsiteX55" fmla="*/ 2876 w 10000"/>
                  <a:gd name="connsiteY55" fmla="*/ 3605 h 10805"/>
                  <a:gd name="connsiteX56" fmla="*/ 2941 w 10000"/>
                  <a:gd name="connsiteY56" fmla="*/ 3810 h 10805"/>
                  <a:gd name="connsiteX57" fmla="*/ 3007 w 10000"/>
                  <a:gd name="connsiteY57" fmla="*/ 3946 h 10805"/>
                  <a:gd name="connsiteX58" fmla="*/ 3072 w 10000"/>
                  <a:gd name="connsiteY58" fmla="*/ 4014 h 10805"/>
                  <a:gd name="connsiteX59" fmla="*/ 3203 w 10000"/>
                  <a:gd name="connsiteY59" fmla="*/ 4082 h 10805"/>
                  <a:gd name="connsiteX60" fmla="*/ 3268 w 10000"/>
                  <a:gd name="connsiteY60" fmla="*/ 4150 h 10805"/>
                  <a:gd name="connsiteX61" fmla="*/ 3333 w 10000"/>
                  <a:gd name="connsiteY61" fmla="*/ 4286 h 10805"/>
                  <a:gd name="connsiteX62" fmla="*/ 3333 w 10000"/>
                  <a:gd name="connsiteY62" fmla="*/ 4286 h 10805"/>
                  <a:gd name="connsiteX63" fmla="*/ 3399 w 10000"/>
                  <a:gd name="connsiteY63" fmla="*/ 4626 h 10805"/>
                  <a:gd name="connsiteX64" fmla="*/ 3464 w 10000"/>
                  <a:gd name="connsiteY64" fmla="*/ 4830 h 10805"/>
                  <a:gd name="connsiteX65" fmla="*/ 3660 w 10000"/>
                  <a:gd name="connsiteY65" fmla="*/ 5102 h 10805"/>
                  <a:gd name="connsiteX66" fmla="*/ 3856 w 10000"/>
                  <a:gd name="connsiteY66" fmla="*/ 5374 h 10805"/>
                  <a:gd name="connsiteX67" fmla="*/ 3856 w 10000"/>
                  <a:gd name="connsiteY67" fmla="*/ 5442 h 10805"/>
                  <a:gd name="connsiteX68" fmla="*/ 3922 w 10000"/>
                  <a:gd name="connsiteY68" fmla="*/ 5646 h 10805"/>
                  <a:gd name="connsiteX69" fmla="*/ 3922 w 10000"/>
                  <a:gd name="connsiteY69" fmla="*/ 5646 h 10805"/>
                  <a:gd name="connsiteX70" fmla="*/ 3856 w 10000"/>
                  <a:gd name="connsiteY70" fmla="*/ 5986 h 10805"/>
                  <a:gd name="connsiteX71" fmla="*/ 3791 w 10000"/>
                  <a:gd name="connsiteY71" fmla="*/ 6259 h 10805"/>
                  <a:gd name="connsiteX72" fmla="*/ 3660 w 10000"/>
                  <a:gd name="connsiteY72" fmla="*/ 6463 h 10805"/>
                  <a:gd name="connsiteX73" fmla="*/ 3529 w 10000"/>
                  <a:gd name="connsiteY73" fmla="*/ 6735 h 10805"/>
                  <a:gd name="connsiteX74" fmla="*/ 3268 w 10000"/>
                  <a:gd name="connsiteY74" fmla="*/ 6871 h 10805"/>
                  <a:gd name="connsiteX75" fmla="*/ 3007 w 10000"/>
                  <a:gd name="connsiteY75" fmla="*/ 7075 h 10805"/>
                  <a:gd name="connsiteX76" fmla="*/ 2157 w 10000"/>
                  <a:gd name="connsiteY76" fmla="*/ 7483 h 10805"/>
                  <a:gd name="connsiteX77" fmla="*/ 2157 w 10000"/>
                  <a:gd name="connsiteY77" fmla="*/ 7483 h 10805"/>
                  <a:gd name="connsiteX78" fmla="*/ 1242 w 10000"/>
                  <a:gd name="connsiteY78" fmla="*/ 7823 h 10805"/>
                  <a:gd name="connsiteX79" fmla="*/ 588 w 10000"/>
                  <a:gd name="connsiteY79" fmla="*/ 8231 h 10805"/>
                  <a:gd name="connsiteX80" fmla="*/ 131 w 10000"/>
                  <a:gd name="connsiteY80" fmla="*/ 8503 h 10805"/>
                  <a:gd name="connsiteX81" fmla="*/ 0 w 10000"/>
                  <a:gd name="connsiteY81" fmla="*/ 8707 h 10805"/>
                  <a:gd name="connsiteX82" fmla="*/ 0 w 10000"/>
                  <a:gd name="connsiteY82" fmla="*/ 8844 h 10805"/>
                  <a:gd name="connsiteX83" fmla="*/ 0 w 10000"/>
                  <a:gd name="connsiteY83" fmla="*/ 8844 h 10805"/>
                  <a:gd name="connsiteX84" fmla="*/ 0 w 10000"/>
                  <a:gd name="connsiteY84" fmla="*/ 9845 h 10805"/>
                  <a:gd name="connsiteX85" fmla="*/ 4820 w 10000"/>
                  <a:gd name="connsiteY85" fmla="*/ 10774 h 10805"/>
                  <a:gd name="connsiteX86" fmla="*/ 9624 w 10000"/>
                  <a:gd name="connsiteY86" fmla="*/ 10155 h 10805"/>
                  <a:gd name="connsiteX87" fmla="*/ 9812 w 10000"/>
                  <a:gd name="connsiteY87" fmla="*/ 9742 h 10805"/>
                  <a:gd name="connsiteX88" fmla="*/ 10000 w 10000"/>
                  <a:gd name="connsiteY88" fmla="*/ 8844 h 10805"/>
                  <a:gd name="connsiteX89" fmla="*/ 10000 w 10000"/>
                  <a:gd name="connsiteY89" fmla="*/ 8844 h 10805"/>
                  <a:gd name="connsiteX90" fmla="*/ 9935 w 10000"/>
                  <a:gd name="connsiteY90" fmla="*/ 8707 h 10805"/>
                  <a:gd name="connsiteX91" fmla="*/ 9869 w 10000"/>
                  <a:gd name="connsiteY91" fmla="*/ 8503 h 10805"/>
                  <a:gd name="connsiteX92" fmla="*/ 9412 w 10000"/>
                  <a:gd name="connsiteY92" fmla="*/ 8231 h 10805"/>
                  <a:gd name="connsiteX93" fmla="*/ 8758 w 10000"/>
                  <a:gd name="connsiteY93" fmla="*/ 7823 h 10805"/>
                  <a:gd name="connsiteX94" fmla="*/ 7843 w 10000"/>
                  <a:gd name="connsiteY94" fmla="*/ 7483 h 10805"/>
                  <a:gd name="connsiteX95" fmla="*/ 7843 w 10000"/>
                  <a:gd name="connsiteY95" fmla="*/ 7483 h 10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0000" h="10805">
                    <a:moveTo>
                      <a:pt x="7843" y="7483"/>
                    </a:moveTo>
                    <a:lnTo>
                      <a:pt x="7843" y="7483"/>
                    </a:lnTo>
                    <a:lnTo>
                      <a:pt x="6993" y="7075"/>
                    </a:lnTo>
                    <a:lnTo>
                      <a:pt x="6732" y="6871"/>
                    </a:lnTo>
                    <a:lnTo>
                      <a:pt x="6471" y="6735"/>
                    </a:lnTo>
                    <a:cubicBezTo>
                      <a:pt x="6406" y="6644"/>
                      <a:pt x="6340" y="6554"/>
                      <a:pt x="6275" y="6463"/>
                    </a:cubicBezTo>
                    <a:lnTo>
                      <a:pt x="6209" y="6259"/>
                    </a:lnTo>
                    <a:cubicBezTo>
                      <a:pt x="6187" y="6168"/>
                      <a:pt x="6166" y="6077"/>
                      <a:pt x="6144" y="5986"/>
                    </a:cubicBezTo>
                    <a:cubicBezTo>
                      <a:pt x="6122" y="5873"/>
                      <a:pt x="6100" y="5759"/>
                      <a:pt x="6078" y="5646"/>
                    </a:cubicBezTo>
                    <a:lnTo>
                      <a:pt x="6078" y="5646"/>
                    </a:lnTo>
                    <a:lnTo>
                      <a:pt x="6144" y="5442"/>
                    </a:lnTo>
                    <a:lnTo>
                      <a:pt x="6144" y="5374"/>
                    </a:lnTo>
                    <a:cubicBezTo>
                      <a:pt x="6209" y="5283"/>
                      <a:pt x="6275" y="5193"/>
                      <a:pt x="6340" y="5102"/>
                    </a:cubicBezTo>
                    <a:cubicBezTo>
                      <a:pt x="6405" y="5011"/>
                      <a:pt x="6471" y="4921"/>
                      <a:pt x="6536" y="4830"/>
                    </a:cubicBezTo>
                    <a:cubicBezTo>
                      <a:pt x="6558" y="4762"/>
                      <a:pt x="6579" y="4694"/>
                      <a:pt x="6601" y="4626"/>
                    </a:cubicBezTo>
                    <a:cubicBezTo>
                      <a:pt x="6623" y="4513"/>
                      <a:pt x="6645" y="4399"/>
                      <a:pt x="6667" y="4286"/>
                    </a:cubicBezTo>
                    <a:lnTo>
                      <a:pt x="6667" y="4286"/>
                    </a:lnTo>
                    <a:cubicBezTo>
                      <a:pt x="6689" y="4241"/>
                      <a:pt x="6710" y="4195"/>
                      <a:pt x="6732" y="4150"/>
                    </a:cubicBezTo>
                    <a:lnTo>
                      <a:pt x="6797" y="4082"/>
                    </a:lnTo>
                    <a:lnTo>
                      <a:pt x="6928" y="4014"/>
                    </a:lnTo>
                    <a:lnTo>
                      <a:pt x="6993" y="3946"/>
                    </a:lnTo>
                    <a:cubicBezTo>
                      <a:pt x="7015" y="3901"/>
                      <a:pt x="7037" y="3855"/>
                      <a:pt x="7059" y="3810"/>
                    </a:cubicBezTo>
                    <a:cubicBezTo>
                      <a:pt x="7081" y="3742"/>
                      <a:pt x="7102" y="3673"/>
                      <a:pt x="7124" y="3605"/>
                    </a:cubicBezTo>
                    <a:cubicBezTo>
                      <a:pt x="7146" y="3514"/>
                      <a:pt x="7168" y="3424"/>
                      <a:pt x="7190" y="3333"/>
                    </a:cubicBezTo>
                    <a:lnTo>
                      <a:pt x="7190" y="3333"/>
                    </a:lnTo>
                    <a:lnTo>
                      <a:pt x="7124" y="3129"/>
                    </a:lnTo>
                    <a:cubicBezTo>
                      <a:pt x="7102" y="3084"/>
                      <a:pt x="7081" y="3038"/>
                      <a:pt x="7059" y="2993"/>
                    </a:cubicBezTo>
                    <a:cubicBezTo>
                      <a:pt x="7037" y="2948"/>
                      <a:pt x="7015" y="2902"/>
                      <a:pt x="6993" y="2857"/>
                    </a:cubicBezTo>
                    <a:lnTo>
                      <a:pt x="6993" y="2857"/>
                    </a:lnTo>
                    <a:cubicBezTo>
                      <a:pt x="7037" y="2540"/>
                      <a:pt x="7080" y="2222"/>
                      <a:pt x="7124" y="1905"/>
                    </a:cubicBezTo>
                    <a:lnTo>
                      <a:pt x="7124" y="1905"/>
                    </a:lnTo>
                    <a:lnTo>
                      <a:pt x="7124" y="1633"/>
                    </a:lnTo>
                    <a:cubicBezTo>
                      <a:pt x="7102" y="1542"/>
                      <a:pt x="7081" y="1452"/>
                      <a:pt x="7059" y="1361"/>
                    </a:cubicBezTo>
                    <a:cubicBezTo>
                      <a:pt x="7015" y="1270"/>
                      <a:pt x="6972" y="1179"/>
                      <a:pt x="6928" y="1088"/>
                    </a:cubicBezTo>
                    <a:lnTo>
                      <a:pt x="6732" y="748"/>
                    </a:lnTo>
                    <a:lnTo>
                      <a:pt x="6471" y="476"/>
                    </a:lnTo>
                    <a:lnTo>
                      <a:pt x="6078" y="204"/>
                    </a:lnTo>
                    <a:lnTo>
                      <a:pt x="5621" y="68"/>
                    </a:lnTo>
                    <a:lnTo>
                      <a:pt x="4967" y="0"/>
                    </a:lnTo>
                    <a:lnTo>
                      <a:pt x="4967" y="0"/>
                    </a:lnTo>
                    <a:lnTo>
                      <a:pt x="4379" y="68"/>
                    </a:lnTo>
                    <a:lnTo>
                      <a:pt x="3856" y="204"/>
                    </a:lnTo>
                    <a:lnTo>
                      <a:pt x="3529" y="476"/>
                    </a:lnTo>
                    <a:lnTo>
                      <a:pt x="3203" y="748"/>
                    </a:lnTo>
                    <a:cubicBezTo>
                      <a:pt x="3159" y="861"/>
                      <a:pt x="3116" y="975"/>
                      <a:pt x="3072" y="1088"/>
                    </a:cubicBezTo>
                    <a:cubicBezTo>
                      <a:pt x="3028" y="1179"/>
                      <a:pt x="2985" y="1270"/>
                      <a:pt x="2941" y="1361"/>
                    </a:cubicBezTo>
                    <a:cubicBezTo>
                      <a:pt x="2919" y="1452"/>
                      <a:pt x="2898" y="1542"/>
                      <a:pt x="2876" y="1633"/>
                    </a:cubicBezTo>
                    <a:lnTo>
                      <a:pt x="2876" y="1905"/>
                    </a:lnTo>
                    <a:lnTo>
                      <a:pt x="2876" y="1905"/>
                    </a:lnTo>
                    <a:cubicBezTo>
                      <a:pt x="2920" y="2222"/>
                      <a:pt x="2963" y="2540"/>
                      <a:pt x="3007" y="2857"/>
                    </a:cubicBezTo>
                    <a:lnTo>
                      <a:pt x="3007" y="2857"/>
                    </a:lnTo>
                    <a:cubicBezTo>
                      <a:pt x="2985" y="2902"/>
                      <a:pt x="2963" y="2948"/>
                      <a:pt x="2941" y="2993"/>
                    </a:cubicBezTo>
                    <a:cubicBezTo>
                      <a:pt x="2919" y="3038"/>
                      <a:pt x="2898" y="3084"/>
                      <a:pt x="2876" y="3129"/>
                    </a:cubicBezTo>
                    <a:lnTo>
                      <a:pt x="2810" y="3333"/>
                    </a:lnTo>
                    <a:lnTo>
                      <a:pt x="2810" y="3333"/>
                    </a:lnTo>
                    <a:cubicBezTo>
                      <a:pt x="2832" y="3424"/>
                      <a:pt x="2854" y="3514"/>
                      <a:pt x="2876" y="3605"/>
                    </a:cubicBezTo>
                    <a:cubicBezTo>
                      <a:pt x="2898" y="3673"/>
                      <a:pt x="2919" y="3742"/>
                      <a:pt x="2941" y="3810"/>
                    </a:cubicBezTo>
                    <a:cubicBezTo>
                      <a:pt x="2963" y="3855"/>
                      <a:pt x="2985" y="3901"/>
                      <a:pt x="3007" y="3946"/>
                    </a:cubicBezTo>
                    <a:lnTo>
                      <a:pt x="3072" y="4014"/>
                    </a:lnTo>
                    <a:lnTo>
                      <a:pt x="3203" y="4082"/>
                    </a:lnTo>
                    <a:lnTo>
                      <a:pt x="3268" y="4150"/>
                    </a:lnTo>
                    <a:cubicBezTo>
                      <a:pt x="3290" y="4195"/>
                      <a:pt x="3311" y="4241"/>
                      <a:pt x="3333" y="4286"/>
                    </a:cubicBezTo>
                    <a:lnTo>
                      <a:pt x="3333" y="4286"/>
                    </a:lnTo>
                    <a:cubicBezTo>
                      <a:pt x="3355" y="4399"/>
                      <a:pt x="3377" y="4513"/>
                      <a:pt x="3399" y="4626"/>
                    </a:cubicBezTo>
                    <a:cubicBezTo>
                      <a:pt x="3421" y="4694"/>
                      <a:pt x="3442" y="4762"/>
                      <a:pt x="3464" y="4830"/>
                    </a:cubicBezTo>
                    <a:cubicBezTo>
                      <a:pt x="3529" y="4921"/>
                      <a:pt x="3595" y="5011"/>
                      <a:pt x="3660" y="5102"/>
                    </a:cubicBezTo>
                    <a:cubicBezTo>
                      <a:pt x="3725" y="5193"/>
                      <a:pt x="3791" y="5283"/>
                      <a:pt x="3856" y="5374"/>
                    </a:cubicBezTo>
                    <a:lnTo>
                      <a:pt x="3856" y="5442"/>
                    </a:lnTo>
                    <a:lnTo>
                      <a:pt x="3922" y="5646"/>
                    </a:lnTo>
                    <a:lnTo>
                      <a:pt x="3922" y="5646"/>
                    </a:lnTo>
                    <a:cubicBezTo>
                      <a:pt x="3900" y="5759"/>
                      <a:pt x="3878" y="5873"/>
                      <a:pt x="3856" y="5986"/>
                    </a:cubicBezTo>
                    <a:cubicBezTo>
                      <a:pt x="3834" y="6077"/>
                      <a:pt x="3813" y="6168"/>
                      <a:pt x="3791" y="6259"/>
                    </a:cubicBezTo>
                    <a:cubicBezTo>
                      <a:pt x="3747" y="6327"/>
                      <a:pt x="3704" y="6395"/>
                      <a:pt x="3660" y="6463"/>
                    </a:cubicBezTo>
                    <a:lnTo>
                      <a:pt x="3529" y="6735"/>
                    </a:lnTo>
                    <a:lnTo>
                      <a:pt x="3268" y="6871"/>
                    </a:lnTo>
                    <a:lnTo>
                      <a:pt x="3007" y="7075"/>
                    </a:lnTo>
                    <a:lnTo>
                      <a:pt x="2157" y="7483"/>
                    </a:lnTo>
                    <a:lnTo>
                      <a:pt x="2157" y="7483"/>
                    </a:lnTo>
                    <a:lnTo>
                      <a:pt x="1242" y="7823"/>
                    </a:lnTo>
                    <a:lnTo>
                      <a:pt x="588" y="8231"/>
                    </a:lnTo>
                    <a:lnTo>
                      <a:pt x="131" y="8503"/>
                    </a:lnTo>
                    <a:cubicBezTo>
                      <a:pt x="87" y="8571"/>
                      <a:pt x="44" y="8639"/>
                      <a:pt x="0" y="8707"/>
                    </a:cubicBezTo>
                    <a:lnTo>
                      <a:pt x="0" y="8844"/>
                    </a:lnTo>
                    <a:lnTo>
                      <a:pt x="0" y="8844"/>
                    </a:lnTo>
                    <a:lnTo>
                      <a:pt x="0" y="9845"/>
                    </a:lnTo>
                    <a:cubicBezTo>
                      <a:pt x="1330" y="11257"/>
                      <a:pt x="3148" y="10550"/>
                      <a:pt x="4820" y="10774"/>
                    </a:cubicBezTo>
                    <a:cubicBezTo>
                      <a:pt x="8241" y="10808"/>
                      <a:pt x="8843" y="10947"/>
                      <a:pt x="9624" y="10155"/>
                    </a:cubicBezTo>
                    <a:lnTo>
                      <a:pt x="9812" y="9742"/>
                    </a:lnTo>
                    <a:cubicBezTo>
                      <a:pt x="9875" y="9443"/>
                      <a:pt x="9937" y="9143"/>
                      <a:pt x="10000" y="8844"/>
                    </a:cubicBezTo>
                    <a:lnTo>
                      <a:pt x="10000" y="8844"/>
                    </a:lnTo>
                    <a:cubicBezTo>
                      <a:pt x="9978" y="8798"/>
                      <a:pt x="9957" y="8753"/>
                      <a:pt x="9935" y="8707"/>
                    </a:cubicBezTo>
                    <a:lnTo>
                      <a:pt x="9869" y="8503"/>
                    </a:lnTo>
                    <a:lnTo>
                      <a:pt x="9412" y="8231"/>
                    </a:lnTo>
                    <a:lnTo>
                      <a:pt x="8758" y="7823"/>
                    </a:lnTo>
                    <a:lnTo>
                      <a:pt x="7843" y="7483"/>
                    </a:lnTo>
                    <a:lnTo>
                      <a:pt x="7843" y="7483"/>
                    </a:lnTo>
                    <a:close/>
                  </a:path>
                </a:pathLst>
              </a:custGeom>
              <a:solidFill>
                <a:srgbClr val="3C8A2E"/>
              </a:solidFill>
              <a:ln>
                <a:noFill/>
              </a:ln>
            </p:spPr>
            <p:txBody>
              <a:bodyPr vert="horz" wrap="square" lIns="83127" tIns="41564" rIns="83127" bIns="4156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mj-lt"/>
                </a:endParaRPr>
              </a:p>
            </p:txBody>
          </p:sp>
          <p:sp>
            <p:nvSpPr>
              <p:cNvPr id="14" name="Rounded Rectangle 13"/>
              <p:cNvSpPr/>
              <p:nvPr/>
            </p:nvSpPr>
            <p:spPr>
              <a:xfrm>
                <a:off x="4184198" y="4369629"/>
                <a:ext cx="513402" cy="513402"/>
              </a:xfrm>
              <a:prstGeom prst="roundRect">
                <a:avLst/>
              </a:prstGeom>
              <a:noFill/>
              <a:ln w="12700" cap="flat" cmpd="sng" algn="ctr">
                <a:solidFill>
                  <a:srgbClr val="3C8A2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mj-lt"/>
                  <a:ea typeface="+mn-ea"/>
                  <a:cs typeface="+mn-cs"/>
                </a:endParaRPr>
              </a:p>
            </p:txBody>
          </p:sp>
        </p:grpSp>
      </p:grpSp>
      <p:sp>
        <p:nvSpPr>
          <p:cNvPr id="17" name="Content Placeholder 2"/>
          <p:cNvSpPr txBox="1">
            <a:spLocks/>
          </p:cNvSpPr>
          <p:nvPr/>
        </p:nvSpPr>
        <p:spPr bwMode="auto">
          <a:xfrm>
            <a:off x="271793" y="772221"/>
            <a:ext cx="5019750" cy="503447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359633" indent="-359633" algn="l" defTabSz="958025" rtl="0" eaLnBrk="0" fontAlgn="base" hangingPunct="0">
              <a:spcBef>
                <a:spcPct val="0"/>
              </a:spcBef>
              <a:spcAft>
                <a:spcPts val="282"/>
              </a:spcAft>
              <a:buFont typeface="Arial" charset="0"/>
              <a:defRPr lang="en-US" kern="1200" dirty="0">
                <a:solidFill>
                  <a:schemeClr val="tx2"/>
                </a:solidFill>
                <a:latin typeface="+mn-lt"/>
                <a:ea typeface="+mn-ea"/>
                <a:cs typeface="+mn-cs"/>
              </a:defRPr>
            </a:lvl1pPr>
            <a:lvl2pPr marL="191008" indent="-191008" algn="l" defTabSz="958025" rtl="0" eaLnBrk="0" fontAlgn="base" hangingPunct="0">
              <a:spcBef>
                <a:spcPct val="0"/>
              </a:spcBef>
              <a:spcAft>
                <a:spcPts val="282"/>
              </a:spcAft>
              <a:buFont typeface="Arial" charset="0"/>
              <a:buChar char="•"/>
              <a:defRPr lang="en-US" kern="1200" dirty="0">
                <a:solidFill>
                  <a:schemeClr val="tx2"/>
                </a:solidFill>
                <a:latin typeface="+mn-lt"/>
                <a:ea typeface="+mj-ea"/>
                <a:cs typeface="+mj-cs"/>
              </a:defRPr>
            </a:lvl2pPr>
            <a:lvl3pPr marL="374555" indent="-183547" algn="l" defTabSz="958025" rtl="0" eaLnBrk="0" fontAlgn="base" hangingPunct="0">
              <a:spcBef>
                <a:spcPct val="0"/>
              </a:spcBef>
              <a:spcAft>
                <a:spcPts val="282"/>
              </a:spcAft>
              <a:buFont typeface="Arial" charset="0"/>
              <a:buChar char="‒"/>
              <a:defRPr lang="en-US" kern="1200" dirty="0">
                <a:solidFill>
                  <a:schemeClr val="tx2"/>
                </a:solidFill>
                <a:latin typeface="+mn-lt"/>
                <a:ea typeface="+mj-ea"/>
                <a:cs typeface="+mj-cs"/>
              </a:defRPr>
            </a:lvl3pPr>
            <a:lvl4pPr marL="565563" indent="-191008" algn="l" defTabSz="958025" rtl="0" eaLnBrk="0" fontAlgn="base" hangingPunct="0">
              <a:spcBef>
                <a:spcPct val="0"/>
              </a:spcBef>
              <a:spcAft>
                <a:spcPts val="564"/>
              </a:spcAft>
              <a:buFont typeface="Arial" charset="0"/>
              <a:buChar char="•"/>
              <a:defRPr lang="en-US" sz="1500" kern="1200" dirty="0">
                <a:solidFill>
                  <a:schemeClr val="tx2"/>
                </a:solidFill>
                <a:latin typeface="+mn-lt"/>
                <a:ea typeface="+mj-ea"/>
                <a:cs typeface="+mj-cs"/>
              </a:defRPr>
            </a:lvl4pPr>
            <a:lvl5pPr marL="746125" indent="-180563" algn="l" defTabSz="958025" rtl="0" eaLnBrk="0" fontAlgn="base" hangingPunct="0">
              <a:spcBef>
                <a:spcPct val="0"/>
              </a:spcBef>
              <a:spcAft>
                <a:spcPts val="564"/>
              </a:spcAft>
              <a:buFont typeface="Arial" charset="0"/>
              <a:buChar char="‒"/>
              <a:defRPr lang="en-GB" sz="1500" kern="1200" dirty="0">
                <a:solidFill>
                  <a:schemeClr val="tx2"/>
                </a:solidFill>
                <a:latin typeface="+mn-lt"/>
                <a:ea typeface="+mj-ea"/>
                <a:cs typeface="+mj-cs"/>
              </a:defRPr>
            </a:lvl5pPr>
            <a:lvl6pPr marL="841629" indent="-171609" algn="l" defTabSz="859536" rtl="0" eaLnBrk="1" latinLnBrk="0" hangingPunct="1">
              <a:spcBef>
                <a:spcPts val="0"/>
              </a:spcBef>
              <a:spcAft>
                <a:spcPts val="282"/>
              </a:spcAft>
              <a:buFont typeface="Arial" pitchFamily="34" charset="0"/>
              <a:buChar char="•"/>
              <a:defRPr sz="1500" kern="1200" baseline="0">
                <a:solidFill>
                  <a:schemeClr val="accent1"/>
                </a:solidFill>
                <a:latin typeface="+mn-lt"/>
                <a:ea typeface="+mn-ea"/>
                <a:cs typeface="+mn-cs"/>
              </a:defRPr>
            </a:lvl6pPr>
            <a:lvl7pPr marL="1014730" indent="-173101" algn="l" defTabSz="859536" rtl="0" eaLnBrk="1" latinLnBrk="0" hangingPunct="1">
              <a:spcBef>
                <a:spcPts val="0"/>
              </a:spcBef>
              <a:spcAft>
                <a:spcPts val="282"/>
              </a:spcAft>
              <a:buFont typeface="Arial" pitchFamily="34" charset="0"/>
              <a:buChar char="‒"/>
              <a:defRPr sz="1300" kern="1200">
                <a:solidFill>
                  <a:schemeClr val="accent1"/>
                </a:solidFill>
                <a:latin typeface="+mn-lt"/>
                <a:ea typeface="+mn-ea"/>
                <a:cs typeface="+mn-cs"/>
              </a:defRPr>
            </a:lvl7pPr>
            <a:lvl8pPr marL="1177386" indent="-162656" algn="l" defTabSz="859536" rtl="0" eaLnBrk="1" latinLnBrk="0" hangingPunct="1">
              <a:spcBef>
                <a:spcPts val="0"/>
              </a:spcBef>
              <a:spcAft>
                <a:spcPts val="282"/>
              </a:spcAft>
              <a:buFont typeface="Arial" pitchFamily="34" charset="0"/>
              <a:buChar char="•"/>
              <a:defRPr sz="1300" kern="1200">
                <a:solidFill>
                  <a:schemeClr val="accent1"/>
                </a:solidFill>
                <a:latin typeface="+mn-lt"/>
                <a:ea typeface="+mn-ea"/>
                <a:cs typeface="+mn-cs"/>
              </a:defRPr>
            </a:lvl8pPr>
            <a:lvl9pPr marL="1348994" indent="-171609" algn="l" defTabSz="859536" rtl="0" eaLnBrk="1" latinLnBrk="0" hangingPunct="1">
              <a:spcBef>
                <a:spcPts val="0"/>
              </a:spcBef>
              <a:spcAft>
                <a:spcPts val="282"/>
              </a:spcAft>
              <a:buFont typeface="Arial" pitchFamily="34" charset="0"/>
              <a:buChar char="‒"/>
              <a:defRPr sz="1300" kern="1200">
                <a:solidFill>
                  <a:schemeClr val="accent1"/>
                </a:solidFill>
                <a:latin typeface="+mn-lt"/>
                <a:ea typeface="+mn-ea"/>
                <a:cs typeface="+mn-cs"/>
              </a:defRPr>
            </a:lvl9pPr>
          </a:lstStyle>
          <a:p>
            <a:pPr marL="114300" indent="0" algn="just">
              <a:spcAft>
                <a:spcPts val="300"/>
              </a:spcAft>
              <a:defRPr/>
            </a:pPr>
            <a:endParaRPr sz="1200" dirty="0">
              <a:solidFill>
                <a:srgbClr val="000000"/>
              </a:solidFill>
              <a:latin typeface="+mj-lt"/>
              <a:ea typeface="Verdana" panose="020B0604030504040204" pitchFamily="34" charset="0"/>
              <a:cs typeface="Verdana" panose="020B0604030504040204" pitchFamily="34" charset="0"/>
            </a:endParaRPr>
          </a:p>
          <a:p>
            <a:pPr marL="114300" indent="0" algn="just">
              <a:spcAft>
                <a:spcPts val="300"/>
              </a:spcAft>
              <a:defRPr/>
            </a:pPr>
            <a:r>
              <a:rPr sz="1200" dirty="0">
                <a:solidFill>
                  <a:srgbClr val="000000"/>
                </a:solidFill>
                <a:latin typeface="+mj-lt"/>
                <a:ea typeface="Verdana" panose="020B0604030504040204" pitchFamily="34" charset="0"/>
                <a:cs typeface="Verdana" panose="020B0604030504040204" pitchFamily="34" charset="0"/>
              </a:rPr>
              <a:t>A Dedicated Infrastructure Advisory Practice in India with a team of more than 225 professionals:</a:t>
            </a:r>
          </a:p>
          <a:p>
            <a:pPr marL="114300" indent="0" algn="just">
              <a:spcAft>
                <a:spcPts val="300"/>
              </a:spcAft>
              <a:defRPr/>
            </a:pPr>
            <a:endParaRPr sz="1200" dirty="0">
              <a:solidFill>
                <a:srgbClr val="000000"/>
              </a:solidFill>
              <a:latin typeface="+mj-lt"/>
              <a:ea typeface="Verdana" panose="020B0604030504040204" pitchFamily="34" charset="0"/>
              <a:cs typeface="Verdana" panose="020B0604030504040204" pitchFamily="34" charset="0"/>
            </a:endParaRP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Having 40+ years experience in managing airports, master planning and designing airports and airlines operations, engineering and network and corporate planning</a:t>
            </a:r>
            <a:endParaRPr sz="1200" dirty="0">
              <a:solidFill>
                <a:srgbClr val="FF0000"/>
              </a:solidFill>
              <a:latin typeface="+mj-lt"/>
              <a:ea typeface="Verdana" panose="020B0604030504040204" pitchFamily="34" charset="0"/>
              <a:cs typeface="Verdana" panose="020B0604030504040204" pitchFamily="34" charset="0"/>
            </a:endParaRP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Experienced in preparing aviation sector regulatory policies, conducting feasibilities studies, preparing business plans and private sector participation for development of airport Infrastructure</a:t>
            </a: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Experience of handling day-to-day operations and assessing the related commercial aspects</a:t>
            </a: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Experience in economic regulation of airports looking at aspects like framework of regulation, pricing of various airport services, service quality parameters, tariff determination</a:t>
            </a: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Experience in undertaking investment structuring and financing options assessment for several large ticket infrastructure projects</a:t>
            </a: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Worked with airports, airlines, ground handling agencies, investors</a:t>
            </a:r>
          </a:p>
          <a:p>
            <a:pPr marL="285750" indent="-171450" algn="just">
              <a:spcAft>
                <a:spcPts val="300"/>
              </a:spcAft>
              <a:buFont typeface="Arial" panose="020B0604020202020204" pitchFamily="34" charset="0"/>
              <a:buChar char="•"/>
              <a:defRPr/>
            </a:pPr>
            <a:r>
              <a:rPr sz="1200" dirty="0">
                <a:solidFill>
                  <a:srgbClr val="000000"/>
                </a:solidFill>
                <a:latin typeface="+mj-lt"/>
                <a:ea typeface="Verdana" panose="020B0604030504040204" pitchFamily="34" charset="0"/>
                <a:cs typeface="Verdana" panose="020B0604030504040204" pitchFamily="34" charset="0"/>
              </a:rPr>
              <a:t>Worked closely with key stakeholders in the Indian Airports space – Ministry of Civil Aviation, Airports Authority of India, and Airports Economic Regulatory Authority of India</a:t>
            </a:r>
          </a:p>
        </p:txBody>
      </p:sp>
      <p:sp>
        <p:nvSpPr>
          <p:cNvPr id="7" name="Rectangle 6"/>
          <p:cNvSpPr/>
          <p:nvPr/>
        </p:nvSpPr>
        <p:spPr bwMode="auto">
          <a:xfrm>
            <a:off x="5600612" y="3900441"/>
            <a:ext cx="2464059" cy="3142382"/>
          </a:xfrm>
          <a:prstGeom prst="rect">
            <a:avLst/>
          </a:prstGeom>
          <a:solidFill>
            <a:srgbClr val="0076A8"/>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white"/>
                </a:solidFill>
                <a:effectLst/>
                <a:uLnTx/>
                <a:uFillTx/>
                <a:latin typeface="+mj-lt"/>
              </a:rPr>
              <a:t>Core Team</a:t>
            </a:r>
          </a:p>
        </p:txBody>
      </p:sp>
      <p:sp>
        <p:nvSpPr>
          <p:cNvPr id="8" name="Rectangle 7"/>
          <p:cNvSpPr/>
          <p:nvPr/>
        </p:nvSpPr>
        <p:spPr bwMode="auto">
          <a:xfrm>
            <a:off x="5600612" y="3343557"/>
            <a:ext cx="4839628" cy="568764"/>
          </a:xfrm>
          <a:prstGeom prst="rect">
            <a:avLst/>
          </a:prstGeom>
          <a:solidFill>
            <a:srgbClr val="FFFFFF"/>
          </a:solidFill>
          <a:ln w="6350" cap="flat" cmpd="sng" algn="ctr">
            <a:solidFill>
              <a:srgbClr val="002776"/>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313131"/>
                </a:solidFill>
                <a:effectLst/>
                <a:uLnTx/>
                <a:uFillTx/>
                <a:latin typeface="+mj-lt"/>
                <a:ea typeface="Verdana" panose="020B0604030504040204" pitchFamily="34" charset="0"/>
                <a:cs typeface="Verdana" panose="020B0604030504040204" pitchFamily="34" charset="0"/>
              </a:rPr>
              <a:t>Amit Gupta</a:t>
            </a:r>
            <a:endParaRPr kumimoji="0" lang="en-GB" sz="1400" b="1" i="0" u="none" strike="noStrike" kern="0" cap="none" spc="0" normalizeH="0" baseline="0" noProof="0" dirty="0">
              <a:ln>
                <a:noFill/>
              </a:ln>
              <a:solidFill>
                <a:srgbClr val="313131"/>
              </a:solidFill>
              <a:effectLst/>
              <a:uLnTx/>
              <a:uFillTx/>
              <a:latin typeface="+mj-lt"/>
              <a:ea typeface="Verdana" panose="020B0604030504040204" pitchFamily="34" charset="0"/>
              <a:cs typeface="Verdana" panose="020B060403050404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313131"/>
                </a:solidFill>
                <a:effectLst/>
                <a:uLnTx/>
                <a:uFillTx/>
                <a:latin typeface="+mj-lt"/>
                <a:ea typeface="Verdana" panose="020B0604030504040204" pitchFamily="34" charset="0"/>
                <a:cs typeface="Verdana" panose="020B0604030504040204" pitchFamily="34" charset="0"/>
              </a:rPr>
              <a:t>Team Leader and Regulatory Expert</a:t>
            </a:r>
          </a:p>
        </p:txBody>
      </p:sp>
      <p:sp>
        <p:nvSpPr>
          <p:cNvPr id="9" name="Rectangle 8"/>
          <p:cNvSpPr/>
          <p:nvPr/>
        </p:nvSpPr>
        <p:spPr>
          <a:xfrm>
            <a:off x="5600612" y="3026412"/>
            <a:ext cx="4839626" cy="307777"/>
          </a:xfrm>
          <a:prstGeom prst="rect">
            <a:avLst/>
          </a:prstGeom>
          <a:solidFill>
            <a:srgbClr val="002776"/>
          </a:solidFill>
          <a:ln>
            <a:solidFill>
              <a:srgbClr val="002776"/>
            </a:solidFill>
          </a:ln>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Project Leadership</a:t>
            </a:r>
          </a:p>
        </p:txBody>
      </p:sp>
      <p:sp>
        <p:nvSpPr>
          <p:cNvPr id="15" name="Rectangle 14"/>
          <p:cNvSpPr/>
          <p:nvPr/>
        </p:nvSpPr>
        <p:spPr bwMode="auto">
          <a:xfrm>
            <a:off x="8221330" y="4253031"/>
            <a:ext cx="1044000"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marL="0" marR="0" lvl="0" indent="0" algn="ctr" defTabSz="914400" eaLnBrk="1" fontAlgn="auto" latinLnBrk="0" hangingPunct="1">
              <a:lnSpc>
                <a:spcPct val="100000"/>
              </a:lnSpc>
              <a:spcBef>
                <a:spcPct val="10000"/>
              </a:spcBef>
              <a:spcAft>
                <a:spcPts val="0"/>
              </a:spcAft>
              <a:buClrTx/>
              <a:buSzTx/>
              <a:buFontTx/>
              <a:buNone/>
              <a:tabLst/>
              <a:defRPr/>
            </a:pPr>
            <a:r>
              <a:rPr kumimoji="0" lang="en-US" sz="1200" b="0" i="0" u="none" strike="noStrike" kern="0" cap="none" spc="0" normalizeH="0" baseline="0" noProof="0" dirty="0">
                <a:ln>
                  <a:noFill/>
                </a:ln>
                <a:effectLst/>
                <a:uLnTx/>
                <a:uFillTx/>
                <a:latin typeface="+mj-lt"/>
                <a:ea typeface="Verdana" panose="020B0604030504040204" pitchFamily="34" charset="0"/>
                <a:cs typeface="Verdana" panose="020B0604030504040204" pitchFamily="34" charset="0"/>
              </a:rPr>
              <a:t>Peeyush Naidu</a:t>
            </a:r>
          </a:p>
          <a:p>
            <a:pPr marL="85149" marR="0" lvl="0" indent="-85149" algn="ctr" defTabSz="242457" eaLnBrk="1" fontAlgn="auto" latinLnBrk="0" hangingPunct="1">
              <a:lnSpc>
                <a:spcPct val="100000"/>
              </a:lnSpc>
              <a:spcBef>
                <a:spcPts val="0"/>
              </a:spcBef>
              <a:spcAft>
                <a:spcPts val="273"/>
              </a:spcAft>
              <a:buClrTx/>
              <a:buSzTx/>
              <a:buFontTx/>
              <a:buNone/>
              <a:tabLst/>
              <a:defRPr/>
            </a:pPr>
            <a:r>
              <a:rPr kumimoji="0" lang="en-GB" sz="1200" b="0" i="1" u="none" strike="noStrike" kern="0" cap="none" spc="0" normalizeH="0" baseline="0" noProof="0" dirty="0">
                <a:ln>
                  <a:noFill/>
                </a:ln>
                <a:effectLst/>
                <a:uLnTx/>
                <a:uFillTx/>
                <a:latin typeface="+mj-lt"/>
                <a:ea typeface="Verdana" panose="020B0604030504040204" pitchFamily="34" charset="0"/>
                <a:cs typeface="Verdana" panose="020B0604030504040204" pitchFamily="34" charset="0"/>
              </a:rPr>
              <a:t>Financing</a:t>
            </a:r>
            <a:r>
              <a:rPr kumimoji="0" lang="en-GB" sz="1200" b="0" i="1" u="none" strike="noStrike" kern="0" cap="none" spc="0" normalizeH="0" noProof="0" dirty="0">
                <a:ln>
                  <a:noFill/>
                </a:ln>
                <a:effectLst/>
                <a:uLnTx/>
                <a:uFillTx/>
                <a:latin typeface="+mj-lt"/>
                <a:ea typeface="Verdana" panose="020B0604030504040204" pitchFamily="34" charset="0"/>
                <a:cs typeface="Verdana" panose="020B0604030504040204" pitchFamily="34" charset="0"/>
              </a:rPr>
              <a:t> Expert</a:t>
            </a:r>
            <a:endParaRPr kumimoji="0" lang="en-GB" sz="1200" b="0" i="1" u="none" strike="noStrike" kern="0" cap="none" spc="0" normalizeH="0" baseline="0" noProof="0" dirty="0">
              <a:ln>
                <a:noFill/>
              </a:ln>
              <a:effectLst/>
              <a:uLnTx/>
              <a:uFillTx/>
              <a:latin typeface="+mj-lt"/>
              <a:ea typeface="Verdana" panose="020B0604030504040204" pitchFamily="34" charset="0"/>
              <a:cs typeface="Verdana" panose="020B0604030504040204" pitchFamily="34" charset="0"/>
            </a:endParaRPr>
          </a:p>
        </p:txBody>
      </p:sp>
      <p:sp>
        <p:nvSpPr>
          <p:cNvPr id="19" name="Rectangle 18"/>
          <p:cNvSpPr/>
          <p:nvPr/>
        </p:nvSpPr>
        <p:spPr bwMode="auto">
          <a:xfrm>
            <a:off x="5600609" y="6599985"/>
            <a:ext cx="4839632" cy="442838"/>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marL="0" marR="0" lvl="0" indent="0" algn="ctr" defTabSz="914400" eaLnBrk="1" fontAlgn="auto" latinLnBrk="0" hangingPunct="1">
              <a:lnSpc>
                <a:spcPct val="100000"/>
              </a:lnSpc>
              <a:spcBef>
                <a:spcPct val="10000"/>
              </a:spcBef>
              <a:spcAft>
                <a:spcPts val="0"/>
              </a:spcAft>
              <a:buClrTx/>
              <a:buSzTx/>
              <a:buFontTx/>
              <a:buNone/>
              <a:tabLst/>
              <a:defRPr/>
            </a:pPr>
            <a:r>
              <a:rPr kumimoji="0" lang="en-US" sz="1200" b="1" i="0" u="none" strike="noStrike" kern="0" cap="none" spc="0" normalizeH="0" baseline="0" noProof="0" dirty="0">
                <a:ln>
                  <a:noFill/>
                </a:ln>
                <a:solidFill>
                  <a:srgbClr val="313131"/>
                </a:solidFill>
                <a:effectLst/>
                <a:uLnTx/>
                <a:uFillTx/>
                <a:latin typeface="+mj-lt"/>
                <a:ea typeface="Verdana" panose="020B0604030504040204" pitchFamily="34" charset="0"/>
                <a:cs typeface="Verdana" panose="020B0604030504040204" pitchFamily="34" charset="0"/>
              </a:rPr>
              <a:t>Support Team</a:t>
            </a:r>
            <a:endParaRPr kumimoji="0" lang="en-GB" sz="1200" b="1" i="1" u="none" strike="noStrike" kern="0" cap="none" spc="0" normalizeH="0" baseline="0" noProof="0" dirty="0">
              <a:ln>
                <a:noFill/>
              </a:ln>
              <a:solidFill>
                <a:srgbClr val="313131"/>
              </a:solidFill>
              <a:effectLst/>
              <a:uLnTx/>
              <a:uFillTx/>
              <a:latin typeface="+mj-lt"/>
              <a:ea typeface="Verdana" panose="020B0604030504040204" pitchFamily="34" charset="0"/>
              <a:cs typeface="Verdana" panose="020B0604030504040204" pitchFamily="34" charset="0"/>
            </a:endParaRPr>
          </a:p>
        </p:txBody>
      </p:sp>
      <p:sp>
        <p:nvSpPr>
          <p:cNvPr id="24" name="Rectangle 23"/>
          <p:cNvSpPr/>
          <p:nvPr/>
        </p:nvSpPr>
        <p:spPr bwMode="auto">
          <a:xfrm>
            <a:off x="6868355" y="4253031"/>
            <a:ext cx="1107257"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lvl="0" algn="ctr" defTabSz="914400">
              <a:defRPr/>
            </a:pPr>
            <a:r>
              <a:rPr lang="en-US" sz="1200" kern="0" dirty="0">
                <a:solidFill>
                  <a:srgbClr val="313131"/>
                </a:solidFill>
                <a:latin typeface="+mj-lt"/>
                <a:ea typeface="Verdana" panose="020B0604030504040204" pitchFamily="34" charset="0"/>
                <a:cs typeface="Verdana" panose="020B0604030504040204" pitchFamily="34" charset="0"/>
              </a:rPr>
              <a:t>Kartik Sood</a:t>
            </a:r>
          </a:p>
          <a:p>
            <a:pPr lvl="0" algn="ctr" defTabSz="914400">
              <a:defRPr/>
            </a:pPr>
            <a:r>
              <a:rPr lang="en-US" sz="1200" i="1" kern="0" dirty="0">
                <a:solidFill>
                  <a:srgbClr val="313131"/>
                </a:solidFill>
                <a:latin typeface="+mj-lt"/>
                <a:ea typeface="Verdana" panose="020B0604030504040204" pitchFamily="34" charset="0"/>
                <a:cs typeface="Verdana" panose="020B0604030504040204" pitchFamily="34" charset="0"/>
              </a:rPr>
              <a:t>Financial and Business Planning Expert</a:t>
            </a:r>
            <a:endParaRPr lang="en-GB" sz="1200" i="1" kern="0" dirty="0">
              <a:solidFill>
                <a:srgbClr val="313131"/>
              </a:solidFill>
              <a:latin typeface="+mj-lt"/>
              <a:ea typeface="Verdana" panose="020B0604030504040204" pitchFamily="34" charset="0"/>
              <a:cs typeface="Verdana" panose="020B0604030504040204" pitchFamily="34" charset="0"/>
            </a:endParaRPr>
          </a:p>
        </p:txBody>
      </p:sp>
      <p:sp>
        <p:nvSpPr>
          <p:cNvPr id="25" name="Rectangle 24"/>
          <p:cNvSpPr/>
          <p:nvPr/>
        </p:nvSpPr>
        <p:spPr bwMode="auto">
          <a:xfrm>
            <a:off x="5667566" y="4253031"/>
            <a:ext cx="1107257"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lvl="0" algn="ctr" defTabSz="914400">
              <a:spcBef>
                <a:spcPct val="10000"/>
              </a:spcBef>
              <a:defRPr/>
            </a:pPr>
            <a:r>
              <a:rPr lang="en-US" sz="1200" kern="0" dirty="0">
                <a:solidFill>
                  <a:srgbClr val="313131"/>
                </a:solidFill>
                <a:latin typeface="+mj-lt"/>
                <a:ea typeface="Verdana" panose="020B0604030504040204" pitchFamily="34" charset="0"/>
                <a:cs typeface="Verdana" panose="020B0604030504040204" pitchFamily="34" charset="0"/>
              </a:rPr>
              <a:t>Robey Lal</a:t>
            </a:r>
          </a:p>
          <a:p>
            <a:pPr lvl="0" algn="ctr" defTabSz="914400">
              <a:defRPr/>
            </a:pPr>
            <a:r>
              <a:rPr lang="en-GB" sz="1200" i="1" kern="0" dirty="0">
                <a:solidFill>
                  <a:srgbClr val="313131"/>
                </a:solidFill>
                <a:latin typeface="+mj-lt"/>
                <a:ea typeface="Verdana" panose="020B0604030504040204" pitchFamily="34" charset="0"/>
                <a:cs typeface="Verdana" panose="020B0604030504040204" pitchFamily="34" charset="0"/>
              </a:rPr>
              <a:t>Airport Planning and Operations Expert</a:t>
            </a:r>
          </a:p>
        </p:txBody>
      </p:sp>
      <p:sp>
        <p:nvSpPr>
          <p:cNvPr id="26" name="Rectangle 25"/>
          <p:cNvSpPr/>
          <p:nvPr/>
        </p:nvSpPr>
        <p:spPr bwMode="auto">
          <a:xfrm>
            <a:off x="9340826" y="4253031"/>
            <a:ext cx="1044000"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lvl="0" algn="ctr" defTabSz="914400">
              <a:spcBef>
                <a:spcPct val="10000"/>
              </a:spcBef>
              <a:defRPr/>
            </a:pPr>
            <a:r>
              <a:rPr lang="en-US" sz="1200" kern="0" dirty="0">
                <a:solidFill>
                  <a:srgbClr val="313131"/>
                </a:solidFill>
                <a:latin typeface="+mj-lt"/>
                <a:ea typeface="Verdana" panose="020B0604030504040204" pitchFamily="34" charset="0"/>
                <a:cs typeface="Verdana" panose="020B0604030504040204" pitchFamily="34" charset="0"/>
              </a:rPr>
              <a:t>Manet Paes</a:t>
            </a:r>
          </a:p>
          <a:p>
            <a:pPr lvl="0" algn="ctr" defTabSz="914400">
              <a:defRPr/>
            </a:pPr>
            <a:r>
              <a:rPr lang="en-GB" sz="1200" i="1" kern="0" dirty="0">
                <a:solidFill>
                  <a:srgbClr val="313131"/>
                </a:solidFill>
                <a:latin typeface="+mj-lt"/>
                <a:ea typeface="Verdana" panose="020B0604030504040204" pitchFamily="34" charset="0"/>
                <a:cs typeface="Verdana" panose="020B0604030504040204" pitchFamily="34" charset="0"/>
              </a:rPr>
              <a:t>Airline Expert</a:t>
            </a:r>
          </a:p>
        </p:txBody>
      </p:sp>
      <p:sp>
        <p:nvSpPr>
          <p:cNvPr id="27" name="Rectangle 26"/>
          <p:cNvSpPr/>
          <p:nvPr/>
        </p:nvSpPr>
        <p:spPr bwMode="auto">
          <a:xfrm>
            <a:off x="6875115" y="5376778"/>
            <a:ext cx="1100497"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lvl="0" algn="ctr" defTabSz="914400">
              <a:spcBef>
                <a:spcPct val="10000"/>
              </a:spcBef>
              <a:defRPr/>
            </a:pPr>
            <a:r>
              <a:rPr lang="en-US" sz="1200" kern="0" dirty="0">
                <a:solidFill>
                  <a:srgbClr val="313131"/>
                </a:solidFill>
                <a:latin typeface="+mj-lt"/>
                <a:ea typeface="Verdana" panose="020B0604030504040204" pitchFamily="34" charset="0"/>
                <a:cs typeface="Verdana" panose="020B0604030504040204" pitchFamily="34" charset="0"/>
              </a:rPr>
              <a:t>Gautam Singhania</a:t>
            </a:r>
          </a:p>
          <a:p>
            <a:pPr lvl="0" algn="ctr" defTabSz="914400">
              <a:spcBef>
                <a:spcPct val="10000"/>
              </a:spcBef>
              <a:defRPr/>
            </a:pPr>
            <a:r>
              <a:rPr lang="en-GB" sz="1200" i="1" kern="0" dirty="0">
                <a:solidFill>
                  <a:srgbClr val="313131"/>
                </a:solidFill>
                <a:latin typeface="+mj-lt"/>
                <a:ea typeface="Verdana" panose="020B0604030504040204" pitchFamily="34" charset="0"/>
                <a:cs typeface="Verdana" panose="020B0604030504040204" pitchFamily="34" charset="0"/>
              </a:rPr>
              <a:t>Financial </a:t>
            </a:r>
            <a:r>
              <a:rPr lang="en-GB" sz="1200" i="1" kern="0" dirty="0" err="1">
                <a:solidFill>
                  <a:srgbClr val="313131"/>
                </a:solidFill>
                <a:latin typeface="+mj-lt"/>
                <a:ea typeface="Verdana" panose="020B0604030504040204" pitchFamily="34" charset="0"/>
                <a:cs typeface="Verdana" panose="020B0604030504040204" pitchFamily="34" charset="0"/>
              </a:rPr>
              <a:t>Modeler</a:t>
            </a:r>
            <a:endParaRPr lang="en-GB" sz="1200" i="1" kern="0" dirty="0">
              <a:solidFill>
                <a:srgbClr val="313131"/>
              </a:solidFill>
              <a:latin typeface="+mj-lt"/>
              <a:ea typeface="Verdana" panose="020B0604030504040204" pitchFamily="34" charset="0"/>
              <a:cs typeface="Verdana" panose="020B0604030504040204" pitchFamily="34" charset="0"/>
            </a:endParaRPr>
          </a:p>
        </p:txBody>
      </p:sp>
      <p:sp>
        <p:nvSpPr>
          <p:cNvPr id="28" name="Rectangle 27"/>
          <p:cNvSpPr/>
          <p:nvPr/>
        </p:nvSpPr>
        <p:spPr bwMode="auto">
          <a:xfrm>
            <a:off x="5676446" y="5376778"/>
            <a:ext cx="1107257"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lvl="0" algn="ctr" defTabSz="914400">
              <a:spcBef>
                <a:spcPct val="10000"/>
              </a:spcBef>
              <a:defRPr/>
            </a:pPr>
            <a:r>
              <a:rPr lang="en-US" sz="1200" kern="0" dirty="0">
                <a:solidFill>
                  <a:srgbClr val="313131"/>
                </a:solidFill>
                <a:latin typeface="+mj-lt"/>
                <a:ea typeface="Verdana" panose="020B0604030504040204" pitchFamily="34" charset="0"/>
                <a:cs typeface="Verdana" panose="020B0604030504040204" pitchFamily="34" charset="0"/>
              </a:rPr>
              <a:t>Sourav Saha</a:t>
            </a:r>
          </a:p>
          <a:p>
            <a:pPr lvl="0" algn="ctr" defTabSz="914400">
              <a:spcBef>
                <a:spcPct val="10000"/>
              </a:spcBef>
              <a:defRPr/>
            </a:pPr>
            <a:r>
              <a:rPr lang="en-US" sz="1200" i="1" kern="0" dirty="0">
                <a:solidFill>
                  <a:srgbClr val="313131"/>
                </a:solidFill>
                <a:latin typeface="+mj-lt"/>
                <a:ea typeface="Verdana" panose="020B0604030504040204" pitchFamily="34" charset="0"/>
                <a:cs typeface="Verdana" panose="020B0604030504040204" pitchFamily="34" charset="0"/>
              </a:rPr>
              <a:t>Airline Expert</a:t>
            </a:r>
            <a:endParaRPr lang="en-GB" sz="1200" i="1" kern="0" dirty="0">
              <a:solidFill>
                <a:srgbClr val="313131"/>
              </a:solidFill>
              <a:latin typeface="+mj-lt"/>
              <a:ea typeface="Verdana" panose="020B0604030504040204" pitchFamily="34" charset="0"/>
              <a:cs typeface="Verdana" panose="020B0604030504040204" pitchFamily="34" charset="0"/>
            </a:endParaRPr>
          </a:p>
        </p:txBody>
      </p:sp>
      <p:sp>
        <p:nvSpPr>
          <p:cNvPr id="29" name="Rectangle 28"/>
          <p:cNvSpPr/>
          <p:nvPr/>
        </p:nvSpPr>
        <p:spPr bwMode="auto">
          <a:xfrm>
            <a:off x="8747005" y="5376778"/>
            <a:ext cx="1120478" cy="1022172"/>
          </a:xfrm>
          <a:prstGeom prst="rect">
            <a:avLst/>
          </a:prstGeom>
          <a:solidFill>
            <a:srgbClr val="FFFFFF"/>
          </a:solidFill>
          <a:ln w="6350" cap="flat" cmpd="sng" algn="ctr">
            <a:solidFill>
              <a:srgbClr val="00A1DE"/>
            </a:solidFill>
            <a:prstDash val="solid"/>
            <a:round/>
            <a:headEnd type="none" w="med" len="med"/>
            <a:tailEnd type="none" w="med" len="med"/>
          </a:ln>
          <a:effectLst/>
        </p:spPr>
        <p:txBody>
          <a:bodyPr vert="horz" wrap="square" lIns="32727" tIns="32727" rIns="32727" bIns="32727" numCol="1" rtlCol="0" anchor="ctr" anchorCtr="0" compatLnSpc="1">
            <a:prstTxWarp prst="textNoShape">
              <a:avLst/>
            </a:prstTxWarp>
            <a:noAutofit/>
          </a:bodyPr>
          <a:lstStyle/>
          <a:p>
            <a:pPr lvl="0" algn="ctr" defTabSz="914400">
              <a:spcBef>
                <a:spcPct val="10000"/>
              </a:spcBef>
              <a:defRPr/>
            </a:pPr>
            <a:r>
              <a:rPr lang="en-US" sz="1200" kern="0" dirty="0">
                <a:latin typeface="+mj-lt"/>
                <a:ea typeface="Verdana" panose="020B0604030504040204" pitchFamily="34" charset="0"/>
                <a:cs typeface="Verdana" panose="020B0604030504040204" pitchFamily="34" charset="0"/>
              </a:rPr>
              <a:t>Daniel Ramos</a:t>
            </a:r>
          </a:p>
          <a:p>
            <a:pPr lvl="0" algn="ctr" defTabSz="914400">
              <a:defRPr/>
            </a:pPr>
            <a:r>
              <a:rPr lang="en-GB" sz="1200" i="1" kern="0" dirty="0">
                <a:latin typeface="+mj-lt"/>
                <a:ea typeface="Verdana" panose="020B0604030504040204" pitchFamily="34" charset="0"/>
                <a:cs typeface="Verdana" panose="020B0604030504040204" pitchFamily="34" charset="0"/>
              </a:rPr>
              <a:t>International Aviation Expert</a:t>
            </a:r>
          </a:p>
        </p:txBody>
      </p:sp>
      <p:sp>
        <p:nvSpPr>
          <p:cNvPr id="30" name="Rectangle 29"/>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mj-lt"/>
                <a:ea typeface="Verdana" panose="020B0604030504040204" pitchFamily="34" charset="0"/>
                <a:cs typeface="Verdana" panose="020B0604030504040204" pitchFamily="34" charset="0"/>
              </a:rPr>
              <a:t>Our proposed team and their CVs</a:t>
            </a:r>
          </a:p>
        </p:txBody>
      </p:sp>
      <p:cxnSp>
        <p:nvCxnSpPr>
          <p:cNvPr id="31" name="Straight Connector 30"/>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263396" y="331644"/>
            <a:ext cx="10103234" cy="425758"/>
          </a:xfrm>
          <a:prstGeom prst="rect">
            <a:avLst/>
          </a:prstGeom>
        </p:spPr>
        <p:txBody>
          <a:bodyPr wrap="square">
            <a:spAutoFit/>
          </a:bodyPr>
          <a:lstStyle/>
          <a:p>
            <a:pPr marL="0" lvl="1" defTabSz="957263" fontAlgn="base">
              <a:lnSpc>
                <a:spcPct val="90000"/>
              </a:lnSpc>
              <a:spcBef>
                <a:spcPts val="400"/>
              </a:spcBef>
              <a:defRPr/>
            </a:pPr>
            <a:r>
              <a:rPr lang="en-US" sz="2400" dirty="0">
                <a:solidFill>
                  <a:srgbClr val="000000"/>
                </a:solidFill>
                <a:latin typeface="+mj-lt"/>
                <a:ea typeface="Verdana" panose="020B0604030504040204" pitchFamily="34" charset="0"/>
                <a:cs typeface="Verdana" panose="020B0604030504040204" pitchFamily="34" charset="0"/>
              </a:rPr>
              <a:t>Our Unique Advantage</a:t>
            </a:r>
          </a:p>
        </p:txBody>
      </p:sp>
    </p:spTree>
    <p:extLst>
      <p:ext uri="{BB962C8B-B14F-4D97-AF65-F5344CB8AC3E}">
        <p14:creationId xmlns:p14="http://schemas.microsoft.com/office/powerpoint/2010/main" val="3877612644"/>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582402" y="685318"/>
            <a:ext cx="5461226" cy="532197"/>
          </a:xfrm>
          <a:prstGeom prst="rect">
            <a:avLst/>
          </a:prstGeom>
        </p:spPr>
        <p:txBody>
          <a:bodyPr wrap="square">
            <a:spAutoFit/>
          </a:bodyPr>
          <a:lstStyle/>
          <a:p>
            <a:pPr marL="0" marR="0" lvl="1" indent="0" algn="l" defTabSz="839232" rtl="0" eaLnBrk="1" fontAlgn="base" latinLnBrk="0" hangingPunct="1">
              <a:lnSpc>
                <a:spcPct val="90000"/>
              </a:lnSpc>
              <a:spcBef>
                <a:spcPts val="351"/>
              </a:spcBef>
              <a:spcAft>
                <a:spcPts val="0"/>
              </a:spcAft>
              <a:buClrTx/>
              <a:buSzTx/>
              <a:buFontTx/>
              <a:buNone/>
              <a:tabLst/>
              <a:defRPr/>
            </a:pPr>
            <a:r>
              <a:rPr kumimoji="0" lang="en-US" sz="1403"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Amit Gupta - </a:t>
            </a:r>
            <a:r>
              <a:rPr kumimoji="0" lang="en-US" sz="1403"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Director, Deloitte</a:t>
            </a:r>
          </a:p>
          <a:p>
            <a:pPr marL="0" marR="0" lvl="1" indent="0" algn="l" defTabSz="839232" rtl="0" eaLnBrk="1" fontAlgn="base" latinLnBrk="0" hangingPunct="1">
              <a:lnSpc>
                <a:spcPct val="90000"/>
              </a:lnSpc>
              <a:spcBef>
                <a:spcPts val="351"/>
              </a:spcBef>
              <a:spcAft>
                <a:spcPts val="0"/>
              </a:spcAft>
              <a:buClrTx/>
              <a:buSzTx/>
              <a:buFontTx/>
              <a:buNone/>
              <a:tabLst/>
              <a:defRPr/>
            </a:pPr>
            <a:r>
              <a:rPr kumimoji="0" lang="en-US" sz="1403"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Team Leader</a:t>
            </a:r>
          </a:p>
        </p:txBody>
      </p:sp>
      <p:pic>
        <p:nvPicPr>
          <p:cNvPr id="7" name="Picture 6" descr="C:\Users\amitg\Desktop\GuptaAmit.jpg"/>
          <p:cNvPicPr/>
          <p:nvPr/>
        </p:nvPicPr>
        <p:blipFill rotWithShape="1">
          <a:blip r:embed="rId2" cstate="email">
            <a:extLst>
              <a:ext uri="{28A0092B-C50C-407E-A947-70E740481C1C}">
                <a14:useLocalDpi xmlns:a14="http://schemas.microsoft.com/office/drawing/2010/main"/>
              </a:ext>
            </a:extLst>
          </a:blip>
          <a:srcRect/>
          <a:stretch/>
        </p:blipFill>
        <p:spPr bwMode="auto">
          <a:xfrm>
            <a:off x="319964" y="300792"/>
            <a:ext cx="1262438" cy="946828"/>
          </a:xfrm>
          <a:prstGeom prst="rect">
            <a:avLst/>
          </a:prstGeom>
          <a:noFill/>
          <a:ln>
            <a:noFill/>
          </a:ln>
          <a:extLst>
            <a:ext uri="{53640926-AAD7-44D8-BBD7-CCE9431645EC}">
              <a14:shadowObscured xmlns:a14="http://schemas.microsoft.com/office/drawing/2010/main"/>
            </a:ext>
          </a:extLst>
        </p:spPr>
      </p:pic>
      <p:sp>
        <p:nvSpPr>
          <p:cNvPr id="8" name="TextBox 7"/>
          <p:cNvSpPr txBox="1"/>
          <p:nvPr/>
        </p:nvSpPr>
        <p:spPr>
          <a:xfrm>
            <a:off x="225364" y="1248251"/>
            <a:ext cx="9563614" cy="646331"/>
          </a:xfrm>
          <a:prstGeom prst="rect">
            <a:avLst/>
          </a:prstGeom>
          <a:noFill/>
        </p:spPr>
        <p:txBody>
          <a:bodyPr wrap="square" rtlCol="0">
            <a:spAutoFit/>
          </a:bodyPr>
          <a:lstStyle/>
          <a:p>
            <a:pPr marL="0" marR="0" lvl="0" indent="0" algn="just" defTabSz="801654" rtl="0" eaLnBrk="1" fontAlgn="auto" latinLnBrk="0" hangingPunct="1">
              <a:lnSpc>
                <a:spcPct val="100000"/>
              </a:lnSpc>
              <a:spcBef>
                <a:spcPts val="0"/>
              </a:spcBef>
              <a:spcAft>
                <a:spcPts val="526"/>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Amit has experience in infrastructure sectors working with both Government and Private Sector entities on various aspects including Market and Financial Assessments, Business Strategy, Economic Regulation, PPP Transaction Advisory and Financial Modelling. He has also worked with govt. clients (AERA/MoCA) in policy formulation and implementation. </a:t>
            </a:r>
          </a:p>
        </p:txBody>
      </p:sp>
      <p:pic>
        <p:nvPicPr>
          <p:cNvPr id="9" name="Picture 8"/>
          <p:cNvPicPr>
            <a:picLocks noChangeAspect="1"/>
          </p:cNvPicPr>
          <p:nvPr/>
        </p:nvPicPr>
        <p:blipFill>
          <a:blip r:embed="rId3"/>
          <a:stretch>
            <a:fillRect/>
          </a:stretch>
        </p:blipFill>
        <p:spPr>
          <a:xfrm>
            <a:off x="9845101" y="282571"/>
            <a:ext cx="843537" cy="1668850"/>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906610922"/>
              </p:ext>
            </p:extLst>
          </p:nvPr>
        </p:nvGraphicFramePr>
        <p:xfrm>
          <a:off x="319964" y="1861017"/>
          <a:ext cx="10120276" cy="5538580"/>
        </p:xfrm>
        <a:graphic>
          <a:graphicData uri="http://schemas.openxmlformats.org/drawingml/2006/table">
            <a:tbl>
              <a:tblPr firstRow="1" bandRow="1">
                <a:tableStyleId>{3B4B98B0-60AC-42C2-AFA5-B58CD77FA1E5}</a:tableStyleId>
              </a:tblPr>
              <a:tblGrid>
                <a:gridCol w="3128746">
                  <a:extLst>
                    <a:ext uri="{9D8B030D-6E8A-4147-A177-3AD203B41FA5}">
                      <a16:colId xmlns:a16="http://schemas.microsoft.com/office/drawing/2014/main" val="3236330501"/>
                    </a:ext>
                  </a:extLst>
                </a:gridCol>
                <a:gridCol w="6991530">
                  <a:extLst>
                    <a:ext uri="{9D8B030D-6E8A-4147-A177-3AD203B41FA5}">
                      <a16:colId xmlns:a16="http://schemas.microsoft.com/office/drawing/2014/main" val="3094567136"/>
                    </a:ext>
                  </a:extLst>
                </a:gridCol>
              </a:tblGrid>
              <a:tr h="267216">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561153">
                <a:tc>
                  <a:txBody>
                    <a:bodyPr/>
                    <a:lstStyle/>
                    <a:p>
                      <a:pPr>
                        <a:spcAft>
                          <a:spcPts val="0"/>
                        </a:spcAft>
                      </a:pPr>
                      <a:r>
                        <a:rPr lang="en-US" sz="1200" b="0" dirty="0">
                          <a:latin typeface="Verdana" panose="020B0604030504040204" pitchFamily="34" charset="0"/>
                          <a:ea typeface="Verdana" panose="020B0604030504040204" pitchFamily="34" charset="0"/>
                          <a:cs typeface="Verdana" panose="020B0604030504040204" pitchFamily="34" charset="0"/>
                        </a:rPr>
                        <a:t>Advising Government of Philippines for PPP transactions of</a:t>
                      </a:r>
                      <a:r>
                        <a:rPr lang="en-US" sz="1200" b="0" baseline="0" dirty="0">
                          <a:latin typeface="Verdana" panose="020B0604030504040204" pitchFamily="34" charset="0"/>
                          <a:ea typeface="Verdana" panose="020B0604030504040204" pitchFamily="34" charset="0"/>
                          <a:cs typeface="Verdana" panose="020B0604030504040204" pitchFamily="34" charset="0"/>
                        </a:rPr>
                        <a:t> Mactan Cebu Airport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tab pos="457200" algn="l"/>
                        </a:tabLst>
                        <a:defRPr/>
                      </a:pPr>
                      <a:r>
                        <a:rPr kumimoji="0" lang="en-US" sz="1200" u="none" strike="noStrike" kern="1200" cap="none" spc="0" normalizeH="0" baseline="0" noProof="0" dirty="0">
                          <a:ln>
                            <a:noFill/>
                          </a:ln>
                          <a:effectLst/>
                          <a:uLnTx/>
                          <a:uFillTx/>
                          <a:latin typeface="Verdana" panose="020B0604030504040204" pitchFamily="34" charset="0"/>
                          <a:ea typeface="Verdana" panose="020B0604030504040204" pitchFamily="34" charset="0"/>
                          <a:cs typeface="Verdana" panose="020B0604030504040204" pitchFamily="34" charset="0"/>
                        </a:rPr>
                        <a:t>Business case development &amp; PPP Structuring, risk allocation, PPP Bid Process advisory, contractual documents preparation, Assistance until Financial Close, preparation of financial model, advisory assistance on concession scope and period </a:t>
                      </a:r>
                      <a:endParaRPr kumimoji="0" lang="en-GB"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1654888715"/>
                  </a:ext>
                </a:extLst>
              </a:tr>
              <a:tr h="629261">
                <a:tc>
                  <a:txBody>
                    <a:bodyPr/>
                    <a:lstStyle/>
                    <a:p>
                      <a:pPr>
                        <a:spcAft>
                          <a:spcPts val="0"/>
                        </a:spcAft>
                      </a:pPr>
                      <a:r>
                        <a:rPr lang="en-IN" sz="1200" b="0" dirty="0">
                          <a:latin typeface="Verdana" panose="020B0604030504040204" pitchFamily="34" charset="0"/>
                          <a:ea typeface="Verdana" panose="020B0604030504040204" pitchFamily="34" charset="0"/>
                          <a:cs typeface="Verdana" panose="020B0604030504040204" pitchFamily="34" charset="0"/>
                        </a:rPr>
                        <a:t>Consultancy Services for Port Moresby International Airport</a:t>
                      </a:r>
                    </a:p>
                  </a:txBody>
                  <a:tcPr marL="80165" marR="80165" marT="40082" marB="40082"/>
                </a:tc>
                <a:tc>
                  <a:txBody>
                    <a:bodyPr/>
                    <a:lstStyle/>
                    <a:p>
                      <a:pPr>
                        <a:spcAft>
                          <a:spcPts val="0"/>
                        </a:spcAft>
                      </a:pPr>
                      <a:r>
                        <a:rPr lang="en-US" sz="1200" dirty="0">
                          <a:latin typeface="Verdana" panose="020B0604030504040204" pitchFamily="34" charset="0"/>
                          <a:ea typeface="Verdana" panose="020B0604030504040204" pitchFamily="34" charset="0"/>
                          <a:cs typeface="Verdana" panose="020B0604030504040204" pitchFamily="34" charset="0"/>
                        </a:rPr>
                        <a:t>Undertaking owner’s requirements analysis, economic and financial assessment, preparation of financial model, PPP project scoping, transaction structuring and due diligence and undertaking financial impact analysis</a:t>
                      </a:r>
                    </a:p>
                  </a:txBody>
                  <a:tcPr marL="80165" marR="80165" marT="40082" marB="40082"/>
                </a:tc>
                <a:extLst>
                  <a:ext uri="{0D108BD9-81ED-4DB2-BD59-A6C34878D82A}">
                    <a16:rowId xmlns:a16="http://schemas.microsoft.com/office/drawing/2014/main" val="557499652"/>
                  </a:ext>
                </a:extLst>
              </a:tr>
              <a:tr h="616734">
                <a:tc>
                  <a:txBody>
                    <a:bodyPr/>
                    <a:lstStyle/>
                    <a:p>
                      <a:pPr>
                        <a:spcAft>
                          <a:spcPts val="0"/>
                        </a:spcAft>
                      </a:pPr>
                      <a:r>
                        <a:rPr lang="en-US" sz="1200" b="0" dirty="0">
                          <a:latin typeface="Verdana" panose="020B0604030504040204" pitchFamily="34" charset="0"/>
                          <a:ea typeface="Verdana" panose="020B0604030504040204" pitchFamily="34" charset="0"/>
                          <a:cs typeface="Verdana" panose="020B0604030504040204" pitchFamily="34" charset="0"/>
                        </a:rPr>
                        <a:t>PPP Transaction Advisor for O&amp;M for the select areas of Ahmedabad, Jaipur and five other airports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a:spcAft>
                          <a:spcPts val="0"/>
                        </a:spcAft>
                      </a:pPr>
                      <a:r>
                        <a:rPr lang="en-US" sz="1200" dirty="0">
                          <a:latin typeface="Verdana" panose="020B0604030504040204" pitchFamily="34" charset="0"/>
                          <a:ea typeface="Verdana" panose="020B0604030504040204" pitchFamily="34" charset="0"/>
                          <a:cs typeface="Verdana" panose="020B0604030504040204" pitchFamily="34" charset="0"/>
                        </a:rPr>
                        <a:t>Review of operational plan including operations forecasts, Consolidate and integrate all areas,</a:t>
                      </a:r>
                      <a:r>
                        <a:rPr lang="en-US" sz="1200" baseline="0"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Identify and structure financial and commercial aspects of the agreed O&amp;M structure including revenue estimation and cost allocation</a:t>
                      </a:r>
                    </a:p>
                  </a:txBody>
                  <a:tcPr marL="80165" marR="80165" marT="40082" marB="40082"/>
                </a:tc>
                <a:extLst>
                  <a:ext uri="{0D108BD9-81ED-4DB2-BD59-A6C34878D82A}">
                    <a16:rowId xmlns:a16="http://schemas.microsoft.com/office/drawing/2014/main" val="1368420575"/>
                  </a:ext>
                </a:extLst>
              </a:tr>
              <a:tr h="616734">
                <a:tc>
                  <a:txBody>
                    <a:bodyPr/>
                    <a:lstStyle/>
                    <a:p>
                      <a:pPr>
                        <a:spcAft>
                          <a:spcPts val="0"/>
                        </a:spcAft>
                      </a:pPr>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Regulatory assistance to BIAL</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a:spcAft>
                          <a:spcPts val="0"/>
                        </a:spcAft>
                      </a:pPr>
                      <a:r>
                        <a:rPr lang="en-US" sz="1200"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Assisting BIAL in reconciliation of tariff model with that of the Authority,</a:t>
                      </a:r>
                      <a:r>
                        <a:rPr lang="en-US" sz="1200" kern="1200" baseline="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r>
                        <a:rPr lang="en-US" sz="1200"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Preparing responses / submissions on behalf of BIAL on such proposals of the Consultation Paper, and assisting BIAL in liaising with stakeholders to obtain the desired response</a:t>
                      </a:r>
                      <a:r>
                        <a:rPr lang="en-US" sz="1578" kern="1200" dirty="0">
                          <a:solidFill>
                            <a:schemeClr val="tx1"/>
                          </a:solidFill>
                          <a:effectLst/>
                          <a:latin typeface="+mn-lt"/>
                          <a:ea typeface="+mn-ea"/>
                          <a:cs typeface="+mn-cs"/>
                        </a:rPr>
                        <a:t> </a:t>
                      </a:r>
                      <a:endParaRPr lang="en-US" sz="1200" dirty="0">
                        <a:solidFill>
                          <a:srgbClr val="FF0000"/>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1566348043"/>
                  </a:ext>
                </a:extLst>
              </a:tr>
              <a:tr h="616734">
                <a:tc>
                  <a:txBody>
                    <a:bodyPr/>
                    <a:lstStyle/>
                    <a:p>
                      <a:pPr>
                        <a:spcAft>
                          <a:spcPts val="0"/>
                        </a:spcAft>
                      </a:pPr>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Assisting Changi Airport Fuel Hydrant Installation Pte. Ltd. in quantifying financial implications under different regulatory mechanisms</a:t>
                      </a:r>
                    </a:p>
                  </a:txBody>
                  <a:tcPr marL="80165" marR="80165" marT="40082" marB="40082"/>
                </a:tc>
                <a:tc>
                  <a:txBody>
                    <a:bodyPr/>
                    <a:lstStyle/>
                    <a:p>
                      <a:pPr>
                        <a:spcAft>
                          <a:spcPts val="0"/>
                        </a:spcAft>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Understanding the business of fuel-farms,</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structure of CAFHI and details of its existing concession with the CAG, understanding the business plan for CAFHI,</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c</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omparison between economic regulation under the Depreciated Amortized Cost and Depreciated Optimized Replacement Cost,</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and v</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aluation of assets for regulatory purposes</a:t>
                      </a:r>
                    </a:p>
                  </a:txBody>
                  <a:tcPr marL="80165" marR="80165" marT="40082" marB="40082"/>
                </a:tc>
                <a:extLst>
                  <a:ext uri="{0D108BD9-81ED-4DB2-BD59-A6C34878D82A}">
                    <a16:rowId xmlns:a16="http://schemas.microsoft.com/office/drawing/2014/main" val="985523908"/>
                  </a:ext>
                </a:extLst>
              </a:tr>
              <a:tr h="593391">
                <a:tc>
                  <a:txBody>
                    <a:bodyPr/>
                    <a:lstStyle/>
                    <a:p>
                      <a:pPr>
                        <a:spcAft>
                          <a:spcPts val="0"/>
                        </a:spcAft>
                      </a:pPr>
                      <a:r>
                        <a:rPr lang="en-US" sz="1200" b="0" dirty="0">
                          <a:latin typeface="Verdana" panose="020B0604030504040204" pitchFamily="34" charset="0"/>
                          <a:ea typeface="Verdana" panose="020B0604030504040204" pitchFamily="34" charset="0"/>
                          <a:cs typeface="Verdana" panose="020B0604030504040204" pitchFamily="34" charset="0"/>
                        </a:rPr>
                        <a:t>Regulatory review of Tariff Determination model for Mumbai, Delhi</a:t>
                      </a:r>
                      <a:r>
                        <a:rPr lang="en-US" sz="1200" b="0" baseline="0" dirty="0">
                          <a:latin typeface="Verdana" panose="020B0604030504040204" pitchFamily="34" charset="0"/>
                          <a:ea typeface="Verdana" panose="020B0604030504040204" pitchFamily="34" charset="0"/>
                          <a:cs typeface="Verdana" panose="020B0604030504040204" pitchFamily="34" charset="0"/>
                        </a:rPr>
                        <a:t>, Chennai and Kolkata A</a:t>
                      </a:r>
                      <a:r>
                        <a:rPr lang="en-US" sz="1200" b="0" dirty="0">
                          <a:latin typeface="Verdana" panose="020B0604030504040204" pitchFamily="34" charset="0"/>
                          <a:ea typeface="Verdana" panose="020B0604030504040204" pitchFamily="34" charset="0"/>
                          <a:cs typeface="Verdana" panose="020B0604030504040204" pitchFamily="34" charset="0"/>
                        </a:rPr>
                        <a:t>irports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a:spcAft>
                          <a:spcPts val="0"/>
                        </a:spcAft>
                      </a:pPr>
                      <a:r>
                        <a:rPr lang="en-US" sz="1200" dirty="0">
                          <a:latin typeface="Verdana" panose="020B0604030504040204" pitchFamily="34" charset="0"/>
                          <a:ea typeface="Verdana" panose="020B0604030504040204" pitchFamily="34" charset="0"/>
                          <a:cs typeface="Verdana" panose="020B0604030504040204" pitchFamily="34" charset="0"/>
                        </a:rPr>
                        <a:t>Review of Financial Models prepared and submitted by the airports,</a:t>
                      </a:r>
                      <a:r>
                        <a:rPr lang="en-US" sz="1200" baseline="0"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Review of the revenue from the non-aeronautical avenues,</a:t>
                      </a:r>
                      <a:r>
                        <a:rPr lang="en-US" sz="1200" baseline="0"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Compliance and Consistency check with provisions of key agreement(s)</a:t>
                      </a:r>
                      <a:r>
                        <a:rPr lang="en-US" sz="1200" baseline="0" dirty="0">
                          <a:latin typeface="Verdana" panose="020B0604030504040204" pitchFamily="34" charset="0"/>
                          <a:ea typeface="Verdana" panose="020B0604030504040204" pitchFamily="34" charset="0"/>
                          <a:cs typeface="Verdana" panose="020B0604030504040204" pitchFamily="34" charset="0"/>
                        </a:rPr>
                        <a:t> and u</a:t>
                      </a:r>
                      <a:r>
                        <a:rPr lang="en-US" sz="1200" dirty="0">
                          <a:latin typeface="Verdana" panose="020B0604030504040204" pitchFamily="34" charset="0"/>
                          <a:ea typeface="Verdana" panose="020B0604030504040204" pitchFamily="34" charset="0"/>
                          <a:cs typeface="Verdana" panose="020B0604030504040204" pitchFamily="34" charset="0"/>
                        </a:rPr>
                        <a:t>ndertaking sensitivity analyses</a:t>
                      </a:r>
                    </a:p>
                  </a:txBody>
                  <a:tcPr marL="80165" marR="80165" marT="40082" marB="40082"/>
                </a:tc>
                <a:extLst>
                  <a:ext uri="{0D108BD9-81ED-4DB2-BD59-A6C34878D82A}">
                    <a16:rowId xmlns:a16="http://schemas.microsoft.com/office/drawing/2014/main" val="2741499122"/>
                  </a:ext>
                </a:extLst>
              </a:tr>
              <a:tr h="406640">
                <a:tc>
                  <a:txBody>
                    <a:bodyPr/>
                    <a:lstStyle/>
                    <a:p>
                      <a:pPr>
                        <a:spcAft>
                          <a:spcPts val="0"/>
                        </a:spcAft>
                      </a:pPr>
                      <a:r>
                        <a:rPr lang="en-US" sz="1200" b="0" dirty="0">
                          <a:latin typeface="Verdana" panose="020B0604030504040204" pitchFamily="34" charset="0"/>
                          <a:ea typeface="Verdana" panose="020B0604030504040204" pitchFamily="34" charset="0"/>
                          <a:cs typeface="Verdana" panose="020B0604030504040204" pitchFamily="34" charset="0"/>
                        </a:rPr>
                        <a:t>Fund raisin</a:t>
                      </a:r>
                      <a:r>
                        <a:rPr lang="en-US" sz="1200" b="0" baseline="0" dirty="0">
                          <a:latin typeface="Verdana" panose="020B0604030504040204" pitchFamily="34" charset="0"/>
                          <a:ea typeface="Verdana" panose="020B0604030504040204" pitchFamily="34" charset="0"/>
                          <a:cs typeface="Verdana" panose="020B0604030504040204" pitchFamily="34" charset="0"/>
                        </a:rPr>
                        <a:t>g activities for AAI</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lvl="0">
                        <a:spcAft>
                          <a:spcPts val="0"/>
                        </a:spcAft>
                      </a:pPr>
                      <a:r>
                        <a:rPr lang="en-GB" sz="1200" b="0" i="0"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Examining the present financial status and process for funding of Capex and operational requirement, Exploring various types and sources of Short term and Long term financing options, and advising on the appropriateness of the fund raising vehicle  </a:t>
                      </a:r>
                      <a:endParaRPr kumimoji="0" lang="en-GB"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2446175907"/>
                  </a:ext>
                </a:extLst>
              </a:tr>
              <a:tr h="406640">
                <a:tc>
                  <a:txBody>
                    <a:bodyPr/>
                    <a:lstStyle/>
                    <a:p>
                      <a:pPr>
                        <a:spcAft>
                          <a:spcPts val="0"/>
                        </a:spcAft>
                      </a:pPr>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Formulation &amp; Implementation of RCS</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a:spcAft>
                          <a:spcPts val="0"/>
                        </a:spcAft>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Review and assessment of existing regulatory framework,</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undertaking analysis of cost structures for airlines to formulate the composition of viability gap funding, preparation of bid documents and assistance in bidding process</a:t>
                      </a:r>
                      <a:endParaRPr lang="en-IN" sz="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4198472163"/>
                  </a:ext>
                </a:extLst>
              </a:tr>
            </a:tbl>
          </a:graphicData>
        </a:graphic>
      </p:graphicFrame>
      <p:sp>
        <p:nvSpPr>
          <p:cNvPr id="12" name="Rectangle 11"/>
          <p:cNvSpPr/>
          <p:nvPr/>
        </p:nvSpPr>
        <p:spPr>
          <a:xfrm>
            <a:off x="2290627" y="57154"/>
            <a:ext cx="8149613" cy="307777"/>
          </a:xfrm>
          <a:prstGeom prst="rect">
            <a:avLst/>
          </a:prstGeom>
        </p:spPr>
        <p:txBody>
          <a:bodyPr wrap="square">
            <a:spAutoFit/>
          </a:bodyPr>
          <a:lstStyle/>
          <a:p>
            <a:pPr marL="0" marR="0" lvl="0" indent="0" algn="r" defTabSz="10428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46A38"/>
                </a:solidFill>
                <a:effectLst/>
                <a:uLnTx/>
                <a:uFillTx/>
                <a:latin typeface="Verdana" panose="020B0604030504040204" pitchFamily="34" charset="0"/>
                <a:ea typeface="Verdana" panose="020B0604030504040204" pitchFamily="34" charset="0"/>
                <a:cs typeface="Verdana" panose="020B0604030504040204" pitchFamily="34" charset="0"/>
              </a:rPr>
              <a:t>Our proposed team and their CVs</a:t>
            </a:r>
          </a:p>
        </p:txBody>
      </p:sp>
    </p:spTree>
    <p:extLst>
      <p:ext uri="{BB962C8B-B14F-4D97-AF65-F5344CB8AC3E}">
        <p14:creationId xmlns:p14="http://schemas.microsoft.com/office/powerpoint/2010/main" val="2171143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marL="0" marR="0" lvl="0" indent="0" algn="r" defTabSz="10428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46A38"/>
                </a:solidFill>
                <a:effectLst/>
                <a:uLnTx/>
                <a:uFillTx/>
                <a:latin typeface="Verdana" panose="020B0604030504040204" pitchFamily="34" charset="0"/>
                <a:ea typeface="Verdana" panose="020B0604030504040204" pitchFamily="34" charset="0"/>
                <a:cs typeface="Verdana" panose="020B0604030504040204" pitchFamily="34" charset="0"/>
              </a:rPr>
              <a:t>Our proposed team and their CVs</a:t>
            </a:r>
          </a:p>
        </p:txBody>
      </p:sp>
      <p:sp>
        <p:nvSpPr>
          <p:cNvPr id="11" name="Rectangle 10"/>
          <p:cNvSpPr/>
          <p:nvPr/>
        </p:nvSpPr>
        <p:spPr>
          <a:xfrm>
            <a:off x="1509459" y="679505"/>
            <a:ext cx="5461226" cy="532197"/>
          </a:xfrm>
          <a:prstGeom prst="rect">
            <a:avLst/>
          </a:prstGeom>
        </p:spPr>
        <p:txBody>
          <a:bodyPr wrap="square">
            <a:spAutoFit/>
          </a:bodyPr>
          <a:lstStyle/>
          <a:p>
            <a:pPr marL="0" marR="0" lvl="1" indent="0" algn="l" defTabSz="839232" rtl="0" eaLnBrk="1" fontAlgn="base" latinLnBrk="0" hangingPunct="1">
              <a:lnSpc>
                <a:spcPct val="90000"/>
              </a:lnSpc>
              <a:spcBef>
                <a:spcPts val="351"/>
              </a:spcBef>
              <a:spcAft>
                <a:spcPts val="0"/>
              </a:spcAft>
              <a:buClrTx/>
              <a:buSzTx/>
              <a:buFontTx/>
              <a:buNone/>
              <a:tabLst/>
              <a:defRPr/>
            </a:pPr>
            <a:r>
              <a:rPr kumimoji="0" lang="en-US" sz="1403"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Peeyush Naidu - </a:t>
            </a:r>
            <a:r>
              <a:rPr kumimoji="0" lang="en-US" sz="1403"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Partner, Deloitte</a:t>
            </a:r>
          </a:p>
          <a:p>
            <a:pPr marL="0" marR="0" lvl="1" indent="0" algn="l" defTabSz="839232" rtl="0" eaLnBrk="1" fontAlgn="base" latinLnBrk="0" hangingPunct="1">
              <a:lnSpc>
                <a:spcPct val="90000"/>
              </a:lnSpc>
              <a:spcBef>
                <a:spcPts val="351"/>
              </a:spcBef>
              <a:spcAft>
                <a:spcPts val="0"/>
              </a:spcAft>
              <a:buClrTx/>
              <a:buSzTx/>
              <a:buFontTx/>
              <a:buNone/>
              <a:tabLst/>
              <a:defRPr/>
            </a:pPr>
            <a:r>
              <a:rPr kumimoji="0" lang="en-US" sz="1403"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Financing</a:t>
            </a: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 Expert</a:t>
            </a:r>
            <a:endParaRPr kumimoji="0" lang="en-US" sz="1403"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3" name="TextBox 12"/>
          <p:cNvSpPr txBox="1"/>
          <p:nvPr/>
        </p:nvSpPr>
        <p:spPr>
          <a:xfrm>
            <a:off x="221064" y="1240614"/>
            <a:ext cx="9624037" cy="1015663"/>
          </a:xfrm>
          <a:prstGeom prst="rect">
            <a:avLst/>
          </a:prstGeom>
          <a:noFill/>
        </p:spPr>
        <p:txBody>
          <a:bodyPr wrap="square" rtlCol="0">
            <a:spAutoFit/>
          </a:bodyPr>
          <a:lstStyle/>
          <a:p>
            <a:pPr marL="0" marR="0" lvl="0" indent="0" algn="just" defTabSz="801654" rtl="0" eaLnBrk="1" fontAlgn="auto" latinLnBrk="0" hangingPunct="1">
              <a:lnSpc>
                <a:spcPct val="100000"/>
              </a:lnSpc>
              <a:spcBef>
                <a:spcPts val="0"/>
              </a:spcBef>
              <a:spcAft>
                <a:spcPts val="526"/>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Peeyush has comprehensive experience in aviation sector, providing advisory services to both Public and Private sector clients in areas such as commercial and financial feasibility of airport projects, regulatory assistance, transaction advisory, viable project structuring for small as well as large airports, business plan preparation, PPP advisory, project finance, bundling strategy for airport privatization, market assessment of cargo and passenger traffic and drafting contractual frameworks and agreements. He has also advised clients in over 25 PPP projects.</a:t>
            </a:r>
          </a:p>
        </p:txBody>
      </p:sp>
      <p:pic>
        <p:nvPicPr>
          <p:cNvPr id="14" name="Picture 176" descr="C:\Work\EOI\EOI-DFCCIL-Track Access\Pics\Peeyus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964" y="282571"/>
            <a:ext cx="1189496" cy="95804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5" name="Table 14"/>
          <p:cNvGraphicFramePr>
            <a:graphicFrameLocks noGrp="1"/>
          </p:cNvGraphicFramePr>
          <p:nvPr>
            <p:extLst>
              <p:ext uri="{D42A27DB-BD31-4B8C-83A1-F6EECF244321}">
                <p14:modId xmlns:p14="http://schemas.microsoft.com/office/powerpoint/2010/main" val="2775340066"/>
              </p:ext>
            </p:extLst>
          </p:nvPr>
        </p:nvGraphicFramePr>
        <p:xfrm>
          <a:off x="309804" y="2267075"/>
          <a:ext cx="10120275" cy="4851724"/>
        </p:xfrm>
        <a:graphic>
          <a:graphicData uri="http://schemas.openxmlformats.org/drawingml/2006/table">
            <a:tbl>
              <a:tblPr firstRow="1" bandRow="1">
                <a:tableStyleId>{3B4B98B0-60AC-42C2-AFA5-B58CD77FA1E5}</a:tableStyleId>
              </a:tblPr>
              <a:tblGrid>
                <a:gridCol w="3237707">
                  <a:extLst>
                    <a:ext uri="{9D8B030D-6E8A-4147-A177-3AD203B41FA5}">
                      <a16:colId xmlns:a16="http://schemas.microsoft.com/office/drawing/2014/main" val="3236330501"/>
                    </a:ext>
                  </a:extLst>
                </a:gridCol>
                <a:gridCol w="6882568">
                  <a:extLst>
                    <a:ext uri="{9D8B030D-6E8A-4147-A177-3AD203B41FA5}">
                      <a16:colId xmlns:a16="http://schemas.microsoft.com/office/drawing/2014/main" val="3094567136"/>
                    </a:ext>
                  </a:extLst>
                </a:gridCol>
              </a:tblGrid>
              <a:tr h="267216">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561153">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Preparation of vision document and business plan for Maharashtra Airport Development Corporation</a:t>
                      </a:r>
                      <a:endParaRPr kumimoji="0" lang="en-IN" sz="1200" b="0" i="0" u="none" strike="noStrike" kern="1200" cap="none" spc="0" normalizeH="0" baseline="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Including necessary market research and SWOT analysis of </a:t>
                      </a:r>
                      <a:r>
                        <a:rPr kumimoji="0" lang="en-IN" sz="1200" b="0" i="0" u="none" strike="noStrike" kern="1200" cap="none" spc="0" normalizeH="0" baseline="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MADC business model</a:t>
                      </a:r>
                    </a:p>
                  </a:txBody>
                  <a:tcPr marL="80165" marR="80165" marT="40082" marB="40082"/>
                </a:tc>
                <a:extLst>
                  <a:ext uri="{0D108BD9-81ED-4DB2-BD59-A6C34878D82A}">
                    <a16:rowId xmlns:a16="http://schemas.microsoft.com/office/drawing/2014/main" val="2912050326"/>
                  </a:ext>
                </a:extLst>
              </a:tr>
              <a:tr h="404676">
                <a:tc>
                  <a:txBody>
                    <a:bodyPr/>
                    <a:lstStyle/>
                    <a:p>
                      <a:pPr marL="0" marR="0" lvl="0" indent="0" algn="l" defTabSz="80165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Selection of Strategic Private Partner for completion of Shirdi Airport</a:t>
                      </a:r>
                      <a:endParaRPr lang="en-IN" sz="1200" b="0" dirty="0">
                        <a:solidFill>
                          <a:srgbClr val="FF0000"/>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Detailed financial assessment including traffic assessment, project cost projection,  and financial plan development</a:t>
                      </a:r>
                    </a:p>
                  </a:txBody>
                  <a:tcPr marL="80165" marR="80165" marT="40082" marB="40082"/>
                </a:tc>
                <a:extLst>
                  <a:ext uri="{0D108BD9-81ED-4DB2-BD59-A6C34878D82A}">
                    <a16:rowId xmlns:a16="http://schemas.microsoft.com/office/drawing/2014/main" val="2352150683"/>
                  </a:ext>
                </a:extLst>
              </a:tr>
              <a:tr h="561153">
                <a:tc>
                  <a:txBody>
                    <a:bodyPr/>
                    <a:lstStyle/>
                    <a:p>
                      <a:pPr algn="l"/>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Comprehensive review of Delhi Int’l Airport Limited’s financial model and business plan </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Involved review of financial, contractual and business planning aspects including review of all constituent aspects pertaining to revenues, capital costs, operating costs, financing plan, etc. as well as comprehensive model audit.</a:t>
                      </a:r>
                    </a:p>
                  </a:txBody>
                  <a:tcPr marL="80165" marR="80165" marT="40082" marB="40082"/>
                </a:tc>
                <a:extLst>
                  <a:ext uri="{0D108BD9-81ED-4DB2-BD59-A6C34878D82A}">
                    <a16:rowId xmlns:a16="http://schemas.microsoft.com/office/drawing/2014/main" val="3890837102"/>
                  </a:ext>
                </a:extLst>
              </a:tr>
              <a:tr h="561153">
                <a:tc>
                  <a:txBody>
                    <a:bodyPr/>
                    <a:lstStyle/>
                    <a:p>
                      <a:pPr algn="l"/>
                      <a:r>
                        <a:rPr lang="en-US" sz="1200" b="0" dirty="0">
                          <a:solidFill>
                            <a:schemeClr val="tx1"/>
                          </a:solidFill>
                          <a:latin typeface="Verdana" panose="020B0604030504040204" pitchFamily="34" charset="0"/>
                          <a:ea typeface="Verdana" panose="020B0604030504040204" pitchFamily="34" charset="0"/>
                          <a:cs typeface="Verdana" panose="020B0604030504040204" pitchFamily="34" charset="0"/>
                        </a:rPr>
                        <a:t>Bid Advisory for Mumbai Airport Modernization</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Review of the Financial Model for business planning and modelling related aspects pertaining to capital costs, operating costs and revenue model for the project and analyses of outputs in terms of possible value of the transaction</a:t>
                      </a:r>
                    </a:p>
                  </a:txBody>
                  <a:tcPr marL="80165" marR="80165" marT="40082" marB="40082"/>
                </a:tc>
                <a:extLst>
                  <a:ext uri="{0D108BD9-81ED-4DB2-BD59-A6C34878D82A}">
                    <a16:rowId xmlns:a16="http://schemas.microsoft.com/office/drawing/2014/main" val="955194133"/>
                  </a:ext>
                </a:extLst>
              </a:tr>
              <a:tr h="561153">
                <a:tc>
                  <a:txBody>
                    <a:bodyPr/>
                    <a:lstStyle/>
                    <a:p>
                      <a:pPr algn="l"/>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Study on Growth in Air Cargo in India</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Collection of data on various aspects including volume of air cargo from all operational airports, market assessment of cargo traffic, potential at key major airports in specific and for India in general studying commodity-wise data </a:t>
                      </a:r>
                    </a:p>
                  </a:txBody>
                  <a:tcPr marL="80165" marR="80165" marT="40082" marB="40082"/>
                </a:tc>
                <a:extLst>
                  <a:ext uri="{0D108BD9-81ED-4DB2-BD59-A6C34878D82A}">
                    <a16:rowId xmlns:a16="http://schemas.microsoft.com/office/drawing/2014/main" val="53076426"/>
                  </a:ext>
                </a:extLst>
              </a:tr>
              <a:tr h="561153">
                <a:tc>
                  <a:txBody>
                    <a:bodyPr/>
                    <a:lstStyle/>
                    <a:p>
                      <a:pPr algn="l"/>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Multiple Projects involving advisory to Government of Philippines for PPP transactions involving 6 major airports in Philippines</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tab pos="4572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Led project teams in undertaking financing viability assessment of the project on PPP basis, and conducted project structuring, risk profiling and allocation, potential asset grouping / bundling of airports, undertaking market interest assessment through market sounding activities; successfully closed PPP transaction for Mactan Cebu airport</a:t>
                      </a:r>
                      <a:endParaRPr kumimoji="0" lang="en-GB"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1604553136"/>
                  </a:ext>
                </a:extLst>
              </a:tr>
              <a:tr h="722964">
                <a:tc>
                  <a:txBody>
                    <a:bodyPr/>
                    <a:lstStyle/>
                    <a:p>
                      <a:pPr algn="l"/>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Performance Assessment for Generation of Additional Revenue and to Benchmark Cost of Operation for top 10 Airports as individual Profit Centers</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algn="l"/>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Conducted</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stakeholder consultation, study of market trends for Domestic and International cargo, study of drivers of cargo traffic and projected growth in traffic including identification of key cargo sectors, complete market assessment of 10 airports including AS-IS, competition and catchment areas assessment</a:t>
                      </a:r>
                    </a:p>
                  </a:txBody>
                  <a:tcPr marL="80165" marR="80165" marT="40082" marB="40082"/>
                </a:tc>
                <a:extLst>
                  <a:ext uri="{0D108BD9-81ED-4DB2-BD59-A6C34878D82A}">
                    <a16:rowId xmlns:a16="http://schemas.microsoft.com/office/drawing/2014/main" val="2741499122"/>
                  </a:ext>
                </a:extLst>
              </a:tr>
            </a:tbl>
          </a:graphicData>
        </a:graphic>
      </p:graphicFrame>
    </p:spTree>
    <p:extLst>
      <p:ext uri="{BB962C8B-B14F-4D97-AF65-F5344CB8AC3E}">
        <p14:creationId xmlns:p14="http://schemas.microsoft.com/office/powerpoint/2010/main" val="4239177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algn="r"/>
            <a:r>
              <a:rPr lang="en-US" sz="1400" dirty="0">
                <a:solidFill>
                  <a:srgbClr val="046A38"/>
                </a:solidFill>
                <a:latin typeface="Verdana" panose="020B0604030504040204" pitchFamily="34" charset="0"/>
                <a:ea typeface="Verdana" panose="020B0604030504040204" pitchFamily="34" charset="0"/>
                <a:cs typeface="Verdana" panose="020B0604030504040204" pitchFamily="34" charset="0"/>
              </a:rPr>
              <a:t>Our proposed team and their CVs</a:t>
            </a:r>
          </a:p>
        </p:txBody>
      </p:sp>
      <p:pic>
        <p:nvPicPr>
          <p:cNvPr id="11" name="Picture 10"/>
          <p:cNvPicPr/>
          <p:nvPr/>
        </p:nvPicPr>
        <p:blipFill rotWithShape="1">
          <a:blip r:embed="rId3">
            <a:extLst>
              <a:ext uri="{28A0092B-C50C-407E-A947-70E740481C1C}">
                <a14:useLocalDpi xmlns:a14="http://schemas.microsoft.com/office/drawing/2010/main" val="0"/>
              </a:ext>
            </a:extLst>
          </a:blip>
          <a:srcRect l="8000" r="12500" b="12000"/>
          <a:stretch/>
        </p:blipFill>
        <p:spPr bwMode="auto">
          <a:xfrm>
            <a:off x="420812" y="282571"/>
            <a:ext cx="1088648" cy="960666"/>
          </a:xfrm>
          <a:prstGeom prst="rect">
            <a:avLst/>
          </a:prstGeom>
          <a:ln>
            <a:noFill/>
          </a:ln>
          <a:extLst>
            <a:ext uri="{53640926-AAD7-44D8-BBD7-CCE9431645EC}">
              <a14:shadowObscured xmlns:a14="http://schemas.microsoft.com/office/drawing/2010/main"/>
            </a:ext>
          </a:extLst>
        </p:spPr>
      </p:pic>
      <p:sp>
        <p:nvSpPr>
          <p:cNvPr id="13" name="Rectangle 12"/>
          <p:cNvSpPr/>
          <p:nvPr/>
        </p:nvSpPr>
        <p:spPr>
          <a:xfrm>
            <a:off x="1509461" y="709911"/>
            <a:ext cx="5461226" cy="532197"/>
          </a:xfrm>
          <a:prstGeom prst="rect">
            <a:avLst/>
          </a:prstGeom>
        </p:spPr>
        <p:txBody>
          <a:bodyPr wrap="square">
            <a:spAutoFit/>
          </a:bodyPr>
          <a:lstStyle/>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Manet Paes - </a:t>
            </a:r>
            <a:r>
              <a:rPr lang="en-US" sz="1403" b="1" i="1" dirty="0">
                <a:solidFill>
                  <a:prstClr val="black"/>
                </a:solidFill>
                <a:latin typeface="Verdana" panose="020B0604030504040204" pitchFamily="34" charset="0"/>
                <a:ea typeface="Verdana" panose="020B0604030504040204" pitchFamily="34" charset="0"/>
                <a:cs typeface="Verdana" panose="020B0604030504040204" pitchFamily="34" charset="0"/>
              </a:rPr>
              <a:t>Advisor, Deloitte</a:t>
            </a:r>
          </a:p>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Airline Expert</a:t>
            </a:r>
          </a:p>
        </p:txBody>
      </p:sp>
      <p:sp>
        <p:nvSpPr>
          <p:cNvPr id="14" name="TextBox 13"/>
          <p:cNvSpPr txBox="1"/>
          <p:nvPr/>
        </p:nvSpPr>
        <p:spPr>
          <a:xfrm>
            <a:off x="319966" y="1244644"/>
            <a:ext cx="9627902" cy="830997"/>
          </a:xfrm>
          <a:prstGeom prst="rect">
            <a:avLst/>
          </a:prstGeom>
          <a:noFill/>
        </p:spPr>
        <p:txBody>
          <a:bodyPr wrap="square" rtlCol="0">
            <a:spAutoFit/>
          </a:bodyPr>
          <a:lstStyle/>
          <a:p>
            <a:pPr algn="just" defTabSz="801654">
              <a:spcAft>
                <a:spcPts val="526"/>
              </a:spcAft>
              <a:defRPr/>
            </a:pPr>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Manet Paes is an airline management expert with over 40 years of professional experience in the aviation industry. He has extensive experience in operations of airlines and has been responsible for planning and expansion of international and domestic route networks, assessing measures to improve regional air connectivity, marketing, branding and promotion activities, liaising with regulatory authorities and undertaking various training and capacity building activities for airlines </a:t>
            </a:r>
          </a:p>
        </p:txBody>
      </p:sp>
      <p:graphicFrame>
        <p:nvGraphicFramePr>
          <p:cNvPr id="19" name="Table 18"/>
          <p:cNvGraphicFramePr>
            <a:graphicFrameLocks noGrp="1"/>
          </p:cNvGraphicFramePr>
          <p:nvPr>
            <p:extLst>
              <p:ext uri="{D42A27DB-BD31-4B8C-83A1-F6EECF244321}">
                <p14:modId xmlns:p14="http://schemas.microsoft.com/office/powerpoint/2010/main" val="803720141"/>
              </p:ext>
            </p:extLst>
          </p:nvPr>
        </p:nvGraphicFramePr>
        <p:xfrm>
          <a:off x="420812" y="2055241"/>
          <a:ext cx="10019428" cy="5113771"/>
        </p:xfrm>
        <a:graphic>
          <a:graphicData uri="http://schemas.openxmlformats.org/drawingml/2006/table">
            <a:tbl>
              <a:tblPr firstRow="1" bandRow="1">
                <a:tableStyleId>{3B4B98B0-60AC-42C2-AFA5-B58CD77FA1E5}</a:tableStyleId>
              </a:tblPr>
              <a:tblGrid>
                <a:gridCol w="2790537">
                  <a:extLst>
                    <a:ext uri="{9D8B030D-6E8A-4147-A177-3AD203B41FA5}">
                      <a16:colId xmlns:a16="http://schemas.microsoft.com/office/drawing/2014/main" val="3236330501"/>
                    </a:ext>
                  </a:extLst>
                </a:gridCol>
                <a:gridCol w="7228891">
                  <a:extLst>
                    <a:ext uri="{9D8B030D-6E8A-4147-A177-3AD203B41FA5}">
                      <a16:colId xmlns:a16="http://schemas.microsoft.com/office/drawing/2014/main" val="3094567136"/>
                    </a:ext>
                  </a:extLst>
                </a:gridCol>
              </a:tblGrid>
              <a:tr h="234413">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872471">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Advising Indigo Airlines on its operations and route network development, marketing and promotion</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Responsibilities included providing inputs to Indigo on airline operations, especially on route network development, Distribution Network, Sales &amp; Marketing, Interline Strategy, preparing a network plan for the airline’s future international route network expansion, Indigo Brand, develop a distribution network and have market penetration in advance of start of flight operations</a:t>
                      </a:r>
                    </a:p>
                  </a:txBody>
                  <a:tcPr marL="80165" marR="80165" marT="40082" marB="40082"/>
                </a:tc>
                <a:extLst>
                  <a:ext uri="{0D108BD9-81ED-4DB2-BD59-A6C34878D82A}">
                    <a16:rowId xmlns:a16="http://schemas.microsoft.com/office/drawing/2014/main" val="288930065"/>
                  </a:ext>
                </a:extLst>
              </a:tr>
              <a:tr h="1032901">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Handling the operations Planning for an International Airlines Operator and helping it set up its operations in India</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Providing expertise on the Indian aviation industry, advising the airlines on developing a detailed framework to analyze the identified cities in terms of demographics, economic profile, tourism profile, aviation profile and potential for aviation growth, Suggesting proposed air routes through a detailed framework by covering the historic traffic on the route, capacity deployed, existing load factors, existing competition on the route and average yield</a:t>
                      </a:r>
                    </a:p>
                  </a:txBody>
                  <a:tcPr marL="80165" marR="80165" marT="40082" marB="40082"/>
                </a:tc>
                <a:extLst>
                  <a:ext uri="{0D108BD9-81ED-4DB2-BD59-A6C34878D82A}">
                    <a16:rowId xmlns:a16="http://schemas.microsoft.com/office/drawing/2014/main" val="557499652"/>
                  </a:ext>
                </a:extLst>
              </a:tr>
              <a:tr h="872471">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Managing the operations of Star Aviation</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Overall responsibility for Operations, Engineering, In-flight services, Ground Handling, Business Development, Marketing and Sales, Costing, Procurement &amp; Supply chain, HR, IT, and Catering departments, Oversee day to day operations of the airline to ensure on time performance and planned utilization of the resources, Responsible for compliance of various laws, rules, regulations and instructions applicable to the company</a:t>
                      </a:r>
                    </a:p>
                  </a:txBody>
                  <a:tcPr marL="80165" marR="80165" marT="40082" marB="40082"/>
                </a:tc>
                <a:extLst>
                  <a:ext uri="{0D108BD9-81ED-4DB2-BD59-A6C34878D82A}">
                    <a16:rowId xmlns:a16="http://schemas.microsoft.com/office/drawing/2014/main" val="1368420575"/>
                  </a:ext>
                </a:extLst>
              </a:tr>
              <a:tr h="872471">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Feasibility assessment of ground handling business and transaction advisory services for formation of SPVs/JVCs with AAICLAS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Helped in conducting stakeholder consultation with airlines, ground handlers and airports, feasibility study for ground handling business (this included providing revenue and cost side inputs for developing the financial model), in selecting airports (new markets) to enter in the ground handling business</a:t>
                      </a:r>
                    </a:p>
                  </a:txBody>
                  <a:tcPr marL="80165" marR="80165" marT="40082" marB="40082"/>
                </a:tc>
                <a:extLst>
                  <a:ext uri="{0D108BD9-81ED-4DB2-BD59-A6C34878D82A}">
                    <a16:rowId xmlns:a16="http://schemas.microsoft.com/office/drawing/2014/main" val="53076426"/>
                  </a:ext>
                </a:extLst>
              </a:tr>
              <a:tr h="712041">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Transaction Advisor for Operation Management &amp; Development of IGRUA</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Developed forecasts for future pilot demand by studying and understanding the pilot market, helped in analyzing the operations of IGRUA, capacity assessment, provided revenue and cost side inputs for developing financial models &amp; inputs for structuring the bid process.</a:t>
                      </a:r>
                    </a:p>
                  </a:txBody>
                  <a:tcPr marL="80165" marR="80165" marT="40082" marB="40082"/>
                </a:tc>
                <a:extLst>
                  <a:ext uri="{0D108BD9-81ED-4DB2-BD59-A6C34878D82A}">
                    <a16:rowId xmlns:a16="http://schemas.microsoft.com/office/drawing/2014/main" val="2741499122"/>
                  </a:ext>
                </a:extLst>
              </a:tr>
            </a:tbl>
          </a:graphicData>
        </a:graphic>
      </p:graphicFrame>
    </p:spTree>
    <p:extLst>
      <p:ext uri="{BB962C8B-B14F-4D97-AF65-F5344CB8AC3E}">
        <p14:creationId xmlns:p14="http://schemas.microsoft.com/office/powerpoint/2010/main" val="12421871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algn="r"/>
            <a:r>
              <a:rPr lang="en-US" sz="1400" dirty="0">
                <a:solidFill>
                  <a:srgbClr val="046A38"/>
                </a:solidFill>
                <a:latin typeface="Verdana" panose="020B0604030504040204" pitchFamily="34" charset="0"/>
                <a:ea typeface="Verdana" panose="020B0604030504040204" pitchFamily="34" charset="0"/>
                <a:cs typeface="Verdana" panose="020B0604030504040204" pitchFamily="34" charset="0"/>
              </a:rPr>
              <a:t>Our proposed team and their CVs</a:t>
            </a:r>
          </a:p>
        </p:txBody>
      </p:sp>
      <p:sp>
        <p:nvSpPr>
          <p:cNvPr id="6" name="Rectangle 5"/>
          <p:cNvSpPr/>
          <p:nvPr/>
        </p:nvSpPr>
        <p:spPr>
          <a:xfrm>
            <a:off x="1509458" y="690569"/>
            <a:ext cx="6316985" cy="532197"/>
          </a:xfrm>
          <a:prstGeom prst="rect">
            <a:avLst/>
          </a:prstGeom>
        </p:spPr>
        <p:txBody>
          <a:bodyPr wrap="square">
            <a:spAutoFit/>
          </a:bodyPr>
          <a:lstStyle/>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Daniel Ramos - </a:t>
            </a:r>
            <a:r>
              <a:rPr lang="en-US" sz="1403" b="1" i="1" dirty="0">
                <a:solidFill>
                  <a:prstClr val="black"/>
                </a:solidFill>
                <a:latin typeface="Verdana" panose="020B0604030504040204" pitchFamily="34" charset="0"/>
                <a:ea typeface="Verdana" panose="020B0604030504040204" pitchFamily="34" charset="0"/>
                <a:cs typeface="Verdana" panose="020B0604030504040204" pitchFamily="34" charset="0"/>
              </a:rPr>
              <a:t>Partner, Deloitte Spain</a:t>
            </a:r>
          </a:p>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International Aviation Expert – Will be leveraged as required</a:t>
            </a:r>
          </a:p>
        </p:txBody>
      </p:sp>
      <p:pic>
        <p:nvPicPr>
          <p:cNvPr id="7" name="Picture 6" descr="J:\Zabir\1.1 CVs, Referencias, Presentaciones\FOTOS EQUIPO\Ramos, Daniel\IMG_4988.JPG"/>
          <p:cNvPicPr/>
          <p:nvPr/>
        </p:nvPicPr>
        <p:blipFill rotWithShape="1">
          <a:blip r:embed="rId3" cstate="email">
            <a:extLst>
              <a:ext uri="{28A0092B-C50C-407E-A947-70E740481C1C}">
                <a14:useLocalDpi xmlns:a14="http://schemas.microsoft.com/office/drawing/2010/main"/>
              </a:ext>
            </a:extLst>
          </a:blip>
          <a:srcRect/>
          <a:stretch/>
        </p:blipFill>
        <p:spPr bwMode="auto">
          <a:xfrm>
            <a:off x="411983" y="364931"/>
            <a:ext cx="1097478" cy="881290"/>
          </a:xfrm>
          <a:prstGeom prst="rect">
            <a:avLst/>
          </a:prstGeom>
          <a:noFill/>
          <a:ln>
            <a:noFill/>
          </a:ln>
          <a:effectLst/>
          <a:extLst>
            <a:ext uri="{53640926-AAD7-44D8-BBD7-CCE9431645EC}">
              <a14:shadowObscured xmlns:a14="http://schemas.microsoft.com/office/drawing/2010/main"/>
            </a:ext>
          </a:extLst>
        </p:spPr>
      </p:pic>
      <p:sp>
        <p:nvSpPr>
          <p:cNvPr id="8" name="TextBox 7"/>
          <p:cNvSpPr txBox="1"/>
          <p:nvPr/>
        </p:nvSpPr>
        <p:spPr>
          <a:xfrm>
            <a:off x="331599" y="1246915"/>
            <a:ext cx="9513502" cy="1200329"/>
          </a:xfrm>
          <a:prstGeom prst="rect">
            <a:avLst/>
          </a:prstGeom>
          <a:noFill/>
        </p:spPr>
        <p:txBody>
          <a:bodyPr wrap="square" rtlCol="0">
            <a:spAutoFit/>
          </a:bodyPr>
          <a:lstStyle/>
          <a:p>
            <a:pPr algn="just" defTabSz="801654">
              <a:spcAft>
                <a:spcPts val="526"/>
              </a:spcAft>
              <a:defRPr/>
            </a:pPr>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Daniel is Aeronautical Engineer, specialized in Public Investment, formulation and evaluation of pre-investment feasibility studies in transport infrastructure projects. Having more than 19 years of experience as a strategic consultant at different high-profile international consultancy firms, he has led and coordinated numerous consulting and advisory projects worldwide. has built expertise in strategic advisory, transaction support, project structuring, demand analysis, traffic assessment, business planning/ re-engineering, financial modelling, network planning and route optimization, transaction advisory and demand estimation </a:t>
            </a:r>
          </a:p>
        </p:txBody>
      </p:sp>
      <p:graphicFrame>
        <p:nvGraphicFramePr>
          <p:cNvPr id="10" name="Table 9"/>
          <p:cNvGraphicFramePr>
            <a:graphicFrameLocks noGrp="1"/>
          </p:cNvGraphicFramePr>
          <p:nvPr>
            <p:extLst>
              <p:ext uri="{D42A27DB-BD31-4B8C-83A1-F6EECF244321}">
                <p14:modId xmlns:p14="http://schemas.microsoft.com/office/powerpoint/2010/main" val="2897290723"/>
              </p:ext>
            </p:extLst>
          </p:nvPr>
        </p:nvGraphicFramePr>
        <p:xfrm>
          <a:off x="411983" y="2479091"/>
          <a:ext cx="10028257" cy="4668844"/>
        </p:xfrm>
        <a:graphic>
          <a:graphicData uri="http://schemas.openxmlformats.org/drawingml/2006/table">
            <a:tbl>
              <a:tblPr firstRow="1" bandRow="1">
                <a:tableStyleId>{3B4B98B0-60AC-42C2-AFA5-B58CD77FA1E5}</a:tableStyleId>
              </a:tblPr>
              <a:tblGrid>
                <a:gridCol w="3590319">
                  <a:extLst>
                    <a:ext uri="{9D8B030D-6E8A-4147-A177-3AD203B41FA5}">
                      <a16:colId xmlns:a16="http://schemas.microsoft.com/office/drawing/2014/main" val="3236330501"/>
                    </a:ext>
                  </a:extLst>
                </a:gridCol>
                <a:gridCol w="6437938">
                  <a:extLst>
                    <a:ext uri="{9D8B030D-6E8A-4147-A177-3AD203B41FA5}">
                      <a16:colId xmlns:a16="http://schemas.microsoft.com/office/drawing/2014/main" val="3094567136"/>
                    </a:ext>
                  </a:extLst>
                </a:gridCol>
              </a:tblGrid>
              <a:tr h="267216">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56115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Transaction support and technical, financial and legal structuring of the AIESMOARG Cargo Terminal</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Involved in Review of the technical feasibility studies, Financial structuring and modelling of the project and Tender documentation and PPP Contract elaboration</a:t>
                      </a:r>
                    </a:p>
                  </a:txBody>
                  <a:tcPr marL="80165" marR="80165" marT="40082" marB="40082"/>
                </a:tc>
                <a:extLst>
                  <a:ext uri="{0D108BD9-81ED-4DB2-BD59-A6C34878D82A}">
                    <a16:rowId xmlns:a16="http://schemas.microsoft.com/office/drawing/2014/main" val="288930065"/>
                  </a:ext>
                </a:extLst>
              </a:tr>
              <a:tr h="561153">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Route development study to enhance the connectivity between La Aurora Airport and five domestic Guatemalan airports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Involved in Demand analysis, for the domestic transportation, Review of the aeronautical and commercial infrastructure, Identification of the critical investments, Development of an Indicative Business Plan</a:t>
                      </a:r>
                    </a:p>
                  </a:txBody>
                  <a:tcPr marL="80165" marR="80165" marT="40082" marB="40082"/>
                </a:tc>
                <a:extLst>
                  <a:ext uri="{0D108BD9-81ED-4DB2-BD59-A6C34878D82A}">
                    <a16:rowId xmlns:a16="http://schemas.microsoft.com/office/drawing/2014/main" val="557499652"/>
                  </a:ext>
                </a:extLst>
              </a:tr>
              <a:tr h="56115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Technical and Financial Structuring of Silvio Pettirossi International Airport PPP</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Involved in Development of a new traffic and demand projection model, Integration and completion of the Business Model, Aero and Non-aero revenue analysis and forecast, Financial structuring and economic study</a:t>
                      </a:r>
                      <a:endParaRPr kumimoji="0" lang="en-GB"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1368420575"/>
                  </a:ext>
                </a:extLst>
              </a:tr>
              <a:tr h="400824">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Assistance in the startup management of Castellon Airport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Involved </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 Structuring of the concession, financial plan, investment plan, business plan and traffic forecasts and Assistance in certification and start-up process of the Airport</a:t>
                      </a:r>
                    </a:p>
                  </a:txBody>
                  <a:tcPr marL="80165" marR="80165" marT="40082" marB="40082"/>
                </a:tc>
                <a:extLst>
                  <a:ext uri="{0D108BD9-81ED-4DB2-BD59-A6C34878D82A}">
                    <a16:rowId xmlns:a16="http://schemas.microsoft.com/office/drawing/2014/main" val="53076426"/>
                  </a:ext>
                </a:extLst>
              </a:tr>
              <a:tr h="561153">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Preparation of the cargo/handling Business Model in the F. Chopin Warsaw Airport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Involved in Spatial concept for development of cargo infrastructure, Analysis of PPL scope of involvement in the cargo business, Action plans for executing cargo infrastructure development </a:t>
                      </a:r>
                    </a:p>
                  </a:txBody>
                  <a:tcPr marL="80165" marR="80165" marT="40082" marB="40082"/>
                </a:tc>
                <a:extLst>
                  <a:ext uri="{0D108BD9-81ED-4DB2-BD59-A6C34878D82A}">
                    <a16:rowId xmlns:a16="http://schemas.microsoft.com/office/drawing/2014/main" val="4283971479"/>
                  </a:ext>
                </a:extLst>
              </a:tr>
              <a:tr h="400824">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Preparation of the strategy for 'Polish Airports’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Involved in Market analysis and competitive landscape analysis, Formulating growth strategies and strategic priorities and Preparation of company business and financial plan</a:t>
                      </a:r>
                    </a:p>
                  </a:txBody>
                  <a:tcPr marL="80165" marR="80165" marT="40082" marB="40082"/>
                </a:tc>
                <a:extLst>
                  <a:ext uri="{0D108BD9-81ED-4DB2-BD59-A6C34878D82A}">
                    <a16:rowId xmlns:a16="http://schemas.microsoft.com/office/drawing/2014/main" val="1468369653"/>
                  </a:ext>
                </a:extLst>
              </a:tr>
              <a:tr h="561153">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Preparation and update of the Master Development Program (Master Plan) for Mexico City International Airport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Involved in Infrastructure, operation conditions &amp; air traffic analysis, Demand analysis and forecasting and Economic and financial evaluation</a:t>
                      </a:r>
                    </a:p>
                  </a:txBody>
                  <a:tcPr marL="80165" marR="80165" marT="40082" marB="40082"/>
                </a:tc>
                <a:extLst>
                  <a:ext uri="{0D108BD9-81ED-4DB2-BD59-A6C34878D82A}">
                    <a16:rowId xmlns:a16="http://schemas.microsoft.com/office/drawing/2014/main" val="3028656512"/>
                  </a:ext>
                </a:extLst>
              </a:tr>
            </a:tbl>
          </a:graphicData>
        </a:graphic>
      </p:graphicFrame>
    </p:spTree>
    <p:extLst>
      <p:ext uri="{BB962C8B-B14F-4D97-AF65-F5344CB8AC3E}">
        <p14:creationId xmlns:p14="http://schemas.microsoft.com/office/powerpoint/2010/main" val="2875760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algn="r"/>
            <a:r>
              <a:rPr lang="en-US" sz="1400" dirty="0">
                <a:solidFill>
                  <a:srgbClr val="046A38"/>
                </a:solidFill>
                <a:latin typeface="Verdana" panose="020B0604030504040204" pitchFamily="34" charset="0"/>
                <a:ea typeface="Verdana" panose="020B0604030504040204" pitchFamily="34" charset="0"/>
                <a:cs typeface="Verdana" panose="020B0604030504040204" pitchFamily="34" charset="0"/>
              </a:rPr>
              <a:t>Our proposed team and their CVs</a:t>
            </a:r>
          </a:p>
        </p:txBody>
      </p:sp>
      <p:sp>
        <p:nvSpPr>
          <p:cNvPr id="6" name="Rectangle 5"/>
          <p:cNvSpPr/>
          <p:nvPr/>
        </p:nvSpPr>
        <p:spPr>
          <a:xfrm>
            <a:off x="1509460" y="684433"/>
            <a:ext cx="5461226" cy="532197"/>
          </a:xfrm>
          <a:prstGeom prst="rect">
            <a:avLst/>
          </a:prstGeom>
        </p:spPr>
        <p:txBody>
          <a:bodyPr wrap="square">
            <a:spAutoFit/>
          </a:bodyPr>
          <a:lstStyle/>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Robey Lal - </a:t>
            </a:r>
            <a:r>
              <a:rPr lang="en-US" sz="1403" b="1" i="1" dirty="0">
                <a:solidFill>
                  <a:prstClr val="black"/>
                </a:solidFill>
                <a:latin typeface="Verdana" panose="020B0604030504040204" pitchFamily="34" charset="0"/>
                <a:ea typeface="Verdana" panose="020B0604030504040204" pitchFamily="34" charset="0"/>
                <a:cs typeface="Verdana" panose="020B0604030504040204" pitchFamily="34" charset="0"/>
              </a:rPr>
              <a:t>Advisor, Deloitte</a:t>
            </a:r>
          </a:p>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Airport Planning and Operations Expert</a:t>
            </a:r>
          </a:p>
        </p:txBody>
      </p:sp>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97543" y="324962"/>
            <a:ext cx="1113355" cy="915372"/>
          </a:xfrm>
          <a:prstGeom prst="rect">
            <a:avLst/>
          </a:prstGeom>
        </p:spPr>
      </p:pic>
      <p:sp>
        <p:nvSpPr>
          <p:cNvPr id="8" name="TextBox 7"/>
          <p:cNvSpPr txBox="1"/>
          <p:nvPr/>
        </p:nvSpPr>
        <p:spPr>
          <a:xfrm>
            <a:off x="319965" y="1240334"/>
            <a:ext cx="9525135" cy="1015663"/>
          </a:xfrm>
          <a:prstGeom prst="rect">
            <a:avLst/>
          </a:prstGeom>
          <a:noFill/>
        </p:spPr>
        <p:txBody>
          <a:bodyPr wrap="square" rtlCol="0">
            <a:spAutoFit/>
          </a:bodyPr>
          <a:lstStyle/>
          <a:p>
            <a:pPr algn="just" defTabSz="801654">
              <a:spcAft>
                <a:spcPts val="526"/>
              </a:spcAft>
              <a:defRPr/>
            </a:pPr>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Robey has over four decades of airport sector experience and nearly 14 years of international consulting experience in Airport Planning, Design, Operations, and performance reviews. He is a former Board Member with the Airports Authority (AAI) of India for 5 years and held responsibilities for Operations of AAI airports ~ 122 airports. Prior to that he was a Board Member with responsibilities of Engineering &amp; Planning with erstwhile International Airports Authority of India (IAAI). Robey was IATA Country Manager, where he represented airlines on varied issues to the Government and airports</a:t>
            </a:r>
          </a:p>
        </p:txBody>
      </p:sp>
      <p:graphicFrame>
        <p:nvGraphicFramePr>
          <p:cNvPr id="10" name="Table 9"/>
          <p:cNvGraphicFramePr>
            <a:graphicFrameLocks noGrp="1"/>
          </p:cNvGraphicFramePr>
          <p:nvPr>
            <p:extLst>
              <p:ext uri="{D42A27DB-BD31-4B8C-83A1-F6EECF244321}">
                <p14:modId xmlns:p14="http://schemas.microsoft.com/office/powerpoint/2010/main" val="3924868440"/>
              </p:ext>
            </p:extLst>
          </p:nvPr>
        </p:nvGraphicFramePr>
        <p:xfrm>
          <a:off x="419847" y="2310892"/>
          <a:ext cx="10020393" cy="4851724"/>
        </p:xfrm>
        <a:graphic>
          <a:graphicData uri="http://schemas.openxmlformats.org/drawingml/2006/table">
            <a:tbl>
              <a:tblPr firstRow="1" bandRow="1">
                <a:tableStyleId>{3B4B98B0-60AC-42C2-AFA5-B58CD77FA1E5}</a:tableStyleId>
              </a:tblPr>
              <a:tblGrid>
                <a:gridCol w="3016689">
                  <a:extLst>
                    <a:ext uri="{9D8B030D-6E8A-4147-A177-3AD203B41FA5}">
                      <a16:colId xmlns:a16="http://schemas.microsoft.com/office/drawing/2014/main" val="3236330501"/>
                    </a:ext>
                  </a:extLst>
                </a:gridCol>
                <a:gridCol w="7003704">
                  <a:extLst>
                    <a:ext uri="{9D8B030D-6E8A-4147-A177-3AD203B41FA5}">
                      <a16:colId xmlns:a16="http://schemas.microsoft.com/office/drawing/2014/main" val="3094567136"/>
                    </a:ext>
                  </a:extLst>
                </a:gridCol>
              </a:tblGrid>
              <a:tr h="267216">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72148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Board Member (Operations) at Airports Authority of India</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Responsible for administration of all aspects of operation and management of airport in the AAI System (122 Airports) including Assessing IAAI’s SWOT status, then relating Traffic forecasts with development plans of 5 major airports, preparing major Capex and Opex development estimates on 5-year and annual  development plans, incl. manpower strengths</a:t>
                      </a:r>
                    </a:p>
                  </a:txBody>
                  <a:tcPr marL="80165" marR="80165" marT="40082" marB="40082"/>
                </a:tc>
                <a:extLst>
                  <a:ext uri="{0D108BD9-81ED-4DB2-BD59-A6C34878D82A}">
                    <a16:rowId xmlns:a16="http://schemas.microsoft.com/office/drawing/2014/main" val="288930065"/>
                  </a:ext>
                </a:extLst>
              </a:tr>
              <a:tr h="400824">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Board Member (Planning  &amp; Engineering) of erstwhile IAAI</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Tasked with preparation and implementation of Annual Budgets and 5 year (Medium Term) Plan budgets for maintenance and capital works for IAAI</a:t>
                      </a:r>
                    </a:p>
                  </a:txBody>
                  <a:tcPr marL="80165" marR="80165" marT="40082" marB="40082"/>
                </a:tc>
                <a:extLst>
                  <a:ext uri="{0D108BD9-81ED-4DB2-BD59-A6C34878D82A}">
                    <a16:rowId xmlns:a16="http://schemas.microsoft.com/office/drawing/2014/main" val="557499652"/>
                  </a:ext>
                </a:extLst>
              </a:tr>
              <a:tr h="72148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Advised Bharti Enterprises &amp; Changi Airport Consortium for their bid for PPP proposal for Mumbai and Delhi Airports </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Involved as a part of the IATA Airport Consultative Committee (ACC) in reviews of Mumbai International Airport which involved evaluating the development proposals of the Master Plans prepared by the PPP concessionaire.</a:t>
                      </a:r>
                    </a:p>
                  </a:txBody>
                  <a:tcPr marL="80165" marR="80165" marT="40082" marB="40082"/>
                </a:tc>
                <a:extLst>
                  <a:ext uri="{0D108BD9-81ED-4DB2-BD59-A6C34878D82A}">
                    <a16:rowId xmlns:a16="http://schemas.microsoft.com/office/drawing/2014/main" val="1368420575"/>
                  </a:ext>
                </a:extLst>
              </a:tr>
              <a:tr h="561153">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Undertaking due diligence, review and inspection of the airport passenger and cargo terminal</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Covered all ancillary buildings, pavements, services and utilities and safety provisions at Senai Airport, Johor Baru, Malaysia.</a:t>
                      </a:r>
                    </a:p>
                  </a:txBody>
                  <a:tcPr marL="80165" marR="80165" marT="40082" marB="40082"/>
                </a:tc>
                <a:extLst>
                  <a:ext uri="{0D108BD9-81ED-4DB2-BD59-A6C34878D82A}">
                    <a16:rowId xmlns:a16="http://schemas.microsoft.com/office/drawing/2014/main" val="53076426"/>
                  </a:ext>
                </a:extLst>
              </a:tr>
              <a:tr h="561153">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Provided</a:t>
                      </a:r>
                      <a:r>
                        <a:rPr lang="en-US" sz="1200" b="0" baseline="0" dirty="0">
                          <a:latin typeface="Verdana" panose="020B0604030504040204" pitchFamily="34" charset="0"/>
                          <a:ea typeface="Verdana" panose="020B0604030504040204" pitchFamily="34" charset="0"/>
                          <a:cs typeface="Verdana" panose="020B0604030504040204" pitchFamily="34" charset="0"/>
                        </a:rPr>
                        <a:t> i</a:t>
                      </a:r>
                      <a:r>
                        <a:rPr lang="en-US" sz="1200" b="0" dirty="0">
                          <a:latin typeface="Verdana" panose="020B0604030504040204" pitchFamily="34" charset="0"/>
                          <a:ea typeface="Verdana" panose="020B0604030504040204" pitchFamily="34" charset="0"/>
                          <a:cs typeface="Verdana" panose="020B0604030504040204" pitchFamily="34" charset="0"/>
                        </a:rPr>
                        <a:t>nputs for developing policy on serving growth of Air Cargo in India</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Forecasting or estimating demand of international and domestic air cargo traffic for 20 years, Identifying procedural and regulatory bottlenecks in facilitation of international and domestic air cargo airports and recommending policy development and regulatory improvements</a:t>
                      </a:r>
                    </a:p>
                  </a:txBody>
                  <a:tcPr marL="80165" marR="80165" marT="40082" marB="40082"/>
                </a:tc>
                <a:extLst>
                  <a:ext uri="{0D108BD9-81ED-4DB2-BD59-A6C34878D82A}">
                    <a16:rowId xmlns:a16="http://schemas.microsoft.com/office/drawing/2014/main" val="4283971479"/>
                  </a:ext>
                </a:extLst>
              </a:tr>
              <a:tr h="561153">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Assisted AERA in the development of Minimum Performance Specifications and Standards (MPSS)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Managed operation and maintenance of the major airports in India including 5 airports in PPP mode.</a:t>
                      </a:r>
                    </a:p>
                  </a:txBody>
                  <a:tcPr marL="80165" marR="80165" marT="40082" marB="40082"/>
                </a:tc>
                <a:extLst>
                  <a:ext uri="{0D108BD9-81ED-4DB2-BD59-A6C34878D82A}">
                    <a16:rowId xmlns:a16="http://schemas.microsoft.com/office/drawing/2014/main" val="2741499122"/>
                  </a:ext>
                </a:extLst>
              </a:tr>
              <a:tr h="240494">
                <a:tc>
                  <a:txBody>
                    <a:bodyPr/>
                    <a:lstStyle/>
                    <a:p>
                      <a:r>
                        <a:rPr lang="en-IN" sz="1200" b="0" dirty="0">
                          <a:latin typeface="Verdana" panose="020B0604030504040204" pitchFamily="34" charset="0"/>
                          <a:ea typeface="Verdana" panose="020B0604030504040204" pitchFamily="34" charset="0"/>
                          <a:cs typeface="Verdana" panose="020B0604030504040204" pitchFamily="34" charset="0"/>
                        </a:rPr>
                        <a:t>ICAO consultant in Philippines</a:t>
                      </a: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Responsible for review of Master Plan and architectural designs for number of airports</a:t>
                      </a:r>
                    </a:p>
                  </a:txBody>
                  <a:tcPr marL="80165" marR="80165" marT="40082" marB="40082"/>
                </a:tc>
                <a:extLst>
                  <a:ext uri="{0D108BD9-81ED-4DB2-BD59-A6C34878D82A}">
                    <a16:rowId xmlns:a16="http://schemas.microsoft.com/office/drawing/2014/main" val="191665209"/>
                  </a:ext>
                </a:extLst>
              </a:tr>
            </a:tbl>
          </a:graphicData>
        </a:graphic>
      </p:graphicFrame>
    </p:spTree>
    <p:extLst>
      <p:ext uri="{BB962C8B-B14F-4D97-AF65-F5344CB8AC3E}">
        <p14:creationId xmlns:p14="http://schemas.microsoft.com/office/powerpoint/2010/main" val="3170523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marL="0" marR="0" lvl="0" indent="0" algn="r" defTabSz="104287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46A38"/>
                </a:solidFill>
                <a:effectLst/>
                <a:uLnTx/>
                <a:uFillTx/>
                <a:latin typeface="Verdana" panose="020B0604030504040204" pitchFamily="34" charset="0"/>
                <a:ea typeface="Verdana" panose="020B0604030504040204" pitchFamily="34" charset="0"/>
                <a:cs typeface="Verdana" panose="020B0604030504040204" pitchFamily="34" charset="0"/>
              </a:rPr>
              <a:t>Our proposed team and their CVs</a:t>
            </a:r>
          </a:p>
        </p:txBody>
      </p:sp>
      <p:sp>
        <p:nvSpPr>
          <p:cNvPr id="10" name="Rectangle 9"/>
          <p:cNvSpPr/>
          <p:nvPr/>
        </p:nvSpPr>
        <p:spPr>
          <a:xfrm>
            <a:off x="1546290" y="700302"/>
            <a:ext cx="5461226" cy="532197"/>
          </a:xfrm>
          <a:prstGeom prst="rect">
            <a:avLst/>
          </a:prstGeom>
        </p:spPr>
        <p:txBody>
          <a:bodyPr wrap="square">
            <a:spAutoFit/>
          </a:bodyPr>
          <a:lstStyle/>
          <a:p>
            <a:pPr marL="0" marR="0" lvl="1" indent="0" algn="l" defTabSz="839232" rtl="0" eaLnBrk="1" fontAlgn="base" latinLnBrk="0" hangingPunct="1">
              <a:lnSpc>
                <a:spcPct val="90000"/>
              </a:lnSpc>
              <a:spcBef>
                <a:spcPts val="351"/>
              </a:spcBef>
              <a:spcAft>
                <a:spcPts val="0"/>
              </a:spcAft>
              <a:buClrTx/>
              <a:buSzTx/>
              <a:buFontTx/>
              <a:buNone/>
              <a:tabLst/>
              <a:defRPr/>
            </a:pPr>
            <a:r>
              <a:rPr kumimoji="0" lang="en-US" sz="1403"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Kartik Sood– </a:t>
            </a:r>
            <a:r>
              <a:rPr kumimoji="0" lang="en-US" sz="1403" b="1" i="1"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Senior</a:t>
            </a:r>
            <a:r>
              <a:rPr kumimoji="0" lang="en-US" sz="1403"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1403" b="1" i="1"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Manager, Deloitte</a:t>
            </a:r>
          </a:p>
          <a:p>
            <a:pPr marL="0" marR="0" lvl="1" indent="0" algn="l" defTabSz="839232" rtl="0" eaLnBrk="1" fontAlgn="base" latinLnBrk="0" hangingPunct="1">
              <a:lnSpc>
                <a:spcPct val="90000"/>
              </a:lnSpc>
              <a:spcBef>
                <a:spcPts val="351"/>
              </a:spcBef>
              <a:spcAft>
                <a:spcPts val="0"/>
              </a:spcAft>
              <a:buClrTx/>
              <a:buSzTx/>
              <a:buFontTx/>
              <a:buNone/>
              <a:tabLst/>
              <a:defRPr/>
            </a:pPr>
            <a:r>
              <a:rPr kumimoji="0" lang="en-US" sz="1403"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Business Planning</a:t>
            </a:r>
            <a:r>
              <a:rPr kumimoji="0" lang="en-US" sz="1403" b="1" i="0" u="none" strike="noStrike" kern="1200" cap="none" spc="0" normalizeH="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1403" b="1"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Expert</a:t>
            </a:r>
          </a:p>
        </p:txBody>
      </p:sp>
      <p:sp>
        <p:nvSpPr>
          <p:cNvPr id="17" name="TextBox 16"/>
          <p:cNvSpPr txBox="1"/>
          <p:nvPr/>
        </p:nvSpPr>
        <p:spPr>
          <a:xfrm>
            <a:off x="319966" y="1266317"/>
            <a:ext cx="9469012" cy="830997"/>
          </a:xfrm>
          <a:prstGeom prst="rect">
            <a:avLst/>
          </a:prstGeom>
          <a:noFill/>
        </p:spPr>
        <p:txBody>
          <a:bodyPr wrap="square" rtlCol="0">
            <a:spAutoFit/>
          </a:bodyPr>
          <a:lstStyle/>
          <a:p>
            <a:pPr marL="0" marR="0" lvl="0" indent="0" algn="just" defTabSz="801654" rtl="0" eaLnBrk="1" fontAlgn="auto" latinLnBrk="0" hangingPunct="1">
              <a:lnSpc>
                <a:spcPct val="100000"/>
              </a:lnSpc>
              <a:spcBef>
                <a:spcPts val="0"/>
              </a:spcBef>
              <a:spcAft>
                <a:spcPts val="526"/>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Kartik specializes in business transformation, process improvements, business and corporate planning, risk management, stakeholder engagement, and effective change and contract management and has built expertise in financial feasibility studies, business planning/ re-engineering, demand estimation, project structuring, financial modelling, PPP transaction advisory, network planning and route optimization, transaction advisory</a:t>
            </a: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8" name="Table 17"/>
          <p:cNvGraphicFramePr>
            <a:graphicFrameLocks noGrp="1"/>
          </p:cNvGraphicFramePr>
          <p:nvPr/>
        </p:nvGraphicFramePr>
        <p:xfrm>
          <a:off x="410400" y="2120763"/>
          <a:ext cx="10029839" cy="5239545"/>
        </p:xfrm>
        <a:graphic>
          <a:graphicData uri="http://schemas.openxmlformats.org/drawingml/2006/table">
            <a:tbl>
              <a:tblPr firstRow="1" bandRow="1">
                <a:tableStyleId>{3B4B98B0-60AC-42C2-AFA5-B58CD77FA1E5}</a:tableStyleId>
              </a:tblPr>
              <a:tblGrid>
                <a:gridCol w="2802523">
                  <a:extLst>
                    <a:ext uri="{9D8B030D-6E8A-4147-A177-3AD203B41FA5}">
                      <a16:colId xmlns:a16="http://schemas.microsoft.com/office/drawing/2014/main" val="3236330501"/>
                    </a:ext>
                  </a:extLst>
                </a:gridCol>
                <a:gridCol w="7227316">
                  <a:extLst>
                    <a:ext uri="{9D8B030D-6E8A-4147-A177-3AD203B41FA5}">
                      <a16:colId xmlns:a16="http://schemas.microsoft.com/office/drawing/2014/main" val="3094567136"/>
                    </a:ext>
                  </a:extLst>
                </a:gridCol>
              </a:tblGrid>
              <a:tr h="260699">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583326">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PPP Transaction Advisory for Operation and Maintenance of Iloilo, Davao and Bacolod Airports, Philippines </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Developing the business case including traffic projections to assess development requirement, preparation of financial model,</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undertook consultations with airlines to seek inputs on traffic projections,</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studied aspects such as accounting for concession by private sector, impact of direct/indirect taxes</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on the financial viability of the project</a:t>
                      </a:r>
                    </a:p>
                  </a:txBody>
                  <a:tcPr marL="80165" marR="80165" marT="40082" marB="40082"/>
                </a:tc>
                <a:extLst>
                  <a:ext uri="{0D108BD9-81ED-4DB2-BD59-A6C34878D82A}">
                    <a16:rowId xmlns:a16="http://schemas.microsoft.com/office/drawing/2014/main" val="1636450764"/>
                  </a:ext>
                </a:extLst>
              </a:tr>
              <a:tr h="583326">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PPP Transaction Advisory Services for the Laguindingan Airport Development (O&amp;M)</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Developing the Business Case, preparation of a detailed financial model to assess the viability of the project, including revenue and costs estimation and preparation of financing plans and consultations with banks for assessing interests in funding the project. </a:t>
                      </a:r>
                    </a:p>
                  </a:txBody>
                  <a:tcPr marL="80165" marR="80165" marT="40082" marB="40082"/>
                </a:tc>
                <a:extLst>
                  <a:ext uri="{0D108BD9-81ED-4DB2-BD59-A6C34878D82A}">
                    <a16:rowId xmlns:a16="http://schemas.microsoft.com/office/drawing/2014/main" val="288930065"/>
                  </a:ext>
                </a:extLst>
              </a:tr>
              <a:tr h="655037">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Preparation of Project report for Nellore Airport</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tab pos="457200" algn="l"/>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Involved in undertaking market assessment and traffic estimates, estimating non-aeronautical revenues, reviewing concession agreement for project report, incorporating airport master plan details in the financial analysis and project report and undertaking financial assessment of the project</a:t>
                      </a:r>
                    </a:p>
                  </a:txBody>
                  <a:tcPr marL="80165" marR="80165" marT="40082" marB="40082"/>
                </a:tc>
                <a:extLst>
                  <a:ext uri="{0D108BD9-81ED-4DB2-BD59-A6C34878D82A}">
                    <a16:rowId xmlns:a16="http://schemas.microsoft.com/office/drawing/2014/main" val="3267256684"/>
                  </a:ext>
                </a:extLst>
              </a:tr>
              <a:tr h="655037">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Business Plan and Financial Analysis for a start-up airline in India</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Led the team in preparing a business plan for a start-up airline proposing to commence airline operations in India</a:t>
                      </a:r>
                      <a:r>
                        <a:rPr lang="en-US" sz="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 </a:t>
                      </a: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including review of the proposed routes, undertaking financial feasibility, assessment of taxation applicable and assessment of financing requirements</a:t>
                      </a:r>
                    </a:p>
                  </a:txBody>
                  <a:tcPr marL="80165" marR="80165" marT="40082" marB="40082"/>
                </a:tc>
                <a:extLst>
                  <a:ext uri="{0D108BD9-81ED-4DB2-BD59-A6C34878D82A}">
                    <a16:rowId xmlns:a16="http://schemas.microsoft.com/office/drawing/2014/main" val="557499652"/>
                  </a:ext>
                </a:extLst>
              </a:tr>
              <a:tr h="585260">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Performance assessment for top 10 AAI airports</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Involved in Benchmarking of cargo revenues and operations, Analysis of air cargo trade flow &amp; infrastructure/process gaps and Identification of key interventions including target commodities and infrastructure</a:t>
                      </a:r>
                    </a:p>
                  </a:txBody>
                  <a:tcPr marL="80165" marR="80165" marT="40082" marB="40082"/>
                </a:tc>
                <a:extLst>
                  <a:ext uri="{0D108BD9-81ED-4DB2-BD59-A6C34878D82A}">
                    <a16:rowId xmlns:a16="http://schemas.microsoft.com/office/drawing/2014/main" val="1728975025"/>
                  </a:ext>
                </a:extLst>
              </a:tr>
              <a:tr h="752979">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Consultancy cum Transaction advisory services for Operations, Management and Development of IGRUA</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Conducted As-Is assessment of market and undertook regulatory assessment along with project structuring exercise including risk assessment, financial modelling and feasibility analysis</a:t>
                      </a:r>
                    </a:p>
                  </a:txBody>
                  <a:tcPr marL="80165" marR="80165" marT="40082" marB="40082"/>
                </a:tc>
                <a:extLst>
                  <a:ext uri="{0D108BD9-81ED-4DB2-BD59-A6C34878D82A}">
                    <a16:rowId xmlns:a16="http://schemas.microsoft.com/office/drawing/2014/main" val="1368420575"/>
                  </a:ext>
                </a:extLst>
              </a:tr>
              <a:tr h="413672">
                <a:tc>
                  <a:txBody>
                    <a:bodyPr/>
                    <a:lstStyle/>
                    <a:p>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Assessment of SPVs/JVCs with AAICLAS to provide ground handling (GH) services in India</a:t>
                      </a:r>
                      <a:endParaRPr lang="en-IN" sz="1200" b="0" dirty="0">
                        <a:solidFill>
                          <a:schemeClr val="tx1"/>
                        </a:solidFill>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Involved in Feasibility analysis of setting up a JV company, Assessing synergies of bundling cargo and GH business and Assessment of strategic, economic and financial benefits</a:t>
                      </a:r>
                    </a:p>
                  </a:txBody>
                  <a:tcPr marL="80165" marR="80165" marT="40082" marB="40082"/>
                </a:tc>
                <a:extLst>
                  <a:ext uri="{0D108BD9-81ED-4DB2-BD59-A6C34878D82A}">
                    <a16:rowId xmlns:a16="http://schemas.microsoft.com/office/drawing/2014/main" val="53076426"/>
                  </a:ext>
                </a:extLst>
              </a:tr>
            </a:tbl>
          </a:graphicData>
        </a:graphic>
      </p:graphicFrame>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400" y="160802"/>
            <a:ext cx="1107829" cy="1080033"/>
          </a:xfrm>
          <a:prstGeom prst="rect">
            <a:avLst/>
          </a:prstGeom>
        </p:spPr>
      </p:pic>
    </p:spTree>
    <p:extLst>
      <p:ext uri="{BB962C8B-B14F-4D97-AF65-F5344CB8AC3E}">
        <p14:creationId xmlns:p14="http://schemas.microsoft.com/office/powerpoint/2010/main" val="564766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algn="r"/>
            <a:r>
              <a:rPr lang="en-US" sz="1400" dirty="0">
                <a:solidFill>
                  <a:srgbClr val="046A38"/>
                </a:solidFill>
                <a:latin typeface="Verdana" panose="020B0604030504040204" pitchFamily="34" charset="0"/>
                <a:ea typeface="Verdana" panose="020B0604030504040204" pitchFamily="34" charset="0"/>
                <a:cs typeface="Verdana" panose="020B0604030504040204" pitchFamily="34" charset="0"/>
              </a:rPr>
              <a:t>Our proposed team and their CVs</a:t>
            </a:r>
          </a:p>
        </p:txBody>
      </p:sp>
      <p:sp>
        <p:nvSpPr>
          <p:cNvPr id="6" name="Rectangle 5"/>
          <p:cNvSpPr/>
          <p:nvPr/>
        </p:nvSpPr>
        <p:spPr>
          <a:xfrm>
            <a:off x="1503576" y="694349"/>
            <a:ext cx="5461226" cy="532197"/>
          </a:xfrm>
          <a:prstGeom prst="rect">
            <a:avLst/>
          </a:prstGeom>
        </p:spPr>
        <p:txBody>
          <a:bodyPr wrap="square">
            <a:spAutoFit/>
          </a:bodyPr>
          <a:lstStyle/>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Sourav Saha – </a:t>
            </a:r>
            <a:r>
              <a:rPr lang="en-US" sz="1403" b="1" i="1" dirty="0">
                <a:solidFill>
                  <a:prstClr val="black"/>
                </a:solidFill>
                <a:latin typeface="Verdana" panose="020B0604030504040204" pitchFamily="34" charset="0"/>
                <a:ea typeface="Verdana" panose="020B0604030504040204" pitchFamily="34" charset="0"/>
                <a:cs typeface="Verdana" panose="020B0604030504040204" pitchFamily="34" charset="0"/>
              </a:rPr>
              <a:t>Senior Consultant, Deloitte</a:t>
            </a:r>
          </a:p>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Airline Expert</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079" y="211014"/>
            <a:ext cx="1071498" cy="1026709"/>
          </a:xfrm>
          <a:prstGeom prst="rect">
            <a:avLst/>
          </a:prstGeom>
        </p:spPr>
      </p:pic>
      <p:sp>
        <p:nvSpPr>
          <p:cNvPr id="8" name="TextBox 7"/>
          <p:cNvSpPr txBox="1"/>
          <p:nvPr/>
        </p:nvSpPr>
        <p:spPr>
          <a:xfrm>
            <a:off x="348027" y="1259862"/>
            <a:ext cx="9497073" cy="830997"/>
          </a:xfrm>
          <a:prstGeom prst="rect">
            <a:avLst/>
          </a:prstGeom>
          <a:noFill/>
        </p:spPr>
        <p:txBody>
          <a:bodyPr wrap="square" rtlCol="0">
            <a:spAutoFit/>
          </a:bodyPr>
          <a:lstStyle/>
          <a:p>
            <a:pPr algn="just" defTabSz="801654">
              <a:spcAft>
                <a:spcPts val="526"/>
              </a:spcAft>
              <a:defRPr/>
            </a:pPr>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Sourav has about 4 years of aviation industry experience. He has successfully undertaken large-scale projects across the aviation sector. As an analyst for long term network planning, he handled projects such as identifying potential growth cities for domestic US network, Monthly profitability review of United Airlines, US transcontinental market assessment, Design of potential international network for Tata SIA Airlines ltd. and wide body fleet cost analysis</a:t>
            </a:r>
          </a:p>
        </p:txBody>
      </p:sp>
      <p:graphicFrame>
        <p:nvGraphicFramePr>
          <p:cNvPr id="10" name="Table 9"/>
          <p:cNvGraphicFramePr>
            <a:graphicFrameLocks noGrp="1"/>
          </p:cNvGraphicFramePr>
          <p:nvPr>
            <p:extLst>
              <p:ext uri="{D42A27DB-BD31-4B8C-83A1-F6EECF244321}">
                <p14:modId xmlns:p14="http://schemas.microsoft.com/office/powerpoint/2010/main" val="2545015505"/>
              </p:ext>
            </p:extLst>
          </p:nvPr>
        </p:nvGraphicFramePr>
        <p:xfrm>
          <a:off x="432079" y="2176838"/>
          <a:ext cx="10008161" cy="4870841"/>
        </p:xfrm>
        <a:graphic>
          <a:graphicData uri="http://schemas.openxmlformats.org/drawingml/2006/table">
            <a:tbl>
              <a:tblPr firstRow="1" bandRow="1">
                <a:tableStyleId>{3B4B98B0-60AC-42C2-AFA5-B58CD77FA1E5}</a:tableStyleId>
              </a:tblPr>
              <a:tblGrid>
                <a:gridCol w="2787399">
                  <a:extLst>
                    <a:ext uri="{9D8B030D-6E8A-4147-A177-3AD203B41FA5}">
                      <a16:colId xmlns:a16="http://schemas.microsoft.com/office/drawing/2014/main" val="3236330501"/>
                    </a:ext>
                  </a:extLst>
                </a:gridCol>
                <a:gridCol w="7220762">
                  <a:extLst>
                    <a:ext uri="{9D8B030D-6E8A-4147-A177-3AD203B41FA5}">
                      <a16:colId xmlns:a16="http://schemas.microsoft.com/office/drawing/2014/main" val="3094567136"/>
                    </a:ext>
                  </a:extLst>
                </a:gridCol>
              </a:tblGrid>
              <a:tr h="267216">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72148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Design of potential international network</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Involved existing demand pattern analysis of international traffic out of major Indian gateways, Estimation of yield on different routes, Cost estimation of operations at international airports with different aircraft types, Modelling of market stimulation, demand spill and fare movement by entry of new player on individual routes and Optimization of scenarios based on network profitability</a:t>
                      </a:r>
                    </a:p>
                  </a:txBody>
                  <a:tcPr marL="80165" marR="80165" marT="40082" marB="40082"/>
                </a:tc>
                <a:extLst>
                  <a:ext uri="{0D108BD9-81ED-4DB2-BD59-A6C34878D82A}">
                    <a16:rowId xmlns:a16="http://schemas.microsoft.com/office/drawing/2014/main" val="288930065"/>
                  </a:ext>
                </a:extLst>
              </a:tr>
              <a:tr h="561153">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Development of domestic network plan</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Considered factors such as Strategic long term network vision (depth vs. width), Time of day demand patterns, Competitor schedules, Individual route economics (Break-even load, Contribution etc.), Aircraft utilization plans, Route Dispersal Guidelines compliance</a:t>
                      </a:r>
                    </a:p>
                  </a:txBody>
                  <a:tcPr marL="80165" marR="80165" marT="40082" marB="40082"/>
                </a:tc>
                <a:extLst>
                  <a:ext uri="{0D108BD9-81ED-4DB2-BD59-A6C34878D82A}">
                    <a16:rowId xmlns:a16="http://schemas.microsoft.com/office/drawing/2014/main" val="557499652"/>
                  </a:ext>
                </a:extLst>
              </a:tr>
              <a:tr h="56115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Development of Route Economic Evaluation Model</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Performed detailed analysis of individual cost line items of operating at different airports, Fuel burn analysis of operating at different load factors and Estimation of passenger demand and fare based on existing competitor capacity and yield</a:t>
                      </a:r>
                    </a:p>
                  </a:txBody>
                  <a:tcPr marL="80165" marR="80165" marT="40082" marB="40082"/>
                </a:tc>
                <a:extLst>
                  <a:ext uri="{0D108BD9-81ED-4DB2-BD59-A6C34878D82A}">
                    <a16:rowId xmlns:a16="http://schemas.microsoft.com/office/drawing/2014/main" val="1368420575"/>
                  </a:ext>
                </a:extLst>
              </a:tr>
              <a:tr h="400824">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Focus City Project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Identify potential growth cities for domestic US network by undertaking Historical demand pattern analysis of domestic network and Trend analysis of socio-economic factors of non-hub cities</a:t>
                      </a:r>
                    </a:p>
                  </a:txBody>
                  <a:tcPr marL="80165" marR="80165" marT="40082" marB="40082"/>
                </a:tc>
                <a:extLst>
                  <a:ext uri="{0D108BD9-81ED-4DB2-BD59-A6C34878D82A}">
                    <a16:rowId xmlns:a16="http://schemas.microsoft.com/office/drawing/2014/main" val="53076426"/>
                  </a:ext>
                </a:extLst>
              </a:tr>
              <a:tr h="465041">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Inter-hub Capacity Deployment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Comparative analysis of factors vis-à-vis competitors in respective inter-hub markets in respect of business/leisure mix, city pair and flow traffic etc.</a:t>
                      </a:r>
                    </a:p>
                  </a:txBody>
                  <a:tcPr marL="80165" marR="80165" marT="40082" marB="40082"/>
                </a:tc>
                <a:extLst>
                  <a:ext uri="{0D108BD9-81ED-4DB2-BD59-A6C34878D82A}">
                    <a16:rowId xmlns:a16="http://schemas.microsoft.com/office/drawing/2014/main" val="4283971479"/>
                  </a:ext>
                </a:extLst>
              </a:tr>
              <a:tr h="400824">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Hub Re-banking Analysis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Conducted Traffic pattern analysis at each hub with focus on aspects such as Time series analysis to identify peak connection, Flow analysis to identify the network directionality etc.</a:t>
                      </a:r>
                    </a:p>
                  </a:txBody>
                  <a:tcPr marL="80165" marR="80165" marT="40082" marB="40082"/>
                </a:tc>
                <a:extLst>
                  <a:ext uri="{0D108BD9-81ED-4DB2-BD59-A6C34878D82A}">
                    <a16:rowId xmlns:a16="http://schemas.microsoft.com/office/drawing/2014/main" val="2741499122"/>
                  </a:ext>
                </a:extLst>
              </a:tr>
              <a:tr h="721483">
                <a:tc>
                  <a:txBody>
                    <a:bodyPr/>
                    <a:lstStyle/>
                    <a:p>
                      <a:r>
                        <a:rPr lang="en-IN" sz="1200" b="0" dirty="0">
                          <a:latin typeface="Verdana" panose="020B0604030504040204" pitchFamily="34" charset="0"/>
                          <a:ea typeface="Verdana" panose="020B0604030504040204" pitchFamily="34" charset="0"/>
                          <a:cs typeface="Verdana" panose="020B0604030504040204" pitchFamily="34" charset="0"/>
                        </a:rPr>
                        <a:t>US Transcontinental Market Assessment</a:t>
                      </a: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In-depth study of demand patterns of US transcontinental market by studying factors like Premium/Economy segmentation of demand, Potential load factor analysis at different frequency levels, Optimum aircraft analysis w.r.t. total capacity and premium/economy ratio and Scenario analysis of mixed fleet deployment</a:t>
                      </a:r>
                    </a:p>
                  </a:txBody>
                  <a:tcPr marL="80165" marR="80165" marT="40082" marB="40082"/>
                </a:tc>
                <a:extLst>
                  <a:ext uri="{0D108BD9-81ED-4DB2-BD59-A6C34878D82A}">
                    <a16:rowId xmlns:a16="http://schemas.microsoft.com/office/drawing/2014/main" val="191665209"/>
                  </a:ext>
                </a:extLst>
              </a:tr>
            </a:tbl>
          </a:graphicData>
        </a:graphic>
      </p:graphicFrame>
    </p:spTree>
    <p:extLst>
      <p:ext uri="{BB962C8B-B14F-4D97-AF65-F5344CB8AC3E}">
        <p14:creationId xmlns:p14="http://schemas.microsoft.com/office/powerpoint/2010/main" val="4290400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flipV="1">
            <a:off x="1509460" y="1202476"/>
            <a:ext cx="8279518" cy="12592"/>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stretch>
            <a:fillRect/>
          </a:stretch>
        </p:blipFill>
        <p:spPr>
          <a:xfrm>
            <a:off x="9845101" y="282571"/>
            <a:ext cx="843537" cy="1668850"/>
          </a:xfrm>
          <a:prstGeom prst="rect">
            <a:avLst/>
          </a:prstGeom>
        </p:spPr>
      </p:pic>
      <p:sp>
        <p:nvSpPr>
          <p:cNvPr id="12" name="Rectangle 11"/>
          <p:cNvSpPr/>
          <p:nvPr/>
        </p:nvSpPr>
        <p:spPr>
          <a:xfrm>
            <a:off x="2290627" y="57154"/>
            <a:ext cx="8149613" cy="307777"/>
          </a:xfrm>
          <a:prstGeom prst="rect">
            <a:avLst/>
          </a:prstGeom>
        </p:spPr>
        <p:txBody>
          <a:bodyPr wrap="square">
            <a:spAutoFit/>
          </a:bodyPr>
          <a:lstStyle/>
          <a:p>
            <a:pPr algn="r"/>
            <a:r>
              <a:rPr lang="en-US" sz="1400" dirty="0">
                <a:solidFill>
                  <a:srgbClr val="046A38"/>
                </a:solidFill>
                <a:latin typeface="Verdana" panose="020B0604030504040204" pitchFamily="34" charset="0"/>
                <a:ea typeface="Verdana" panose="020B0604030504040204" pitchFamily="34" charset="0"/>
                <a:cs typeface="Verdana" panose="020B0604030504040204" pitchFamily="34" charset="0"/>
              </a:rPr>
              <a:t>Our proposed team and their CVs</a:t>
            </a:r>
          </a:p>
        </p:txBody>
      </p:sp>
      <p:sp>
        <p:nvSpPr>
          <p:cNvPr id="6" name="Rectangle 5"/>
          <p:cNvSpPr/>
          <p:nvPr/>
        </p:nvSpPr>
        <p:spPr>
          <a:xfrm>
            <a:off x="1493898" y="688872"/>
            <a:ext cx="5461226" cy="532197"/>
          </a:xfrm>
          <a:prstGeom prst="rect">
            <a:avLst/>
          </a:prstGeom>
        </p:spPr>
        <p:txBody>
          <a:bodyPr wrap="square">
            <a:spAutoFit/>
          </a:bodyPr>
          <a:lstStyle/>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Gautam Singhania – </a:t>
            </a:r>
            <a:r>
              <a:rPr lang="en-US" sz="1403" b="1" i="1" dirty="0">
                <a:solidFill>
                  <a:prstClr val="black"/>
                </a:solidFill>
                <a:latin typeface="Verdana" panose="020B0604030504040204" pitchFamily="34" charset="0"/>
                <a:ea typeface="Verdana" panose="020B0604030504040204" pitchFamily="34" charset="0"/>
                <a:cs typeface="Verdana" panose="020B0604030504040204" pitchFamily="34" charset="0"/>
              </a:rPr>
              <a:t>Senior Consultant, Deloitte</a:t>
            </a:r>
          </a:p>
          <a:p>
            <a:pPr marL="0" lvl="1" defTabSz="839232" fontAlgn="base">
              <a:lnSpc>
                <a:spcPct val="90000"/>
              </a:lnSpc>
              <a:spcBef>
                <a:spcPts val="351"/>
              </a:spcBef>
              <a:defRPr/>
            </a:pPr>
            <a:r>
              <a:rPr lang="en-US" sz="1403" b="1" dirty="0">
                <a:solidFill>
                  <a:prstClr val="black"/>
                </a:solidFill>
                <a:latin typeface="Verdana" panose="020B0604030504040204" pitchFamily="34" charset="0"/>
                <a:ea typeface="Verdana" panose="020B0604030504040204" pitchFamily="34" charset="0"/>
                <a:cs typeface="Verdana" panose="020B0604030504040204" pitchFamily="34" charset="0"/>
              </a:rPr>
              <a:t>Financial Modeler</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2079" y="292619"/>
            <a:ext cx="1071868" cy="946266"/>
          </a:xfrm>
          <a:prstGeom prst="rect">
            <a:avLst/>
          </a:prstGeom>
        </p:spPr>
      </p:pic>
      <p:sp>
        <p:nvSpPr>
          <p:cNvPr id="8" name="TextBox 7"/>
          <p:cNvSpPr txBox="1"/>
          <p:nvPr/>
        </p:nvSpPr>
        <p:spPr>
          <a:xfrm>
            <a:off x="326708" y="1260230"/>
            <a:ext cx="9462270" cy="461665"/>
          </a:xfrm>
          <a:prstGeom prst="rect">
            <a:avLst/>
          </a:prstGeom>
          <a:noFill/>
        </p:spPr>
        <p:txBody>
          <a:bodyPr wrap="square" rtlCol="0">
            <a:spAutoFit/>
          </a:bodyPr>
          <a:lstStyle/>
          <a:p>
            <a:pPr algn="just" defTabSz="801654">
              <a:spcAft>
                <a:spcPts val="526"/>
              </a:spcAft>
              <a:defRPr/>
            </a:pPr>
            <a:r>
              <a:rPr lang="en-US" sz="1200" dirty="0">
                <a:solidFill>
                  <a:prstClr val="black"/>
                </a:solidFill>
                <a:latin typeface="Verdana" panose="020B0604030504040204" pitchFamily="34" charset="0"/>
                <a:ea typeface="Verdana" panose="020B0604030504040204" pitchFamily="34" charset="0"/>
                <a:cs typeface="Verdana" panose="020B0604030504040204" pitchFamily="34" charset="0"/>
              </a:rPr>
              <a:t>Gautam is a Chartered Accountant and an MBA in finance specializing in financial modelling and financial analysis. He has been a part of the delivery team for a number of projects pertaining to airports, railways, ports and logistics</a:t>
            </a:r>
          </a:p>
        </p:txBody>
      </p:sp>
      <p:graphicFrame>
        <p:nvGraphicFramePr>
          <p:cNvPr id="10" name="Table 9"/>
          <p:cNvGraphicFramePr>
            <a:graphicFrameLocks noGrp="1"/>
          </p:cNvGraphicFramePr>
          <p:nvPr>
            <p:extLst>
              <p:ext uri="{D42A27DB-BD31-4B8C-83A1-F6EECF244321}">
                <p14:modId xmlns:p14="http://schemas.microsoft.com/office/powerpoint/2010/main" val="2277721684"/>
              </p:ext>
            </p:extLst>
          </p:nvPr>
        </p:nvGraphicFramePr>
        <p:xfrm>
          <a:off x="432079" y="1923305"/>
          <a:ext cx="10008161" cy="5240036"/>
        </p:xfrm>
        <a:graphic>
          <a:graphicData uri="http://schemas.openxmlformats.org/drawingml/2006/table">
            <a:tbl>
              <a:tblPr firstRow="1" bandRow="1">
                <a:tableStyleId>{3B4B98B0-60AC-42C2-AFA5-B58CD77FA1E5}</a:tableStyleId>
              </a:tblPr>
              <a:tblGrid>
                <a:gridCol w="2787399">
                  <a:extLst>
                    <a:ext uri="{9D8B030D-6E8A-4147-A177-3AD203B41FA5}">
                      <a16:colId xmlns:a16="http://schemas.microsoft.com/office/drawing/2014/main" val="3236330501"/>
                    </a:ext>
                  </a:extLst>
                </a:gridCol>
                <a:gridCol w="7220762">
                  <a:extLst>
                    <a:ext uri="{9D8B030D-6E8A-4147-A177-3AD203B41FA5}">
                      <a16:colId xmlns:a16="http://schemas.microsoft.com/office/drawing/2014/main" val="3094567136"/>
                    </a:ext>
                  </a:extLst>
                </a:gridCol>
              </a:tblGrid>
              <a:tr h="267216">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List</a:t>
                      </a:r>
                      <a:r>
                        <a:rPr lang="en-US" sz="1200" baseline="0" dirty="0">
                          <a:latin typeface="Verdana" panose="020B0604030504040204" pitchFamily="34" charset="0"/>
                          <a:ea typeface="Verdana" panose="020B0604030504040204" pitchFamily="34" charset="0"/>
                          <a:cs typeface="Verdana" panose="020B0604030504040204" pitchFamily="34" charset="0"/>
                        </a:rPr>
                        <a:t> of Projects</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Brief Description</a:t>
                      </a:r>
                      <a:endParaRPr lang="en-IN" sz="1200" b="1"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799710576"/>
                  </a:ext>
                </a:extLst>
              </a:tr>
              <a:tr h="721483">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Consultancy services for Port Moresby International Airport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Developed an initial strategy and timeline for undertaking the transaction process to meet the client’s objectives, Prepared options for structuring the airport transaction and further assistance in finalizing the most appropriate option, Conducting a feasibility assessment for the project that included Economic Analysis, VfM Analysis and computing key financial indicators and ratios</a:t>
                      </a:r>
                      <a:endParaRPr lang="en-US" sz="120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288930065"/>
                  </a:ext>
                </a:extLst>
              </a:tr>
              <a:tr h="721483">
                <a:tc>
                  <a:txBody>
                    <a:bodyPr/>
                    <a:lstStyle/>
                    <a:p>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Transaction Advisor for O&amp;M arrangement for the select areas of Ahmedabad and Jaipur airports</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Evaluated various options for O&amp;M structures for the project,</a:t>
                      </a:r>
                      <a:r>
                        <a:rPr lang="en-US" sz="1200" baseline="0" dirty="0">
                          <a:latin typeface="Verdana" panose="020B0604030504040204" pitchFamily="34" charset="0"/>
                          <a:ea typeface="Verdana" panose="020B0604030504040204" pitchFamily="34" charset="0"/>
                          <a:cs typeface="Verdana" panose="020B0604030504040204" pitchFamily="34" charset="0"/>
                        </a:rPr>
                        <a:t> </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Identifying and structuring financial and commercial aspects of the transaction including revenue estimation and cost allocation.</a:t>
                      </a:r>
                      <a:r>
                        <a:rPr kumimoji="0" lang="en-IN"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Development of various possible alternatives for revenue maximization</a:t>
                      </a:r>
                      <a:r>
                        <a:rPr kumimoji="0" lang="en-IN"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Assessment of regulatory provisions towards determination of tariffs and facilitating discussions between AAI and AERA</a:t>
                      </a:r>
                      <a:endParaRPr lang="en-US" sz="120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557499652"/>
                  </a:ext>
                </a:extLst>
              </a:tr>
              <a:tr h="889828">
                <a:tc>
                  <a:txBody>
                    <a:bodyPr/>
                    <a:lstStyle/>
                    <a:p>
                      <a:r>
                        <a:rPr kumimoji="0" lang="en-US" sz="12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rPr>
                        <a:t>Providing a Concept Note on Economic Regulation and Assisting Changi Airport Fuel Hydrant Installation Pte. Ltd. (CAFHI)</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Understanding the business of fuel-farms and their operating dynamics, Understanding the structure of CAFHI and details of existing concession with CAG, Comparison between economic regulation under the Depreciated Amortized Cost and Depreciated Optimized Replacement Cost, </a:t>
                      </a: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Inputs on the valuation of assets for regulatory purposes, Inputs on determination of fair rate of return, Inputs on the treatment of specific risk premiums while computing WACC for regulatory tariff determination</a:t>
                      </a:r>
                      <a:endParaRPr kumimoji="0" lang="en-GB"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1368420575"/>
                  </a:ext>
                </a:extLst>
              </a:tr>
              <a:tr h="561153">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Review of Financial Models for Determination of Aeronautical charges for</a:t>
                      </a:r>
                      <a:r>
                        <a:rPr lang="en-US" sz="1200" b="0" baseline="0" dirty="0">
                          <a:latin typeface="Verdana" panose="020B0604030504040204" pitchFamily="34" charset="0"/>
                          <a:ea typeface="Verdana" panose="020B0604030504040204" pitchFamily="34" charset="0"/>
                          <a:cs typeface="Verdana" panose="020B0604030504040204" pitchFamily="34" charset="0"/>
                        </a:rPr>
                        <a:t> GHIAL</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pPr marL="0" marR="0" lvl="0"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Involved in Assessing the regulatory regime and policies that influence tariffs and working on the financial model for tariff determination</a:t>
                      </a: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extLst>
                  <a:ext uri="{0D108BD9-81ED-4DB2-BD59-A6C34878D82A}">
                    <a16:rowId xmlns:a16="http://schemas.microsoft.com/office/drawing/2014/main" val="53076426"/>
                  </a:ext>
                </a:extLst>
              </a:tr>
              <a:tr h="1042142">
                <a:tc>
                  <a:txBody>
                    <a:bodyPr/>
                    <a:lstStyle/>
                    <a:p>
                      <a:r>
                        <a:rPr lang="en-US" sz="1200" b="0" dirty="0">
                          <a:latin typeface="Verdana" panose="020B0604030504040204" pitchFamily="34" charset="0"/>
                          <a:ea typeface="Verdana" panose="020B0604030504040204" pitchFamily="34" charset="0"/>
                          <a:cs typeface="Verdana" panose="020B0604030504040204" pitchFamily="34" charset="0"/>
                        </a:rPr>
                        <a:t>Advisory Services on PPP transaction structure to Toyota Tsusho Corporation Japan (TTC) for the proposed Dholera International Airport</a:t>
                      </a:r>
                      <a:endParaRPr lang="en-IN" sz="1200" b="0" dirty="0">
                        <a:latin typeface="Verdana" panose="020B0604030504040204" pitchFamily="34" charset="0"/>
                        <a:ea typeface="Verdana" panose="020B0604030504040204" pitchFamily="34" charset="0"/>
                        <a:cs typeface="Verdana" panose="020B0604030504040204" pitchFamily="34" charset="0"/>
                      </a:endParaRPr>
                    </a:p>
                  </a:txBody>
                  <a:tcPr marL="80165" marR="80165" marT="40082" marB="40082"/>
                </a:tc>
                <a:tc>
                  <a:txBody>
                    <a:bodyPr/>
                    <a:lstStyle/>
                    <a:p>
                      <a:r>
                        <a:rPr lang="en-US" sz="1200" dirty="0">
                          <a:latin typeface="Verdana" panose="020B0604030504040204" pitchFamily="34" charset="0"/>
                          <a:ea typeface="Verdana" panose="020B0604030504040204" pitchFamily="34" charset="0"/>
                          <a:cs typeface="Verdana" panose="020B0604030504040204" pitchFamily="34" charset="0"/>
                        </a:rPr>
                        <a:t>Involved in providing inputs to TTC in exploring and evaluating options for structuring the Dholera Airport project using either an appropriate PPP mode or yen-loan credit from the Japanese Government; Providing an overview of PPP transaction process in India in terms of broad regulatory provisions, Providing inputs on policy and regulatory environment in Gujarat pertaining to airport projects, Providing inputs to TTC on the proposed PPP scheme, Undertaking a high level analysis of the proposed PPP model</a:t>
                      </a:r>
                    </a:p>
                  </a:txBody>
                  <a:tcPr marL="80165" marR="80165" marT="40082" marB="40082"/>
                </a:tc>
                <a:extLst>
                  <a:ext uri="{0D108BD9-81ED-4DB2-BD59-A6C34878D82A}">
                    <a16:rowId xmlns:a16="http://schemas.microsoft.com/office/drawing/2014/main" val="4283971479"/>
                  </a:ext>
                </a:extLst>
              </a:tr>
            </a:tbl>
          </a:graphicData>
        </a:graphic>
      </p:graphicFrame>
    </p:spTree>
    <p:extLst>
      <p:ext uri="{BB962C8B-B14F-4D97-AF65-F5344CB8AC3E}">
        <p14:creationId xmlns:p14="http://schemas.microsoft.com/office/powerpoint/2010/main" val="2289319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60774" y="1051108"/>
            <a:ext cx="10279466" cy="4892492"/>
          </a:xfrm>
          <a:prstGeom prst="rect">
            <a:avLst/>
          </a:prstGeom>
          <a:noFill/>
        </p:spPr>
        <p:txBody>
          <a:bodyPr wrap="square" rIns="91440">
            <a:noAutofit/>
          </a:bodyPr>
          <a:lstStyle/>
          <a:p>
            <a:pPr marL="114300" algn="just" defTabSz="914400">
              <a:spcAft>
                <a:spcPts val="300"/>
              </a:spcAft>
              <a:defRPr/>
            </a:pPr>
            <a:endParaRPr lang="en-US" sz="100" dirty="0">
              <a:solidFill>
                <a:srgbClr val="000000"/>
              </a:solidFill>
              <a:ea typeface="Verdana" panose="020B0604030504040204" pitchFamily="34" charset="0"/>
              <a:cs typeface="Verdana" panose="020B0604030504040204" pitchFamily="34" charset="0"/>
            </a:endParaRPr>
          </a:p>
          <a:p>
            <a:pPr marL="114300" algn="just" defTabSz="914400">
              <a:spcAft>
                <a:spcPts val="300"/>
              </a:spcAft>
              <a:defRPr/>
            </a:pPr>
            <a:r>
              <a:rPr lang="en-US" sz="1400" b="1" dirty="0">
                <a:solidFill>
                  <a:srgbClr val="002060"/>
                </a:solidFill>
                <a:ea typeface="Verdana" panose="020B0604030504040204" pitchFamily="34" charset="0"/>
                <a:cs typeface="Verdana" panose="020B0604030504040204" pitchFamily="34" charset="0"/>
              </a:rPr>
              <a:t>Deloitte’s expertise in conducting due diligence, risk analysis, preparing detailed financing structures, developing bid strategies and managing entire bid processes for numerous clients has catapulted Deloitte to being ideally suited to support you in this engagement.</a:t>
            </a:r>
          </a:p>
          <a:p>
            <a:pPr marL="114300" algn="just" defTabSz="914400">
              <a:spcAft>
                <a:spcPts val="300"/>
              </a:spcAft>
              <a:defRPr/>
            </a:pPr>
            <a:endParaRPr lang="en-US" sz="1400" dirty="0">
              <a:solidFill>
                <a:srgbClr val="000000"/>
              </a:solidFill>
              <a:ea typeface="Verdana" panose="020B0604030504040204" pitchFamily="34" charset="0"/>
              <a:cs typeface="Verdana" panose="020B0604030504040204" pitchFamily="34" charset="0"/>
            </a:endParaRPr>
          </a:p>
          <a:p>
            <a:pPr marL="114300" algn="just" defTabSz="914400">
              <a:spcAft>
                <a:spcPts val="300"/>
              </a:spcAft>
              <a:defRPr/>
            </a:pPr>
            <a:r>
              <a:rPr lang="en-US" sz="1400" dirty="0">
                <a:solidFill>
                  <a:srgbClr val="000000"/>
                </a:solidFill>
                <a:ea typeface="Verdana" panose="020B0604030504040204" pitchFamily="34" charset="0"/>
                <a:cs typeface="Verdana" panose="020B0604030504040204" pitchFamily="34" charset="0"/>
              </a:rPr>
              <a:t>A snapshot of our relevant credentials include:</a:t>
            </a:r>
          </a:p>
          <a:p>
            <a:pPr marL="114300" algn="just" defTabSz="914400">
              <a:spcAft>
                <a:spcPts val="300"/>
              </a:spcAft>
              <a:defRPr/>
            </a:pPr>
            <a:endParaRPr lang="en-US" sz="1400" dirty="0">
              <a:solidFill>
                <a:srgbClr val="000000"/>
              </a:solidFill>
              <a:ea typeface="Verdana" panose="020B0604030504040204" pitchFamily="34" charset="0"/>
              <a:cs typeface="Verdana" panose="020B0604030504040204" pitchFamily="34" charset="0"/>
            </a:endParaRPr>
          </a:p>
          <a:p>
            <a:pPr marL="457200" indent="-342900" algn="just" defTabSz="914400">
              <a:spcAft>
                <a:spcPts val="300"/>
              </a:spcAft>
              <a:buFontTx/>
              <a:buAutoNum type="arabicPeriod"/>
              <a:defRPr/>
            </a:pPr>
            <a:r>
              <a:rPr lang="en-US" sz="1400" b="1" dirty="0">
                <a:solidFill>
                  <a:srgbClr val="000000"/>
                </a:solidFill>
                <a:ea typeface="Verdana" panose="020B0604030504040204" pitchFamily="34" charset="0"/>
                <a:cs typeface="Verdana" panose="020B0604030504040204" pitchFamily="34" charset="0"/>
              </a:rPr>
              <a:t>Airport PPP Transactions </a:t>
            </a:r>
            <a:r>
              <a:rPr lang="en-US" sz="1400" dirty="0">
                <a:solidFill>
                  <a:srgbClr val="000000"/>
                </a:solidFill>
                <a:ea typeface="Verdana" panose="020B0604030504040204" pitchFamily="34" charset="0"/>
                <a:cs typeface="Verdana" panose="020B0604030504040204" pitchFamily="34" charset="0"/>
              </a:rPr>
              <a:t>– Both for private sector as well as public sector clients in India as well as  other geographies, including assistance for successfully closed transactions. </a:t>
            </a:r>
          </a:p>
          <a:p>
            <a:pPr marL="457200" indent="-342900" algn="just" defTabSz="914400">
              <a:spcAft>
                <a:spcPts val="300"/>
              </a:spcAft>
              <a:buFontTx/>
              <a:buAutoNum type="arabicPeriod"/>
              <a:defRPr/>
            </a:pPr>
            <a:endParaRPr lang="en-US" sz="1400" b="1" dirty="0">
              <a:solidFill>
                <a:srgbClr val="000000"/>
              </a:solidFill>
              <a:ea typeface="Verdana" panose="020B0604030504040204" pitchFamily="34" charset="0"/>
              <a:cs typeface="Verdana" panose="020B0604030504040204" pitchFamily="34" charset="0"/>
            </a:endParaRPr>
          </a:p>
          <a:p>
            <a:pPr marL="457200" indent="-342900" algn="just" defTabSz="914400">
              <a:spcAft>
                <a:spcPts val="300"/>
              </a:spcAft>
              <a:buFontTx/>
              <a:buAutoNum type="arabicPeriod"/>
              <a:defRPr/>
            </a:pPr>
            <a:r>
              <a:rPr lang="en-US" sz="1400" b="1" dirty="0">
                <a:solidFill>
                  <a:srgbClr val="000000"/>
                </a:solidFill>
                <a:ea typeface="Verdana" panose="020B0604030504040204" pitchFamily="34" charset="0"/>
                <a:cs typeface="Verdana" panose="020B0604030504040204" pitchFamily="34" charset="0"/>
              </a:rPr>
              <a:t>Airport Economic Regulation </a:t>
            </a:r>
            <a:r>
              <a:rPr lang="en-US" sz="1400" dirty="0">
                <a:solidFill>
                  <a:srgbClr val="000000"/>
                </a:solidFill>
                <a:ea typeface="Verdana" panose="020B0604030504040204" pitchFamily="34" charset="0"/>
                <a:cs typeface="Verdana" panose="020B0604030504040204" pitchFamily="34" charset="0"/>
              </a:rPr>
              <a:t>- Deloitte has vast experience of working with the airport economic regulator, including structuring the authority at the time of inception. This coupled with our numerous engagements in reviewing the Business Plans for various airports as well as  reviewing tariff determination proposals for major airport provides us a unique advantage</a:t>
            </a:r>
          </a:p>
          <a:p>
            <a:pPr marL="457200" indent="-342900" algn="just" defTabSz="914400">
              <a:spcAft>
                <a:spcPts val="300"/>
              </a:spcAft>
              <a:buFontTx/>
              <a:buAutoNum type="arabicPeriod"/>
              <a:defRPr/>
            </a:pPr>
            <a:endParaRPr lang="en-US" sz="1400" b="1" dirty="0">
              <a:solidFill>
                <a:srgbClr val="000000"/>
              </a:solidFill>
              <a:ea typeface="Verdana" panose="020B0604030504040204" pitchFamily="34" charset="0"/>
              <a:cs typeface="Verdana" panose="020B0604030504040204" pitchFamily="34" charset="0"/>
            </a:endParaRPr>
          </a:p>
          <a:p>
            <a:pPr marL="457200" indent="-342900" algn="just" defTabSz="914400">
              <a:spcAft>
                <a:spcPts val="300"/>
              </a:spcAft>
              <a:buFontTx/>
              <a:buAutoNum type="arabicPeriod"/>
              <a:defRPr/>
            </a:pPr>
            <a:r>
              <a:rPr lang="en-US" sz="1400" b="1" dirty="0">
                <a:solidFill>
                  <a:srgbClr val="000000"/>
                </a:solidFill>
                <a:ea typeface="Verdana" panose="020B0604030504040204" pitchFamily="34" charset="0"/>
                <a:cs typeface="Verdana" panose="020B0604030504040204" pitchFamily="34" charset="0"/>
              </a:rPr>
              <a:t>Airport Business Plan</a:t>
            </a:r>
            <a:r>
              <a:rPr lang="en-US" sz="1400" dirty="0">
                <a:solidFill>
                  <a:srgbClr val="000000"/>
                </a:solidFill>
                <a:ea typeface="Verdana" panose="020B0604030504040204" pitchFamily="34" charset="0"/>
                <a:cs typeface="Verdana" panose="020B0604030504040204" pitchFamily="34" charset="0"/>
              </a:rPr>
              <a:t> – </a:t>
            </a:r>
            <a:r>
              <a:rPr lang="en-US" sz="1400" i="1" dirty="0">
                <a:solidFill>
                  <a:srgbClr val="000000"/>
                </a:solidFill>
                <a:ea typeface="Verdana" panose="020B0604030504040204" pitchFamily="34" charset="0"/>
                <a:cs typeface="Verdana" panose="020B0604030504040204" pitchFamily="34" charset="0"/>
              </a:rPr>
              <a:t>both for airport companies as well as airlines</a:t>
            </a:r>
            <a:r>
              <a:rPr lang="en-US" sz="1400" dirty="0">
                <a:solidFill>
                  <a:srgbClr val="000000"/>
                </a:solidFill>
                <a:ea typeface="Verdana" panose="020B0604030504040204" pitchFamily="34" charset="0"/>
                <a:cs typeface="Verdana" panose="020B0604030504040204" pitchFamily="34" charset="0"/>
              </a:rPr>
              <a:t> – Our involvement in reviewing / preparing business plans and business processes for airport companies as well as airlines ensures that we understand the nuances of this business</a:t>
            </a:r>
          </a:p>
          <a:p>
            <a:pPr marL="457200" indent="-342900" algn="just" defTabSz="914400">
              <a:spcAft>
                <a:spcPts val="300"/>
              </a:spcAft>
              <a:buFontTx/>
              <a:buAutoNum type="arabicPeriod"/>
              <a:defRPr/>
            </a:pPr>
            <a:endParaRPr lang="en-US" sz="1400" dirty="0">
              <a:solidFill>
                <a:srgbClr val="000000"/>
              </a:solidFill>
              <a:ea typeface="Verdana" panose="020B0604030504040204" pitchFamily="34" charset="0"/>
              <a:cs typeface="Verdana" panose="020B0604030504040204" pitchFamily="34" charset="0"/>
            </a:endParaRPr>
          </a:p>
          <a:p>
            <a:pPr marL="457200" indent="-342900" algn="just" defTabSz="914400">
              <a:spcAft>
                <a:spcPts val="300"/>
              </a:spcAft>
              <a:buFontTx/>
              <a:buAutoNum type="arabicPeriod"/>
              <a:defRPr/>
            </a:pPr>
            <a:r>
              <a:rPr lang="en-US" sz="1400" b="1" dirty="0">
                <a:solidFill>
                  <a:srgbClr val="000000"/>
                </a:solidFill>
                <a:ea typeface="Verdana" panose="020B0604030504040204" pitchFamily="34" charset="0"/>
                <a:cs typeface="Verdana" panose="020B0604030504040204" pitchFamily="34" charset="0"/>
              </a:rPr>
              <a:t>Other Seminal Aviation Projects – </a:t>
            </a:r>
            <a:r>
              <a:rPr lang="en-US" sz="1400" dirty="0">
                <a:solidFill>
                  <a:srgbClr val="000000"/>
                </a:solidFill>
                <a:ea typeface="Verdana" panose="020B0604030504040204" pitchFamily="34" charset="0"/>
                <a:cs typeface="Verdana" panose="020B0604030504040204" pitchFamily="34" charset="0"/>
              </a:rPr>
              <a:t>including developing and implementation of the regional connectivity scheme for Ministry of Civil Aviation etc.</a:t>
            </a:r>
          </a:p>
          <a:p>
            <a:pPr marL="457200" indent="-342900" algn="just" defTabSz="914400">
              <a:spcAft>
                <a:spcPts val="300"/>
              </a:spcAft>
              <a:buFontTx/>
              <a:buAutoNum type="arabicPeriod"/>
              <a:defRPr/>
            </a:pPr>
            <a:endParaRPr lang="en-US" sz="1400" b="1" dirty="0">
              <a:solidFill>
                <a:srgbClr val="000000"/>
              </a:solidFill>
              <a:ea typeface="Verdana" panose="020B0604030504040204" pitchFamily="34" charset="0"/>
              <a:cs typeface="Verdana" panose="020B0604030504040204" pitchFamily="34" charset="0"/>
            </a:endParaRPr>
          </a:p>
          <a:p>
            <a:pPr marL="457200" indent="-342900" algn="just" defTabSz="914400">
              <a:spcAft>
                <a:spcPts val="300"/>
              </a:spcAft>
              <a:buFontTx/>
              <a:buAutoNum type="arabicPeriod"/>
              <a:defRPr/>
            </a:pPr>
            <a:r>
              <a:rPr lang="en-US" sz="1400" b="1" dirty="0">
                <a:solidFill>
                  <a:srgbClr val="000000"/>
                </a:solidFill>
                <a:ea typeface="Verdana" panose="020B0604030504040204" pitchFamily="34" charset="0"/>
                <a:cs typeface="Verdana" panose="020B0604030504040204" pitchFamily="34" charset="0"/>
              </a:rPr>
              <a:t>Select Airport Transaction Experience of Deloitte Network – </a:t>
            </a:r>
            <a:r>
              <a:rPr lang="en-US" sz="1400" dirty="0">
                <a:solidFill>
                  <a:srgbClr val="000000"/>
                </a:solidFill>
                <a:ea typeface="Verdana" panose="020B0604030504040204" pitchFamily="34" charset="0"/>
                <a:cs typeface="Verdana" panose="020B0604030504040204" pitchFamily="34" charset="0"/>
              </a:rPr>
              <a:t>Experience of Deloitte Global in conduction feasibility studies for airport operators along with PPP transactions</a:t>
            </a:r>
          </a:p>
        </p:txBody>
      </p:sp>
      <p:sp>
        <p:nvSpPr>
          <p:cNvPr id="6" name="Rectangle 5"/>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7" name="Straight Connector 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63396" y="331644"/>
            <a:ext cx="10103234" cy="425758"/>
          </a:xfrm>
          <a:prstGeom prst="rect">
            <a:avLst/>
          </a:prstGeom>
        </p:spPr>
        <p:txBody>
          <a:bodyPr wrap="square">
            <a:spAutoFit/>
          </a:bodyPr>
          <a:lstStyle/>
          <a:p>
            <a:pPr marL="0" lvl="1" defTabSz="957263" fontAlgn="base">
              <a:lnSpc>
                <a:spcPct val="90000"/>
              </a:lnSpc>
              <a:spcBef>
                <a:spcPts val="400"/>
              </a:spcBef>
              <a:defRPr/>
            </a:pPr>
            <a:r>
              <a:rPr lang="en-US" sz="2400" dirty="0">
                <a:solidFill>
                  <a:srgbClr val="000000"/>
                </a:solidFill>
                <a:ea typeface="Verdana" panose="020B0604030504040204" pitchFamily="34" charset="0"/>
                <a:cs typeface="Verdana" panose="020B0604030504040204" pitchFamily="34" charset="0"/>
              </a:rPr>
              <a:t>Our Experience – Built on Proven Capabilities</a:t>
            </a:r>
          </a:p>
        </p:txBody>
      </p:sp>
    </p:spTree>
    <p:extLst>
      <p:ext uri="{BB962C8B-B14F-4D97-AF65-F5344CB8AC3E}">
        <p14:creationId xmlns:p14="http://schemas.microsoft.com/office/powerpoint/2010/main" val="18344840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itchFamily="34" charset="0"/>
              <a:buNone/>
              <a:tabLst/>
              <a:defRPr/>
            </a:pPr>
            <a:r>
              <a:rPr kumimoji="0" lang="en-GB" sz="1600" b="1" i="0" u="none" strike="noStrike" kern="120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rPr>
              <a:t>Transaction advisory for key international and regional airports in Philippines across Mactan-Cebu International Airport</a:t>
            </a:r>
          </a:p>
        </p:txBody>
      </p:sp>
      <p:grpSp>
        <p:nvGrpSpPr>
          <p:cNvPr id="3" name="Group 2"/>
          <p:cNvGrpSpPr/>
          <p:nvPr/>
        </p:nvGrpSpPr>
        <p:grpSpPr>
          <a:xfrm>
            <a:off x="352350" y="1507402"/>
            <a:ext cx="10014280" cy="5072486"/>
            <a:chOff x="452726" y="1477563"/>
            <a:chExt cx="11300123" cy="5072486"/>
          </a:xfrm>
        </p:grpSpPr>
        <p:sp>
          <p:nvSpPr>
            <p:cNvPr id="4" name="Rectangle 3"/>
            <p:cNvSpPr/>
            <p:nvPr/>
          </p:nvSpPr>
          <p:spPr>
            <a:xfrm>
              <a:off x="452726" y="1477563"/>
              <a:ext cx="11300123"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452726" y="1630754"/>
              <a:ext cx="11300123" cy="4919295"/>
            </a:xfrm>
            <a:prstGeom prst="rect">
              <a:avLst/>
            </a:prstGeom>
            <a:ln>
              <a:solidFill>
                <a:srgbClr val="000000">
                  <a:lumMod val="20000"/>
                  <a:lumOff val="80000"/>
                </a:srgbClr>
              </a:solidFill>
            </a:ln>
          </p:spPr>
          <p:txBody>
            <a:bodyPr wrap="square">
              <a:spAutoFit/>
            </a:bodyPr>
            <a:lstStyle/>
            <a:p>
              <a:pPr marL="0" marR="0" lvl="0" indent="0" algn="just" defTabSz="914400" eaLnBrk="1" fontAlgn="auto" latinLnBrk="0" hangingPunct="1">
                <a:lnSpc>
                  <a:spcPct val="100000"/>
                </a:lnSpc>
                <a:spcBef>
                  <a:spcPts val="225"/>
                </a:spcBef>
                <a:spcAft>
                  <a:spcPts val="225"/>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Overview</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Department of Transport and Communications appointed Deloitte to assist in assessing potential private sector participation in expansion and O&amp;M of Mactan-Cebu International Airport.</a:t>
              </a:r>
            </a:p>
            <a:p>
              <a:pPr marL="135731" marR="0" lvl="0" indent="-135731" algn="just" defTabSz="914400" eaLnBrk="1" fontAlgn="auto" latinLnBrk="0" hangingPunct="1">
                <a:lnSpc>
                  <a:spcPct val="100000"/>
                </a:lnSpc>
                <a:spcBef>
                  <a:spcPts val="0"/>
                </a:spcBef>
                <a:spcAft>
                  <a:spcPts val="0"/>
                </a:spcAft>
                <a:buClrTx/>
                <a:buSzTx/>
                <a:buFontTx/>
                <a:buChar char="•"/>
                <a:tabLst/>
                <a:defRPr/>
              </a:pPr>
              <a:endPar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Description</a:t>
              </a: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Deloitte’s scope of work included:</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Undertaking traffic projections to understand the need for development / expansion </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Preparation of financial models and projecting the financials for the project, arriving at potential investment required, assessing financial attractiveness and assessing the economic benefits of the projects</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Project structuring including assessment of the scope of the project, risk allocation, economic regulation etc. </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Market assessment including consultations with private sector for assessing development models, seeking their inputs on risk, and project structuring, which included advisory assistance on the concession scope and period</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Advising on bidding strategy viz. bid variables;  factoring in  the grouping / bundling of airports and therein capturing legal complexities in implementation</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Developing performance standards for airport operations and mechanisms to monitor performance of the private sector proponent. Defining penal provisions for non-performance</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Providing transaction advisory services until project award and financial close, including ongoing support in undertaking market interactions etc.</a:t>
              </a: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Deloitte’s Value Add</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The client has successfully completed one of the largest PPP transactions in Philippines for Mactan-Cebu International Airport Passenger Terminal project, including receiving an one time upfront premium of approx. US $ 330 million. The Deloitte team advised the client on key matters such as project structuring, risk allocation, delivery model, concession scope, concession period etc. The team continues to advise the client on key policy matters such as potential grouping / bundling strategy for multiple airports and potential delivery models for implementation of these airports. </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Airport PPP Transactions</a:t>
            </a:r>
          </a:p>
        </p:txBody>
      </p:sp>
    </p:spTree>
    <p:extLst>
      <p:ext uri="{BB962C8B-B14F-4D97-AF65-F5344CB8AC3E}">
        <p14:creationId xmlns:p14="http://schemas.microsoft.com/office/powerpoint/2010/main" val="3725823989"/>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Develop</a:t>
            </a:r>
            <a:r>
              <a:rPr lang="en-US" sz="1600" b="1" dirty="0">
                <a:solidFill>
                  <a:srgbClr val="012169"/>
                </a:solidFill>
                <a:latin typeface="Arial"/>
              </a:rPr>
              <a:t> </a:t>
            </a: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Airport Ownership &amp; Regulation Guidance for IATA </a:t>
            </a:r>
          </a:p>
        </p:txBody>
      </p:sp>
      <p:grpSp>
        <p:nvGrpSpPr>
          <p:cNvPr id="3" name="Group 2"/>
          <p:cNvGrpSpPr/>
          <p:nvPr/>
        </p:nvGrpSpPr>
        <p:grpSpPr>
          <a:xfrm>
            <a:off x="352350" y="1293699"/>
            <a:ext cx="10014280" cy="2856495"/>
            <a:chOff x="352350" y="1477563"/>
            <a:chExt cx="11247119" cy="2856495"/>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2703304"/>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The International Air Transport Association (IATA) and Deloitte have published guidance materials for governments considering public-private partnerships (PPP) and other forms of privatization programs for airport infrastructure.  </a:t>
              </a:r>
            </a:p>
            <a:p>
              <a:pPr lvl="0" algn="just" defTabSz="914400">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defTabSz="914400">
                <a:defRPr/>
              </a:pPr>
              <a:r>
                <a:rPr lang="en-US" sz="1200" i="1" dirty="0">
                  <a:solidFill>
                    <a:srgbClr val="000000"/>
                  </a:solidFill>
                  <a:latin typeface="+mj-lt"/>
                  <a:ea typeface="Verdana" panose="020B0604030504040204" pitchFamily="34" charset="0"/>
                  <a:cs typeface="Verdana" panose="020B0604030504040204" pitchFamily="34" charset="0"/>
                </a:rPr>
                <a:t>Airport Ownership and Regulation </a:t>
              </a:r>
              <a:r>
                <a:rPr lang="en-US" sz="1200" dirty="0">
                  <a:solidFill>
                    <a:srgbClr val="000000"/>
                  </a:solidFill>
                  <a:latin typeface="+mj-lt"/>
                  <a:ea typeface="Verdana" panose="020B0604030504040204" pitchFamily="34" charset="0"/>
                  <a:cs typeface="Verdana" panose="020B0604030504040204" pitchFamily="34" charset="0"/>
                </a:rPr>
                <a:t>report builds on industry best practice and the results of research into the effectiveness of different ownership and operating models from the perspective of a range of stakeholders. The phenomenal demand for air connectivity is outpacing the capacity of current airport infrastructure and many governments are challenged in finding the effective financing means to enable critical expansion. </a:t>
              </a:r>
            </a:p>
            <a:p>
              <a:pPr lvl="0" defTabSz="914400">
                <a:defRPr/>
              </a:pPr>
              <a:endParaRPr lang="en-US" sz="1200" dirty="0">
                <a:solidFill>
                  <a:srgbClr val="000000"/>
                </a:solidFill>
                <a:latin typeface="+mj-lt"/>
                <a:ea typeface="Verdana" panose="020B0604030504040204" pitchFamily="34" charset="0"/>
                <a:cs typeface="Verdana" panose="020B0604030504040204" pitchFamily="34" charset="0"/>
              </a:endParaRPr>
            </a:p>
            <a:p>
              <a:pPr lvl="0" defTabSz="914400">
                <a:defRPr/>
              </a:pPr>
              <a:r>
                <a:rPr lang="en-US" sz="1200" dirty="0">
                  <a:solidFill>
                    <a:srgbClr val="000000"/>
                  </a:solidFill>
                  <a:latin typeface="+mj-lt"/>
                  <a:ea typeface="Verdana" panose="020B0604030504040204" pitchFamily="34" charset="0"/>
                  <a:cs typeface="Verdana" panose="020B0604030504040204" pitchFamily="34" charset="0"/>
                </a:rPr>
                <a:t>The report explores three ideas in detail:</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Assessing the options for models of privatization</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Best Practices for the Process of Privatization</a:t>
              </a:r>
            </a:p>
            <a:p>
              <a:pPr marL="171450" lvl="0" indent="-171450" defTabSz="914400">
                <a:buFont typeface="Arial" panose="020B0604020202020204" pitchFamily="34" charset="0"/>
                <a:buChar char="•"/>
                <a:defRPr/>
              </a:pPr>
              <a:r>
                <a:rPr lang="en-IN" sz="1200" dirty="0">
                  <a:solidFill>
                    <a:srgbClr val="000000"/>
                  </a:solidFill>
                  <a:latin typeface="+mj-lt"/>
                  <a:ea typeface="Verdana" panose="020B0604030504040204" pitchFamily="34" charset="0"/>
                  <a:cs typeface="Verdana" panose="020B0604030504040204" pitchFamily="34" charset="0"/>
                </a:rPr>
                <a:t>Regulation of Privatized Airports</a:t>
              </a:r>
              <a:endParaRPr lang="en-US" sz="1200" dirty="0">
                <a:solidFill>
                  <a:srgbClr val="000000"/>
                </a:solidFill>
                <a:latin typeface="+mj-lt"/>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Airport PPP Transactions </a:t>
            </a:r>
          </a:p>
        </p:txBody>
      </p:sp>
    </p:spTree>
    <p:extLst>
      <p:ext uri="{BB962C8B-B14F-4D97-AF65-F5344CB8AC3E}">
        <p14:creationId xmlns:p14="http://schemas.microsoft.com/office/powerpoint/2010/main" val="3528836831"/>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352350" y="910593"/>
            <a:ext cx="11247120" cy="372984"/>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300"/>
              </a:spcAft>
              <a:buClrTx/>
              <a:buSzTx/>
              <a:buFont typeface="Arial" pitchFamily="34" charset="0"/>
              <a:buNone/>
              <a:tabLst/>
              <a:defRPr/>
            </a:pPr>
            <a:r>
              <a:rPr kumimoji="0" lang="en-IN" sz="1600" b="1" i="0" u="none" strike="noStrike" kern="120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rPr>
              <a:t>Consultancy services for Port Moresby International Airport</a:t>
            </a:r>
          </a:p>
        </p:txBody>
      </p:sp>
      <p:grpSp>
        <p:nvGrpSpPr>
          <p:cNvPr id="16" name="Group 15"/>
          <p:cNvGrpSpPr/>
          <p:nvPr/>
        </p:nvGrpSpPr>
        <p:grpSpPr>
          <a:xfrm>
            <a:off x="352350" y="1283577"/>
            <a:ext cx="10014280" cy="4548000"/>
            <a:chOff x="352349" y="1464116"/>
            <a:chExt cx="11247120" cy="4148116"/>
          </a:xfrm>
        </p:grpSpPr>
        <p:sp>
          <p:nvSpPr>
            <p:cNvPr id="17" name="Rectangle 16"/>
            <p:cNvSpPr/>
            <p:nvPr/>
          </p:nvSpPr>
          <p:spPr>
            <a:xfrm>
              <a:off x="352349" y="1464116"/>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18" name="Rectangle 17"/>
            <p:cNvSpPr/>
            <p:nvPr/>
          </p:nvSpPr>
          <p:spPr>
            <a:xfrm>
              <a:off x="352350" y="1630754"/>
              <a:ext cx="11247119" cy="3981478"/>
            </a:xfrm>
            <a:prstGeom prst="rect">
              <a:avLst/>
            </a:prstGeom>
            <a:ln>
              <a:solidFill>
                <a:srgbClr val="000000">
                  <a:lumMod val="20000"/>
                  <a:lumOff val="80000"/>
                </a:srgbClr>
              </a:solidFill>
            </a:ln>
          </p:spPr>
          <p:txBody>
            <a:bodyPr wrap="square">
              <a:spAutoFit/>
            </a:bodyPr>
            <a:lstStyle/>
            <a:p>
              <a:pPr marL="0" marR="0" lvl="0" indent="0" algn="just" defTabSz="914400" eaLnBrk="1" fontAlgn="auto" latinLnBrk="0" hangingPunct="1">
                <a:lnSpc>
                  <a:spcPct val="100000"/>
                </a:lnSpc>
                <a:spcBef>
                  <a:spcPts val="225"/>
                </a:spcBef>
                <a:spcAft>
                  <a:spcPts val="225"/>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Overview</a:t>
              </a:r>
            </a:p>
            <a:p>
              <a:pPr marL="171450" marR="0" lvl="0" indent="-171450" algn="just"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National Airports Corporation of Papua New Guinea has planned the expansion and operation of the Port Moresby International Airport (PMIA), including related infrastructure and facilities required to meet forecast air services growth for the next 30 years under a PPP scheme. </a:t>
              </a:r>
              <a:endParaRPr kumimoji="0" lang="en-US"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a:p>
              <a:pPr marL="0" marR="0" lvl="0" indent="0" algn="just" defTabSz="91440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Description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The scope of services for Deloitte included the following:</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Owner’s Requirements Analysis including Identifying the strategic objectives of NAC and Analyzing public sector budget allocated for the delivery of the Project</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Economic and Financial Assessment including detailed assessment of existing and future aeronautical and non aeronautical revenue, preparing detailed estimate of CAPEX for delivering project, OPEX for project, and determine revenue streams from project operations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Preparation of Financial Model which can be used to illustrate PPP options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PPP Project Scoping including </a:t>
              </a:r>
              <a:r>
                <a:rPr kumimoji="0" lang="en-IN"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suggesting a phasing plan for the Project including terminal facilities, timing of material infrastructure developments, related infrastructure requirements, and ancillary facilities including Maintenance, Repair and Operations (MRO) and property development among others.</a:t>
              </a:r>
              <a:endPar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Transaction Structuring and Due Diligence including o</a:t>
              </a:r>
              <a:r>
                <a:rPr kumimoji="0" lang="en-IN"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identifying technical and demand/revenue-related risks of the Project and quantifying their potential financial impact, assessing commercial viability of the Project, and recommending the optimal structure for delivering the Project as a PPP  </a:t>
              </a:r>
              <a:endPar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Financial Impact Analysis including financial analysis of NAC activities, determining amount of subsidy/support extended by government, and assessing the impact of implementing the project as a PPP on financial statements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mj-lt"/>
                  <a:ea typeface="Verdana" panose="020B0604030504040204" pitchFamily="34" charset="0"/>
                  <a:cs typeface="Verdana" panose="020B0604030504040204" pitchFamily="34" charset="0"/>
                </a:rPr>
                <a:t>Supporting Tender Process through proposing contract provisions, drafting relevant sections of concession agreement, assisting in responding to bidder queries and negotiating with bidders on technical matters.</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Airport PPP Transactions</a:t>
            </a:r>
          </a:p>
        </p:txBody>
      </p:sp>
    </p:spTree>
    <p:extLst>
      <p:ext uri="{BB962C8B-B14F-4D97-AF65-F5344CB8AC3E}">
        <p14:creationId xmlns:p14="http://schemas.microsoft.com/office/powerpoint/2010/main" val="2838665775"/>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Preparation of Business Case, feasibility study and Transaction Advisory Services for development of Clark Airport under Public-Private Partnership</a:t>
            </a:r>
          </a:p>
        </p:txBody>
      </p:sp>
      <p:grpSp>
        <p:nvGrpSpPr>
          <p:cNvPr id="3" name="Group 2"/>
          <p:cNvGrpSpPr/>
          <p:nvPr/>
        </p:nvGrpSpPr>
        <p:grpSpPr>
          <a:xfrm>
            <a:off x="352350" y="1507402"/>
            <a:ext cx="10014280" cy="5231504"/>
            <a:chOff x="352350" y="1477563"/>
            <a:chExt cx="11247119" cy="5231504"/>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5078313"/>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The Department of Transport and Communications and Public-Private Partnership Center of the Philippines propose to conduct an O&amp;M Study of the entire airport facilities including landside &amp; airside for Clark International Airport and PPP project structuring. </a:t>
              </a:r>
            </a:p>
            <a:p>
              <a:pPr marL="135731" lvl="0" indent="-135731" algn="just" defTabSz="914400">
                <a:buFontTx/>
                <a:buChar char="•"/>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defTabSz="914400">
                <a:defRPr/>
              </a:pPr>
              <a:r>
                <a:rPr lang="en-US" sz="1200" dirty="0">
                  <a:solidFill>
                    <a:srgbClr val="000000"/>
                  </a:solidFill>
                  <a:latin typeface="+mj-lt"/>
                  <a:ea typeface="Verdana" panose="020B0604030504040204" pitchFamily="34" charset="0"/>
                  <a:cs typeface="Verdana" panose="020B0604030504040204" pitchFamily="34" charset="0"/>
                </a:rPr>
                <a:t>The following services provided by the Deloitte team as part of the assignment include:</a:t>
              </a:r>
              <a:br>
                <a:rPr lang="en-US" sz="1200" dirty="0">
                  <a:solidFill>
                    <a:srgbClr val="000000"/>
                  </a:solidFill>
                  <a:latin typeface="+mj-lt"/>
                  <a:ea typeface="Verdana" panose="020B0604030504040204" pitchFamily="34" charset="0"/>
                  <a:cs typeface="Verdana" panose="020B0604030504040204" pitchFamily="34" charset="0"/>
                </a:rPr>
              </a:br>
              <a:r>
                <a:rPr lang="en-US" sz="1200" b="1" dirty="0">
                  <a:solidFill>
                    <a:srgbClr val="000000"/>
                  </a:solidFill>
                  <a:latin typeface="+mj-lt"/>
                  <a:ea typeface="Verdana" panose="020B0604030504040204" pitchFamily="34" charset="0"/>
                  <a:cs typeface="Verdana" panose="020B0604030504040204" pitchFamily="34" charset="0"/>
                </a:rPr>
                <a:t>Phase I: Development of Business Case and PPP Structure</a:t>
              </a:r>
              <a:br>
                <a:rPr lang="en-US" sz="1200" dirty="0">
                  <a:solidFill>
                    <a:srgbClr val="000000"/>
                  </a:solidFill>
                  <a:latin typeface="+mj-lt"/>
                  <a:ea typeface="Verdana" panose="020B0604030504040204" pitchFamily="34" charset="0"/>
                  <a:cs typeface="Verdana" panose="020B0604030504040204" pitchFamily="34" charset="0"/>
                </a:rPr>
              </a:br>
              <a:r>
                <a:rPr lang="en-US" sz="1200" dirty="0">
                  <a:solidFill>
                    <a:srgbClr val="000000"/>
                  </a:solidFill>
                  <a:latin typeface="+mj-lt"/>
                  <a:ea typeface="Verdana" panose="020B0604030504040204" pitchFamily="34" charset="0"/>
                  <a:cs typeface="Verdana" panose="020B0604030504040204" pitchFamily="34" charset="0"/>
                </a:rPr>
                <a:t>The team provided advisory services related to Phase-1 of the project which includes the following tasks:</a:t>
              </a:r>
              <a:br>
                <a:rPr lang="en-US" sz="1200" dirty="0">
                  <a:solidFill>
                    <a:srgbClr val="000000"/>
                  </a:solidFill>
                  <a:latin typeface="+mj-lt"/>
                  <a:ea typeface="Verdana" panose="020B0604030504040204" pitchFamily="34" charset="0"/>
                  <a:cs typeface="Verdana" panose="020B0604030504040204" pitchFamily="34" charset="0"/>
                </a:rPr>
              </a:br>
              <a:r>
                <a:rPr lang="en-US" sz="1200" b="1" dirty="0">
                  <a:solidFill>
                    <a:srgbClr val="000000"/>
                  </a:solidFill>
                  <a:latin typeface="+mj-lt"/>
                  <a:ea typeface="Verdana" panose="020B0604030504040204" pitchFamily="34" charset="0"/>
                  <a:cs typeface="Verdana" panose="020B0604030504040204" pitchFamily="34" charset="0"/>
                </a:rPr>
                <a:t>Task 1: </a:t>
              </a:r>
              <a:r>
                <a:rPr lang="en-US" sz="1200" dirty="0">
                  <a:solidFill>
                    <a:srgbClr val="000000"/>
                  </a:solidFill>
                  <a:latin typeface="+mj-lt"/>
                  <a:ea typeface="Verdana" panose="020B0604030504040204" pitchFamily="34" charset="0"/>
                  <a:cs typeface="Verdana" panose="020B0604030504040204" pitchFamily="34" charset="0"/>
                </a:rPr>
                <a:t>Preparation of the Business Case for the project under the PPP mechanism covering aspects related to:</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Appreciation of the potential of the project for private sector participation based on the projected traffic at the airport</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Specifying a framework for monitoring performance of the private sector partner through specification of Minimum Performance Specifications and Standards (MPSS) for construction and operations and maintenance related works at the airport</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Study of provisions related to Legal and Institutional Analysis and undertaking Risk Assessment</a:t>
              </a:r>
              <a:br>
                <a:rPr lang="en-US" sz="1200" dirty="0">
                  <a:solidFill>
                    <a:srgbClr val="000000"/>
                  </a:solidFill>
                  <a:latin typeface="+mj-lt"/>
                  <a:ea typeface="Verdana" panose="020B0604030504040204" pitchFamily="34" charset="0"/>
                  <a:cs typeface="Verdana" panose="020B0604030504040204" pitchFamily="34" charset="0"/>
                </a:rPr>
              </a:br>
              <a:r>
                <a:rPr lang="en-US" sz="1200" dirty="0">
                  <a:solidFill>
                    <a:srgbClr val="000000"/>
                  </a:solidFill>
                  <a:latin typeface="+mj-lt"/>
                  <a:ea typeface="Verdana" panose="020B0604030504040204" pitchFamily="34" charset="0"/>
                  <a:cs typeface="Verdana" panose="020B0604030504040204" pitchFamily="34" charset="0"/>
                </a:rPr>
                <a:t>Undertaking financial analyses including Development of Financial Model, Sensitivity Analyses and economic analysis</a:t>
              </a:r>
            </a:p>
            <a:p>
              <a:pPr lvl="0" defTabSz="914400">
                <a:defRPr/>
              </a:pPr>
              <a:r>
                <a:rPr lang="en-US" sz="1200" b="1" dirty="0">
                  <a:solidFill>
                    <a:srgbClr val="000000"/>
                  </a:solidFill>
                  <a:latin typeface="+mj-lt"/>
                  <a:ea typeface="Verdana" panose="020B0604030504040204" pitchFamily="34" charset="0"/>
                  <a:cs typeface="Verdana" panose="020B0604030504040204" pitchFamily="34" charset="0"/>
                </a:rPr>
                <a:t>Task 2: </a:t>
              </a:r>
              <a:r>
                <a:rPr lang="en-US" sz="1200" dirty="0">
                  <a:solidFill>
                    <a:srgbClr val="000000"/>
                  </a:solidFill>
                  <a:latin typeface="+mj-lt"/>
                  <a:ea typeface="Verdana" panose="020B0604030504040204" pitchFamily="34" charset="0"/>
                  <a:cs typeface="Verdana" panose="020B0604030504040204" pitchFamily="34" charset="0"/>
                </a:rPr>
                <a:t>Based on the assessment of project viability and various legal, institutional and risk provisions, providing recommendation of an appropriate PPP Option for the development of the airport</a:t>
              </a:r>
              <a:br>
                <a:rPr lang="en-US" sz="1200" dirty="0">
                  <a:solidFill>
                    <a:srgbClr val="000000"/>
                  </a:solidFill>
                  <a:latin typeface="+mj-lt"/>
                  <a:ea typeface="Verdana" panose="020B0604030504040204" pitchFamily="34" charset="0"/>
                  <a:cs typeface="Verdana" panose="020B0604030504040204" pitchFamily="34" charset="0"/>
                </a:rPr>
              </a:br>
              <a:r>
                <a:rPr lang="en-US" sz="1200" b="1" dirty="0">
                  <a:solidFill>
                    <a:srgbClr val="000000"/>
                  </a:solidFill>
                  <a:latin typeface="+mj-lt"/>
                  <a:ea typeface="Verdana" panose="020B0604030504040204" pitchFamily="34" charset="0"/>
                  <a:cs typeface="Verdana" panose="020B0604030504040204" pitchFamily="34" charset="0"/>
                </a:rPr>
                <a:t>Task</a:t>
              </a:r>
              <a:r>
                <a:rPr lang="en-US" sz="1200" dirty="0">
                  <a:solidFill>
                    <a:srgbClr val="000000"/>
                  </a:solidFill>
                  <a:latin typeface="+mj-lt"/>
                  <a:ea typeface="Verdana" panose="020B0604030504040204" pitchFamily="34" charset="0"/>
                  <a:cs typeface="Verdana" panose="020B0604030504040204" pitchFamily="34" charset="0"/>
                </a:rPr>
                <a:t> </a:t>
              </a:r>
              <a:r>
                <a:rPr lang="en-US" sz="1200" b="1" dirty="0">
                  <a:solidFill>
                    <a:srgbClr val="000000"/>
                  </a:solidFill>
                  <a:latin typeface="+mj-lt"/>
                  <a:ea typeface="Verdana" panose="020B0604030504040204" pitchFamily="34" charset="0"/>
                  <a:cs typeface="Verdana" panose="020B0604030504040204" pitchFamily="34" charset="0"/>
                </a:rPr>
                <a:t>3</a:t>
              </a:r>
              <a:r>
                <a:rPr lang="en-US" sz="1200" dirty="0">
                  <a:solidFill>
                    <a:srgbClr val="000000"/>
                  </a:solidFill>
                  <a:latin typeface="+mj-lt"/>
                  <a:ea typeface="Verdana" panose="020B0604030504040204" pitchFamily="34" charset="0"/>
                  <a:cs typeface="Verdana" panose="020B0604030504040204" pitchFamily="34" charset="0"/>
                </a:rPr>
                <a:t>: Final Financial Analysis and Project Structuring of the Selected Option, covering:</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Undertaking Financial modeling for assessment of financial viability of the project based on Projected traffic, estimated capital and operation and maintenance costs and revenues </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Sensitivity analysis for critical factors impacting the viability of the project</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Specifying Legal and institutional arrangements and contract structure based on Risk allocation matrix and the proposed mitigation measures; </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Preparation of a Project Implementation Schedule defining timelines for key activities and deliverables for the project</a:t>
              </a:r>
            </a:p>
            <a:p>
              <a:pPr lvl="0" defTabSz="914400">
                <a:defRPr/>
              </a:pPr>
              <a:r>
                <a:rPr lang="en-US" sz="1200" b="1" dirty="0">
                  <a:solidFill>
                    <a:srgbClr val="000000"/>
                  </a:solidFill>
                  <a:latin typeface="+mj-lt"/>
                  <a:ea typeface="Verdana" panose="020B0604030504040204" pitchFamily="34" charset="0"/>
                  <a:cs typeface="Verdana" panose="020B0604030504040204" pitchFamily="34" charset="0"/>
                </a:rPr>
                <a:t>Task 4: </a:t>
              </a:r>
              <a:r>
                <a:rPr lang="en-US" sz="1200" dirty="0">
                  <a:solidFill>
                    <a:srgbClr val="000000"/>
                  </a:solidFill>
                  <a:latin typeface="+mj-lt"/>
                  <a:ea typeface="Verdana" panose="020B0604030504040204" pitchFamily="34" charset="0"/>
                  <a:cs typeface="Verdana" panose="020B0604030504040204" pitchFamily="34" charset="0"/>
                </a:rPr>
                <a:t>Support to the DOTC in finalization of the requirements and taking approval for the project from National Economic and Development Authority </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Airport PPP Transactions</a:t>
            </a:r>
          </a:p>
        </p:txBody>
      </p:sp>
    </p:spTree>
    <p:extLst>
      <p:ext uri="{BB962C8B-B14F-4D97-AF65-F5344CB8AC3E}">
        <p14:creationId xmlns:p14="http://schemas.microsoft.com/office/powerpoint/2010/main" val="84722811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Transaction Advisor for O&amp;M arrangement for the select areas of Ahmedabad and Jaipur airports</a:t>
            </a:r>
          </a:p>
        </p:txBody>
      </p:sp>
      <p:grpSp>
        <p:nvGrpSpPr>
          <p:cNvPr id="3" name="Group 2"/>
          <p:cNvGrpSpPr/>
          <p:nvPr/>
        </p:nvGrpSpPr>
        <p:grpSpPr>
          <a:xfrm>
            <a:off x="352350" y="1393103"/>
            <a:ext cx="10014280" cy="5669849"/>
            <a:chOff x="352350" y="1477563"/>
            <a:chExt cx="11247119" cy="6282238"/>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6129047"/>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Airports Authority of India (“Authority”), established under Airports Authority of India Act, 1994 (“Act”), is a Category-I Mini-Ratna Public Sector Enterprise. The Authority is mandated under the Act, inter alia, to manage the airports, civil enclaves and the aeronautical communication stations efficiently (other than airports and airfields belonging to, or subject to the control of, any armed force of the Union). The Authority in its persistent efforts to provide world class infrastructure and services to its stakeholders has been endeavoring to excel amongst its global peers by undertaking various initiatives. As one of the initiatives, the Authority, has now, decided to seek a strategic partner for Operation &amp; Maintenance (the “O&amp;M”) to ensure highest standards of service in select areas other than city side and air side but including passenger terminal, car park, aprons and associated utilities of the Sardar Vallabhbhai Patel International Airport at Ahmedabad, Gujarat and Jaipur Airport, Rajasthan, by entering into an O&amp;M contract (the “Project”).</a:t>
              </a:r>
            </a:p>
            <a:p>
              <a:pPr lvl="0" algn="just" defTabSz="914400">
                <a:defRPr/>
              </a:pPr>
              <a:endParaRPr lang="en-US" sz="1000"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defTabSz="914400">
                <a:defRPr/>
              </a:pPr>
              <a:r>
                <a:rPr lang="en-US" sz="1200" dirty="0">
                  <a:solidFill>
                    <a:srgbClr val="000000"/>
                  </a:solidFill>
                  <a:latin typeface="+mj-lt"/>
                  <a:ea typeface="Verdana" panose="020B0604030504040204" pitchFamily="34" charset="0"/>
                  <a:cs typeface="Verdana" panose="020B0604030504040204" pitchFamily="34" charset="0"/>
                </a:rPr>
                <a:t>Deloitte has been appointed as a transaction advisor for O&amp;M arrangement for the select areas of Ahmedabad and Jaipur airports. As part of the assignment, Deloitte is responsible for the following activities:-</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Evaluating various options for O&amp;M structures for the project which inter alia will include the roles and responsibilities of each party with reference to various O&amp;M aspects including but not limited to operations and maintenance of the terminal building, O&amp;M period (5 years, 10 years, 15 years or any other time period), interfacing issues at airside and city side, roles and responsibilities of O&amp;M operator in renegotiation of third party vendors contracts, etc.</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Promoting the project to the global airport operators – across Europe, Asia, and Americas etc. This task involved reaching out to more than 15 reputable international airport operators and discussing the broad contours of the project. The team also guided AAI in terms of other measures to promote project, including advertising on infrastructure portals etc.</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Engaging in an dialogue with the market participants on scope and structure of the transaction to ensure increased participation</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Identifying and structuring financial and commercial aspects of the agreed O&amp;M structure</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Undertaking financial assessment / modelling for the Project including:</a:t>
              </a:r>
            </a:p>
            <a:p>
              <a:pPr marL="692887"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Projections of revenues for the private concessionaire</a:t>
              </a:r>
            </a:p>
            <a:p>
              <a:pPr marL="692887"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Projections of O&amp;M costs for the private concessionaire</a:t>
              </a:r>
            </a:p>
            <a:p>
              <a:pPr marL="692887"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Assessing the viability of the O&amp;M model for the O&amp;M operator</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Preparation of Term Sheet(s) for various agreement(s) to be signed for the project covering financial, legal, technical and commercial aspect</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a:t>
            </a:r>
            <a:r>
              <a:rPr lang="en-US" sz="2400" dirty="0">
                <a:solidFill>
                  <a:srgbClr val="000000"/>
                </a:solidFill>
                <a:ea typeface="Verdana" panose="020B0604030504040204" pitchFamily="34" charset="0"/>
                <a:cs typeface="Verdana" panose="020B0604030504040204" pitchFamily="34" charset="0"/>
              </a:rPr>
              <a:t>Airport PPP Transactions</a:t>
            </a:r>
            <a:endPar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2304189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defRPr/>
            </a:pPr>
            <a:r>
              <a:rPr lang="en-GB" sz="1600" b="1" dirty="0">
                <a:solidFill>
                  <a:srgbClr val="012169"/>
                </a:solidFill>
                <a:latin typeface="Verdana" panose="020B0604030504040204" pitchFamily="34" charset="0"/>
                <a:ea typeface="Verdana" panose="020B0604030504040204" pitchFamily="34" charset="0"/>
                <a:cs typeface="Verdana" panose="020B0604030504040204" pitchFamily="34" charset="0"/>
              </a:rPr>
              <a:t>Transaction advisory for key international and regional airports in Philippines across Laguindingan Airport</a:t>
            </a:r>
          </a:p>
        </p:txBody>
      </p:sp>
      <p:grpSp>
        <p:nvGrpSpPr>
          <p:cNvPr id="3" name="Group 2"/>
          <p:cNvGrpSpPr/>
          <p:nvPr/>
        </p:nvGrpSpPr>
        <p:grpSpPr>
          <a:xfrm>
            <a:off x="352350" y="1507402"/>
            <a:ext cx="10014280" cy="3779825"/>
            <a:chOff x="352350" y="1477563"/>
            <a:chExt cx="11247119" cy="3779825"/>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3626634"/>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Department of Transport and Communications appointed Deloitte to assist in assessing potential private sector participation in financial feasibility of Laguindingan Airport, Philippines</a:t>
              </a:r>
            </a:p>
            <a:p>
              <a:pPr marL="135731" lvl="0" indent="-135731" algn="just" defTabSz="914400">
                <a:buFontTx/>
                <a:buChar char="•"/>
                <a:defRPr/>
              </a:pPr>
              <a:endParaRPr lang="en-US" sz="1200"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Undertaking traffic projections to understand the need for development / expansion </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Preparation of financial models and projecting the financials for the project, arriving at potential investment required, assessing financial attractiveness and assessing the economic benefits of the project</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Project structuring including assessment of the scope of the project, risk allocation, economic regulation etc. </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Market assessment including consultations with private sector for assessing development models, seeking their inputs on risk, and project structuring, which included advisory assistance on the concession scope and period</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Advising on bidding strategy viz. bid variables;  factoring in  the grouping / bundling of airports and therein capturing legal complexities in implementation</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Developing performance standards for airport operations and mechanisms to monitor performance of the private sector proponent. Defining penal provisions for non-performance</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Providing transaction advisory services until project award and financial close, including ongoing support in undertaking market interactions etc.</a:t>
              </a:r>
            </a:p>
            <a:p>
              <a:pPr lvl="0" algn="just" defTabSz="914400">
                <a:defRPr/>
              </a:pPr>
              <a:endParaRPr lang="en-GB" sz="1200" b="1" dirty="0">
                <a:solidFill>
                  <a:srgbClr val="000000"/>
                </a:solidFill>
                <a:latin typeface="+mj-lt"/>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a:t>
            </a:r>
            <a:r>
              <a:rPr lang="en-US" sz="2400" dirty="0">
                <a:solidFill>
                  <a:srgbClr val="000000"/>
                </a:solidFill>
                <a:ea typeface="Verdana" panose="020B0604030504040204" pitchFamily="34" charset="0"/>
                <a:cs typeface="Verdana" panose="020B0604030504040204" pitchFamily="34" charset="0"/>
              </a:rPr>
              <a:t>Airport PPP Transactions</a:t>
            </a:r>
            <a:endPar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56771340"/>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Transaction Advisory for Operation and Maintenance of Iloilo, Davao and Bacolod airports</a:t>
            </a:r>
          </a:p>
        </p:txBody>
      </p:sp>
      <p:grpSp>
        <p:nvGrpSpPr>
          <p:cNvPr id="3" name="Group 2"/>
          <p:cNvGrpSpPr/>
          <p:nvPr/>
        </p:nvGrpSpPr>
        <p:grpSpPr>
          <a:xfrm>
            <a:off x="352350" y="1507402"/>
            <a:ext cx="10014280" cy="3964491"/>
            <a:chOff x="352350" y="1477563"/>
            <a:chExt cx="11247119" cy="3964491"/>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3811300"/>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Department of Transport and Communications appointed Deloitte to assist in assessing potential private sector participation in expansion and O&amp;M of 6 airports in Philippines spanning across four engagements including Iloilo, Davao and Bacolod airports.</a:t>
              </a:r>
            </a:p>
            <a:p>
              <a:pPr lvl="0" algn="just" defTabSz="914400">
                <a:defRPr/>
              </a:pPr>
              <a:endParaRPr lang="en-US" sz="1200"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Undertaking traffic projections to understand the need for development / expansion </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Preparation of financial models and projecting the financials for the project, arriving at potential investment required, assessing financial attractiveness and assessing the economic benefits of the project</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Project structuring including assessment of the scope of the project, risk allocation, economic regulation etc. </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Market assessment including consultations with private sector for assessing development models, seeking their inputs on risk, and project structuring, which included advisory assistance on the concession scope and period</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Advising on bidding strategy viz. bid variables;  factoring in  the grouping / bundling of airports and therein capturing legal complexities in implementation</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Developing performance standards for airport operations and mechanisms to monitor performance of the private sector proponent. Defining penal provisions for non-performance</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Providing transaction advisory services until project award and financial close, including ongoing support in undertaking market interactions etc.</a:t>
              </a:r>
            </a:p>
            <a:p>
              <a:pPr lvl="0" algn="just" defTabSz="914400">
                <a:defRPr/>
              </a:pPr>
              <a:endParaRPr lang="en-GB" sz="1200" b="1" dirty="0">
                <a:solidFill>
                  <a:srgbClr val="000000"/>
                </a:solidFill>
                <a:latin typeface="+mj-lt"/>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a:t>
            </a:r>
            <a:r>
              <a:rPr lang="en-US" sz="2400" dirty="0">
                <a:solidFill>
                  <a:srgbClr val="000000"/>
                </a:solidFill>
                <a:ea typeface="Verdana" panose="020B0604030504040204" pitchFamily="34" charset="0"/>
                <a:cs typeface="Verdana" panose="020B0604030504040204" pitchFamily="34" charset="0"/>
              </a:rPr>
              <a:t>Airport PPP Transactions</a:t>
            </a:r>
            <a:endPar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13996765"/>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352346" y="1507402"/>
            <a:ext cx="10014283" cy="4215842"/>
            <a:chOff x="352350" y="1477563"/>
            <a:chExt cx="11247119" cy="4215842"/>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4062651"/>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Maharashtra Airport Development Company (MADC) appointed Deloitte for selection of strategic partner for completion of Shirdi Airport on Public Private Participation</a:t>
              </a:r>
            </a:p>
            <a:p>
              <a:pPr lvl="0" algn="just" defTabSz="914400">
                <a:spcBef>
                  <a:spcPts val="225"/>
                </a:spcBef>
                <a:spcAft>
                  <a:spcPts val="225"/>
                </a:spcAft>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spcBef>
                  <a:spcPts val="225"/>
                </a:spcBef>
                <a:spcAft>
                  <a:spcPts val="225"/>
                </a:spcAft>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Preparation of Financial Feasibility study &amp; due diligence, which involved the following tasks:</a:t>
              </a:r>
            </a:p>
            <a:p>
              <a:pPr marL="514350" lvl="1" indent="-171450" algn="just" defTabSz="914400">
                <a:spcBef>
                  <a:spcPts val="225"/>
                </a:spcBef>
                <a:spcAft>
                  <a:spcPts val="225"/>
                </a:spcAft>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Preparation of financial models and projecting the financials for the project, arriving at potential investment required, assessing project’s financial attractiveness, and assessing the economic benefits of the project</a:t>
              </a:r>
            </a:p>
            <a:p>
              <a:pPr marL="514350" lvl="1" indent="-171450" algn="just" defTabSz="914400">
                <a:spcBef>
                  <a:spcPts val="225"/>
                </a:spcBef>
                <a:spcAft>
                  <a:spcPts val="225"/>
                </a:spcAft>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Assessment of the different forms of revenue generating potential of the Project and recommendation of the most feasible solution </a:t>
              </a:r>
            </a:p>
            <a:p>
              <a:pPr marL="514350" lvl="1" indent="-171450" algn="just" defTabSz="914400">
                <a:spcBef>
                  <a:spcPts val="225"/>
                </a:spcBef>
                <a:spcAft>
                  <a:spcPts val="225"/>
                </a:spcAft>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Assessment of various contracting options for implementing the MADC's selected technical solution and cost-breakdown estimates to calculate the value-for-money deriving from each contracting option</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Transaction Design &amp; Implementation involved the following activities:</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Preparation of Bid Documents</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Detailed Transaction Design and Stakeholder Consultation</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Assisting in undertaking the bid process, disseminating information to bidders and conducting pre-bid meeting(s)</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Evaluation of Proposals &amp; Management of Bidding Process</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Contract Award, Conditions Precedent and Financial Close</a:t>
              </a:r>
            </a:p>
          </p:txBody>
        </p:sp>
      </p:grpSp>
      <p:sp>
        <p:nvSpPr>
          <p:cNvPr id="10" name="Text Placeholder 1"/>
          <p:cNvSpPr txBox="1">
            <a:spLocks/>
          </p:cNvSpPr>
          <p:nvPr/>
        </p:nvSpPr>
        <p:spPr>
          <a:xfrm>
            <a:off x="352347" y="913169"/>
            <a:ext cx="11247120" cy="284471"/>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300"/>
              </a:spcAft>
              <a:buClrTx/>
              <a:buSzTx/>
              <a:buFont typeface="Arial" pitchFamily="34" charset="0"/>
              <a:buNone/>
              <a:tabLst/>
              <a:defRPr/>
            </a:pPr>
            <a:r>
              <a:rPr kumimoji="0" lang="en-US" sz="1600" b="1" i="0" u="none" strike="noStrike" kern="120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rPr>
              <a:t>Shirdi Airport (MADC) on PPP Basis</a:t>
            </a:r>
          </a:p>
        </p:txBody>
      </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1" name="Straight Connector 10"/>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Airport PPP Transactions</a:t>
            </a:r>
          </a:p>
        </p:txBody>
      </p:sp>
    </p:spTree>
    <p:extLst>
      <p:ext uri="{BB962C8B-B14F-4D97-AF65-F5344CB8AC3E}">
        <p14:creationId xmlns:p14="http://schemas.microsoft.com/office/powerpoint/2010/main" val="1666318342"/>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352347" y="1868498"/>
            <a:ext cx="10014283" cy="4859055"/>
            <a:chOff x="352349" y="1464116"/>
            <a:chExt cx="11247120" cy="4667495"/>
          </a:xfrm>
        </p:grpSpPr>
        <p:sp>
          <p:nvSpPr>
            <p:cNvPr id="15" name="Rectangle 14"/>
            <p:cNvSpPr/>
            <p:nvPr/>
          </p:nvSpPr>
          <p:spPr>
            <a:xfrm>
              <a:off x="352349" y="1464116"/>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16" name="Rectangle 15"/>
            <p:cNvSpPr/>
            <p:nvPr/>
          </p:nvSpPr>
          <p:spPr>
            <a:xfrm>
              <a:off x="352350" y="1630754"/>
              <a:ext cx="11247119" cy="4500857"/>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Private Sector client (a Japanese Infrastructure Major) appointed Deloitte to advise an appropriate strategy for participating in the development of proposed greenfield international airport in Dholera (Gujarat). The engagement involved providing inputs pertaining to key strategic aspects of such participation comprising project structuring schemes, financing schemes, applicable policies (both national and state-level) on PPP projects in general and airport projects in particular and investment and taxation related laws.</a:t>
              </a:r>
            </a:p>
            <a:p>
              <a:pPr lvl="0" algn="just" defTabSz="914400">
                <a:spcBef>
                  <a:spcPts val="225"/>
                </a:spcBef>
                <a:spcAft>
                  <a:spcPts val="225"/>
                </a:spcAft>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marL="0" lvl="1" defTabSz="914400">
                <a:lnSpc>
                  <a:spcPct val="106000"/>
                </a:lnSpc>
                <a:buClr>
                  <a:srgbClr val="000000"/>
                </a:buClr>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 :</a:t>
              </a:r>
            </a:p>
            <a:p>
              <a:pPr marL="201168" lvl="1" indent="-201168" defTabSz="914400">
                <a:lnSpc>
                  <a:spcPct val="106000"/>
                </a:lnSpc>
                <a:buClr>
                  <a:srgbClr val="000000"/>
                </a:buClr>
                <a:buFont typeface="Arial" charset="0"/>
                <a:buChar char="•"/>
                <a:defRPr/>
              </a:pPr>
              <a:r>
                <a:rPr lang="en-US" sz="1200" dirty="0">
                  <a:solidFill>
                    <a:srgbClr val="000000"/>
                  </a:solidFill>
                  <a:latin typeface="+mj-lt"/>
                  <a:ea typeface="Verdana" panose="020B0604030504040204" pitchFamily="34" charset="0"/>
                  <a:cs typeface="Verdana" panose="020B0604030504040204" pitchFamily="34" charset="0"/>
                </a:rPr>
                <a:t>Inputs on PPP based schemes in India</a:t>
              </a:r>
            </a:p>
            <a:p>
              <a:pPr marL="201168" lvl="1" indent="-201168" defTabSz="914400">
                <a:lnSpc>
                  <a:spcPct val="106000"/>
                </a:lnSpc>
                <a:buClr>
                  <a:srgbClr val="000000"/>
                </a:buClr>
                <a:buFont typeface="Arial" charset="0"/>
                <a:buChar char="•"/>
                <a:defRPr/>
              </a:pPr>
              <a:r>
                <a:rPr lang="en-US" sz="1200" dirty="0">
                  <a:solidFill>
                    <a:srgbClr val="000000"/>
                  </a:solidFill>
                  <a:latin typeface="+mj-lt"/>
                  <a:ea typeface="Verdana" panose="020B0604030504040204" pitchFamily="34" charset="0"/>
                  <a:cs typeface="Verdana" panose="020B0604030504040204" pitchFamily="34" charset="0"/>
                </a:rPr>
                <a:t>Evaluation of Financing Options through Yen-Loan Credit Schemes offered by Government of Japan</a:t>
              </a:r>
            </a:p>
            <a:p>
              <a:pPr marL="519113" lvl="2" indent="-177800" defTabSz="914400">
                <a:lnSpc>
                  <a:spcPct val="106000"/>
                </a:lnSpc>
                <a:buClr>
                  <a:srgbClr val="000000"/>
                </a:buClr>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Evaluating repayment terms for different schemes- Official Development Assistance, STEP loans and Private Sector Investment Finance</a:t>
              </a:r>
            </a:p>
            <a:p>
              <a:pPr marL="519113" lvl="2" indent="-177800" defTabSz="914400">
                <a:lnSpc>
                  <a:spcPct val="106000"/>
                </a:lnSpc>
                <a:buClr>
                  <a:srgbClr val="000000"/>
                </a:buClr>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Understanding end to end process of securing the loan</a:t>
              </a:r>
            </a:p>
            <a:p>
              <a:pPr marL="519113" lvl="2" indent="-177800" defTabSz="914400">
                <a:lnSpc>
                  <a:spcPct val="106000"/>
                </a:lnSpc>
                <a:buClr>
                  <a:srgbClr val="000000"/>
                </a:buClr>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Conduct stakeholder consultations with Japanese funding agencies – JICA and JBIC and DIACL ( SPV for Dholera Airport)</a:t>
              </a:r>
            </a:p>
            <a:p>
              <a:pPr marL="519113" lvl="2" indent="-177800" defTabSz="914400">
                <a:lnSpc>
                  <a:spcPct val="106000"/>
                </a:lnSpc>
                <a:buClr>
                  <a:srgbClr val="000000"/>
                </a:buClr>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Understanding incentives offered by Central and State Government agencies</a:t>
              </a:r>
            </a:p>
            <a:p>
              <a:pPr marL="519113" lvl="2" indent="-177800" defTabSz="914400">
                <a:lnSpc>
                  <a:spcPct val="106000"/>
                </a:lnSpc>
                <a:buClr>
                  <a:srgbClr val="000000"/>
                </a:buClr>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Review of currency conversion guidelines for risk hedging    </a:t>
              </a:r>
            </a:p>
            <a:p>
              <a:pPr marL="201168" lvl="1" indent="-201168" defTabSz="914400">
                <a:lnSpc>
                  <a:spcPct val="106000"/>
                </a:lnSpc>
                <a:buClr>
                  <a:srgbClr val="000000"/>
                </a:buClr>
                <a:buFont typeface="Arial" charset="0"/>
                <a:buChar char="•"/>
                <a:defRPr/>
              </a:pPr>
              <a:r>
                <a:rPr lang="en-US" sz="1200" dirty="0">
                  <a:solidFill>
                    <a:srgbClr val="000000"/>
                  </a:solidFill>
                  <a:latin typeface="+mj-lt"/>
                  <a:ea typeface="Verdana" panose="020B0604030504040204" pitchFamily="34" charset="0"/>
                  <a:cs typeface="Verdana" panose="020B0604030504040204" pitchFamily="34" charset="0"/>
                </a:rPr>
                <a:t>Review of investment and taxation laws </a:t>
              </a:r>
            </a:p>
            <a:p>
              <a:pPr marL="201168" lvl="1" indent="-201168" defTabSz="914400">
                <a:lnSpc>
                  <a:spcPct val="106000"/>
                </a:lnSpc>
                <a:buClr>
                  <a:srgbClr val="000000"/>
                </a:buClr>
                <a:buFont typeface="Arial" charset="0"/>
                <a:buChar char="•"/>
                <a:defRPr/>
              </a:pPr>
              <a:r>
                <a:rPr lang="en-US" sz="1200" dirty="0">
                  <a:solidFill>
                    <a:srgbClr val="000000"/>
                  </a:solidFill>
                  <a:latin typeface="+mj-lt"/>
                  <a:ea typeface="Verdana" panose="020B0604030504040204" pitchFamily="34" charset="0"/>
                  <a:cs typeface="Verdana" panose="020B0604030504040204" pitchFamily="34" charset="0"/>
                </a:rPr>
                <a:t>Preparation of case studies (3 nos.) to understand relevant project structuring and financing scheme related parameters for airport projects in India and South-Asia</a:t>
              </a:r>
            </a:p>
            <a:p>
              <a:pPr marL="201168" lvl="1" indent="-201168" defTabSz="914400">
                <a:lnSpc>
                  <a:spcPct val="106000"/>
                </a:lnSpc>
                <a:buClr>
                  <a:srgbClr val="000000"/>
                </a:buClr>
                <a:buFont typeface="Arial" charset="0"/>
                <a:buChar char="•"/>
                <a:defRPr/>
              </a:pPr>
              <a:r>
                <a:rPr lang="en-US" sz="1200" dirty="0">
                  <a:solidFill>
                    <a:srgbClr val="000000"/>
                  </a:solidFill>
                  <a:latin typeface="+mj-lt"/>
                  <a:ea typeface="Verdana" panose="020B0604030504040204" pitchFamily="34" charset="0"/>
                  <a:cs typeface="Verdana" panose="020B0604030504040204" pitchFamily="34" charset="0"/>
                </a:rPr>
                <a:t>Inputs on laws related to Public Private Partnership (PPP) Projects in India and Gujarat</a:t>
              </a:r>
            </a:p>
            <a:p>
              <a:pPr marL="201168" lvl="1" indent="-201168" defTabSz="914400">
                <a:lnSpc>
                  <a:spcPct val="106000"/>
                </a:lnSpc>
                <a:buClr>
                  <a:srgbClr val="000000"/>
                </a:buClr>
                <a:buFont typeface="Arial" charset="0"/>
                <a:buChar char="•"/>
                <a:defRPr/>
              </a:pPr>
              <a:r>
                <a:rPr lang="en-US" sz="1200" dirty="0">
                  <a:solidFill>
                    <a:srgbClr val="000000"/>
                  </a:solidFill>
                  <a:latin typeface="+mj-lt"/>
                  <a:ea typeface="Verdana" panose="020B0604030504040204" pitchFamily="34" charset="0"/>
                  <a:cs typeface="Verdana" panose="020B0604030504040204" pitchFamily="34" charset="0"/>
                </a:rPr>
                <a:t>Inputs on policy and regulatory environment in Gujarat pertaining to airport projects </a:t>
              </a:r>
            </a:p>
          </p:txBody>
        </p:sp>
      </p:grpSp>
      <p:sp>
        <p:nvSpPr>
          <p:cNvPr id="18" name="Text Placeholder 1"/>
          <p:cNvSpPr txBox="1">
            <a:spLocks/>
          </p:cNvSpPr>
          <p:nvPr/>
        </p:nvSpPr>
        <p:spPr>
          <a:xfrm>
            <a:off x="352347" y="953377"/>
            <a:ext cx="9967310"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300"/>
              </a:spcAft>
              <a:buClrTx/>
              <a:buSzTx/>
              <a:buFont typeface="Arial" pitchFamily="34" charset="0"/>
              <a:buNone/>
              <a:tabLst/>
              <a:defRPr/>
            </a:pPr>
            <a:r>
              <a:rPr kumimoji="0" lang="en-US" sz="1600" b="1" i="0" u="none" strike="noStrike" kern="1200" cap="none" spc="0" normalizeH="0" baseline="0" noProof="0" dirty="0">
                <a:ln>
                  <a:noFill/>
                </a:ln>
                <a:solidFill>
                  <a:srgbClr val="012169"/>
                </a:solidFill>
                <a:effectLst/>
                <a:uLnTx/>
                <a:uFillTx/>
                <a:latin typeface="Verdana" panose="020B0604030504040204" pitchFamily="34" charset="0"/>
                <a:ea typeface="Verdana" panose="020B0604030504040204" pitchFamily="34" charset="0"/>
                <a:cs typeface="Verdana" panose="020B0604030504040204" pitchFamily="34" charset="0"/>
              </a:rPr>
              <a:t>Inputs on PPP structuring and Project scheme related aspects to a leading Japanese Infrastructure Private Sector Player for the proposed Greenfield International Airport in Dholera (Gujarat)</a:t>
            </a:r>
          </a:p>
        </p:txBody>
      </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Airport PPP Transactions</a:t>
            </a:r>
          </a:p>
        </p:txBody>
      </p:sp>
    </p:spTree>
    <p:extLst>
      <p:ext uri="{BB962C8B-B14F-4D97-AF65-F5344CB8AC3E}">
        <p14:creationId xmlns:p14="http://schemas.microsoft.com/office/powerpoint/2010/main" val="2334275459"/>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Consultancy cum transaction advisory for Operations, Management and Development of IGRUA</a:t>
            </a:r>
          </a:p>
        </p:txBody>
      </p:sp>
      <p:grpSp>
        <p:nvGrpSpPr>
          <p:cNvPr id="3" name="Group 2"/>
          <p:cNvGrpSpPr/>
          <p:nvPr/>
        </p:nvGrpSpPr>
        <p:grpSpPr>
          <a:xfrm>
            <a:off x="352350" y="1507402"/>
            <a:ext cx="10014280" cy="2671829"/>
            <a:chOff x="352350" y="1477563"/>
            <a:chExt cx="11247119" cy="2671829"/>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2518638"/>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Ministry of Civil Aviation, India appointed Deloitte to assist in bid process management and selection of strategic partners for Operations, Management and Development of IGRUA</a:t>
              </a:r>
            </a:p>
            <a:p>
              <a:pPr lvl="0" algn="just" defTabSz="914400">
                <a:defRPr/>
              </a:pPr>
              <a:endParaRPr lang="en-US" sz="1200"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defTabSz="914400">
                <a:defRPr/>
              </a:pPr>
              <a:r>
                <a:rPr lang="en-US" sz="1200" dirty="0">
                  <a:solidFill>
                    <a:srgbClr val="000000"/>
                  </a:solidFill>
                  <a:latin typeface="+mj-lt"/>
                  <a:ea typeface="Verdana" panose="020B0604030504040204" pitchFamily="34" charset="0"/>
                  <a:cs typeface="Verdana" panose="020B0604030504040204" pitchFamily="34" charset="0"/>
                </a:rPr>
                <a:t>Deloitte performed the following activities:</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Finalizing  project structure for operation, management and Development of IGRUA  -  Team suggested various project structure for development of IGRUA based on As- Is assessment, risk assessment, financial and legal appraisal, and helped MoCA finalize  upon the most appropriate structure as per there vision for development of IGRUA.</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Assisting in bid process management for selection of strategic partner - Suggested key bidding parameters and terms for engagement for strategic partner based on globally accepted best practices and MoCA's vision for development of IGRUA. Preparing key bidding documents, conducting bid process and evaluating bids for the selection of strategic partner.</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Provided support to the selected partner in the initial phase for smooth transition to the setup.</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a:t>
            </a:r>
            <a:r>
              <a:rPr lang="en-US" sz="2400" dirty="0">
                <a:solidFill>
                  <a:srgbClr val="000000"/>
                </a:solidFill>
                <a:ea typeface="Verdana" panose="020B0604030504040204" pitchFamily="34" charset="0"/>
                <a:cs typeface="Verdana" panose="020B0604030504040204" pitchFamily="34" charset="0"/>
              </a:rPr>
              <a:t>Aviation PPP Transaction</a:t>
            </a:r>
            <a:endPar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3906492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Structuring &amp; Operationalizing of AERA</a:t>
            </a:r>
          </a:p>
        </p:txBody>
      </p:sp>
      <p:grpSp>
        <p:nvGrpSpPr>
          <p:cNvPr id="3" name="Group 2"/>
          <p:cNvGrpSpPr/>
          <p:nvPr/>
        </p:nvGrpSpPr>
        <p:grpSpPr>
          <a:xfrm>
            <a:off x="352350" y="1344116"/>
            <a:ext cx="10014280" cy="3795214"/>
            <a:chOff x="352350" y="1477563"/>
            <a:chExt cx="11247119" cy="3795214"/>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3642023"/>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Airports Economic Regulatory Authority of India (AERA) commissioned Deloitte to advise on (1) structuring the Authority, including capacity building assistance that in turn included development of processes, procedures and systems for its functioning, (2) developing frameworks for economic regulation of services at Major Airports, including assessment of best practices across infrastructure sectors and in other countries</a:t>
              </a:r>
            </a:p>
            <a:p>
              <a:pPr lvl="0" algn="just" defTabSz="914400">
                <a:spcBef>
                  <a:spcPts val="225"/>
                </a:spcBef>
                <a:spcAft>
                  <a:spcPts val="225"/>
                </a:spcAft>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spcBef>
                  <a:spcPts val="225"/>
                </a:spcBef>
                <a:spcAft>
                  <a:spcPts val="225"/>
                </a:spcAft>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marL="128588" lvl="0" indent="-128588"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Institutional structuring of the Authority and development of systems, processes and procedures to enable AERA to discharge its roles and responsibilities</a:t>
              </a:r>
            </a:p>
            <a:p>
              <a:pPr marL="128588" lvl="0" indent="-128588"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Analysis of best practices in economic regulation of infrastructure and services in India as well as globally, and specifically for the airport sector globally</a:t>
              </a:r>
            </a:p>
            <a:p>
              <a:pPr marL="128588" lvl="0" indent="-128588"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Detailed analysis of various regulatory concepts and development of economic regulatory framework for major airports in India, including drafting of Guidelines</a:t>
              </a:r>
            </a:p>
            <a:p>
              <a:pPr marL="128588" lvl="0" indent="-128588"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Laying down tariff philosophy to help the authority undertake appraisal of multi-year tariff (MYT) proposals of key major airports in India</a:t>
              </a:r>
            </a:p>
            <a:p>
              <a:pPr lvl="0" algn="just" defTabSz="914400">
                <a:defRPr/>
              </a:pPr>
              <a:endParaRPr lang="en-US" sz="1200" dirty="0">
                <a:solidFill>
                  <a:srgbClr val="000000"/>
                </a:solidFill>
                <a:latin typeface="+mj-lt"/>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t>
            </a: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Regulatory assistance to AERA</a:t>
            </a:r>
            <a:endParaRPr lang="en-US" sz="2400" dirty="0">
              <a:solidFill>
                <a:srgbClr val="000000"/>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8922342"/>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nSpc>
                <a:spcPct val="120000"/>
              </a:lnSpc>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Review of Financial Models for Tariff Determination the major Airports in India</a:t>
            </a:r>
            <a:endParaRPr lang="en-GB" sz="1600" b="1" dirty="0">
              <a:solidFill>
                <a:srgbClr val="012169"/>
              </a:solidFill>
              <a:latin typeface="Verdana" panose="020B0604030504040204" pitchFamily="34" charset="0"/>
              <a:ea typeface="Verdana" panose="020B0604030504040204" pitchFamily="34" charset="0"/>
              <a:cs typeface="Verdana" panose="020B0604030504040204" pitchFamily="34" charset="0"/>
            </a:endParaRPr>
          </a:p>
        </p:txBody>
      </p:sp>
      <p:grpSp>
        <p:nvGrpSpPr>
          <p:cNvPr id="3" name="Group 2"/>
          <p:cNvGrpSpPr/>
          <p:nvPr/>
        </p:nvGrpSpPr>
        <p:grpSpPr>
          <a:xfrm>
            <a:off x="352350" y="1293699"/>
            <a:ext cx="10014280" cy="5072486"/>
            <a:chOff x="352350" y="1477563"/>
            <a:chExt cx="11247119" cy="5072486"/>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4919295"/>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Airports Economic Regulatory Authority of India (AERA)  commissioned Deloitte to review the Financial Models prepared and submitted by major International Airports across India comprising Delhi, Mumbai, Hyderabad, Chennai, and Kolkata across multiple engagements. The work involved assessment of the models' arithmetic accuracy, verification and correction of logical and calculation integrity, assistance in undertaking certain sensitivity analyses, etc. during the first and second control periods of respective airports.</a:t>
              </a:r>
            </a:p>
            <a:p>
              <a:pPr lvl="0" algn="just" defTabSz="914400">
                <a:spcBef>
                  <a:spcPts val="225"/>
                </a:spcBef>
                <a:spcAft>
                  <a:spcPts val="225"/>
                </a:spcAft>
                <a:defRPr/>
              </a:pPr>
              <a:endParaRPr lang="en-US" sz="1200"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spcBef>
                  <a:spcPts val="225"/>
                </a:spcBef>
                <a:spcAft>
                  <a:spcPts val="225"/>
                </a:spcAft>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Detailed review of the Financial Models and business plan of the leading PPP airports in India</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Undertaking consistency check to ensure that the Financial Models accurately reflect the PPP concession agreement terms and the AERA Act.</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Assistance in undertaking Sensitivity Analyses using the Financial Model</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Assistance in drafting the consultation paper and Multi Year Tariff Order</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Assistance in stakeholder consultation</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Continuous handholding support to the  Authority’s staff</a:t>
              </a:r>
            </a:p>
            <a:p>
              <a:pPr lvl="0" algn="just" defTabSz="914400">
                <a:spcBef>
                  <a:spcPts val="225"/>
                </a:spcBef>
                <a:spcAft>
                  <a:spcPts val="225"/>
                </a:spcAft>
                <a:defRPr/>
              </a:pPr>
              <a:endParaRPr lang="en-US" sz="1200"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GB" sz="1200" b="1" dirty="0">
                  <a:solidFill>
                    <a:srgbClr val="000000"/>
                  </a:solidFill>
                  <a:latin typeface="+mj-lt"/>
                  <a:ea typeface="Verdana" panose="020B0604030504040204" pitchFamily="34" charset="0"/>
                  <a:cs typeface="Verdana" panose="020B0604030504040204" pitchFamily="34" charset="0"/>
                </a:rPr>
                <a:t>Deloitte’s Value Add</a:t>
              </a:r>
            </a:p>
            <a:p>
              <a:pPr marL="171450" lvl="0" indent="-171450" algn="just" defTabSz="914400">
                <a:spcBef>
                  <a:spcPts val="225"/>
                </a:spcBef>
                <a:spcAft>
                  <a:spcPts val="225"/>
                </a:spcAft>
                <a:buFont typeface="Arial" panose="020B0604020202020204" pitchFamily="34" charset="0"/>
                <a:buChar char="•"/>
                <a:defRPr/>
              </a:pPr>
              <a:r>
                <a:rPr lang="en-GB" sz="1200" dirty="0">
                  <a:solidFill>
                    <a:srgbClr val="000000"/>
                  </a:solidFill>
                  <a:latin typeface="+mj-lt"/>
                  <a:ea typeface="Verdana" panose="020B0604030504040204" pitchFamily="34" charset="0"/>
                  <a:cs typeface="Verdana" panose="020B0604030504040204" pitchFamily="34" charset="0"/>
                </a:rPr>
                <a:t>Deloitte leveraged its experience to review the different components of aeronautical and non-aeronautical tariffs for the leading PPP airports in India , their business plans and respective concession agreements to ensure proper consistency in accordance with the terms of AERA Act.</a:t>
              </a:r>
              <a:r>
                <a:rPr lang="en-US" sz="1200" dirty="0">
                  <a:solidFill>
                    <a:srgbClr val="000000"/>
                  </a:solidFill>
                  <a:latin typeface="+mj-lt"/>
                  <a:ea typeface="Verdana" panose="020B0604030504040204" pitchFamily="34" charset="0"/>
                  <a:cs typeface="Verdana" panose="020B0604030504040204" pitchFamily="34" charset="0"/>
                </a:rPr>
                <a:t> Deloitte also assisted the client in drafting of consultation papers and stakeholder consultations for the project. </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t>
            </a: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Regulatory assistance to AERA</a:t>
            </a:r>
            <a:endParaRPr lang="en-US" sz="2400" dirty="0">
              <a:solidFill>
                <a:srgbClr val="000000"/>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973974900"/>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nSpc>
                <a:spcPct val="120000"/>
              </a:lnSpc>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Advisory assistance to Bangalore International Airport Limited (BIAL) on economic regulation</a:t>
            </a:r>
            <a:endParaRPr lang="en-GB" sz="1600" b="1" dirty="0">
              <a:solidFill>
                <a:srgbClr val="012169"/>
              </a:solidFill>
              <a:latin typeface="Verdana" panose="020B0604030504040204" pitchFamily="34" charset="0"/>
              <a:ea typeface="Verdana" panose="020B0604030504040204" pitchFamily="34" charset="0"/>
              <a:cs typeface="Verdana" panose="020B0604030504040204" pitchFamily="34" charset="0"/>
            </a:endParaRPr>
          </a:p>
        </p:txBody>
      </p:sp>
      <p:grpSp>
        <p:nvGrpSpPr>
          <p:cNvPr id="3" name="Group 2"/>
          <p:cNvGrpSpPr/>
          <p:nvPr/>
        </p:nvGrpSpPr>
        <p:grpSpPr>
          <a:xfrm>
            <a:off x="352350" y="1493724"/>
            <a:ext cx="10014280" cy="5598618"/>
            <a:chOff x="352350" y="1477563"/>
            <a:chExt cx="11247119" cy="5680856"/>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5527665"/>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BIAL appointed Deloitte to provide advisory assistance on AERA economic regulations.</a:t>
              </a:r>
            </a:p>
            <a:p>
              <a:pPr lvl="0" algn="just" defTabSz="914400">
                <a:defRPr/>
              </a:pPr>
              <a:endParaRPr lang="en-US" sz="1200" b="1" dirty="0">
                <a:latin typeface="+mj-lt"/>
                <a:ea typeface="Verdana" panose="020B0604030504040204" pitchFamily="34" charset="0"/>
                <a:cs typeface="Verdana" panose="020B0604030504040204" pitchFamily="34" charset="0"/>
              </a:endParaRPr>
            </a:p>
            <a:p>
              <a:pPr lvl="0" algn="just" defTabSz="914400">
                <a:defRPr/>
              </a:pPr>
              <a:r>
                <a:rPr lang="en-US" sz="1200" b="1" dirty="0">
                  <a:latin typeface="+mj-lt"/>
                  <a:ea typeface="Verdana" panose="020B0604030504040204" pitchFamily="34" charset="0"/>
                  <a:cs typeface="Verdana" panose="020B0604030504040204" pitchFamily="34" charset="0"/>
                </a:rPr>
                <a:t>Description</a:t>
              </a:r>
            </a:p>
            <a:p>
              <a:pPr lvl="0" algn="just" defTabSz="914400">
                <a:defRPr/>
              </a:pPr>
              <a:r>
                <a:rPr lang="en-US" sz="1200" dirty="0">
                  <a:latin typeface="+mj-lt"/>
                  <a:ea typeface="Verdana" panose="020B0604030504040204" pitchFamily="34" charset="0"/>
                  <a:cs typeface="Verdana" panose="020B0604030504040204" pitchFamily="34" charset="0"/>
                </a:rPr>
                <a:t>Assistance prior to &amp; during the Stakeholder Consultation Meeting</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Assisting BIAL in reconciliation of tariff model with that of the Authority capturing its proposal in the Consultation Paper based on interactions with AERA’s Consultants</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Identifying, analyzing and presenting to the BIAL Management all the regulatory proposals in the Consultation Paper which adversely impact the BIAL’s aeronautical charges and quantifying the financial impact of such proposals on BIAL’s business plan</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Preparing responses / submissions on behalf of BIAL on such proposals of the Consultation Paper which can be used for discussions with different stakeholders such as MoCA, AERA, GoK, airlines, aviation service providers etc. and used during the stakeholders meeting</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Highlighting issues which could be represented through industry associations and assisting BIAL in liaising with these stakeholders to obtain the desired response</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During the stakeholder consultation meeting, recording key objections raised by AERA and other stakeholders on the presentation and submissions made by BIAL</a:t>
              </a:r>
            </a:p>
            <a:p>
              <a:pPr lvl="0" algn="just" defTabSz="914400">
                <a:defRPr/>
              </a:pPr>
              <a:r>
                <a:rPr lang="en-US" sz="1200" dirty="0">
                  <a:latin typeface="+mj-lt"/>
                  <a:ea typeface="Verdana" panose="020B0604030504040204" pitchFamily="34" charset="0"/>
                  <a:cs typeface="Verdana" panose="020B0604030504040204" pitchFamily="34" charset="0"/>
                </a:rPr>
                <a:t>Assistance post the Stakeholder Consultation Meeting</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Highlighting opportunities/issues where presentation of fresh arguments may help substantiate BIAL’s points in a more effective manner </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Interacting with BIAL on issues which would require a fresh study / conceptual note / legal opinion etc. to substantiate its point and coordinating to obtain the same</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Participating in meetings with the APAO and preparing presentation decks which would be used by BIAL for negotiations during such meetings</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Drafting BIAL’s response to be submitted to AERA in response to the Consultation Paper</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Preparing responses (submissions) to the concerns raised by stakeholders justifying the position of BIAL, guided by the context of the Indian regulatory framework and examples of comparable airports</a:t>
              </a:r>
            </a:p>
            <a:p>
              <a:pPr marL="171450" lvl="0" indent="-171450" algn="just" defTabSz="914400">
                <a:buFont typeface="Arial" panose="020B0604020202020204" pitchFamily="34" charset="0"/>
                <a:buChar char="•"/>
                <a:defRPr/>
              </a:pPr>
              <a:r>
                <a:rPr lang="en-US" sz="1200" dirty="0">
                  <a:latin typeface="+mj-lt"/>
                  <a:ea typeface="Verdana" panose="020B0604030504040204" pitchFamily="34" charset="0"/>
                  <a:cs typeface="Verdana" panose="020B0604030504040204" pitchFamily="34" charset="0"/>
                </a:rPr>
                <a:t>Preparing responses to queries raised by AERA (Based on our understanding of AERA’s intent behind such queries) so that information/justification sought can be provided in a manner that strengthens BIAL’s position</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t>
            </a: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Regulatory assistance to BIAL</a:t>
            </a:r>
            <a:endParaRPr lang="en-US" sz="2400" dirty="0">
              <a:solidFill>
                <a:srgbClr val="000000"/>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45352888"/>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10087890"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nSpc>
                <a:spcPct val="120000"/>
              </a:lnSpc>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Assisting Changi Airport Fuel Hydrant Installation Pte. Ltd. (CAFHI) in quantifying financial implications under different regulatory mechanisms</a:t>
            </a:r>
            <a:endParaRPr lang="en-GB" sz="1600" b="1" dirty="0">
              <a:solidFill>
                <a:srgbClr val="012169"/>
              </a:solidFill>
              <a:latin typeface="Verdana" panose="020B0604030504040204" pitchFamily="34" charset="0"/>
              <a:ea typeface="Verdana" panose="020B0604030504040204" pitchFamily="34" charset="0"/>
              <a:cs typeface="Verdana" panose="020B0604030504040204" pitchFamily="34" charset="0"/>
            </a:endParaRPr>
          </a:p>
        </p:txBody>
      </p:sp>
      <p:grpSp>
        <p:nvGrpSpPr>
          <p:cNvPr id="3" name="Group 2"/>
          <p:cNvGrpSpPr/>
          <p:nvPr/>
        </p:nvGrpSpPr>
        <p:grpSpPr>
          <a:xfrm>
            <a:off x="352350" y="1558937"/>
            <a:ext cx="10014280" cy="3905847"/>
            <a:chOff x="352350" y="1477563"/>
            <a:chExt cx="11247119" cy="3963219"/>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3810028"/>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ea typeface="Verdana" panose="020B0604030504040204" pitchFamily="34" charset="0"/>
                  <a:cs typeface="Verdana" panose="020B0604030504040204" pitchFamily="34" charset="0"/>
                </a:rPr>
                <a:t>CAFHI appointed Deloitte to provide advisory assistance in economic regulation which included quantifying the financial implications for them under different regulatory mechanisms.</a:t>
              </a:r>
            </a:p>
            <a:p>
              <a:pPr lvl="0" algn="just" defTabSz="914400">
                <a:spcBef>
                  <a:spcPts val="225"/>
                </a:spcBef>
                <a:spcAft>
                  <a:spcPts val="225"/>
                </a:spcAft>
                <a:defRPr/>
              </a:pPr>
              <a:endParaRPr lang="en-US" sz="1200" b="1" dirty="0">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latin typeface="+mj-lt"/>
                  <a:ea typeface="Verdana" panose="020B0604030504040204" pitchFamily="34" charset="0"/>
                  <a:cs typeface="Verdana" panose="020B0604030504040204" pitchFamily="34" charset="0"/>
                </a:rPr>
                <a:t>Description</a:t>
              </a:r>
            </a:p>
            <a:p>
              <a:pPr lvl="0" algn="just" defTabSz="914400">
                <a:spcBef>
                  <a:spcPts val="225"/>
                </a:spcBef>
                <a:spcAft>
                  <a:spcPts val="225"/>
                </a:spcAft>
                <a:defRPr/>
              </a:pPr>
              <a:r>
                <a:rPr lang="en-US" sz="1200" dirty="0">
                  <a:latin typeface="+mj-lt"/>
                  <a:ea typeface="Verdana" panose="020B0604030504040204" pitchFamily="34" charset="0"/>
                  <a:cs typeface="Verdana" panose="020B0604030504040204" pitchFamily="34" charset="0"/>
                </a:rPr>
                <a:t>As part of the project, Deloitte undertook the following:</a:t>
              </a:r>
            </a:p>
            <a:p>
              <a:pPr marL="171450" lvl="0" indent="-171450">
                <a:buFont typeface="Arial" panose="020B0604020202020204" pitchFamily="34" charset="0"/>
                <a:buChar char="•"/>
              </a:pPr>
              <a:r>
                <a:rPr lang="en-GB" sz="1200" dirty="0"/>
                <a:t>Understanding the business of fuel-farms and the dynamics under which they operate</a:t>
              </a:r>
              <a:endParaRPr lang="en-IN" sz="1200" dirty="0"/>
            </a:p>
            <a:p>
              <a:pPr marL="171450" lvl="0" indent="-171450">
                <a:buFont typeface="Arial" panose="020B0604020202020204" pitchFamily="34" charset="0"/>
                <a:buChar char="•"/>
              </a:pPr>
              <a:r>
                <a:rPr lang="en-GB" sz="1200" dirty="0"/>
                <a:t>Understanding the structure of CAFHI and details of its existing concession with the CAG</a:t>
              </a:r>
              <a:endParaRPr lang="en-IN" sz="1200" dirty="0"/>
            </a:p>
            <a:p>
              <a:pPr marL="171450" lvl="0" indent="-171450">
                <a:buFont typeface="Arial" panose="020B0604020202020204" pitchFamily="34" charset="0"/>
                <a:buChar char="•"/>
              </a:pPr>
              <a:r>
                <a:rPr lang="en-GB" sz="1200" dirty="0"/>
                <a:t>Understanding the business plan for CAFHI for the regulatory period in consideration</a:t>
              </a:r>
              <a:endParaRPr lang="en-IN" sz="1200" dirty="0"/>
            </a:p>
            <a:p>
              <a:pPr marL="171450" lvl="0" indent="-171450">
                <a:buFont typeface="Arial" panose="020B0604020202020204" pitchFamily="34" charset="0"/>
                <a:buChar char="•"/>
              </a:pPr>
              <a:r>
                <a:rPr lang="en-GB" sz="1200" dirty="0"/>
                <a:t>Comparison between economic regulation under the Depreciated Amortized Cost and Depreciated Optimized Replacement Cost from the point of view of the entity being regulated; i.e. CAFHI</a:t>
              </a:r>
              <a:endParaRPr lang="en-IN" sz="1200" dirty="0"/>
            </a:p>
            <a:p>
              <a:pPr marL="171450" lvl="0" indent="-171450">
                <a:buFont typeface="Arial" panose="020B0604020202020204" pitchFamily="34" charset="0"/>
                <a:buChar char="•"/>
              </a:pPr>
              <a:r>
                <a:rPr lang="en-GB" sz="1200" dirty="0"/>
                <a:t>Valuation of assets for regulatory purposes</a:t>
              </a:r>
              <a:endParaRPr lang="en-IN" sz="1200" dirty="0"/>
            </a:p>
            <a:p>
              <a:pPr marL="452438" lvl="1" indent="-171450">
                <a:buFont typeface="Courier New" panose="02070309020205020404" pitchFamily="49" charset="0"/>
                <a:buChar char="o"/>
              </a:pPr>
              <a:r>
                <a:rPr lang="en-GB" sz="1200" dirty="0"/>
                <a:t>Computation of initial value of assets to be regulated</a:t>
              </a:r>
              <a:endParaRPr lang="en-IN" sz="1200" dirty="0"/>
            </a:p>
            <a:p>
              <a:pPr marL="452438" lvl="1" indent="-171450">
                <a:buFont typeface="Courier New" panose="02070309020205020404" pitchFamily="49" charset="0"/>
                <a:buChar char="o"/>
              </a:pPr>
              <a:r>
                <a:rPr lang="en-GB" sz="1200" dirty="0"/>
                <a:t>Depreciation and the return of capital under regulation</a:t>
              </a:r>
              <a:endParaRPr lang="en-IN" sz="1200" dirty="0"/>
            </a:p>
            <a:p>
              <a:pPr marL="452438" lvl="1" indent="-171450">
                <a:buFont typeface="Courier New" panose="02070309020205020404" pitchFamily="49" charset="0"/>
                <a:buChar char="o"/>
              </a:pPr>
              <a:r>
                <a:rPr lang="en-GB" sz="1200" dirty="0"/>
                <a:t>Forecasting of regulatory assets during a regulatory period</a:t>
              </a:r>
              <a:endParaRPr lang="en-IN" sz="1200" dirty="0"/>
            </a:p>
            <a:p>
              <a:pPr marL="452438" lvl="1" indent="-171450">
                <a:buFont typeface="Courier New" panose="02070309020205020404" pitchFamily="49" charset="0"/>
                <a:buChar char="o"/>
              </a:pPr>
              <a:r>
                <a:rPr lang="en-GB" sz="1200" dirty="0"/>
                <a:t>Determination of fair rate of return</a:t>
              </a:r>
              <a:endParaRPr lang="en-IN" sz="1200" dirty="0"/>
            </a:p>
            <a:p>
              <a:pPr marL="452438" lvl="1" indent="-171450">
                <a:buFont typeface="Courier New" panose="02070309020205020404" pitchFamily="49" charset="0"/>
                <a:buChar char="o"/>
              </a:pPr>
              <a:r>
                <a:rPr lang="en-GB" sz="1200" dirty="0"/>
                <a:t>Different kinds of Weighted Average Cost of Capital (WACC) used for regulation and situations under which these are to be used</a:t>
              </a:r>
              <a:endParaRPr lang="en-IN" sz="1200" dirty="0"/>
            </a:p>
            <a:p>
              <a:pPr marL="452438" lvl="1" indent="-171450">
                <a:buFont typeface="Courier New" panose="02070309020205020404" pitchFamily="49" charset="0"/>
                <a:buChar char="o"/>
              </a:pPr>
              <a:r>
                <a:rPr lang="en-GB" sz="1200" dirty="0"/>
                <a:t>Treatment of specific risk premiums while computing WACC</a:t>
              </a:r>
              <a:endParaRPr lang="en-IN" sz="1200" dirty="0"/>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pPr>
            <a:r>
              <a:rPr lang="en-US" sz="2400" dirty="0">
                <a:solidFill>
                  <a:srgbClr val="000000"/>
                </a:solidFill>
                <a:ea typeface="Verdana" panose="020B0604030504040204" pitchFamily="34" charset="0"/>
                <a:cs typeface="Verdana" panose="020B0604030504040204" pitchFamily="34" charset="0"/>
              </a:rPr>
              <a:t>Deloitte Experience – </a:t>
            </a: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Regulatory assistance to CAFHI</a:t>
            </a:r>
            <a:endParaRPr lang="en-US" sz="2400" dirty="0">
              <a:solidFill>
                <a:srgbClr val="000000"/>
              </a:solidFill>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99198088"/>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Preparation of Project Report for Airport in South India</a:t>
            </a:r>
          </a:p>
        </p:txBody>
      </p:sp>
      <p:grpSp>
        <p:nvGrpSpPr>
          <p:cNvPr id="3" name="Group 2"/>
          <p:cNvGrpSpPr/>
          <p:nvPr/>
        </p:nvGrpSpPr>
        <p:grpSpPr>
          <a:xfrm>
            <a:off x="352350" y="1261801"/>
            <a:ext cx="10014280" cy="5441818"/>
            <a:chOff x="352350" y="1477563"/>
            <a:chExt cx="11247119" cy="5441818"/>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5288627"/>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 private consortium was awarded the concession to develop and operate an Airport (“Project”) in Southern India. The consortium was looking to reach out to equity and debt investors to seek funds for implementing the Project and wished to appoint consultants to prepare a Project Report for the same covering, a fresh market assessment and preparation of traffic estimates, non-aeronautical development plan, financial projections and dovetailing the technical aspects.</a:t>
              </a:r>
            </a:p>
            <a:p>
              <a:pPr lvl="0" algn="just" defTabSz="914400">
                <a:defRPr/>
              </a:pPr>
              <a:r>
                <a:rPr lang="en-US" sz="1200" dirty="0">
                  <a:solidFill>
                    <a:srgbClr val="000000"/>
                  </a:solidFill>
                  <a:latin typeface="+mj-lt"/>
                  <a:ea typeface="Verdana" panose="020B0604030504040204" pitchFamily="34" charset="0"/>
                  <a:cs typeface="Verdana" panose="020B0604030504040204" pitchFamily="34" charset="0"/>
                </a:rPr>
                <a:t> </a:t>
              </a: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defRPr/>
              </a:pPr>
              <a:r>
                <a:rPr lang="en-US" sz="1200" dirty="0">
                  <a:solidFill>
                    <a:srgbClr val="000000"/>
                  </a:solidFill>
                  <a:latin typeface="+mj-lt"/>
                  <a:ea typeface="Verdana" panose="020B0604030504040204" pitchFamily="34" charset="0"/>
                  <a:cs typeface="Verdana" panose="020B0604030504040204" pitchFamily="34" charset="0"/>
                </a:rPr>
                <a:t>This is an ongoing assignment and the team is involved in a number of tasks for the same. These have been described below:</a:t>
              </a:r>
            </a:p>
            <a:p>
              <a:pPr marL="171450" lvl="0" indent="-171450" algn="just" defTabSz="914400">
                <a:buFont typeface="Arial" panose="020B0604020202020204" pitchFamily="34" charset="0"/>
                <a:buChar char="•"/>
                <a:defRPr/>
              </a:pPr>
              <a:r>
                <a:rPr lang="en-US" sz="1200" b="1" dirty="0">
                  <a:solidFill>
                    <a:srgbClr val="000000"/>
                  </a:solidFill>
                  <a:latin typeface="+mj-lt"/>
                  <a:ea typeface="Verdana" panose="020B0604030504040204" pitchFamily="34" charset="0"/>
                  <a:cs typeface="Verdana" panose="020B0604030504040204" pitchFamily="34" charset="0"/>
                </a:rPr>
                <a:t>Task 1</a:t>
              </a:r>
              <a:r>
                <a:rPr lang="en-US" sz="1200" dirty="0">
                  <a:solidFill>
                    <a:srgbClr val="000000"/>
                  </a:solidFill>
                  <a:latin typeface="+mj-lt"/>
                  <a:ea typeface="Verdana" panose="020B0604030504040204" pitchFamily="34" charset="0"/>
                  <a:cs typeface="Verdana" panose="020B0604030504040204" pitchFamily="34" charset="0"/>
                </a:rPr>
                <a:t>: Market Assessment and traffic estimates by identifying the existing and emerging opportunities for the airport, covering various aspects including industrial growth / investment in the hinterland, present &amp; future commercial development, tourism potential, among others. </a:t>
              </a:r>
            </a:p>
            <a:p>
              <a:pPr marL="171450" lvl="0" indent="-171450" algn="just" defTabSz="914400">
                <a:buFont typeface="Arial" panose="020B0604020202020204" pitchFamily="34" charset="0"/>
                <a:buChar char="•"/>
                <a:defRPr/>
              </a:pPr>
              <a:r>
                <a:rPr lang="en-US" sz="1200" b="1" dirty="0">
                  <a:solidFill>
                    <a:srgbClr val="000000"/>
                  </a:solidFill>
                  <a:latin typeface="+mj-lt"/>
                  <a:ea typeface="Verdana" panose="020B0604030504040204" pitchFamily="34" charset="0"/>
                  <a:cs typeface="Verdana" panose="020B0604030504040204" pitchFamily="34" charset="0"/>
                </a:rPr>
                <a:t>Task 2:</a:t>
              </a:r>
              <a:r>
                <a:rPr lang="en-US" sz="1200" dirty="0">
                  <a:solidFill>
                    <a:srgbClr val="000000"/>
                  </a:solidFill>
                  <a:latin typeface="+mj-lt"/>
                  <a:ea typeface="Verdana" panose="020B0604030504040204" pitchFamily="34" charset="0"/>
                  <a:cs typeface="Verdana" panose="020B0604030504040204" pitchFamily="34" charset="0"/>
                </a:rPr>
                <a:t> Non-Aeronautical Revenues Estimates by analysis of developments in the vicinity and their impact on the proposed development of commercial facilities at the airport. For the identified development options (used as part of the bid to the Authority / proposed business plan), a broad assessment of the potential rental which may accrue to the Airport.</a:t>
              </a:r>
            </a:p>
            <a:p>
              <a:pPr marL="171450" lvl="0" indent="-171450" algn="just" defTabSz="914400">
                <a:buFont typeface="Arial" panose="020B0604020202020204" pitchFamily="34" charset="0"/>
                <a:buChar char="•"/>
                <a:defRPr/>
              </a:pPr>
              <a:r>
                <a:rPr lang="en-US" sz="1200" b="1" dirty="0">
                  <a:solidFill>
                    <a:srgbClr val="000000"/>
                  </a:solidFill>
                  <a:latin typeface="+mj-lt"/>
                  <a:ea typeface="Verdana" panose="020B0604030504040204" pitchFamily="34" charset="0"/>
                  <a:cs typeface="Verdana" panose="020B0604030504040204" pitchFamily="34" charset="0"/>
                </a:rPr>
                <a:t>Task 3: </a:t>
              </a:r>
              <a:r>
                <a:rPr lang="en-US" sz="1200" dirty="0">
                  <a:solidFill>
                    <a:srgbClr val="000000"/>
                  </a:solidFill>
                  <a:latin typeface="+mj-lt"/>
                  <a:ea typeface="Verdana" panose="020B0604030504040204" pitchFamily="34" charset="0"/>
                  <a:cs typeface="Verdana" panose="020B0604030504040204" pitchFamily="34" charset="0"/>
                </a:rPr>
                <a:t>Review of Concession Agreement for Project Report which include overview of the development requirements under the Concession Agreement vis-à-vis scope of the project, term of the agreement, facilities covered, etc., review of development obligations and capex implications, review of operation obligations and O&amp;M cost implications, identification of revenues accruing to concessionaire, review of tariff regulation regime prescribed, review of financial / commercial terms of the Concession Agreement impacting the financial model, identification of key risks for the concessionaire and their impact on the financials as well as interaction with lending considerations.</a:t>
              </a:r>
            </a:p>
            <a:p>
              <a:pPr marL="171450" lvl="0" indent="-171450" algn="just" defTabSz="914400">
                <a:buFont typeface="Arial" panose="020B0604020202020204" pitchFamily="34" charset="0"/>
                <a:buChar char="•"/>
                <a:defRPr/>
              </a:pPr>
              <a:r>
                <a:rPr lang="en-US" sz="1200" b="1" dirty="0">
                  <a:solidFill>
                    <a:srgbClr val="000000"/>
                  </a:solidFill>
                  <a:latin typeface="+mj-lt"/>
                  <a:ea typeface="Verdana" panose="020B0604030504040204" pitchFamily="34" charset="0"/>
                  <a:cs typeface="Verdana" panose="020B0604030504040204" pitchFamily="34" charset="0"/>
                </a:rPr>
                <a:t>Task 4:</a:t>
              </a:r>
              <a:r>
                <a:rPr lang="en-US" sz="1200" dirty="0">
                  <a:solidFill>
                    <a:srgbClr val="000000"/>
                  </a:solidFill>
                  <a:latin typeface="+mj-lt"/>
                  <a:ea typeface="Verdana" panose="020B0604030504040204" pitchFamily="34" charset="0"/>
                  <a:cs typeface="Verdana" panose="020B0604030504040204" pitchFamily="34" charset="0"/>
                </a:rPr>
                <a:t> Incorporation of Airport Master Plan details in the financial analysis and Project Report.</a:t>
              </a:r>
            </a:p>
            <a:p>
              <a:pPr marL="171450" lvl="0" indent="-171450" algn="just" defTabSz="914400">
                <a:buFont typeface="Arial" panose="020B0604020202020204" pitchFamily="34" charset="0"/>
                <a:buChar char="•"/>
                <a:defRPr/>
              </a:pPr>
              <a:r>
                <a:rPr lang="en-US" sz="1200" b="1" dirty="0">
                  <a:solidFill>
                    <a:srgbClr val="000000"/>
                  </a:solidFill>
                  <a:latin typeface="+mj-lt"/>
                  <a:ea typeface="Verdana" panose="020B0604030504040204" pitchFamily="34" charset="0"/>
                  <a:cs typeface="Verdana" panose="020B0604030504040204" pitchFamily="34" charset="0"/>
                </a:rPr>
                <a:t>Task 5: </a:t>
              </a:r>
              <a:r>
                <a:rPr lang="en-US" sz="1200" dirty="0">
                  <a:solidFill>
                    <a:srgbClr val="000000"/>
                  </a:solidFill>
                  <a:latin typeface="+mj-lt"/>
                  <a:ea typeface="Verdana" panose="020B0604030504040204" pitchFamily="34" charset="0"/>
                  <a:cs typeface="Verdana" panose="020B0604030504040204" pitchFamily="34" charset="0"/>
                </a:rPr>
                <a:t>Project Financial Assessment - The team is undertaking financial assessment of the airport development project, including projection of aeronautical and non aeronautical revenues, projection of operating expenses, creating Capital Expenditure plan, assessment of short term and long term financing requirements, assessment of long-term debt requirement, Preparation of Financial Model, analysis of Financial Ratios including NPV, IRR (Equity and Financial), DSCR among others to gauge the financial performance of the airport development project, and Sensitivity Analysis to assess the impact of key variables on the project/project IRR.</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Business Plan</a:t>
            </a:r>
          </a:p>
        </p:txBody>
      </p:sp>
    </p:spTree>
    <p:extLst>
      <p:ext uri="{BB962C8B-B14F-4D97-AF65-F5344CB8AC3E}">
        <p14:creationId xmlns:p14="http://schemas.microsoft.com/office/powerpoint/2010/main" val="4080285388"/>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Preparation of Business Plan for MADC</a:t>
            </a:r>
          </a:p>
        </p:txBody>
      </p:sp>
      <p:grpSp>
        <p:nvGrpSpPr>
          <p:cNvPr id="3" name="Group 2"/>
          <p:cNvGrpSpPr/>
          <p:nvPr/>
        </p:nvGrpSpPr>
        <p:grpSpPr>
          <a:xfrm>
            <a:off x="352350" y="1293699"/>
            <a:ext cx="10014280" cy="5559799"/>
            <a:chOff x="352350" y="1477563"/>
            <a:chExt cx="11247119" cy="5559799"/>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5406608"/>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Maharashtra Airport Development Company Limited (MADC) appointed Deloitte for preparation of business plan including feasibility study and development plan for regional air connectivity in the state of Maharashtra</a:t>
              </a:r>
            </a:p>
            <a:p>
              <a:pPr lvl="0" algn="just" defTabSz="914400">
                <a:spcBef>
                  <a:spcPts val="225"/>
                </a:spcBef>
                <a:spcAft>
                  <a:spcPts val="225"/>
                </a:spcAft>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spcBef>
                  <a:spcPts val="225"/>
                </a:spcBef>
                <a:spcAft>
                  <a:spcPts val="225"/>
                </a:spcAft>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marL="128588" lvl="0" indent="-128588"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Review of policy and regulatory scenario for aviation sector in India and Maharashtra</a:t>
              </a:r>
            </a:p>
            <a:p>
              <a:pPr marL="128588" lvl="0" indent="-128588"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Review of plans for developing regional airports at Nagpur, Shirdi, Solapur, Karad, Chandrapur, Gadchiroli, Dhule, Amravati and Phaltan. The activities undertaken as part of the review included:</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Review of the traffic potential of these airports</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Reviewing the potential to generate non-aeronautical revenue</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Review of the feasibility study for developing these airports</a:t>
              </a:r>
            </a:p>
            <a:p>
              <a:pPr marL="514350" lvl="1" indent="-171450" defTabSz="914400">
                <a:buFont typeface="Courier New" panose="02070309020205020404" pitchFamily="49" charset="0"/>
                <a:buChar char="o"/>
                <a:defRPr/>
              </a:pPr>
              <a:r>
                <a:rPr lang="en-US" sz="1200" dirty="0">
                  <a:solidFill>
                    <a:srgbClr val="000000"/>
                  </a:solidFill>
                  <a:latin typeface="+mj-lt"/>
                  <a:ea typeface="Verdana" panose="020B0604030504040204" pitchFamily="34" charset="0"/>
                  <a:cs typeface="Verdana" panose="020B0604030504040204" pitchFamily="34" charset="0"/>
                </a:rPr>
                <a:t>Assessing the potential to develop these airports on PPP basis and develop structuring options. This also involved international benchmarking study on development models of regional airports</a:t>
              </a:r>
            </a:p>
            <a:p>
              <a:pPr marL="128588" lvl="0" indent="-128588"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Assessing the funding requirement of MADC for developing various regional airports and the possible sources of funding</a:t>
              </a:r>
            </a:p>
            <a:p>
              <a:pPr lvl="0" algn="just" defTabSz="914400">
                <a:spcBef>
                  <a:spcPts val="225"/>
                </a:spcBef>
                <a:spcAft>
                  <a:spcPts val="225"/>
                </a:spcAft>
                <a:defRPr/>
              </a:pPr>
              <a:endParaRPr lang="en-GB"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GB" sz="1200" b="1" dirty="0">
                  <a:solidFill>
                    <a:srgbClr val="000000"/>
                  </a:solidFill>
                  <a:latin typeface="+mj-lt"/>
                  <a:ea typeface="Verdana" panose="020B0604030504040204" pitchFamily="34" charset="0"/>
                  <a:cs typeface="Verdana" panose="020B0604030504040204" pitchFamily="34" charset="0"/>
                </a:rPr>
                <a:t>Deloitte’s Value Add</a:t>
              </a:r>
            </a:p>
            <a:p>
              <a:pPr marL="171450" lvl="0" indent="-171450" algn="just" defTabSz="914400">
                <a:spcBef>
                  <a:spcPts val="225"/>
                </a:spcBef>
                <a:spcAft>
                  <a:spcPts val="225"/>
                </a:spcAft>
                <a:buFont typeface="Arial" panose="020B0604020202020204" pitchFamily="34" charset="0"/>
                <a:buChar char="•"/>
                <a:defRPr/>
              </a:pPr>
              <a:r>
                <a:rPr lang="en-GB" sz="1200" dirty="0">
                  <a:solidFill>
                    <a:srgbClr val="000000"/>
                  </a:solidFill>
                  <a:latin typeface="+mj-lt"/>
                  <a:ea typeface="Verdana" panose="020B0604030504040204" pitchFamily="34" charset="0"/>
                  <a:cs typeface="Verdana" panose="020B0604030504040204" pitchFamily="34" charset="0"/>
                </a:rPr>
                <a:t>Deloitte analysed the key parameters basis which the airlines undertake various route development strategies and increase capacity deployment on these routes. Also, detailed assessment for overall yield management and choice of type of aircraft for various routes was conducted.</a:t>
              </a:r>
            </a:p>
            <a:p>
              <a:pPr marL="171450" lvl="0" indent="-171450" algn="just" defTabSz="914400">
                <a:spcBef>
                  <a:spcPts val="225"/>
                </a:spcBef>
                <a:spcAft>
                  <a:spcPts val="225"/>
                </a:spcAft>
                <a:buFont typeface="Arial" panose="020B0604020202020204" pitchFamily="34" charset="0"/>
                <a:buChar char="•"/>
                <a:defRPr/>
              </a:pPr>
              <a:r>
                <a:rPr lang="en-GB" sz="1200" dirty="0">
                  <a:solidFill>
                    <a:srgbClr val="000000"/>
                  </a:solidFill>
                  <a:latin typeface="+mj-lt"/>
                  <a:ea typeface="Verdana" panose="020B0604030504040204" pitchFamily="34" charset="0"/>
                  <a:cs typeface="Verdana" panose="020B0604030504040204" pitchFamily="34" charset="0"/>
                </a:rPr>
                <a:t>Deloitte recommended the client on development plans for regional air connectivity in Maharashtra, based on detailed analysis and review of regulatory policies and plans for development of regional airports. </a:t>
              </a:r>
            </a:p>
            <a:p>
              <a:pPr marL="171450" lvl="0" indent="-171450" algn="just" defTabSz="914400">
                <a:spcBef>
                  <a:spcPts val="225"/>
                </a:spcBef>
                <a:spcAft>
                  <a:spcPts val="225"/>
                </a:spcAft>
                <a:buFont typeface="Arial" panose="020B0604020202020204" pitchFamily="34" charset="0"/>
                <a:buChar char="•"/>
                <a:defRPr/>
              </a:pPr>
              <a:r>
                <a:rPr lang="en-GB" sz="1200" dirty="0">
                  <a:solidFill>
                    <a:srgbClr val="000000"/>
                  </a:solidFill>
                  <a:latin typeface="+mj-lt"/>
                  <a:ea typeface="Verdana" panose="020B0604030504040204" pitchFamily="34" charset="0"/>
                  <a:cs typeface="Verdana" panose="020B0604030504040204" pitchFamily="34" charset="0"/>
                </a:rPr>
                <a:t>Deloitte advised the client </a:t>
              </a:r>
              <a:r>
                <a:rPr lang="en-US" sz="1200" dirty="0">
                  <a:solidFill>
                    <a:srgbClr val="000000"/>
                  </a:solidFill>
                  <a:latin typeface="+mj-lt"/>
                  <a:ea typeface="Verdana" panose="020B0604030504040204" pitchFamily="34" charset="0"/>
                  <a:cs typeface="Verdana" panose="020B0604030504040204" pitchFamily="34" charset="0"/>
                </a:rPr>
                <a:t>on institutional structure for development of aviation sector in Maharashtra and the possible role of MADC </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Deloitte also advised the client on possible funding sources for the development of various regional airports and devised a business model for the client.</a:t>
              </a:r>
              <a:endParaRPr lang="en-GB" sz="1200" b="1" dirty="0">
                <a:solidFill>
                  <a:srgbClr val="000000"/>
                </a:solidFill>
                <a:latin typeface="+mj-lt"/>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Business Plan</a:t>
            </a:r>
          </a:p>
        </p:txBody>
      </p:sp>
    </p:spTree>
    <p:extLst>
      <p:ext uri="{BB962C8B-B14F-4D97-AF65-F5344CB8AC3E}">
        <p14:creationId xmlns:p14="http://schemas.microsoft.com/office/powerpoint/2010/main" val="4171193057"/>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8"/>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algn="just" defTabSz="914417">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Preparation of Corporate Plan of Airports Authority of India (AAI)</a:t>
            </a:r>
          </a:p>
        </p:txBody>
      </p:sp>
      <p:grpSp>
        <p:nvGrpSpPr>
          <p:cNvPr id="3" name="Group 2"/>
          <p:cNvGrpSpPr/>
          <p:nvPr/>
        </p:nvGrpSpPr>
        <p:grpSpPr>
          <a:xfrm>
            <a:off x="352351" y="1293698"/>
            <a:ext cx="10014280" cy="5758743"/>
            <a:chOff x="352350" y="1477563"/>
            <a:chExt cx="11247119" cy="6644990"/>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algn="ctr" defTabSz="914417">
                <a:defRPr/>
              </a:pPr>
              <a:r>
                <a:rPr lang="en-US" sz="1200" b="1" kern="0" dirty="0">
                  <a:solidFill>
                    <a:srgbClr val="FFFFFF"/>
                  </a:solidFill>
                  <a:latin typeface="Arial"/>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3"/>
              <a:ext cx="11247119" cy="6491800"/>
            </a:xfrm>
            <a:prstGeom prst="rect">
              <a:avLst/>
            </a:prstGeom>
            <a:ln>
              <a:solidFill>
                <a:srgbClr val="000000">
                  <a:lumMod val="20000"/>
                  <a:lumOff val="80000"/>
                </a:srgbClr>
              </a:solidFill>
            </a:ln>
          </p:spPr>
          <p:txBody>
            <a:bodyPr wrap="square">
              <a:spAutoFit/>
            </a:bodyPr>
            <a:lstStyle/>
            <a:p>
              <a:pPr algn="just" defTabSz="914417">
                <a:spcBef>
                  <a:spcPts val="225"/>
                </a:spcBef>
                <a:spcAft>
                  <a:spcPts val="225"/>
                </a:spcAft>
                <a:defRPr/>
              </a:pPr>
              <a:r>
                <a:rPr lang="en-US" sz="1200" b="1" dirty="0">
                  <a:solidFill>
                    <a:srgbClr val="000000"/>
                  </a:solidFill>
                  <a:latin typeface="Verdana" panose="020B0604030504040204" pitchFamily="34" charset="0"/>
                  <a:ea typeface="Verdana" panose="020B0604030504040204" pitchFamily="34" charset="0"/>
                  <a:cs typeface="Verdana" panose="020B0604030504040204" pitchFamily="34" charset="0"/>
                </a:rPr>
                <a:t>Overview</a:t>
              </a:r>
            </a:p>
            <a:p>
              <a:pPr marL="171453" indent="-171453" algn="just"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AAI had engaged Deloitte for the preparation of the 10 year Corporate Plan (2017 – 26).</a:t>
              </a:r>
            </a:p>
            <a:p>
              <a:pPr algn="just" defTabSz="914417">
                <a:defRPr/>
              </a:pPr>
              <a:endParaRPr lang="en-US" sz="1200" b="1" dirty="0">
                <a:solidFill>
                  <a:srgbClr val="000000"/>
                </a:solidFill>
                <a:latin typeface="Verdana" panose="020B0604030504040204" pitchFamily="34" charset="0"/>
                <a:ea typeface="Verdana" panose="020B0604030504040204" pitchFamily="34" charset="0"/>
                <a:cs typeface="Verdana" panose="020B0604030504040204" pitchFamily="34" charset="0"/>
              </a:endParaRPr>
            </a:p>
            <a:p>
              <a:pPr algn="just" defTabSz="914417">
                <a:defRPr/>
              </a:pPr>
              <a:r>
                <a:rPr lang="en-US" sz="1200" b="1" dirty="0">
                  <a:solidFill>
                    <a:srgbClr val="000000"/>
                  </a:solidFill>
                  <a:latin typeface="Verdana" panose="020B0604030504040204" pitchFamily="34" charset="0"/>
                  <a:ea typeface="Verdana" panose="020B0604030504040204" pitchFamily="34" charset="0"/>
                  <a:cs typeface="Verdana" panose="020B0604030504040204" pitchFamily="34" charset="0"/>
                </a:rPr>
                <a:t>Description</a:t>
              </a:r>
            </a:p>
            <a:p>
              <a:pPr defTabSz="914417">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undertook the following activities as part of this assignment:</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Undertook internal assessment of AAI including all airports in AAI’s pan-Indian network on three key aspects:</a:t>
              </a:r>
            </a:p>
            <a:p>
              <a:pPr marL="692887" lvl="1" indent="-171450" defTabSz="914417">
                <a:buFont typeface="Courier New" panose="02070309020205020404" pitchFamily="49" charset="0"/>
                <a:buChar char="o"/>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Understanding of the mandate and services delivered by AAI – airport services, CNS/ATM services and other businesses including consulting</a:t>
              </a:r>
            </a:p>
            <a:p>
              <a:pPr marL="692887" lvl="1" indent="-171450" defTabSz="914417">
                <a:buFont typeface="Courier New" panose="02070309020205020404" pitchFamily="49" charset="0"/>
                <a:buChar char="o"/>
                <a:defRPr/>
              </a:pPr>
              <a:r>
                <a:rPr lang="en-US" sz="1200" dirty="0" err="1">
                  <a:solidFill>
                    <a:srgbClr val="000000"/>
                  </a:solidFill>
                  <a:latin typeface="Verdana" panose="020B0604030504040204" pitchFamily="34" charset="0"/>
                  <a:ea typeface="Verdana" panose="020B0604030504040204" pitchFamily="34" charset="0"/>
                  <a:cs typeface="Verdana" panose="020B0604030504040204" pitchFamily="34" charset="0"/>
                </a:rPr>
                <a:t>Analysing</a:t>
              </a: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 resources available with AAI to discharge its mandate including fixed assets, financial resources, human resources and other organizational resources such as processes, technology, MIS etc., and</a:t>
              </a:r>
            </a:p>
            <a:p>
              <a:pPr marL="692887" lvl="1" indent="-171450" defTabSz="914417">
                <a:buFont typeface="Courier New" panose="02070309020205020404" pitchFamily="49" charset="0"/>
                <a:buChar char="o"/>
                <a:defRPr/>
              </a:pPr>
              <a:r>
                <a:rPr lang="en-US" sz="1200" dirty="0" err="1">
                  <a:solidFill>
                    <a:srgbClr val="000000"/>
                  </a:solidFill>
                  <a:latin typeface="Verdana" panose="020B0604030504040204" pitchFamily="34" charset="0"/>
                  <a:ea typeface="Verdana" panose="020B0604030504040204" pitchFamily="34" charset="0"/>
                  <a:cs typeface="Verdana" panose="020B0604030504040204" pitchFamily="34" charset="0"/>
                </a:rPr>
                <a:t>Analysing</a:t>
              </a: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 AAI’s performance on financial, operational aspects, including collection of data. </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Undertook external assessment to identify / assess possible changes and trends in the environment external to the AAI that could have an impact on it. This included the study of policy and regulatory aspects, economic, social and technological aspects which could impact AAI’s operations over the plan period.</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Undertook market assessment to identify and assess possible changes in the needs, service expectations and perceptions of AAI’s key customers. The market assessment, focused on 3 key parts: 1) existing business in which AAI operates 2) allied services being provided at the airports and 3) understanding and managing customer expectation</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Based on internal, external and market assessment, Deloitte assisted AAI in developing a SWOT analysis to enable it better channelize the resources in future. Subsequently, Deloitte assisted AAI in reviewing and updating the Vision and Mission Statements, with inputs from AAI Senior Management, Ministry of Civil Aviation and other key stakeholders</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Based on the identified Vision for AAI, Deloitte assisted in setting key priorities to guide the course of its AAI’s actions such as retention and growth of user base, strengthening organizational resources, improving operational efficiencies, provisional of value added services by AAI, foray into new businesses etc.</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also provided inputs on potential strategies to achieve the priorities viz. implementation of new MIS systems, building of brand AAI through marketing of airports and passenger engagement through social media, focus on enhancing non-aero revenues and on reduction of costs, focus on improvement of operational efficiency at the airports etc.</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consulted with various departments and assisted all departments in finalizing the targets for all key departments over the plan period – divided into short term, medium term and long term targets. </a:t>
              </a:r>
            </a:p>
            <a:p>
              <a:pPr marL="171450" indent="-171450" defTabSz="914417">
                <a:buFont typeface="Arial" panose="020B0604020202020204" pitchFamily="34" charset="0"/>
                <a:buChar char="•"/>
                <a:defRPr/>
              </a:pPr>
              <a:r>
                <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rPr>
                <a:t>Finally, Deloitte developed a corporate planning and monitoring framework to institutionalize a review framework to assess the progress made in implementing the strategies and the extent to which priorities have been achieved</a:t>
              </a:r>
            </a:p>
          </p:txBody>
        </p:sp>
      </p:grpSp>
      <p:sp>
        <p:nvSpPr>
          <p:cNvPr id="9" name="Rectangle 8"/>
          <p:cNvSpPr/>
          <p:nvPr/>
        </p:nvSpPr>
        <p:spPr>
          <a:xfrm>
            <a:off x="2290628" y="57155"/>
            <a:ext cx="8149613" cy="307905"/>
          </a:xfrm>
          <a:prstGeom prst="rect">
            <a:avLst/>
          </a:prstGeom>
        </p:spPr>
        <p:txBody>
          <a:bodyPr wrap="square">
            <a:spAutoFit/>
          </a:bodyPr>
          <a:lstStyle/>
          <a:p>
            <a:pPr algn="r" defTabSz="1042893"/>
            <a:r>
              <a:rPr lang="en-US" sz="1401" dirty="0">
                <a:solidFill>
                  <a:srgbClr val="046A38"/>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1" y="770537"/>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7" y="331644"/>
            <a:ext cx="10103234" cy="425758"/>
          </a:xfrm>
          <a:prstGeom prst="rect">
            <a:avLst/>
          </a:prstGeom>
        </p:spPr>
        <p:txBody>
          <a:bodyPr wrap="square">
            <a:spAutoFit/>
          </a:bodyPr>
          <a:lstStyle/>
          <a:p>
            <a:pPr defTabSz="914271">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Business Plan</a:t>
            </a:r>
          </a:p>
        </p:txBody>
      </p:sp>
    </p:spTree>
    <p:extLst>
      <p:ext uri="{BB962C8B-B14F-4D97-AF65-F5344CB8AC3E}">
        <p14:creationId xmlns:p14="http://schemas.microsoft.com/office/powerpoint/2010/main" val="1884802614"/>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sz="1600" b="1" dirty="0">
                <a:solidFill>
                  <a:schemeClr val="accent4"/>
                </a:solidFill>
              </a:rPr>
              <a:t>Formulation and Implementation of Regional Connectivity Scheme for Airports Authority of India</a:t>
            </a:r>
            <a:endParaRPr lang="en-IN" sz="1600" dirty="0">
              <a:solidFill>
                <a:schemeClr val="accent4"/>
              </a:solidFill>
            </a:endParaRPr>
          </a:p>
        </p:txBody>
      </p:sp>
      <p:grpSp>
        <p:nvGrpSpPr>
          <p:cNvPr id="3" name="Group 2"/>
          <p:cNvGrpSpPr/>
          <p:nvPr/>
        </p:nvGrpSpPr>
        <p:grpSpPr>
          <a:xfrm>
            <a:off x="352350" y="1417524"/>
            <a:ext cx="10014280" cy="5416170"/>
            <a:chOff x="352350" y="1477563"/>
            <a:chExt cx="11247119" cy="5416170"/>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5262979"/>
            </a:xfrm>
            <a:prstGeom prst="rect">
              <a:avLst/>
            </a:prstGeom>
            <a:ln>
              <a:solidFill>
                <a:srgbClr val="000000">
                  <a:lumMod val="20000"/>
                  <a:lumOff val="80000"/>
                </a:srgbClr>
              </a:solidFill>
            </a:ln>
          </p:spPr>
          <p:txBody>
            <a:bodyPr wrap="square">
              <a:spAutoFit/>
            </a:bodyPr>
            <a:lstStyle/>
            <a:p>
              <a:r>
                <a:rPr lang="en-US" sz="1200" b="1" dirty="0"/>
                <a:t>Overview</a:t>
              </a:r>
              <a:endParaRPr lang="en-IN" sz="1200" dirty="0"/>
            </a:p>
            <a:p>
              <a:pPr marL="171450" lvl="0" indent="-171450">
                <a:buFont typeface="Arial" panose="020B0604020202020204" pitchFamily="34" charset="0"/>
                <a:buChar char="•"/>
              </a:pPr>
              <a:r>
                <a:rPr lang="en-US" sz="1200" dirty="0"/>
                <a:t>Ministry of Civil Aviation (MoCA) intends to enhance regional air connectivity and establish an integrated eco-system which will lead to significant growth of civil aviation sector. In this regard, MoCA had envisaged the formulation of Regional Connectivity Scheme (RCS)/ Ude-Desh-ka-Aam-Nagrik (UDAN) in the country. The objective of the scheme is to promote balanced regional growth and make flying affordable for masses via providing connectivity to underserved / unserved airports in the country through revival of existing air-strips and airports. In pursuance of this, Deloitte has been engaged by Airports Authority of India to develop a strategy/ formulate a scheme to enhance regional air connectivity in the country and assist in the implementation of scheme at the national level</a:t>
              </a:r>
              <a:endParaRPr lang="en-IN" sz="1200" dirty="0"/>
            </a:p>
            <a:p>
              <a:endParaRPr lang="en-US" sz="1200" b="1" dirty="0"/>
            </a:p>
            <a:p>
              <a:r>
                <a:rPr lang="en-US" sz="1200" b="1" dirty="0"/>
                <a:t>Description</a:t>
              </a:r>
              <a:endParaRPr lang="en-IN" sz="1200" dirty="0"/>
            </a:p>
            <a:p>
              <a:r>
                <a:rPr lang="en-US" sz="1200" dirty="0"/>
                <a:t>The scope of work involved:</a:t>
              </a:r>
              <a:endParaRPr lang="en-IN" sz="1200" dirty="0"/>
            </a:p>
            <a:p>
              <a:pPr marL="171450" lvl="0" indent="-171450">
                <a:buFont typeface="Arial" panose="020B0604020202020204" pitchFamily="34" charset="0"/>
                <a:buChar char="•"/>
              </a:pPr>
              <a:r>
                <a:rPr lang="en-US" sz="1200" dirty="0"/>
                <a:t>Highlighting the role of regional air connectivity in India and identifying the factors that are inhibiting the growth of regional air connectivity in different parts of the country</a:t>
              </a:r>
              <a:endParaRPr lang="en-IN" sz="1200" dirty="0"/>
            </a:p>
            <a:p>
              <a:pPr marL="171450" lvl="0" indent="-171450">
                <a:buFont typeface="Arial" panose="020B0604020202020204" pitchFamily="34" charset="0"/>
                <a:buChar char="•"/>
              </a:pPr>
              <a:r>
                <a:rPr lang="en-US" sz="1200" dirty="0"/>
                <a:t>Studying and documenting the best international practices prevalent in comparable countries  </a:t>
              </a:r>
              <a:endParaRPr lang="en-IN" sz="1200" dirty="0"/>
            </a:p>
            <a:p>
              <a:pPr marL="171450" lvl="0" indent="-171450">
                <a:buFont typeface="Arial" panose="020B0604020202020204" pitchFamily="34" charset="0"/>
                <a:buChar char="•"/>
              </a:pPr>
              <a:r>
                <a:rPr lang="en-US" sz="1200" dirty="0"/>
                <a:t>Providing support to the Implementation Teams in AAI/MoCA for the implementation of RCS</a:t>
              </a:r>
              <a:endParaRPr lang="en-IN" sz="1200" dirty="0"/>
            </a:p>
            <a:p>
              <a:pPr marL="171450" lvl="0" indent="-171450">
                <a:buFont typeface="Arial" panose="020B0604020202020204" pitchFamily="34" charset="0"/>
                <a:buChar char="•"/>
              </a:pPr>
              <a:r>
                <a:rPr lang="en-US" sz="1200" dirty="0"/>
                <a:t>Assisting AAI/MoCA in conducting stakeholder consultation meetings to evaluate the performance of RCS</a:t>
              </a:r>
              <a:endParaRPr lang="en-IN" sz="1200" dirty="0"/>
            </a:p>
            <a:p>
              <a:pPr marL="171450" lvl="0" indent="-171450">
                <a:buFont typeface="Arial" panose="020B0604020202020204" pitchFamily="34" charset="0"/>
                <a:buChar char="•"/>
              </a:pPr>
              <a:r>
                <a:rPr lang="en-US" sz="1200" dirty="0"/>
                <a:t>Assisting MoCA/AAI in undertaking necessary modifications to the RCS scheme based on the feedback received </a:t>
              </a:r>
              <a:endParaRPr lang="en-IN" sz="1200" dirty="0"/>
            </a:p>
            <a:p>
              <a:pPr marL="171450" lvl="0" indent="-171450">
                <a:buFont typeface="Arial" panose="020B0604020202020204" pitchFamily="34" charset="0"/>
                <a:buChar char="•"/>
              </a:pPr>
              <a:r>
                <a:rPr lang="en-US" sz="1200" dirty="0"/>
                <a:t>Undertaking bid management process for multiple rounds of RCS including inter alia, providing inputs on preparation of bid documents, resolution of bidder queries, evaluation and analysis of bids, inputs on finalization of route awardees </a:t>
              </a:r>
              <a:endParaRPr lang="en-IN" sz="1200" dirty="0"/>
            </a:p>
            <a:p>
              <a:endParaRPr lang="en-GB" sz="1200" b="1" dirty="0"/>
            </a:p>
            <a:p>
              <a:r>
                <a:rPr lang="en-GB" sz="1200" b="1" dirty="0"/>
                <a:t>Deloitte’s Value Add</a:t>
              </a:r>
              <a:endParaRPr lang="en-IN" sz="1200" dirty="0"/>
            </a:p>
            <a:p>
              <a:pPr marL="171450" lvl="0" indent="-171450">
                <a:buFont typeface="Arial" panose="020B0604020202020204" pitchFamily="34" charset="0"/>
                <a:buChar char="•"/>
              </a:pPr>
              <a:r>
                <a:rPr lang="en-US" sz="1200" dirty="0"/>
                <a:t>Undertook an in-depth analysis along with extensive stakeholder consultations of existing mechanisms to promote regional connectivity in terms of the implementation framework, requirements and compliance levels. </a:t>
              </a:r>
              <a:endParaRPr lang="en-IN" sz="1200" dirty="0"/>
            </a:p>
            <a:p>
              <a:pPr marL="171450" lvl="0" indent="-171450">
                <a:buFont typeface="Arial" panose="020B0604020202020204" pitchFamily="34" charset="0"/>
                <a:buChar char="•"/>
              </a:pPr>
              <a:r>
                <a:rPr lang="en-US" sz="1200" dirty="0"/>
                <a:t>Recommended necessary improvements (to encourage airlines to participate in bidding) which were implemented </a:t>
              </a:r>
              <a:endParaRPr lang="en-IN" sz="1200" dirty="0"/>
            </a:p>
            <a:p>
              <a:pPr marL="171450" lvl="0" indent="-171450">
                <a:buFont typeface="Arial" panose="020B0604020202020204" pitchFamily="34" charset="0"/>
                <a:buChar char="•"/>
              </a:pPr>
              <a:r>
                <a:rPr lang="en-US" sz="1200" dirty="0"/>
                <a:t>Deloitte recommended an operational framework for funding mechanism. These are under consideration for implementation. </a:t>
              </a:r>
              <a:endParaRPr lang="en-IN" sz="1200" dirty="0"/>
            </a:p>
            <a:p>
              <a:pPr marL="171450" indent="-171450">
                <a:buFont typeface="Arial" panose="020B0604020202020204" pitchFamily="34" charset="0"/>
                <a:buChar char="•"/>
              </a:pPr>
              <a:r>
                <a:rPr lang="en-US" sz="1200" dirty="0"/>
                <a:t>Deloitte also recommended suitable policy measures to supplement the Government initiatives with specific measures to be considered by agencies of State Government and Central Government. Some of these recommendations have been implemented by the Government</a:t>
              </a:r>
              <a:endParaRPr lang="en-US" sz="1200" dirty="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Other Aviation Projects</a:t>
            </a:r>
          </a:p>
        </p:txBody>
      </p:sp>
    </p:spTree>
    <p:extLst>
      <p:ext uri="{BB962C8B-B14F-4D97-AF65-F5344CB8AC3E}">
        <p14:creationId xmlns:p14="http://schemas.microsoft.com/office/powerpoint/2010/main" val="1980222336"/>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Fund raising activities for Airports Authority of India</a:t>
            </a:r>
          </a:p>
        </p:txBody>
      </p:sp>
      <p:grpSp>
        <p:nvGrpSpPr>
          <p:cNvPr id="3" name="Group 2"/>
          <p:cNvGrpSpPr/>
          <p:nvPr/>
        </p:nvGrpSpPr>
        <p:grpSpPr>
          <a:xfrm>
            <a:off x="352350" y="1212127"/>
            <a:ext cx="10014280" cy="3738788"/>
            <a:chOff x="352350" y="1477563"/>
            <a:chExt cx="11247119" cy="3738788"/>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3585597"/>
            </a:xfrm>
            <a:prstGeom prst="rect">
              <a:avLst/>
            </a:prstGeom>
            <a:ln>
              <a:solidFill>
                <a:srgbClr val="000000">
                  <a:lumMod val="20000"/>
                  <a:lumOff val="80000"/>
                </a:srgbClr>
              </a:solidFill>
            </a:ln>
          </p:spPr>
          <p:txBody>
            <a:bodyPr wrap="square">
              <a:spAutoFit/>
            </a:bodyPr>
            <a:lstStyle/>
            <a:p>
              <a:pPr lvl="0" algn="just" defTabSz="914400">
                <a:defRPr/>
              </a:pPr>
              <a:r>
                <a:rPr lang="en-US" sz="1200" b="1" dirty="0">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ea typeface="Verdana" panose="020B0604030504040204" pitchFamily="34" charset="0"/>
                  <a:cs typeface="Verdana" panose="020B0604030504040204" pitchFamily="34" charset="0"/>
                </a:rPr>
                <a:t>Airports Authority of India appointed Deloitte to provide assistance in fund raising activities.</a:t>
              </a:r>
            </a:p>
            <a:p>
              <a:pPr lvl="0" algn="just" defTabSz="914400">
                <a:spcBef>
                  <a:spcPts val="225"/>
                </a:spcBef>
                <a:spcAft>
                  <a:spcPts val="225"/>
                </a:spcAft>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defTabSz="914400">
                <a:spcBef>
                  <a:spcPts val="225"/>
                </a:spcBef>
                <a:spcAft>
                  <a:spcPts val="225"/>
                </a:spcAft>
                <a:defRPr/>
              </a:pPr>
              <a:r>
                <a:rPr lang="en-US" sz="1200" dirty="0">
                  <a:solidFill>
                    <a:srgbClr val="000000"/>
                  </a:solidFill>
                  <a:latin typeface="+mj-lt"/>
                  <a:ea typeface="Verdana" panose="020B0604030504040204" pitchFamily="34" charset="0"/>
                  <a:cs typeface="Verdana" panose="020B0604030504040204" pitchFamily="34" charset="0"/>
                </a:rPr>
                <a:t>Deloitte involved in undertaking the following activities:</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Examining the present financial status needs for operation and capital activities. </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Running the process for funding of Capex and operational requirement along with other relevant aspects of AAI</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Understanding the terms &amp; conditions provided in existing loan agreements of AAI for any debt raised at corporate level, if any</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Advising on feasible solutions for raising of funds in terms of operational and capital requirement of AAI, proposing the mix of loans, minimize the financing cost and negotiate key points</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Exploring various types and sources of Short term and Long term financing options</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Advising on the appropriateness of the fund raising vehicle based on analysis and assessment of present fund requirement</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Coordinating with AAI team to understand funding requirement in medium to long term</a:t>
              </a:r>
            </a:p>
            <a:p>
              <a:pPr marL="171450" lvl="0" indent="-171450"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Assisting in the preparation of RFP for inviting bids from potential lenders, negotiating in key terms and signing of loan agreement etc. </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Other Aviation Projects</a:t>
            </a:r>
          </a:p>
        </p:txBody>
      </p:sp>
    </p:spTree>
    <p:extLst>
      <p:ext uri="{BB962C8B-B14F-4D97-AF65-F5344CB8AC3E}">
        <p14:creationId xmlns:p14="http://schemas.microsoft.com/office/powerpoint/2010/main" val="292385925"/>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8"/>
            <a:ext cx="9967308" cy="295874"/>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Financial and tax due diligence in the privatization of Mumbai International Airport </a:t>
            </a:r>
          </a:p>
        </p:txBody>
      </p:sp>
      <p:grpSp>
        <p:nvGrpSpPr>
          <p:cNvPr id="3" name="Group 2"/>
          <p:cNvGrpSpPr/>
          <p:nvPr/>
        </p:nvGrpSpPr>
        <p:grpSpPr>
          <a:xfrm>
            <a:off x="352350" y="1293699"/>
            <a:ext cx="10014280" cy="5576792"/>
            <a:chOff x="352350" y="1477563"/>
            <a:chExt cx="11247119" cy="5576792"/>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5423601"/>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The client Mumbai International Airport Pvt. Ltd. (MIAL), a joint venture between the GVK led consortium (74%) and Airports Authority of India (26%), was awarded the mandate of modernizing and upgrading Mumbai’s Chhatrapati Shivaji International Airport (CSIA) in February 2006. In this assignment, Deloitte conducted the financial and tax due diligence during the privatization of the airport.  During the financial due diligence activities, the team had to assess historical financial information, operating costs and associate the actual data with the overall business strategy based on terms defined in the agreement. The tax due diligence involved a detailed analysis of applicable taxes based on an understanding of the various revenue and operating characteristics of the business.</a:t>
              </a:r>
            </a:p>
            <a:p>
              <a:pPr lvl="0" algn="just" defTabSz="914400">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algn="just" defTabSz="914400">
                <a:defRPr/>
              </a:pPr>
              <a:r>
                <a:rPr lang="en-US" sz="1200" dirty="0">
                  <a:solidFill>
                    <a:srgbClr val="000000"/>
                  </a:solidFill>
                  <a:latin typeface="+mj-lt"/>
                  <a:ea typeface="Verdana" panose="020B0604030504040204" pitchFamily="34" charset="0"/>
                  <a:cs typeface="Verdana" panose="020B0604030504040204" pitchFamily="34" charset="0"/>
                </a:rPr>
                <a:t>Deloitte’s scope of work included:-</a:t>
              </a:r>
            </a:p>
            <a:p>
              <a:pPr lvl="0" algn="just" defTabSz="914400">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Financial Due Diligence</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Understanding and analyzing key revenue and cost drivers</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Analysis and commentary on key performance indicators including but not limited to EBITDA margins, net profit margin, etc. </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Identification and analysis of any major adjustments or “one-off” non-recurring items and comment on their nature, impact and implication on earnings.</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Understanding and analyzing the nature and amount of key balance sheet items and potential areas of subjectivity</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Analysis of  reconciliation of dues from airlines for any risks of non recoverability / disputes</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Assessment of the quality of financial information </a:t>
              </a:r>
            </a:p>
            <a:p>
              <a:pPr lvl="0" algn="just" defTabSz="914400">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defRPr/>
              </a:pPr>
              <a:r>
                <a:rPr lang="en-US" sz="1200" b="1" dirty="0">
                  <a:solidFill>
                    <a:srgbClr val="000000"/>
                  </a:solidFill>
                  <a:latin typeface="+mj-lt"/>
                  <a:ea typeface="Verdana" panose="020B0604030504040204" pitchFamily="34" charset="0"/>
                  <a:cs typeface="Verdana" panose="020B0604030504040204" pitchFamily="34" charset="0"/>
                </a:rPr>
                <a:t>Tax Due Diligence</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Reading the return of income, transfer pricing documents and tax audit reports</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Review of the assessment status, assessment orders and any litigation in tax matters</a:t>
              </a:r>
            </a:p>
            <a:p>
              <a:pPr marL="171450" lvl="0" indent="-171450" algn="just"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Tax Structure – Transaction Structure: Identifying different options available for structuring the transaction, identifying tax and regulatory implications, evaluation of  the existing tax attributes available and identification of alternate structure options for continuity of the tax attributes upon consummation of the transaction</a:t>
              </a:r>
            </a:p>
            <a:p>
              <a:pPr lvl="0" algn="just" defTabSz="914400">
                <a:defRPr/>
              </a:pPr>
              <a:endParaRPr lang="en-US" sz="1200" dirty="0">
                <a:solidFill>
                  <a:srgbClr val="000000"/>
                </a:solidFill>
                <a:latin typeface="+mj-lt"/>
                <a:ea typeface="Verdana" panose="020B0604030504040204" pitchFamily="34" charset="0"/>
                <a:cs typeface="Verdana" panose="020B0604030504040204" pitchFamily="34" charset="0"/>
              </a:endParaRP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Other Aviation Projects</a:t>
            </a:r>
          </a:p>
        </p:txBody>
      </p:sp>
    </p:spTree>
    <p:extLst>
      <p:ext uri="{BB962C8B-B14F-4D97-AF65-F5344CB8AC3E}">
        <p14:creationId xmlns:p14="http://schemas.microsoft.com/office/powerpoint/2010/main" val="261464231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txBox="1">
            <a:spLocks/>
          </p:cNvSpPr>
          <p:nvPr/>
        </p:nvSpPr>
        <p:spPr>
          <a:xfrm>
            <a:off x="352350" y="873707"/>
            <a:ext cx="9967308" cy="63369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3000" b="0" kern="1200">
                <a:solidFill>
                  <a:srgbClr val="575757"/>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lvl="0" algn="just">
              <a:defRPr/>
            </a:pPr>
            <a:r>
              <a:rPr lang="en-US" sz="1600" b="1" dirty="0">
                <a:solidFill>
                  <a:srgbClr val="012169"/>
                </a:solidFill>
                <a:latin typeface="Verdana" panose="020B0604030504040204" pitchFamily="34" charset="0"/>
                <a:ea typeface="Verdana" panose="020B0604030504040204" pitchFamily="34" charset="0"/>
                <a:cs typeface="Verdana" panose="020B0604030504040204" pitchFamily="34" charset="0"/>
              </a:rPr>
              <a:t>Traffic demand assessment and forecast studies for development of Aerotropolis at Bhogapuram</a:t>
            </a:r>
          </a:p>
        </p:txBody>
      </p:sp>
      <p:grpSp>
        <p:nvGrpSpPr>
          <p:cNvPr id="3" name="Group 2"/>
          <p:cNvGrpSpPr/>
          <p:nvPr/>
        </p:nvGrpSpPr>
        <p:grpSpPr>
          <a:xfrm>
            <a:off x="352350" y="1507402"/>
            <a:ext cx="10014280" cy="2825717"/>
            <a:chOff x="352350" y="1477563"/>
            <a:chExt cx="11247119" cy="2825717"/>
          </a:xfrm>
        </p:grpSpPr>
        <p:sp>
          <p:nvSpPr>
            <p:cNvPr id="4" name="Rectangle 3"/>
            <p:cNvSpPr/>
            <p:nvPr/>
          </p:nvSpPr>
          <p:spPr>
            <a:xfrm>
              <a:off x="352350" y="1477563"/>
              <a:ext cx="11247119" cy="166638"/>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Scope and Services Offered</a:t>
              </a:r>
            </a:p>
          </p:txBody>
        </p:sp>
        <p:sp>
          <p:nvSpPr>
            <p:cNvPr id="5" name="Rectangle 4"/>
            <p:cNvSpPr/>
            <p:nvPr/>
          </p:nvSpPr>
          <p:spPr>
            <a:xfrm>
              <a:off x="352350" y="1630754"/>
              <a:ext cx="11247119" cy="2672526"/>
            </a:xfrm>
            <a:prstGeom prst="rect">
              <a:avLst/>
            </a:prstGeom>
            <a:ln>
              <a:solidFill>
                <a:srgbClr val="000000">
                  <a:lumMod val="20000"/>
                  <a:lumOff val="80000"/>
                </a:srgbClr>
              </a:solidFill>
            </a:ln>
          </p:spPr>
          <p:txBody>
            <a:bodyPr wrap="square">
              <a:spAutoFit/>
            </a:bodyPr>
            <a:lstStyle/>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Overview</a:t>
              </a:r>
            </a:p>
            <a:p>
              <a:pPr marL="171450" lvl="0" indent="-171450" algn="just" defTabSz="914400">
                <a:spcBef>
                  <a:spcPts val="225"/>
                </a:spcBef>
                <a:spcAft>
                  <a:spcPts val="225"/>
                </a:spcAft>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INCAP is undertaking the development of Aerotropolis at Vijaynagram District, Andhra Pradesh (approximately 40 kms North East of Visakhapatnam).Deloitte was engaged to undertake an assessment of the traffic demand and study the existing competition to the greenfield airport at Bhogapuram in Andhra Pradesh.</a:t>
              </a:r>
            </a:p>
            <a:p>
              <a:pPr lvl="0" algn="just" defTabSz="914400">
                <a:spcBef>
                  <a:spcPts val="225"/>
                </a:spcBef>
                <a:spcAft>
                  <a:spcPts val="225"/>
                </a:spcAft>
                <a:defRPr/>
              </a:pPr>
              <a:endParaRPr lang="en-US" sz="1200" b="1" dirty="0">
                <a:solidFill>
                  <a:srgbClr val="000000"/>
                </a:solidFill>
                <a:latin typeface="+mj-lt"/>
                <a:ea typeface="Verdana" panose="020B0604030504040204" pitchFamily="34" charset="0"/>
                <a:cs typeface="Verdana" panose="020B0604030504040204" pitchFamily="34" charset="0"/>
              </a:endParaRPr>
            </a:p>
            <a:p>
              <a:pPr lvl="0" algn="just" defTabSz="914400">
                <a:spcBef>
                  <a:spcPts val="225"/>
                </a:spcBef>
                <a:spcAft>
                  <a:spcPts val="225"/>
                </a:spcAft>
                <a:defRPr/>
              </a:pPr>
              <a:r>
                <a:rPr lang="en-US" sz="1200" b="1" dirty="0">
                  <a:solidFill>
                    <a:srgbClr val="000000"/>
                  </a:solidFill>
                  <a:latin typeface="+mj-lt"/>
                  <a:ea typeface="Verdana" panose="020B0604030504040204" pitchFamily="34" charset="0"/>
                  <a:cs typeface="Verdana" panose="020B0604030504040204" pitchFamily="34" charset="0"/>
                </a:rPr>
                <a:t>Description</a:t>
              </a:r>
            </a:p>
            <a:p>
              <a:pPr lvl="0" defTabSz="914400">
                <a:defRPr/>
              </a:pPr>
              <a:r>
                <a:rPr lang="en-US" sz="1200" dirty="0">
                  <a:solidFill>
                    <a:srgbClr val="000000"/>
                  </a:solidFill>
                  <a:latin typeface="+mj-lt"/>
                  <a:ea typeface="Verdana" panose="020B0604030504040204" pitchFamily="34" charset="0"/>
                  <a:cs typeface="Verdana" panose="020B0604030504040204" pitchFamily="34" charset="0"/>
                </a:rPr>
                <a:t>The following activities were undertaken as part of the project:-</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Conducting economic assessment of area</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Aviation scenario assessment of state and identification of potential growth drivers</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Delineation of project influence zones and extended catchment areas</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Development of traffic forecasts for next 20 years for passenger and freight volumes</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Scenario planning and competition assessment of Vizag and Hyderabad airports</a:t>
              </a:r>
            </a:p>
            <a:p>
              <a:pPr marL="171450" lvl="0" indent="-171450" defTabSz="914400">
                <a:buFont typeface="Arial" panose="020B0604020202020204" pitchFamily="34" charset="0"/>
                <a:buChar char="•"/>
                <a:defRPr/>
              </a:pPr>
              <a:r>
                <a:rPr lang="en-US" sz="1200" dirty="0">
                  <a:solidFill>
                    <a:srgbClr val="000000"/>
                  </a:solidFill>
                  <a:latin typeface="+mj-lt"/>
                  <a:ea typeface="Verdana" panose="020B0604030504040204" pitchFamily="34" charset="0"/>
                  <a:cs typeface="Verdana" panose="020B0604030504040204" pitchFamily="34" charset="0"/>
                </a:rPr>
                <a:t>Conducting primary stakeholder interactions – with passenger groups, Vizag airport officials, freight forwarders etc. </a:t>
              </a:r>
            </a:p>
          </p:txBody>
        </p:sp>
      </p:grpSp>
      <p:sp>
        <p:nvSpPr>
          <p:cNvPr id="9" name="Rectangle 8"/>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lvl="0" defTabSz="914253">
              <a:lnSpc>
                <a:spcPts val="2599"/>
              </a:lnSpc>
            </a:pPr>
            <a:r>
              <a:rPr lang="en-US" sz="2400" dirty="0">
                <a:solidFill>
                  <a:srgbClr val="000000"/>
                </a:solidFill>
                <a:latin typeface="Verdana" panose="020B0604030504040204" pitchFamily="34" charset="0"/>
                <a:ea typeface="Verdana" panose="020B0604030504040204" pitchFamily="34" charset="0"/>
                <a:cs typeface="Verdana" panose="020B0604030504040204" pitchFamily="34" charset="0"/>
              </a:rPr>
              <a:t>Deloitte Experience – Other Aviation Projects</a:t>
            </a:r>
          </a:p>
        </p:txBody>
      </p:sp>
    </p:spTree>
    <p:extLst>
      <p:ext uri="{BB962C8B-B14F-4D97-AF65-F5344CB8AC3E}">
        <p14:creationId xmlns:p14="http://schemas.microsoft.com/office/powerpoint/2010/main" val="2005814191"/>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63396" y="897021"/>
            <a:ext cx="10176844" cy="1200329"/>
          </a:xfrm>
          <a:prstGeom prst="rect">
            <a:avLst/>
          </a:prstGeom>
        </p:spPr>
        <p:txBody>
          <a:bodyPr wrap="square">
            <a:spAutoFit/>
          </a:bodyPr>
          <a:lstStyle/>
          <a:p>
            <a:pPr lvl="0" algn="just" defTabSz="914400">
              <a:spcAft>
                <a:spcPts val="300"/>
              </a:spcAft>
            </a:pPr>
            <a:r>
              <a:rPr lang="en-US" sz="1800" dirty="0">
                <a:solidFill>
                  <a:schemeClr val="accent2"/>
                </a:solidFill>
                <a:latin typeface="Verdana" panose="020B0604030504040204" pitchFamily="34" charset="0"/>
                <a:ea typeface="Verdana" panose="020B0604030504040204" pitchFamily="34" charset="0"/>
                <a:cs typeface="Verdana" panose="020B0604030504040204" pitchFamily="34" charset="0"/>
              </a:rPr>
              <a:t>Our teams have the ability to draw upon the expertise of aviation specialists nationally as well as internationally.  We have the ability to integrate the appropriate blend of sector specific knowledge with functional expertise from across our international practice a to provide seamless solutions to our clients.</a:t>
            </a:r>
          </a:p>
        </p:txBody>
      </p:sp>
      <p:sp>
        <p:nvSpPr>
          <p:cNvPr id="24" name="Rectangle 23"/>
          <p:cNvSpPr/>
          <p:nvPr/>
        </p:nvSpPr>
        <p:spPr>
          <a:xfrm>
            <a:off x="255081" y="2236969"/>
            <a:ext cx="10111549" cy="4878259"/>
          </a:xfrm>
          <a:prstGeom prst="rect">
            <a:avLst/>
          </a:prstGeom>
        </p:spPr>
        <p:txBody>
          <a:bodyPr wrap="square">
            <a:spAutoFit/>
          </a:bodyPr>
          <a:lstStyle/>
          <a:p>
            <a:pPr defTabSz="914400"/>
            <a:r>
              <a:rPr lang="en-GB" sz="1400" b="1" dirty="0">
                <a:solidFill>
                  <a:srgbClr val="012169"/>
                </a:solidFill>
                <a:ea typeface="Verdana" panose="020B0604030504040204" pitchFamily="34" charset="0"/>
                <a:cs typeface="Verdana" panose="020B0604030504040204" pitchFamily="34" charset="0"/>
              </a:rPr>
              <a:t>Aviation industry team</a:t>
            </a:r>
            <a:endParaRPr lang="en-SG" sz="1400" b="1" dirty="0">
              <a:solidFill>
                <a:srgbClr val="012169"/>
              </a:solidFill>
              <a:ea typeface="Verdana" panose="020B0604030504040204" pitchFamily="34" charset="0"/>
              <a:cs typeface="Verdana" panose="020B0604030504040204" pitchFamily="34" charset="0"/>
            </a:endParaRPr>
          </a:p>
          <a:p>
            <a:pPr defTabSz="914400"/>
            <a:endParaRPr lang="en-GB" sz="600" dirty="0">
              <a:solidFill>
                <a:srgbClr val="000000"/>
              </a:solidFill>
              <a:ea typeface="Verdana" panose="020B0604030504040204" pitchFamily="34" charset="0"/>
              <a:cs typeface="Verdana" panose="020B0604030504040204" pitchFamily="34" charset="0"/>
            </a:endParaRPr>
          </a:p>
          <a:p>
            <a:pPr defTabSz="914400"/>
            <a:r>
              <a:rPr lang="en-GB" sz="1400" dirty="0">
                <a:solidFill>
                  <a:srgbClr val="000000"/>
                </a:solidFill>
                <a:ea typeface="Verdana" panose="020B0604030504040204" pitchFamily="34" charset="0"/>
                <a:cs typeface="Verdana" panose="020B0604030504040204" pitchFamily="34" charset="0"/>
              </a:rPr>
              <a:t>We have a global network of 615 aviation practitioners. Our aviation teams globally, have over years developed expertise in business planning and outsourcing strategy for airports. We have the ability and experience of working with colleagues across the globe on complex, major programmes and projects for some of the industry’s largest clients. If required, we can reach out to our other global colleagues to seek their inputs on some specific aspects and bring on board international context and expertise which can be then suitably modified in the Indian context.</a:t>
            </a: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100" dirty="0">
              <a:solidFill>
                <a:srgbClr val="000000"/>
              </a:solidFill>
              <a:ea typeface="Verdana" panose="020B0604030504040204" pitchFamily="34" charset="0"/>
              <a:cs typeface="Verdana" panose="020B0604030504040204" pitchFamily="34" charset="0"/>
            </a:endParaRPr>
          </a:p>
          <a:p>
            <a:pPr defTabSz="914400"/>
            <a:endParaRPr lang="en-GB" sz="1400" dirty="0">
              <a:solidFill>
                <a:srgbClr val="000000"/>
              </a:solidFill>
              <a:ea typeface="Verdana" panose="020B0604030504040204" pitchFamily="34" charset="0"/>
              <a:cs typeface="Verdana" panose="020B0604030504040204" pitchFamily="34" charset="0"/>
            </a:endParaRPr>
          </a:p>
          <a:p>
            <a:pPr defTabSz="914400"/>
            <a:r>
              <a:rPr lang="en-GB" sz="1400" dirty="0">
                <a:solidFill>
                  <a:srgbClr val="000000"/>
                </a:solidFill>
                <a:ea typeface="Verdana" panose="020B0604030504040204" pitchFamily="34" charset="0"/>
                <a:cs typeface="Verdana" panose="020B0604030504040204" pitchFamily="34" charset="0"/>
              </a:rPr>
              <a:t>Some of the key relevant aviation credentials of our global team are presented in the subsequent slides. If required, we can discuss with the Consortium the modalities of bringing expertise of such team on board.</a:t>
            </a:r>
            <a:endParaRPr lang="en-US" sz="1100" dirty="0">
              <a:solidFill>
                <a:srgbClr val="000000"/>
              </a:solidFill>
              <a:ea typeface="Verdana" panose="020B0604030504040204" pitchFamily="34" charset="0"/>
              <a:cs typeface="Verdana" panose="020B0604030504040204" pitchFamily="34" charset="0"/>
            </a:endParaRPr>
          </a:p>
          <a:p>
            <a:pPr defTabSz="914400"/>
            <a:endParaRPr lang="en-US" sz="1100" dirty="0">
              <a:solidFill>
                <a:srgbClr val="000000"/>
              </a:solidFill>
              <a:ea typeface="Verdana" panose="020B0604030504040204" pitchFamily="34" charset="0"/>
              <a:cs typeface="Verdana" panose="020B0604030504040204" pitchFamily="34" charset="0"/>
            </a:endParaRPr>
          </a:p>
          <a:p>
            <a:pPr defTabSz="914400"/>
            <a:endParaRPr lang="en-US" sz="1100" dirty="0">
              <a:solidFill>
                <a:srgbClr val="000000"/>
              </a:solidFill>
              <a:ea typeface="Verdana" panose="020B0604030504040204" pitchFamily="34" charset="0"/>
              <a:cs typeface="Verdana" panose="020B0604030504040204" pitchFamily="34" charset="0"/>
            </a:endParaRPr>
          </a:p>
          <a:p>
            <a:pPr defTabSz="914400"/>
            <a:endParaRPr lang="en-US" sz="1100" dirty="0">
              <a:solidFill>
                <a:srgbClr val="000000"/>
              </a:solidFill>
              <a:ea typeface="Verdana" panose="020B0604030504040204" pitchFamily="34" charset="0"/>
              <a:cs typeface="Verdana" panose="020B0604030504040204" pitchFamily="34" charset="0"/>
            </a:endParaRPr>
          </a:p>
        </p:txBody>
      </p:sp>
      <p:pic>
        <p:nvPicPr>
          <p:cNvPr id="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5571" y="4008830"/>
            <a:ext cx="6870568" cy="1888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9" name="Straight Connector 8"/>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263396" y="331644"/>
            <a:ext cx="10103234" cy="425758"/>
          </a:xfrm>
          <a:prstGeom prst="rect">
            <a:avLst/>
          </a:prstGeom>
        </p:spPr>
        <p:txBody>
          <a:bodyPr wrap="square">
            <a:spAutoFit/>
          </a:bodyPr>
          <a:lstStyle/>
          <a:p>
            <a:pPr defTabSz="914253">
              <a:lnSpc>
                <a:spcPts val="2599"/>
              </a:lnSpc>
            </a:pPr>
            <a:r>
              <a:rPr lang="en-US" sz="2400" dirty="0">
                <a:latin typeface="Verdana" panose="020B0604030504040204" pitchFamily="34" charset="0"/>
                <a:ea typeface="Verdana" panose="020B0604030504040204" pitchFamily="34" charset="0"/>
                <a:cs typeface="Verdana" panose="020B0604030504040204" pitchFamily="34" charset="0"/>
              </a:rPr>
              <a:t>Our Global Network</a:t>
            </a:r>
          </a:p>
        </p:txBody>
      </p:sp>
    </p:spTree>
    <p:extLst>
      <p:ext uri="{BB962C8B-B14F-4D97-AF65-F5344CB8AC3E}">
        <p14:creationId xmlns:p14="http://schemas.microsoft.com/office/powerpoint/2010/main" val="203990884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626" y="0"/>
            <a:ext cx="10685012" cy="7562849"/>
          </a:xfrm>
          <a:prstGeom prst="rect">
            <a:avLst/>
          </a:prstGeom>
        </p:spPr>
      </p:pic>
      <p:sp>
        <p:nvSpPr>
          <p:cNvPr id="6" name="Trapezoid 5"/>
          <p:cNvSpPr/>
          <p:nvPr/>
        </p:nvSpPr>
        <p:spPr bwMode="gray">
          <a:xfrm rot="16200000" flipH="1">
            <a:off x="2341681" y="4214894"/>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 name="Trapezoid 6"/>
          <p:cNvSpPr/>
          <p:nvPr/>
        </p:nvSpPr>
        <p:spPr bwMode="gray">
          <a:xfrm rot="5400000">
            <a:off x="3646881" y="4214893"/>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 name="object 3"/>
          <p:cNvSpPr/>
          <p:nvPr/>
        </p:nvSpPr>
        <p:spPr>
          <a:xfrm>
            <a:off x="3898921" y="3962399"/>
            <a:ext cx="6789717" cy="723456"/>
          </a:xfrm>
          <a:custGeom>
            <a:avLst/>
            <a:gdLst/>
            <a:ahLst/>
            <a:cxnLst/>
            <a:rect l="l" t="t" r="r" b="b"/>
            <a:pathLst>
              <a:path w="6320155" h="1188720">
                <a:moveTo>
                  <a:pt x="0" y="1188720"/>
                </a:moveTo>
                <a:lnTo>
                  <a:pt x="6320027" y="1188720"/>
                </a:lnTo>
                <a:lnTo>
                  <a:pt x="6320027" y="0"/>
                </a:lnTo>
                <a:lnTo>
                  <a:pt x="0" y="0"/>
                </a:lnTo>
                <a:lnTo>
                  <a:pt x="0" y="1188720"/>
                </a:lnTo>
                <a:close/>
              </a:path>
            </a:pathLst>
          </a:custGeom>
          <a:solidFill>
            <a:schemeClr val="bg1"/>
          </a:solidFill>
        </p:spPr>
        <p:txBody>
          <a:bodyPr wrap="square" lIns="0" tIns="0" rIns="0" bIns="0" rtlCol="0"/>
          <a:lstStyle/>
          <a:p>
            <a:endParaRPr lang="en-GB" sz="2197" dirty="0"/>
          </a:p>
        </p:txBody>
      </p:sp>
      <p:sp>
        <p:nvSpPr>
          <p:cNvPr id="9" name="object 4"/>
          <p:cNvSpPr txBox="1"/>
          <p:nvPr/>
        </p:nvSpPr>
        <p:spPr>
          <a:xfrm>
            <a:off x="4597867" y="4130861"/>
            <a:ext cx="5591161" cy="369332"/>
          </a:xfrm>
          <a:prstGeom prst="rect">
            <a:avLst/>
          </a:prstGeom>
        </p:spPr>
        <p:txBody>
          <a:bodyPr vert="horz" wrap="square" lIns="0" tIns="0" rIns="0" bIns="0" rtlCol="0">
            <a:spAutoFit/>
          </a:bodyPr>
          <a:lstStyle/>
          <a:p>
            <a:pPr defTabSz="1018824"/>
            <a:r>
              <a:rPr lang="en-US" sz="2400" dirty="0">
                <a:latin typeface="Verdana" panose="020B0604030504040204" pitchFamily="34" charset="0"/>
                <a:ea typeface="Verdana" panose="020B0604030504040204" pitchFamily="34" charset="0"/>
                <a:cs typeface="Verdana" panose="020B0604030504040204" pitchFamily="34" charset="0"/>
              </a:rPr>
              <a:t>Delivery Timeline and Commercials</a:t>
            </a:r>
          </a:p>
        </p:txBody>
      </p:sp>
      <p:sp>
        <p:nvSpPr>
          <p:cNvPr id="10" name="object 5"/>
          <p:cNvSpPr/>
          <p:nvPr/>
        </p:nvSpPr>
        <p:spPr>
          <a:xfrm>
            <a:off x="3008354" y="3764700"/>
            <a:ext cx="1099624" cy="1118854"/>
          </a:xfrm>
          <a:custGeom>
            <a:avLst/>
            <a:gdLst/>
            <a:ahLst/>
            <a:cxnLst/>
            <a:rect l="l" t="t" r="r" b="b"/>
            <a:pathLst>
              <a:path w="1458595" h="1188720">
                <a:moveTo>
                  <a:pt x="0" y="1188720"/>
                </a:moveTo>
                <a:lnTo>
                  <a:pt x="1458467" y="1188720"/>
                </a:lnTo>
                <a:lnTo>
                  <a:pt x="1458467" y="0"/>
                </a:lnTo>
                <a:lnTo>
                  <a:pt x="0" y="0"/>
                </a:lnTo>
                <a:lnTo>
                  <a:pt x="0" y="1188720"/>
                </a:lnTo>
                <a:close/>
              </a:path>
            </a:pathLst>
          </a:custGeom>
          <a:solidFill>
            <a:srgbClr val="00A0DE"/>
          </a:solidFill>
        </p:spPr>
        <p:txBody>
          <a:bodyPr wrap="square" lIns="0" tIns="0" rIns="0" bIns="0" rtlCol="0"/>
          <a:lstStyle/>
          <a:p>
            <a:endParaRPr lang="en-GB" sz="2197" dirty="0"/>
          </a:p>
        </p:txBody>
      </p:sp>
      <p:sp>
        <p:nvSpPr>
          <p:cNvPr id="14" name="Rectangle 13"/>
          <p:cNvSpPr/>
          <p:nvPr/>
        </p:nvSpPr>
        <p:spPr bwMode="gray">
          <a:xfrm>
            <a:off x="0" y="3962400"/>
            <a:ext cx="2800315" cy="72345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 name="Group 583"/>
          <p:cNvGrpSpPr>
            <a:grpSpLocks noChangeAspect="1"/>
          </p:cNvGrpSpPr>
          <p:nvPr/>
        </p:nvGrpSpPr>
        <p:grpSpPr bwMode="auto">
          <a:xfrm>
            <a:off x="3054802" y="3828134"/>
            <a:ext cx="992911" cy="990000"/>
            <a:chOff x="1138" y="1953"/>
            <a:chExt cx="341" cy="340"/>
          </a:xfrm>
          <a:solidFill>
            <a:schemeClr val="bg1"/>
          </a:solidFill>
        </p:grpSpPr>
        <p:sp>
          <p:nvSpPr>
            <p:cNvPr id="36" name="Freeform 584"/>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585"/>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24"/>
          <p:cNvGrpSpPr/>
          <p:nvPr/>
        </p:nvGrpSpPr>
        <p:grpSpPr>
          <a:xfrm>
            <a:off x="662032" y="4119931"/>
            <a:ext cx="1998746" cy="443146"/>
            <a:chOff x="662032" y="4119931"/>
            <a:chExt cx="1998746" cy="443146"/>
          </a:xfrm>
        </p:grpSpPr>
        <p:grpSp>
          <p:nvGrpSpPr>
            <p:cNvPr id="26" name="Group 309"/>
            <p:cNvGrpSpPr>
              <a:grpSpLocks noChangeAspect="1"/>
            </p:cNvGrpSpPr>
            <p:nvPr/>
          </p:nvGrpSpPr>
          <p:grpSpPr bwMode="auto">
            <a:xfrm>
              <a:off x="2223897" y="4122662"/>
              <a:ext cx="436881" cy="435600"/>
              <a:chOff x="6585" y="1193"/>
              <a:chExt cx="341" cy="340"/>
            </a:xfrm>
            <a:solidFill>
              <a:srgbClr val="00A0DE"/>
            </a:solidFill>
          </p:grpSpPr>
          <p:sp>
            <p:nvSpPr>
              <p:cNvPr id="5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7" name="Group 69"/>
            <p:cNvGrpSpPr>
              <a:grpSpLocks noChangeAspect="1"/>
            </p:cNvGrpSpPr>
            <p:nvPr/>
          </p:nvGrpSpPr>
          <p:grpSpPr bwMode="auto">
            <a:xfrm>
              <a:off x="662032" y="4119931"/>
              <a:ext cx="435600" cy="435600"/>
              <a:chOff x="4334" y="1990"/>
              <a:chExt cx="340" cy="340"/>
            </a:xfrm>
            <a:solidFill>
              <a:srgbClr val="00A0DE"/>
            </a:solidFill>
          </p:grpSpPr>
          <p:sp>
            <p:nvSpPr>
              <p:cNvPr id="41" name="Freeform 70"/>
              <p:cNvSpPr>
                <a:spLocks noEditPoints="1"/>
              </p:cNvSpPr>
              <p:nvPr/>
            </p:nvSpPr>
            <p:spPr bwMode="auto">
              <a:xfrm>
                <a:off x="4398" y="2054"/>
                <a:ext cx="212"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70 w 320"/>
                  <a:gd name="T11" fmla="*/ 298 h 320"/>
                  <a:gd name="T12" fmla="*/ 170 w 320"/>
                  <a:gd name="T13" fmla="*/ 288 h 320"/>
                  <a:gd name="T14" fmla="*/ 160 w 320"/>
                  <a:gd name="T15" fmla="*/ 277 h 320"/>
                  <a:gd name="T16" fmla="*/ 149 w 320"/>
                  <a:gd name="T17" fmla="*/ 288 h 320"/>
                  <a:gd name="T18" fmla="*/ 149 w 320"/>
                  <a:gd name="T19" fmla="*/ 298 h 320"/>
                  <a:gd name="T20" fmla="*/ 22 w 320"/>
                  <a:gd name="T21" fmla="*/ 170 h 320"/>
                  <a:gd name="T22" fmla="*/ 32 w 320"/>
                  <a:gd name="T23" fmla="*/ 170 h 320"/>
                  <a:gd name="T24" fmla="*/ 42 w 320"/>
                  <a:gd name="T25" fmla="*/ 160 h 320"/>
                  <a:gd name="T26" fmla="*/ 32 w 320"/>
                  <a:gd name="T27" fmla="*/ 149 h 320"/>
                  <a:gd name="T28" fmla="*/ 22 w 320"/>
                  <a:gd name="T29" fmla="*/ 149 h 320"/>
                  <a:gd name="T30" fmla="*/ 149 w 320"/>
                  <a:gd name="T31" fmla="*/ 22 h 320"/>
                  <a:gd name="T32" fmla="*/ 149 w 320"/>
                  <a:gd name="T33" fmla="*/ 32 h 320"/>
                  <a:gd name="T34" fmla="*/ 160 w 320"/>
                  <a:gd name="T35" fmla="*/ 42 h 320"/>
                  <a:gd name="T36" fmla="*/ 170 w 320"/>
                  <a:gd name="T37" fmla="*/ 32 h 320"/>
                  <a:gd name="T38" fmla="*/ 170 w 320"/>
                  <a:gd name="T39" fmla="*/ 22 h 320"/>
                  <a:gd name="T40" fmla="*/ 298 w 320"/>
                  <a:gd name="T41" fmla="*/ 149 h 320"/>
                  <a:gd name="T42" fmla="*/ 288 w 320"/>
                  <a:gd name="T43" fmla="*/ 149 h 320"/>
                  <a:gd name="T44" fmla="*/ 277 w 320"/>
                  <a:gd name="T45" fmla="*/ 160 h 320"/>
                  <a:gd name="T46" fmla="*/ 288 w 320"/>
                  <a:gd name="T47" fmla="*/ 170 h 320"/>
                  <a:gd name="T48" fmla="*/ 298 w 320"/>
                  <a:gd name="T49" fmla="*/ 170 h 320"/>
                  <a:gd name="T50" fmla="*/ 170 w 320"/>
                  <a:gd name="T51" fmla="*/ 298 h 320"/>
                  <a:gd name="T52" fmla="*/ 216 w 320"/>
                  <a:gd name="T53" fmla="*/ 90 h 320"/>
                  <a:gd name="T54" fmla="*/ 133 w 320"/>
                  <a:gd name="T55" fmla="*/ 127 h 320"/>
                  <a:gd name="T56" fmla="*/ 127 w 320"/>
                  <a:gd name="T57" fmla="*/ 133 h 320"/>
                  <a:gd name="T58" fmla="*/ 90 w 320"/>
                  <a:gd name="T59" fmla="*/ 216 h 320"/>
                  <a:gd name="T60" fmla="*/ 92 w 320"/>
                  <a:gd name="T61" fmla="*/ 228 h 320"/>
                  <a:gd name="T62" fmla="*/ 99 w 320"/>
                  <a:gd name="T63" fmla="*/ 231 h 320"/>
                  <a:gd name="T64" fmla="*/ 104 w 320"/>
                  <a:gd name="T65" fmla="*/ 230 h 320"/>
                  <a:gd name="T66" fmla="*/ 187 w 320"/>
                  <a:gd name="T67" fmla="*/ 192 h 320"/>
                  <a:gd name="T68" fmla="*/ 192 w 320"/>
                  <a:gd name="T69" fmla="*/ 187 h 320"/>
                  <a:gd name="T70" fmla="*/ 230 w 320"/>
                  <a:gd name="T71" fmla="*/ 104 h 320"/>
                  <a:gd name="T72" fmla="*/ 228 w 320"/>
                  <a:gd name="T73" fmla="*/ 92 h 320"/>
                  <a:gd name="T74" fmla="*/ 216 w 320"/>
                  <a:gd name="T75" fmla="*/ 90 h 320"/>
                  <a:gd name="T76" fmla="*/ 140 w 320"/>
                  <a:gd name="T77" fmla="*/ 155 h 320"/>
                  <a:gd name="T78" fmla="*/ 164 w 320"/>
                  <a:gd name="T79" fmla="*/ 179 h 320"/>
                  <a:gd name="T80" fmla="*/ 121 w 320"/>
                  <a:gd name="T81" fmla="*/ 199 h 320"/>
                  <a:gd name="T82" fmla="*/ 140 w 320"/>
                  <a:gd name="T83" fmla="*/ 155 h 320"/>
                  <a:gd name="T84" fmla="*/ 179 w 320"/>
                  <a:gd name="T85" fmla="*/ 164 h 320"/>
                  <a:gd name="T86" fmla="*/ 155 w 320"/>
                  <a:gd name="T87" fmla="*/ 140 h 320"/>
                  <a:gd name="T88" fmla="*/ 199 w 320"/>
                  <a:gd name="T89" fmla="*/ 121 h 320"/>
                  <a:gd name="T90" fmla="*/ 179 w 320"/>
                  <a:gd name="T91" fmla="*/ 1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70" y="298"/>
                    </a:moveTo>
                    <a:cubicBezTo>
                      <a:pt x="170" y="288"/>
                      <a:pt x="170" y="288"/>
                      <a:pt x="170" y="288"/>
                    </a:cubicBezTo>
                    <a:cubicBezTo>
                      <a:pt x="170" y="282"/>
                      <a:pt x="166" y="277"/>
                      <a:pt x="160" y="277"/>
                    </a:cubicBezTo>
                    <a:cubicBezTo>
                      <a:pt x="154" y="277"/>
                      <a:pt x="149" y="282"/>
                      <a:pt x="149" y="288"/>
                    </a:cubicBezTo>
                    <a:cubicBezTo>
                      <a:pt x="149" y="298"/>
                      <a:pt x="149" y="298"/>
                      <a:pt x="149" y="298"/>
                    </a:cubicBezTo>
                    <a:cubicBezTo>
                      <a:pt x="81" y="293"/>
                      <a:pt x="27" y="238"/>
                      <a:pt x="22" y="170"/>
                    </a:cubicBezTo>
                    <a:cubicBezTo>
                      <a:pt x="32" y="170"/>
                      <a:pt x="32" y="170"/>
                      <a:pt x="32" y="170"/>
                    </a:cubicBezTo>
                    <a:cubicBezTo>
                      <a:pt x="38" y="170"/>
                      <a:pt x="42" y="166"/>
                      <a:pt x="42" y="160"/>
                    </a:cubicBezTo>
                    <a:cubicBezTo>
                      <a:pt x="42" y="154"/>
                      <a:pt x="38" y="149"/>
                      <a:pt x="32" y="149"/>
                    </a:cubicBezTo>
                    <a:cubicBezTo>
                      <a:pt x="22" y="149"/>
                      <a:pt x="22" y="149"/>
                      <a:pt x="22" y="149"/>
                    </a:cubicBezTo>
                    <a:cubicBezTo>
                      <a:pt x="27" y="81"/>
                      <a:pt x="81" y="27"/>
                      <a:pt x="149" y="22"/>
                    </a:cubicBezTo>
                    <a:cubicBezTo>
                      <a:pt x="149" y="32"/>
                      <a:pt x="149" y="32"/>
                      <a:pt x="149" y="32"/>
                    </a:cubicBezTo>
                    <a:cubicBezTo>
                      <a:pt x="149" y="38"/>
                      <a:pt x="154" y="42"/>
                      <a:pt x="160" y="42"/>
                    </a:cubicBezTo>
                    <a:cubicBezTo>
                      <a:pt x="166" y="42"/>
                      <a:pt x="170" y="38"/>
                      <a:pt x="170" y="32"/>
                    </a:cubicBezTo>
                    <a:cubicBezTo>
                      <a:pt x="170" y="22"/>
                      <a:pt x="170" y="22"/>
                      <a:pt x="170" y="22"/>
                    </a:cubicBezTo>
                    <a:cubicBezTo>
                      <a:pt x="238" y="27"/>
                      <a:pt x="293" y="81"/>
                      <a:pt x="298" y="149"/>
                    </a:cubicBezTo>
                    <a:cubicBezTo>
                      <a:pt x="288" y="149"/>
                      <a:pt x="288" y="149"/>
                      <a:pt x="288" y="149"/>
                    </a:cubicBezTo>
                    <a:cubicBezTo>
                      <a:pt x="282" y="149"/>
                      <a:pt x="277" y="154"/>
                      <a:pt x="277" y="160"/>
                    </a:cubicBezTo>
                    <a:cubicBezTo>
                      <a:pt x="277" y="166"/>
                      <a:pt x="282" y="170"/>
                      <a:pt x="288" y="170"/>
                    </a:cubicBezTo>
                    <a:cubicBezTo>
                      <a:pt x="298" y="170"/>
                      <a:pt x="298" y="170"/>
                      <a:pt x="298" y="170"/>
                    </a:cubicBezTo>
                    <a:cubicBezTo>
                      <a:pt x="293" y="238"/>
                      <a:pt x="238" y="293"/>
                      <a:pt x="170" y="298"/>
                    </a:cubicBezTo>
                    <a:close/>
                    <a:moveTo>
                      <a:pt x="216" y="90"/>
                    </a:moveTo>
                    <a:cubicBezTo>
                      <a:pt x="133" y="127"/>
                      <a:pt x="133" y="127"/>
                      <a:pt x="133" y="127"/>
                    </a:cubicBezTo>
                    <a:cubicBezTo>
                      <a:pt x="130" y="128"/>
                      <a:pt x="128" y="130"/>
                      <a:pt x="127" y="133"/>
                    </a:cubicBezTo>
                    <a:cubicBezTo>
                      <a:pt x="90" y="216"/>
                      <a:pt x="90" y="216"/>
                      <a:pt x="90" y="216"/>
                    </a:cubicBezTo>
                    <a:cubicBezTo>
                      <a:pt x="88" y="220"/>
                      <a:pt x="89" y="224"/>
                      <a:pt x="92" y="228"/>
                    </a:cubicBezTo>
                    <a:cubicBezTo>
                      <a:pt x="94" y="230"/>
                      <a:pt x="97" y="231"/>
                      <a:pt x="99" y="231"/>
                    </a:cubicBezTo>
                    <a:cubicBezTo>
                      <a:pt x="101" y="231"/>
                      <a:pt x="102" y="230"/>
                      <a:pt x="104" y="230"/>
                    </a:cubicBezTo>
                    <a:cubicBezTo>
                      <a:pt x="187" y="192"/>
                      <a:pt x="187" y="192"/>
                      <a:pt x="187" y="192"/>
                    </a:cubicBezTo>
                    <a:cubicBezTo>
                      <a:pt x="189" y="191"/>
                      <a:pt x="191" y="189"/>
                      <a:pt x="192" y="187"/>
                    </a:cubicBezTo>
                    <a:cubicBezTo>
                      <a:pt x="230" y="104"/>
                      <a:pt x="230" y="104"/>
                      <a:pt x="230" y="104"/>
                    </a:cubicBezTo>
                    <a:cubicBezTo>
                      <a:pt x="232" y="100"/>
                      <a:pt x="231" y="95"/>
                      <a:pt x="228" y="92"/>
                    </a:cubicBezTo>
                    <a:cubicBezTo>
                      <a:pt x="224" y="89"/>
                      <a:pt x="220" y="88"/>
                      <a:pt x="216" y="90"/>
                    </a:cubicBezTo>
                    <a:close/>
                    <a:moveTo>
                      <a:pt x="140" y="155"/>
                    </a:moveTo>
                    <a:cubicBezTo>
                      <a:pt x="164" y="179"/>
                      <a:pt x="164" y="179"/>
                      <a:pt x="164" y="179"/>
                    </a:cubicBezTo>
                    <a:cubicBezTo>
                      <a:pt x="121" y="199"/>
                      <a:pt x="121" y="199"/>
                      <a:pt x="121" y="199"/>
                    </a:cubicBezTo>
                    <a:lnTo>
                      <a:pt x="140" y="155"/>
                    </a:lnTo>
                    <a:close/>
                    <a:moveTo>
                      <a:pt x="179" y="164"/>
                    </a:moveTo>
                    <a:cubicBezTo>
                      <a:pt x="155" y="140"/>
                      <a:pt x="155" y="140"/>
                      <a:pt x="155" y="140"/>
                    </a:cubicBezTo>
                    <a:cubicBezTo>
                      <a:pt x="199" y="121"/>
                      <a:pt x="199" y="121"/>
                      <a:pt x="199" y="121"/>
                    </a:cubicBezTo>
                    <a:lnTo>
                      <a:pt x="179" y="16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1"/>
              <p:cNvSpPr>
                <a:spLocks noEditPoints="1"/>
              </p:cNvSpPr>
              <p:nvPr/>
            </p:nvSpPr>
            <p:spPr bwMode="auto">
              <a:xfrm>
                <a:off x="4334"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8" name="Group 305"/>
            <p:cNvGrpSpPr>
              <a:grpSpLocks noChangeAspect="1"/>
            </p:cNvGrpSpPr>
            <p:nvPr/>
          </p:nvGrpSpPr>
          <p:grpSpPr bwMode="auto">
            <a:xfrm>
              <a:off x="1182848" y="4124522"/>
              <a:ext cx="435600" cy="435600"/>
              <a:chOff x="6599" y="1143"/>
              <a:chExt cx="340" cy="340"/>
            </a:xfrm>
            <a:solidFill>
              <a:srgbClr val="00A0DE"/>
            </a:solidFill>
          </p:grpSpPr>
          <p:sp>
            <p:nvSpPr>
              <p:cNvPr id="39" name="Freeform 306"/>
              <p:cNvSpPr>
                <a:spLocks noEditPoints="1"/>
              </p:cNvSpPr>
              <p:nvPr/>
            </p:nvSpPr>
            <p:spPr bwMode="auto">
              <a:xfrm>
                <a:off x="6599" y="114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07"/>
              <p:cNvSpPr>
                <a:spLocks noEditPoints="1"/>
              </p:cNvSpPr>
              <p:nvPr/>
            </p:nvSpPr>
            <p:spPr bwMode="auto">
              <a:xfrm>
                <a:off x="6712" y="1205"/>
                <a:ext cx="113" cy="214"/>
              </a:xfrm>
              <a:custGeom>
                <a:avLst/>
                <a:gdLst>
                  <a:gd name="T0" fmla="*/ 160 w 171"/>
                  <a:gd name="T1" fmla="*/ 88 h 323"/>
                  <a:gd name="T2" fmla="*/ 128 w 171"/>
                  <a:gd name="T3" fmla="*/ 88 h 323"/>
                  <a:gd name="T4" fmla="*/ 128 w 171"/>
                  <a:gd name="T5" fmla="*/ 35 h 323"/>
                  <a:gd name="T6" fmla="*/ 128 w 171"/>
                  <a:gd name="T7" fmla="*/ 35 h 323"/>
                  <a:gd name="T8" fmla="*/ 138 w 171"/>
                  <a:gd name="T9" fmla="*/ 27 h 323"/>
                  <a:gd name="T10" fmla="*/ 132 w 171"/>
                  <a:gd name="T11" fmla="*/ 12 h 323"/>
                  <a:gd name="T12" fmla="*/ 39 w 171"/>
                  <a:gd name="T13" fmla="*/ 12 h 323"/>
                  <a:gd name="T14" fmla="*/ 33 w 171"/>
                  <a:gd name="T15" fmla="*/ 25 h 323"/>
                  <a:gd name="T16" fmla="*/ 43 w 171"/>
                  <a:gd name="T17" fmla="*/ 32 h 323"/>
                  <a:gd name="T18" fmla="*/ 43 w 171"/>
                  <a:gd name="T19" fmla="*/ 88 h 323"/>
                  <a:gd name="T20" fmla="*/ 11 w 171"/>
                  <a:gd name="T21" fmla="*/ 88 h 323"/>
                  <a:gd name="T22" fmla="*/ 0 w 171"/>
                  <a:gd name="T23" fmla="*/ 99 h 323"/>
                  <a:gd name="T24" fmla="*/ 0 w 171"/>
                  <a:gd name="T25" fmla="*/ 291 h 323"/>
                  <a:gd name="T26" fmla="*/ 11 w 171"/>
                  <a:gd name="T27" fmla="*/ 301 h 323"/>
                  <a:gd name="T28" fmla="*/ 22 w 171"/>
                  <a:gd name="T29" fmla="*/ 301 h 323"/>
                  <a:gd name="T30" fmla="*/ 22 w 171"/>
                  <a:gd name="T31" fmla="*/ 312 h 323"/>
                  <a:gd name="T32" fmla="*/ 32 w 171"/>
                  <a:gd name="T33" fmla="*/ 323 h 323"/>
                  <a:gd name="T34" fmla="*/ 43 w 171"/>
                  <a:gd name="T35" fmla="*/ 312 h 323"/>
                  <a:gd name="T36" fmla="*/ 43 w 171"/>
                  <a:gd name="T37" fmla="*/ 301 h 323"/>
                  <a:gd name="T38" fmla="*/ 128 w 171"/>
                  <a:gd name="T39" fmla="*/ 301 h 323"/>
                  <a:gd name="T40" fmla="*/ 128 w 171"/>
                  <a:gd name="T41" fmla="*/ 312 h 323"/>
                  <a:gd name="T42" fmla="*/ 139 w 171"/>
                  <a:gd name="T43" fmla="*/ 323 h 323"/>
                  <a:gd name="T44" fmla="*/ 150 w 171"/>
                  <a:gd name="T45" fmla="*/ 312 h 323"/>
                  <a:gd name="T46" fmla="*/ 150 w 171"/>
                  <a:gd name="T47" fmla="*/ 301 h 323"/>
                  <a:gd name="T48" fmla="*/ 160 w 171"/>
                  <a:gd name="T49" fmla="*/ 301 h 323"/>
                  <a:gd name="T50" fmla="*/ 171 w 171"/>
                  <a:gd name="T51" fmla="*/ 291 h 323"/>
                  <a:gd name="T52" fmla="*/ 171 w 171"/>
                  <a:gd name="T53" fmla="*/ 99 h 323"/>
                  <a:gd name="T54" fmla="*/ 160 w 171"/>
                  <a:gd name="T55" fmla="*/ 88 h 323"/>
                  <a:gd name="T56" fmla="*/ 64 w 171"/>
                  <a:gd name="T57" fmla="*/ 26 h 323"/>
                  <a:gd name="T58" fmla="*/ 107 w 171"/>
                  <a:gd name="T59" fmla="*/ 26 h 323"/>
                  <a:gd name="T60" fmla="*/ 107 w 171"/>
                  <a:gd name="T61" fmla="*/ 88 h 323"/>
                  <a:gd name="T62" fmla="*/ 64 w 171"/>
                  <a:gd name="T63" fmla="*/ 88 h 323"/>
                  <a:gd name="T64" fmla="*/ 64 w 171"/>
                  <a:gd name="T65" fmla="*/ 26 h 323"/>
                  <a:gd name="T66" fmla="*/ 150 w 171"/>
                  <a:gd name="T67" fmla="*/ 280 h 323"/>
                  <a:gd name="T68" fmla="*/ 22 w 171"/>
                  <a:gd name="T69" fmla="*/ 280 h 323"/>
                  <a:gd name="T70" fmla="*/ 22 w 171"/>
                  <a:gd name="T71" fmla="*/ 109 h 323"/>
                  <a:gd name="T72" fmla="*/ 150 w 171"/>
                  <a:gd name="T73" fmla="*/ 109 h 323"/>
                  <a:gd name="T74" fmla="*/ 150 w 171"/>
                  <a:gd name="T75" fmla="*/ 280 h 323"/>
                  <a:gd name="T76" fmla="*/ 118 w 171"/>
                  <a:gd name="T77" fmla="*/ 131 h 323"/>
                  <a:gd name="T78" fmla="*/ 128 w 171"/>
                  <a:gd name="T79" fmla="*/ 141 h 323"/>
                  <a:gd name="T80" fmla="*/ 118 w 171"/>
                  <a:gd name="T81" fmla="*/ 152 h 323"/>
                  <a:gd name="T82" fmla="*/ 54 w 171"/>
                  <a:gd name="T83" fmla="*/ 152 h 323"/>
                  <a:gd name="T84" fmla="*/ 43 w 171"/>
                  <a:gd name="T85" fmla="*/ 141 h 323"/>
                  <a:gd name="T86" fmla="*/ 54 w 171"/>
                  <a:gd name="T87" fmla="*/ 131 h 323"/>
                  <a:gd name="T88" fmla="*/ 118 w 171"/>
                  <a:gd name="T89" fmla="*/ 131 h 323"/>
                  <a:gd name="T90" fmla="*/ 128 w 171"/>
                  <a:gd name="T91" fmla="*/ 248 h 323"/>
                  <a:gd name="T92" fmla="*/ 118 w 171"/>
                  <a:gd name="T93" fmla="*/ 259 h 323"/>
                  <a:gd name="T94" fmla="*/ 54 w 171"/>
                  <a:gd name="T95" fmla="*/ 259 h 323"/>
                  <a:gd name="T96" fmla="*/ 43 w 171"/>
                  <a:gd name="T97" fmla="*/ 248 h 323"/>
                  <a:gd name="T98" fmla="*/ 54 w 171"/>
                  <a:gd name="T99" fmla="*/ 237 h 323"/>
                  <a:gd name="T100" fmla="*/ 118 w 171"/>
                  <a:gd name="T101" fmla="*/ 237 h 323"/>
                  <a:gd name="T102" fmla="*/ 128 w 171"/>
                  <a:gd name="T103" fmla="*/ 24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1" h="323">
                    <a:moveTo>
                      <a:pt x="160" y="88"/>
                    </a:moveTo>
                    <a:cubicBezTo>
                      <a:pt x="128" y="88"/>
                      <a:pt x="128" y="88"/>
                      <a:pt x="128" y="88"/>
                    </a:cubicBezTo>
                    <a:cubicBezTo>
                      <a:pt x="128" y="35"/>
                      <a:pt x="128" y="35"/>
                      <a:pt x="128" y="35"/>
                    </a:cubicBezTo>
                    <a:cubicBezTo>
                      <a:pt x="128" y="35"/>
                      <a:pt x="128" y="35"/>
                      <a:pt x="128" y="35"/>
                    </a:cubicBezTo>
                    <a:cubicBezTo>
                      <a:pt x="133" y="35"/>
                      <a:pt x="137" y="31"/>
                      <a:pt x="138" y="27"/>
                    </a:cubicBezTo>
                    <a:cubicBezTo>
                      <a:pt x="140" y="21"/>
                      <a:pt x="138" y="14"/>
                      <a:pt x="132" y="12"/>
                    </a:cubicBezTo>
                    <a:cubicBezTo>
                      <a:pt x="103" y="0"/>
                      <a:pt x="69" y="0"/>
                      <a:pt x="39" y="12"/>
                    </a:cubicBezTo>
                    <a:cubicBezTo>
                      <a:pt x="34" y="14"/>
                      <a:pt x="31" y="20"/>
                      <a:pt x="33" y="25"/>
                    </a:cubicBezTo>
                    <a:cubicBezTo>
                      <a:pt x="35" y="30"/>
                      <a:pt x="39" y="32"/>
                      <a:pt x="43" y="32"/>
                    </a:cubicBezTo>
                    <a:cubicBezTo>
                      <a:pt x="43" y="88"/>
                      <a:pt x="43" y="88"/>
                      <a:pt x="43" y="88"/>
                    </a:cubicBezTo>
                    <a:cubicBezTo>
                      <a:pt x="11" y="88"/>
                      <a:pt x="11" y="88"/>
                      <a:pt x="11" y="88"/>
                    </a:cubicBezTo>
                    <a:cubicBezTo>
                      <a:pt x="5" y="88"/>
                      <a:pt x="0" y="93"/>
                      <a:pt x="0" y="99"/>
                    </a:cubicBezTo>
                    <a:cubicBezTo>
                      <a:pt x="0" y="291"/>
                      <a:pt x="0" y="291"/>
                      <a:pt x="0" y="291"/>
                    </a:cubicBezTo>
                    <a:cubicBezTo>
                      <a:pt x="0" y="297"/>
                      <a:pt x="5" y="301"/>
                      <a:pt x="11" y="301"/>
                    </a:cubicBezTo>
                    <a:cubicBezTo>
                      <a:pt x="22" y="301"/>
                      <a:pt x="22" y="301"/>
                      <a:pt x="22" y="301"/>
                    </a:cubicBezTo>
                    <a:cubicBezTo>
                      <a:pt x="22" y="312"/>
                      <a:pt x="22" y="312"/>
                      <a:pt x="22" y="312"/>
                    </a:cubicBezTo>
                    <a:cubicBezTo>
                      <a:pt x="22" y="318"/>
                      <a:pt x="26" y="323"/>
                      <a:pt x="32" y="323"/>
                    </a:cubicBezTo>
                    <a:cubicBezTo>
                      <a:pt x="38" y="323"/>
                      <a:pt x="43" y="318"/>
                      <a:pt x="43" y="312"/>
                    </a:cubicBezTo>
                    <a:cubicBezTo>
                      <a:pt x="43" y="301"/>
                      <a:pt x="43" y="301"/>
                      <a:pt x="43" y="301"/>
                    </a:cubicBezTo>
                    <a:cubicBezTo>
                      <a:pt x="128" y="301"/>
                      <a:pt x="128" y="301"/>
                      <a:pt x="128" y="301"/>
                    </a:cubicBezTo>
                    <a:cubicBezTo>
                      <a:pt x="128" y="312"/>
                      <a:pt x="128" y="312"/>
                      <a:pt x="128" y="312"/>
                    </a:cubicBezTo>
                    <a:cubicBezTo>
                      <a:pt x="128" y="318"/>
                      <a:pt x="133" y="323"/>
                      <a:pt x="139" y="323"/>
                    </a:cubicBezTo>
                    <a:cubicBezTo>
                      <a:pt x="145" y="323"/>
                      <a:pt x="150" y="318"/>
                      <a:pt x="150" y="312"/>
                    </a:cubicBezTo>
                    <a:cubicBezTo>
                      <a:pt x="150" y="301"/>
                      <a:pt x="150" y="301"/>
                      <a:pt x="150" y="301"/>
                    </a:cubicBezTo>
                    <a:cubicBezTo>
                      <a:pt x="160" y="301"/>
                      <a:pt x="160" y="301"/>
                      <a:pt x="160" y="301"/>
                    </a:cubicBezTo>
                    <a:cubicBezTo>
                      <a:pt x="166" y="301"/>
                      <a:pt x="171" y="297"/>
                      <a:pt x="171" y="291"/>
                    </a:cubicBezTo>
                    <a:cubicBezTo>
                      <a:pt x="171" y="99"/>
                      <a:pt x="171" y="99"/>
                      <a:pt x="171" y="99"/>
                    </a:cubicBezTo>
                    <a:cubicBezTo>
                      <a:pt x="171" y="93"/>
                      <a:pt x="166" y="88"/>
                      <a:pt x="160" y="88"/>
                    </a:cubicBezTo>
                    <a:close/>
                    <a:moveTo>
                      <a:pt x="64" y="26"/>
                    </a:moveTo>
                    <a:cubicBezTo>
                      <a:pt x="78" y="23"/>
                      <a:pt x="93" y="23"/>
                      <a:pt x="107" y="26"/>
                    </a:cubicBezTo>
                    <a:cubicBezTo>
                      <a:pt x="107" y="88"/>
                      <a:pt x="107" y="88"/>
                      <a:pt x="107" y="88"/>
                    </a:cubicBezTo>
                    <a:cubicBezTo>
                      <a:pt x="64" y="88"/>
                      <a:pt x="64" y="88"/>
                      <a:pt x="64" y="88"/>
                    </a:cubicBezTo>
                    <a:lnTo>
                      <a:pt x="64" y="26"/>
                    </a:lnTo>
                    <a:close/>
                    <a:moveTo>
                      <a:pt x="150" y="280"/>
                    </a:moveTo>
                    <a:cubicBezTo>
                      <a:pt x="22" y="280"/>
                      <a:pt x="22" y="280"/>
                      <a:pt x="22" y="280"/>
                    </a:cubicBezTo>
                    <a:cubicBezTo>
                      <a:pt x="22" y="109"/>
                      <a:pt x="22" y="109"/>
                      <a:pt x="22" y="109"/>
                    </a:cubicBezTo>
                    <a:cubicBezTo>
                      <a:pt x="150" y="109"/>
                      <a:pt x="150" y="109"/>
                      <a:pt x="150" y="109"/>
                    </a:cubicBezTo>
                    <a:lnTo>
                      <a:pt x="150" y="280"/>
                    </a:lnTo>
                    <a:close/>
                    <a:moveTo>
                      <a:pt x="118" y="131"/>
                    </a:moveTo>
                    <a:cubicBezTo>
                      <a:pt x="124" y="131"/>
                      <a:pt x="128" y="135"/>
                      <a:pt x="128" y="141"/>
                    </a:cubicBezTo>
                    <a:cubicBezTo>
                      <a:pt x="128" y="147"/>
                      <a:pt x="124" y="152"/>
                      <a:pt x="118" y="152"/>
                    </a:cubicBezTo>
                    <a:cubicBezTo>
                      <a:pt x="54" y="152"/>
                      <a:pt x="54" y="152"/>
                      <a:pt x="54" y="152"/>
                    </a:cubicBezTo>
                    <a:cubicBezTo>
                      <a:pt x="48" y="152"/>
                      <a:pt x="43" y="147"/>
                      <a:pt x="43" y="141"/>
                    </a:cubicBezTo>
                    <a:cubicBezTo>
                      <a:pt x="43" y="135"/>
                      <a:pt x="48" y="131"/>
                      <a:pt x="54" y="131"/>
                    </a:cubicBezTo>
                    <a:lnTo>
                      <a:pt x="118" y="131"/>
                    </a:lnTo>
                    <a:close/>
                    <a:moveTo>
                      <a:pt x="128" y="248"/>
                    </a:moveTo>
                    <a:cubicBezTo>
                      <a:pt x="128" y="254"/>
                      <a:pt x="124" y="259"/>
                      <a:pt x="118" y="259"/>
                    </a:cubicBezTo>
                    <a:cubicBezTo>
                      <a:pt x="54" y="259"/>
                      <a:pt x="54" y="259"/>
                      <a:pt x="54" y="259"/>
                    </a:cubicBezTo>
                    <a:cubicBezTo>
                      <a:pt x="48" y="259"/>
                      <a:pt x="43" y="254"/>
                      <a:pt x="43" y="248"/>
                    </a:cubicBezTo>
                    <a:cubicBezTo>
                      <a:pt x="43" y="242"/>
                      <a:pt x="48" y="237"/>
                      <a:pt x="54" y="237"/>
                    </a:cubicBezTo>
                    <a:cubicBezTo>
                      <a:pt x="118" y="237"/>
                      <a:pt x="118" y="237"/>
                      <a:pt x="118" y="237"/>
                    </a:cubicBezTo>
                    <a:cubicBezTo>
                      <a:pt x="124" y="237"/>
                      <a:pt x="128" y="242"/>
                      <a:pt x="128" y="24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 name="Group 784"/>
            <p:cNvGrpSpPr>
              <a:grpSpLocks noChangeAspect="1"/>
            </p:cNvGrpSpPr>
            <p:nvPr/>
          </p:nvGrpSpPr>
          <p:grpSpPr bwMode="auto">
            <a:xfrm>
              <a:off x="1700839" y="4127477"/>
              <a:ext cx="435600" cy="435600"/>
              <a:chOff x="2657" y="3361"/>
              <a:chExt cx="340" cy="340"/>
            </a:xfrm>
            <a:solidFill>
              <a:srgbClr val="00A0DE"/>
            </a:solidFill>
          </p:grpSpPr>
          <p:sp>
            <p:nvSpPr>
              <p:cNvPr id="31" name="Freeform 785"/>
              <p:cNvSpPr>
                <a:spLocks noEditPoints="1"/>
              </p:cNvSpPr>
              <p:nvPr/>
            </p:nvSpPr>
            <p:spPr bwMode="auto">
              <a:xfrm>
                <a:off x="2721" y="3439"/>
                <a:ext cx="212" cy="170"/>
              </a:xfrm>
              <a:custGeom>
                <a:avLst/>
                <a:gdLst>
                  <a:gd name="T0" fmla="*/ 313 w 320"/>
                  <a:gd name="T1" fmla="*/ 33 h 257"/>
                  <a:gd name="T2" fmla="*/ 239 w 320"/>
                  <a:gd name="T3" fmla="*/ 1 h 257"/>
                  <a:gd name="T4" fmla="*/ 230 w 320"/>
                  <a:gd name="T5" fmla="*/ 1 h 257"/>
                  <a:gd name="T6" fmla="*/ 160 w 320"/>
                  <a:gd name="T7" fmla="*/ 31 h 257"/>
                  <a:gd name="T8" fmla="*/ 89 w 320"/>
                  <a:gd name="T9" fmla="*/ 1 h 257"/>
                  <a:gd name="T10" fmla="*/ 81 w 320"/>
                  <a:gd name="T11" fmla="*/ 1 h 257"/>
                  <a:gd name="T12" fmla="*/ 6 w 320"/>
                  <a:gd name="T13" fmla="*/ 33 h 257"/>
                  <a:gd name="T14" fmla="*/ 0 w 320"/>
                  <a:gd name="T15" fmla="*/ 43 h 257"/>
                  <a:gd name="T16" fmla="*/ 0 w 320"/>
                  <a:gd name="T17" fmla="*/ 245 h 257"/>
                  <a:gd name="T18" fmla="*/ 4 w 320"/>
                  <a:gd name="T19" fmla="*/ 254 h 257"/>
                  <a:gd name="T20" fmla="*/ 15 w 320"/>
                  <a:gd name="T21" fmla="*/ 255 h 257"/>
                  <a:gd name="T22" fmla="*/ 85 w 320"/>
                  <a:gd name="T23" fmla="*/ 225 h 257"/>
                  <a:gd name="T24" fmla="*/ 155 w 320"/>
                  <a:gd name="T25" fmla="*/ 255 h 257"/>
                  <a:gd name="T26" fmla="*/ 164 w 320"/>
                  <a:gd name="T27" fmla="*/ 255 h 257"/>
                  <a:gd name="T28" fmla="*/ 234 w 320"/>
                  <a:gd name="T29" fmla="*/ 225 h 257"/>
                  <a:gd name="T30" fmla="*/ 305 w 320"/>
                  <a:gd name="T31" fmla="*/ 255 h 257"/>
                  <a:gd name="T32" fmla="*/ 309 w 320"/>
                  <a:gd name="T33" fmla="*/ 256 h 257"/>
                  <a:gd name="T34" fmla="*/ 315 w 320"/>
                  <a:gd name="T35" fmla="*/ 254 h 257"/>
                  <a:gd name="T36" fmla="*/ 320 w 320"/>
                  <a:gd name="T37" fmla="*/ 245 h 257"/>
                  <a:gd name="T38" fmla="*/ 320 w 320"/>
                  <a:gd name="T39" fmla="*/ 43 h 257"/>
                  <a:gd name="T40" fmla="*/ 313 w 320"/>
                  <a:gd name="T41" fmla="*/ 33 h 257"/>
                  <a:gd name="T42" fmla="*/ 96 w 320"/>
                  <a:gd name="T43" fmla="*/ 27 h 257"/>
                  <a:gd name="T44" fmla="*/ 149 w 320"/>
                  <a:gd name="T45" fmla="*/ 50 h 257"/>
                  <a:gd name="T46" fmla="*/ 149 w 320"/>
                  <a:gd name="T47" fmla="*/ 229 h 257"/>
                  <a:gd name="T48" fmla="*/ 96 w 320"/>
                  <a:gd name="T49" fmla="*/ 206 h 257"/>
                  <a:gd name="T50" fmla="*/ 96 w 320"/>
                  <a:gd name="T51" fmla="*/ 27 h 257"/>
                  <a:gd name="T52" fmla="*/ 170 w 320"/>
                  <a:gd name="T53" fmla="*/ 50 h 257"/>
                  <a:gd name="T54" fmla="*/ 224 w 320"/>
                  <a:gd name="T55" fmla="*/ 27 h 257"/>
                  <a:gd name="T56" fmla="*/ 224 w 320"/>
                  <a:gd name="T57" fmla="*/ 206 h 257"/>
                  <a:gd name="T58" fmla="*/ 170 w 320"/>
                  <a:gd name="T59" fmla="*/ 229 h 257"/>
                  <a:gd name="T60" fmla="*/ 170 w 320"/>
                  <a:gd name="T61" fmla="*/ 50 h 257"/>
                  <a:gd name="T62" fmla="*/ 21 w 320"/>
                  <a:gd name="T63" fmla="*/ 50 h 257"/>
                  <a:gd name="T64" fmla="*/ 74 w 320"/>
                  <a:gd name="T65" fmla="*/ 27 h 257"/>
                  <a:gd name="T66" fmla="*/ 74 w 320"/>
                  <a:gd name="T67" fmla="*/ 206 h 257"/>
                  <a:gd name="T68" fmla="*/ 21 w 320"/>
                  <a:gd name="T69" fmla="*/ 229 h 257"/>
                  <a:gd name="T70" fmla="*/ 21 w 320"/>
                  <a:gd name="T71" fmla="*/ 50 h 257"/>
                  <a:gd name="T72" fmla="*/ 298 w 320"/>
                  <a:gd name="T73" fmla="*/ 229 h 257"/>
                  <a:gd name="T74" fmla="*/ 245 w 320"/>
                  <a:gd name="T75" fmla="*/ 206 h 257"/>
                  <a:gd name="T76" fmla="*/ 245 w 320"/>
                  <a:gd name="T77" fmla="*/ 27 h 257"/>
                  <a:gd name="T78" fmla="*/ 298 w 320"/>
                  <a:gd name="T79" fmla="*/ 50 h 257"/>
                  <a:gd name="T80" fmla="*/ 298 w 320"/>
                  <a:gd name="T8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57">
                    <a:moveTo>
                      <a:pt x="313" y="33"/>
                    </a:moveTo>
                    <a:cubicBezTo>
                      <a:pt x="239" y="1"/>
                      <a:pt x="239" y="1"/>
                      <a:pt x="239" y="1"/>
                    </a:cubicBezTo>
                    <a:cubicBezTo>
                      <a:pt x="236" y="0"/>
                      <a:pt x="233" y="0"/>
                      <a:pt x="230" y="1"/>
                    </a:cubicBezTo>
                    <a:cubicBezTo>
                      <a:pt x="160" y="31"/>
                      <a:pt x="160" y="31"/>
                      <a:pt x="160" y="31"/>
                    </a:cubicBezTo>
                    <a:cubicBezTo>
                      <a:pt x="89" y="1"/>
                      <a:pt x="89" y="1"/>
                      <a:pt x="89" y="1"/>
                    </a:cubicBezTo>
                    <a:cubicBezTo>
                      <a:pt x="87" y="0"/>
                      <a:pt x="83" y="0"/>
                      <a:pt x="81" y="1"/>
                    </a:cubicBezTo>
                    <a:cubicBezTo>
                      <a:pt x="6" y="33"/>
                      <a:pt x="6" y="33"/>
                      <a:pt x="6" y="33"/>
                    </a:cubicBezTo>
                    <a:cubicBezTo>
                      <a:pt x="2" y="35"/>
                      <a:pt x="0" y="38"/>
                      <a:pt x="0" y="43"/>
                    </a:cubicBezTo>
                    <a:cubicBezTo>
                      <a:pt x="0" y="245"/>
                      <a:pt x="0" y="245"/>
                      <a:pt x="0" y="245"/>
                    </a:cubicBezTo>
                    <a:cubicBezTo>
                      <a:pt x="0" y="249"/>
                      <a:pt x="1" y="252"/>
                      <a:pt x="4" y="254"/>
                    </a:cubicBezTo>
                    <a:cubicBezTo>
                      <a:pt x="7" y="256"/>
                      <a:pt x="11" y="257"/>
                      <a:pt x="15" y="255"/>
                    </a:cubicBezTo>
                    <a:cubicBezTo>
                      <a:pt x="85" y="225"/>
                      <a:pt x="85" y="225"/>
                      <a:pt x="85" y="225"/>
                    </a:cubicBezTo>
                    <a:cubicBezTo>
                      <a:pt x="155" y="255"/>
                      <a:pt x="155" y="255"/>
                      <a:pt x="155" y="255"/>
                    </a:cubicBezTo>
                    <a:cubicBezTo>
                      <a:pt x="158" y="256"/>
                      <a:pt x="161" y="256"/>
                      <a:pt x="164" y="255"/>
                    </a:cubicBezTo>
                    <a:cubicBezTo>
                      <a:pt x="234" y="225"/>
                      <a:pt x="234" y="225"/>
                      <a:pt x="234" y="225"/>
                    </a:cubicBezTo>
                    <a:cubicBezTo>
                      <a:pt x="305" y="255"/>
                      <a:pt x="305" y="255"/>
                      <a:pt x="305" y="255"/>
                    </a:cubicBezTo>
                    <a:cubicBezTo>
                      <a:pt x="306" y="256"/>
                      <a:pt x="308" y="256"/>
                      <a:pt x="309" y="256"/>
                    </a:cubicBezTo>
                    <a:cubicBezTo>
                      <a:pt x="311" y="256"/>
                      <a:pt x="313" y="255"/>
                      <a:pt x="315" y="254"/>
                    </a:cubicBezTo>
                    <a:cubicBezTo>
                      <a:pt x="318" y="252"/>
                      <a:pt x="320" y="249"/>
                      <a:pt x="320" y="245"/>
                    </a:cubicBezTo>
                    <a:cubicBezTo>
                      <a:pt x="320" y="43"/>
                      <a:pt x="320" y="43"/>
                      <a:pt x="320" y="43"/>
                    </a:cubicBezTo>
                    <a:cubicBezTo>
                      <a:pt x="320" y="38"/>
                      <a:pt x="317" y="35"/>
                      <a:pt x="313" y="33"/>
                    </a:cubicBezTo>
                    <a:close/>
                    <a:moveTo>
                      <a:pt x="96" y="27"/>
                    </a:moveTo>
                    <a:cubicBezTo>
                      <a:pt x="149" y="50"/>
                      <a:pt x="149" y="50"/>
                      <a:pt x="149" y="50"/>
                    </a:cubicBezTo>
                    <a:cubicBezTo>
                      <a:pt x="149" y="229"/>
                      <a:pt x="149" y="229"/>
                      <a:pt x="149" y="229"/>
                    </a:cubicBezTo>
                    <a:cubicBezTo>
                      <a:pt x="96" y="206"/>
                      <a:pt x="96" y="206"/>
                      <a:pt x="96" y="206"/>
                    </a:cubicBezTo>
                    <a:lnTo>
                      <a:pt x="96" y="27"/>
                    </a:lnTo>
                    <a:close/>
                    <a:moveTo>
                      <a:pt x="170" y="50"/>
                    </a:moveTo>
                    <a:cubicBezTo>
                      <a:pt x="224" y="27"/>
                      <a:pt x="224" y="27"/>
                      <a:pt x="224" y="27"/>
                    </a:cubicBezTo>
                    <a:cubicBezTo>
                      <a:pt x="224" y="206"/>
                      <a:pt x="224" y="206"/>
                      <a:pt x="224" y="206"/>
                    </a:cubicBezTo>
                    <a:cubicBezTo>
                      <a:pt x="170" y="229"/>
                      <a:pt x="170" y="229"/>
                      <a:pt x="170" y="229"/>
                    </a:cubicBezTo>
                    <a:lnTo>
                      <a:pt x="170" y="50"/>
                    </a:lnTo>
                    <a:close/>
                    <a:moveTo>
                      <a:pt x="21" y="50"/>
                    </a:moveTo>
                    <a:cubicBezTo>
                      <a:pt x="74" y="27"/>
                      <a:pt x="74" y="27"/>
                      <a:pt x="74" y="27"/>
                    </a:cubicBezTo>
                    <a:cubicBezTo>
                      <a:pt x="74" y="206"/>
                      <a:pt x="74" y="206"/>
                      <a:pt x="74" y="206"/>
                    </a:cubicBezTo>
                    <a:cubicBezTo>
                      <a:pt x="21" y="229"/>
                      <a:pt x="21" y="229"/>
                      <a:pt x="21" y="229"/>
                    </a:cubicBezTo>
                    <a:lnTo>
                      <a:pt x="21" y="50"/>
                    </a:lnTo>
                    <a:close/>
                    <a:moveTo>
                      <a:pt x="298" y="229"/>
                    </a:moveTo>
                    <a:cubicBezTo>
                      <a:pt x="245" y="206"/>
                      <a:pt x="245" y="206"/>
                      <a:pt x="245" y="206"/>
                    </a:cubicBezTo>
                    <a:cubicBezTo>
                      <a:pt x="245" y="27"/>
                      <a:pt x="245" y="27"/>
                      <a:pt x="245" y="27"/>
                    </a:cubicBezTo>
                    <a:cubicBezTo>
                      <a:pt x="298" y="50"/>
                      <a:pt x="298" y="50"/>
                      <a:pt x="298" y="50"/>
                    </a:cubicBezTo>
                    <a:lnTo>
                      <a:pt x="298" y="2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786"/>
              <p:cNvSpPr>
                <a:spLocks noEditPoints="1"/>
              </p:cNvSpPr>
              <p:nvPr/>
            </p:nvSpPr>
            <p:spPr bwMode="auto">
              <a:xfrm>
                <a:off x="2657" y="33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3" name="TextBox 32"/>
          <p:cNvSpPr txBox="1"/>
          <p:nvPr/>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en-GB" sz="700" noProof="0" dirty="0">
                <a:solidFill>
                  <a:schemeClr val="bg1"/>
                </a:solidFill>
              </a:rPr>
              <a:t>© 2018 Deloitte Touche Tohmatsu India LLP</a:t>
            </a:r>
          </a:p>
        </p:txBody>
      </p:sp>
    </p:spTree>
    <p:extLst>
      <p:ext uri="{BB962C8B-B14F-4D97-AF65-F5344CB8AC3E}">
        <p14:creationId xmlns:p14="http://schemas.microsoft.com/office/powerpoint/2010/main" val="572488565"/>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363979" y="908438"/>
            <a:ext cx="9999337" cy="321314"/>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Fee Details</a:t>
            </a:r>
          </a:p>
        </p:txBody>
      </p:sp>
      <p:sp>
        <p:nvSpPr>
          <p:cNvPr id="14" name="Rectangle 13"/>
          <p:cNvSpPr/>
          <p:nvPr/>
        </p:nvSpPr>
        <p:spPr>
          <a:xfrm>
            <a:off x="363980" y="5080338"/>
            <a:ext cx="9999336" cy="954107"/>
          </a:xfrm>
          <a:prstGeom prst="rect">
            <a:avLst/>
          </a:prstGeom>
        </p:spPr>
        <p:txBody>
          <a:bodyPr wrap="square">
            <a:spAutoFit/>
          </a:bodyPr>
          <a:lstStyle/>
          <a:p>
            <a:pPr marL="342900" lvl="1" indent="-342900" algn="just" defTabSz="914400">
              <a:buSzPts val="1000"/>
              <a:buFont typeface="+mj-lt"/>
              <a:buAutoNum type="arabicPeriod" startAt="3"/>
              <a:tabLst>
                <a:tab pos="532130" algn="l"/>
              </a:tabLst>
            </a:pPr>
            <a:r>
              <a:rPr lang="en-US" sz="1400" dirty="0">
                <a:solidFill>
                  <a:srgbClr val="000000"/>
                </a:solidFill>
                <a:ea typeface="Verdana" panose="020B0604030504040204" pitchFamily="34" charset="0"/>
                <a:cs typeface="Verdana" panose="020B0604030504040204" pitchFamily="34" charset="0"/>
              </a:rPr>
              <a:t>Drop-dead Fee – Pursuant to appointment of the Consultant, in case the client decides at any stage to not submit a bid and / or closes the engagement with the Consultant with respect to the project, the Consultant shall be paid an amount equal to the higher of 75% of the Financial Quote or the payments against milestones/work completed till such date.</a:t>
            </a:r>
          </a:p>
        </p:txBody>
      </p:sp>
      <p:sp>
        <p:nvSpPr>
          <p:cNvPr id="15" name="Rectangle 14"/>
          <p:cNvSpPr/>
          <p:nvPr/>
        </p:nvSpPr>
        <p:spPr>
          <a:xfrm>
            <a:off x="263397" y="1235000"/>
            <a:ext cx="10010966" cy="523220"/>
          </a:xfrm>
          <a:prstGeom prst="rect">
            <a:avLst/>
          </a:prstGeom>
        </p:spPr>
        <p:txBody>
          <a:bodyPr wrap="square">
            <a:spAutoFit/>
          </a:bodyPr>
          <a:lstStyle/>
          <a:p>
            <a:pPr marL="342900" lvl="1" indent="-342900" algn="just" defTabSz="914400">
              <a:buSzPts val="1000"/>
              <a:buFont typeface="+mj-lt"/>
              <a:buAutoNum type="arabicPeriod"/>
              <a:tabLst>
                <a:tab pos="532130" algn="l"/>
              </a:tabLst>
            </a:pPr>
            <a:r>
              <a:rPr lang="en-US" sz="1400" dirty="0">
                <a:solidFill>
                  <a:srgbClr val="000000"/>
                </a:solidFill>
                <a:ea typeface="Verdana" panose="020B0604030504040204" pitchFamily="34" charset="0"/>
                <a:cs typeface="Verdana" panose="020B0604030504040204" pitchFamily="34" charset="0"/>
              </a:rPr>
              <a:t>Our proposed fee for the advisory services will be Rs. XX (hereinafter referred as “Financial Quote”).</a:t>
            </a:r>
          </a:p>
          <a:p>
            <a:pPr marL="342900" lvl="1" indent="-342900" algn="just" defTabSz="914400">
              <a:buSzPts val="1000"/>
              <a:buFont typeface="+mj-lt"/>
              <a:buAutoNum type="arabicPeriod"/>
              <a:tabLst>
                <a:tab pos="532130" algn="l"/>
              </a:tabLst>
            </a:pPr>
            <a:r>
              <a:rPr lang="en-US" sz="1400" dirty="0">
                <a:solidFill>
                  <a:srgbClr val="000000"/>
                </a:solidFill>
                <a:ea typeface="Verdana" panose="020B0604030504040204" pitchFamily="34" charset="0"/>
                <a:cs typeface="Verdana" panose="020B0604030504040204" pitchFamily="34" charset="0"/>
              </a:rPr>
              <a:t>The payment milestones will be as mentioned below:</a:t>
            </a:r>
          </a:p>
        </p:txBody>
      </p:sp>
      <p:sp>
        <p:nvSpPr>
          <p:cNvPr id="16" name="Rectangle 15"/>
          <p:cNvSpPr/>
          <p:nvPr/>
        </p:nvSpPr>
        <p:spPr>
          <a:xfrm>
            <a:off x="352350" y="6152518"/>
            <a:ext cx="10010966" cy="375999"/>
          </a:xfrm>
          <a:prstGeom prst="rect">
            <a:avLst/>
          </a:prstGeom>
          <a:solidFill>
            <a:srgbClr val="046A38"/>
          </a:solidFill>
          <a:ln w="12700" cap="flat" cmpd="sng" algn="ctr">
            <a:solidFill>
              <a:srgbClr val="00A1D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FFFFF"/>
                </a:solidFill>
                <a:effectLst/>
                <a:uLnTx/>
                <a:uFillTx/>
                <a:latin typeface="+mj-lt"/>
                <a:ea typeface="Verdana" panose="020B0604030504040204" pitchFamily="34" charset="0"/>
                <a:cs typeface="Verdana" panose="020B0604030504040204" pitchFamily="34" charset="0"/>
              </a:rPr>
              <a:t>Confirmation on exclusivity</a:t>
            </a:r>
          </a:p>
        </p:txBody>
      </p:sp>
      <p:sp>
        <p:nvSpPr>
          <p:cNvPr id="17" name="Rectangle 16"/>
          <p:cNvSpPr/>
          <p:nvPr/>
        </p:nvSpPr>
        <p:spPr>
          <a:xfrm>
            <a:off x="352350" y="6533765"/>
            <a:ext cx="10010966" cy="523220"/>
          </a:xfrm>
          <a:prstGeom prst="rect">
            <a:avLst/>
          </a:prstGeom>
          <a:ln>
            <a:solidFill>
              <a:srgbClr val="000000">
                <a:lumMod val="20000"/>
                <a:lumOff val="80000"/>
              </a:srgbClr>
            </a:solidFill>
          </a:ln>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ea typeface="Verdana" panose="020B0604030504040204" pitchFamily="34" charset="0"/>
                <a:cs typeface="Verdana" panose="020B0604030504040204" pitchFamily="34" charset="0"/>
              </a:rPr>
              <a:t>Our team will work exclusively for the company for the contracted services. We confirm that we do not have any conflict of interest.</a:t>
            </a:r>
          </a:p>
        </p:txBody>
      </p:sp>
      <p:graphicFrame>
        <p:nvGraphicFramePr>
          <p:cNvPr id="18" name="Table 17"/>
          <p:cNvGraphicFramePr>
            <a:graphicFrameLocks noGrp="1"/>
          </p:cNvGraphicFramePr>
          <p:nvPr>
            <p:extLst>
              <p:ext uri="{D42A27DB-BD31-4B8C-83A1-F6EECF244321}">
                <p14:modId xmlns:p14="http://schemas.microsoft.com/office/powerpoint/2010/main" val="590074263"/>
              </p:ext>
            </p:extLst>
          </p:nvPr>
        </p:nvGraphicFramePr>
        <p:xfrm>
          <a:off x="363980" y="1929786"/>
          <a:ext cx="9999336" cy="3049322"/>
        </p:xfrm>
        <a:graphic>
          <a:graphicData uri="http://schemas.openxmlformats.org/drawingml/2006/table">
            <a:tbl>
              <a:tblPr firstRow="1" bandRow="1"/>
              <a:tblGrid>
                <a:gridCol w="5485448">
                  <a:extLst>
                    <a:ext uri="{9D8B030D-6E8A-4147-A177-3AD203B41FA5}">
                      <a16:colId xmlns:a16="http://schemas.microsoft.com/office/drawing/2014/main" val="3071946051"/>
                    </a:ext>
                  </a:extLst>
                </a:gridCol>
                <a:gridCol w="2106482">
                  <a:extLst>
                    <a:ext uri="{9D8B030D-6E8A-4147-A177-3AD203B41FA5}">
                      <a16:colId xmlns:a16="http://schemas.microsoft.com/office/drawing/2014/main" val="584899959"/>
                    </a:ext>
                  </a:extLst>
                </a:gridCol>
                <a:gridCol w="2407406">
                  <a:extLst>
                    <a:ext uri="{9D8B030D-6E8A-4147-A177-3AD203B41FA5}">
                      <a16:colId xmlns:a16="http://schemas.microsoft.com/office/drawing/2014/main" val="2681557301"/>
                    </a:ext>
                  </a:extLst>
                </a:gridCol>
              </a:tblGrid>
              <a:tr h="436298">
                <a:tc>
                  <a:txBody>
                    <a:bodyPr/>
                    <a:lstStyle>
                      <a:lvl1pPr marL="0" algn="l" defTabSz="1008400" rtl="0" eaLnBrk="1" latinLnBrk="0" hangingPunct="1">
                        <a:defRPr sz="1985" b="1" kern="1200">
                          <a:solidFill>
                            <a:schemeClr val="lt1"/>
                          </a:solidFill>
                          <a:latin typeface="Arial"/>
                        </a:defRPr>
                      </a:lvl1pPr>
                      <a:lvl2pPr marL="504200" algn="l" defTabSz="1008400" rtl="0" eaLnBrk="1" latinLnBrk="0" hangingPunct="1">
                        <a:defRPr sz="1985" b="1" kern="1200">
                          <a:solidFill>
                            <a:schemeClr val="lt1"/>
                          </a:solidFill>
                          <a:latin typeface="Arial"/>
                        </a:defRPr>
                      </a:lvl2pPr>
                      <a:lvl3pPr marL="1008400" algn="l" defTabSz="1008400" rtl="0" eaLnBrk="1" latinLnBrk="0" hangingPunct="1">
                        <a:defRPr sz="1985" b="1" kern="1200">
                          <a:solidFill>
                            <a:schemeClr val="lt1"/>
                          </a:solidFill>
                          <a:latin typeface="Arial"/>
                        </a:defRPr>
                      </a:lvl3pPr>
                      <a:lvl4pPr marL="1512600" algn="l" defTabSz="1008400" rtl="0" eaLnBrk="1" latinLnBrk="0" hangingPunct="1">
                        <a:defRPr sz="1985" b="1" kern="1200">
                          <a:solidFill>
                            <a:schemeClr val="lt1"/>
                          </a:solidFill>
                          <a:latin typeface="Arial"/>
                        </a:defRPr>
                      </a:lvl4pPr>
                      <a:lvl5pPr marL="2016801" algn="l" defTabSz="1008400" rtl="0" eaLnBrk="1" latinLnBrk="0" hangingPunct="1">
                        <a:defRPr sz="1985" b="1" kern="1200">
                          <a:solidFill>
                            <a:schemeClr val="lt1"/>
                          </a:solidFill>
                          <a:latin typeface="Arial"/>
                        </a:defRPr>
                      </a:lvl5pPr>
                      <a:lvl6pPr marL="2521001" algn="l" defTabSz="1008400" rtl="0" eaLnBrk="1" latinLnBrk="0" hangingPunct="1">
                        <a:defRPr sz="1985" b="1" kern="1200">
                          <a:solidFill>
                            <a:schemeClr val="lt1"/>
                          </a:solidFill>
                          <a:latin typeface="Arial"/>
                        </a:defRPr>
                      </a:lvl6pPr>
                      <a:lvl7pPr marL="3025201" algn="l" defTabSz="1008400" rtl="0" eaLnBrk="1" latinLnBrk="0" hangingPunct="1">
                        <a:defRPr sz="1985" b="1" kern="1200">
                          <a:solidFill>
                            <a:schemeClr val="lt1"/>
                          </a:solidFill>
                          <a:latin typeface="Arial"/>
                        </a:defRPr>
                      </a:lvl7pPr>
                      <a:lvl8pPr marL="3529401" algn="l" defTabSz="1008400" rtl="0" eaLnBrk="1" latinLnBrk="0" hangingPunct="1">
                        <a:defRPr sz="1985" b="1" kern="1200">
                          <a:solidFill>
                            <a:schemeClr val="lt1"/>
                          </a:solidFill>
                          <a:latin typeface="Arial"/>
                        </a:defRPr>
                      </a:lvl8pPr>
                      <a:lvl9pPr marL="4033601" algn="l" defTabSz="1008400" rtl="0" eaLnBrk="1" latinLnBrk="0" hangingPunct="1">
                        <a:defRPr sz="1985" b="1" kern="1200">
                          <a:solidFill>
                            <a:schemeClr val="lt1"/>
                          </a:solidFill>
                          <a:latin typeface="Arial"/>
                        </a:defRPr>
                      </a:lvl9pPr>
                    </a:lstStyle>
                    <a:p>
                      <a:r>
                        <a:rPr lang="en-US" sz="1400" dirty="0">
                          <a:latin typeface="Verdana" panose="020B0604030504040204" pitchFamily="34" charset="0"/>
                          <a:ea typeface="Verdana" panose="020B0604030504040204" pitchFamily="34" charset="0"/>
                          <a:cs typeface="Verdana" panose="020B0604030504040204" pitchFamily="34" charset="0"/>
                        </a:rPr>
                        <a:t>Deliverable / Milestone</a:t>
                      </a:r>
                      <a:endParaRPr lang="en-IN" sz="14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2776"/>
                    </a:solidFill>
                  </a:tcPr>
                </a:tc>
                <a:tc>
                  <a:txBody>
                    <a:bodyPr/>
                    <a:lstStyle>
                      <a:lvl1pPr marL="0" algn="l" defTabSz="1008400" rtl="0" eaLnBrk="1" latinLnBrk="0" hangingPunct="1">
                        <a:defRPr sz="1985" b="1" kern="1200">
                          <a:solidFill>
                            <a:schemeClr val="lt1"/>
                          </a:solidFill>
                          <a:latin typeface="Arial"/>
                        </a:defRPr>
                      </a:lvl1pPr>
                      <a:lvl2pPr marL="504200" algn="l" defTabSz="1008400" rtl="0" eaLnBrk="1" latinLnBrk="0" hangingPunct="1">
                        <a:defRPr sz="1985" b="1" kern="1200">
                          <a:solidFill>
                            <a:schemeClr val="lt1"/>
                          </a:solidFill>
                          <a:latin typeface="Arial"/>
                        </a:defRPr>
                      </a:lvl2pPr>
                      <a:lvl3pPr marL="1008400" algn="l" defTabSz="1008400" rtl="0" eaLnBrk="1" latinLnBrk="0" hangingPunct="1">
                        <a:defRPr sz="1985" b="1" kern="1200">
                          <a:solidFill>
                            <a:schemeClr val="lt1"/>
                          </a:solidFill>
                          <a:latin typeface="Arial"/>
                        </a:defRPr>
                      </a:lvl3pPr>
                      <a:lvl4pPr marL="1512600" algn="l" defTabSz="1008400" rtl="0" eaLnBrk="1" latinLnBrk="0" hangingPunct="1">
                        <a:defRPr sz="1985" b="1" kern="1200">
                          <a:solidFill>
                            <a:schemeClr val="lt1"/>
                          </a:solidFill>
                          <a:latin typeface="Arial"/>
                        </a:defRPr>
                      </a:lvl4pPr>
                      <a:lvl5pPr marL="2016801" algn="l" defTabSz="1008400" rtl="0" eaLnBrk="1" latinLnBrk="0" hangingPunct="1">
                        <a:defRPr sz="1985" b="1" kern="1200">
                          <a:solidFill>
                            <a:schemeClr val="lt1"/>
                          </a:solidFill>
                          <a:latin typeface="Arial"/>
                        </a:defRPr>
                      </a:lvl5pPr>
                      <a:lvl6pPr marL="2521001" algn="l" defTabSz="1008400" rtl="0" eaLnBrk="1" latinLnBrk="0" hangingPunct="1">
                        <a:defRPr sz="1985" b="1" kern="1200">
                          <a:solidFill>
                            <a:schemeClr val="lt1"/>
                          </a:solidFill>
                          <a:latin typeface="Arial"/>
                        </a:defRPr>
                      </a:lvl6pPr>
                      <a:lvl7pPr marL="3025201" algn="l" defTabSz="1008400" rtl="0" eaLnBrk="1" latinLnBrk="0" hangingPunct="1">
                        <a:defRPr sz="1985" b="1" kern="1200">
                          <a:solidFill>
                            <a:schemeClr val="lt1"/>
                          </a:solidFill>
                          <a:latin typeface="Arial"/>
                        </a:defRPr>
                      </a:lvl7pPr>
                      <a:lvl8pPr marL="3529401" algn="l" defTabSz="1008400" rtl="0" eaLnBrk="1" latinLnBrk="0" hangingPunct="1">
                        <a:defRPr sz="1985" b="1" kern="1200">
                          <a:solidFill>
                            <a:schemeClr val="lt1"/>
                          </a:solidFill>
                          <a:latin typeface="Arial"/>
                        </a:defRPr>
                      </a:lvl8pPr>
                      <a:lvl9pPr marL="4033601" algn="l" defTabSz="1008400" rtl="0" eaLnBrk="1" latinLnBrk="0" hangingPunct="1">
                        <a:defRPr sz="1985" b="1" kern="1200">
                          <a:solidFill>
                            <a:schemeClr val="lt1"/>
                          </a:solidFill>
                          <a:latin typeface="Arial"/>
                        </a:defRPr>
                      </a:lvl9pPr>
                    </a:lstStyle>
                    <a:p>
                      <a:r>
                        <a:rPr lang="en-US" sz="1400" dirty="0">
                          <a:latin typeface="Verdana" panose="020B0604030504040204" pitchFamily="34" charset="0"/>
                          <a:ea typeface="Verdana" panose="020B0604030504040204" pitchFamily="34" charset="0"/>
                          <a:cs typeface="Verdana" panose="020B0604030504040204" pitchFamily="34" charset="0"/>
                        </a:rPr>
                        <a:t>Time Period</a:t>
                      </a:r>
                      <a:endParaRPr lang="en-IN" sz="14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2776"/>
                    </a:solidFill>
                  </a:tcPr>
                </a:tc>
                <a:tc>
                  <a:txBody>
                    <a:bodyPr/>
                    <a:lstStyle>
                      <a:lvl1pPr marL="0" algn="l" defTabSz="1008400" rtl="0" eaLnBrk="1" latinLnBrk="0" hangingPunct="1">
                        <a:defRPr sz="1985" b="1" kern="1200">
                          <a:solidFill>
                            <a:schemeClr val="lt1"/>
                          </a:solidFill>
                          <a:latin typeface="Arial"/>
                        </a:defRPr>
                      </a:lvl1pPr>
                      <a:lvl2pPr marL="504200" algn="l" defTabSz="1008400" rtl="0" eaLnBrk="1" latinLnBrk="0" hangingPunct="1">
                        <a:defRPr sz="1985" b="1" kern="1200">
                          <a:solidFill>
                            <a:schemeClr val="lt1"/>
                          </a:solidFill>
                          <a:latin typeface="Arial"/>
                        </a:defRPr>
                      </a:lvl2pPr>
                      <a:lvl3pPr marL="1008400" algn="l" defTabSz="1008400" rtl="0" eaLnBrk="1" latinLnBrk="0" hangingPunct="1">
                        <a:defRPr sz="1985" b="1" kern="1200">
                          <a:solidFill>
                            <a:schemeClr val="lt1"/>
                          </a:solidFill>
                          <a:latin typeface="Arial"/>
                        </a:defRPr>
                      </a:lvl3pPr>
                      <a:lvl4pPr marL="1512600" algn="l" defTabSz="1008400" rtl="0" eaLnBrk="1" latinLnBrk="0" hangingPunct="1">
                        <a:defRPr sz="1985" b="1" kern="1200">
                          <a:solidFill>
                            <a:schemeClr val="lt1"/>
                          </a:solidFill>
                          <a:latin typeface="Arial"/>
                        </a:defRPr>
                      </a:lvl4pPr>
                      <a:lvl5pPr marL="2016801" algn="l" defTabSz="1008400" rtl="0" eaLnBrk="1" latinLnBrk="0" hangingPunct="1">
                        <a:defRPr sz="1985" b="1" kern="1200">
                          <a:solidFill>
                            <a:schemeClr val="lt1"/>
                          </a:solidFill>
                          <a:latin typeface="Arial"/>
                        </a:defRPr>
                      </a:lvl5pPr>
                      <a:lvl6pPr marL="2521001" algn="l" defTabSz="1008400" rtl="0" eaLnBrk="1" latinLnBrk="0" hangingPunct="1">
                        <a:defRPr sz="1985" b="1" kern="1200">
                          <a:solidFill>
                            <a:schemeClr val="lt1"/>
                          </a:solidFill>
                          <a:latin typeface="Arial"/>
                        </a:defRPr>
                      </a:lvl6pPr>
                      <a:lvl7pPr marL="3025201" algn="l" defTabSz="1008400" rtl="0" eaLnBrk="1" latinLnBrk="0" hangingPunct="1">
                        <a:defRPr sz="1985" b="1" kern="1200">
                          <a:solidFill>
                            <a:schemeClr val="lt1"/>
                          </a:solidFill>
                          <a:latin typeface="Arial"/>
                        </a:defRPr>
                      </a:lvl7pPr>
                      <a:lvl8pPr marL="3529401" algn="l" defTabSz="1008400" rtl="0" eaLnBrk="1" latinLnBrk="0" hangingPunct="1">
                        <a:defRPr sz="1985" b="1" kern="1200">
                          <a:solidFill>
                            <a:schemeClr val="lt1"/>
                          </a:solidFill>
                          <a:latin typeface="Arial"/>
                        </a:defRPr>
                      </a:lvl8pPr>
                      <a:lvl9pPr marL="4033601" algn="l" defTabSz="1008400" rtl="0" eaLnBrk="1" latinLnBrk="0" hangingPunct="1">
                        <a:defRPr sz="1985" b="1" kern="1200">
                          <a:solidFill>
                            <a:schemeClr val="lt1"/>
                          </a:solidFill>
                          <a:latin typeface="Arial"/>
                        </a:defRPr>
                      </a:lvl9pPr>
                    </a:lstStyle>
                    <a:p>
                      <a:r>
                        <a:rPr lang="en-US" sz="1400" dirty="0">
                          <a:latin typeface="Verdana" panose="020B0604030504040204" pitchFamily="34" charset="0"/>
                          <a:ea typeface="Verdana" panose="020B0604030504040204" pitchFamily="34" charset="0"/>
                          <a:cs typeface="Verdana" panose="020B0604030504040204" pitchFamily="34" charset="0"/>
                        </a:rPr>
                        <a:t>Payment Percentage </a:t>
                      </a:r>
                      <a:endParaRPr lang="en-IN" sz="14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2776"/>
                    </a:solidFill>
                  </a:tcPr>
                </a:tc>
                <a:extLst>
                  <a:ext uri="{0D108BD9-81ED-4DB2-BD59-A6C34878D82A}">
                    <a16:rowId xmlns:a16="http://schemas.microsoft.com/office/drawing/2014/main" val="82832132"/>
                  </a:ext>
                </a:extLst>
              </a:tr>
              <a:tr h="384969">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baseline="0" dirty="0">
                          <a:latin typeface="Verdana" panose="020B0604030504040204" pitchFamily="34" charset="0"/>
                          <a:ea typeface="Verdana" panose="020B0604030504040204" pitchFamily="34" charset="0"/>
                          <a:cs typeface="Verdana" panose="020B0604030504040204" pitchFamily="34" charset="0"/>
                        </a:rPr>
                        <a:t>Submission of Early Go/No Go Assessment report  </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Within 7 days of</a:t>
                      </a:r>
                      <a:r>
                        <a:rPr lang="en-US" sz="1200" baseline="0" dirty="0">
                          <a:latin typeface="Verdana" panose="020B0604030504040204" pitchFamily="34" charset="0"/>
                          <a:ea typeface="Verdana" panose="020B0604030504040204" pitchFamily="34" charset="0"/>
                          <a:cs typeface="Verdana" panose="020B0604030504040204" pitchFamily="34" charset="0"/>
                        </a:rPr>
                        <a:t> LOA</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10%</a:t>
                      </a:r>
                      <a:r>
                        <a:rPr lang="en-US" sz="1200" baseline="0" dirty="0">
                          <a:latin typeface="Verdana" panose="020B0604030504040204" pitchFamily="34" charset="0"/>
                          <a:ea typeface="Verdana" panose="020B0604030504040204" pitchFamily="34" charset="0"/>
                          <a:cs typeface="Verdana" panose="020B0604030504040204" pitchFamily="34" charset="0"/>
                        </a:rPr>
                        <a:t> of the Financial Quote</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extLst>
                  <a:ext uri="{0D108BD9-81ED-4DB2-BD59-A6C34878D82A}">
                    <a16:rowId xmlns:a16="http://schemas.microsoft.com/office/drawing/2014/main" val="2378160210"/>
                  </a:ext>
                </a:extLst>
              </a:tr>
              <a:tr h="538956">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Submission of Due Diligence Report  based on the review of the RFP documents</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Within 15 days of</a:t>
                      </a:r>
                      <a:r>
                        <a:rPr lang="en-US" sz="1200" baseline="0" dirty="0">
                          <a:latin typeface="Verdana" panose="020B0604030504040204" pitchFamily="34" charset="0"/>
                          <a:ea typeface="Verdana" panose="020B0604030504040204" pitchFamily="34" charset="0"/>
                          <a:cs typeface="Verdana" panose="020B0604030504040204" pitchFamily="34" charset="0"/>
                        </a:rPr>
                        <a:t> LOA</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10%</a:t>
                      </a:r>
                      <a:r>
                        <a:rPr lang="en-US" sz="1200" baseline="0" dirty="0">
                          <a:latin typeface="Verdana" panose="020B0604030504040204" pitchFamily="34" charset="0"/>
                          <a:ea typeface="Verdana" panose="020B0604030504040204" pitchFamily="34" charset="0"/>
                          <a:cs typeface="Verdana" panose="020B0604030504040204" pitchFamily="34" charset="0"/>
                        </a:rPr>
                        <a:t> of the Financial Quote</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extLst>
                  <a:ext uri="{0D108BD9-81ED-4DB2-BD59-A6C34878D82A}">
                    <a16:rowId xmlns:a16="http://schemas.microsoft.com/office/drawing/2014/main" val="3016488150"/>
                  </a:ext>
                </a:extLst>
              </a:tr>
              <a:tr h="538956">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Submission of draft Financial Model Structure</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Within 30 days of</a:t>
                      </a:r>
                      <a:r>
                        <a:rPr lang="en-US" sz="1200" baseline="0" dirty="0">
                          <a:latin typeface="Verdana" panose="020B0604030504040204" pitchFamily="34" charset="0"/>
                          <a:ea typeface="Verdana" panose="020B0604030504040204" pitchFamily="34" charset="0"/>
                          <a:cs typeface="Verdana" panose="020B0604030504040204" pitchFamily="34" charset="0"/>
                        </a:rPr>
                        <a:t> LOA</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20%</a:t>
                      </a:r>
                      <a:r>
                        <a:rPr lang="en-US" sz="1200" baseline="0" dirty="0">
                          <a:latin typeface="Verdana" panose="020B0604030504040204" pitchFamily="34" charset="0"/>
                          <a:ea typeface="Verdana" panose="020B0604030504040204" pitchFamily="34" charset="0"/>
                          <a:cs typeface="Verdana" panose="020B0604030504040204" pitchFamily="34" charset="0"/>
                        </a:rPr>
                        <a:t> of the Financial Quote</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extLst>
                  <a:ext uri="{0D108BD9-81ED-4DB2-BD59-A6C34878D82A}">
                    <a16:rowId xmlns:a16="http://schemas.microsoft.com/office/drawing/2014/main" val="1463186905"/>
                  </a:ext>
                </a:extLst>
              </a:tr>
              <a:tr h="538956">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Delivery of preliminary</a:t>
                      </a:r>
                      <a:r>
                        <a:rPr lang="en-US" sz="1200" baseline="0" dirty="0">
                          <a:latin typeface="Verdana" panose="020B0604030504040204" pitchFamily="34" charset="0"/>
                          <a:ea typeface="Verdana" panose="020B0604030504040204" pitchFamily="34" charset="0"/>
                          <a:cs typeface="Verdana" panose="020B0604030504040204" pitchFamily="34" charset="0"/>
                        </a:rPr>
                        <a:t> project presentation to Essel</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Within 35 days of</a:t>
                      </a:r>
                      <a:r>
                        <a:rPr lang="en-US" sz="1200" baseline="0" dirty="0">
                          <a:latin typeface="Verdana" panose="020B0604030504040204" pitchFamily="34" charset="0"/>
                          <a:ea typeface="Verdana" panose="020B0604030504040204" pitchFamily="34" charset="0"/>
                          <a:cs typeface="Verdana" panose="020B0604030504040204" pitchFamily="34" charset="0"/>
                        </a:rPr>
                        <a:t> LOA</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30%</a:t>
                      </a:r>
                      <a:r>
                        <a:rPr lang="en-US" sz="1200" baseline="0" dirty="0">
                          <a:latin typeface="Verdana" panose="020B0604030504040204" pitchFamily="34" charset="0"/>
                          <a:ea typeface="Verdana" panose="020B0604030504040204" pitchFamily="34" charset="0"/>
                          <a:cs typeface="Verdana" panose="020B0604030504040204" pitchFamily="34" charset="0"/>
                        </a:rPr>
                        <a:t> of the Financial Quote</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20000"/>
                      </a:srgbClr>
                    </a:solidFill>
                  </a:tcPr>
                </a:tc>
                <a:extLst>
                  <a:ext uri="{0D108BD9-81ED-4DB2-BD59-A6C34878D82A}">
                    <a16:rowId xmlns:a16="http://schemas.microsoft.com/office/drawing/2014/main" val="3236359388"/>
                  </a:ext>
                </a:extLst>
              </a:tr>
              <a:tr h="538956">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Submission of Financial</a:t>
                      </a:r>
                      <a:r>
                        <a:rPr lang="en-US" sz="1200" baseline="0" dirty="0">
                          <a:latin typeface="Verdana" panose="020B0604030504040204" pitchFamily="34" charset="0"/>
                          <a:ea typeface="Verdana" panose="020B0604030504040204" pitchFamily="34" charset="0"/>
                          <a:cs typeface="Verdana" panose="020B0604030504040204" pitchFamily="34" charset="0"/>
                        </a:rPr>
                        <a:t> Model incorporating inputs from various other consultants appointed by Essel</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r>
                        <a:rPr lang="en-US" sz="1200" dirty="0">
                          <a:latin typeface="Verdana" panose="020B0604030504040204" pitchFamily="34" charset="0"/>
                          <a:ea typeface="Verdana" panose="020B0604030504040204" pitchFamily="34" charset="0"/>
                          <a:cs typeface="Verdana" panose="020B0604030504040204" pitchFamily="34" charset="0"/>
                        </a:rPr>
                        <a:t>Within 45 days of LOA</a:t>
                      </a:r>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tc>
                  <a:txBody>
                    <a:bodyPr/>
                    <a:lstStyle>
                      <a:lvl1pPr marL="0" algn="l" defTabSz="1008400" rtl="0" eaLnBrk="1" latinLnBrk="0" hangingPunct="1">
                        <a:defRPr sz="1985" kern="1200">
                          <a:solidFill>
                            <a:schemeClr val="dk1"/>
                          </a:solidFill>
                          <a:latin typeface="Arial"/>
                        </a:defRPr>
                      </a:lvl1pPr>
                      <a:lvl2pPr marL="504200" algn="l" defTabSz="1008400" rtl="0" eaLnBrk="1" latinLnBrk="0" hangingPunct="1">
                        <a:defRPr sz="1985" kern="1200">
                          <a:solidFill>
                            <a:schemeClr val="dk1"/>
                          </a:solidFill>
                          <a:latin typeface="Arial"/>
                        </a:defRPr>
                      </a:lvl2pPr>
                      <a:lvl3pPr marL="1008400" algn="l" defTabSz="1008400" rtl="0" eaLnBrk="1" latinLnBrk="0" hangingPunct="1">
                        <a:defRPr sz="1985" kern="1200">
                          <a:solidFill>
                            <a:schemeClr val="dk1"/>
                          </a:solidFill>
                          <a:latin typeface="Arial"/>
                        </a:defRPr>
                      </a:lvl3pPr>
                      <a:lvl4pPr marL="1512600" algn="l" defTabSz="1008400" rtl="0" eaLnBrk="1" latinLnBrk="0" hangingPunct="1">
                        <a:defRPr sz="1985" kern="1200">
                          <a:solidFill>
                            <a:schemeClr val="dk1"/>
                          </a:solidFill>
                          <a:latin typeface="Arial"/>
                        </a:defRPr>
                      </a:lvl4pPr>
                      <a:lvl5pPr marL="2016801" algn="l" defTabSz="1008400" rtl="0" eaLnBrk="1" latinLnBrk="0" hangingPunct="1">
                        <a:defRPr sz="1985" kern="1200">
                          <a:solidFill>
                            <a:schemeClr val="dk1"/>
                          </a:solidFill>
                          <a:latin typeface="Arial"/>
                        </a:defRPr>
                      </a:lvl5pPr>
                      <a:lvl6pPr marL="2521001" algn="l" defTabSz="1008400" rtl="0" eaLnBrk="1" latinLnBrk="0" hangingPunct="1">
                        <a:defRPr sz="1985" kern="1200">
                          <a:solidFill>
                            <a:schemeClr val="dk1"/>
                          </a:solidFill>
                          <a:latin typeface="Arial"/>
                        </a:defRPr>
                      </a:lvl6pPr>
                      <a:lvl7pPr marL="3025201" algn="l" defTabSz="1008400" rtl="0" eaLnBrk="1" latinLnBrk="0" hangingPunct="1">
                        <a:defRPr sz="1985" kern="1200">
                          <a:solidFill>
                            <a:schemeClr val="dk1"/>
                          </a:solidFill>
                          <a:latin typeface="Arial"/>
                        </a:defRPr>
                      </a:lvl7pPr>
                      <a:lvl8pPr marL="3529401" algn="l" defTabSz="1008400" rtl="0" eaLnBrk="1" latinLnBrk="0" hangingPunct="1">
                        <a:defRPr sz="1985" kern="1200">
                          <a:solidFill>
                            <a:schemeClr val="dk1"/>
                          </a:solidFill>
                          <a:latin typeface="Arial"/>
                        </a:defRPr>
                      </a:lvl8pPr>
                      <a:lvl9pPr marL="4033601" algn="l" defTabSz="1008400" rtl="0" eaLnBrk="1" latinLnBrk="0" hangingPunct="1">
                        <a:defRPr sz="1985"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Verdana" panose="020B0604030504040204" pitchFamily="34" charset="0"/>
                          <a:ea typeface="Verdana" panose="020B0604030504040204" pitchFamily="34" charset="0"/>
                          <a:cs typeface="Verdana" panose="020B0604030504040204" pitchFamily="34" charset="0"/>
                        </a:rPr>
                        <a:t>30%</a:t>
                      </a:r>
                      <a:r>
                        <a:rPr lang="en-US" sz="1200" baseline="0" dirty="0">
                          <a:latin typeface="Verdana" panose="020B0604030504040204" pitchFamily="34" charset="0"/>
                          <a:ea typeface="Verdana" panose="020B0604030504040204" pitchFamily="34" charset="0"/>
                          <a:cs typeface="Verdana" panose="020B0604030504040204" pitchFamily="34" charset="0"/>
                        </a:rPr>
                        <a:t> of the Financial Quote</a:t>
                      </a:r>
                      <a:endParaRPr lang="en-IN" sz="1200" dirty="0">
                        <a:latin typeface="Verdana" panose="020B0604030504040204" pitchFamily="34" charset="0"/>
                        <a:ea typeface="Verdana" panose="020B0604030504040204" pitchFamily="34" charset="0"/>
                        <a:cs typeface="Verdana" panose="020B0604030504040204" pitchFamily="34" charset="0"/>
                      </a:endParaRPr>
                    </a:p>
                    <a:p>
                      <a:endParaRPr lang="en-IN" sz="1200" dirty="0">
                        <a:latin typeface="Verdana" panose="020B0604030504040204" pitchFamily="34" charset="0"/>
                        <a:ea typeface="Verdana" panose="020B0604030504040204" pitchFamily="34" charset="0"/>
                        <a:cs typeface="Verdana" panose="020B0604030504040204" pitchFamily="34" charset="0"/>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2776">
                        <a:tint val="40000"/>
                      </a:srgbClr>
                    </a:solidFill>
                  </a:tcPr>
                </a:tc>
                <a:extLst>
                  <a:ext uri="{0D108BD9-81ED-4DB2-BD59-A6C34878D82A}">
                    <a16:rowId xmlns:a16="http://schemas.microsoft.com/office/drawing/2014/main" val="1373489298"/>
                  </a:ext>
                </a:extLst>
              </a:tr>
            </a:tbl>
          </a:graphicData>
        </a:graphic>
      </p:graphicFrame>
      <p:sp>
        <p:nvSpPr>
          <p:cNvPr id="11" name="Rectangle 10"/>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2" name="Straight Connector 11"/>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63396" y="331644"/>
            <a:ext cx="10103234" cy="425758"/>
          </a:xfrm>
          <a:prstGeom prst="rect">
            <a:avLst/>
          </a:prstGeom>
        </p:spPr>
        <p:txBody>
          <a:bodyPr wrap="square">
            <a:spAutoFit/>
          </a:bodyPr>
          <a:lstStyle/>
          <a:p>
            <a:pPr defTabSz="914253">
              <a:lnSpc>
                <a:spcPts val="2599"/>
              </a:lnSpc>
            </a:pPr>
            <a:r>
              <a:rPr lang="en-US" sz="2400" dirty="0">
                <a:latin typeface="Verdana" panose="020B0604030504040204" pitchFamily="34" charset="0"/>
                <a:ea typeface="Verdana" panose="020B0604030504040204" pitchFamily="34" charset="0"/>
                <a:cs typeface="Verdana" panose="020B0604030504040204" pitchFamily="34" charset="0"/>
              </a:rPr>
              <a:t>Proposed Fee Structure for Nagpur Airport</a:t>
            </a:r>
          </a:p>
        </p:txBody>
      </p:sp>
    </p:spTree>
    <p:extLst>
      <p:ext uri="{BB962C8B-B14F-4D97-AF65-F5344CB8AC3E}">
        <p14:creationId xmlns:p14="http://schemas.microsoft.com/office/powerpoint/2010/main" val="1942627902"/>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52350" y="1054783"/>
            <a:ext cx="10014280" cy="223360"/>
          </a:xfrm>
          <a:prstGeom prst="rect">
            <a:avLst/>
          </a:prstGeom>
          <a:solidFill>
            <a:srgbClr val="046A38"/>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Verdana" panose="020B0604030504040204" pitchFamily="34" charset="0"/>
                <a:ea typeface="Verdana" panose="020B0604030504040204" pitchFamily="34" charset="0"/>
                <a:cs typeface="Verdana" panose="020B0604030504040204" pitchFamily="34" charset="0"/>
              </a:rPr>
              <a:t>Key considerations</a:t>
            </a:r>
          </a:p>
        </p:txBody>
      </p:sp>
      <p:sp>
        <p:nvSpPr>
          <p:cNvPr id="9" name="Rectangle 8"/>
          <p:cNvSpPr/>
          <p:nvPr/>
        </p:nvSpPr>
        <p:spPr>
          <a:xfrm>
            <a:off x="352350" y="1298986"/>
            <a:ext cx="10014280" cy="4616648"/>
          </a:xfrm>
          <a:prstGeom prst="rect">
            <a:avLst/>
          </a:prstGeom>
          <a:ln>
            <a:solidFill>
              <a:schemeClr val="tx1">
                <a:lumMod val="20000"/>
                <a:lumOff val="80000"/>
              </a:schemeClr>
            </a:solidFill>
          </a:ln>
        </p:spPr>
        <p:txBody>
          <a:bodyPr wrap="square">
            <a:spAutoFit/>
          </a:bodyPr>
          <a:lstStyle/>
          <a:p>
            <a:pPr marL="28575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Our fees would be exclusive of applicable GST rates or any other applicable tax, which will be charged at actuals.</a:t>
            </a:r>
          </a:p>
          <a:p>
            <a:pPr marL="28575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Our fee does not involve any efforts towards Partner Search or towards finding consortium partners for Essel Infraprojects</a:t>
            </a:r>
          </a:p>
          <a:p>
            <a:pPr marL="28575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Our engagement will be in accordance with Deloitte’s General Terms and Conditions presented in the attached appendix.</a:t>
            </a:r>
          </a:p>
          <a:p>
            <a:pPr marL="28575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Our fees is based on working out of our offices in NCR. All travel related costs outside NCR would be agreed with the client in advance and billed at actuals.</a:t>
            </a:r>
          </a:p>
          <a:p>
            <a:pPr marL="28575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The effort estimation and fee quote only considers a single round of bidding. In case advisory assistance is required for re-bidding or repeat of any transaction stage, the same shall amount to extension to the present scope of work. </a:t>
            </a:r>
          </a:p>
          <a:p>
            <a:pPr marL="285750" indent="-285750" algn="just">
              <a:buFont typeface="Arial" panose="020B0604020202020204"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rPr>
              <a:t>The efforts and rates are based on bid submission no later than 31st March, 2020 (Long Stop Date). In case of further work beyond the Long Stop Date, additional efforts required and revised rates for the existing efforts shall be discussed with the Client.  </a:t>
            </a:r>
          </a:p>
          <a:p>
            <a:pPr marL="28575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If the engagement is terminated prior to Long Stop Date or the transactions have not been completed by the Long Stop Date, payments would be due for the payment milestones completed and work done till then towards the subsequent payment milestones.</a:t>
            </a:r>
          </a:p>
          <a:p>
            <a:pPr marL="285750" lvl="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The transaction advisory team shall not be held accountable for administrative delays in the transaction on account of activities / approvals by either the client or government authorities and any cost pertaining thereto. </a:t>
            </a:r>
          </a:p>
          <a:p>
            <a:pPr marL="285750" lvl="0" indent="-285750" algn="just">
              <a:buFont typeface="Arial" panose="020B0604020202020204" pitchFamily="34" charset="0"/>
              <a:buChar char="•"/>
            </a:pPr>
            <a:r>
              <a:rPr lang="en-US" sz="1400" dirty="0">
                <a:solidFill>
                  <a:srgbClr val="000000"/>
                </a:solidFill>
                <a:latin typeface="Verdana" panose="020B0604030504040204" pitchFamily="34" charset="0"/>
                <a:ea typeface="Verdana" panose="020B0604030504040204" pitchFamily="34" charset="0"/>
                <a:cs typeface="Verdana" panose="020B0604030504040204" pitchFamily="34" charset="0"/>
              </a:rPr>
              <a:t>The proposal is valid for a period of 30 days.</a:t>
            </a:r>
          </a:p>
        </p:txBody>
      </p:sp>
      <p:sp>
        <p:nvSpPr>
          <p:cNvPr id="8" name="Rectangle 7"/>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Our experience – select credentials</a:t>
            </a:r>
          </a:p>
        </p:txBody>
      </p:sp>
      <p:cxnSp>
        <p:nvCxnSpPr>
          <p:cNvPr id="10" name="Straight Connector 9"/>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63396" y="331644"/>
            <a:ext cx="10103234" cy="425758"/>
          </a:xfrm>
          <a:prstGeom prst="rect">
            <a:avLst/>
          </a:prstGeom>
        </p:spPr>
        <p:txBody>
          <a:bodyPr wrap="square">
            <a:spAutoFit/>
          </a:bodyPr>
          <a:lstStyle/>
          <a:p>
            <a:pPr defTabSz="914253">
              <a:lnSpc>
                <a:spcPts val="2599"/>
              </a:lnSpc>
              <a:defRPr/>
            </a:pPr>
            <a:r>
              <a:rPr lang="en-US" sz="2400" dirty="0">
                <a:latin typeface="Verdana" panose="020B0604030504040204" pitchFamily="34" charset="0"/>
                <a:ea typeface="Verdana" panose="020B0604030504040204" pitchFamily="34" charset="0"/>
                <a:cs typeface="Verdana" panose="020B0604030504040204" pitchFamily="34" charset="0"/>
              </a:rPr>
              <a:t>Commercials – Other Key Considerations to the Fee Proposal</a:t>
            </a:r>
          </a:p>
        </p:txBody>
      </p:sp>
    </p:spTree>
    <p:extLst>
      <p:ext uri="{BB962C8B-B14F-4D97-AF65-F5344CB8AC3E}">
        <p14:creationId xmlns:p14="http://schemas.microsoft.com/office/powerpoint/2010/main" val="2601047809"/>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3626" y="0"/>
            <a:ext cx="10685012" cy="7562849"/>
          </a:xfrm>
          <a:prstGeom prst="rect">
            <a:avLst/>
          </a:prstGeom>
        </p:spPr>
      </p:pic>
      <p:sp>
        <p:nvSpPr>
          <p:cNvPr id="6" name="Trapezoid 5"/>
          <p:cNvSpPr/>
          <p:nvPr/>
        </p:nvSpPr>
        <p:spPr bwMode="gray">
          <a:xfrm rot="16200000" flipH="1">
            <a:off x="2341681" y="4214894"/>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7" name="Trapezoid 6"/>
          <p:cNvSpPr/>
          <p:nvPr/>
        </p:nvSpPr>
        <p:spPr bwMode="gray">
          <a:xfrm rot="5400000">
            <a:off x="3646881" y="4214893"/>
            <a:ext cx="1116865" cy="216482"/>
          </a:xfrm>
          <a:prstGeom prst="trapezoid">
            <a:avLst>
              <a:gd name="adj" fmla="val 94969"/>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8" name="object 3"/>
          <p:cNvSpPr/>
          <p:nvPr/>
        </p:nvSpPr>
        <p:spPr>
          <a:xfrm>
            <a:off x="3898921" y="3962399"/>
            <a:ext cx="6789717" cy="723456"/>
          </a:xfrm>
          <a:custGeom>
            <a:avLst/>
            <a:gdLst/>
            <a:ahLst/>
            <a:cxnLst/>
            <a:rect l="l" t="t" r="r" b="b"/>
            <a:pathLst>
              <a:path w="6320155" h="1188720">
                <a:moveTo>
                  <a:pt x="0" y="1188720"/>
                </a:moveTo>
                <a:lnTo>
                  <a:pt x="6320027" y="1188720"/>
                </a:lnTo>
                <a:lnTo>
                  <a:pt x="6320027" y="0"/>
                </a:lnTo>
                <a:lnTo>
                  <a:pt x="0" y="0"/>
                </a:lnTo>
                <a:lnTo>
                  <a:pt x="0" y="1188720"/>
                </a:lnTo>
                <a:close/>
              </a:path>
            </a:pathLst>
          </a:custGeom>
          <a:solidFill>
            <a:schemeClr val="bg1"/>
          </a:solidFill>
        </p:spPr>
        <p:txBody>
          <a:bodyPr wrap="square" lIns="0" tIns="0" rIns="0" bIns="0" rtlCol="0"/>
          <a:lstStyle/>
          <a:p>
            <a:endParaRPr lang="en-GB" sz="2197" dirty="0"/>
          </a:p>
        </p:txBody>
      </p:sp>
      <p:sp>
        <p:nvSpPr>
          <p:cNvPr id="9" name="object 4"/>
          <p:cNvSpPr txBox="1"/>
          <p:nvPr/>
        </p:nvSpPr>
        <p:spPr>
          <a:xfrm>
            <a:off x="4597868" y="4130861"/>
            <a:ext cx="5269168" cy="369332"/>
          </a:xfrm>
          <a:prstGeom prst="rect">
            <a:avLst/>
          </a:prstGeom>
        </p:spPr>
        <p:txBody>
          <a:bodyPr vert="horz" wrap="square" lIns="0" tIns="0" rIns="0" bIns="0" rtlCol="0">
            <a:spAutoFit/>
          </a:bodyPr>
          <a:lstStyle/>
          <a:p>
            <a:pPr marL="93296"/>
            <a:r>
              <a:rPr lang="en-GB" sz="2400" dirty="0">
                <a:latin typeface="Verdana" panose="020B0604030504040204" pitchFamily="34" charset="0"/>
                <a:ea typeface="Verdana" panose="020B0604030504040204" pitchFamily="34" charset="0"/>
                <a:cs typeface="Verdana" panose="020B0604030504040204" pitchFamily="34" charset="0"/>
              </a:rPr>
              <a:t>About Deloitte</a:t>
            </a:r>
          </a:p>
        </p:txBody>
      </p:sp>
      <p:sp>
        <p:nvSpPr>
          <p:cNvPr id="10" name="object 5"/>
          <p:cNvSpPr/>
          <p:nvPr/>
        </p:nvSpPr>
        <p:spPr>
          <a:xfrm>
            <a:off x="3008354" y="3764700"/>
            <a:ext cx="1099624" cy="1118854"/>
          </a:xfrm>
          <a:custGeom>
            <a:avLst/>
            <a:gdLst/>
            <a:ahLst/>
            <a:cxnLst/>
            <a:rect l="l" t="t" r="r" b="b"/>
            <a:pathLst>
              <a:path w="1458595" h="1188720">
                <a:moveTo>
                  <a:pt x="0" y="1188720"/>
                </a:moveTo>
                <a:lnTo>
                  <a:pt x="1458467" y="1188720"/>
                </a:lnTo>
                <a:lnTo>
                  <a:pt x="1458467" y="0"/>
                </a:lnTo>
                <a:lnTo>
                  <a:pt x="0" y="0"/>
                </a:lnTo>
                <a:lnTo>
                  <a:pt x="0" y="1188720"/>
                </a:lnTo>
                <a:close/>
              </a:path>
            </a:pathLst>
          </a:custGeom>
          <a:solidFill>
            <a:srgbClr val="00A0DE"/>
          </a:solidFill>
        </p:spPr>
        <p:txBody>
          <a:bodyPr wrap="square" lIns="0" tIns="0" rIns="0" bIns="0" rtlCol="0"/>
          <a:lstStyle/>
          <a:p>
            <a:endParaRPr lang="en-GB" sz="2197" dirty="0"/>
          </a:p>
        </p:txBody>
      </p:sp>
      <p:sp>
        <p:nvSpPr>
          <p:cNvPr id="14" name="Rectangle 13"/>
          <p:cNvSpPr/>
          <p:nvPr/>
        </p:nvSpPr>
        <p:spPr bwMode="gray">
          <a:xfrm>
            <a:off x="0" y="3962400"/>
            <a:ext cx="2800315" cy="723452"/>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 name="Group 583"/>
          <p:cNvGrpSpPr>
            <a:grpSpLocks noChangeAspect="1"/>
          </p:cNvGrpSpPr>
          <p:nvPr/>
        </p:nvGrpSpPr>
        <p:grpSpPr bwMode="auto">
          <a:xfrm>
            <a:off x="3054802" y="3828134"/>
            <a:ext cx="992911" cy="990000"/>
            <a:chOff x="1138" y="1953"/>
            <a:chExt cx="341" cy="340"/>
          </a:xfrm>
          <a:solidFill>
            <a:schemeClr val="bg1"/>
          </a:solidFill>
        </p:grpSpPr>
        <p:sp>
          <p:nvSpPr>
            <p:cNvPr id="36" name="Freeform 584"/>
            <p:cNvSpPr>
              <a:spLocks noEditPoints="1"/>
            </p:cNvSpPr>
            <p:nvPr/>
          </p:nvSpPr>
          <p:spPr bwMode="auto">
            <a:xfrm>
              <a:off x="1138" y="195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7" name="Freeform 585"/>
            <p:cNvSpPr>
              <a:spLocks noEditPoints="1"/>
            </p:cNvSpPr>
            <p:nvPr/>
          </p:nvSpPr>
          <p:spPr bwMode="auto">
            <a:xfrm>
              <a:off x="1273" y="2017"/>
              <a:ext cx="71" cy="212"/>
            </a:xfrm>
            <a:custGeom>
              <a:avLst/>
              <a:gdLst>
                <a:gd name="T0" fmla="*/ 86 w 107"/>
                <a:gd name="T1" fmla="*/ 54 h 320"/>
                <a:gd name="T2" fmla="*/ 96 w 107"/>
                <a:gd name="T3" fmla="*/ 13 h 320"/>
                <a:gd name="T4" fmla="*/ 94 w 107"/>
                <a:gd name="T5" fmla="*/ 4 h 320"/>
                <a:gd name="T6" fmla="*/ 86 w 107"/>
                <a:gd name="T7" fmla="*/ 0 h 320"/>
                <a:gd name="T8" fmla="*/ 22 w 107"/>
                <a:gd name="T9" fmla="*/ 0 h 320"/>
                <a:gd name="T10" fmla="*/ 13 w 107"/>
                <a:gd name="T11" fmla="*/ 4 h 320"/>
                <a:gd name="T12" fmla="*/ 11 w 107"/>
                <a:gd name="T13" fmla="*/ 13 h 320"/>
                <a:gd name="T14" fmla="*/ 22 w 107"/>
                <a:gd name="T15" fmla="*/ 54 h 320"/>
                <a:gd name="T16" fmla="*/ 0 w 107"/>
                <a:gd name="T17" fmla="*/ 255 h 320"/>
                <a:gd name="T18" fmla="*/ 3 w 107"/>
                <a:gd name="T19" fmla="*/ 262 h 320"/>
                <a:gd name="T20" fmla="*/ 45 w 107"/>
                <a:gd name="T21" fmla="*/ 316 h 320"/>
                <a:gd name="T22" fmla="*/ 54 w 107"/>
                <a:gd name="T23" fmla="*/ 320 h 320"/>
                <a:gd name="T24" fmla="*/ 62 w 107"/>
                <a:gd name="T25" fmla="*/ 316 h 320"/>
                <a:gd name="T26" fmla="*/ 105 w 107"/>
                <a:gd name="T27" fmla="*/ 262 h 320"/>
                <a:gd name="T28" fmla="*/ 107 w 107"/>
                <a:gd name="T29" fmla="*/ 255 h 320"/>
                <a:gd name="T30" fmla="*/ 86 w 107"/>
                <a:gd name="T31" fmla="*/ 54 h 320"/>
                <a:gd name="T32" fmla="*/ 72 w 107"/>
                <a:gd name="T33" fmla="*/ 21 h 320"/>
                <a:gd name="T34" fmla="*/ 67 w 107"/>
                <a:gd name="T35" fmla="*/ 42 h 320"/>
                <a:gd name="T36" fmla="*/ 41 w 107"/>
                <a:gd name="T37" fmla="*/ 42 h 320"/>
                <a:gd name="T38" fmla="*/ 35 w 107"/>
                <a:gd name="T39" fmla="*/ 21 h 320"/>
                <a:gd name="T40" fmla="*/ 72 w 107"/>
                <a:gd name="T41" fmla="*/ 21 h 320"/>
                <a:gd name="T42" fmla="*/ 54 w 107"/>
                <a:gd name="T43" fmla="*/ 292 h 320"/>
                <a:gd name="T44" fmla="*/ 22 w 107"/>
                <a:gd name="T45" fmla="*/ 252 h 320"/>
                <a:gd name="T46" fmla="*/ 42 w 107"/>
                <a:gd name="T47" fmla="*/ 64 h 320"/>
                <a:gd name="T48" fmla="*/ 65 w 107"/>
                <a:gd name="T49" fmla="*/ 64 h 320"/>
                <a:gd name="T50" fmla="*/ 85 w 107"/>
                <a:gd name="T51" fmla="*/ 252 h 320"/>
                <a:gd name="T52" fmla="*/ 54 w 107"/>
                <a:gd name="T53" fmla="*/ 2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320">
                  <a:moveTo>
                    <a:pt x="86" y="54"/>
                  </a:moveTo>
                  <a:cubicBezTo>
                    <a:pt x="96" y="13"/>
                    <a:pt x="96" y="13"/>
                    <a:pt x="96" y="13"/>
                  </a:cubicBezTo>
                  <a:cubicBezTo>
                    <a:pt x="97" y="10"/>
                    <a:pt x="96" y="6"/>
                    <a:pt x="94" y="4"/>
                  </a:cubicBezTo>
                  <a:cubicBezTo>
                    <a:pt x="92" y="1"/>
                    <a:pt x="89" y="0"/>
                    <a:pt x="86" y="0"/>
                  </a:cubicBezTo>
                  <a:cubicBezTo>
                    <a:pt x="22" y="0"/>
                    <a:pt x="22" y="0"/>
                    <a:pt x="22" y="0"/>
                  </a:cubicBezTo>
                  <a:cubicBezTo>
                    <a:pt x="18" y="0"/>
                    <a:pt x="15" y="1"/>
                    <a:pt x="13" y="4"/>
                  </a:cubicBezTo>
                  <a:cubicBezTo>
                    <a:pt x="11" y="6"/>
                    <a:pt x="11" y="10"/>
                    <a:pt x="11" y="13"/>
                  </a:cubicBezTo>
                  <a:cubicBezTo>
                    <a:pt x="22" y="54"/>
                    <a:pt x="22" y="54"/>
                    <a:pt x="22" y="54"/>
                  </a:cubicBezTo>
                  <a:cubicBezTo>
                    <a:pt x="0" y="255"/>
                    <a:pt x="0" y="255"/>
                    <a:pt x="0" y="255"/>
                  </a:cubicBezTo>
                  <a:cubicBezTo>
                    <a:pt x="0" y="257"/>
                    <a:pt x="1" y="260"/>
                    <a:pt x="3" y="262"/>
                  </a:cubicBezTo>
                  <a:cubicBezTo>
                    <a:pt x="45" y="316"/>
                    <a:pt x="45" y="316"/>
                    <a:pt x="45" y="316"/>
                  </a:cubicBezTo>
                  <a:cubicBezTo>
                    <a:pt x="47" y="318"/>
                    <a:pt x="50" y="320"/>
                    <a:pt x="54" y="320"/>
                  </a:cubicBezTo>
                  <a:cubicBezTo>
                    <a:pt x="57" y="320"/>
                    <a:pt x="60" y="318"/>
                    <a:pt x="62" y="316"/>
                  </a:cubicBezTo>
                  <a:cubicBezTo>
                    <a:pt x="105" y="262"/>
                    <a:pt x="105" y="262"/>
                    <a:pt x="105" y="262"/>
                  </a:cubicBezTo>
                  <a:cubicBezTo>
                    <a:pt x="106" y="260"/>
                    <a:pt x="107" y="257"/>
                    <a:pt x="107" y="255"/>
                  </a:cubicBezTo>
                  <a:lnTo>
                    <a:pt x="86" y="54"/>
                  </a:lnTo>
                  <a:close/>
                  <a:moveTo>
                    <a:pt x="72" y="21"/>
                  </a:moveTo>
                  <a:cubicBezTo>
                    <a:pt x="67" y="42"/>
                    <a:pt x="67" y="42"/>
                    <a:pt x="67" y="42"/>
                  </a:cubicBezTo>
                  <a:cubicBezTo>
                    <a:pt x="41" y="42"/>
                    <a:pt x="41" y="42"/>
                    <a:pt x="41" y="42"/>
                  </a:cubicBezTo>
                  <a:cubicBezTo>
                    <a:pt x="35" y="21"/>
                    <a:pt x="35" y="21"/>
                    <a:pt x="35" y="21"/>
                  </a:cubicBezTo>
                  <a:lnTo>
                    <a:pt x="72" y="21"/>
                  </a:lnTo>
                  <a:close/>
                  <a:moveTo>
                    <a:pt x="54" y="292"/>
                  </a:moveTo>
                  <a:cubicBezTo>
                    <a:pt x="22" y="252"/>
                    <a:pt x="22" y="252"/>
                    <a:pt x="22" y="252"/>
                  </a:cubicBezTo>
                  <a:cubicBezTo>
                    <a:pt x="42" y="64"/>
                    <a:pt x="42" y="64"/>
                    <a:pt x="42" y="64"/>
                  </a:cubicBezTo>
                  <a:cubicBezTo>
                    <a:pt x="65" y="64"/>
                    <a:pt x="65" y="64"/>
                    <a:pt x="65" y="64"/>
                  </a:cubicBezTo>
                  <a:cubicBezTo>
                    <a:pt x="85" y="252"/>
                    <a:pt x="85" y="252"/>
                    <a:pt x="85" y="252"/>
                  </a:cubicBezTo>
                  <a:lnTo>
                    <a:pt x="54" y="29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5" name="Group 24"/>
          <p:cNvGrpSpPr/>
          <p:nvPr/>
        </p:nvGrpSpPr>
        <p:grpSpPr>
          <a:xfrm>
            <a:off x="662032" y="4119931"/>
            <a:ext cx="1998746" cy="443146"/>
            <a:chOff x="662032" y="4119931"/>
            <a:chExt cx="1998746" cy="443146"/>
          </a:xfrm>
        </p:grpSpPr>
        <p:grpSp>
          <p:nvGrpSpPr>
            <p:cNvPr id="26" name="Group 309"/>
            <p:cNvGrpSpPr>
              <a:grpSpLocks noChangeAspect="1"/>
            </p:cNvGrpSpPr>
            <p:nvPr/>
          </p:nvGrpSpPr>
          <p:grpSpPr bwMode="auto">
            <a:xfrm>
              <a:off x="2223897" y="4122662"/>
              <a:ext cx="436881" cy="435600"/>
              <a:chOff x="6585" y="1193"/>
              <a:chExt cx="341" cy="340"/>
            </a:xfrm>
            <a:solidFill>
              <a:srgbClr val="00A0DE"/>
            </a:solidFill>
          </p:grpSpPr>
          <p:sp>
            <p:nvSpPr>
              <p:cNvPr id="50" name="Freeform 310"/>
              <p:cNvSpPr>
                <a:spLocks noEditPoints="1"/>
              </p:cNvSpPr>
              <p:nvPr/>
            </p:nvSpPr>
            <p:spPr bwMode="auto">
              <a:xfrm>
                <a:off x="6648" y="1264"/>
                <a:ext cx="206" cy="205"/>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1" name="Freeform 311"/>
              <p:cNvSpPr>
                <a:spLocks noEditPoints="1"/>
              </p:cNvSpPr>
              <p:nvPr/>
            </p:nvSpPr>
            <p:spPr bwMode="auto">
              <a:xfrm>
                <a:off x="6585" y="119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7" name="Group 69"/>
            <p:cNvGrpSpPr>
              <a:grpSpLocks noChangeAspect="1"/>
            </p:cNvGrpSpPr>
            <p:nvPr/>
          </p:nvGrpSpPr>
          <p:grpSpPr bwMode="auto">
            <a:xfrm>
              <a:off x="662032" y="4119931"/>
              <a:ext cx="435600" cy="435600"/>
              <a:chOff x="4334" y="1990"/>
              <a:chExt cx="340" cy="340"/>
            </a:xfrm>
            <a:solidFill>
              <a:srgbClr val="00A0DE"/>
            </a:solidFill>
          </p:grpSpPr>
          <p:sp>
            <p:nvSpPr>
              <p:cNvPr id="41" name="Freeform 70"/>
              <p:cNvSpPr>
                <a:spLocks noEditPoints="1"/>
              </p:cNvSpPr>
              <p:nvPr/>
            </p:nvSpPr>
            <p:spPr bwMode="auto">
              <a:xfrm>
                <a:off x="4398" y="2054"/>
                <a:ext cx="212" cy="212"/>
              </a:xfrm>
              <a:custGeom>
                <a:avLst/>
                <a:gdLst>
                  <a:gd name="T0" fmla="*/ 160 w 320"/>
                  <a:gd name="T1" fmla="*/ 0 h 320"/>
                  <a:gd name="T2" fmla="*/ 0 w 320"/>
                  <a:gd name="T3" fmla="*/ 160 h 320"/>
                  <a:gd name="T4" fmla="*/ 160 w 320"/>
                  <a:gd name="T5" fmla="*/ 320 h 320"/>
                  <a:gd name="T6" fmla="*/ 320 w 320"/>
                  <a:gd name="T7" fmla="*/ 160 h 320"/>
                  <a:gd name="T8" fmla="*/ 160 w 320"/>
                  <a:gd name="T9" fmla="*/ 0 h 320"/>
                  <a:gd name="T10" fmla="*/ 170 w 320"/>
                  <a:gd name="T11" fmla="*/ 298 h 320"/>
                  <a:gd name="T12" fmla="*/ 170 w 320"/>
                  <a:gd name="T13" fmla="*/ 288 h 320"/>
                  <a:gd name="T14" fmla="*/ 160 w 320"/>
                  <a:gd name="T15" fmla="*/ 277 h 320"/>
                  <a:gd name="T16" fmla="*/ 149 w 320"/>
                  <a:gd name="T17" fmla="*/ 288 h 320"/>
                  <a:gd name="T18" fmla="*/ 149 w 320"/>
                  <a:gd name="T19" fmla="*/ 298 h 320"/>
                  <a:gd name="T20" fmla="*/ 22 w 320"/>
                  <a:gd name="T21" fmla="*/ 170 h 320"/>
                  <a:gd name="T22" fmla="*/ 32 w 320"/>
                  <a:gd name="T23" fmla="*/ 170 h 320"/>
                  <a:gd name="T24" fmla="*/ 42 w 320"/>
                  <a:gd name="T25" fmla="*/ 160 h 320"/>
                  <a:gd name="T26" fmla="*/ 32 w 320"/>
                  <a:gd name="T27" fmla="*/ 149 h 320"/>
                  <a:gd name="T28" fmla="*/ 22 w 320"/>
                  <a:gd name="T29" fmla="*/ 149 h 320"/>
                  <a:gd name="T30" fmla="*/ 149 w 320"/>
                  <a:gd name="T31" fmla="*/ 22 h 320"/>
                  <a:gd name="T32" fmla="*/ 149 w 320"/>
                  <a:gd name="T33" fmla="*/ 32 h 320"/>
                  <a:gd name="T34" fmla="*/ 160 w 320"/>
                  <a:gd name="T35" fmla="*/ 42 h 320"/>
                  <a:gd name="T36" fmla="*/ 170 w 320"/>
                  <a:gd name="T37" fmla="*/ 32 h 320"/>
                  <a:gd name="T38" fmla="*/ 170 w 320"/>
                  <a:gd name="T39" fmla="*/ 22 h 320"/>
                  <a:gd name="T40" fmla="*/ 298 w 320"/>
                  <a:gd name="T41" fmla="*/ 149 h 320"/>
                  <a:gd name="T42" fmla="*/ 288 w 320"/>
                  <a:gd name="T43" fmla="*/ 149 h 320"/>
                  <a:gd name="T44" fmla="*/ 277 w 320"/>
                  <a:gd name="T45" fmla="*/ 160 h 320"/>
                  <a:gd name="T46" fmla="*/ 288 w 320"/>
                  <a:gd name="T47" fmla="*/ 170 h 320"/>
                  <a:gd name="T48" fmla="*/ 298 w 320"/>
                  <a:gd name="T49" fmla="*/ 170 h 320"/>
                  <a:gd name="T50" fmla="*/ 170 w 320"/>
                  <a:gd name="T51" fmla="*/ 298 h 320"/>
                  <a:gd name="T52" fmla="*/ 216 w 320"/>
                  <a:gd name="T53" fmla="*/ 90 h 320"/>
                  <a:gd name="T54" fmla="*/ 133 w 320"/>
                  <a:gd name="T55" fmla="*/ 127 h 320"/>
                  <a:gd name="T56" fmla="*/ 127 w 320"/>
                  <a:gd name="T57" fmla="*/ 133 h 320"/>
                  <a:gd name="T58" fmla="*/ 90 w 320"/>
                  <a:gd name="T59" fmla="*/ 216 h 320"/>
                  <a:gd name="T60" fmla="*/ 92 w 320"/>
                  <a:gd name="T61" fmla="*/ 228 h 320"/>
                  <a:gd name="T62" fmla="*/ 99 w 320"/>
                  <a:gd name="T63" fmla="*/ 231 h 320"/>
                  <a:gd name="T64" fmla="*/ 104 w 320"/>
                  <a:gd name="T65" fmla="*/ 230 h 320"/>
                  <a:gd name="T66" fmla="*/ 187 w 320"/>
                  <a:gd name="T67" fmla="*/ 192 h 320"/>
                  <a:gd name="T68" fmla="*/ 192 w 320"/>
                  <a:gd name="T69" fmla="*/ 187 h 320"/>
                  <a:gd name="T70" fmla="*/ 230 w 320"/>
                  <a:gd name="T71" fmla="*/ 104 h 320"/>
                  <a:gd name="T72" fmla="*/ 228 w 320"/>
                  <a:gd name="T73" fmla="*/ 92 h 320"/>
                  <a:gd name="T74" fmla="*/ 216 w 320"/>
                  <a:gd name="T75" fmla="*/ 90 h 320"/>
                  <a:gd name="T76" fmla="*/ 140 w 320"/>
                  <a:gd name="T77" fmla="*/ 155 h 320"/>
                  <a:gd name="T78" fmla="*/ 164 w 320"/>
                  <a:gd name="T79" fmla="*/ 179 h 320"/>
                  <a:gd name="T80" fmla="*/ 121 w 320"/>
                  <a:gd name="T81" fmla="*/ 199 h 320"/>
                  <a:gd name="T82" fmla="*/ 140 w 320"/>
                  <a:gd name="T83" fmla="*/ 155 h 320"/>
                  <a:gd name="T84" fmla="*/ 179 w 320"/>
                  <a:gd name="T85" fmla="*/ 164 h 320"/>
                  <a:gd name="T86" fmla="*/ 155 w 320"/>
                  <a:gd name="T87" fmla="*/ 140 h 320"/>
                  <a:gd name="T88" fmla="*/ 199 w 320"/>
                  <a:gd name="T89" fmla="*/ 121 h 320"/>
                  <a:gd name="T90" fmla="*/ 179 w 320"/>
                  <a:gd name="T91" fmla="*/ 1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0" h="320">
                    <a:moveTo>
                      <a:pt x="160" y="0"/>
                    </a:moveTo>
                    <a:cubicBezTo>
                      <a:pt x="71" y="0"/>
                      <a:pt x="0" y="71"/>
                      <a:pt x="0" y="160"/>
                    </a:cubicBezTo>
                    <a:cubicBezTo>
                      <a:pt x="0" y="248"/>
                      <a:pt x="71" y="320"/>
                      <a:pt x="160" y="320"/>
                    </a:cubicBezTo>
                    <a:cubicBezTo>
                      <a:pt x="248" y="320"/>
                      <a:pt x="320" y="248"/>
                      <a:pt x="320" y="160"/>
                    </a:cubicBezTo>
                    <a:cubicBezTo>
                      <a:pt x="320" y="71"/>
                      <a:pt x="248" y="0"/>
                      <a:pt x="160" y="0"/>
                    </a:cubicBezTo>
                    <a:close/>
                    <a:moveTo>
                      <a:pt x="170" y="298"/>
                    </a:moveTo>
                    <a:cubicBezTo>
                      <a:pt x="170" y="288"/>
                      <a:pt x="170" y="288"/>
                      <a:pt x="170" y="288"/>
                    </a:cubicBezTo>
                    <a:cubicBezTo>
                      <a:pt x="170" y="282"/>
                      <a:pt x="166" y="277"/>
                      <a:pt x="160" y="277"/>
                    </a:cubicBezTo>
                    <a:cubicBezTo>
                      <a:pt x="154" y="277"/>
                      <a:pt x="149" y="282"/>
                      <a:pt x="149" y="288"/>
                    </a:cubicBezTo>
                    <a:cubicBezTo>
                      <a:pt x="149" y="298"/>
                      <a:pt x="149" y="298"/>
                      <a:pt x="149" y="298"/>
                    </a:cubicBezTo>
                    <a:cubicBezTo>
                      <a:pt x="81" y="293"/>
                      <a:pt x="27" y="238"/>
                      <a:pt x="22" y="170"/>
                    </a:cubicBezTo>
                    <a:cubicBezTo>
                      <a:pt x="32" y="170"/>
                      <a:pt x="32" y="170"/>
                      <a:pt x="32" y="170"/>
                    </a:cubicBezTo>
                    <a:cubicBezTo>
                      <a:pt x="38" y="170"/>
                      <a:pt x="42" y="166"/>
                      <a:pt x="42" y="160"/>
                    </a:cubicBezTo>
                    <a:cubicBezTo>
                      <a:pt x="42" y="154"/>
                      <a:pt x="38" y="149"/>
                      <a:pt x="32" y="149"/>
                    </a:cubicBezTo>
                    <a:cubicBezTo>
                      <a:pt x="22" y="149"/>
                      <a:pt x="22" y="149"/>
                      <a:pt x="22" y="149"/>
                    </a:cubicBezTo>
                    <a:cubicBezTo>
                      <a:pt x="27" y="81"/>
                      <a:pt x="81" y="27"/>
                      <a:pt x="149" y="22"/>
                    </a:cubicBezTo>
                    <a:cubicBezTo>
                      <a:pt x="149" y="32"/>
                      <a:pt x="149" y="32"/>
                      <a:pt x="149" y="32"/>
                    </a:cubicBezTo>
                    <a:cubicBezTo>
                      <a:pt x="149" y="38"/>
                      <a:pt x="154" y="42"/>
                      <a:pt x="160" y="42"/>
                    </a:cubicBezTo>
                    <a:cubicBezTo>
                      <a:pt x="166" y="42"/>
                      <a:pt x="170" y="38"/>
                      <a:pt x="170" y="32"/>
                    </a:cubicBezTo>
                    <a:cubicBezTo>
                      <a:pt x="170" y="22"/>
                      <a:pt x="170" y="22"/>
                      <a:pt x="170" y="22"/>
                    </a:cubicBezTo>
                    <a:cubicBezTo>
                      <a:pt x="238" y="27"/>
                      <a:pt x="293" y="81"/>
                      <a:pt x="298" y="149"/>
                    </a:cubicBezTo>
                    <a:cubicBezTo>
                      <a:pt x="288" y="149"/>
                      <a:pt x="288" y="149"/>
                      <a:pt x="288" y="149"/>
                    </a:cubicBezTo>
                    <a:cubicBezTo>
                      <a:pt x="282" y="149"/>
                      <a:pt x="277" y="154"/>
                      <a:pt x="277" y="160"/>
                    </a:cubicBezTo>
                    <a:cubicBezTo>
                      <a:pt x="277" y="166"/>
                      <a:pt x="282" y="170"/>
                      <a:pt x="288" y="170"/>
                    </a:cubicBezTo>
                    <a:cubicBezTo>
                      <a:pt x="298" y="170"/>
                      <a:pt x="298" y="170"/>
                      <a:pt x="298" y="170"/>
                    </a:cubicBezTo>
                    <a:cubicBezTo>
                      <a:pt x="293" y="238"/>
                      <a:pt x="238" y="293"/>
                      <a:pt x="170" y="298"/>
                    </a:cubicBezTo>
                    <a:close/>
                    <a:moveTo>
                      <a:pt x="216" y="90"/>
                    </a:moveTo>
                    <a:cubicBezTo>
                      <a:pt x="133" y="127"/>
                      <a:pt x="133" y="127"/>
                      <a:pt x="133" y="127"/>
                    </a:cubicBezTo>
                    <a:cubicBezTo>
                      <a:pt x="130" y="128"/>
                      <a:pt x="128" y="130"/>
                      <a:pt x="127" y="133"/>
                    </a:cubicBezTo>
                    <a:cubicBezTo>
                      <a:pt x="90" y="216"/>
                      <a:pt x="90" y="216"/>
                      <a:pt x="90" y="216"/>
                    </a:cubicBezTo>
                    <a:cubicBezTo>
                      <a:pt x="88" y="220"/>
                      <a:pt x="89" y="224"/>
                      <a:pt x="92" y="228"/>
                    </a:cubicBezTo>
                    <a:cubicBezTo>
                      <a:pt x="94" y="230"/>
                      <a:pt x="97" y="231"/>
                      <a:pt x="99" y="231"/>
                    </a:cubicBezTo>
                    <a:cubicBezTo>
                      <a:pt x="101" y="231"/>
                      <a:pt x="102" y="230"/>
                      <a:pt x="104" y="230"/>
                    </a:cubicBezTo>
                    <a:cubicBezTo>
                      <a:pt x="187" y="192"/>
                      <a:pt x="187" y="192"/>
                      <a:pt x="187" y="192"/>
                    </a:cubicBezTo>
                    <a:cubicBezTo>
                      <a:pt x="189" y="191"/>
                      <a:pt x="191" y="189"/>
                      <a:pt x="192" y="187"/>
                    </a:cubicBezTo>
                    <a:cubicBezTo>
                      <a:pt x="230" y="104"/>
                      <a:pt x="230" y="104"/>
                      <a:pt x="230" y="104"/>
                    </a:cubicBezTo>
                    <a:cubicBezTo>
                      <a:pt x="232" y="100"/>
                      <a:pt x="231" y="95"/>
                      <a:pt x="228" y="92"/>
                    </a:cubicBezTo>
                    <a:cubicBezTo>
                      <a:pt x="224" y="89"/>
                      <a:pt x="220" y="88"/>
                      <a:pt x="216" y="90"/>
                    </a:cubicBezTo>
                    <a:close/>
                    <a:moveTo>
                      <a:pt x="140" y="155"/>
                    </a:moveTo>
                    <a:cubicBezTo>
                      <a:pt x="164" y="179"/>
                      <a:pt x="164" y="179"/>
                      <a:pt x="164" y="179"/>
                    </a:cubicBezTo>
                    <a:cubicBezTo>
                      <a:pt x="121" y="199"/>
                      <a:pt x="121" y="199"/>
                      <a:pt x="121" y="199"/>
                    </a:cubicBezTo>
                    <a:lnTo>
                      <a:pt x="140" y="155"/>
                    </a:lnTo>
                    <a:close/>
                    <a:moveTo>
                      <a:pt x="179" y="164"/>
                    </a:moveTo>
                    <a:cubicBezTo>
                      <a:pt x="155" y="140"/>
                      <a:pt x="155" y="140"/>
                      <a:pt x="155" y="140"/>
                    </a:cubicBezTo>
                    <a:cubicBezTo>
                      <a:pt x="199" y="121"/>
                      <a:pt x="199" y="121"/>
                      <a:pt x="199" y="121"/>
                    </a:cubicBezTo>
                    <a:lnTo>
                      <a:pt x="179" y="16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1"/>
              <p:cNvSpPr>
                <a:spLocks noEditPoints="1"/>
              </p:cNvSpPr>
              <p:nvPr/>
            </p:nvSpPr>
            <p:spPr bwMode="auto">
              <a:xfrm>
                <a:off x="4334" y="199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28" name="Group 305"/>
            <p:cNvGrpSpPr>
              <a:grpSpLocks noChangeAspect="1"/>
            </p:cNvGrpSpPr>
            <p:nvPr/>
          </p:nvGrpSpPr>
          <p:grpSpPr bwMode="auto">
            <a:xfrm>
              <a:off x="1182848" y="4124522"/>
              <a:ext cx="435600" cy="435600"/>
              <a:chOff x="6599" y="1143"/>
              <a:chExt cx="340" cy="340"/>
            </a:xfrm>
            <a:solidFill>
              <a:srgbClr val="00A0DE"/>
            </a:solidFill>
          </p:grpSpPr>
          <p:sp>
            <p:nvSpPr>
              <p:cNvPr id="39" name="Freeform 306"/>
              <p:cNvSpPr>
                <a:spLocks noEditPoints="1"/>
              </p:cNvSpPr>
              <p:nvPr/>
            </p:nvSpPr>
            <p:spPr bwMode="auto">
              <a:xfrm>
                <a:off x="6599" y="114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0" name="Freeform 307"/>
              <p:cNvSpPr>
                <a:spLocks noEditPoints="1"/>
              </p:cNvSpPr>
              <p:nvPr/>
            </p:nvSpPr>
            <p:spPr bwMode="auto">
              <a:xfrm>
                <a:off x="6712" y="1205"/>
                <a:ext cx="113" cy="214"/>
              </a:xfrm>
              <a:custGeom>
                <a:avLst/>
                <a:gdLst>
                  <a:gd name="T0" fmla="*/ 160 w 171"/>
                  <a:gd name="T1" fmla="*/ 88 h 323"/>
                  <a:gd name="T2" fmla="*/ 128 w 171"/>
                  <a:gd name="T3" fmla="*/ 88 h 323"/>
                  <a:gd name="T4" fmla="*/ 128 w 171"/>
                  <a:gd name="T5" fmla="*/ 35 h 323"/>
                  <a:gd name="T6" fmla="*/ 128 w 171"/>
                  <a:gd name="T7" fmla="*/ 35 h 323"/>
                  <a:gd name="T8" fmla="*/ 138 w 171"/>
                  <a:gd name="T9" fmla="*/ 27 h 323"/>
                  <a:gd name="T10" fmla="*/ 132 w 171"/>
                  <a:gd name="T11" fmla="*/ 12 h 323"/>
                  <a:gd name="T12" fmla="*/ 39 w 171"/>
                  <a:gd name="T13" fmla="*/ 12 h 323"/>
                  <a:gd name="T14" fmla="*/ 33 w 171"/>
                  <a:gd name="T15" fmla="*/ 25 h 323"/>
                  <a:gd name="T16" fmla="*/ 43 w 171"/>
                  <a:gd name="T17" fmla="*/ 32 h 323"/>
                  <a:gd name="T18" fmla="*/ 43 w 171"/>
                  <a:gd name="T19" fmla="*/ 88 h 323"/>
                  <a:gd name="T20" fmla="*/ 11 w 171"/>
                  <a:gd name="T21" fmla="*/ 88 h 323"/>
                  <a:gd name="T22" fmla="*/ 0 w 171"/>
                  <a:gd name="T23" fmla="*/ 99 h 323"/>
                  <a:gd name="T24" fmla="*/ 0 w 171"/>
                  <a:gd name="T25" fmla="*/ 291 h 323"/>
                  <a:gd name="T26" fmla="*/ 11 w 171"/>
                  <a:gd name="T27" fmla="*/ 301 h 323"/>
                  <a:gd name="T28" fmla="*/ 22 w 171"/>
                  <a:gd name="T29" fmla="*/ 301 h 323"/>
                  <a:gd name="T30" fmla="*/ 22 w 171"/>
                  <a:gd name="T31" fmla="*/ 312 h 323"/>
                  <a:gd name="T32" fmla="*/ 32 w 171"/>
                  <a:gd name="T33" fmla="*/ 323 h 323"/>
                  <a:gd name="T34" fmla="*/ 43 w 171"/>
                  <a:gd name="T35" fmla="*/ 312 h 323"/>
                  <a:gd name="T36" fmla="*/ 43 w 171"/>
                  <a:gd name="T37" fmla="*/ 301 h 323"/>
                  <a:gd name="T38" fmla="*/ 128 w 171"/>
                  <a:gd name="T39" fmla="*/ 301 h 323"/>
                  <a:gd name="T40" fmla="*/ 128 w 171"/>
                  <a:gd name="T41" fmla="*/ 312 h 323"/>
                  <a:gd name="T42" fmla="*/ 139 w 171"/>
                  <a:gd name="T43" fmla="*/ 323 h 323"/>
                  <a:gd name="T44" fmla="*/ 150 w 171"/>
                  <a:gd name="T45" fmla="*/ 312 h 323"/>
                  <a:gd name="T46" fmla="*/ 150 w 171"/>
                  <a:gd name="T47" fmla="*/ 301 h 323"/>
                  <a:gd name="T48" fmla="*/ 160 w 171"/>
                  <a:gd name="T49" fmla="*/ 301 h 323"/>
                  <a:gd name="T50" fmla="*/ 171 w 171"/>
                  <a:gd name="T51" fmla="*/ 291 h 323"/>
                  <a:gd name="T52" fmla="*/ 171 w 171"/>
                  <a:gd name="T53" fmla="*/ 99 h 323"/>
                  <a:gd name="T54" fmla="*/ 160 w 171"/>
                  <a:gd name="T55" fmla="*/ 88 h 323"/>
                  <a:gd name="T56" fmla="*/ 64 w 171"/>
                  <a:gd name="T57" fmla="*/ 26 h 323"/>
                  <a:gd name="T58" fmla="*/ 107 w 171"/>
                  <a:gd name="T59" fmla="*/ 26 h 323"/>
                  <a:gd name="T60" fmla="*/ 107 w 171"/>
                  <a:gd name="T61" fmla="*/ 88 h 323"/>
                  <a:gd name="T62" fmla="*/ 64 w 171"/>
                  <a:gd name="T63" fmla="*/ 88 h 323"/>
                  <a:gd name="T64" fmla="*/ 64 w 171"/>
                  <a:gd name="T65" fmla="*/ 26 h 323"/>
                  <a:gd name="T66" fmla="*/ 150 w 171"/>
                  <a:gd name="T67" fmla="*/ 280 h 323"/>
                  <a:gd name="T68" fmla="*/ 22 w 171"/>
                  <a:gd name="T69" fmla="*/ 280 h 323"/>
                  <a:gd name="T70" fmla="*/ 22 w 171"/>
                  <a:gd name="T71" fmla="*/ 109 h 323"/>
                  <a:gd name="T72" fmla="*/ 150 w 171"/>
                  <a:gd name="T73" fmla="*/ 109 h 323"/>
                  <a:gd name="T74" fmla="*/ 150 w 171"/>
                  <a:gd name="T75" fmla="*/ 280 h 323"/>
                  <a:gd name="T76" fmla="*/ 118 w 171"/>
                  <a:gd name="T77" fmla="*/ 131 h 323"/>
                  <a:gd name="T78" fmla="*/ 128 w 171"/>
                  <a:gd name="T79" fmla="*/ 141 h 323"/>
                  <a:gd name="T80" fmla="*/ 118 w 171"/>
                  <a:gd name="T81" fmla="*/ 152 h 323"/>
                  <a:gd name="T82" fmla="*/ 54 w 171"/>
                  <a:gd name="T83" fmla="*/ 152 h 323"/>
                  <a:gd name="T84" fmla="*/ 43 w 171"/>
                  <a:gd name="T85" fmla="*/ 141 h 323"/>
                  <a:gd name="T86" fmla="*/ 54 w 171"/>
                  <a:gd name="T87" fmla="*/ 131 h 323"/>
                  <a:gd name="T88" fmla="*/ 118 w 171"/>
                  <a:gd name="T89" fmla="*/ 131 h 323"/>
                  <a:gd name="T90" fmla="*/ 128 w 171"/>
                  <a:gd name="T91" fmla="*/ 248 h 323"/>
                  <a:gd name="T92" fmla="*/ 118 w 171"/>
                  <a:gd name="T93" fmla="*/ 259 h 323"/>
                  <a:gd name="T94" fmla="*/ 54 w 171"/>
                  <a:gd name="T95" fmla="*/ 259 h 323"/>
                  <a:gd name="T96" fmla="*/ 43 w 171"/>
                  <a:gd name="T97" fmla="*/ 248 h 323"/>
                  <a:gd name="T98" fmla="*/ 54 w 171"/>
                  <a:gd name="T99" fmla="*/ 237 h 323"/>
                  <a:gd name="T100" fmla="*/ 118 w 171"/>
                  <a:gd name="T101" fmla="*/ 237 h 323"/>
                  <a:gd name="T102" fmla="*/ 128 w 171"/>
                  <a:gd name="T103" fmla="*/ 248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1" h="323">
                    <a:moveTo>
                      <a:pt x="160" y="88"/>
                    </a:moveTo>
                    <a:cubicBezTo>
                      <a:pt x="128" y="88"/>
                      <a:pt x="128" y="88"/>
                      <a:pt x="128" y="88"/>
                    </a:cubicBezTo>
                    <a:cubicBezTo>
                      <a:pt x="128" y="35"/>
                      <a:pt x="128" y="35"/>
                      <a:pt x="128" y="35"/>
                    </a:cubicBezTo>
                    <a:cubicBezTo>
                      <a:pt x="128" y="35"/>
                      <a:pt x="128" y="35"/>
                      <a:pt x="128" y="35"/>
                    </a:cubicBezTo>
                    <a:cubicBezTo>
                      <a:pt x="133" y="35"/>
                      <a:pt x="137" y="31"/>
                      <a:pt x="138" y="27"/>
                    </a:cubicBezTo>
                    <a:cubicBezTo>
                      <a:pt x="140" y="21"/>
                      <a:pt x="138" y="14"/>
                      <a:pt x="132" y="12"/>
                    </a:cubicBezTo>
                    <a:cubicBezTo>
                      <a:pt x="103" y="0"/>
                      <a:pt x="69" y="0"/>
                      <a:pt x="39" y="12"/>
                    </a:cubicBezTo>
                    <a:cubicBezTo>
                      <a:pt x="34" y="14"/>
                      <a:pt x="31" y="20"/>
                      <a:pt x="33" y="25"/>
                    </a:cubicBezTo>
                    <a:cubicBezTo>
                      <a:pt x="35" y="30"/>
                      <a:pt x="39" y="32"/>
                      <a:pt x="43" y="32"/>
                    </a:cubicBezTo>
                    <a:cubicBezTo>
                      <a:pt x="43" y="88"/>
                      <a:pt x="43" y="88"/>
                      <a:pt x="43" y="88"/>
                    </a:cubicBezTo>
                    <a:cubicBezTo>
                      <a:pt x="11" y="88"/>
                      <a:pt x="11" y="88"/>
                      <a:pt x="11" y="88"/>
                    </a:cubicBezTo>
                    <a:cubicBezTo>
                      <a:pt x="5" y="88"/>
                      <a:pt x="0" y="93"/>
                      <a:pt x="0" y="99"/>
                    </a:cubicBezTo>
                    <a:cubicBezTo>
                      <a:pt x="0" y="291"/>
                      <a:pt x="0" y="291"/>
                      <a:pt x="0" y="291"/>
                    </a:cubicBezTo>
                    <a:cubicBezTo>
                      <a:pt x="0" y="297"/>
                      <a:pt x="5" y="301"/>
                      <a:pt x="11" y="301"/>
                    </a:cubicBezTo>
                    <a:cubicBezTo>
                      <a:pt x="22" y="301"/>
                      <a:pt x="22" y="301"/>
                      <a:pt x="22" y="301"/>
                    </a:cubicBezTo>
                    <a:cubicBezTo>
                      <a:pt x="22" y="312"/>
                      <a:pt x="22" y="312"/>
                      <a:pt x="22" y="312"/>
                    </a:cubicBezTo>
                    <a:cubicBezTo>
                      <a:pt x="22" y="318"/>
                      <a:pt x="26" y="323"/>
                      <a:pt x="32" y="323"/>
                    </a:cubicBezTo>
                    <a:cubicBezTo>
                      <a:pt x="38" y="323"/>
                      <a:pt x="43" y="318"/>
                      <a:pt x="43" y="312"/>
                    </a:cubicBezTo>
                    <a:cubicBezTo>
                      <a:pt x="43" y="301"/>
                      <a:pt x="43" y="301"/>
                      <a:pt x="43" y="301"/>
                    </a:cubicBezTo>
                    <a:cubicBezTo>
                      <a:pt x="128" y="301"/>
                      <a:pt x="128" y="301"/>
                      <a:pt x="128" y="301"/>
                    </a:cubicBezTo>
                    <a:cubicBezTo>
                      <a:pt x="128" y="312"/>
                      <a:pt x="128" y="312"/>
                      <a:pt x="128" y="312"/>
                    </a:cubicBezTo>
                    <a:cubicBezTo>
                      <a:pt x="128" y="318"/>
                      <a:pt x="133" y="323"/>
                      <a:pt x="139" y="323"/>
                    </a:cubicBezTo>
                    <a:cubicBezTo>
                      <a:pt x="145" y="323"/>
                      <a:pt x="150" y="318"/>
                      <a:pt x="150" y="312"/>
                    </a:cubicBezTo>
                    <a:cubicBezTo>
                      <a:pt x="150" y="301"/>
                      <a:pt x="150" y="301"/>
                      <a:pt x="150" y="301"/>
                    </a:cubicBezTo>
                    <a:cubicBezTo>
                      <a:pt x="160" y="301"/>
                      <a:pt x="160" y="301"/>
                      <a:pt x="160" y="301"/>
                    </a:cubicBezTo>
                    <a:cubicBezTo>
                      <a:pt x="166" y="301"/>
                      <a:pt x="171" y="297"/>
                      <a:pt x="171" y="291"/>
                    </a:cubicBezTo>
                    <a:cubicBezTo>
                      <a:pt x="171" y="99"/>
                      <a:pt x="171" y="99"/>
                      <a:pt x="171" y="99"/>
                    </a:cubicBezTo>
                    <a:cubicBezTo>
                      <a:pt x="171" y="93"/>
                      <a:pt x="166" y="88"/>
                      <a:pt x="160" y="88"/>
                    </a:cubicBezTo>
                    <a:close/>
                    <a:moveTo>
                      <a:pt x="64" y="26"/>
                    </a:moveTo>
                    <a:cubicBezTo>
                      <a:pt x="78" y="23"/>
                      <a:pt x="93" y="23"/>
                      <a:pt x="107" y="26"/>
                    </a:cubicBezTo>
                    <a:cubicBezTo>
                      <a:pt x="107" y="88"/>
                      <a:pt x="107" y="88"/>
                      <a:pt x="107" y="88"/>
                    </a:cubicBezTo>
                    <a:cubicBezTo>
                      <a:pt x="64" y="88"/>
                      <a:pt x="64" y="88"/>
                      <a:pt x="64" y="88"/>
                    </a:cubicBezTo>
                    <a:lnTo>
                      <a:pt x="64" y="26"/>
                    </a:lnTo>
                    <a:close/>
                    <a:moveTo>
                      <a:pt x="150" y="280"/>
                    </a:moveTo>
                    <a:cubicBezTo>
                      <a:pt x="22" y="280"/>
                      <a:pt x="22" y="280"/>
                      <a:pt x="22" y="280"/>
                    </a:cubicBezTo>
                    <a:cubicBezTo>
                      <a:pt x="22" y="109"/>
                      <a:pt x="22" y="109"/>
                      <a:pt x="22" y="109"/>
                    </a:cubicBezTo>
                    <a:cubicBezTo>
                      <a:pt x="150" y="109"/>
                      <a:pt x="150" y="109"/>
                      <a:pt x="150" y="109"/>
                    </a:cubicBezTo>
                    <a:lnTo>
                      <a:pt x="150" y="280"/>
                    </a:lnTo>
                    <a:close/>
                    <a:moveTo>
                      <a:pt x="118" y="131"/>
                    </a:moveTo>
                    <a:cubicBezTo>
                      <a:pt x="124" y="131"/>
                      <a:pt x="128" y="135"/>
                      <a:pt x="128" y="141"/>
                    </a:cubicBezTo>
                    <a:cubicBezTo>
                      <a:pt x="128" y="147"/>
                      <a:pt x="124" y="152"/>
                      <a:pt x="118" y="152"/>
                    </a:cubicBezTo>
                    <a:cubicBezTo>
                      <a:pt x="54" y="152"/>
                      <a:pt x="54" y="152"/>
                      <a:pt x="54" y="152"/>
                    </a:cubicBezTo>
                    <a:cubicBezTo>
                      <a:pt x="48" y="152"/>
                      <a:pt x="43" y="147"/>
                      <a:pt x="43" y="141"/>
                    </a:cubicBezTo>
                    <a:cubicBezTo>
                      <a:pt x="43" y="135"/>
                      <a:pt x="48" y="131"/>
                      <a:pt x="54" y="131"/>
                    </a:cubicBezTo>
                    <a:lnTo>
                      <a:pt x="118" y="131"/>
                    </a:lnTo>
                    <a:close/>
                    <a:moveTo>
                      <a:pt x="128" y="248"/>
                    </a:moveTo>
                    <a:cubicBezTo>
                      <a:pt x="128" y="254"/>
                      <a:pt x="124" y="259"/>
                      <a:pt x="118" y="259"/>
                    </a:cubicBezTo>
                    <a:cubicBezTo>
                      <a:pt x="54" y="259"/>
                      <a:pt x="54" y="259"/>
                      <a:pt x="54" y="259"/>
                    </a:cubicBezTo>
                    <a:cubicBezTo>
                      <a:pt x="48" y="259"/>
                      <a:pt x="43" y="254"/>
                      <a:pt x="43" y="248"/>
                    </a:cubicBezTo>
                    <a:cubicBezTo>
                      <a:pt x="43" y="242"/>
                      <a:pt x="48" y="237"/>
                      <a:pt x="54" y="237"/>
                    </a:cubicBezTo>
                    <a:cubicBezTo>
                      <a:pt x="118" y="237"/>
                      <a:pt x="118" y="237"/>
                      <a:pt x="118" y="237"/>
                    </a:cubicBezTo>
                    <a:cubicBezTo>
                      <a:pt x="124" y="237"/>
                      <a:pt x="128" y="242"/>
                      <a:pt x="128" y="24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0" name="Group 784"/>
            <p:cNvGrpSpPr>
              <a:grpSpLocks noChangeAspect="1"/>
            </p:cNvGrpSpPr>
            <p:nvPr/>
          </p:nvGrpSpPr>
          <p:grpSpPr bwMode="auto">
            <a:xfrm>
              <a:off x="1700839" y="4127477"/>
              <a:ext cx="435600" cy="435600"/>
              <a:chOff x="2657" y="3361"/>
              <a:chExt cx="340" cy="340"/>
            </a:xfrm>
            <a:solidFill>
              <a:srgbClr val="00A0DE"/>
            </a:solidFill>
          </p:grpSpPr>
          <p:sp>
            <p:nvSpPr>
              <p:cNvPr id="31" name="Freeform 785"/>
              <p:cNvSpPr>
                <a:spLocks noEditPoints="1"/>
              </p:cNvSpPr>
              <p:nvPr/>
            </p:nvSpPr>
            <p:spPr bwMode="auto">
              <a:xfrm>
                <a:off x="2721" y="3439"/>
                <a:ext cx="212" cy="170"/>
              </a:xfrm>
              <a:custGeom>
                <a:avLst/>
                <a:gdLst>
                  <a:gd name="T0" fmla="*/ 313 w 320"/>
                  <a:gd name="T1" fmla="*/ 33 h 257"/>
                  <a:gd name="T2" fmla="*/ 239 w 320"/>
                  <a:gd name="T3" fmla="*/ 1 h 257"/>
                  <a:gd name="T4" fmla="*/ 230 w 320"/>
                  <a:gd name="T5" fmla="*/ 1 h 257"/>
                  <a:gd name="T6" fmla="*/ 160 w 320"/>
                  <a:gd name="T7" fmla="*/ 31 h 257"/>
                  <a:gd name="T8" fmla="*/ 89 w 320"/>
                  <a:gd name="T9" fmla="*/ 1 h 257"/>
                  <a:gd name="T10" fmla="*/ 81 w 320"/>
                  <a:gd name="T11" fmla="*/ 1 h 257"/>
                  <a:gd name="T12" fmla="*/ 6 w 320"/>
                  <a:gd name="T13" fmla="*/ 33 h 257"/>
                  <a:gd name="T14" fmla="*/ 0 w 320"/>
                  <a:gd name="T15" fmla="*/ 43 h 257"/>
                  <a:gd name="T16" fmla="*/ 0 w 320"/>
                  <a:gd name="T17" fmla="*/ 245 h 257"/>
                  <a:gd name="T18" fmla="*/ 4 w 320"/>
                  <a:gd name="T19" fmla="*/ 254 h 257"/>
                  <a:gd name="T20" fmla="*/ 15 w 320"/>
                  <a:gd name="T21" fmla="*/ 255 h 257"/>
                  <a:gd name="T22" fmla="*/ 85 w 320"/>
                  <a:gd name="T23" fmla="*/ 225 h 257"/>
                  <a:gd name="T24" fmla="*/ 155 w 320"/>
                  <a:gd name="T25" fmla="*/ 255 h 257"/>
                  <a:gd name="T26" fmla="*/ 164 w 320"/>
                  <a:gd name="T27" fmla="*/ 255 h 257"/>
                  <a:gd name="T28" fmla="*/ 234 w 320"/>
                  <a:gd name="T29" fmla="*/ 225 h 257"/>
                  <a:gd name="T30" fmla="*/ 305 w 320"/>
                  <a:gd name="T31" fmla="*/ 255 h 257"/>
                  <a:gd name="T32" fmla="*/ 309 w 320"/>
                  <a:gd name="T33" fmla="*/ 256 h 257"/>
                  <a:gd name="T34" fmla="*/ 315 w 320"/>
                  <a:gd name="T35" fmla="*/ 254 h 257"/>
                  <a:gd name="T36" fmla="*/ 320 w 320"/>
                  <a:gd name="T37" fmla="*/ 245 h 257"/>
                  <a:gd name="T38" fmla="*/ 320 w 320"/>
                  <a:gd name="T39" fmla="*/ 43 h 257"/>
                  <a:gd name="T40" fmla="*/ 313 w 320"/>
                  <a:gd name="T41" fmla="*/ 33 h 257"/>
                  <a:gd name="T42" fmla="*/ 96 w 320"/>
                  <a:gd name="T43" fmla="*/ 27 h 257"/>
                  <a:gd name="T44" fmla="*/ 149 w 320"/>
                  <a:gd name="T45" fmla="*/ 50 h 257"/>
                  <a:gd name="T46" fmla="*/ 149 w 320"/>
                  <a:gd name="T47" fmla="*/ 229 h 257"/>
                  <a:gd name="T48" fmla="*/ 96 w 320"/>
                  <a:gd name="T49" fmla="*/ 206 h 257"/>
                  <a:gd name="T50" fmla="*/ 96 w 320"/>
                  <a:gd name="T51" fmla="*/ 27 h 257"/>
                  <a:gd name="T52" fmla="*/ 170 w 320"/>
                  <a:gd name="T53" fmla="*/ 50 h 257"/>
                  <a:gd name="T54" fmla="*/ 224 w 320"/>
                  <a:gd name="T55" fmla="*/ 27 h 257"/>
                  <a:gd name="T56" fmla="*/ 224 w 320"/>
                  <a:gd name="T57" fmla="*/ 206 h 257"/>
                  <a:gd name="T58" fmla="*/ 170 w 320"/>
                  <a:gd name="T59" fmla="*/ 229 h 257"/>
                  <a:gd name="T60" fmla="*/ 170 w 320"/>
                  <a:gd name="T61" fmla="*/ 50 h 257"/>
                  <a:gd name="T62" fmla="*/ 21 w 320"/>
                  <a:gd name="T63" fmla="*/ 50 h 257"/>
                  <a:gd name="T64" fmla="*/ 74 w 320"/>
                  <a:gd name="T65" fmla="*/ 27 h 257"/>
                  <a:gd name="T66" fmla="*/ 74 w 320"/>
                  <a:gd name="T67" fmla="*/ 206 h 257"/>
                  <a:gd name="T68" fmla="*/ 21 w 320"/>
                  <a:gd name="T69" fmla="*/ 229 h 257"/>
                  <a:gd name="T70" fmla="*/ 21 w 320"/>
                  <a:gd name="T71" fmla="*/ 50 h 257"/>
                  <a:gd name="T72" fmla="*/ 298 w 320"/>
                  <a:gd name="T73" fmla="*/ 229 h 257"/>
                  <a:gd name="T74" fmla="*/ 245 w 320"/>
                  <a:gd name="T75" fmla="*/ 206 h 257"/>
                  <a:gd name="T76" fmla="*/ 245 w 320"/>
                  <a:gd name="T77" fmla="*/ 27 h 257"/>
                  <a:gd name="T78" fmla="*/ 298 w 320"/>
                  <a:gd name="T79" fmla="*/ 50 h 257"/>
                  <a:gd name="T80" fmla="*/ 298 w 320"/>
                  <a:gd name="T81" fmla="*/ 2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0" h="257">
                    <a:moveTo>
                      <a:pt x="313" y="33"/>
                    </a:moveTo>
                    <a:cubicBezTo>
                      <a:pt x="239" y="1"/>
                      <a:pt x="239" y="1"/>
                      <a:pt x="239" y="1"/>
                    </a:cubicBezTo>
                    <a:cubicBezTo>
                      <a:pt x="236" y="0"/>
                      <a:pt x="233" y="0"/>
                      <a:pt x="230" y="1"/>
                    </a:cubicBezTo>
                    <a:cubicBezTo>
                      <a:pt x="160" y="31"/>
                      <a:pt x="160" y="31"/>
                      <a:pt x="160" y="31"/>
                    </a:cubicBezTo>
                    <a:cubicBezTo>
                      <a:pt x="89" y="1"/>
                      <a:pt x="89" y="1"/>
                      <a:pt x="89" y="1"/>
                    </a:cubicBezTo>
                    <a:cubicBezTo>
                      <a:pt x="87" y="0"/>
                      <a:pt x="83" y="0"/>
                      <a:pt x="81" y="1"/>
                    </a:cubicBezTo>
                    <a:cubicBezTo>
                      <a:pt x="6" y="33"/>
                      <a:pt x="6" y="33"/>
                      <a:pt x="6" y="33"/>
                    </a:cubicBezTo>
                    <a:cubicBezTo>
                      <a:pt x="2" y="35"/>
                      <a:pt x="0" y="38"/>
                      <a:pt x="0" y="43"/>
                    </a:cubicBezTo>
                    <a:cubicBezTo>
                      <a:pt x="0" y="245"/>
                      <a:pt x="0" y="245"/>
                      <a:pt x="0" y="245"/>
                    </a:cubicBezTo>
                    <a:cubicBezTo>
                      <a:pt x="0" y="249"/>
                      <a:pt x="1" y="252"/>
                      <a:pt x="4" y="254"/>
                    </a:cubicBezTo>
                    <a:cubicBezTo>
                      <a:pt x="7" y="256"/>
                      <a:pt x="11" y="257"/>
                      <a:pt x="15" y="255"/>
                    </a:cubicBezTo>
                    <a:cubicBezTo>
                      <a:pt x="85" y="225"/>
                      <a:pt x="85" y="225"/>
                      <a:pt x="85" y="225"/>
                    </a:cubicBezTo>
                    <a:cubicBezTo>
                      <a:pt x="155" y="255"/>
                      <a:pt x="155" y="255"/>
                      <a:pt x="155" y="255"/>
                    </a:cubicBezTo>
                    <a:cubicBezTo>
                      <a:pt x="158" y="256"/>
                      <a:pt x="161" y="256"/>
                      <a:pt x="164" y="255"/>
                    </a:cubicBezTo>
                    <a:cubicBezTo>
                      <a:pt x="234" y="225"/>
                      <a:pt x="234" y="225"/>
                      <a:pt x="234" y="225"/>
                    </a:cubicBezTo>
                    <a:cubicBezTo>
                      <a:pt x="305" y="255"/>
                      <a:pt x="305" y="255"/>
                      <a:pt x="305" y="255"/>
                    </a:cubicBezTo>
                    <a:cubicBezTo>
                      <a:pt x="306" y="256"/>
                      <a:pt x="308" y="256"/>
                      <a:pt x="309" y="256"/>
                    </a:cubicBezTo>
                    <a:cubicBezTo>
                      <a:pt x="311" y="256"/>
                      <a:pt x="313" y="255"/>
                      <a:pt x="315" y="254"/>
                    </a:cubicBezTo>
                    <a:cubicBezTo>
                      <a:pt x="318" y="252"/>
                      <a:pt x="320" y="249"/>
                      <a:pt x="320" y="245"/>
                    </a:cubicBezTo>
                    <a:cubicBezTo>
                      <a:pt x="320" y="43"/>
                      <a:pt x="320" y="43"/>
                      <a:pt x="320" y="43"/>
                    </a:cubicBezTo>
                    <a:cubicBezTo>
                      <a:pt x="320" y="38"/>
                      <a:pt x="317" y="35"/>
                      <a:pt x="313" y="33"/>
                    </a:cubicBezTo>
                    <a:close/>
                    <a:moveTo>
                      <a:pt x="96" y="27"/>
                    </a:moveTo>
                    <a:cubicBezTo>
                      <a:pt x="149" y="50"/>
                      <a:pt x="149" y="50"/>
                      <a:pt x="149" y="50"/>
                    </a:cubicBezTo>
                    <a:cubicBezTo>
                      <a:pt x="149" y="229"/>
                      <a:pt x="149" y="229"/>
                      <a:pt x="149" y="229"/>
                    </a:cubicBezTo>
                    <a:cubicBezTo>
                      <a:pt x="96" y="206"/>
                      <a:pt x="96" y="206"/>
                      <a:pt x="96" y="206"/>
                    </a:cubicBezTo>
                    <a:lnTo>
                      <a:pt x="96" y="27"/>
                    </a:lnTo>
                    <a:close/>
                    <a:moveTo>
                      <a:pt x="170" y="50"/>
                    </a:moveTo>
                    <a:cubicBezTo>
                      <a:pt x="224" y="27"/>
                      <a:pt x="224" y="27"/>
                      <a:pt x="224" y="27"/>
                    </a:cubicBezTo>
                    <a:cubicBezTo>
                      <a:pt x="224" y="206"/>
                      <a:pt x="224" y="206"/>
                      <a:pt x="224" y="206"/>
                    </a:cubicBezTo>
                    <a:cubicBezTo>
                      <a:pt x="170" y="229"/>
                      <a:pt x="170" y="229"/>
                      <a:pt x="170" y="229"/>
                    </a:cubicBezTo>
                    <a:lnTo>
                      <a:pt x="170" y="50"/>
                    </a:lnTo>
                    <a:close/>
                    <a:moveTo>
                      <a:pt x="21" y="50"/>
                    </a:moveTo>
                    <a:cubicBezTo>
                      <a:pt x="74" y="27"/>
                      <a:pt x="74" y="27"/>
                      <a:pt x="74" y="27"/>
                    </a:cubicBezTo>
                    <a:cubicBezTo>
                      <a:pt x="74" y="206"/>
                      <a:pt x="74" y="206"/>
                      <a:pt x="74" y="206"/>
                    </a:cubicBezTo>
                    <a:cubicBezTo>
                      <a:pt x="21" y="229"/>
                      <a:pt x="21" y="229"/>
                      <a:pt x="21" y="229"/>
                    </a:cubicBezTo>
                    <a:lnTo>
                      <a:pt x="21" y="50"/>
                    </a:lnTo>
                    <a:close/>
                    <a:moveTo>
                      <a:pt x="298" y="229"/>
                    </a:moveTo>
                    <a:cubicBezTo>
                      <a:pt x="245" y="206"/>
                      <a:pt x="245" y="206"/>
                      <a:pt x="245" y="206"/>
                    </a:cubicBezTo>
                    <a:cubicBezTo>
                      <a:pt x="245" y="27"/>
                      <a:pt x="245" y="27"/>
                      <a:pt x="245" y="27"/>
                    </a:cubicBezTo>
                    <a:cubicBezTo>
                      <a:pt x="298" y="50"/>
                      <a:pt x="298" y="50"/>
                      <a:pt x="298" y="50"/>
                    </a:cubicBezTo>
                    <a:lnTo>
                      <a:pt x="298" y="2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32" name="Freeform 786"/>
              <p:cNvSpPr>
                <a:spLocks noEditPoints="1"/>
              </p:cNvSpPr>
              <p:nvPr/>
            </p:nvSpPr>
            <p:spPr bwMode="auto">
              <a:xfrm>
                <a:off x="2657" y="336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sp>
        <p:nvSpPr>
          <p:cNvPr id="33" name="TextBox 32"/>
          <p:cNvSpPr txBox="1"/>
          <p:nvPr/>
        </p:nvSpPr>
        <p:spPr>
          <a:xfrm>
            <a:off x="439792" y="7142692"/>
            <a:ext cx="4694837" cy="221945"/>
          </a:xfrm>
          <a:prstGeom prst="rect">
            <a:avLst/>
          </a:prstGeom>
          <a:noFill/>
        </p:spPr>
        <p:txBody>
          <a:bodyPr wrap="square" lIns="0" tIns="0" rIns="0" bIns="0" rtlCol="0">
            <a:noAutofit/>
          </a:bodyPr>
          <a:lstStyle/>
          <a:p>
            <a:pPr marL="0" indent="0">
              <a:spcBef>
                <a:spcPts val="662"/>
              </a:spcBef>
              <a:buSzPct val="100000"/>
              <a:buFont typeface="Arial"/>
              <a:buNone/>
            </a:pPr>
            <a:r>
              <a:rPr lang="en-GB" sz="700" noProof="0" dirty="0">
                <a:solidFill>
                  <a:schemeClr val="bg1"/>
                </a:solidFill>
              </a:rPr>
              <a:t>© 2018 Deloitte Touche Tohmatsu India LLP</a:t>
            </a:r>
          </a:p>
        </p:txBody>
      </p:sp>
    </p:spTree>
    <p:extLst>
      <p:ext uri="{BB962C8B-B14F-4D97-AF65-F5344CB8AC3E}">
        <p14:creationId xmlns:p14="http://schemas.microsoft.com/office/powerpoint/2010/main" val="3874499763"/>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3"/>
          </p:nvPr>
        </p:nvSpPr>
        <p:spPr>
          <a:xfrm>
            <a:off x="352350" y="867347"/>
            <a:ext cx="10014280" cy="835084"/>
          </a:xfrm>
        </p:spPr>
        <p:txBody>
          <a:bodyPr/>
          <a:lstStyle/>
          <a:p>
            <a:r>
              <a:rPr lang="en-GB" dirty="0"/>
              <a:t>We are the worlds largest professional services firm with a diverse portfolio of services covering consulting, audit, taxation and financial advisory…</a:t>
            </a:r>
          </a:p>
        </p:txBody>
      </p:sp>
      <p:sp>
        <p:nvSpPr>
          <p:cNvPr id="333" name="Rectangle 332"/>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About Deloitte</a:t>
            </a:r>
          </a:p>
        </p:txBody>
      </p:sp>
      <p:cxnSp>
        <p:nvCxnSpPr>
          <p:cNvPr id="334" name="Straight Connector 333"/>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35" name="Rectangle 334"/>
          <p:cNvSpPr/>
          <p:nvPr/>
        </p:nvSpPr>
        <p:spPr>
          <a:xfrm>
            <a:off x="263396" y="331644"/>
            <a:ext cx="10103234" cy="425758"/>
          </a:xfrm>
          <a:prstGeom prst="rect">
            <a:avLst/>
          </a:prstGeom>
        </p:spPr>
        <p:txBody>
          <a:bodyPr wrap="square">
            <a:spAutoFit/>
          </a:bodyPr>
          <a:lstStyle/>
          <a:p>
            <a:pPr defTabSz="914253">
              <a:lnSpc>
                <a:spcPts val="2599"/>
              </a:lnSpc>
            </a:pPr>
            <a:r>
              <a:rPr lang="en-US" sz="2400" dirty="0">
                <a:latin typeface="Verdana" panose="020B0604030504040204" pitchFamily="34" charset="0"/>
                <a:ea typeface="Verdana" panose="020B0604030504040204" pitchFamily="34" charset="0"/>
                <a:cs typeface="Verdana" panose="020B0604030504040204" pitchFamily="34" charset="0"/>
              </a:rPr>
              <a:t>About Deloitte</a:t>
            </a:r>
          </a:p>
        </p:txBody>
      </p:sp>
      <p:sp>
        <p:nvSpPr>
          <p:cNvPr id="327" name="Rectangle 326"/>
          <p:cNvSpPr/>
          <p:nvPr/>
        </p:nvSpPr>
        <p:spPr bwMode="gray">
          <a:xfrm>
            <a:off x="439791" y="1553655"/>
            <a:ext cx="3622053" cy="5197519"/>
          </a:xfrm>
          <a:prstGeom prst="rect">
            <a:avLst/>
          </a:prstGeom>
          <a:solidFill>
            <a:schemeClr val="tx1"/>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GB" sz="1369" b="1" dirty="0">
              <a:solidFill>
                <a:prstClr val="white"/>
              </a:solidFill>
            </a:endParaRPr>
          </a:p>
        </p:txBody>
      </p:sp>
      <p:grpSp>
        <p:nvGrpSpPr>
          <p:cNvPr id="328" name="Group 327"/>
          <p:cNvGrpSpPr/>
          <p:nvPr/>
        </p:nvGrpSpPr>
        <p:grpSpPr>
          <a:xfrm>
            <a:off x="568089" y="1844004"/>
            <a:ext cx="1656622" cy="257920"/>
            <a:chOff x="398463" y="404813"/>
            <a:chExt cx="1627187" cy="307976"/>
          </a:xfrm>
          <a:solidFill>
            <a:schemeClr val="tx1"/>
          </a:solidFill>
        </p:grpSpPr>
        <p:sp>
          <p:nvSpPr>
            <p:cNvPr id="329"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1"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6"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7"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8"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39"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40"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sp>
          <p:nvSpPr>
            <p:cNvPr id="341"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888" dirty="0">
                <a:solidFill>
                  <a:prstClr val="white"/>
                </a:solidFill>
              </a:endParaRPr>
            </a:p>
          </p:txBody>
        </p:sp>
      </p:grpSp>
      <p:sp>
        <p:nvSpPr>
          <p:cNvPr id="342" name="Rectangle 341"/>
          <p:cNvSpPr/>
          <p:nvPr/>
        </p:nvSpPr>
        <p:spPr>
          <a:xfrm>
            <a:off x="568089" y="2353438"/>
            <a:ext cx="3143526" cy="4231928"/>
          </a:xfrm>
          <a:prstGeom prst="rect">
            <a:avLst/>
          </a:prstGeom>
        </p:spPr>
        <p:txBody>
          <a:bodyPr wrap="square" lIns="0" tIns="0" rIns="0" bIns="0">
            <a:spAutoFit/>
          </a:bodyPr>
          <a:lstStyle/>
          <a:p>
            <a:pPr marL="171450" indent="-171450">
              <a:spcBef>
                <a:spcPts val="600"/>
              </a:spcBef>
              <a:buFont typeface="Wingdings" panose="05000000000000000000" pitchFamily="2" charset="2"/>
              <a:buChar char="ü"/>
            </a:pPr>
            <a:r>
              <a:rPr lang="en-US" sz="1000" dirty="0">
                <a:solidFill>
                  <a:schemeClr val="bg1"/>
                </a:solidFill>
              </a:rPr>
              <a:t>Deloitte named a global leader in </a:t>
            </a:r>
            <a:r>
              <a:rPr lang="en-US" sz="1000" b="1" dirty="0">
                <a:solidFill>
                  <a:schemeClr val="accent1"/>
                </a:solidFill>
              </a:rPr>
              <a:t>Business Consulting Services </a:t>
            </a:r>
            <a:r>
              <a:rPr lang="en-US" sz="1000" dirty="0">
                <a:solidFill>
                  <a:schemeClr val="bg1"/>
                </a:solidFill>
              </a:rPr>
              <a:t>based on capability and strategy by IDC MarketScape</a:t>
            </a:r>
          </a:p>
          <a:p>
            <a:pPr marL="171450" indent="-171450">
              <a:spcBef>
                <a:spcPts val="600"/>
              </a:spcBef>
              <a:buFont typeface="Wingdings" panose="05000000000000000000" pitchFamily="2" charset="2"/>
              <a:buChar char="ü"/>
            </a:pPr>
            <a:r>
              <a:rPr lang="en-US" sz="1000" dirty="0">
                <a:solidFill>
                  <a:schemeClr val="bg1"/>
                </a:solidFill>
              </a:rPr>
              <a:t>Deloitte ranked #1 globally in </a:t>
            </a:r>
            <a:r>
              <a:rPr lang="en-US" sz="1000" b="1" dirty="0">
                <a:solidFill>
                  <a:schemeClr val="accent1"/>
                </a:solidFill>
              </a:rPr>
              <a:t>Security Consulting</a:t>
            </a:r>
            <a:r>
              <a:rPr lang="en-US" sz="1000" dirty="0">
                <a:solidFill>
                  <a:schemeClr val="bg1"/>
                </a:solidFill>
              </a:rPr>
              <a:t>, based on revenue by Gartner</a:t>
            </a:r>
          </a:p>
          <a:p>
            <a:pPr marL="171450" indent="-171450">
              <a:spcBef>
                <a:spcPts val="600"/>
              </a:spcBef>
              <a:buFont typeface="Wingdings" panose="05000000000000000000" pitchFamily="2" charset="2"/>
              <a:buChar char="ü"/>
            </a:pPr>
            <a:r>
              <a:rPr lang="en-US" sz="1000" dirty="0">
                <a:solidFill>
                  <a:schemeClr val="bg1"/>
                </a:solidFill>
              </a:rPr>
              <a:t>Deloitte named a global leader in </a:t>
            </a:r>
            <a:r>
              <a:rPr lang="en-US" sz="1000" b="1" dirty="0">
                <a:solidFill>
                  <a:schemeClr val="accent1"/>
                </a:solidFill>
              </a:rPr>
              <a:t>Digital</a:t>
            </a:r>
            <a:r>
              <a:rPr lang="en-US" sz="1000" b="1" dirty="0">
                <a:solidFill>
                  <a:schemeClr val="bg1"/>
                </a:solidFill>
              </a:rPr>
              <a:t> </a:t>
            </a:r>
            <a:r>
              <a:rPr lang="en-US" sz="1000" b="1" dirty="0">
                <a:solidFill>
                  <a:schemeClr val="accent1"/>
                </a:solidFill>
              </a:rPr>
              <a:t>Innovation Consulting Services </a:t>
            </a:r>
            <a:r>
              <a:rPr lang="en-US" sz="1000" dirty="0">
                <a:solidFill>
                  <a:schemeClr val="bg1"/>
                </a:solidFill>
              </a:rPr>
              <a:t>based on breadth and depth of capabilities by ALM Intelligence</a:t>
            </a:r>
          </a:p>
          <a:p>
            <a:pPr marL="171450" indent="-171450">
              <a:spcBef>
                <a:spcPts val="600"/>
              </a:spcBef>
              <a:buFont typeface="Wingdings" panose="05000000000000000000" pitchFamily="2" charset="2"/>
              <a:buChar char="ü"/>
            </a:pPr>
            <a:r>
              <a:rPr lang="en-US" sz="1000" dirty="0">
                <a:solidFill>
                  <a:schemeClr val="bg1"/>
                </a:solidFill>
              </a:rPr>
              <a:t>Deloitte named the clear leader in </a:t>
            </a:r>
            <a:r>
              <a:rPr lang="en-US" sz="1000" b="1" dirty="0">
                <a:solidFill>
                  <a:schemeClr val="accent1"/>
                </a:solidFill>
              </a:rPr>
              <a:t>Digital HR Transformation </a:t>
            </a:r>
            <a:r>
              <a:rPr lang="en-US" sz="1000" dirty="0">
                <a:solidFill>
                  <a:schemeClr val="bg1"/>
                </a:solidFill>
              </a:rPr>
              <a:t>based on breadth and depth of capabilities by ALM Intelligence</a:t>
            </a:r>
          </a:p>
          <a:p>
            <a:pPr marL="171450" indent="-171450">
              <a:spcBef>
                <a:spcPts val="600"/>
              </a:spcBef>
              <a:buFont typeface="Wingdings" panose="05000000000000000000" pitchFamily="2" charset="2"/>
              <a:buChar char="ü"/>
            </a:pPr>
            <a:r>
              <a:rPr lang="en-US" sz="1000" dirty="0">
                <a:solidFill>
                  <a:schemeClr val="bg1"/>
                </a:solidFill>
              </a:rPr>
              <a:t>Deloitte named the global leader in </a:t>
            </a:r>
            <a:r>
              <a:rPr lang="en-US" sz="1000" b="1" dirty="0">
                <a:solidFill>
                  <a:schemeClr val="accent1"/>
                </a:solidFill>
              </a:rPr>
              <a:t>Risk Consulting</a:t>
            </a:r>
            <a:r>
              <a:rPr lang="en-US" sz="1000" dirty="0">
                <a:solidFill>
                  <a:schemeClr val="bg1"/>
                </a:solidFill>
              </a:rPr>
              <a:t>, based strategy and capability by IDC MarketScape</a:t>
            </a:r>
          </a:p>
          <a:p>
            <a:pPr marL="171450" indent="-171450">
              <a:spcBef>
                <a:spcPts val="600"/>
              </a:spcBef>
              <a:buFont typeface="Wingdings" panose="05000000000000000000" pitchFamily="2" charset="2"/>
              <a:buChar char="ü"/>
            </a:pPr>
            <a:r>
              <a:rPr lang="en-US" sz="1000" dirty="0">
                <a:solidFill>
                  <a:schemeClr val="bg1"/>
                </a:solidFill>
              </a:rPr>
              <a:t>Deloitte recognized as a global leader in </a:t>
            </a:r>
            <a:r>
              <a:rPr lang="en-US" sz="1000" b="1" dirty="0">
                <a:solidFill>
                  <a:schemeClr val="accent1"/>
                </a:solidFill>
              </a:rPr>
              <a:t>Innovation Strategy Consulting </a:t>
            </a:r>
            <a:r>
              <a:rPr lang="en-US" sz="1000" dirty="0">
                <a:solidFill>
                  <a:schemeClr val="bg1"/>
                </a:solidFill>
              </a:rPr>
              <a:t>by ALM </a:t>
            </a:r>
          </a:p>
          <a:p>
            <a:pPr marL="171450" indent="-171450">
              <a:spcBef>
                <a:spcPts val="600"/>
              </a:spcBef>
              <a:buFont typeface="Wingdings" panose="05000000000000000000" pitchFamily="2" charset="2"/>
              <a:buChar char="ü"/>
            </a:pPr>
            <a:r>
              <a:rPr lang="en-US" sz="1000" dirty="0">
                <a:solidFill>
                  <a:schemeClr val="bg1"/>
                </a:solidFill>
              </a:rPr>
              <a:t>Deloitte named the worldwide leader in </a:t>
            </a:r>
            <a:r>
              <a:rPr lang="en-US" sz="1000" b="1" dirty="0">
                <a:solidFill>
                  <a:schemeClr val="accent1"/>
                </a:solidFill>
              </a:rPr>
              <a:t>Strategy Business Consulting </a:t>
            </a:r>
            <a:r>
              <a:rPr lang="en-US" sz="1000" dirty="0">
                <a:solidFill>
                  <a:schemeClr val="bg1"/>
                </a:solidFill>
              </a:rPr>
              <a:t>services based on strategies and capabilities by IDC MarketScape </a:t>
            </a:r>
          </a:p>
          <a:p>
            <a:pPr marL="171450" indent="-171450">
              <a:spcBef>
                <a:spcPts val="600"/>
              </a:spcBef>
              <a:buFont typeface="Wingdings" panose="05000000000000000000" pitchFamily="2" charset="2"/>
              <a:buChar char="ü"/>
            </a:pPr>
            <a:r>
              <a:rPr lang="en-US" sz="1000" dirty="0">
                <a:solidFill>
                  <a:schemeClr val="bg1"/>
                </a:solidFill>
              </a:rPr>
              <a:t>Deloitte named the global leader in </a:t>
            </a:r>
            <a:r>
              <a:rPr lang="en-US" sz="1000" b="1" dirty="0">
                <a:solidFill>
                  <a:schemeClr val="accent1"/>
                </a:solidFill>
              </a:rPr>
              <a:t>IT Strategy Consulting</a:t>
            </a:r>
            <a:r>
              <a:rPr lang="en-US" sz="1000" b="1" dirty="0">
                <a:solidFill>
                  <a:schemeClr val="bg1"/>
                </a:solidFill>
              </a:rPr>
              <a:t> </a:t>
            </a:r>
            <a:r>
              <a:rPr lang="en-US" sz="1000" dirty="0">
                <a:solidFill>
                  <a:schemeClr val="bg1"/>
                </a:solidFill>
              </a:rPr>
              <a:t>based on breadth and depth of capabilities by ALM Intelligence</a:t>
            </a:r>
            <a:endParaRPr lang="en-GB" sz="1000" dirty="0">
              <a:solidFill>
                <a:schemeClr val="bg1"/>
              </a:solidFill>
              <a:ea typeface="Calibri" panose="020F0502020204030204" pitchFamily="34" charset="0"/>
              <a:cs typeface="Times New Roman" panose="02020603050405020304" pitchFamily="18" charset="0"/>
            </a:endParaRPr>
          </a:p>
        </p:txBody>
      </p:sp>
      <p:grpSp>
        <p:nvGrpSpPr>
          <p:cNvPr id="343" name="Group 342"/>
          <p:cNvGrpSpPr/>
          <p:nvPr/>
        </p:nvGrpSpPr>
        <p:grpSpPr>
          <a:xfrm>
            <a:off x="4357102" y="1950151"/>
            <a:ext cx="5604583" cy="4594998"/>
            <a:chOff x="3247367" y="2378624"/>
            <a:chExt cx="4623728" cy="3616231"/>
          </a:xfrm>
        </p:grpSpPr>
        <p:grpSp>
          <p:nvGrpSpPr>
            <p:cNvPr id="344" name="Group 343"/>
            <p:cNvGrpSpPr/>
            <p:nvPr/>
          </p:nvGrpSpPr>
          <p:grpSpPr>
            <a:xfrm>
              <a:off x="4049122" y="2839971"/>
              <a:ext cx="3130738" cy="2766169"/>
              <a:chOff x="228412" y="2166304"/>
              <a:chExt cx="3130738" cy="2766169"/>
            </a:xfrm>
          </p:grpSpPr>
          <p:sp>
            <p:nvSpPr>
              <p:cNvPr id="367" name="Freeform 74"/>
              <p:cNvSpPr>
                <a:spLocks noChangeAspect="1" noEditPoints="1"/>
              </p:cNvSpPr>
              <p:nvPr/>
            </p:nvSpPr>
            <p:spPr bwMode="auto">
              <a:xfrm rot="3602164">
                <a:off x="2745544" y="2739280"/>
                <a:ext cx="256688" cy="636065"/>
              </a:xfrm>
              <a:custGeom>
                <a:avLst/>
                <a:gdLst>
                  <a:gd name="T0" fmla="*/ 149 w 159"/>
                  <a:gd name="T1" fmla="*/ 24 h 394"/>
                  <a:gd name="T2" fmla="*/ 103 w 159"/>
                  <a:gd name="T3" fmla="*/ 0 h 394"/>
                  <a:gd name="T4" fmla="*/ 10 w 159"/>
                  <a:gd name="T5" fmla="*/ 11 h 394"/>
                  <a:gd name="T6" fmla="*/ 15 w 159"/>
                  <a:gd name="T7" fmla="*/ 367 h 394"/>
                  <a:gd name="T8" fmla="*/ 159 w 159"/>
                  <a:gd name="T9" fmla="*/ 394 h 394"/>
                  <a:gd name="T10" fmla="*/ 57 w 159"/>
                  <a:gd name="T11" fmla="*/ 367 h 394"/>
                  <a:gd name="T12" fmla="*/ 57 w 159"/>
                  <a:gd name="T13" fmla="*/ 344 h 394"/>
                  <a:gd name="T14" fmla="*/ 36 w 159"/>
                  <a:gd name="T15" fmla="*/ 329 h 394"/>
                  <a:gd name="T16" fmla="*/ 57 w 159"/>
                  <a:gd name="T17" fmla="*/ 329 h 394"/>
                  <a:gd name="T18" fmla="*/ 36 w 159"/>
                  <a:gd name="T19" fmla="*/ 268 h 394"/>
                  <a:gd name="T20" fmla="*/ 57 w 159"/>
                  <a:gd name="T21" fmla="*/ 253 h 394"/>
                  <a:gd name="T22" fmla="*/ 57 w 159"/>
                  <a:gd name="T23" fmla="*/ 228 h 394"/>
                  <a:gd name="T24" fmla="*/ 36 w 159"/>
                  <a:gd name="T25" fmla="*/ 215 h 394"/>
                  <a:gd name="T26" fmla="*/ 57 w 159"/>
                  <a:gd name="T27" fmla="*/ 215 h 394"/>
                  <a:gd name="T28" fmla="*/ 36 w 159"/>
                  <a:gd name="T29" fmla="*/ 152 h 394"/>
                  <a:gd name="T30" fmla="*/ 57 w 159"/>
                  <a:gd name="T31" fmla="*/ 137 h 394"/>
                  <a:gd name="T32" fmla="*/ 57 w 159"/>
                  <a:gd name="T33" fmla="*/ 114 h 394"/>
                  <a:gd name="T34" fmla="*/ 36 w 159"/>
                  <a:gd name="T35" fmla="*/ 99 h 394"/>
                  <a:gd name="T36" fmla="*/ 57 w 159"/>
                  <a:gd name="T37" fmla="*/ 99 h 394"/>
                  <a:gd name="T38" fmla="*/ 36 w 159"/>
                  <a:gd name="T39" fmla="*/ 36 h 394"/>
                  <a:gd name="T40" fmla="*/ 90 w 159"/>
                  <a:gd name="T41" fmla="*/ 367 h 394"/>
                  <a:gd name="T42" fmla="*/ 90 w 159"/>
                  <a:gd name="T43" fmla="*/ 344 h 394"/>
                  <a:gd name="T44" fmla="*/ 69 w 159"/>
                  <a:gd name="T45" fmla="*/ 329 h 394"/>
                  <a:gd name="T46" fmla="*/ 90 w 159"/>
                  <a:gd name="T47" fmla="*/ 329 h 394"/>
                  <a:gd name="T48" fmla="*/ 69 w 159"/>
                  <a:gd name="T49" fmla="*/ 268 h 394"/>
                  <a:gd name="T50" fmla="*/ 90 w 159"/>
                  <a:gd name="T51" fmla="*/ 253 h 394"/>
                  <a:gd name="T52" fmla="*/ 90 w 159"/>
                  <a:gd name="T53" fmla="*/ 228 h 394"/>
                  <a:gd name="T54" fmla="*/ 69 w 159"/>
                  <a:gd name="T55" fmla="*/ 215 h 394"/>
                  <a:gd name="T56" fmla="*/ 90 w 159"/>
                  <a:gd name="T57" fmla="*/ 215 h 394"/>
                  <a:gd name="T58" fmla="*/ 69 w 159"/>
                  <a:gd name="T59" fmla="*/ 152 h 394"/>
                  <a:gd name="T60" fmla="*/ 90 w 159"/>
                  <a:gd name="T61" fmla="*/ 137 h 394"/>
                  <a:gd name="T62" fmla="*/ 90 w 159"/>
                  <a:gd name="T63" fmla="*/ 114 h 394"/>
                  <a:gd name="T64" fmla="*/ 69 w 159"/>
                  <a:gd name="T65" fmla="*/ 99 h 394"/>
                  <a:gd name="T66" fmla="*/ 90 w 159"/>
                  <a:gd name="T67" fmla="*/ 99 h 394"/>
                  <a:gd name="T68" fmla="*/ 69 w 159"/>
                  <a:gd name="T69" fmla="*/ 36 h 394"/>
                  <a:gd name="T70" fmla="*/ 124 w 159"/>
                  <a:gd name="T71" fmla="*/ 367 h 394"/>
                  <a:gd name="T72" fmla="*/ 124 w 159"/>
                  <a:gd name="T73" fmla="*/ 344 h 394"/>
                  <a:gd name="T74" fmla="*/ 105 w 159"/>
                  <a:gd name="T75" fmla="*/ 329 h 394"/>
                  <a:gd name="T76" fmla="*/ 124 w 159"/>
                  <a:gd name="T77" fmla="*/ 329 h 394"/>
                  <a:gd name="T78" fmla="*/ 105 w 159"/>
                  <a:gd name="T79" fmla="*/ 268 h 394"/>
                  <a:gd name="T80" fmla="*/ 124 w 159"/>
                  <a:gd name="T81" fmla="*/ 253 h 394"/>
                  <a:gd name="T82" fmla="*/ 124 w 159"/>
                  <a:gd name="T83" fmla="*/ 228 h 394"/>
                  <a:gd name="T84" fmla="*/ 105 w 159"/>
                  <a:gd name="T85" fmla="*/ 215 h 394"/>
                  <a:gd name="T86" fmla="*/ 124 w 159"/>
                  <a:gd name="T87" fmla="*/ 215 h 394"/>
                  <a:gd name="T88" fmla="*/ 105 w 159"/>
                  <a:gd name="T89" fmla="*/ 152 h 394"/>
                  <a:gd name="T90" fmla="*/ 124 w 159"/>
                  <a:gd name="T91" fmla="*/ 137 h 394"/>
                  <a:gd name="T92" fmla="*/ 124 w 159"/>
                  <a:gd name="T93" fmla="*/ 114 h 394"/>
                  <a:gd name="T94" fmla="*/ 105 w 159"/>
                  <a:gd name="T95" fmla="*/ 99 h 394"/>
                  <a:gd name="T96" fmla="*/ 124 w 159"/>
                  <a:gd name="T97" fmla="*/ 99 h 394"/>
                  <a:gd name="T98" fmla="*/ 105 w 159"/>
                  <a:gd name="T99" fmla="*/ 36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9" h="394">
                    <a:moveTo>
                      <a:pt x="147" y="367"/>
                    </a:moveTo>
                    <a:lnTo>
                      <a:pt x="147" y="24"/>
                    </a:lnTo>
                    <a:lnTo>
                      <a:pt x="149" y="24"/>
                    </a:lnTo>
                    <a:lnTo>
                      <a:pt x="149" y="11"/>
                    </a:lnTo>
                    <a:lnTo>
                      <a:pt x="103" y="11"/>
                    </a:lnTo>
                    <a:lnTo>
                      <a:pt x="103" y="0"/>
                    </a:lnTo>
                    <a:lnTo>
                      <a:pt x="31" y="0"/>
                    </a:lnTo>
                    <a:lnTo>
                      <a:pt x="31" y="11"/>
                    </a:lnTo>
                    <a:lnTo>
                      <a:pt x="10" y="11"/>
                    </a:lnTo>
                    <a:lnTo>
                      <a:pt x="10" y="24"/>
                    </a:lnTo>
                    <a:lnTo>
                      <a:pt x="15" y="24"/>
                    </a:lnTo>
                    <a:lnTo>
                      <a:pt x="15" y="367"/>
                    </a:lnTo>
                    <a:lnTo>
                      <a:pt x="0" y="367"/>
                    </a:lnTo>
                    <a:lnTo>
                      <a:pt x="0" y="394"/>
                    </a:lnTo>
                    <a:lnTo>
                      <a:pt x="159" y="394"/>
                    </a:lnTo>
                    <a:lnTo>
                      <a:pt x="159" y="367"/>
                    </a:lnTo>
                    <a:lnTo>
                      <a:pt x="147" y="367"/>
                    </a:lnTo>
                    <a:close/>
                    <a:moveTo>
                      <a:pt x="57" y="367"/>
                    </a:moveTo>
                    <a:lnTo>
                      <a:pt x="36" y="367"/>
                    </a:lnTo>
                    <a:lnTo>
                      <a:pt x="36" y="344"/>
                    </a:lnTo>
                    <a:lnTo>
                      <a:pt x="57" y="344"/>
                    </a:lnTo>
                    <a:lnTo>
                      <a:pt x="57" y="367"/>
                    </a:lnTo>
                    <a:close/>
                    <a:moveTo>
                      <a:pt x="57" y="329"/>
                    </a:moveTo>
                    <a:lnTo>
                      <a:pt x="36" y="329"/>
                    </a:lnTo>
                    <a:lnTo>
                      <a:pt x="36" y="306"/>
                    </a:lnTo>
                    <a:lnTo>
                      <a:pt x="57" y="306"/>
                    </a:lnTo>
                    <a:lnTo>
                      <a:pt x="57" y="329"/>
                    </a:lnTo>
                    <a:close/>
                    <a:moveTo>
                      <a:pt x="57" y="291"/>
                    </a:moveTo>
                    <a:lnTo>
                      <a:pt x="36" y="291"/>
                    </a:lnTo>
                    <a:lnTo>
                      <a:pt x="36" y="268"/>
                    </a:lnTo>
                    <a:lnTo>
                      <a:pt x="57" y="268"/>
                    </a:lnTo>
                    <a:lnTo>
                      <a:pt x="57" y="291"/>
                    </a:lnTo>
                    <a:close/>
                    <a:moveTo>
                      <a:pt x="57" y="253"/>
                    </a:moveTo>
                    <a:lnTo>
                      <a:pt x="36" y="253"/>
                    </a:lnTo>
                    <a:lnTo>
                      <a:pt x="36" y="228"/>
                    </a:lnTo>
                    <a:lnTo>
                      <a:pt x="57" y="228"/>
                    </a:lnTo>
                    <a:lnTo>
                      <a:pt x="57" y="253"/>
                    </a:lnTo>
                    <a:close/>
                    <a:moveTo>
                      <a:pt x="57" y="215"/>
                    </a:moveTo>
                    <a:lnTo>
                      <a:pt x="36" y="215"/>
                    </a:lnTo>
                    <a:lnTo>
                      <a:pt x="36" y="190"/>
                    </a:lnTo>
                    <a:lnTo>
                      <a:pt x="57" y="190"/>
                    </a:lnTo>
                    <a:lnTo>
                      <a:pt x="57" y="215"/>
                    </a:lnTo>
                    <a:close/>
                    <a:moveTo>
                      <a:pt x="57" y="177"/>
                    </a:moveTo>
                    <a:lnTo>
                      <a:pt x="36" y="177"/>
                    </a:lnTo>
                    <a:lnTo>
                      <a:pt x="36" y="152"/>
                    </a:lnTo>
                    <a:lnTo>
                      <a:pt x="57" y="152"/>
                    </a:lnTo>
                    <a:lnTo>
                      <a:pt x="57" y="177"/>
                    </a:lnTo>
                    <a:close/>
                    <a:moveTo>
                      <a:pt x="57" y="137"/>
                    </a:moveTo>
                    <a:lnTo>
                      <a:pt x="36" y="137"/>
                    </a:lnTo>
                    <a:lnTo>
                      <a:pt x="36" y="114"/>
                    </a:lnTo>
                    <a:lnTo>
                      <a:pt x="57" y="114"/>
                    </a:lnTo>
                    <a:lnTo>
                      <a:pt x="57" y="137"/>
                    </a:lnTo>
                    <a:close/>
                    <a:moveTo>
                      <a:pt x="57" y="99"/>
                    </a:moveTo>
                    <a:lnTo>
                      <a:pt x="36" y="99"/>
                    </a:lnTo>
                    <a:lnTo>
                      <a:pt x="36" y="76"/>
                    </a:lnTo>
                    <a:lnTo>
                      <a:pt x="57" y="76"/>
                    </a:lnTo>
                    <a:lnTo>
                      <a:pt x="57" y="99"/>
                    </a:lnTo>
                    <a:close/>
                    <a:moveTo>
                      <a:pt x="57" y="61"/>
                    </a:moveTo>
                    <a:lnTo>
                      <a:pt x="36" y="61"/>
                    </a:lnTo>
                    <a:lnTo>
                      <a:pt x="36" y="36"/>
                    </a:lnTo>
                    <a:lnTo>
                      <a:pt x="57" y="36"/>
                    </a:lnTo>
                    <a:lnTo>
                      <a:pt x="57" y="61"/>
                    </a:lnTo>
                    <a:close/>
                    <a:moveTo>
                      <a:pt x="90" y="367"/>
                    </a:moveTo>
                    <a:lnTo>
                      <a:pt x="69" y="367"/>
                    </a:lnTo>
                    <a:lnTo>
                      <a:pt x="69" y="344"/>
                    </a:lnTo>
                    <a:lnTo>
                      <a:pt x="90" y="344"/>
                    </a:lnTo>
                    <a:lnTo>
                      <a:pt x="90" y="367"/>
                    </a:lnTo>
                    <a:close/>
                    <a:moveTo>
                      <a:pt x="90" y="329"/>
                    </a:moveTo>
                    <a:lnTo>
                      <a:pt x="69" y="329"/>
                    </a:lnTo>
                    <a:lnTo>
                      <a:pt x="69" y="306"/>
                    </a:lnTo>
                    <a:lnTo>
                      <a:pt x="90" y="306"/>
                    </a:lnTo>
                    <a:lnTo>
                      <a:pt x="90" y="329"/>
                    </a:lnTo>
                    <a:close/>
                    <a:moveTo>
                      <a:pt x="90" y="291"/>
                    </a:moveTo>
                    <a:lnTo>
                      <a:pt x="69" y="291"/>
                    </a:lnTo>
                    <a:lnTo>
                      <a:pt x="69" y="268"/>
                    </a:lnTo>
                    <a:lnTo>
                      <a:pt x="90" y="268"/>
                    </a:lnTo>
                    <a:lnTo>
                      <a:pt x="90" y="291"/>
                    </a:lnTo>
                    <a:close/>
                    <a:moveTo>
                      <a:pt x="90" y="253"/>
                    </a:moveTo>
                    <a:lnTo>
                      <a:pt x="69" y="253"/>
                    </a:lnTo>
                    <a:lnTo>
                      <a:pt x="69" y="228"/>
                    </a:lnTo>
                    <a:lnTo>
                      <a:pt x="90" y="228"/>
                    </a:lnTo>
                    <a:lnTo>
                      <a:pt x="90" y="253"/>
                    </a:lnTo>
                    <a:close/>
                    <a:moveTo>
                      <a:pt x="90" y="215"/>
                    </a:moveTo>
                    <a:lnTo>
                      <a:pt x="69" y="215"/>
                    </a:lnTo>
                    <a:lnTo>
                      <a:pt x="69" y="190"/>
                    </a:lnTo>
                    <a:lnTo>
                      <a:pt x="90" y="190"/>
                    </a:lnTo>
                    <a:lnTo>
                      <a:pt x="90" y="215"/>
                    </a:lnTo>
                    <a:close/>
                    <a:moveTo>
                      <a:pt x="90" y="177"/>
                    </a:moveTo>
                    <a:lnTo>
                      <a:pt x="69" y="177"/>
                    </a:lnTo>
                    <a:lnTo>
                      <a:pt x="69" y="152"/>
                    </a:lnTo>
                    <a:lnTo>
                      <a:pt x="90" y="152"/>
                    </a:lnTo>
                    <a:lnTo>
                      <a:pt x="90" y="177"/>
                    </a:lnTo>
                    <a:close/>
                    <a:moveTo>
                      <a:pt x="90" y="137"/>
                    </a:moveTo>
                    <a:lnTo>
                      <a:pt x="69" y="137"/>
                    </a:lnTo>
                    <a:lnTo>
                      <a:pt x="69" y="114"/>
                    </a:lnTo>
                    <a:lnTo>
                      <a:pt x="90" y="114"/>
                    </a:lnTo>
                    <a:lnTo>
                      <a:pt x="90" y="137"/>
                    </a:lnTo>
                    <a:close/>
                    <a:moveTo>
                      <a:pt x="90" y="99"/>
                    </a:moveTo>
                    <a:lnTo>
                      <a:pt x="69" y="99"/>
                    </a:lnTo>
                    <a:lnTo>
                      <a:pt x="69" y="76"/>
                    </a:lnTo>
                    <a:lnTo>
                      <a:pt x="90" y="76"/>
                    </a:lnTo>
                    <a:lnTo>
                      <a:pt x="90" y="99"/>
                    </a:lnTo>
                    <a:close/>
                    <a:moveTo>
                      <a:pt x="90" y="61"/>
                    </a:moveTo>
                    <a:lnTo>
                      <a:pt x="69" y="61"/>
                    </a:lnTo>
                    <a:lnTo>
                      <a:pt x="69" y="36"/>
                    </a:lnTo>
                    <a:lnTo>
                      <a:pt x="90" y="36"/>
                    </a:lnTo>
                    <a:lnTo>
                      <a:pt x="90" y="61"/>
                    </a:lnTo>
                    <a:close/>
                    <a:moveTo>
                      <a:pt x="124" y="367"/>
                    </a:moveTo>
                    <a:lnTo>
                      <a:pt x="105" y="367"/>
                    </a:lnTo>
                    <a:lnTo>
                      <a:pt x="105" y="344"/>
                    </a:lnTo>
                    <a:lnTo>
                      <a:pt x="124" y="344"/>
                    </a:lnTo>
                    <a:lnTo>
                      <a:pt x="124" y="367"/>
                    </a:lnTo>
                    <a:close/>
                    <a:moveTo>
                      <a:pt x="124" y="329"/>
                    </a:moveTo>
                    <a:lnTo>
                      <a:pt x="105" y="329"/>
                    </a:lnTo>
                    <a:lnTo>
                      <a:pt x="105" y="306"/>
                    </a:lnTo>
                    <a:lnTo>
                      <a:pt x="124" y="306"/>
                    </a:lnTo>
                    <a:lnTo>
                      <a:pt x="124" y="329"/>
                    </a:lnTo>
                    <a:close/>
                    <a:moveTo>
                      <a:pt x="124" y="291"/>
                    </a:moveTo>
                    <a:lnTo>
                      <a:pt x="105" y="291"/>
                    </a:lnTo>
                    <a:lnTo>
                      <a:pt x="105" y="268"/>
                    </a:lnTo>
                    <a:lnTo>
                      <a:pt x="124" y="268"/>
                    </a:lnTo>
                    <a:lnTo>
                      <a:pt x="124" y="291"/>
                    </a:lnTo>
                    <a:close/>
                    <a:moveTo>
                      <a:pt x="124" y="253"/>
                    </a:moveTo>
                    <a:lnTo>
                      <a:pt x="105" y="253"/>
                    </a:lnTo>
                    <a:lnTo>
                      <a:pt x="105" y="228"/>
                    </a:lnTo>
                    <a:lnTo>
                      <a:pt x="124" y="228"/>
                    </a:lnTo>
                    <a:lnTo>
                      <a:pt x="124" y="253"/>
                    </a:lnTo>
                    <a:close/>
                    <a:moveTo>
                      <a:pt x="124" y="215"/>
                    </a:moveTo>
                    <a:lnTo>
                      <a:pt x="105" y="215"/>
                    </a:lnTo>
                    <a:lnTo>
                      <a:pt x="105" y="190"/>
                    </a:lnTo>
                    <a:lnTo>
                      <a:pt x="124" y="190"/>
                    </a:lnTo>
                    <a:lnTo>
                      <a:pt x="124" y="215"/>
                    </a:lnTo>
                    <a:close/>
                    <a:moveTo>
                      <a:pt x="124" y="177"/>
                    </a:moveTo>
                    <a:lnTo>
                      <a:pt x="105" y="177"/>
                    </a:lnTo>
                    <a:lnTo>
                      <a:pt x="105" y="152"/>
                    </a:lnTo>
                    <a:lnTo>
                      <a:pt x="124" y="152"/>
                    </a:lnTo>
                    <a:lnTo>
                      <a:pt x="124" y="177"/>
                    </a:lnTo>
                    <a:close/>
                    <a:moveTo>
                      <a:pt x="124" y="137"/>
                    </a:moveTo>
                    <a:lnTo>
                      <a:pt x="105" y="137"/>
                    </a:lnTo>
                    <a:lnTo>
                      <a:pt x="105" y="114"/>
                    </a:lnTo>
                    <a:lnTo>
                      <a:pt x="124" y="114"/>
                    </a:lnTo>
                    <a:lnTo>
                      <a:pt x="124" y="137"/>
                    </a:lnTo>
                    <a:close/>
                    <a:moveTo>
                      <a:pt x="124" y="99"/>
                    </a:moveTo>
                    <a:lnTo>
                      <a:pt x="105" y="99"/>
                    </a:lnTo>
                    <a:lnTo>
                      <a:pt x="105" y="76"/>
                    </a:lnTo>
                    <a:lnTo>
                      <a:pt x="124" y="76"/>
                    </a:lnTo>
                    <a:lnTo>
                      <a:pt x="124" y="99"/>
                    </a:lnTo>
                    <a:close/>
                    <a:moveTo>
                      <a:pt x="124" y="61"/>
                    </a:moveTo>
                    <a:lnTo>
                      <a:pt x="105" y="61"/>
                    </a:lnTo>
                    <a:lnTo>
                      <a:pt x="105" y="36"/>
                    </a:lnTo>
                    <a:lnTo>
                      <a:pt x="124" y="36"/>
                    </a:lnTo>
                    <a:lnTo>
                      <a:pt x="124" y="61"/>
                    </a:lnTo>
                    <a:close/>
                  </a:path>
                </a:pathLst>
              </a:custGeom>
              <a:solidFill>
                <a:schemeClr val="accent2"/>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nvGrpSpPr>
              <p:cNvPr id="368" name="Group 367"/>
              <p:cNvGrpSpPr/>
              <p:nvPr/>
            </p:nvGrpSpPr>
            <p:grpSpPr>
              <a:xfrm rot="7231233">
                <a:off x="2468457" y="3770589"/>
                <a:ext cx="597582" cy="405991"/>
                <a:chOff x="1312173" y="2453249"/>
                <a:chExt cx="657340" cy="446590"/>
              </a:xfrm>
            </p:grpSpPr>
            <p:sp>
              <p:nvSpPr>
                <p:cNvPr id="448" name="Freeform 13"/>
                <p:cNvSpPr>
                  <a:spLocks noChangeAspect="1" noEditPoints="1"/>
                </p:cNvSpPr>
                <p:nvPr/>
              </p:nvSpPr>
              <p:spPr bwMode="auto">
                <a:xfrm>
                  <a:off x="1693341" y="2457750"/>
                  <a:ext cx="159049" cy="340035"/>
                </a:xfrm>
                <a:custGeom>
                  <a:avLst/>
                  <a:gdLst>
                    <a:gd name="T0" fmla="*/ 319 w 324"/>
                    <a:gd name="T1" fmla="*/ 352 h 706"/>
                    <a:gd name="T2" fmla="*/ 319 w 324"/>
                    <a:gd name="T3" fmla="*/ 352 h 706"/>
                    <a:gd name="T4" fmla="*/ 276 w 324"/>
                    <a:gd name="T5" fmla="*/ 200 h 706"/>
                    <a:gd name="T6" fmla="*/ 205 w 324"/>
                    <a:gd name="T7" fmla="*/ 140 h 706"/>
                    <a:gd name="T8" fmla="*/ 161 w 324"/>
                    <a:gd name="T9" fmla="*/ 140 h 706"/>
                    <a:gd name="T10" fmla="*/ 118 w 324"/>
                    <a:gd name="T11" fmla="*/ 140 h 706"/>
                    <a:gd name="T12" fmla="*/ 48 w 324"/>
                    <a:gd name="T13" fmla="*/ 200 h 706"/>
                    <a:gd name="T14" fmla="*/ 3 w 324"/>
                    <a:gd name="T15" fmla="*/ 352 h 706"/>
                    <a:gd name="T16" fmla="*/ 14 w 324"/>
                    <a:gd name="T17" fmla="*/ 385 h 706"/>
                    <a:gd name="T18" fmla="*/ 41 w 324"/>
                    <a:gd name="T19" fmla="*/ 367 h 706"/>
                    <a:gd name="T20" fmla="*/ 84 w 324"/>
                    <a:gd name="T21" fmla="*/ 219 h 706"/>
                    <a:gd name="T22" fmla="*/ 112 w 324"/>
                    <a:gd name="T23" fmla="*/ 219 h 706"/>
                    <a:gd name="T24" fmla="*/ 37 w 324"/>
                    <a:gd name="T25" fmla="*/ 484 h 706"/>
                    <a:gd name="T26" fmla="*/ 100 w 324"/>
                    <a:gd name="T27" fmla="*/ 484 h 706"/>
                    <a:gd name="T28" fmla="*/ 100 w 324"/>
                    <a:gd name="T29" fmla="*/ 484 h 706"/>
                    <a:gd name="T30" fmla="*/ 100 w 324"/>
                    <a:gd name="T31" fmla="*/ 683 h 706"/>
                    <a:gd name="T32" fmla="*/ 125 w 324"/>
                    <a:gd name="T33" fmla="*/ 706 h 706"/>
                    <a:gd name="T34" fmla="*/ 148 w 324"/>
                    <a:gd name="T35" fmla="*/ 681 h 706"/>
                    <a:gd name="T36" fmla="*/ 148 w 324"/>
                    <a:gd name="T37" fmla="*/ 484 h 706"/>
                    <a:gd name="T38" fmla="*/ 175 w 324"/>
                    <a:gd name="T39" fmla="*/ 484 h 706"/>
                    <a:gd name="T40" fmla="*/ 175 w 324"/>
                    <a:gd name="T41" fmla="*/ 681 h 706"/>
                    <a:gd name="T42" fmla="*/ 199 w 324"/>
                    <a:gd name="T43" fmla="*/ 706 h 706"/>
                    <a:gd name="T44" fmla="*/ 223 w 324"/>
                    <a:gd name="T45" fmla="*/ 683 h 706"/>
                    <a:gd name="T46" fmla="*/ 223 w 324"/>
                    <a:gd name="T47" fmla="*/ 484 h 706"/>
                    <a:gd name="T48" fmla="*/ 223 w 324"/>
                    <a:gd name="T49" fmla="*/ 484 h 706"/>
                    <a:gd name="T50" fmla="*/ 285 w 324"/>
                    <a:gd name="T51" fmla="*/ 484 h 706"/>
                    <a:gd name="T52" fmla="*/ 209 w 324"/>
                    <a:gd name="T53" fmla="*/ 219 h 706"/>
                    <a:gd name="T54" fmla="*/ 238 w 324"/>
                    <a:gd name="T55" fmla="*/ 219 h 706"/>
                    <a:gd name="T56" fmla="*/ 280 w 324"/>
                    <a:gd name="T57" fmla="*/ 367 h 706"/>
                    <a:gd name="T58" fmla="*/ 307 w 324"/>
                    <a:gd name="T59" fmla="*/ 386 h 706"/>
                    <a:gd name="T60" fmla="*/ 319 w 324"/>
                    <a:gd name="T61" fmla="*/ 352 h 706"/>
                    <a:gd name="T62" fmla="*/ 104 w 324"/>
                    <a:gd name="T63" fmla="*/ 56 h 706"/>
                    <a:gd name="T64" fmla="*/ 104 w 324"/>
                    <a:gd name="T65" fmla="*/ 56 h 706"/>
                    <a:gd name="T66" fmla="*/ 162 w 324"/>
                    <a:gd name="T67" fmla="*/ 0 h 706"/>
                    <a:gd name="T68" fmla="*/ 219 w 324"/>
                    <a:gd name="T69" fmla="*/ 56 h 706"/>
                    <a:gd name="T70" fmla="*/ 162 w 324"/>
                    <a:gd name="T71" fmla="*/ 112 h 706"/>
                    <a:gd name="T72" fmla="*/ 104 w 324"/>
                    <a:gd name="T73" fmla="*/ 56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706">
                      <a:moveTo>
                        <a:pt x="319" y="352"/>
                      </a:moveTo>
                      <a:lnTo>
                        <a:pt x="319" y="352"/>
                      </a:lnTo>
                      <a:lnTo>
                        <a:pt x="276" y="200"/>
                      </a:lnTo>
                      <a:cubicBezTo>
                        <a:pt x="258" y="138"/>
                        <a:pt x="205" y="140"/>
                        <a:pt x="205" y="140"/>
                      </a:cubicBezTo>
                      <a:lnTo>
                        <a:pt x="161" y="140"/>
                      </a:lnTo>
                      <a:lnTo>
                        <a:pt x="118" y="140"/>
                      </a:lnTo>
                      <a:cubicBezTo>
                        <a:pt x="118" y="140"/>
                        <a:pt x="65" y="138"/>
                        <a:pt x="48" y="200"/>
                      </a:cubicBezTo>
                      <a:lnTo>
                        <a:pt x="3" y="352"/>
                      </a:lnTo>
                      <a:cubicBezTo>
                        <a:pt x="0" y="367"/>
                        <a:pt x="2" y="381"/>
                        <a:pt x="14" y="385"/>
                      </a:cubicBezTo>
                      <a:cubicBezTo>
                        <a:pt x="27" y="389"/>
                        <a:pt x="38" y="379"/>
                        <a:pt x="41" y="367"/>
                      </a:cubicBezTo>
                      <a:lnTo>
                        <a:pt x="84" y="219"/>
                      </a:lnTo>
                      <a:lnTo>
                        <a:pt x="112" y="219"/>
                      </a:lnTo>
                      <a:lnTo>
                        <a:pt x="37" y="484"/>
                      </a:lnTo>
                      <a:lnTo>
                        <a:pt x="100" y="484"/>
                      </a:lnTo>
                      <a:lnTo>
                        <a:pt x="100" y="484"/>
                      </a:lnTo>
                      <a:lnTo>
                        <a:pt x="100" y="683"/>
                      </a:lnTo>
                      <a:cubicBezTo>
                        <a:pt x="100" y="697"/>
                        <a:pt x="109" y="705"/>
                        <a:pt x="125" y="706"/>
                      </a:cubicBezTo>
                      <a:cubicBezTo>
                        <a:pt x="139" y="706"/>
                        <a:pt x="148" y="696"/>
                        <a:pt x="148" y="681"/>
                      </a:cubicBezTo>
                      <a:lnTo>
                        <a:pt x="148" y="484"/>
                      </a:lnTo>
                      <a:lnTo>
                        <a:pt x="175" y="484"/>
                      </a:lnTo>
                      <a:lnTo>
                        <a:pt x="175" y="681"/>
                      </a:lnTo>
                      <a:cubicBezTo>
                        <a:pt x="175" y="696"/>
                        <a:pt x="185" y="706"/>
                        <a:pt x="199" y="706"/>
                      </a:cubicBezTo>
                      <a:cubicBezTo>
                        <a:pt x="214" y="705"/>
                        <a:pt x="223" y="697"/>
                        <a:pt x="223" y="683"/>
                      </a:cubicBezTo>
                      <a:lnTo>
                        <a:pt x="223" y="484"/>
                      </a:lnTo>
                      <a:lnTo>
                        <a:pt x="223" y="484"/>
                      </a:lnTo>
                      <a:lnTo>
                        <a:pt x="285" y="484"/>
                      </a:lnTo>
                      <a:lnTo>
                        <a:pt x="209" y="219"/>
                      </a:lnTo>
                      <a:lnTo>
                        <a:pt x="238" y="219"/>
                      </a:lnTo>
                      <a:lnTo>
                        <a:pt x="280" y="367"/>
                      </a:lnTo>
                      <a:cubicBezTo>
                        <a:pt x="284" y="379"/>
                        <a:pt x="294" y="389"/>
                        <a:pt x="307" y="386"/>
                      </a:cubicBezTo>
                      <a:cubicBezTo>
                        <a:pt x="320" y="382"/>
                        <a:pt x="324" y="367"/>
                        <a:pt x="319" y="352"/>
                      </a:cubicBezTo>
                      <a:close/>
                      <a:moveTo>
                        <a:pt x="104" y="56"/>
                      </a:moveTo>
                      <a:lnTo>
                        <a:pt x="104" y="56"/>
                      </a:lnTo>
                      <a:cubicBezTo>
                        <a:pt x="104" y="24"/>
                        <a:pt x="130" y="0"/>
                        <a:pt x="162" y="0"/>
                      </a:cubicBezTo>
                      <a:cubicBezTo>
                        <a:pt x="193" y="0"/>
                        <a:pt x="219" y="24"/>
                        <a:pt x="219" y="56"/>
                      </a:cubicBezTo>
                      <a:cubicBezTo>
                        <a:pt x="219" y="87"/>
                        <a:pt x="193" y="112"/>
                        <a:pt x="162" y="112"/>
                      </a:cubicBezTo>
                      <a:cubicBezTo>
                        <a:pt x="130" y="112"/>
                        <a:pt x="104" y="87"/>
                        <a:pt x="104" y="56"/>
                      </a:cubicBezTo>
                      <a:close/>
                    </a:path>
                  </a:pathLst>
                </a:custGeom>
                <a:solidFill>
                  <a:schemeClr val="tx2">
                    <a:lumMod val="75000"/>
                  </a:schemeClr>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9" name="Freeform 9"/>
                <p:cNvSpPr>
                  <a:spLocks noChangeAspect="1" noEditPoints="1"/>
                </p:cNvSpPr>
                <p:nvPr/>
              </p:nvSpPr>
              <p:spPr bwMode="auto">
                <a:xfrm rot="20704601" flipH="1">
                  <a:off x="1495864" y="2481030"/>
                  <a:ext cx="134458" cy="346552"/>
                </a:xfrm>
                <a:custGeom>
                  <a:avLst/>
                  <a:gdLst>
                    <a:gd name="T0" fmla="*/ 198 w 271"/>
                    <a:gd name="T1" fmla="*/ 140 h 705"/>
                    <a:gd name="T2" fmla="*/ 198 w 271"/>
                    <a:gd name="T3" fmla="*/ 140 h 705"/>
                    <a:gd name="T4" fmla="*/ 73 w 271"/>
                    <a:gd name="T5" fmla="*/ 140 h 705"/>
                    <a:gd name="T6" fmla="*/ 0 w 271"/>
                    <a:gd name="T7" fmla="*/ 213 h 705"/>
                    <a:gd name="T8" fmla="*/ 0 w 271"/>
                    <a:gd name="T9" fmla="*/ 390 h 705"/>
                    <a:gd name="T10" fmla="*/ 21 w 271"/>
                    <a:gd name="T11" fmla="*/ 414 h 705"/>
                    <a:gd name="T12" fmla="*/ 42 w 271"/>
                    <a:gd name="T13" fmla="*/ 390 h 705"/>
                    <a:gd name="T14" fmla="*/ 42 w 271"/>
                    <a:gd name="T15" fmla="*/ 230 h 705"/>
                    <a:gd name="T16" fmla="*/ 69 w 271"/>
                    <a:gd name="T17" fmla="*/ 230 h 705"/>
                    <a:gd name="T18" fmla="*/ 69 w 271"/>
                    <a:gd name="T19" fmla="*/ 676 h 705"/>
                    <a:gd name="T20" fmla="*/ 95 w 271"/>
                    <a:gd name="T21" fmla="*/ 705 h 705"/>
                    <a:gd name="T22" fmla="*/ 121 w 271"/>
                    <a:gd name="T23" fmla="*/ 676 h 705"/>
                    <a:gd name="T24" fmla="*/ 121 w 271"/>
                    <a:gd name="T25" fmla="*/ 415 h 705"/>
                    <a:gd name="T26" fmla="*/ 149 w 271"/>
                    <a:gd name="T27" fmla="*/ 415 h 705"/>
                    <a:gd name="T28" fmla="*/ 149 w 271"/>
                    <a:gd name="T29" fmla="*/ 676 h 705"/>
                    <a:gd name="T30" fmla="*/ 175 w 271"/>
                    <a:gd name="T31" fmla="*/ 705 h 705"/>
                    <a:gd name="T32" fmla="*/ 202 w 271"/>
                    <a:gd name="T33" fmla="*/ 676 h 705"/>
                    <a:gd name="T34" fmla="*/ 202 w 271"/>
                    <a:gd name="T35" fmla="*/ 230 h 705"/>
                    <a:gd name="T36" fmla="*/ 229 w 271"/>
                    <a:gd name="T37" fmla="*/ 230 h 705"/>
                    <a:gd name="T38" fmla="*/ 229 w 271"/>
                    <a:gd name="T39" fmla="*/ 390 h 705"/>
                    <a:gd name="T40" fmla="*/ 250 w 271"/>
                    <a:gd name="T41" fmla="*/ 414 h 705"/>
                    <a:gd name="T42" fmla="*/ 271 w 271"/>
                    <a:gd name="T43" fmla="*/ 390 h 705"/>
                    <a:gd name="T44" fmla="*/ 271 w 271"/>
                    <a:gd name="T45" fmla="*/ 213 h 705"/>
                    <a:gd name="T46" fmla="*/ 198 w 271"/>
                    <a:gd name="T47" fmla="*/ 140 h 705"/>
                    <a:gd name="T48" fmla="*/ 79 w 271"/>
                    <a:gd name="T49" fmla="*/ 56 h 705"/>
                    <a:gd name="T50" fmla="*/ 79 w 271"/>
                    <a:gd name="T51" fmla="*/ 56 h 705"/>
                    <a:gd name="T52" fmla="*/ 135 w 271"/>
                    <a:gd name="T53" fmla="*/ 0 h 705"/>
                    <a:gd name="T54" fmla="*/ 192 w 271"/>
                    <a:gd name="T55" fmla="*/ 56 h 705"/>
                    <a:gd name="T56" fmla="*/ 135 w 271"/>
                    <a:gd name="T57" fmla="*/ 113 h 705"/>
                    <a:gd name="T58" fmla="*/ 79 w 271"/>
                    <a:gd name="T59" fmla="*/ 56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1" h="705">
                      <a:moveTo>
                        <a:pt x="198" y="140"/>
                      </a:moveTo>
                      <a:lnTo>
                        <a:pt x="198" y="140"/>
                      </a:lnTo>
                      <a:lnTo>
                        <a:pt x="73" y="140"/>
                      </a:lnTo>
                      <a:cubicBezTo>
                        <a:pt x="32" y="140"/>
                        <a:pt x="0" y="173"/>
                        <a:pt x="0" y="213"/>
                      </a:cubicBezTo>
                      <a:lnTo>
                        <a:pt x="0" y="390"/>
                      </a:lnTo>
                      <a:cubicBezTo>
                        <a:pt x="0" y="404"/>
                        <a:pt x="7" y="414"/>
                        <a:pt x="21" y="414"/>
                      </a:cubicBezTo>
                      <a:cubicBezTo>
                        <a:pt x="34" y="414"/>
                        <a:pt x="42" y="404"/>
                        <a:pt x="42" y="390"/>
                      </a:cubicBezTo>
                      <a:lnTo>
                        <a:pt x="42" y="230"/>
                      </a:lnTo>
                      <a:lnTo>
                        <a:pt x="69" y="230"/>
                      </a:lnTo>
                      <a:cubicBezTo>
                        <a:pt x="69" y="230"/>
                        <a:pt x="69" y="649"/>
                        <a:pt x="69" y="676"/>
                      </a:cubicBezTo>
                      <a:cubicBezTo>
                        <a:pt x="69" y="695"/>
                        <a:pt x="77" y="705"/>
                        <a:pt x="95" y="705"/>
                      </a:cubicBezTo>
                      <a:cubicBezTo>
                        <a:pt x="113" y="705"/>
                        <a:pt x="121" y="695"/>
                        <a:pt x="121" y="676"/>
                      </a:cubicBezTo>
                      <a:lnTo>
                        <a:pt x="121" y="415"/>
                      </a:lnTo>
                      <a:lnTo>
                        <a:pt x="149" y="415"/>
                      </a:lnTo>
                      <a:lnTo>
                        <a:pt x="149" y="676"/>
                      </a:lnTo>
                      <a:cubicBezTo>
                        <a:pt x="149" y="695"/>
                        <a:pt x="157" y="705"/>
                        <a:pt x="175" y="705"/>
                      </a:cubicBezTo>
                      <a:cubicBezTo>
                        <a:pt x="194" y="705"/>
                        <a:pt x="202" y="695"/>
                        <a:pt x="202" y="676"/>
                      </a:cubicBezTo>
                      <a:lnTo>
                        <a:pt x="202" y="230"/>
                      </a:lnTo>
                      <a:lnTo>
                        <a:pt x="229" y="230"/>
                      </a:lnTo>
                      <a:lnTo>
                        <a:pt x="229" y="390"/>
                      </a:lnTo>
                      <a:cubicBezTo>
                        <a:pt x="229" y="404"/>
                        <a:pt x="236" y="414"/>
                        <a:pt x="250" y="414"/>
                      </a:cubicBezTo>
                      <a:cubicBezTo>
                        <a:pt x="264" y="414"/>
                        <a:pt x="271" y="404"/>
                        <a:pt x="271" y="390"/>
                      </a:cubicBezTo>
                      <a:lnTo>
                        <a:pt x="271" y="213"/>
                      </a:lnTo>
                      <a:cubicBezTo>
                        <a:pt x="271" y="173"/>
                        <a:pt x="238" y="140"/>
                        <a:pt x="198" y="140"/>
                      </a:cubicBezTo>
                      <a:close/>
                      <a:moveTo>
                        <a:pt x="79" y="56"/>
                      </a:moveTo>
                      <a:lnTo>
                        <a:pt x="79" y="56"/>
                      </a:lnTo>
                      <a:cubicBezTo>
                        <a:pt x="79" y="24"/>
                        <a:pt x="104" y="0"/>
                        <a:pt x="135" y="0"/>
                      </a:cubicBezTo>
                      <a:cubicBezTo>
                        <a:pt x="167" y="0"/>
                        <a:pt x="192" y="24"/>
                        <a:pt x="192" y="56"/>
                      </a:cubicBezTo>
                      <a:cubicBezTo>
                        <a:pt x="192" y="87"/>
                        <a:pt x="167" y="113"/>
                        <a:pt x="135" y="113"/>
                      </a:cubicBezTo>
                      <a:cubicBezTo>
                        <a:pt x="104" y="113"/>
                        <a:pt x="79" y="87"/>
                        <a:pt x="79" y="56"/>
                      </a:cubicBezTo>
                      <a:close/>
                    </a:path>
                  </a:pathLst>
                </a:custGeom>
                <a:solidFill>
                  <a:schemeClr val="tx2"/>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50" name="Freeform 9"/>
                <p:cNvSpPr>
                  <a:spLocks noChangeAspect="1" noEditPoints="1"/>
                </p:cNvSpPr>
                <p:nvPr/>
              </p:nvSpPr>
              <p:spPr bwMode="auto">
                <a:xfrm rot="20063905">
                  <a:off x="1312173" y="2534746"/>
                  <a:ext cx="141652" cy="365093"/>
                </a:xfrm>
                <a:custGeom>
                  <a:avLst/>
                  <a:gdLst>
                    <a:gd name="T0" fmla="*/ 198 w 271"/>
                    <a:gd name="T1" fmla="*/ 140 h 705"/>
                    <a:gd name="T2" fmla="*/ 198 w 271"/>
                    <a:gd name="T3" fmla="*/ 140 h 705"/>
                    <a:gd name="T4" fmla="*/ 73 w 271"/>
                    <a:gd name="T5" fmla="*/ 140 h 705"/>
                    <a:gd name="T6" fmla="*/ 0 w 271"/>
                    <a:gd name="T7" fmla="*/ 213 h 705"/>
                    <a:gd name="T8" fmla="*/ 0 w 271"/>
                    <a:gd name="T9" fmla="*/ 390 h 705"/>
                    <a:gd name="T10" fmla="*/ 21 w 271"/>
                    <a:gd name="T11" fmla="*/ 414 h 705"/>
                    <a:gd name="T12" fmla="*/ 42 w 271"/>
                    <a:gd name="T13" fmla="*/ 390 h 705"/>
                    <a:gd name="T14" fmla="*/ 42 w 271"/>
                    <a:gd name="T15" fmla="*/ 230 h 705"/>
                    <a:gd name="T16" fmla="*/ 69 w 271"/>
                    <a:gd name="T17" fmla="*/ 230 h 705"/>
                    <a:gd name="T18" fmla="*/ 69 w 271"/>
                    <a:gd name="T19" fmla="*/ 676 h 705"/>
                    <a:gd name="T20" fmla="*/ 95 w 271"/>
                    <a:gd name="T21" fmla="*/ 705 h 705"/>
                    <a:gd name="T22" fmla="*/ 121 w 271"/>
                    <a:gd name="T23" fmla="*/ 676 h 705"/>
                    <a:gd name="T24" fmla="*/ 121 w 271"/>
                    <a:gd name="T25" fmla="*/ 415 h 705"/>
                    <a:gd name="T26" fmla="*/ 149 w 271"/>
                    <a:gd name="T27" fmla="*/ 415 h 705"/>
                    <a:gd name="T28" fmla="*/ 149 w 271"/>
                    <a:gd name="T29" fmla="*/ 676 h 705"/>
                    <a:gd name="T30" fmla="*/ 175 w 271"/>
                    <a:gd name="T31" fmla="*/ 705 h 705"/>
                    <a:gd name="T32" fmla="*/ 202 w 271"/>
                    <a:gd name="T33" fmla="*/ 676 h 705"/>
                    <a:gd name="T34" fmla="*/ 202 w 271"/>
                    <a:gd name="T35" fmla="*/ 230 h 705"/>
                    <a:gd name="T36" fmla="*/ 229 w 271"/>
                    <a:gd name="T37" fmla="*/ 230 h 705"/>
                    <a:gd name="T38" fmla="*/ 229 w 271"/>
                    <a:gd name="T39" fmla="*/ 390 h 705"/>
                    <a:gd name="T40" fmla="*/ 250 w 271"/>
                    <a:gd name="T41" fmla="*/ 414 h 705"/>
                    <a:gd name="T42" fmla="*/ 271 w 271"/>
                    <a:gd name="T43" fmla="*/ 390 h 705"/>
                    <a:gd name="T44" fmla="*/ 271 w 271"/>
                    <a:gd name="T45" fmla="*/ 213 h 705"/>
                    <a:gd name="T46" fmla="*/ 198 w 271"/>
                    <a:gd name="T47" fmla="*/ 140 h 705"/>
                    <a:gd name="T48" fmla="*/ 79 w 271"/>
                    <a:gd name="T49" fmla="*/ 56 h 705"/>
                    <a:gd name="T50" fmla="*/ 79 w 271"/>
                    <a:gd name="T51" fmla="*/ 56 h 705"/>
                    <a:gd name="T52" fmla="*/ 135 w 271"/>
                    <a:gd name="T53" fmla="*/ 0 h 705"/>
                    <a:gd name="T54" fmla="*/ 192 w 271"/>
                    <a:gd name="T55" fmla="*/ 56 h 705"/>
                    <a:gd name="T56" fmla="*/ 135 w 271"/>
                    <a:gd name="T57" fmla="*/ 113 h 705"/>
                    <a:gd name="T58" fmla="*/ 79 w 271"/>
                    <a:gd name="T59" fmla="*/ 56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1" h="705">
                      <a:moveTo>
                        <a:pt x="198" y="140"/>
                      </a:moveTo>
                      <a:lnTo>
                        <a:pt x="198" y="140"/>
                      </a:lnTo>
                      <a:lnTo>
                        <a:pt x="73" y="140"/>
                      </a:lnTo>
                      <a:cubicBezTo>
                        <a:pt x="32" y="140"/>
                        <a:pt x="0" y="173"/>
                        <a:pt x="0" y="213"/>
                      </a:cubicBezTo>
                      <a:lnTo>
                        <a:pt x="0" y="390"/>
                      </a:lnTo>
                      <a:cubicBezTo>
                        <a:pt x="0" y="404"/>
                        <a:pt x="7" y="414"/>
                        <a:pt x="21" y="414"/>
                      </a:cubicBezTo>
                      <a:cubicBezTo>
                        <a:pt x="34" y="414"/>
                        <a:pt x="42" y="404"/>
                        <a:pt x="42" y="390"/>
                      </a:cubicBezTo>
                      <a:lnTo>
                        <a:pt x="42" y="230"/>
                      </a:lnTo>
                      <a:lnTo>
                        <a:pt x="69" y="230"/>
                      </a:lnTo>
                      <a:cubicBezTo>
                        <a:pt x="69" y="230"/>
                        <a:pt x="69" y="649"/>
                        <a:pt x="69" y="676"/>
                      </a:cubicBezTo>
                      <a:cubicBezTo>
                        <a:pt x="69" y="695"/>
                        <a:pt x="77" y="705"/>
                        <a:pt x="95" y="705"/>
                      </a:cubicBezTo>
                      <a:cubicBezTo>
                        <a:pt x="113" y="705"/>
                        <a:pt x="121" y="695"/>
                        <a:pt x="121" y="676"/>
                      </a:cubicBezTo>
                      <a:lnTo>
                        <a:pt x="121" y="415"/>
                      </a:lnTo>
                      <a:lnTo>
                        <a:pt x="149" y="415"/>
                      </a:lnTo>
                      <a:lnTo>
                        <a:pt x="149" y="676"/>
                      </a:lnTo>
                      <a:cubicBezTo>
                        <a:pt x="149" y="695"/>
                        <a:pt x="157" y="705"/>
                        <a:pt x="175" y="705"/>
                      </a:cubicBezTo>
                      <a:cubicBezTo>
                        <a:pt x="194" y="705"/>
                        <a:pt x="202" y="695"/>
                        <a:pt x="202" y="676"/>
                      </a:cubicBezTo>
                      <a:lnTo>
                        <a:pt x="202" y="230"/>
                      </a:lnTo>
                      <a:lnTo>
                        <a:pt x="229" y="230"/>
                      </a:lnTo>
                      <a:lnTo>
                        <a:pt x="229" y="390"/>
                      </a:lnTo>
                      <a:cubicBezTo>
                        <a:pt x="229" y="404"/>
                        <a:pt x="236" y="414"/>
                        <a:pt x="250" y="414"/>
                      </a:cubicBezTo>
                      <a:cubicBezTo>
                        <a:pt x="264" y="414"/>
                        <a:pt x="271" y="404"/>
                        <a:pt x="271" y="390"/>
                      </a:cubicBezTo>
                      <a:lnTo>
                        <a:pt x="271" y="213"/>
                      </a:lnTo>
                      <a:cubicBezTo>
                        <a:pt x="271" y="173"/>
                        <a:pt x="238" y="140"/>
                        <a:pt x="198" y="140"/>
                      </a:cubicBezTo>
                      <a:close/>
                      <a:moveTo>
                        <a:pt x="79" y="56"/>
                      </a:moveTo>
                      <a:lnTo>
                        <a:pt x="79" y="56"/>
                      </a:lnTo>
                      <a:cubicBezTo>
                        <a:pt x="79" y="24"/>
                        <a:pt x="104" y="0"/>
                        <a:pt x="135" y="0"/>
                      </a:cubicBezTo>
                      <a:cubicBezTo>
                        <a:pt x="167" y="0"/>
                        <a:pt x="192" y="24"/>
                        <a:pt x="192" y="56"/>
                      </a:cubicBezTo>
                      <a:cubicBezTo>
                        <a:pt x="192" y="87"/>
                        <a:pt x="167" y="113"/>
                        <a:pt x="135" y="113"/>
                      </a:cubicBezTo>
                      <a:cubicBezTo>
                        <a:pt x="104" y="113"/>
                        <a:pt x="79" y="87"/>
                        <a:pt x="79" y="56"/>
                      </a:cubicBezTo>
                      <a:close/>
                    </a:path>
                  </a:pathLst>
                </a:custGeom>
                <a:solidFill>
                  <a:srgbClr val="C4D600"/>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51" name="Freeform 13"/>
                <p:cNvSpPr>
                  <a:spLocks noChangeAspect="1" noEditPoints="1"/>
                </p:cNvSpPr>
                <p:nvPr/>
              </p:nvSpPr>
              <p:spPr bwMode="auto">
                <a:xfrm rot="20537912">
                  <a:off x="1426401" y="2514195"/>
                  <a:ext cx="159049" cy="340035"/>
                </a:xfrm>
                <a:custGeom>
                  <a:avLst/>
                  <a:gdLst>
                    <a:gd name="T0" fmla="*/ 319 w 324"/>
                    <a:gd name="T1" fmla="*/ 352 h 706"/>
                    <a:gd name="T2" fmla="*/ 319 w 324"/>
                    <a:gd name="T3" fmla="*/ 352 h 706"/>
                    <a:gd name="T4" fmla="*/ 276 w 324"/>
                    <a:gd name="T5" fmla="*/ 200 h 706"/>
                    <a:gd name="T6" fmla="*/ 205 w 324"/>
                    <a:gd name="T7" fmla="*/ 140 h 706"/>
                    <a:gd name="T8" fmla="*/ 161 w 324"/>
                    <a:gd name="T9" fmla="*/ 140 h 706"/>
                    <a:gd name="T10" fmla="*/ 118 w 324"/>
                    <a:gd name="T11" fmla="*/ 140 h 706"/>
                    <a:gd name="T12" fmla="*/ 48 w 324"/>
                    <a:gd name="T13" fmla="*/ 200 h 706"/>
                    <a:gd name="T14" fmla="*/ 3 w 324"/>
                    <a:gd name="T15" fmla="*/ 352 h 706"/>
                    <a:gd name="T16" fmla="*/ 14 w 324"/>
                    <a:gd name="T17" fmla="*/ 385 h 706"/>
                    <a:gd name="T18" fmla="*/ 41 w 324"/>
                    <a:gd name="T19" fmla="*/ 367 h 706"/>
                    <a:gd name="T20" fmla="*/ 84 w 324"/>
                    <a:gd name="T21" fmla="*/ 219 h 706"/>
                    <a:gd name="T22" fmla="*/ 112 w 324"/>
                    <a:gd name="T23" fmla="*/ 219 h 706"/>
                    <a:gd name="T24" fmla="*/ 37 w 324"/>
                    <a:gd name="T25" fmla="*/ 484 h 706"/>
                    <a:gd name="T26" fmla="*/ 100 w 324"/>
                    <a:gd name="T27" fmla="*/ 484 h 706"/>
                    <a:gd name="T28" fmla="*/ 100 w 324"/>
                    <a:gd name="T29" fmla="*/ 484 h 706"/>
                    <a:gd name="T30" fmla="*/ 100 w 324"/>
                    <a:gd name="T31" fmla="*/ 683 h 706"/>
                    <a:gd name="T32" fmla="*/ 125 w 324"/>
                    <a:gd name="T33" fmla="*/ 706 h 706"/>
                    <a:gd name="T34" fmla="*/ 148 w 324"/>
                    <a:gd name="T35" fmla="*/ 681 h 706"/>
                    <a:gd name="T36" fmla="*/ 148 w 324"/>
                    <a:gd name="T37" fmla="*/ 484 h 706"/>
                    <a:gd name="T38" fmla="*/ 175 w 324"/>
                    <a:gd name="T39" fmla="*/ 484 h 706"/>
                    <a:gd name="T40" fmla="*/ 175 w 324"/>
                    <a:gd name="T41" fmla="*/ 681 h 706"/>
                    <a:gd name="T42" fmla="*/ 199 w 324"/>
                    <a:gd name="T43" fmla="*/ 706 h 706"/>
                    <a:gd name="T44" fmla="*/ 223 w 324"/>
                    <a:gd name="T45" fmla="*/ 683 h 706"/>
                    <a:gd name="T46" fmla="*/ 223 w 324"/>
                    <a:gd name="T47" fmla="*/ 484 h 706"/>
                    <a:gd name="T48" fmla="*/ 223 w 324"/>
                    <a:gd name="T49" fmla="*/ 484 h 706"/>
                    <a:gd name="T50" fmla="*/ 285 w 324"/>
                    <a:gd name="T51" fmla="*/ 484 h 706"/>
                    <a:gd name="T52" fmla="*/ 209 w 324"/>
                    <a:gd name="T53" fmla="*/ 219 h 706"/>
                    <a:gd name="T54" fmla="*/ 238 w 324"/>
                    <a:gd name="T55" fmla="*/ 219 h 706"/>
                    <a:gd name="T56" fmla="*/ 280 w 324"/>
                    <a:gd name="T57" fmla="*/ 367 h 706"/>
                    <a:gd name="T58" fmla="*/ 307 w 324"/>
                    <a:gd name="T59" fmla="*/ 386 h 706"/>
                    <a:gd name="T60" fmla="*/ 319 w 324"/>
                    <a:gd name="T61" fmla="*/ 352 h 706"/>
                    <a:gd name="T62" fmla="*/ 104 w 324"/>
                    <a:gd name="T63" fmla="*/ 56 h 706"/>
                    <a:gd name="T64" fmla="*/ 104 w 324"/>
                    <a:gd name="T65" fmla="*/ 56 h 706"/>
                    <a:gd name="T66" fmla="*/ 162 w 324"/>
                    <a:gd name="T67" fmla="*/ 0 h 706"/>
                    <a:gd name="T68" fmla="*/ 219 w 324"/>
                    <a:gd name="T69" fmla="*/ 56 h 706"/>
                    <a:gd name="T70" fmla="*/ 162 w 324"/>
                    <a:gd name="T71" fmla="*/ 112 h 706"/>
                    <a:gd name="T72" fmla="*/ 104 w 324"/>
                    <a:gd name="T73" fmla="*/ 56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706">
                      <a:moveTo>
                        <a:pt x="319" y="352"/>
                      </a:moveTo>
                      <a:lnTo>
                        <a:pt x="319" y="352"/>
                      </a:lnTo>
                      <a:lnTo>
                        <a:pt x="276" y="200"/>
                      </a:lnTo>
                      <a:cubicBezTo>
                        <a:pt x="258" y="138"/>
                        <a:pt x="205" y="140"/>
                        <a:pt x="205" y="140"/>
                      </a:cubicBezTo>
                      <a:lnTo>
                        <a:pt x="161" y="140"/>
                      </a:lnTo>
                      <a:lnTo>
                        <a:pt x="118" y="140"/>
                      </a:lnTo>
                      <a:cubicBezTo>
                        <a:pt x="118" y="140"/>
                        <a:pt x="65" y="138"/>
                        <a:pt x="48" y="200"/>
                      </a:cubicBezTo>
                      <a:lnTo>
                        <a:pt x="3" y="352"/>
                      </a:lnTo>
                      <a:cubicBezTo>
                        <a:pt x="0" y="367"/>
                        <a:pt x="2" y="381"/>
                        <a:pt x="14" y="385"/>
                      </a:cubicBezTo>
                      <a:cubicBezTo>
                        <a:pt x="27" y="389"/>
                        <a:pt x="38" y="379"/>
                        <a:pt x="41" y="367"/>
                      </a:cubicBezTo>
                      <a:lnTo>
                        <a:pt x="84" y="219"/>
                      </a:lnTo>
                      <a:lnTo>
                        <a:pt x="112" y="219"/>
                      </a:lnTo>
                      <a:lnTo>
                        <a:pt x="37" y="484"/>
                      </a:lnTo>
                      <a:lnTo>
                        <a:pt x="100" y="484"/>
                      </a:lnTo>
                      <a:lnTo>
                        <a:pt x="100" y="484"/>
                      </a:lnTo>
                      <a:lnTo>
                        <a:pt x="100" y="683"/>
                      </a:lnTo>
                      <a:cubicBezTo>
                        <a:pt x="100" y="697"/>
                        <a:pt x="109" y="705"/>
                        <a:pt x="125" y="706"/>
                      </a:cubicBezTo>
                      <a:cubicBezTo>
                        <a:pt x="139" y="706"/>
                        <a:pt x="148" y="696"/>
                        <a:pt x="148" y="681"/>
                      </a:cubicBezTo>
                      <a:lnTo>
                        <a:pt x="148" y="484"/>
                      </a:lnTo>
                      <a:lnTo>
                        <a:pt x="175" y="484"/>
                      </a:lnTo>
                      <a:lnTo>
                        <a:pt x="175" y="681"/>
                      </a:lnTo>
                      <a:cubicBezTo>
                        <a:pt x="175" y="696"/>
                        <a:pt x="185" y="706"/>
                        <a:pt x="199" y="706"/>
                      </a:cubicBezTo>
                      <a:cubicBezTo>
                        <a:pt x="214" y="705"/>
                        <a:pt x="223" y="697"/>
                        <a:pt x="223" y="683"/>
                      </a:cubicBezTo>
                      <a:lnTo>
                        <a:pt x="223" y="484"/>
                      </a:lnTo>
                      <a:lnTo>
                        <a:pt x="223" y="484"/>
                      </a:lnTo>
                      <a:lnTo>
                        <a:pt x="285" y="484"/>
                      </a:lnTo>
                      <a:lnTo>
                        <a:pt x="209" y="219"/>
                      </a:lnTo>
                      <a:lnTo>
                        <a:pt x="238" y="219"/>
                      </a:lnTo>
                      <a:lnTo>
                        <a:pt x="280" y="367"/>
                      </a:lnTo>
                      <a:cubicBezTo>
                        <a:pt x="284" y="379"/>
                        <a:pt x="294" y="389"/>
                        <a:pt x="307" y="386"/>
                      </a:cubicBezTo>
                      <a:cubicBezTo>
                        <a:pt x="320" y="382"/>
                        <a:pt x="324" y="367"/>
                        <a:pt x="319" y="352"/>
                      </a:cubicBezTo>
                      <a:close/>
                      <a:moveTo>
                        <a:pt x="104" y="56"/>
                      </a:moveTo>
                      <a:lnTo>
                        <a:pt x="104" y="56"/>
                      </a:lnTo>
                      <a:cubicBezTo>
                        <a:pt x="104" y="24"/>
                        <a:pt x="130" y="0"/>
                        <a:pt x="162" y="0"/>
                      </a:cubicBezTo>
                      <a:cubicBezTo>
                        <a:pt x="193" y="0"/>
                        <a:pt x="219" y="24"/>
                        <a:pt x="219" y="56"/>
                      </a:cubicBezTo>
                      <a:cubicBezTo>
                        <a:pt x="219" y="87"/>
                        <a:pt x="193" y="112"/>
                        <a:pt x="162" y="112"/>
                      </a:cubicBezTo>
                      <a:cubicBezTo>
                        <a:pt x="130" y="112"/>
                        <a:pt x="104" y="87"/>
                        <a:pt x="104" y="56"/>
                      </a:cubicBezTo>
                      <a:close/>
                    </a:path>
                  </a:pathLst>
                </a:custGeom>
                <a:solidFill>
                  <a:schemeClr val="accent1"/>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52" name="Freeform 9"/>
                <p:cNvSpPr>
                  <a:spLocks noChangeAspect="1" noEditPoints="1"/>
                </p:cNvSpPr>
                <p:nvPr/>
              </p:nvSpPr>
              <p:spPr bwMode="auto">
                <a:xfrm rot="21384473">
                  <a:off x="1579902" y="2453249"/>
                  <a:ext cx="141652" cy="365093"/>
                </a:xfrm>
                <a:custGeom>
                  <a:avLst/>
                  <a:gdLst>
                    <a:gd name="T0" fmla="*/ 198 w 271"/>
                    <a:gd name="T1" fmla="*/ 140 h 705"/>
                    <a:gd name="T2" fmla="*/ 198 w 271"/>
                    <a:gd name="T3" fmla="*/ 140 h 705"/>
                    <a:gd name="T4" fmla="*/ 73 w 271"/>
                    <a:gd name="T5" fmla="*/ 140 h 705"/>
                    <a:gd name="T6" fmla="*/ 0 w 271"/>
                    <a:gd name="T7" fmla="*/ 213 h 705"/>
                    <a:gd name="T8" fmla="*/ 0 w 271"/>
                    <a:gd name="T9" fmla="*/ 390 h 705"/>
                    <a:gd name="T10" fmla="*/ 21 w 271"/>
                    <a:gd name="T11" fmla="*/ 414 h 705"/>
                    <a:gd name="T12" fmla="*/ 42 w 271"/>
                    <a:gd name="T13" fmla="*/ 390 h 705"/>
                    <a:gd name="T14" fmla="*/ 42 w 271"/>
                    <a:gd name="T15" fmla="*/ 230 h 705"/>
                    <a:gd name="T16" fmla="*/ 69 w 271"/>
                    <a:gd name="T17" fmla="*/ 230 h 705"/>
                    <a:gd name="T18" fmla="*/ 69 w 271"/>
                    <a:gd name="T19" fmla="*/ 676 h 705"/>
                    <a:gd name="T20" fmla="*/ 95 w 271"/>
                    <a:gd name="T21" fmla="*/ 705 h 705"/>
                    <a:gd name="T22" fmla="*/ 121 w 271"/>
                    <a:gd name="T23" fmla="*/ 676 h 705"/>
                    <a:gd name="T24" fmla="*/ 121 w 271"/>
                    <a:gd name="T25" fmla="*/ 415 h 705"/>
                    <a:gd name="T26" fmla="*/ 149 w 271"/>
                    <a:gd name="T27" fmla="*/ 415 h 705"/>
                    <a:gd name="T28" fmla="*/ 149 w 271"/>
                    <a:gd name="T29" fmla="*/ 676 h 705"/>
                    <a:gd name="T30" fmla="*/ 175 w 271"/>
                    <a:gd name="T31" fmla="*/ 705 h 705"/>
                    <a:gd name="T32" fmla="*/ 202 w 271"/>
                    <a:gd name="T33" fmla="*/ 676 h 705"/>
                    <a:gd name="T34" fmla="*/ 202 w 271"/>
                    <a:gd name="T35" fmla="*/ 230 h 705"/>
                    <a:gd name="T36" fmla="*/ 229 w 271"/>
                    <a:gd name="T37" fmla="*/ 230 h 705"/>
                    <a:gd name="T38" fmla="*/ 229 w 271"/>
                    <a:gd name="T39" fmla="*/ 390 h 705"/>
                    <a:gd name="T40" fmla="*/ 250 w 271"/>
                    <a:gd name="T41" fmla="*/ 414 h 705"/>
                    <a:gd name="T42" fmla="*/ 271 w 271"/>
                    <a:gd name="T43" fmla="*/ 390 h 705"/>
                    <a:gd name="T44" fmla="*/ 271 w 271"/>
                    <a:gd name="T45" fmla="*/ 213 h 705"/>
                    <a:gd name="T46" fmla="*/ 198 w 271"/>
                    <a:gd name="T47" fmla="*/ 140 h 705"/>
                    <a:gd name="T48" fmla="*/ 79 w 271"/>
                    <a:gd name="T49" fmla="*/ 56 h 705"/>
                    <a:gd name="T50" fmla="*/ 79 w 271"/>
                    <a:gd name="T51" fmla="*/ 56 h 705"/>
                    <a:gd name="T52" fmla="*/ 135 w 271"/>
                    <a:gd name="T53" fmla="*/ 0 h 705"/>
                    <a:gd name="T54" fmla="*/ 192 w 271"/>
                    <a:gd name="T55" fmla="*/ 56 h 705"/>
                    <a:gd name="T56" fmla="*/ 135 w 271"/>
                    <a:gd name="T57" fmla="*/ 113 h 705"/>
                    <a:gd name="T58" fmla="*/ 79 w 271"/>
                    <a:gd name="T59" fmla="*/ 56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1" h="705">
                      <a:moveTo>
                        <a:pt x="198" y="140"/>
                      </a:moveTo>
                      <a:lnTo>
                        <a:pt x="198" y="140"/>
                      </a:lnTo>
                      <a:lnTo>
                        <a:pt x="73" y="140"/>
                      </a:lnTo>
                      <a:cubicBezTo>
                        <a:pt x="32" y="140"/>
                        <a:pt x="0" y="173"/>
                        <a:pt x="0" y="213"/>
                      </a:cubicBezTo>
                      <a:lnTo>
                        <a:pt x="0" y="390"/>
                      </a:lnTo>
                      <a:cubicBezTo>
                        <a:pt x="0" y="404"/>
                        <a:pt x="7" y="414"/>
                        <a:pt x="21" y="414"/>
                      </a:cubicBezTo>
                      <a:cubicBezTo>
                        <a:pt x="34" y="414"/>
                        <a:pt x="42" y="404"/>
                        <a:pt x="42" y="390"/>
                      </a:cubicBezTo>
                      <a:lnTo>
                        <a:pt x="42" y="230"/>
                      </a:lnTo>
                      <a:lnTo>
                        <a:pt x="69" y="230"/>
                      </a:lnTo>
                      <a:cubicBezTo>
                        <a:pt x="69" y="230"/>
                        <a:pt x="69" y="649"/>
                        <a:pt x="69" y="676"/>
                      </a:cubicBezTo>
                      <a:cubicBezTo>
                        <a:pt x="69" y="695"/>
                        <a:pt x="77" y="705"/>
                        <a:pt x="95" y="705"/>
                      </a:cubicBezTo>
                      <a:cubicBezTo>
                        <a:pt x="113" y="705"/>
                        <a:pt x="121" y="695"/>
                        <a:pt x="121" y="676"/>
                      </a:cubicBezTo>
                      <a:lnTo>
                        <a:pt x="121" y="415"/>
                      </a:lnTo>
                      <a:lnTo>
                        <a:pt x="149" y="415"/>
                      </a:lnTo>
                      <a:lnTo>
                        <a:pt x="149" y="676"/>
                      </a:lnTo>
                      <a:cubicBezTo>
                        <a:pt x="149" y="695"/>
                        <a:pt x="157" y="705"/>
                        <a:pt x="175" y="705"/>
                      </a:cubicBezTo>
                      <a:cubicBezTo>
                        <a:pt x="194" y="705"/>
                        <a:pt x="202" y="695"/>
                        <a:pt x="202" y="676"/>
                      </a:cubicBezTo>
                      <a:lnTo>
                        <a:pt x="202" y="230"/>
                      </a:lnTo>
                      <a:lnTo>
                        <a:pt x="229" y="230"/>
                      </a:lnTo>
                      <a:lnTo>
                        <a:pt x="229" y="390"/>
                      </a:lnTo>
                      <a:cubicBezTo>
                        <a:pt x="229" y="404"/>
                        <a:pt x="236" y="414"/>
                        <a:pt x="250" y="414"/>
                      </a:cubicBezTo>
                      <a:cubicBezTo>
                        <a:pt x="264" y="414"/>
                        <a:pt x="271" y="404"/>
                        <a:pt x="271" y="390"/>
                      </a:cubicBezTo>
                      <a:lnTo>
                        <a:pt x="271" y="213"/>
                      </a:lnTo>
                      <a:cubicBezTo>
                        <a:pt x="271" y="173"/>
                        <a:pt x="238" y="140"/>
                        <a:pt x="198" y="140"/>
                      </a:cubicBezTo>
                      <a:close/>
                      <a:moveTo>
                        <a:pt x="79" y="56"/>
                      </a:moveTo>
                      <a:lnTo>
                        <a:pt x="79" y="56"/>
                      </a:lnTo>
                      <a:cubicBezTo>
                        <a:pt x="79" y="24"/>
                        <a:pt x="104" y="0"/>
                        <a:pt x="135" y="0"/>
                      </a:cubicBezTo>
                      <a:cubicBezTo>
                        <a:pt x="167" y="0"/>
                        <a:pt x="192" y="24"/>
                        <a:pt x="192" y="56"/>
                      </a:cubicBezTo>
                      <a:cubicBezTo>
                        <a:pt x="192" y="87"/>
                        <a:pt x="167" y="113"/>
                        <a:pt x="135" y="113"/>
                      </a:cubicBezTo>
                      <a:cubicBezTo>
                        <a:pt x="104" y="113"/>
                        <a:pt x="79" y="87"/>
                        <a:pt x="79" y="56"/>
                      </a:cubicBezTo>
                      <a:close/>
                    </a:path>
                  </a:pathLst>
                </a:custGeom>
                <a:solidFill>
                  <a:schemeClr val="accent2"/>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53" name="Freeform 13"/>
                <p:cNvSpPr>
                  <a:spLocks noChangeAspect="1" noEditPoints="1"/>
                </p:cNvSpPr>
                <p:nvPr/>
              </p:nvSpPr>
              <p:spPr bwMode="auto">
                <a:xfrm rot="438619">
                  <a:off x="1810464" y="2463014"/>
                  <a:ext cx="159049" cy="340035"/>
                </a:xfrm>
                <a:custGeom>
                  <a:avLst/>
                  <a:gdLst>
                    <a:gd name="T0" fmla="*/ 319 w 324"/>
                    <a:gd name="T1" fmla="*/ 352 h 706"/>
                    <a:gd name="T2" fmla="*/ 319 w 324"/>
                    <a:gd name="T3" fmla="*/ 352 h 706"/>
                    <a:gd name="T4" fmla="*/ 276 w 324"/>
                    <a:gd name="T5" fmla="*/ 200 h 706"/>
                    <a:gd name="T6" fmla="*/ 205 w 324"/>
                    <a:gd name="T7" fmla="*/ 140 h 706"/>
                    <a:gd name="T8" fmla="*/ 161 w 324"/>
                    <a:gd name="T9" fmla="*/ 140 h 706"/>
                    <a:gd name="T10" fmla="*/ 118 w 324"/>
                    <a:gd name="T11" fmla="*/ 140 h 706"/>
                    <a:gd name="T12" fmla="*/ 48 w 324"/>
                    <a:gd name="T13" fmla="*/ 200 h 706"/>
                    <a:gd name="T14" fmla="*/ 3 w 324"/>
                    <a:gd name="T15" fmla="*/ 352 h 706"/>
                    <a:gd name="T16" fmla="*/ 14 w 324"/>
                    <a:gd name="T17" fmla="*/ 385 h 706"/>
                    <a:gd name="T18" fmla="*/ 41 w 324"/>
                    <a:gd name="T19" fmla="*/ 367 h 706"/>
                    <a:gd name="T20" fmla="*/ 84 w 324"/>
                    <a:gd name="T21" fmla="*/ 219 h 706"/>
                    <a:gd name="T22" fmla="*/ 112 w 324"/>
                    <a:gd name="T23" fmla="*/ 219 h 706"/>
                    <a:gd name="T24" fmla="*/ 37 w 324"/>
                    <a:gd name="T25" fmla="*/ 484 h 706"/>
                    <a:gd name="T26" fmla="*/ 100 w 324"/>
                    <a:gd name="T27" fmla="*/ 484 h 706"/>
                    <a:gd name="T28" fmla="*/ 100 w 324"/>
                    <a:gd name="T29" fmla="*/ 484 h 706"/>
                    <a:gd name="T30" fmla="*/ 100 w 324"/>
                    <a:gd name="T31" fmla="*/ 683 h 706"/>
                    <a:gd name="T32" fmla="*/ 125 w 324"/>
                    <a:gd name="T33" fmla="*/ 706 h 706"/>
                    <a:gd name="T34" fmla="*/ 148 w 324"/>
                    <a:gd name="T35" fmla="*/ 681 h 706"/>
                    <a:gd name="T36" fmla="*/ 148 w 324"/>
                    <a:gd name="T37" fmla="*/ 484 h 706"/>
                    <a:gd name="T38" fmla="*/ 175 w 324"/>
                    <a:gd name="T39" fmla="*/ 484 h 706"/>
                    <a:gd name="T40" fmla="*/ 175 w 324"/>
                    <a:gd name="T41" fmla="*/ 681 h 706"/>
                    <a:gd name="T42" fmla="*/ 199 w 324"/>
                    <a:gd name="T43" fmla="*/ 706 h 706"/>
                    <a:gd name="T44" fmla="*/ 223 w 324"/>
                    <a:gd name="T45" fmla="*/ 683 h 706"/>
                    <a:gd name="T46" fmla="*/ 223 w 324"/>
                    <a:gd name="T47" fmla="*/ 484 h 706"/>
                    <a:gd name="T48" fmla="*/ 223 w 324"/>
                    <a:gd name="T49" fmla="*/ 484 h 706"/>
                    <a:gd name="T50" fmla="*/ 285 w 324"/>
                    <a:gd name="T51" fmla="*/ 484 h 706"/>
                    <a:gd name="T52" fmla="*/ 209 w 324"/>
                    <a:gd name="T53" fmla="*/ 219 h 706"/>
                    <a:gd name="T54" fmla="*/ 238 w 324"/>
                    <a:gd name="T55" fmla="*/ 219 h 706"/>
                    <a:gd name="T56" fmla="*/ 280 w 324"/>
                    <a:gd name="T57" fmla="*/ 367 h 706"/>
                    <a:gd name="T58" fmla="*/ 307 w 324"/>
                    <a:gd name="T59" fmla="*/ 386 h 706"/>
                    <a:gd name="T60" fmla="*/ 319 w 324"/>
                    <a:gd name="T61" fmla="*/ 352 h 706"/>
                    <a:gd name="T62" fmla="*/ 104 w 324"/>
                    <a:gd name="T63" fmla="*/ 56 h 706"/>
                    <a:gd name="T64" fmla="*/ 104 w 324"/>
                    <a:gd name="T65" fmla="*/ 56 h 706"/>
                    <a:gd name="T66" fmla="*/ 162 w 324"/>
                    <a:gd name="T67" fmla="*/ 0 h 706"/>
                    <a:gd name="T68" fmla="*/ 219 w 324"/>
                    <a:gd name="T69" fmla="*/ 56 h 706"/>
                    <a:gd name="T70" fmla="*/ 162 w 324"/>
                    <a:gd name="T71" fmla="*/ 112 h 706"/>
                    <a:gd name="T72" fmla="*/ 104 w 324"/>
                    <a:gd name="T73" fmla="*/ 56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706">
                      <a:moveTo>
                        <a:pt x="319" y="352"/>
                      </a:moveTo>
                      <a:lnTo>
                        <a:pt x="319" y="352"/>
                      </a:lnTo>
                      <a:lnTo>
                        <a:pt x="276" y="200"/>
                      </a:lnTo>
                      <a:cubicBezTo>
                        <a:pt x="258" y="138"/>
                        <a:pt x="205" y="140"/>
                        <a:pt x="205" y="140"/>
                      </a:cubicBezTo>
                      <a:lnTo>
                        <a:pt x="161" y="140"/>
                      </a:lnTo>
                      <a:lnTo>
                        <a:pt x="118" y="140"/>
                      </a:lnTo>
                      <a:cubicBezTo>
                        <a:pt x="118" y="140"/>
                        <a:pt x="65" y="138"/>
                        <a:pt x="48" y="200"/>
                      </a:cubicBezTo>
                      <a:lnTo>
                        <a:pt x="3" y="352"/>
                      </a:lnTo>
                      <a:cubicBezTo>
                        <a:pt x="0" y="367"/>
                        <a:pt x="2" y="381"/>
                        <a:pt x="14" y="385"/>
                      </a:cubicBezTo>
                      <a:cubicBezTo>
                        <a:pt x="27" y="389"/>
                        <a:pt x="38" y="379"/>
                        <a:pt x="41" y="367"/>
                      </a:cubicBezTo>
                      <a:lnTo>
                        <a:pt x="84" y="219"/>
                      </a:lnTo>
                      <a:lnTo>
                        <a:pt x="112" y="219"/>
                      </a:lnTo>
                      <a:lnTo>
                        <a:pt x="37" y="484"/>
                      </a:lnTo>
                      <a:lnTo>
                        <a:pt x="100" y="484"/>
                      </a:lnTo>
                      <a:lnTo>
                        <a:pt x="100" y="484"/>
                      </a:lnTo>
                      <a:lnTo>
                        <a:pt x="100" y="683"/>
                      </a:lnTo>
                      <a:cubicBezTo>
                        <a:pt x="100" y="697"/>
                        <a:pt x="109" y="705"/>
                        <a:pt x="125" y="706"/>
                      </a:cubicBezTo>
                      <a:cubicBezTo>
                        <a:pt x="139" y="706"/>
                        <a:pt x="148" y="696"/>
                        <a:pt x="148" y="681"/>
                      </a:cubicBezTo>
                      <a:lnTo>
                        <a:pt x="148" y="484"/>
                      </a:lnTo>
                      <a:lnTo>
                        <a:pt x="175" y="484"/>
                      </a:lnTo>
                      <a:lnTo>
                        <a:pt x="175" y="681"/>
                      </a:lnTo>
                      <a:cubicBezTo>
                        <a:pt x="175" y="696"/>
                        <a:pt x="185" y="706"/>
                        <a:pt x="199" y="706"/>
                      </a:cubicBezTo>
                      <a:cubicBezTo>
                        <a:pt x="214" y="705"/>
                        <a:pt x="223" y="697"/>
                        <a:pt x="223" y="683"/>
                      </a:cubicBezTo>
                      <a:lnTo>
                        <a:pt x="223" y="484"/>
                      </a:lnTo>
                      <a:lnTo>
                        <a:pt x="223" y="484"/>
                      </a:lnTo>
                      <a:lnTo>
                        <a:pt x="285" y="484"/>
                      </a:lnTo>
                      <a:lnTo>
                        <a:pt x="209" y="219"/>
                      </a:lnTo>
                      <a:lnTo>
                        <a:pt x="238" y="219"/>
                      </a:lnTo>
                      <a:lnTo>
                        <a:pt x="280" y="367"/>
                      </a:lnTo>
                      <a:cubicBezTo>
                        <a:pt x="284" y="379"/>
                        <a:pt x="294" y="389"/>
                        <a:pt x="307" y="386"/>
                      </a:cubicBezTo>
                      <a:cubicBezTo>
                        <a:pt x="320" y="382"/>
                        <a:pt x="324" y="367"/>
                        <a:pt x="319" y="352"/>
                      </a:cubicBezTo>
                      <a:close/>
                      <a:moveTo>
                        <a:pt x="104" y="56"/>
                      </a:moveTo>
                      <a:lnTo>
                        <a:pt x="104" y="56"/>
                      </a:lnTo>
                      <a:cubicBezTo>
                        <a:pt x="104" y="24"/>
                        <a:pt x="130" y="0"/>
                        <a:pt x="162" y="0"/>
                      </a:cubicBezTo>
                      <a:cubicBezTo>
                        <a:pt x="193" y="0"/>
                        <a:pt x="219" y="24"/>
                        <a:pt x="219" y="56"/>
                      </a:cubicBezTo>
                      <a:cubicBezTo>
                        <a:pt x="219" y="87"/>
                        <a:pt x="193" y="112"/>
                        <a:pt x="162" y="112"/>
                      </a:cubicBezTo>
                      <a:cubicBezTo>
                        <a:pt x="130" y="112"/>
                        <a:pt x="104" y="87"/>
                        <a:pt x="104" y="56"/>
                      </a:cubicBezTo>
                      <a:close/>
                    </a:path>
                  </a:pathLst>
                </a:custGeom>
                <a:solidFill>
                  <a:schemeClr val="accent5"/>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nvGrpSpPr>
              <p:cNvPr id="369" name="Group 368"/>
              <p:cNvGrpSpPr/>
              <p:nvPr/>
            </p:nvGrpSpPr>
            <p:grpSpPr>
              <a:xfrm rot="21425371">
                <a:off x="1277589" y="2462483"/>
                <a:ext cx="657340" cy="446590"/>
                <a:chOff x="1312173" y="2453249"/>
                <a:chExt cx="657340" cy="446590"/>
              </a:xfrm>
            </p:grpSpPr>
            <p:sp>
              <p:nvSpPr>
                <p:cNvPr id="442" name="Freeform 13"/>
                <p:cNvSpPr>
                  <a:spLocks noChangeAspect="1" noEditPoints="1"/>
                </p:cNvSpPr>
                <p:nvPr/>
              </p:nvSpPr>
              <p:spPr bwMode="auto">
                <a:xfrm>
                  <a:off x="1693341" y="2457750"/>
                  <a:ext cx="159049" cy="340035"/>
                </a:xfrm>
                <a:custGeom>
                  <a:avLst/>
                  <a:gdLst>
                    <a:gd name="T0" fmla="*/ 319 w 324"/>
                    <a:gd name="T1" fmla="*/ 352 h 706"/>
                    <a:gd name="T2" fmla="*/ 319 w 324"/>
                    <a:gd name="T3" fmla="*/ 352 h 706"/>
                    <a:gd name="T4" fmla="*/ 276 w 324"/>
                    <a:gd name="T5" fmla="*/ 200 h 706"/>
                    <a:gd name="T6" fmla="*/ 205 w 324"/>
                    <a:gd name="T7" fmla="*/ 140 h 706"/>
                    <a:gd name="T8" fmla="*/ 161 w 324"/>
                    <a:gd name="T9" fmla="*/ 140 h 706"/>
                    <a:gd name="T10" fmla="*/ 118 w 324"/>
                    <a:gd name="T11" fmla="*/ 140 h 706"/>
                    <a:gd name="T12" fmla="*/ 48 w 324"/>
                    <a:gd name="T13" fmla="*/ 200 h 706"/>
                    <a:gd name="T14" fmla="*/ 3 w 324"/>
                    <a:gd name="T15" fmla="*/ 352 h 706"/>
                    <a:gd name="T16" fmla="*/ 14 w 324"/>
                    <a:gd name="T17" fmla="*/ 385 h 706"/>
                    <a:gd name="T18" fmla="*/ 41 w 324"/>
                    <a:gd name="T19" fmla="*/ 367 h 706"/>
                    <a:gd name="T20" fmla="*/ 84 w 324"/>
                    <a:gd name="T21" fmla="*/ 219 h 706"/>
                    <a:gd name="T22" fmla="*/ 112 w 324"/>
                    <a:gd name="T23" fmla="*/ 219 h 706"/>
                    <a:gd name="T24" fmla="*/ 37 w 324"/>
                    <a:gd name="T25" fmla="*/ 484 h 706"/>
                    <a:gd name="T26" fmla="*/ 100 w 324"/>
                    <a:gd name="T27" fmla="*/ 484 h 706"/>
                    <a:gd name="T28" fmla="*/ 100 w 324"/>
                    <a:gd name="T29" fmla="*/ 484 h 706"/>
                    <a:gd name="T30" fmla="*/ 100 w 324"/>
                    <a:gd name="T31" fmla="*/ 683 h 706"/>
                    <a:gd name="T32" fmla="*/ 125 w 324"/>
                    <a:gd name="T33" fmla="*/ 706 h 706"/>
                    <a:gd name="T34" fmla="*/ 148 w 324"/>
                    <a:gd name="T35" fmla="*/ 681 h 706"/>
                    <a:gd name="T36" fmla="*/ 148 w 324"/>
                    <a:gd name="T37" fmla="*/ 484 h 706"/>
                    <a:gd name="T38" fmla="*/ 175 w 324"/>
                    <a:gd name="T39" fmla="*/ 484 h 706"/>
                    <a:gd name="T40" fmla="*/ 175 w 324"/>
                    <a:gd name="T41" fmla="*/ 681 h 706"/>
                    <a:gd name="T42" fmla="*/ 199 w 324"/>
                    <a:gd name="T43" fmla="*/ 706 h 706"/>
                    <a:gd name="T44" fmla="*/ 223 w 324"/>
                    <a:gd name="T45" fmla="*/ 683 h 706"/>
                    <a:gd name="T46" fmla="*/ 223 w 324"/>
                    <a:gd name="T47" fmla="*/ 484 h 706"/>
                    <a:gd name="T48" fmla="*/ 223 w 324"/>
                    <a:gd name="T49" fmla="*/ 484 h 706"/>
                    <a:gd name="T50" fmla="*/ 285 w 324"/>
                    <a:gd name="T51" fmla="*/ 484 h 706"/>
                    <a:gd name="T52" fmla="*/ 209 w 324"/>
                    <a:gd name="T53" fmla="*/ 219 h 706"/>
                    <a:gd name="T54" fmla="*/ 238 w 324"/>
                    <a:gd name="T55" fmla="*/ 219 h 706"/>
                    <a:gd name="T56" fmla="*/ 280 w 324"/>
                    <a:gd name="T57" fmla="*/ 367 h 706"/>
                    <a:gd name="T58" fmla="*/ 307 w 324"/>
                    <a:gd name="T59" fmla="*/ 386 h 706"/>
                    <a:gd name="T60" fmla="*/ 319 w 324"/>
                    <a:gd name="T61" fmla="*/ 352 h 706"/>
                    <a:gd name="T62" fmla="*/ 104 w 324"/>
                    <a:gd name="T63" fmla="*/ 56 h 706"/>
                    <a:gd name="T64" fmla="*/ 104 w 324"/>
                    <a:gd name="T65" fmla="*/ 56 h 706"/>
                    <a:gd name="T66" fmla="*/ 162 w 324"/>
                    <a:gd name="T67" fmla="*/ 0 h 706"/>
                    <a:gd name="T68" fmla="*/ 219 w 324"/>
                    <a:gd name="T69" fmla="*/ 56 h 706"/>
                    <a:gd name="T70" fmla="*/ 162 w 324"/>
                    <a:gd name="T71" fmla="*/ 112 h 706"/>
                    <a:gd name="T72" fmla="*/ 104 w 324"/>
                    <a:gd name="T73" fmla="*/ 56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706">
                      <a:moveTo>
                        <a:pt x="319" y="352"/>
                      </a:moveTo>
                      <a:lnTo>
                        <a:pt x="319" y="352"/>
                      </a:lnTo>
                      <a:lnTo>
                        <a:pt x="276" y="200"/>
                      </a:lnTo>
                      <a:cubicBezTo>
                        <a:pt x="258" y="138"/>
                        <a:pt x="205" y="140"/>
                        <a:pt x="205" y="140"/>
                      </a:cubicBezTo>
                      <a:lnTo>
                        <a:pt x="161" y="140"/>
                      </a:lnTo>
                      <a:lnTo>
                        <a:pt x="118" y="140"/>
                      </a:lnTo>
                      <a:cubicBezTo>
                        <a:pt x="118" y="140"/>
                        <a:pt x="65" y="138"/>
                        <a:pt x="48" y="200"/>
                      </a:cubicBezTo>
                      <a:lnTo>
                        <a:pt x="3" y="352"/>
                      </a:lnTo>
                      <a:cubicBezTo>
                        <a:pt x="0" y="367"/>
                        <a:pt x="2" y="381"/>
                        <a:pt x="14" y="385"/>
                      </a:cubicBezTo>
                      <a:cubicBezTo>
                        <a:pt x="27" y="389"/>
                        <a:pt x="38" y="379"/>
                        <a:pt x="41" y="367"/>
                      </a:cubicBezTo>
                      <a:lnTo>
                        <a:pt x="84" y="219"/>
                      </a:lnTo>
                      <a:lnTo>
                        <a:pt x="112" y="219"/>
                      </a:lnTo>
                      <a:lnTo>
                        <a:pt x="37" y="484"/>
                      </a:lnTo>
                      <a:lnTo>
                        <a:pt x="100" y="484"/>
                      </a:lnTo>
                      <a:lnTo>
                        <a:pt x="100" y="484"/>
                      </a:lnTo>
                      <a:lnTo>
                        <a:pt x="100" y="683"/>
                      </a:lnTo>
                      <a:cubicBezTo>
                        <a:pt x="100" y="697"/>
                        <a:pt x="109" y="705"/>
                        <a:pt x="125" y="706"/>
                      </a:cubicBezTo>
                      <a:cubicBezTo>
                        <a:pt x="139" y="706"/>
                        <a:pt x="148" y="696"/>
                        <a:pt x="148" y="681"/>
                      </a:cubicBezTo>
                      <a:lnTo>
                        <a:pt x="148" y="484"/>
                      </a:lnTo>
                      <a:lnTo>
                        <a:pt x="175" y="484"/>
                      </a:lnTo>
                      <a:lnTo>
                        <a:pt x="175" y="681"/>
                      </a:lnTo>
                      <a:cubicBezTo>
                        <a:pt x="175" y="696"/>
                        <a:pt x="185" y="706"/>
                        <a:pt x="199" y="706"/>
                      </a:cubicBezTo>
                      <a:cubicBezTo>
                        <a:pt x="214" y="705"/>
                        <a:pt x="223" y="697"/>
                        <a:pt x="223" y="683"/>
                      </a:cubicBezTo>
                      <a:lnTo>
                        <a:pt x="223" y="484"/>
                      </a:lnTo>
                      <a:lnTo>
                        <a:pt x="223" y="484"/>
                      </a:lnTo>
                      <a:lnTo>
                        <a:pt x="285" y="484"/>
                      </a:lnTo>
                      <a:lnTo>
                        <a:pt x="209" y="219"/>
                      </a:lnTo>
                      <a:lnTo>
                        <a:pt x="238" y="219"/>
                      </a:lnTo>
                      <a:lnTo>
                        <a:pt x="280" y="367"/>
                      </a:lnTo>
                      <a:cubicBezTo>
                        <a:pt x="284" y="379"/>
                        <a:pt x="294" y="389"/>
                        <a:pt x="307" y="386"/>
                      </a:cubicBezTo>
                      <a:cubicBezTo>
                        <a:pt x="320" y="382"/>
                        <a:pt x="324" y="367"/>
                        <a:pt x="319" y="352"/>
                      </a:cubicBezTo>
                      <a:close/>
                      <a:moveTo>
                        <a:pt x="104" y="56"/>
                      </a:moveTo>
                      <a:lnTo>
                        <a:pt x="104" y="56"/>
                      </a:lnTo>
                      <a:cubicBezTo>
                        <a:pt x="104" y="24"/>
                        <a:pt x="130" y="0"/>
                        <a:pt x="162" y="0"/>
                      </a:cubicBezTo>
                      <a:cubicBezTo>
                        <a:pt x="193" y="0"/>
                        <a:pt x="219" y="24"/>
                        <a:pt x="219" y="56"/>
                      </a:cubicBezTo>
                      <a:cubicBezTo>
                        <a:pt x="219" y="87"/>
                        <a:pt x="193" y="112"/>
                        <a:pt x="162" y="112"/>
                      </a:cubicBezTo>
                      <a:cubicBezTo>
                        <a:pt x="130" y="112"/>
                        <a:pt x="104" y="87"/>
                        <a:pt x="104" y="56"/>
                      </a:cubicBezTo>
                      <a:close/>
                    </a:path>
                  </a:pathLst>
                </a:custGeom>
                <a:solidFill>
                  <a:schemeClr val="accent2"/>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3" name="Freeform 9"/>
                <p:cNvSpPr>
                  <a:spLocks noChangeAspect="1" noEditPoints="1"/>
                </p:cNvSpPr>
                <p:nvPr/>
              </p:nvSpPr>
              <p:spPr bwMode="auto">
                <a:xfrm rot="20704601" flipH="1">
                  <a:off x="1495864" y="2481030"/>
                  <a:ext cx="134458" cy="346552"/>
                </a:xfrm>
                <a:custGeom>
                  <a:avLst/>
                  <a:gdLst>
                    <a:gd name="T0" fmla="*/ 198 w 271"/>
                    <a:gd name="T1" fmla="*/ 140 h 705"/>
                    <a:gd name="T2" fmla="*/ 198 w 271"/>
                    <a:gd name="T3" fmla="*/ 140 h 705"/>
                    <a:gd name="T4" fmla="*/ 73 w 271"/>
                    <a:gd name="T5" fmla="*/ 140 h 705"/>
                    <a:gd name="T6" fmla="*/ 0 w 271"/>
                    <a:gd name="T7" fmla="*/ 213 h 705"/>
                    <a:gd name="T8" fmla="*/ 0 w 271"/>
                    <a:gd name="T9" fmla="*/ 390 h 705"/>
                    <a:gd name="T10" fmla="*/ 21 w 271"/>
                    <a:gd name="T11" fmla="*/ 414 h 705"/>
                    <a:gd name="T12" fmla="*/ 42 w 271"/>
                    <a:gd name="T13" fmla="*/ 390 h 705"/>
                    <a:gd name="T14" fmla="*/ 42 w 271"/>
                    <a:gd name="T15" fmla="*/ 230 h 705"/>
                    <a:gd name="T16" fmla="*/ 69 w 271"/>
                    <a:gd name="T17" fmla="*/ 230 h 705"/>
                    <a:gd name="T18" fmla="*/ 69 w 271"/>
                    <a:gd name="T19" fmla="*/ 676 h 705"/>
                    <a:gd name="T20" fmla="*/ 95 w 271"/>
                    <a:gd name="T21" fmla="*/ 705 h 705"/>
                    <a:gd name="T22" fmla="*/ 121 w 271"/>
                    <a:gd name="T23" fmla="*/ 676 h 705"/>
                    <a:gd name="T24" fmla="*/ 121 w 271"/>
                    <a:gd name="T25" fmla="*/ 415 h 705"/>
                    <a:gd name="T26" fmla="*/ 149 w 271"/>
                    <a:gd name="T27" fmla="*/ 415 h 705"/>
                    <a:gd name="T28" fmla="*/ 149 w 271"/>
                    <a:gd name="T29" fmla="*/ 676 h 705"/>
                    <a:gd name="T30" fmla="*/ 175 w 271"/>
                    <a:gd name="T31" fmla="*/ 705 h 705"/>
                    <a:gd name="T32" fmla="*/ 202 w 271"/>
                    <a:gd name="T33" fmla="*/ 676 h 705"/>
                    <a:gd name="T34" fmla="*/ 202 w 271"/>
                    <a:gd name="T35" fmla="*/ 230 h 705"/>
                    <a:gd name="T36" fmla="*/ 229 w 271"/>
                    <a:gd name="T37" fmla="*/ 230 h 705"/>
                    <a:gd name="T38" fmla="*/ 229 w 271"/>
                    <a:gd name="T39" fmla="*/ 390 h 705"/>
                    <a:gd name="T40" fmla="*/ 250 w 271"/>
                    <a:gd name="T41" fmla="*/ 414 h 705"/>
                    <a:gd name="T42" fmla="*/ 271 w 271"/>
                    <a:gd name="T43" fmla="*/ 390 h 705"/>
                    <a:gd name="T44" fmla="*/ 271 w 271"/>
                    <a:gd name="T45" fmla="*/ 213 h 705"/>
                    <a:gd name="T46" fmla="*/ 198 w 271"/>
                    <a:gd name="T47" fmla="*/ 140 h 705"/>
                    <a:gd name="T48" fmla="*/ 79 w 271"/>
                    <a:gd name="T49" fmla="*/ 56 h 705"/>
                    <a:gd name="T50" fmla="*/ 79 w 271"/>
                    <a:gd name="T51" fmla="*/ 56 h 705"/>
                    <a:gd name="T52" fmla="*/ 135 w 271"/>
                    <a:gd name="T53" fmla="*/ 0 h 705"/>
                    <a:gd name="T54" fmla="*/ 192 w 271"/>
                    <a:gd name="T55" fmla="*/ 56 h 705"/>
                    <a:gd name="T56" fmla="*/ 135 w 271"/>
                    <a:gd name="T57" fmla="*/ 113 h 705"/>
                    <a:gd name="T58" fmla="*/ 79 w 271"/>
                    <a:gd name="T59" fmla="*/ 56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1" h="705">
                      <a:moveTo>
                        <a:pt x="198" y="140"/>
                      </a:moveTo>
                      <a:lnTo>
                        <a:pt x="198" y="140"/>
                      </a:lnTo>
                      <a:lnTo>
                        <a:pt x="73" y="140"/>
                      </a:lnTo>
                      <a:cubicBezTo>
                        <a:pt x="32" y="140"/>
                        <a:pt x="0" y="173"/>
                        <a:pt x="0" y="213"/>
                      </a:cubicBezTo>
                      <a:lnTo>
                        <a:pt x="0" y="390"/>
                      </a:lnTo>
                      <a:cubicBezTo>
                        <a:pt x="0" y="404"/>
                        <a:pt x="7" y="414"/>
                        <a:pt x="21" y="414"/>
                      </a:cubicBezTo>
                      <a:cubicBezTo>
                        <a:pt x="34" y="414"/>
                        <a:pt x="42" y="404"/>
                        <a:pt x="42" y="390"/>
                      </a:cubicBezTo>
                      <a:lnTo>
                        <a:pt x="42" y="230"/>
                      </a:lnTo>
                      <a:lnTo>
                        <a:pt x="69" y="230"/>
                      </a:lnTo>
                      <a:cubicBezTo>
                        <a:pt x="69" y="230"/>
                        <a:pt x="69" y="649"/>
                        <a:pt x="69" y="676"/>
                      </a:cubicBezTo>
                      <a:cubicBezTo>
                        <a:pt x="69" y="695"/>
                        <a:pt x="77" y="705"/>
                        <a:pt x="95" y="705"/>
                      </a:cubicBezTo>
                      <a:cubicBezTo>
                        <a:pt x="113" y="705"/>
                        <a:pt x="121" y="695"/>
                        <a:pt x="121" y="676"/>
                      </a:cubicBezTo>
                      <a:lnTo>
                        <a:pt x="121" y="415"/>
                      </a:lnTo>
                      <a:lnTo>
                        <a:pt x="149" y="415"/>
                      </a:lnTo>
                      <a:lnTo>
                        <a:pt x="149" y="676"/>
                      </a:lnTo>
                      <a:cubicBezTo>
                        <a:pt x="149" y="695"/>
                        <a:pt x="157" y="705"/>
                        <a:pt x="175" y="705"/>
                      </a:cubicBezTo>
                      <a:cubicBezTo>
                        <a:pt x="194" y="705"/>
                        <a:pt x="202" y="695"/>
                        <a:pt x="202" y="676"/>
                      </a:cubicBezTo>
                      <a:lnTo>
                        <a:pt x="202" y="230"/>
                      </a:lnTo>
                      <a:lnTo>
                        <a:pt x="229" y="230"/>
                      </a:lnTo>
                      <a:lnTo>
                        <a:pt x="229" y="390"/>
                      </a:lnTo>
                      <a:cubicBezTo>
                        <a:pt x="229" y="404"/>
                        <a:pt x="236" y="414"/>
                        <a:pt x="250" y="414"/>
                      </a:cubicBezTo>
                      <a:cubicBezTo>
                        <a:pt x="264" y="414"/>
                        <a:pt x="271" y="404"/>
                        <a:pt x="271" y="390"/>
                      </a:cubicBezTo>
                      <a:lnTo>
                        <a:pt x="271" y="213"/>
                      </a:lnTo>
                      <a:cubicBezTo>
                        <a:pt x="271" y="173"/>
                        <a:pt x="238" y="140"/>
                        <a:pt x="198" y="140"/>
                      </a:cubicBezTo>
                      <a:close/>
                      <a:moveTo>
                        <a:pt x="79" y="56"/>
                      </a:moveTo>
                      <a:lnTo>
                        <a:pt x="79" y="56"/>
                      </a:lnTo>
                      <a:cubicBezTo>
                        <a:pt x="79" y="24"/>
                        <a:pt x="104" y="0"/>
                        <a:pt x="135" y="0"/>
                      </a:cubicBezTo>
                      <a:cubicBezTo>
                        <a:pt x="167" y="0"/>
                        <a:pt x="192" y="24"/>
                        <a:pt x="192" y="56"/>
                      </a:cubicBezTo>
                      <a:cubicBezTo>
                        <a:pt x="192" y="87"/>
                        <a:pt x="167" y="113"/>
                        <a:pt x="135" y="113"/>
                      </a:cubicBezTo>
                      <a:cubicBezTo>
                        <a:pt x="104" y="113"/>
                        <a:pt x="79" y="87"/>
                        <a:pt x="79" y="56"/>
                      </a:cubicBezTo>
                      <a:close/>
                    </a:path>
                  </a:pathLst>
                </a:custGeom>
                <a:solidFill>
                  <a:schemeClr val="tx2"/>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4" name="Freeform 9"/>
                <p:cNvSpPr>
                  <a:spLocks noChangeAspect="1" noEditPoints="1"/>
                </p:cNvSpPr>
                <p:nvPr/>
              </p:nvSpPr>
              <p:spPr bwMode="auto">
                <a:xfrm rot="20063905">
                  <a:off x="1312173" y="2534746"/>
                  <a:ext cx="141652" cy="365093"/>
                </a:xfrm>
                <a:custGeom>
                  <a:avLst/>
                  <a:gdLst>
                    <a:gd name="T0" fmla="*/ 198 w 271"/>
                    <a:gd name="T1" fmla="*/ 140 h 705"/>
                    <a:gd name="T2" fmla="*/ 198 w 271"/>
                    <a:gd name="T3" fmla="*/ 140 h 705"/>
                    <a:gd name="T4" fmla="*/ 73 w 271"/>
                    <a:gd name="T5" fmla="*/ 140 h 705"/>
                    <a:gd name="T6" fmla="*/ 0 w 271"/>
                    <a:gd name="T7" fmla="*/ 213 h 705"/>
                    <a:gd name="T8" fmla="*/ 0 w 271"/>
                    <a:gd name="T9" fmla="*/ 390 h 705"/>
                    <a:gd name="T10" fmla="*/ 21 w 271"/>
                    <a:gd name="T11" fmla="*/ 414 h 705"/>
                    <a:gd name="T12" fmla="*/ 42 w 271"/>
                    <a:gd name="T13" fmla="*/ 390 h 705"/>
                    <a:gd name="T14" fmla="*/ 42 w 271"/>
                    <a:gd name="T15" fmla="*/ 230 h 705"/>
                    <a:gd name="T16" fmla="*/ 69 w 271"/>
                    <a:gd name="T17" fmla="*/ 230 h 705"/>
                    <a:gd name="T18" fmla="*/ 69 w 271"/>
                    <a:gd name="T19" fmla="*/ 676 h 705"/>
                    <a:gd name="T20" fmla="*/ 95 w 271"/>
                    <a:gd name="T21" fmla="*/ 705 h 705"/>
                    <a:gd name="T22" fmla="*/ 121 w 271"/>
                    <a:gd name="T23" fmla="*/ 676 h 705"/>
                    <a:gd name="T24" fmla="*/ 121 w 271"/>
                    <a:gd name="T25" fmla="*/ 415 h 705"/>
                    <a:gd name="T26" fmla="*/ 149 w 271"/>
                    <a:gd name="T27" fmla="*/ 415 h 705"/>
                    <a:gd name="T28" fmla="*/ 149 w 271"/>
                    <a:gd name="T29" fmla="*/ 676 h 705"/>
                    <a:gd name="T30" fmla="*/ 175 w 271"/>
                    <a:gd name="T31" fmla="*/ 705 h 705"/>
                    <a:gd name="T32" fmla="*/ 202 w 271"/>
                    <a:gd name="T33" fmla="*/ 676 h 705"/>
                    <a:gd name="T34" fmla="*/ 202 w 271"/>
                    <a:gd name="T35" fmla="*/ 230 h 705"/>
                    <a:gd name="T36" fmla="*/ 229 w 271"/>
                    <a:gd name="T37" fmla="*/ 230 h 705"/>
                    <a:gd name="T38" fmla="*/ 229 w 271"/>
                    <a:gd name="T39" fmla="*/ 390 h 705"/>
                    <a:gd name="T40" fmla="*/ 250 w 271"/>
                    <a:gd name="T41" fmla="*/ 414 h 705"/>
                    <a:gd name="T42" fmla="*/ 271 w 271"/>
                    <a:gd name="T43" fmla="*/ 390 h 705"/>
                    <a:gd name="T44" fmla="*/ 271 w 271"/>
                    <a:gd name="T45" fmla="*/ 213 h 705"/>
                    <a:gd name="T46" fmla="*/ 198 w 271"/>
                    <a:gd name="T47" fmla="*/ 140 h 705"/>
                    <a:gd name="T48" fmla="*/ 79 w 271"/>
                    <a:gd name="T49" fmla="*/ 56 h 705"/>
                    <a:gd name="T50" fmla="*/ 79 w 271"/>
                    <a:gd name="T51" fmla="*/ 56 h 705"/>
                    <a:gd name="T52" fmla="*/ 135 w 271"/>
                    <a:gd name="T53" fmla="*/ 0 h 705"/>
                    <a:gd name="T54" fmla="*/ 192 w 271"/>
                    <a:gd name="T55" fmla="*/ 56 h 705"/>
                    <a:gd name="T56" fmla="*/ 135 w 271"/>
                    <a:gd name="T57" fmla="*/ 113 h 705"/>
                    <a:gd name="T58" fmla="*/ 79 w 271"/>
                    <a:gd name="T59" fmla="*/ 56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1" h="705">
                      <a:moveTo>
                        <a:pt x="198" y="140"/>
                      </a:moveTo>
                      <a:lnTo>
                        <a:pt x="198" y="140"/>
                      </a:lnTo>
                      <a:lnTo>
                        <a:pt x="73" y="140"/>
                      </a:lnTo>
                      <a:cubicBezTo>
                        <a:pt x="32" y="140"/>
                        <a:pt x="0" y="173"/>
                        <a:pt x="0" y="213"/>
                      </a:cubicBezTo>
                      <a:lnTo>
                        <a:pt x="0" y="390"/>
                      </a:lnTo>
                      <a:cubicBezTo>
                        <a:pt x="0" y="404"/>
                        <a:pt x="7" y="414"/>
                        <a:pt x="21" y="414"/>
                      </a:cubicBezTo>
                      <a:cubicBezTo>
                        <a:pt x="34" y="414"/>
                        <a:pt x="42" y="404"/>
                        <a:pt x="42" y="390"/>
                      </a:cubicBezTo>
                      <a:lnTo>
                        <a:pt x="42" y="230"/>
                      </a:lnTo>
                      <a:lnTo>
                        <a:pt x="69" y="230"/>
                      </a:lnTo>
                      <a:cubicBezTo>
                        <a:pt x="69" y="230"/>
                        <a:pt x="69" y="649"/>
                        <a:pt x="69" y="676"/>
                      </a:cubicBezTo>
                      <a:cubicBezTo>
                        <a:pt x="69" y="695"/>
                        <a:pt x="77" y="705"/>
                        <a:pt x="95" y="705"/>
                      </a:cubicBezTo>
                      <a:cubicBezTo>
                        <a:pt x="113" y="705"/>
                        <a:pt x="121" y="695"/>
                        <a:pt x="121" y="676"/>
                      </a:cubicBezTo>
                      <a:lnTo>
                        <a:pt x="121" y="415"/>
                      </a:lnTo>
                      <a:lnTo>
                        <a:pt x="149" y="415"/>
                      </a:lnTo>
                      <a:lnTo>
                        <a:pt x="149" y="676"/>
                      </a:lnTo>
                      <a:cubicBezTo>
                        <a:pt x="149" y="695"/>
                        <a:pt x="157" y="705"/>
                        <a:pt x="175" y="705"/>
                      </a:cubicBezTo>
                      <a:cubicBezTo>
                        <a:pt x="194" y="705"/>
                        <a:pt x="202" y="695"/>
                        <a:pt x="202" y="676"/>
                      </a:cubicBezTo>
                      <a:lnTo>
                        <a:pt x="202" y="230"/>
                      </a:lnTo>
                      <a:lnTo>
                        <a:pt x="229" y="230"/>
                      </a:lnTo>
                      <a:lnTo>
                        <a:pt x="229" y="390"/>
                      </a:lnTo>
                      <a:cubicBezTo>
                        <a:pt x="229" y="404"/>
                        <a:pt x="236" y="414"/>
                        <a:pt x="250" y="414"/>
                      </a:cubicBezTo>
                      <a:cubicBezTo>
                        <a:pt x="264" y="414"/>
                        <a:pt x="271" y="404"/>
                        <a:pt x="271" y="390"/>
                      </a:cubicBezTo>
                      <a:lnTo>
                        <a:pt x="271" y="213"/>
                      </a:lnTo>
                      <a:cubicBezTo>
                        <a:pt x="271" y="173"/>
                        <a:pt x="238" y="140"/>
                        <a:pt x="198" y="140"/>
                      </a:cubicBezTo>
                      <a:close/>
                      <a:moveTo>
                        <a:pt x="79" y="56"/>
                      </a:moveTo>
                      <a:lnTo>
                        <a:pt x="79" y="56"/>
                      </a:lnTo>
                      <a:cubicBezTo>
                        <a:pt x="79" y="24"/>
                        <a:pt x="104" y="0"/>
                        <a:pt x="135" y="0"/>
                      </a:cubicBezTo>
                      <a:cubicBezTo>
                        <a:pt x="167" y="0"/>
                        <a:pt x="192" y="24"/>
                        <a:pt x="192" y="56"/>
                      </a:cubicBezTo>
                      <a:cubicBezTo>
                        <a:pt x="192" y="87"/>
                        <a:pt x="167" y="113"/>
                        <a:pt x="135" y="113"/>
                      </a:cubicBezTo>
                      <a:cubicBezTo>
                        <a:pt x="104" y="113"/>
                        <a:pt x="79" y="87"/>
                        <a:pt x="79" y="56"/>
                      </a:cubicBezTo>
                      <a:close/>
                    </a:path>
                  </a:pathLst>
                </a:custGeom>
                <a:solidFill>
                  <a:schemeClr val="accent2"/>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5" name="Freeform 13"/>
                <p:cNvSpPr>
                  <a:spLocks noChangeAspect="1" noEditPoints="1"/>
                </p:cNvSpPr>
                <p:nvPr/>
              </p:nvSpPr>
              <p:spPr bwMode="auto">
                <a:xfrm rot="20537912">
                  <a:off x="1426401" y="2514195"/>
                  <a:ext cx="159049" cy="340035"/>
                </a:xfrm>
                <a:custGeom>
                  <a:avLst/>
                  <a:gdLst>
                    <a:gd name="T0" fmla="*/ 319 w 324"/>
                    <a:gd name="T1" fmla="*/ 352 h 706"/>
                    <a:gd name="T2" fmla="*/ 319 w 324"/>
                    <a:gd name="T3" fmla="*/ 352 h 706"/>
                    <a:gd name="T4" fmla="*/ 276 w 324"/>
                    <a:gd name="T5" fmla="*/ 200 h 706"/>
                    <a:gd name="T6" fmla="*/ 205 w 324"/>
                    <a:gd name="T7" fmla="*/ 140 h 706"/>
                    <a:gd name="T8" fmla="*/ 161 w 324"/>
                    <a:gd name="T9" fmla="*/ 140 h 706"/>
                    <a:gd name="T10" fmla="*/ 118 w 324"/>
                    <a:gd name="T11" fmla="*/ 140 h 706"/>
                    <a:gd name="T12" fmla="*/ 48 w 324"/>
                    <a:gd name="T13" fmla="*/ 200 h 706"/>
                    <a:gd name="T14" fmla="*/ 3 w 324"/>
                    <a:gd name="T15" fmla="*/ 352 h 706"/>
                    <a:gd name="T16" fmla="*/ 14 w 324"/>
                    <a:gd name="T17" fmla="*/ 385 h 706"/>
                    <a:gd name="T18" fmla="*/ 41 w 324"/>
                    <a:gd name="T19" fmla="*/ 367 h 706"/>
                    <a:gd name="T20" fmla="*/ 84 w 324"/>
                    <a:gd name="T21" fmla="*/ 219 h 706"/>
                    <a:gd name="T22" fmla="*/ 112 w 324"/>
                    <a:gd name="T23" fmla="*/ 219 h 706"/>
                    <a:gd name="T24" fmla="*/ 37 w 324"/>
                    <a:gd name="T25" fmla="*/ 484 h 706"/>
                    <a:gd name="T26" fmla="*/ 100 w 324"/>
                    <a:gd name="T27" fmla="*/ 484 h 706"/>
                    <a:gd name="T28" fmla="*/ 100 w 324"/>
                    <a:gd name="T29" fmla="*/ 484 h 706"/>
                    <a:gd name="T30" fmla="*/ 100 w 324"/>
                    <a:gd name="T31" fmla="*/ 683 h 706"/>
                    <a:gd name="T32" fmla="*/ 125 w 324"/>
                    <a:gd name="T33" fmla="*/ 706 h 706"/>
                    <a:gd name="T34" fmla="*/ 148 w 324"/>
                    <a:gd name="T35" fmla="*/ 681 h 706"/>
                    <a:gd name="T36" fmla="*/ 148 w 324"/>
                    <a:gd name="T37" fmla="*/ 484 h 706"/>
                    <a:gd name="T38" fmla="*/ 175 w 324"/>
                    <a:gd name="T39" fmla="*/ 484 h 706"/>
                    <a:gd name="T40" fmla="*/ 175 w 324"/>
                    <a:gd name="T41" fmla="*/ 681 h 706"/>
                    <a:gd name="T42" fmla="*/ 199 w 324"/>
                    <a:gd name="T43" fmla="*/ 706 h 706"/>
                    <a:gd name="T44" fmla="*/ 223 w 324"/>
                    <a:gd name="T45" fmla="*/ 683 h 706"/>
                    <a:gd name="T46" fmla="*/ 223 w 324"/>
                    <a:gd name="T47" fmla="*/ 484 h 706"/>
                    <a:gd name="T48" fmla="*/ 223 w 324"/>
                    <a:gd name="T49" fmla="*/ 484 h 706"/>
                    <a:gd name="T50" fmla="*/ 285 w 324"/>
                    <a:gd name="T51" fmla="*/ 484 h 706"/>
                    <a:gd name="T52" fmla="*/ 209 w 324"/>
                    <a:gd name="T53" fmla="*/ 219 h 706"/>
                    <a:gd name="T54" fmla="*/ 238 w 324"/>
                    <a:gd name="T55" fmla="*/ 219 h 706"/>
                    <a:gd name="T56" fmla="*/ 280 w 324"/>
                    <a:gd name="T57" fmla="*/ 367 h 706"/>
                    <a:gd name="T58" fmla="*/ 307 w 324"/>
                    <a:gd name="T59" fmla="*/ 386 h 706"/>
                    <a:gd name="T60" fmla="*/ 319 w 324"/>
                    <a:gd name="T61" fmla="*/ 352 h 706"/>
                    <a:gd name="T62" fmla="*/ 104 w 324"/>
                    <a:gd name="T63" fmla="*/ 56 h 706"/>
                    <a:gd name="T64" fmla="*/ 104 w 324"/>
                    <a:gd name="T65" fmla="*/ 56 h 706"/>
                    <a:gd name="T66" fmla="*/ 162 w 324"/>
                    <a:gd name="T67" fmla="*/ 0 h 706"/>
                    <a:gd name="T68" fmla="*/ 219 w 324"/>
                    <a:gd name="T69" fmla="*/ 56 h 706"/>
                    <a:gd name="T70" fmla="*/ 162 w 324"/>
                    <a:gd name="T71" fmla="*/ 112 h 706"/>
                    <a:gd name="T72" fmla="*/ 104 w 324"/>
                    <a:gd name="T73" fmla="*/ 56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706">
                      <a:moveTo>
                        <a:pt x="319" y="352"/>
                      </a:moveTo>
                      <a:lnTo>
                        <a:pt x="319" y="352"/>
                      </a:lnTo>
                      <a:lnTo>
                        <a:pt x="276" y="200"/>
                      </a:lnTo>
                      <a:cubicBezTo>
                        <a:pt x="258" y="138"/>
                        <a:pt x="205" y="140"/>
                        <a:pt x="205" y="140"/>
                      </a:cubicBezTo>
                      <a:lnTo>
                        <a:pt x="161" y="140"/>
                      </a:lnTo>
                      <a:lnTo>
                        <a:pt x="118" y="140"/>
                      </a:lnTo>
                      <a:cubicBezTo>
                        <a:pt x="118" y="140"/>
                        <a:pt x="65" y="138"/>
                        <a:pt x="48" y="200"/>
                      </a:cubicBezTo>
                      <a:lnTo>
                        <a:pt x="3" y="352"/>
                      </a:lnTo>
                      <a:cubicBezTo>
                        <a:pt x="0" y="367"/>
                        <a:pt x="2" y="381"/>
                        <a:pt x="14" y="385"/>
                      </a:cubicBezTo>
                      <a:cubicBezTo>
                        <a:pt x="27" y="389"/>
                        <a:pt x="38" y="379"/>
                        <a:pt x="41" y="367"/>
                      </a:cubicBezTo>
                      <a:lnTo>
                        <a:pt x="84" y="219"/>
                      </a:lnTo>
                      <a:lnTo>
                        <a:pt x="112" y="219"/>
                      </a:lnTo>
                      <a:lnTo>
                        <a:pt x="37" y="484"/>
                      </a:lnTo>
                      <a:lnTo>
                        <a:pt x="100" y="484"/>
                      </a:lnTo>
                      <a:lnTo>
                        <a:pt x="100" y="484"/>
                      </a:lnTo>
                      <a:lnTo>
                        <a:pt x="100" y="683"/>
                      </a:lnTo>
                      <a:cubicBezTo>
                        <a:pt x="100" y="697"/>
                        <a:pt x="109" y="705"/>
                        <a:pt x="125" y="706"/>
                      </a:cubicBezTo>
                      <a:cubicBezTo>
                        <a:pt x="139" y="706"/>
                        <a:pt x="148" y="696"/>
                        <a:pt x="148" y="681"/>
                      </a:cubicBezTo>
                      <a:lnTo>
                        <a:pt x="148" y="484"/>
                      </a:lnTo>
                      <a:lnTo>
                        <a:pt x="175" y="484"/>
                      </a:lnTo>
                      <a:lnTo>
                        <a:pt x="175" y="681"/>
                      </a:lnTo>
                      <a:cubicBezTo>
                        <a:pt x="175" y="696"/>
                        <a:pt x="185" y="706"/>
                        <a:pt x="199" y="706"/>
                      </a:cubicBezTo>
                      <a:cubicBezTo>
                        <a:pt x="214" y="705"/>
                        <a:pt x="223" y="697"/>
                        <a:pt x="223" y="683"/>
                      </a:cubicBezTo>
                      <a:lnTo>
                        <a:pt x="223" y="484"/>
                      </a:lnTo>
                      <a:lnTo>
                        <a:pt x="223" y="484"/>
                      </a:lnTo>
                      <a:lnTo>
                        <a:pt x="285" y="484"/>
                      </a:lnTo>
                      <a:lnTo>
                        <a:pt x="209" y="219"/>
                      </a:lnTo>
                      <a:lnTo>
                        <a:pt x="238" y="219"/>
                      </a:lnTo>
                      <a:lnTo>
                        <a:pt x="280" y="367"/>
                      </a:lnTo>
                      <a:cubicBezTo>
                        <a:pt x="284" y="379"/>
                        <a:pt x="294" y="389"/>
                        <a:pt x="307" y="386"/>
                      </a:cubicBezTo>
                      <a:cubicBezTo>
                        <a:pt x="320" y="382"/>
                        <a:pt x="324" y="367"/>
                        <a:pt x="319" y="352"/>
                      </a:cubicBezTo>
                      <a:close/>
                      <a:moveTo>
                        <a:pt x="104" y="56"/>
                      </a:moveTo>
                      <a:lnTo>
                        <a:pt x="104" y="56"/>
                      </a:lnTo>
                      <a:cubicBezTo>
                        <a:pt x="104" y="24"/>
                        <a:pt x="130" y="0"/>
                        <a:pt x="162" y="0"/>
                      </a:cubicBezTo>
                      <a:cubicBezTo>
                        <a:pt x="193" y="0"/>
                        <a:pt x="219" y="24"/>
                        <a:pt x="219" y="56"/>
                      </a:cubicBezTo>
                      <a:cubicBezTo>
                        <a:pt x="219" y="87"/>
                        <a:pt x="193" y="112"/>
                        <a:pt x="162" y="112"/>
                      </a:cubicBezTo>
                      <a:cubicBezTo>
                        <a:pt x="130" y="112"/>
                        <a:pt x="104" y="87"/>
                        <a:pt x="104" y="56"/>
                      </a:cubicBezTo>
                      <a:close/>
                    </a:path>
                  </a:pathLst>
                </a:custGeom>
                <a:solidFill>
                  <a:schemeClr val="accent1"/>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6" name="Freeform 9"/>
                <p:cNvSpPr>
                  <a:spLocks noChangeAspect="1" noEditPoints="1"/>
                </p:cNvSpPr>
                <p:nvPr/>
              </p:nvSpPr>
              <p:spPr bwMode="auto">
                <a:xfrm rot="21384473">
                  <a:off x="1579902" y="2453249"/>
                  <a:ext cx="141652" cy="365093"/>
                </a:xfrm>
                <a:custGeom>
                  <a:avLst/>
                  <a:gdLst>
                    <a:gd name="T0" fmla="*/ 198 w 271"/>
                    <a:gd name="T1" fmla="*/ 140 h 705"/>
                    <a:gd name="T2" fmla="*/ 198 w 271"/>
                    <a:gd name="T3" fmla="*/ 140 h 705"/>
                    <a:gd name="T4" fmla="*/ 73 w 271"/>
                    <a:gd name="T5" fmla="*/ 140 h 705"/>
                    <a:gd name="T6" fmla="*/ 0 w 271"/>
                    <a:gd name="T7" fmla="*/ 213 h 705"/>
                    <a:gd name="T8" fmla="*/ 0 w 271"/>
                    <a:gd name="T9" fmla="*/ 390 h 705"/>
                    <a:gd name="T10" fmla="*/ 21 w 271"/>
                    <a:gd name="T11" fmla="*/ 414 h 705"/>
                    <a:gd name="T12" fmla="*/ 42 w 271"/>
                    <a:gd name="T13" fmla="*/ 390 h 705"/>
                    <a:gd name="T14" fmla="*/ 42 w 271"/>
                    <a:gd name="T15" fmla="*/ 230 h 705"/>
                    <a:gd name="T16" fmla="*/ 69 w 271"/>
                    <a:gd name="T17" fmla="*/ 230 h 705"/>
                    <a:gd name="T18" fmla="*/ 69 w 271"/>
                    <a:gd name="T19" fmla="*/ 676 h 705"/>
                    <a:gd name="T20" fmla="*/ 95 w 271"/>
                    <a:gd name="T21" fmla="*/ 705 h 705"/>
                    <a:gd name="T22" fmla="*/ 121 w 271"/>
                    <a:gd name="T23" fmla="*/ 676 h 705"/>
                    <a:gd name="T24" fmla="*/ 121 w 271"/>
                    <a:gd name="T25" fmla="*/ 415 h 705"/>
                    <a:gd name="T26" fmla="*/ 149 w 271"/>
                    <a:gd name="T27" fmla="*/ 415 h 705"/>
                    <a:gd name="T28" fmla="*/ 149 w 271"/>
                    <a:gd name="T29" fmla="*/ 676 h 705"/>
                    <a:gd name="T30" fmla="*/ 175 w 271"/>
                    <a:gd name="T31" fmla="*/ 705 h 705"/>
                    <a:gd name="T32" fmla="*/ 202 w 271"/>
                    <a:gd name="T33" fmla="*/ 676 h 705"/>
                    <a:gd name="T34" fmla="*/ 202 w 271"/>
                    <a:gd name="T35" fmla="*/ 230 h 705"/>
                    <a:gd name="T36" fmla="*/ 229 w 271"/>
                    <a:gd name="T37" fmla="*/ 230 h 705"/>
                    <a:gd name="T38" fmla="*/ 229 w 271"/>
                    <a:gd name="T39" fmla="*/ 390 h 705"/>
                    <a:gd name="T40" fmla="*/ 250 w 271"/>
                    <a:gd name="T41" fmla="*/ 414 h 705"/>
                    <a:gd name="T42" fmla="*/ 271 w 271"/>
                    <a:gd name="T43" fmla="*/ 390 h 705"/>
                    <a:gd name="T44" fmla="*/ 271 w 271"/>
                    <a:gd name="T45" fmla="*/ 213 h 705"/>
                    <a:gd name="T46" fmla="*/ 198 w 271"/>
                    <a:gd name="T47" fmla="*/ 140 h 705"/>
                    <a:gd name="T48" fmla="*/ 79 w 271"/>
                    <a:gd name="T49" fmla="*/ 56 h 705"/>
                    <a:gd name="T50" fmla="*/ 79 w 271"/>
                    <a:gd name="T51" fmla="*/ 56 h 705"/>
                    <a:gd name="T52" fmla="*/ 135 w 271"/>
                    <a:gd name="T53" fmla="*/ 0 h 705"/>
                    <a:gd name="T54" fmla="*/ 192 w 271"/>
                    <a:gd name="T55" fmla="*/ 56 h 705"/>
                    <a:gd name="T56" fmla="*/ 135 w 271"/>
                    <a:gd name="T57" fmla="*/ 113 h 705"/>
                    <a:gd name="T58" fmla="*/ 79 w 271"/>
                    <a:gd name="T59" fmla="*/ 56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71" h="705">
                      <a:moveTo>
                        <a:pt x="198" y="140"/>
                      </a:moveTo>
                      <a:lnTo>
                        <a:pt x="198" y="140"/>
                      </a:lnTo>
                      <a:lnTo>
                        <a:pt x="73" y="140"/>
                      </a:lnTo>
                      <a:cubicBezTo>
                        <a:pt x="32" y="140"/>
                        <a:pt x="0" y="173"/>
                        <a:pt x="0" y="213"/>
                      </a:cubicBezTo>
                      <a:lnTo>
                        <a:pt x="0" y="390"/>
                      </a:lnTo>
                      <a:cubicBezTo>
                        <a:pt x="0" y="404"/>
                        <a:pt x="7" y="414"/>
                        <a:pt x="21" y="414"/>
                      </a:cubicBezTo>
                      <a:cubicBezTo>
                        <a:pt x="34" y="414"/>
                        <a:pt x="42" y="404"/>
                        <a:pt x="42" y="390"/>
                      </a:cubicBezTo>
                      <a:lnTo>
                        <a:pt x="42" y="230"/>
                      </a:lnTo>
                      <a:lnTo>
                        <a:pt x="69" y="230"/>
                      </a:lnTo>
                      <a:cubicBezTo>
                        <a:pt x="69" y="230"/>
                        <a:pt x="69" y="649"/>
                        <a:pt x="69" y="676"/>
                      </a:cubicBezTo>
                      <a:cubicBezTo>
                        <a:pt x="69" y="695"/>
                        <a:pt x="77" y="705"/>
                        <a:pt x="95" y="705"/>
                      </a:cubicBezTo>
                      <a:cubicBezTo>
                        <a:pt x="113" y="705"/>
                        <a:pt x="121" y="695"/>
                        <a:pt x="121" y="676"/>
                      </a:cubicBezTo>
                      <a:lnTo>
                        <a:pt x="121" y="415"/>
                      </a:lnTo>
                      <a:lnTo>
                        <a:pt x="149" y="415"/>
                      </a:lnTo>
                      <a:lnTo>
                        <a:pt x="149" y="676"/>
                      </a:lnTo>
                      <a:cubicBezTo>
                        <a:pt x="149" y="695"/>
                        <a:pt x="157" y="705"/>
                        <a:pt x="175" y="705"/>
                      </a:cubicBezTo>
                      <a:cubicBezTo>
                        <a:pt x="194" y="705"/>
                        <a:pt x="202" y="695"/>
                        <a:pt x="202" y="676"/>
                      </a:cubicBezTo>
                      <a:lnTo>
                        <a:pt x="202" y="230"/>
                      </a:lnTo>
                      <a:lnTo>
                        <a:pt x="229" y="230"/>
                      </a:lnTo>
                      <a:lnTo>
                        <a:pt x="229" y="390"/>
                      </a:lnTo>
                      <a:cubicBezTo>
                        <a:pt x="229" y="404"/>
                        <a:pt x="236" y="414"/>
                        <a:pt x="250" y="414"/>
                      </a:cubicBezTo>
                      <a:cubicBezTo>
                        <a:pt x="264" y="414"/>
                        <a:pt x="271" y="404"/>
                        <a:pt x="271" y="390"/>
                      </a:cubicBezTo>
                      <a:lnTo>
                        <a:pt x="271" y="213"/>
                      </a:lnTo>
                      <a:cubicBezTo>
                        <a:pt x="271" y="173"/>
                        <a:pt x="238" y="140"/>
                        <a:pt x="198" y="140"/>
                      </a:cubicBezTo>
                      <a:close/>
                      <a:moveTo>
                        <a:pt x="79" y="56"/>
                      </a:moveTo>
                      <a:lnTo>
                        <a:pt x="79" y="56"/>
                      </a:lnTo>
                      <a:cubicBezTo>
                        <a:pt x="79" y="24"/>
                        <a:pt x="104" y="0"/>
                        <a:pt x="135" y="0"/>
                      </a:cubicBezTo>
                      <a:cubicBezTo>
                        <a:pt x="167" y="0"/>
                        <a:pt x="192" y="24"/>
                        <a:pt x="192" y="56"/>
                      </a:cubicBezTo>
                      <a:cubicBezTo>
                        <a:pt x="192" y="87"/>
                        <a:pt x="167" y="113"/>
                        <a:pt x="135" y="113"/>
                      </a:cubicBezTo>
                      <a:cubicBezTo>
                        <a:pt x="104" y="113"/>
                        <a:pt x="79" y="87"/>
                        <a:pt x="79" y="56"/>
                      </a:cubicBezTo>
                      <a:close/>
                    </a:path>
                  </a:pathLst>
                </a:custGeom>
                <a:solidFill>
                  <a:schemeClr val="accent6"/>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7" name="Freeform 13"/>
                <p:cNvSpPr>
                  <a:spLocks noChangeAspect="1" noEditPoints="1"/>
                </p:cNvSpPr>
                <p:nvPr/>
              </p:nvSpPr>
              <p:spPr bwMode="auto">
                <a:xfrm rot="438619">
                  <a:off x="1810464" y="2463014"/>
                  <a:ext cx="159049" cy="340035"/>
                </a:xfrm>
                <a:custGeom>
                  <a:avLst/>
                  <a:gdLst>
                    <a:gd name="T0" fmla="*/ 319 w 324"/>
                    <a:gd name="T1" fmla="*/ 352 h 706"/>
                    <a:gd name="T2" fmla="*/ 319 w 324"/>
                    <a:gd name="T3" fmla="*/ 352 h 706"/>
                    <a:gd name="T4" fmla="*/ 276 w 324"/>
                    <a:gd name="T5" fmla="*/ 200 h 706"/>
                    <a:gd name="T6" fmla="*/ 205 w 324"/>
                    <a:gd name="T7" fmla="*/ 140 h 706"/>
                    <a:gd name="T8" fmla="*/ 161 w 324"/>
                    <a:gd name="T9" fmla="*/ 140 h 706"/>
                    <a:gd name="T10" fmla="*/ 118 w 324"/>
                    <a:gd name="T11" fmla="*/ 140 h 706"/>
                    <a:gd name="T12" fmla="*/ 48 w 324"/>
                    <a:gd name="T13" fmla="*/ 200 h 706"/>
                    <a:gd name="T14" fmla="*/ 3 w 324"/>
                    <a:gd name="T15" fmla="*/ 352 h 706"/>
                    <a:gd name="T16" fmla="*/ 14 w 324"/>
                    <a:gd name="T17" fmla="*/ 385 h 706"/>
                    <a:gd name="T18" fmla="*/ 41 w 324"/>
                    <a:gd name="T19" fmla="*/ 367 h 706"/>
                    <a:gd name="T20" fmla="*/ 84 w 324"/>
                    <a:gd name="T21" fmla="*/ 219 h 706"/>
                    <a:gd name="T22" fmla="*/ 112 w 324"/>
                    <a:gd name="T23" fmla="*/ 219 h 706"/>
                    <a:gd name="T24" fmla="*/ 37 w 324"/>
                    <a:gd name="T25" fmla="*/ 484 h 706"/>
                    <a:gd name="T26" fmla="*/ 100 w 324"/>
                    <a:gd name="T27" fmla="*/ 484 h 706"/>
                    <a:gd name="T28" fmla="*/ 100 w 324"/>
                    <a:gd name="T29" fmla="*/ 484 h 706"/>
                    <a:gd name="T30" fmla="*/ 100 w 324"/>
                    <a:gd name="T31" fmla="*/ 683 h 706"/>
                    <a:gd name="T32" fmla="*/ 125 w 324"/>
                    <a:gd name="T33" fmla="*/ 706 h 706"/>
                    <a:gd name="T34" fmla="*/ 148 w 324"/>
                    <a:gd name="T35" fmla="*/ 681 h 706"/>
                    <a:gd name="T36" fmla="*/ 148 w 324"/>
                    <a:gd name="T37" fmla="*/ 484 h 706"/>
                    <a:gd name="T38" fmla="*/ 175 w 324"/>
                    <a:gd name="T39" fmla="*/ 484 h 706"/>
                    <a:gd name="T40" fmla="*/ 175 w 324"/>
                    <a:gd name="T41" fmla="*/ 681 h 706"/>
                    <a:gd name="T42" fmla="*/ 199 w 324"/>
                    <a:gd name="T43" fmla="*/ 706 h 706"/>
                    <a:gd name="T44" fmla="*/ 223 w 324"/>
                    <a:gd name="T45" fmla="*/ 683 h 706"/>
                    <a:gd name="T46" fmla="*/ 223 w 324"/>
                    <a:gd name="T47" fmla="*/ 484 h 706"/>
                    <a:gd name="T48" fmla="*/ 223 w 324"/>
                    <a:gd name="T49" fmla="*/ 484 h 706"/>
                    <a:gd name="T50" fmla="*/ 285 w 324"/>
                    <a:gd name="T51" fmla="*/ 484 h 706"/>
                    <a:gd name="T52" fmla="*/ 209 w 324"/>
                    <a:gd name="T53" fmla="*/ 219 h 706"/>
                    <a:gd name="T54" fmla="*/ 238 w 324"/>
                    <a:gd name="T55" fmla="*/ 219 h 706"/>
                    <a:gd name="T56" fmla="*/ 280 w 324"/>
                    <a:gd name="T57" fmla="*/ 367 h 706"/>
                    <a:gd name="T58" fmla="*/ 307 w 324"/>
                    <a:gd name="T59" fmla="*/ 386 h 706"/>
                    <a:gd name="T60" fmla="*/ 319 w 324"/>
                    <a:gd name="T61" fmla="*/ 352 h 706"/>
                    <a:gd name="T62" fmla="*/ 104 w 324"/>
                    <a:gd name="T63" fmla="*/ 56 h 706"/>
                    <a:gd name="T64" fmla="*/ 104 w 324"/>
                    <a:gd name="T65" fmla="*/ 56 h 706"/>
                    <a:gd name="T66" fmla="*/ 162 w 324"/>
                    <a:gd name="T67" fmla="*/ 0 h 706"/>
                    <a:gd name="T68" fmla="*/ 219 w 324"/>
                    <a:gd name="T69" fmla="*/ 56 h 706"/>
                    <a:gd name="T70" fmla="*/ 162 w 324"/>
                    <a:gd name="T71" fmla="*/ 112 h 706"/>
                    <a:gd name="T72" fmla="*/ 104 w 324"/>
                    <a:gd name="T73" fmla="*/ 56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4" h="706">
                      <a:moveTo>
                        <a:pt x="319" y="352"/>
                      </a:moveTo>
                      <a:lnTo>
                        <a:pt x="319" y="352"/>
                      </a:lnTo>
                      <a:lnTo>
                        <a:pt x="276" y="200"/>
                      </a:lnTo>
                      <a:cubicBezTo>
                        <a:pt x="258" y="138"/>
                        <a:pt x="205" y="140"/>
                        <a:pt x="205" y="140"/>
                      </a:cubicBezTo>
                      <a:lnTo>
                        <a:pt x="161" y="140"/>
                      </a:lnTo>
                      <a:lnTo>
                        <a:pt x="118" y="140"/>
                      </a:lnTo>
                      <a:cubicBezTo>
                        <a:pt x="118" y="140"/>
                        <a:pt x="65" y="138"/>
                        <a:pt x="48" y="200"/>
                      </a:cubicBezTo>
                      <a:lnTo>
                        <a:pt x="3" y="352"/>
                      </a:lnTo>
                      <a:cubicBezTo>
                        <a:pt x="0" y="367"/>
                        <a:pt x="2" y="381"/>
                        <a:pt x="14" y="385"/>
                      </a:cubicBezTo>
                      <a:cubicBezTo>
                        <a:pt x="27" y="389"/>
                        <a:pt x="38" y="379"/>
                        <a:pt x="41" y="367"/>
                      </a:cubicBezTo>
                      <a:lnTo>
                        <a:pt x="84" y="219"/>
                      </a:lnTo>
                      <a:lnTo>
                        <a:pt x="112" y="219"/>
                      </a:lnTo>
                      <a:lnTo>
                        <a:pt x="37" y="484"/>
                      </a:lnTo>
                      <a:lnTo>
                        <a:pt x="100" y="484"/>
                      </a:lnTo>
                      <a:lnTo>
                        <a:pt x="100" y="484"/>
                      </a:lnTo>
                      <a:lnTo>
                        <a:pt x="100" y="683"/>
                      </a:lnTo>
                      <a:cubicBezTo>
                        <a:pt x="100" y="697"/>
                        <a:pt x="109" y="705"/>
                        <a:pt x="125" y="706"/>
                      </a:cubicBezTo>
                      <a:cubicBezTo>
                        <a:pt x="139" y="706"/>
                        <a:pt x="148" y="696"/>
                        <a:pt x="148" y="681"/>
                      </a:cubicBezTo>
                      <a:lnTo>
                        <a:pt x="148" y="484"/>
                      </a:lnTo>
                      <a:lnTo>
                        <a:pt x="175" y="484"/>
                      </a:lnTo>
                      <a:lnTo>
                        <a:pt x="175" y="681"/>
                      </a:lnTo>
                      <a:cubicBezTo>
                        <a:pt x="175" y="696"/>
                        <a:pt x="185" y="706"/>
                        <a:pt x="199" y="706"/>
                      </a:cubicBezTo>
                      <a:cubicBezTo>
                        <a:pt x="214" y="705"/>
                        <a:pt x="223" y="697"/>
                        <a:pt x="223" y="683"/>
                      </a:cubicBezTo>
                      <a:lnTo>
                        <a:pt x="223" y="484"/>
                      </a:lnTo>
                      <a:lnTo>
                        <a:pt x="223" y="484"/>
                      </a:lnTo>
                      <a:lnTo>
                        <a:pt x="285" y="484"/>
                      </a:lnTo>
                      <a:lnTo>
                        <a:pt x="209" y="219"/>
                      </a:lnTo>
                      <a:lnTo>
                        <a:pt x="238" y="219"/>
                      </a:lnTo>
                      <a:lnTo>
                        <a:pt x="280" y="367"/>
                      </a:lnTo>
                      <a:cubicBezTo>
                        <a:pt x="284" y="379"/>
                        <a:pt x="294" y="389"/>
                        <a:pt x="307" y="386"/>
                      </a:cubicBezTo>
                      <a:cubicBezTo>
                        <a:pt x="320" y="382"/>
                        <a:pt x="324" y="367"/>
                        <a:pt x="319" y="352"/>
                      </a:cubicBezTo>
                      <a:close/>
                      <a:moveTo>
                        <a:pt x="104" y="56"/>
                      </a:moveTo>
                      <a:lnTo>
                        <a:pt x="104" y="56"/>
                      </a:lnTo>
                      <a:cubicBezTo>
                        <a:pt x="104" y="24"/>
                        <a:pt x="130" y="0"/>
                        <a:pt x="162" y="0"/>
                      </a:cubicBezTo>
                      <a:cubicBezTo>
                        <a:pt x="193" y="0"/>
                        <a:pt x="219" y="24"/>
                        <a:pt x="219" y="56"/>
                      </a:cubicBezTo>
                      <a:cubicBezTo>
                        <a:pt x="219" y="87"/>
                        <a:pt x="193" y="112"/>
                        <a:pt x="162" y="112"/>
                      </a:cubicBezTo>
                      <a:cubicBezTo>
                        <a:pt x="130" y="112"/>
                        <a:pt x="104" y="87"/>
                        <a:pt x="104" y="56"/>
                      </a:cubicBezTo>
                      <a:close/>
                    </a:path>
                  </a:pathLst>
                </a:custGeom>
                <a:solidFill>
                  <a:schemeClr val="accent4"/>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nvGrpSpPr>
              <p:cNvPr id="370" name="Group 369"/>
              <p:cNvGrpSpPr/>
              <p:nvPr/>
            </p:nvGrpSpPr>
            <p:grpSpPr>
              <a:xfrm>
                <a:off x="1938783" y="2166304"/>
                <a:ext cx="564233" cy="775066"/>
                <a:chOff x="1938783" y="2166304"/>
                <a:chExt cx="564233" cy="775066"/>
              </a:xfrm>
            </p:grpSpPr>
            <p:grpSp>
              <p:nvGrpSpPr>
                <p:cNvPr id="434" name="Group 433"/>
                <p:cNvGrpSpPr/>
                <p:nvPr/>
              </p:nvGrpSpPr>
              <p:grpSpPr>
                <a:xfrm rot="863145">
                  <a:off x="2205752" y="2613719"/>
                  <a:ext cx="297264" cy="327651"/>
                  <a:chOff x="1761328" y="1767277"/>
                  <a:chExt cx="463550" cy="639762"/>
                </a:xfrm>
              </p:grpSpPr>
              <p:sp>
                <p:nvSpPr>
                  <p:cNvPr id="438" name="Freeform 6"/>
                  <p:cNvSpPr>
                    <a:spLocks/>
                  </p:cNvSpPr>
                  <p:nvPr/>
                </p:nvSpPr>
                <p:spPr bwMode="auto">
                  <a:xfrm>
                    <a:off x="1897853" y="2127639"/>
                    <a:ext cx="209550" cy="279400"/>
                  </a:xfrm>
                  <a:custGeom>
                    <a:avLst/>
                    <a:gdLst>
                      <a:gd name="T0" fmla="*/ 55 w 56"/>
                      <a:gd name="T1" fmla="*/ 19 h 74"/>
                      <a:gd name="T2" fmla="*/ 56 w 56"/>
                      <a:gd name="T3" fmla="*/ 21 h 74"/>
                      <a:gd name="T4" fmla="*/ 39 w 56"/>
                      <a:gd name="T5" fmla="*/ 25 h 74"/>
                      <a:gd name="T6" fmla="*/ 30 w 56"/>
                      <a:gd name="T7" fmla="*/ 31 h 74"/>
                      <a:gd name="T8" fmla="*/ 26 w 56"/>
                      <a:gd name="T9" fmla="*/ 45 h 74"/>
                      <a:gd name="T10" fmla="*/ 25 w 56"/>
                      <a:gd name="T11" fmla="*/ 53 h 74"/>
                      <a:gd name="T12" fmla="*/ 26 w 56"/>
                      <a:gd name="T13" fmla="*/ 60 h 74"/>
                      <a:gd name="T14" fmla="*/ 28 w 56"/>
                      <a:gd name="T15" fmla="*/ 67 h 74"/>
                      <a:gd name="T16" fmla="*/ 30 w 56"/>
                      <a:gd name="T17" fmla="*/ 67 h 74"/>
                      <a:gd name="T18" fmla="*/ 33 w 56"/>
                      <a:gd name="T19" fmla="*/ 72 h 74"/>
                      <a:gd name="T20" fmla="*/ 33 w 56"/>
                      <a:gd name="T21" fmla="*/ 74 h 74"/>
                      <a:gd name="T22" fmla="*/ 20 w 56"/>
                      <a:gd name="T23" fmla="*/ 71 h 74"/>
                      <a:gd name="T24" fmla="*/ 7 w 56"/>
                      <a:gd name="T25" fmla="*/ 68 h 74"/>
                      <a:gd name="T26" fmla="*/ 6 w 56"/>
                      <a:gd name="T27" fmla="*/ 65 h 74"/>
                      <a:gd name="T28" fmla="*/ 7 w 56"/>
                      <a:gd name="T29" fmla="*/ 64 h 74"/>
                      <a:gd name="T30" fmla="*/ 13 w 56"/>
                      <a:gd name="T31" fmla="*/ 31 h 74"/>
                      <a:gd name="T32" fmla="*/ 0 w 56"/>
                      <a:gd name="T33" fmla="*/ 10 h 74"/>
                      <a:gd name="T34" fmla="*/ 1 w 56"/>
                      <a:gd name="T35" fmla="*/ 9 h 74"/>
                      <a:gd name="T36" fmla="*/ 6 w 56"/>
                      <a:gd name="T37" fmla="*/ 5 h 74"/>
                      <a:gd name="T38" fmla="*/ 9 w 56"/>
                      <a:gd name="T39" fmla="*/ 0 h 74"/>
                      <a:gd name="T40" fmla="*/ 12 w 56"/>
                      <a:gd name="T41" fmla="*/ 6 h 74"/>
                      <a:gd name="T42" fmla="*/ 11 w 56"/>
                      <a:gd name="T43" fmla="*/ 6 h 74"/>
                      <a:gd name="T44" fmla="*/ 19 w 56"/>
                      <a:gd name="T45" fmla="*/ 16 h 74"/>
                      <a:gd name="T46" fmla="*/ 28 w 56"/>
                      <a:gd name="T47" fmla="*/ 11 h 74"/>
                      <a:gd name="T48" fmla="*/ 32 w 56"/>
                      <a:gd name="T49" fmla="*/ 2 h 74"/>
                      <a:gd name="T50" fmla="*/ 38 w 56"/>
                      <a:gd name="T51" fmla="*/ 6 h 74"/>
                      <a:gd name="T52" fmla="*/ 39 w 56"/>
                      <a:gd name="T53" fmla="*/ 6 h 74"/>
                      <a:gd name="T54" fmla="*/ 36 w 56"/>
                      <a:gd name="T55" fmla="*/ 8 h 74"/>
                      <a:gd name="T56" fmla="*/ 34 w 56"/>
                      <a:gd name="T57" fmla="*/ 11 h 74"/>
                      <a:gd name="T58" fmla="*/ 33 w 56"/>
                      <a:gd name="T59" fmla="*/ 12 h 74"/>
                      <a:gd name="T60" fmla="*/ 32 w 56"/>
                      <a:gd name="T61" fmla="*/ 14 h 74"/>
                      <a:gd name="T62" fmla="*/ 34 w 56"/>
                      <a:gd name="T63" fmla="*/ 18 h 74"/>
                      <a:gd name="T64" fmla="*/ 39 w 56"/>
                      <a:gd name="T65" fmla="*/ 18 h 74"/>
                      <a:gd name="T66" fmla="*/ 46 w 56"/>
                      <a:gd name="T67" fmla="*/ 16 h 74"/>
                      <a:gd name="T68" fmla="*/ 50 w 56"/>
                      <a:gd name="T69" fmla="*/ 14 h 74"/>
                      <a:gd name="T70" fmla="*/ 55 w 56"/>
                      <a:gd name="T71" fmla="*/ 19 h 74"/>
                      <a:gd name="T72" fmla="*/ 55 w 56"/>
                      <a:gd name="T73" fmla="*/ 1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 h="74">
                        <a:moveTo>
                          <a:pt x="55" y="19"/>
                        </a:moveTo>
                        <a:cubicBezTo>
                          <a:pt x="55" y="20"/>
                          <a:pt x="55" y="21"/>
                          <a:pt x="56" y="21"/>
                        </a:cubicBezTo>
                        <a:cubicBezTo>
                          <a:pt x="50" y="22"/>
                          <a:pt x="44" y="24"/>
                          <a:pt x="39" y="25"/>
                        </a:cubicBezTo>
                        <a:cubicBezTo>
                          <a:pt x="34" y="28"/>
                          <a:pt x="30" y="29"/>
                          <a:pt x="30" y="31"/>
                        </a:cubicBezTo>
                        <a:cubicBezTo>
                          <a:pt x="28" y="37"/>
                          <a:pt x="27" y="42"/>
                          <a:pt x="26" y="45"/>
                        </a:cubicBezTo>
                        <a:cubicBezTo>
                          <a:pt x="25" y="45"/>
                          <a:pt x="25" y="48"/>
                          <a:pt x="25" y="53"/>
                        </a:cubicBezTo>
                        <a:cubicBezTo>
                          <a:pt x="25" y="57"/>
                          <a:pt x="25" y="60"/>
                          <a:pt x="26" y="60"/>
                        </a:cubicBezTo>
                        <a:cubicBezTo>
                          <a:pt x="26" y="63"/>
                          <a:pt x="27" y="65"/>
                          <a:pt x="28" y="67"/>
                        </a:cubicBezTo>
                        <a:cubicBezTo>
                          <a:pt x="30" y="67"/>
                          <a:pt x="30" y="67"/>
                          <a:pt x="30" y="67"/>
                        </a:cubicBezTo>
                        <a:cubicBezTo>
                          <a:pt x="33" y="72"/>
                          <a:pt x="33" y="72"/>
                          <a:pt x="33" y="72"/>
                        </a:cubicBezTo>
                        <a:cubicBezTo>
                          <a:pt x="33" y="74"/>
                          <a:pt x="33" y="74"/>
                          <a:pt x="33" y="74"/>
                        </a:cubicBezTo>
                        <a:cubicBezTo>
                          <a:pt x="28" y="73"/>
                          <a:pt x="24" y="72"/>
                          <a:pt x="20" y="71"/>
                        </a:cubicBezTo>
                        <a:cubicBezTo>
                          <a:pt x="16" y="69"/>
                          <a:pt x="12" y="69"/>
                          <a:pt x="7" y="68"/>
                        </a:cubicBezTo>
                        <a:cubicBezTo>
                          <a:pt x="6" y="65"/>
                          <a:pt x="6" y="65"/>
                          <a:pt x="6" y="65"/>
                        </a:cubicBezTo>
                        <a:cubicBezTo>
                          <a:pt x="6" y="65"/>
                          <a:pt x="7" y="65"/>
                          <a:pt x="7" y="64"/>
                        </a:cubicBezTo>
                        <a:cubicBezTo>
                          <a:pt x="11" y="45"/>
                          <a:pt x="13" y="34"/>
                          <a:pt x="13" y="31"/>
                        </a:cubicBezTo>
                        <a:cubicBezTo>
                          <a:pt x="13" y="30"/>
                          <a:pt x="8" y="22"/>
                          <a:pt x="0" y="10"/>
                        </a:cubicBezTo>
                        <a:cubicBezTo>
                          <a:pt x="1" y="9"/>
                          <a:pt x="1" y="9"/>
                          <a:pt x="1" y="9"/>
                        </a:cubicBezTo>
                        <a:cubicBezTo>
                          <a:pt x="2" y="8"/>
                          <a:pt x="4" y="7"/>
                          <a:pt x="6" y="5"/>
                        </a:cubicBezTo>
                        <a:cubicBezTo>
                          <a:pt x="8" y="3"/>
                          <a:pt x="10" y="1"/>
                          <a:pt x="9" y="0"/>
                        </a:cubicBezTo>
                        <a:cubicBezTo>
                          <a:pt x="10" y="3"/>
                          <a:pt x="11" y="4"/>
                          <a:pt x="12" y="6"/>
                        </a:cubicBezTo>
                        <a:cubicBezTo>
                          <a:pt x="11" y="6"/>
                          <a:pt x="11" y="6"/>
                          <a:pt x="11" y="6"/>
                        </a:cubicBezTo>
                        <a:cubicBezTo>
                          <a:pt x="10" y="13"/>
                          <a:pt x="13" y="16"/>
                          <a:pt x="19" y="16"/>
                        </a:cubicBezTo>
                        <a:cubicBezTo>
                          <a:pt x="24" y="16"/>
                          <a:pt x="27" y="14"/>
                          <a:pt x="28" y="11"/>
                        </a:cubicBezTo>
                        <a:cubicBezTo>
                          <a:pt x="29" y="9"/>
                          <a:pt x="30" y="6"/>
                          <a:pt x="32" y="2"/>
                        </a:cubicBezTo>
                        <a:cubicBezTo>
                          <a:pt x="32" y="4"/>
                          <a:pt x="35" y="5"/>
                          <a:pt x="38" y="6"/>
                        </a:cubicBezTo>
                        <a:cubicBezTo>
                          <a:pt x="38" y="6"/>
                          <a:pt x="39" y="6"/>
                          <a:pt x="39" y="6"/>
                        </a:cubicBezTo>
                        <a:cubicBezTo>
                          <a:pt x="38" y="6"/>
                          <a:pt x="37" y="7"/>
                          <a:pt x="36" y="8"/>
                        </a:cubicBezTo>
                        <a:cubicBezTo>
                          <a:pt x="35" y="9"/>
                          <a:pt x="35" y="10"/>
                          <a:pt x="34" y="11"/>
                        </a:cubicBezTo>
                        <a:cubicBezTo>
                          <a:pt x="34" y="11"/>
                          <a:pt x="34" y="11"/>
                          <a:pt x="33" y="12"/>
                        </a:cubicBezTo>
                        <a:cubicBezTo>
                          <a:pt x="32" y="13"/>
                          <a:pt x="32" y="14"/>
                          <a:pt x="32" y="14"/>
                        </a:cubicBezTo>
                        <a:cubicBezTo>
                          <a:pt x="32" y="16"/>
                          <a:pt x="33" y="17"/>
                          <a:pt x="34" y="18"/>
                        </a:cubicBezTo>
                        <a:cubicBezTo>
                          <a:pt x="35" y="18"/>
                          <a:pt x="36" y="18"/>
                          <a:pt x="39" y="18"/>
                        </a:cubicBezTo>
                        <a:cubicBezTo>
                          <a:pt x="41" y="18"/>
                          <a:pt x="44" y="17"/>
                          <a:pt x="46" y="16"/>
                        </a:cubicBezTo>
                        <a:cubicBezTo>
                          <a:pt x="47" y="15"/>
                          <a:pt x="49" y="15"/>
                          <a:pt x="50" y="14"/>
                        </a:cubicBezTo>
                        <a:cubicBezTo>
                          <a:pt x="51" y="16"/>
                          <a:pt x="53" y="17"/>
                          <a:pt x="55" y="19"/>
                        </a:cubicBezTo>
                        <a:cubicBezTo>
                          <a:pt x="55" y="19"/>
                          <a:pt x="55" y="19"/>
                          <a:pt x="55" y="19"/>
                        </a:cubicBezTo>
                        <a:close/>
                      </a:path>
                    </a:pathLst>
                  </a:custGeom>
                  <a:solidFill>
                    <a:srgbClr val="663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39" name="Freeform 9"/>
                  <p:cNvSpPr>
                    <a:spLocks/>
                  </p:cNvSpPr>
                  <p:nvPr/>
                </p:nvSpPr>
                <p:spPr bwMode="auto">
                  <a:xfrm>
                    <a:off x="1761328" y="1767277"/>
                    <a:ext cx="463550" cy="481013"/>
                  </a:xfrm>
                  <a:custGeom>
                    <a:avLst/>
                    <a:gdLst>
                      <a:gd name="T0" fmla="*/ 67 w 123"/>
                      <a:gd name="T1" fmla="*/ 97 h 128"/>
                      <a:gd name="T2" fmla="*/ 65 w 123"/>
                      <a:gd name="T3" fmla="*/ 97 h 128"/>
                      <a:gd name="T4" fmla="*/ 54 w 123"/>
                      <a:gd name="T5" fmla="*/ 104 h 128"/>
                      <a:gd name="T6" fmla="*/ 48 w 123"/>
                      <a:gd name="T7" fmla="*/ 102 h 128"/>
                      <a:gd name="T8" fmla="*/ 42 w 123"/>
                      <a:gd name="T9" fmla="*/ 101 h 128"/>
                      <a:gd name="T10" fmla="*/ 36 w 123"/>
                      <a:gd name="T11" fmla="*/ 106 h 128"/>
                      <a:gd name="T12" fmla="*/ 33 w 123"/>
                      <a:gd name="T13" fmla="*/ 108 h 128"/>
                      <a:gd name="T14" fmla="*/ 22 w 123"/>
                      <a:gd name="T15" fmla="*/ 107 h 128"/>
                      <a:gd name="T16" fmla="*/ 17 w 123"/>
                      <a:gd name="T17" fmla="*/ 98 h 128"/>
                      <a:gd name="T18" fmla="*/ 12 w 123"/>
                      <a:gd name="T19" fmla="*/ 100 h 128"/>
                      <a:gd name="T20" fmla="*/ 6 w 123"/>
                      <a:gd name="T21" fmla="*/ 96 h 128"/>
                      <a:gd name="T22" fmla="*/ 0 w 123"/>
                      <a:gd name="T23" fmla="*/ 90 h 128"/>
                      <a:gd name="T24" fmla="*/ 0 w 123"/>
                      <a:gd name="T25" fmla="*/ 65 h 128"/>
                      <a:gd name="T26" fmla="*/ 10 w 123"/>
                      <a:gd name="T27" fmla="*/ 58 h 128"/>
                      <a:gd name="T28" fmla="*/ 7 w 123"/>
                      <a:gd name="T29" fmla="*/ 51 h 128"/>
                      <a:gd name="T30" fmla="*/ 18 w 123"/>
                      <a:gd name="T31" fmla="*/ 39 h 128"/>
                      <a:gd name="T32" fmla="*/ 21 w 123"/>
                      <a:gd name="T33" fmla="*/ 34 h 128"/>
                      <a:gd name="T34" fmla="*/ 27 w 123"/>
                      <a:gd name="T35" fmla="*/ 31 h 128"/>
                      <a:gd name="T36" fmla="*/ 38 w 123"/>
                      <a:gd name="T37" fmla="*/ 22 h 128"/>
                      <a:gd name="T38" fmla="*/ 43 w 123"/>
                      <a:gd name="T39" fmla="*/ 15 h 128"/>
                      <a:gd name="T40" fmla="*/ 55 w 123"/>
                      <a:gd name="T41" fmla="*/ 11 h 128"/>
                      <a:gd name="T42" fmla="*/ 63 w 123"/>
                      <a:gd name="T43" fmla="*/ 4 h 128"/>
                      <a:gd name="T44" fmla="*/ 72 w 123"/>
                      <a:gd name="T45" fmla="*/ 1 h 128"/>
                      <a:gd name="T46" fmla="*/ 79 w 123"/>
                      <a:gd name="T47" fmla="*/ 1 h 128"/>
                      <a:gd name="T48" fmla="*/ 88 w 123"/>
                      <a:gd name="T49" fmla="*/ 9 h 128"/>
                      <a:gd name="T50" fmla="*/ 107 w 123"/>
                      <a:gd name="T51" fmla="*/ 26 h 128"/>
                      <a:gd name="T52" fmla="*/ 109 w 123"/>
                      <a:gd name="T53" fmla="*/ 43 h 128"/>
                      <a:gd name="T54" fmla="*/ 106 w 123"/>
                      <a:gd name="T55" fmla="*/ 53 h 128"/>
                      <a:gd name="T56" fmla="*/ 112 w 123"/>
                      <a:gd name="T57" fmla="*/ 62 h 128"/>
                      <a:gd name="T58" fmla="*/ 116 w 123"/>
                      <a:gd name="T59" fmla="*/ 69 h 128"/>
                      <a:gd name="T60" fmla="*/ 114 w 123"/>
                      <a:gd name="T61" fmla="*/ 70 h 128"/>
                      <a:gd name="T62" fmla="*/ 116 w 123"/>
                      <a:gd name="T63" fmla="*/ 69 h 128"/>
                      <a:gd name="T64" fmla="*/ 121 w 123"/>
                      <a:gd name="T65" fmla="*/ 80 h 128"/>
                      <a:gd name="T66" fmla="*/ 121 w 123"/>
                      <a:gd name="T67" fmla="*/ 101 h 128"/>
                      <a:gd name="T68" fmla="*/ 117 w 123"/>
                      <a:gd name="T69" fmla="*/ 118 h 128"/>
                      <a:gd name="T70" fmla="*/ 115 w 123"/>
                      <a:gd name="T71" fmla="*/ 118 h 128"/>
                      <a:gd name="T72" fmla="*/ 117 w 123"/>
                      <a:gd name="T73" fmla="*/ 123 h 128"/>
                      <a:gd name="T74" fmla="*/ 108 w 123"/>
                      <a:gd name="T75" fmla="*/ 128 h 128"/>
                      <a:gd name="T76" fmla="*/ 92 w 123"/>
                      <a:gd name="T77" fmla="*/ 117 h 128"/>
                      <a:gd name="T78" fmla="*/ 92 w 123"/>
                      <a:gd name="T79" fmla="*/ 116 h 128"/>
                      <a:gd name="T80" fmla="*/ 91 w 123"/>
                      <a:gd name="T81" fmla="*/ 115 h 128"/>
                      <a:gd name="T82" fmla="*/ 84 w 123"/>
                      <a:gd name="T83" fmla="*/ 107 h 128"/>
                      <a:gd name="T84" fmla="*/ 86 w 123"/>
                      <a:gd name="T85" fmla="*/ 102 h 128"/>
                      <a:gd name="T86" fmla="*/ 74 w 123"/>
                      <a:gd name="T87" fmla="*/ 10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3" h="128">
                        <a:moveTo>
                          <a:pt x="68" y="98"/>
                        </a:moveTo>
                        <a:cubicBezTo>
                          <a:pt x="67" y="98"/>
                          <a:pt x="67" y="98"/>
                          <a:pt x="67" y="97"/>
                        </a:cubicBezTo>
                        <a:cubicBezTo>
                          <a:pt x="67" y="96"/>
                          <a:pt x="67" y="95"/>
                          <a:pt x="68" y="94"/>
                        </a:cubicBezTo>
                        <a:cubicBezTo>
                          <a:pt x="67" y="95"/>
                          <a:pt x="66" y="96"/>
                          <a:pt x="65" y="97"/>
                        </a:cubicBezTo>
                        <a:cubicBezTo>
                          <a:pt x="64" y="98"/>
                          <a:pt x="63" y="99"/>
                          <a:pt x="62" y="100"/>
                        </a:cubicBezTo>
                        <a:cubicBezTo>
                          <a:pt x="59" y="103"/>
                          <a:pt x="56" y="104"/>
                          <a:pt x="54" y="104"/>
                        </a:cubicBezTo>
                        <a:cubicBezTo>
                          <a:pt x="51" y="104"/>
                          <a:pt x="49" y="104"/>
                          <a:pt x="48" y="102"/>
                        </a:cubicBezTo>
                        <a:cubicBezTo>
                          <a:pt x="48" y="102"/>
                          <a:pt x="48" y="102"/>
                          <a:pt x="48" y="102"/>
                        </a:cubicBezTo>
                        <a:cubicBezTo>
                          <a:pt x="47" y="100"/>
                          <a:pt x="46" y="99"/>
                          <a:pt x="45" y="96"/>
                        </a:cubicBezTo>
                        <a:cubicBezTo>
                          <a:pt x="46" y="97"/>
                          <a:pt x="44" y="99"/>
                          <a:pt x="42" y="101"/>
                        </a:cubicBezTo>
                        <a:cubicBezTo>
                          <a:pt x="40" y="103"/>
                          <a:pt x="38" y="104"/>
                          <a:pt x="37" y="105"/>
                        </a:cubicBezTo>
                        <a:cubicBezTo>
                          <a:pt x="36" y="106"/>
                          <a:pt x="36" y="106"/>
                          <a:pt x="36" y="106"/>
                        </a:cubicBezTo>
                        <a:cubicBezTo>
                          <a:pt x="36" y="106"/>
                          <a:pt x="35" y="106"/>
                          <a:pt x="35" y="106"/>
                        </a:cubicBezTo>
                        <a:cubicBezTo>
                          <a:pt x="35" y="106"/>
                          <a:pt x="34" y="107"/>
                          <a:pt x="33" y="108"/>
                        </a:cubicBezTo>
                        <a:cubicBezTo>
                          <a:pt x="32" y="108"/>
                          <a:pt x="31" y="109"/>
                          <a:pt x="29" y="109"/>
                        </a:cubicBezTo>
                        <a:cubicBezTo>
                          <a:pt x="25" y="109"/>
                          <a:pt x="23" y="108"/>
                          <a:pt x="22" y="107"/>
                        </a:cubicBezTo>
                        <a:cubicBezTo>
                          <a:pt x="21" y="105"/>
                          <a:pt x="20" y="102"/>
                          <a:pt x="18" y="98"/>
                        </a:cubicBezTo>
                        <a:cubicBezTo>
                          <a:pt x="17" y="98"/>
                          <a:pt x="17" y="98"/>
                          <a:pt x="17" y="98"/>
                        </a:cubicBezTo>
                        <a:cubicBezTo>
                          <a:pt x="17" y="99"/>
                          <a:pt x="17" y="100"/>
                          <a:pt x="16" y="100"/>
                        </a:cubicBezTo>
                        <a:cubicBezTo>
                          <a:pt x="16" y="100"/>
                          <a:pt x="15" y="100"/>
                          <a:pt x="12" y="100"/>
                        </a:cubicBezTo>
                        <a:cubicBezTo>
                          <a:pt x="10" y="100"/>
                          <a:pt x="8" y="100"/>
                          <a:pt x="8" y="100"/>
                        </a:cubicBezTo>
                        <a:cubicBezTo>
                          <a:pt x="7" y="100"/>
                          <a:pt x="6" y="99"/>
                          <a:pt x="6" y="96"/>
                        </a:cubicBezTo>
                        <a:cubicBezTo>
                          <a:pt x="4" y="93"/>
                          <a:pt x="3" y="92"/>
                          <a:pt x="2" y="92"/>
                        </a:cubicBezTo>
                        <a:cubicBezTo>
                          <a:pt x="1" y="92"/>
                          <a:pt x="0" y="91"/>
                          <a:pt x="0" y="90"/>
                        </a:cubicBezTo>
                        <a:cubicBezTo>
                          <a:pt x="1" y="74"/>
                          <a:pt x="1" y="74"/>
                          <a:pt x="1" y="74"/>
                        </a:cubicBezTo>
                        <a:cubicBezTo>
                          <a:pt x="0" y="71"/>
                          <a:pt x="0" y="68"/>
                          <a:pt x="0" y="65"/>
                        </a:cubicBezTo>
                        <a:cubicBezTo>
                          <a:pt x="1" y="60"/>
                          <a:pt x="4" y="58"/>
                          <a:pt x="9" y="58"/>
                        </a:cubicBezTo>
                        <a:cubicBezTo>
                          <a:pt x="10" y="58"/>
                          <a:pt x="10" y="58"/>
                          <a:pt x="10" y="58"/>
                        </a:cubicBezTo>
                        <a:cubicBezTo>
                          <a:pt x="9" y="56"/>
                          <a:pt x="8" y="55"/>
                          <a:pt x="8" y="54"/>
                        </a:cubicBezTo>
                        <a:cubicBezTo>
                          <a:pt x="7" y="53"/>
                          <a:pt x="7" y="52"/>
                          <a:pt x="7" y="51"/>
                        </a:cubicBezTo>
                        <a:cubicBezTo>
                          <a:pt x="7" y="48"/>
                          <a:pt x="8" y="46"/>
                          <a:pt x="10" y="43"/>
                        </a:cubicBezTo>
                        <a:cubicBezTo>
                          <a:pt x="12" y="41"/>
                          <a:pt x="15" y="39"/>
                          <a:pt x="18" y="39"/>
                        </a:cubicBezTo>
                        <a:cubicBezTo>
                          <a:pt x="19" y="39"/>
                          <a:pt x="20" y="40"/>
                          <a:pt x="21" y="41"/>
                        </a:cubicBezTo>
                        <a:cubicBezTo>
                          <a:pt x="21" y="36"/>
                          <a:pt x="21" y="34"/>
                          <a:pt x="21" y="34"/>
                        </a:cubicBezTo>
                        <a:cubicBezTo>
                          <a:pt x="22" y="31"/>
                          <a:pt x="23" y="30"/>
                          <a:pt x="25" y="30"/>
                        </a:cubicBezTo>
                        <a:cubicBezTo>
                          <a:pt x="26" y="30"/>
                          <a:pt x="26" y="30"/>
                          <a:pt x="27" y="31"/>
                        </a:cubicBezTo>
                        <a:cubicBezTo>
                          <a:pt x="27" y="31"/>
                          <a:pt x="28" y="32"/>
                          <a:pt x="29" y="32"/>
                        </a:cubicBezTo>
                        <a:cubicBezTo>
                          <a:pt x="37" y="29"/>
                          <a:pt x="40" y="25"/>
                          <a:pt x="38" y="22"/>
                        </a:cubicBezTo>
                        <a:cubicBezTo>
                          <a:pt x="43" y="22"/>
                          <a:pt x="43" y="22"/>
                          <a:pt x="43" y="22"/>
                        </a:cubicBezTo>
                        <a:cubicBezTo>
                          <a:pt x="43" y="19"/>
                          <a:pt x="43" y="17"/>
                          <a:pt x="43" y="15"/>
                        </a:cubicBezTo>
                        <a:cubicBezTo>
                          <a:pt x="44" y="11"/>
                          <a:pt x="46" y="9"/>
                          <a:pt x="51" y="9"/>
                        </a:cubicBezTo>
                        <a:cubicBezTo>
                          <a:pt x="52" y="9"/>
                          <a:pt x="53" y="10"/>
                          <a:pt x="55" y="11"/>
                        </a:cubicBezTo>
                        <a:cubicBezTo>
                          <a:pt x="56" y="13"/>
                          <a:pt x="57" y="14"/>
                          <a:pt x="58" y="14"/>
                        </a:cubicBezTo>
                        <a:cubicBezTo>
                          <a:pt x="60" y="11"/>
                          <a:pt x="61" y="8"/>
                          <a:pt x="63" y="4"/>
                        </a:cubicBezTo>
                        <a:cubicBezTo>
                          <a:pt x="64" y="2"/>
                          <a:pt x="66" y="0"/>
                          <a:pt x="69" y="0"/>
                        </a:cubicBezTo>
                        <a:cubicBezTo>
                          <a:pt x="72" y="1"/>
                          <a:pt x="72" y="1"/>
                          <a:pt x="72" y="1"/>
                        </a:cubicBezTo>
                        <a:cubicBezTo>
                          <a:pt x="75" y="2"/>
                          <a:pt x="77" y="2"/>
                          <a:pt x="78" y="2"/>
                        </a:cubicBezTo>
                        <a:cubicBezTo>
                          <a:pt x="79" y="1"/>
                          <a:pt x="79" y="1"/>
                          <a:pt x="79" y="1"/>
                        </a:cubicBezTo>
                        <a:cubicBezTo>
                          <a:pt x="79" y="1"/>
                          <a:pt x="79" y="1"/>
                          <a:pt x="79" y="1"/>
                        </a:cubicBezTo>
                        <a:cubicBezTo>
                          <a:pt x="81" y="2"/>
                          <a:pt x="84" y="4"/>
                          <a:pt x="88" y="9"/>
                        </a:cubicBezTo>
                        <a:cubicBezTo>
                          <a:pt x="93" y="14"/>
                          <a:pt x="95" y="19"/>
                          <a:pt x="94" y="24"/>
                        </a:cubicBezTo>
                        <a:cubicBezTo>
                          <a:pt x="101" y="23"/>
                          <a:pt x="105" y="24"/>
                          <a:pt x="107" y="26"/>
                        </a:cubicBezTo>
                        <a:cubicBezTo>
                          <a:pt x="109" y="28"/>
                          <a:pt x="110" y="31"/>
                          <a:pt x="110" y="36"/>
                        </a:cubicBezTo>
                        <a:cubicBezTo>
                          <a:pt x="110" y="40"/>
                          <a:pt x="109" y="42"/>
                          <a:pt x="109" y="43"/>
                        </a:cubicBezTo>
                        <a:cubicBezTo>
                          <a:pt x="107" y="45"/>
                          <a:pt x="105" y="48"/>
                          <a:pt x="103" y="50"/>
                        </a:cubicBezTo>
                        <a:cubicBezTo>
                          <a:pt x="106" y="53"/>
                          <a:pt x="106" y="53"/>
                          <a:pt x="106" y="53"/>
                        </a:cubicBezTo>
                        <a:cubicBezTo>
                          <a:pt x="108" y="55"/>
                          <a:pt x="109" y="56"/>
                          <a:pt x="110" y="58"/>
                        </a:cubicBezTo>
                        <a:cubicBezTo>
                          <a:pt x="110" y="59"/>
                          <a:pt x="111" y="60"/>
                          <a:pt x="112" y="62"/>
                        </a:cubicBezTo>
                        <a:cubicBezTo>
                          <a:pt x="113" y="62"/>
                          <a:pt x="114" y="63"/>
                          <a:pt x="116" y="65"/>
                        </a:cubicBezTo>
                        <a:cubicBezTo>
                          <a:pt x="116" y="69"/>
                          <a:pt x="116" y="69"/>
                          <a:pt x="116" y="69"/>
                        </a:cubicBezTo>
                        <a:cubicBezTo>
                          <a:pt x="115" y="69"/>
                          <a:pt x="115" y="69"/>
                          <a:pt x="114" y="69"/>
                        </a:cubicBezTo>
                        <a:cubicBezTo>
                          <a:pt x="114" y="70"/>
                          <a:pt x="114" y="70"/>
                          <a:pt x="114" y="70"/>
                        </a:cubicBezTo>
                        <a:cubicBezTo>
                          <a:pt x="114" y="70"/>
                          <a:pt x="115" y="70"/>
                          <a:pt x="116" y="70"/>
                        </a:cubicBezTo>
                        <a:cubicBezTo>
                          <a:pt x="116" y="69"/>
                          <a:pt x="116" y="69"/>
                          <a:pt x="116" y="69"/>
                        </a:cubicBezTo>
                        <a:cubicBezTo>
                          <a:pt x="119" y="70"/>
                          <a:pt x="120" y="71"/>
                          <a:pt x="121" y="73"/>
                        </a:cubicBezTo>
                        <a:cubicBezTo>
                          <a:pt x="121" y="74"/>
                          <a:pt x="121" y="77"/>
                          <a:pt x="121" y="80"/>
                        </a:cubicBezTo>
                        <a:cubicBezTo>
                          <a:pt x="121" y="83"/>
                          <a:pt x="120" y="87"/>
                          <a:pt x="119" y="92"/>
                        </a:cubicBezTo>
                        <a:cubicBezTo>
                          <a:pt x="119" y="92"/>
                          <a:pt x="119" y="95"/>
                          <a:pt x="121" y="101"/>
                        </a:cubicBezTo>
                        <a:cubicBezTo>
                          <a:pt x="122" y="107"/>
                          <a:pt x="123" y="111"/>
                          <a:pt x="123" y="113"/>
                        </a:cubicBezTo>
                        <a:cubicBezTo>
                          <a:pt x="123" y="117"/>
                          <a:pt x="121" y="118"/>
                          <a:pt x="117" y="118"/>
                        </a:cubicBezTo>
                        <a:cubicBezTo>
                          <a:pt x="117" y="118"/>
                          <a:pt x="116" y="118"/>
                          <a:pt x="116" y="118"/>
                        </a:cubicBezTo>
                        <a:cubicBezTo>
                          <a:pt x="115" y="118"/>
                          <a:pt x="115" y="118"/>
                          <a:pt x="115" y="118"/>
                        </a:cubicBezTo>
                        <a:cubicBezTo>
                          <a:pt x="115" y="118"/>
                          <a:pt x="116" y="119"/>
                          <a:pt x="116" y="119"/>
                        </a:cubicBezTo>
                        <a:cubicBezTo>
                          <a:pt x="117" y="121"/>
                          <a:pt x="117" y="122"/>
                          <a:pt x="117" y="123"/>
                        </a:cubicBezTo>
                        <a:cubicBezTo>
                          <a:pt x="117" y="126"/>
                          <a:pt x="116" y="128"/>
                          <a:pt x="113" y="128"/>
                        </a:cubicBezTo>
                        <a:cubicBezTo>
                          <a:pt x="113" y="128"/>
                          <a:pt x="111" y="128"/>
                          <a:pt x="108" y="128"/>
                        </a:cubicBezTo>
                        <a:cubicBezTo>
                          <a:pt x="104" y="128"/>
                          <a:pt x="101" y="128"/>
                          <a:pt x="99" y="126"/>
                        </a:cubicBezTo>
                        <a:cubicBezTo>
                          <a:pt x="97" y="125"/>
                          <a:pt x="95" y="122"/>
                          <a:pt x="92" y="117"/>
                        </a:cubicBezTo>
                        <a:cubicBezTo>
                          <a:pt x="92" y="117"/>
                          <a:pt x="93" y="117"/>
                          <a:pt x="94" y="117"/>
                        </a:cubicBezTo>
                        <a:cubicBezTo>
                          <a:pt x="93" y="116"/>
                          <a:pt x="93" y="116"/>
                          <a:pt x="92" y="116"/>
                        </a:cubicBezTo>
                        <a:cubicBezTo>
                          <a:pt x="92" y="116"/>
                          <a:pt x="92" y="115"/>
                          <a:pt x="91" y="115"/>
                        </a:cubicBezTo>
                        <a:cubicBezTo>
                          <a:pt x="91" y="115"/>
                          <a:pt x="91" y="115"/>
                          <a:pt x="91" y="115"/>
                        </a:cubicBezTo>
                        <a:cubicBezTo>
                          <a:pt x="89" y="113"/>
                          <a:pt x="87" y="112"/>
                          <a:pt x="86" y="110"/>
                        </a:cubicBezTo>
                        <a:cubicBezTo>
                          <a:pt x="85" y="109"/>
                          <a:pt x="84" y="108"/>
                          <a:pt x="84" y="107"/>
                        </a:cubicBezTo>
                        <a:cubicBezTo>
                          <a:pt x="84" y="106"/>
                          <a:pt x="85" y="106"/>
                          <a:pt x="85" y="105"/>
                        </a:cubicBezTo>
                        <a:cubicBezTo>
                          <a:pt x="85" y="104"/>
                          <a:pt x="86" y="103"/>
                          <a:pt x="86" y="102"/>
                        </a:cubicBezTo>
                        <a:cubicBezTo>
                          <a:pt x="81" y="102"/>
                          <a:pt x="78" y="102"/>
                          <a:pt x="75" y="102"/>
                        </a:cubicBezTo>
                        <a:cubicBezTo>
                          <a:pt x="75" y="102"/>
                          <a:pt x="74" y="102"/>
                          <a:pt x="74" y="102"/>
                        </a:cubicBezTo>
                        <a:cubicBezTo>
                          <a:pt x="71" y="101"/>
                          <a:pt x="68" y="100"/>
                          <a:pt x="68" y="98"/>
                        </a:cubicBezTo>
                        <a:close/>
                      </a:path>
                    </a:pathLst>
                  </a:custGeom>
                  <a:solidFill>
                    <a:schemeClr val="accent1">
                      <a:lumMod val="60000"/>
                      <a:lumOff val="40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0" name="Freeform 10"/>
                  <p:cNvSpPr>
                    <a:spLocks/>
                  </p:cNvSpPr>
                  <p:nvPr/>
                </p:nvSpPr>
                <p:spPr bwMode="auto">
                  <a:xfrm>
                    <a:off x="2194716" y="2207014"/>
                    <a:ext cx="0" cy="4763"/>
                  </a:xfrm>
                  <a:custGeom>
                    <a:avLst/>
                    <a:gdLst>
                      <a:gd name="T0" fmla="*/ 0 h 3"/>
                      <a:gd name="T1" fmla="*/ 0 h 3"/>
                      <a:gd name="T2" fmla="*/ 3 h 3"/>
                      <a:gd name="T3" fmla="*/ 0 h 3"/>
                    </a:gdLst>
                    <a:ahLst/>
                    <a:cxnLst>
                      <a:cxn ang="0">
                        <a:pos x="0" y="T0"/>
                      </a:cxn>
                      <a:cxn ang="0">
                        <a:pos x="0" y="T1"/>
                      </a:cxn>
                      <a:cxn ang="0">
                        <a:pos x="0" y="T2"/>
                      </a:cxn>
                      <a:cxn ang="0">
                        <a:pos x="0" y="T3"/>
                      </a:cxn>
                    </a:cxnLst>
                    <a:rect l="0" t="0" r="r" b="b"/>
                    <a:pathLst>
                      <a:path h="3">
                        <a:moveTo>
                          <a:pt x="0" y="0"/>
                        </a:moveTo>
                        <a:lnTo>
                          <a:pt x="0" y="0"/>
                        </a:lnTo>
                        <a:lnTo>
                          <a:pt x="0" y="3"/>
                        </a:lnTo>
                        <a:lnTo>
                          <a:pt x="0" y="0"/>
                        </a:lnTo>
                        <a:close/>
                      </a:path>
                    </a:pathLst>
                  </a:custGeom>
                  <a:solidFill>
                    <a:srgbClr val="0099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41" name="Freeform 11"/>
                  <p:cNvSpPr>
                    <a:spLocks/>
                  </p:cNvSpPr>
                  <p:nvPr/>
                </p:nvSpPr>
                <p:spPr bwMode="auto">
                  <a:xfrm>
                    <a:off x="1799428" y="1984764"/>
                    <a:ext cx="7938" cy="4763"/>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0" y="0"/>
                        </a:cubicBezTo>
                        <a:cubicBezTo>
                          <a:pt x="0" y="0"/>
                          <a:pt x="0" y="0"/>
                          <a:pt x="0" y="0"/>
                        </a:cubicBezTo>
                        <a:cubicBezTo>
                          <a:pt x="1" y="0"/>
                          <a:pt x="1" y="1"/>
                          <a:pt x="1" y="1"/>
                        </a:cubicBezTo>
                        <a:lnTo>
                          <a:pt x="2" y="1"/>
                        </a:lnTo>
                        <a:close/>
                      </a:path>
                    </a:pathLst>
                  </a:custGeom>
                  <a:solidFill>
                    <a:srgbClr val="0099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nvGrpSpPr>
                <p:cNvPr id="435" name="Group 434"/>
                <p:cNvGrpSpPr/>
                <p:nvPr/>
              </p:nvGrpSpPr>
              <p:grpSpPr>
                <a:xfrm rot="167060">
                  <a:off x="1938783" y="2166304"/>
                  <a:ext cx="458116" cy="657807"/>
                  <a:chOff x="8613775" y="2378075"/>
                  <a:chExt cx="681038" cy="977901"/>
                </a:xfrm>
              </p:grpSpPr>
              <p:sp>
                <p:nvSpPr>
                  <p:cNvPr id="436" name="Freeform 7"/>
                  <p:cNvSpPr>
                    <a:spLocks/>
                  </p:cNvSpPr>
                  <p:nvPr/>
                </p:nvSpPr>
                <p:spPr bwMode="auto">
                  <a:xfrm>
                    <a:off x="8789988" y="3062288"/>
                    <a:ext cx="271463" cy="293688"/>
                  </a:xfrm>
                  <a:custGeom>
                    <a:avLst/>
                    <a:gdLst>
                      <a:gd name="T0" fmla="*/ 69 w 72"/>
                      <a:gd name="T1" fmla="*/ 21 h 78"/>
                      <a:gd name="T2" fmla="*/ 72 w 72"/>
                      <a:gd name="T3" fmla="*/ 23 h 78"/>
                      <a:gd name="T4" fmla="*/ 68 w 72"/>
                      <a:gd name="T5" fmla="*/ 31 h 78"/>
                      <a:gd name="T6" fmla="*/ 37 w 72"/>
                      <a:gd name="T7" fmla="*/ 40 h 78"/>
                      <a:gd name="T8" fmla="*/ 27 w 72"/>
                      <a:gd name="T9" fmla="*/ 78 h 78"/>
                      <a:gd name="T10" fmla="*/ 0 w 72"/>
                      <a:gd name="T11" fmla="*/ 78 h 78"/>
                      <a:gd name="T12" fmla="*/ 18 w 72"/>
                      <a:gd name="T13" fmla="*/ 41 h 78"/>
                      <a:gd name="T14" fmla="*/ 18 w 72"/>
                      <a:gd name="T15" fmla="*/ 0 h 78"/>
                      <a:gd name="T16" fmla="*/ 27 w 72"/>
                      <a:gd name="T17" fmla="*/ 4 h 78"/>
                      <a:gd name="T18" fmla="*/ 35 w 72"/>
                      <a:gd name="T19" fmla="*/ 6 h 78"/>
                      <a:gd name="T20" fmla="*/ 38 w 72"/>
                      <a:gd name="T21" fmla="*/ 25 h 78"/>
                      <a:gd name="T22" fmla="*/ 52 w 72"/>
                      <a:gd name="T23" fmla="*/ 18 h 78"/>
                      <a:gd name="T24" fmla="*/ 38 w 72"/>
                      <a:gd name="T25" fmla="*/ 31 h 78"/>
                      <a:gd name="T26" fmla="*/ 69 w 72"/>
                      <a:gd name="T27" fmla="*/ 2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78">
                        <a:moveTo>
                          <a:pt x="69" y="21"/>
                        </a:moveTo>
                        <a:cubicBezTo>
                          <a:pt x="69" y="21"/>
                          <a:pt x="70" y="22"/>
                          <a:pt x="72" y="23"/>
                        </a:cubicBezTo>
                        <a:cubicBezTo>
                          <a:pt x="68" y="25"/>
                          <a:pt x="67" y="27"/>
                          <a:pt x="68" y="31"/>
                        </a:cubicBezTo>
                        <a:cubicBezTo>
                          <a:pt x="55" y="41"/>
                          <a:pt x="45" y="44"/>
                          <a:pt x="37" y="40"/>
                        </a:cubicBezTo>
                        <a:cubicBezTo>
                          <a:pt x="36" y="53"/>
                          <a:pt x="32" y="65"/>
                          <a:pt x="27" y="78"/>
                        </a:cubicBezTo>
                        <a:cubicBezTo>
                          <a:pt x="0" y="78"/>
                          <a:pt x="0" y="78"/>
                          <a:pt x="0" y="78"/>
                        </a:cubicBezTo>
                        <a:cubicBezTo>
                          <a:pt x="18" y="41"/>
                          <a:pt x="18" y="41"/>
                          <a:pt x="18" y="41"/>
                        </a:cubicBezTo>
                        <a:cubicBezTo>
                          <a:pt x="22" y="30"/>
                          <a:pt x="22" y="16"/>
                          <a:pt x="18" y="0"/>
                        </a:cubicBezTo>
                        <a:cubicBezTo>
                          <a:pt x="21" y="2"/>
                          <a:pt x="24" y="3"/>
                          <a:pt x="27" y="4"/>
                        </a:cubicBezTo>
                        <a:cubicBezTo>
                          <a:pt x="30" y="5"/>
                          <a:pt x="32" y="6"/>
                          <a:pt x="35" y="6"/>
                        </a:cubicBezTo>
                        <a:cubicBezTo>
                          <a:pt x="36" y="12"/>
                          <a:pt x="37" y="19"/>
                          <a:pt x="38" y="25"/>
                        </a:cubicBezTo>
                        <a:cubicBezTo>
                          <a:pt x="52" y="18"/>
                          <a:pt x="52" y="18"/>
                          <a:pt x="52" y="18"/>
                        </a:cubicBezTo>
                        <a:cubicBezTo>
                          <a:pt x="38" y="31"/>
                          <a:pt x="38" y="31"/>
                          <a:pt x="38" y="31"/>
                        </a:cubicBezTo>
                        <a:cubicBezTo>
                          <a:pt x="48" y="37"/>
                          <a:pt x="58" y="33"/>
                          <a:pt x="69" y="21"/>
                        </a:cubicBezTo>
                        <a:close/>
                      </a:path>
                    </a:pathLst>
                  </a:custGeom>
                  <a:solidFill>
                    <a:srgbClr val="663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37" name="Freeform 8"/>
                  <p:cNvSpPr>
                    <a:spLocks noEditPoints="1"/>
                  </p:cNvSpPr>
                  <p:nvPr/>
                </p:nvSpPr>
                <p:spPr bwMode="auto">
                  <a:xfrm>
                    <a:off x="8613775" y="2378075"/>
                    <a:ext cx="681038" cy="862013"/>
                  </a:xfrm>
                  <a:custGeom>
                    <a:avLst/>
                    <a:gdLst>
                      <a:gd name="T0" fmla="*/ 65 w 181"/>
                      <a:gd name="T1" fmla="*/ 182 h 229"/>
                      <a:gd name="T2" fmla="*/ 44 w 181"/>
                      <a:gd name="T3" fmla="*/ 144 h 229"/>
                      <a:gd name="T4" fmla="*/ 7 w 181"/>
                      <a:gd name="T5" fmla="*/ 127 h 229"/>
                      <a:gd name="T6" fmla="*/ 9 w 181"/>
                      <a:gd name="T7" fmla="*/ 90 h 229"/>
                      <a:gd name="T8" fmla="*/ 49 w 181"/>
                      <a:gd name="T9" fmla="*/ 67 h 229"/>
                      <a:gd name="T10" fmla="*/ 60 w 181"/>
                      <a:gd name="T11" fmla="*/ 45 h 229"/>
                      <a:gd name="T12" fmla="*/ 84 w 181"/>
                      <a:gd name="T13" fmla="*/ 35 h 229"/>
                      <a:gd name="T14" fmla="*/ 140 w 181"/>
                      <a:gd name="T15" fmla="*/ 14 h 229"/>
                      <a:gd name="T16" fmla="*/ 158 w 181"/>
                      <a:gd name="T17" fmla="*/ 49 h 229"/>
                      <a:gd name="T18" fmla="*/ 155 w 181"/>
                      <a:gd name="T19" fmla="*/ 98 h 229"/>
                      <a:gd name="T20" fmla="*/ 148 w 181"/>
                      <a:gd name="T21" fmla="*/ 155 h 229"/>
                      <a:gd name="T22" fmla="*/ 127 w 181"/>
                      <a:gd name="T23" fmla="*/ 169 h 229"/>
                      <a:gd name="T24" fmla="*/ 105 w 181"/>
                      <a:gd name="T25" fmla="*/ 179 h 229"/>
                      <a:gd name="T26" fmla="*/ 82 w 181"/>
                      <a:gd name="T27" fmla="*/ 188 h 229"/>
                      <a:gd name="T28" fmla="*/ 74 w 181"/>
                      <a:gd name="T29" fmla="*/ 186 h 229"/>
                      <a:gd name="T30" fmla="*/ 65 w 181"/>
                      <a:gd name="T31" fmla="*/ 182 h 229"/>
                      <a:gd name="T32" fmla="*/ 115 w 181"/>
                      <a:gd name="T33" fmla="*/ 213 h 229"/>
                      <a:gd name="T34" fmla="*/ 119 w 181"/>
                      <a:gd name="T35" fmla="*/ 205 h 229"/>
                      <a:gd name="T36" fmla="*/ 116 w 181"/>
                      <a:gd name="T37" fmla="*/ 203 h 229"/>
                      <a:gd name="T38" fmla="*/ 115 w 181"/>
                      <a:gd name="T39" fmla="*/ 195 h 229"/>
                      <a:gd name="T40" fmla="*/ 122 w 181"/>
                      <a:gd name="T41" fmla="*/ 189 h 229"/>
                      <a:gd name="T42" fmla="*/ 134 w 181"/>
                      <a:gd name="T43" fmla="*/ 192 h 229"/>
                      <a:gd name="T44" fmla="*/ 140 w 181"/>
                      <a:gd name="T45" fmla="*/ 190 h 229"/>
                      <a:gd name="T46" fmla="*/ 146 w 181"/>
                      <a:gd name="T47" fmla="*/ 192 h 229"/>
                      <a:gd name="T48" fmla="*/ 153 w 181"/>
                      <a:gd name="T49" fmla="*/ 192 h 229"/>
                      <a:gd name="T50" fmla="*/ 160 w 181"/>
                      <a:gd name="T51" fmla="*/ 199 h 229"/>
                      <a:gd name="T52" fmla="*/ 157 w 181"/>
                      <a:gd name="T53" fmla="*/ 208 h 229"/>
                      <a:gd name="T54" fmla="*/ 147 w 181"/>
                      <a:gd name="T55" fmla="*/ 217 h 229"/>
                      <a:gd name="T56" fmla="*/ 146 w 181"/>
                      <a:gd name="T57" fmla="*/ 221 h 229"/>
                      <a:gd name="T58" fmla="*/ 136 w 181"/>
                      <a:gd name="T59" fmla="*/ 226 h 229"/>
                      <a:gd name="T60" fmla="*/ 129 w 181"/>
                      <a:gd name="T61" fmla="*/ 225 h 229"/>
                      <a:gd name="T62" fmla="*/ 123 w 181"/>
                      <a:gd name="T63" fmla="*/ 223 h 229"/>
                      <a:gd name="T64" fmla="*/ 117 w 181"/>
                      <a:gd name="T65" fmla="*/ 218 h 229"/>
                      <a:gd name="T66" fmla="*/ 115 w 181"/>
                      <a:gd name="T67" fmla="*/ 213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1" h="229">
                        <a:moveTo>
                          <a:pt x="65" y="182"/>
                        </a:moveTo>
                        <a:cubicBezTo>
                          <a:pt x="47" y="174"/>
                          <a:pt x="40" y="161"/>
                          <a:pt x="44" y="144"/>
                        </a:cubicBezTo>
                        <a:cubicBezTo>
                          <a:pt x="26" y="149"/>
                          <a:pt x="14" y="144"/>
                          <a:pt x="7" y="127"/>
                        </a:cubicBezTo>
                        <a:cubicBezTo>
                          <a:pt x="0" y="109"/>
                          <a:pt x="1" y="97"/>
                          <a:pt x="9" y="90"/>
                        </a:cubicBezTo>
                        <a:cubicBezTo>
                          <a:pt x="19" y="70"/>
                          <a:pt x="32" y="63"/>
                          <a:pt x="49" y="67"/>
                        </a:cubicBezTo>
                        <a:cubicBezTo>
                          <a:pt x="44" y="46"/>
                          <a:pt x="47" y="39"/>
                          <a:pt x="60" y="45"/>
                        </a:cubicBezTo>
                        <a:cubicBezTo>
                          <a:pt x="68" y="28"/>
                          <a:pt x="75" y="25"/>
                          <a:pt x="84" y="35"/>
                        </a:cubicBezTo>
                        <a:cubicBezTo>
                          <a:pt x="108" y="7"/>
                          <a:pt x="127" y="0"/>
                          <a:pt x="140" y="14"/>
                        </a:cubicBezTo>
                        <a:cubicBezTo>
                          <a:pt x="154" y="28"/>
                          <a:pt x="160" y="39"/>
                          <a:pt x="158" y="49"/>
                        </a:cubicBezTo>
                        <a:cubicBezTo>
                          <a:pt x="181" y="67"/>
                          <a:pt x="181" y="84"/>
                          <a:pt x="155" y="98"/>
                        </a:cubicBezTo>
                        <a:cubicBezTo>
                          <a:pt x="174" y="119"/>
                          <a:pt x="171" y="138"/>
                          <a:pt x="148" y="155"/>
                        </a:cubicBezTo>
                        <a:cubicBezTo>
                          <a:pt x="152" y="165"/>
                          <a:pt x="145" y="170"/>
                          <a:pt x="127" y="169"/>
                        </a:cubicBezTo>
                        <a:cubicBezTo>
                          <a:pt x="127" y="185"/>
                          <a:pt x="120" y="188"/>
                          <a:pt x="105" y="179"/>
                        </a:cubicBezTo>
                        <a:cubicBezTo>
                          <a:pt x="96" y="185"/>
                          <a:pt x="88" y="188"/>
                          <a:pt x="82" y="188"/>
                        </a:cubicBezTo>
                        <a:cubicBezTo>
                          <a:pt x="79" y="188"/>
                          <a:pt x="77" y="187"/>
                          <a:pt x="74" y="186"/>
                        </a:cubicBezTo>
                        <a:cubicBezTo>
                          <a:pt x="71" y="185"/>
                          <a:pt x="68" y="184"/>
                          <a:pt x="65" y="182"/>
                        </a:cubicBezTo>
                        <a:close/>
                        <a:moveTo>
                          <a:pt x="115" y="213"/>
                        </a:moveTo>
                        <a:cubicBezTo>
                          <a:pt x="114" y="209"/>
                          <a:pt x="115" y="207"/>
                          <a:pt x="119" y="205"/>
                        </a:cubicBezTo>
                        <a:cubicBezTo>
                          <a:pt x="117" y="204"/>
                          <a:pt x="116" y="203"/>
                          <a:pt x="116" y="203"/>
                        </a:cubicBezTo>
                        <a:cubicBezTo>
                          <a:pt x="114" y="201"/>
                          <a:pt x="113" y="198"/>
                          <a:pt x="115" y="195"/>
                        </a:cubicBezTo>
                        <a:cubicBezTo>
                          <a:pt x="117" y="191"/>
                          <a:pt x="119" y="188"/>
                          <a:pt x="122" y="189"/>
                        </a:cubicBezTo>
                        <a:cubicBezTo>
                          <a:pt x="127" y="187"/>
                          <a:pt x="131" y="188"/>
                          <a:pt x="134" y="192"/>
                        </a:cubicBezTo>
                        <a:cubicBezTo>
                          <a:pt x="136" y="187"/>
                          <a:pt x="138" y="186"/>
                          <a:pt x="140" y="190"/>
                        </a:cubicBezTo>
                        <a:cubicBezTo>
                          <a:pt x="144" y="188"/>
                          <a:pt x="146" y="189"/>
                          <a:pt x="146" y="192"/>
                        </a:cubicBezTo>
                        <a:cubicBezTo>
                          <a:pt x="149" y="192"/>
                          <a:pt x="151" y="192"/>
                          <a:pt x="153" y="192"/>
                        </a:cubicBezTo>
                        <a:cubicBezTo>
                          <a:pt x="158" y="193"/>
                          <a:pt x="160" y="195"/>
                          <a:pt x="160" y="199"/>
                        </a:cubicBezTo>
                        <a:cubicBezTo>
                          <a:pt x="160" y="204"/>
                          <a:pt x="159" y="207"/>
                          <a:pt x="157" y="208"/>
                        </a:cubicBezTo>
                        <a:cubicBezTo>
                          <a:pt x="158" y="216"/>
                          <a:pt x="155" y="219"/>
                          <a:pt x="147" y="217"/>
                        </a:cubicBezTo>
                        <a:cubicBezTo>
                          <a:pt x="147" y="219"/>
                          <a:pt x="147" y="220"/>
                          <a:pt x="146" y="221"/>
                        </a:cubicBezTo>
                        <a:cubicBezTo>
                          <a:pt x="145" y="225"/>
                          <a:pt x="141" y="227"/>
                          <a:pt x="136" y="226"/>
                        </a:cubicBezTo>
                        <a:cubicBezTo>
                          <a:pt x="135" y="229"/>
                          <a:pt x="132" y="228"/>
                          <a:pt x="129" y="225"/>
                        </a:cubicBezTo>
                        <a:cubicBezTo>
                          <a:pt x="126" y="228"/>
                          <a:pt x="124" y="227"/>
                          <a:pt x="123" y="223"/>
                        </a:cubicBezTo>
                        <a:cubicBezTo>
                          <a:pt x="119" y="222"/>
                          <a:pt x="117" y="220"/>
                          <a:pt x="117" y="218"/>
                        </a:cubicBezTo>
                        <a:cubicBezTo>
                          <a:pt x="116" y="216"/>
                          <a:pt x="115" y="215"/>
                          <a:pt x="115" y="213"/>
                        </a:cubicBezTo>
                        <a:close/>
                      </a:path>
                    </a:pathLst>
                  </a:custGeom>
                  <a:solidFill>
                    <a:srgbClr val="006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grpSp>
            <p:nvGrpSpPr>
              <p:cNvPr id="371" name="Group 370"/>
              <p:cNvGrpSpPr/>
              <p:nvPr/>
            </p:nvGrpSpPr>
            <p:grpSpPr>
              <a:xfrm rot="21095836">
                <a:off x="769016" y="2690048"/>
                <a:ext cx="494446" cy="559612"/>
                <a:chOff x="3893446" y="3176634"/>
                <a:chExt cx="563342" cy="637589"/>
              </a:xfrm>
            </p:grpSpPr>
            <p:sp>
              <p:nvSpPr>
                <p:cNvPr id="424" name="Freeform 423"/>
                <p:cNvSpPr/>
                <p:nvPr/>
              </p:nvSpPr>
              <p:spPr bwMode="gray">
                <a:xfrm rot="290153">
                  <a:off x="4254144" y="3176634"/>
                  <a:ext cx="202644" cy="637589"/>
                </a:xfrm>
                <a:custGeom>
                  <a:avLst/>
                  <a:gdLst>
                    <a:gd name="connsiteX0" fmla="*/ 78581 w 133350"/>
                    <a:gd name="connsiteY0" fmla="*/ 361950 h 416719"/>
                    <a:gd name="connsiteX1" fmla="*/ 47625 w 133350"/>
                    <a:gd name="connsiteY1" fmla="*/ 223838 h 416719"/>
                    <a:gd name="connsiteX2" fmla="*/ 133350 w 133350"/>
                    <a:gd name="connsiteY2" fmla="*/ 209550 h 416719"/>
                    <a:gd name="connsiteX3" fmla="*/ 78581 w 133350"/>
                    <a:gd name="connsiteY3" fmla="*/ 30957 h 416719"/>
                    <a:gd name="connsiteX4" fmla="*/ 107156 w 133350"/>
                    <a:gd name="connsiteY4" fmla="*/ 19050 h 416719"/>
                    <a:gd name="connsiteX5" fmla="*/ 35719 w 133350"/>
                    <a:gd name="connsiteY5" fmla="*/ 0 h 416719"/>
                    <a:gd name="connsiteX6" fmla="*/ 11906 w 133350"/>
                    <a:gd name="connsiteY6" fmla="*/ 57150 h 416719"/>
                    <a:gd name="connsiteX7" fmla="*/ 47625 w 133350"/>
                    <a:gd name="connsiteY7" fmla="*/ 57150 h 416719"/>
                    <a:gd name="connsiteX8" fmla="*/ 88106 w 133350"/>
                    <a:gd name="connsiteY8" fmla="*/ 176213 h 416719"/>
                    <a:gd name="connsiteX9" fmla="*/ 0 w 133350"/>
                    <a:gd name="connsiteY9" fmla="*/ 195263 h 416719"/>
                    <a:gd name="connsiteX10" fmla="*/ 45244 w 133350"/>
                    <a:gd name="connsiteY10" fmla="*/ 416719 h 416719"/>
                    <a:gd name="connsiteX11" fmla="*/ 78581 w 133350"/>
                    <a:gd name="connsiteY11" fmla="*/ 361950 h 416719"/>
                    <a:gd name="connsiteX0" fmla="*/ 78581 w 133350"/>
                    <a:gd name="connsiteY0" fmla="*/ 361950 h 416719"/>
                    <a:gd name="connsiteX1" fmla="*/ 47625 w 133350"/>
                    <a:gd name="connsiteY1" fmla="*/ 223838 h 416719"/>
                    <a:gd name="connsiteX2" fmla="*/ 133350 w 133350"/>
                    <a:gd name="connsiteY2" fmla="*/ 209550 h 416719"/>
                    <a:gd name="connsiteX3" fmla="*/ 78581 w 133350"/>
                    <a:gd name="connsiteY3" fmla="*/ 30957 h 416719"/>
                    <a:gd name="connsiteX4" fmla="*/ 107156 w 133350"/>
                    <a:gd name="connsiteY4" fmla="*/ 19050 h 416719"/>
                    <a:gd name="connsiteX5" fmla="*/ 35719 w 133350"/>
                    <a:gd name="connsiteY5" fmla="*/ 0 h 416719"/>
                    <a:gd name="connsiteX6" fmla="*/ 11906 w 133350"/>
                    <a:gd name="connsiteY6" fmla="*/ 57150 h 416719"/>
                    <a:gd name="connsiteX7" fmla="*/ 44380 w 133350"/>
                    <a:gd name="connsiteY7" fmla="*/ 45468 h 416719"/>
                    <a:gd name="connsiteX8" fmla="*/ 88106 w 133350"/>
                    <a:gd name="connsiteY8" fmla="*/ 176213 h 416719"/>
                    <a:gd name="connsiteX9" fmla="*/ 0 w 133350"/>
                    <a:gd name="connsiteY9" fmla="*/ 195263 h 416719"/>
                    <a:gd name="connsiteX10" fmla="*/ 45244 w 133350"/>
                    <a:gd name="connsiteY10" fmla="*/ 416719 h 416719"/>
                    <a:gd name="connsiteX11" fmla="*/ 78581 w 133350"/>
                    <a:gd name="connsiteY11" fmla="*/ 361950 h 416719"/>
                    <a:gd name="connsiteX0" fmla="*/ 78581 w 133350"/>
                    <a:gd name="connsiteY0" fmla="*/ 365844 h 420613"/>
                    <a:gd name="connsiteX1" fmla="*/ 47625 w 133350"/>
                    <a:gd name="connsiteY1" fmla="*/ 227732 h 420613"/>
                    <a:gd name="connsiteX2" fmla="*/ 133350 w 133350"/>
                    <a:gd name="connsiteY2" fmla="*/ 213444 h 420613"/>
                    <a:gd name="connsiteX3" fmla="*/ 78581 w 133350"/>
                    <a:gd name="connsiteY3" fmla="*/ 34851 h 420613"/>
                    <a:gd name="connsiteX4" fmla="*/ 107156 w 133350"/>
                    <a:gd name="connsiteY4" fmla="*/ 22944 h 420613"/>
                    <a:gd name="connsiteX5" fmla="*/ 44805 w 133350"/>
                    <a:gd name="connsiteY5" fmla="*/ 0 h 420613"/>
                    <a:gd name="connsiteX6" fmla="*/ 11906 w 133350"/>
                    <a:gd name="connsiteY6" fmla="*/ 61044 h 420613"/>
                    <a:gd name="connsiteX7" fmla="*/ 44380 w 133350"/>
                    <a:gd name="connsiteY7" fmla="*/ 49362 h 420613"/>
                    <a:gd name="connsiteX8" fmla="*/ 88106 w 133350"/>
                    <a:gd name="connsiteY8" fmla="*/ 180107 h 420613"/>
                    <a:gd name="connsiteX9" fmla="*/ 0 w 133350"/>
                    <a:gd name="connsiteY9" fmla="*/ 199157 h 420613"/>
                    <a:gd name="connsiteX10" fmla="*/ 45244 w 133350"/>
                    <a:gd name="connsiteY10" fmla="*/ 420613 h 420613"/>
                    <a:gd name="connsiteX11" fmla="*/ 78581 w 133350"/>
                    <a:gd name="connsiteY11" fmla="*/ 365844 h 420613"/>
                    <a:gd name="connsiteX0" fmla="*/ 78581 w 133350"/>
                    <a:gd name="connsiteY0" fmla="*/ 365844 h 420613"/>
                    <a:gd name="connsiteX1" fmla="*/ 47625 w 133350"/>
                    <a:gd name="connsiteY1" fmla="*/ 227732 h 420613"/>
                    <a:gd name="connsiteX2" fmla="*/ 133350 w 133350"/>
                    <a:gd name="connsiteY2" fmla="*/ 213444 h 420613"/>
                    <a:gd name="connsiteX3" fmla="*/ 78581 w 133350"/>
                    <a:gd name="connsiteY3" fmla="*/ 34851 h 420613"/>
                    <a:gd name="connsiteX4" fmla="*/ 107156 w 133350"/>
                    <a:gd name="connsiteY4" fmla="*/ 22944 h 420613"/>
                    <a:gd name="connsiteX5" fmla="*/ 44805 w 133350"/>
                    <a:gd name="connsiteY5" fmla="*/ 0 h 420613"/>
                    <a:gd name="connsiteX6" fmla="*/ 18396 w 133350"/>
                    <a:gd name="connsiteY6" fmla="*/ 53905 h 420613"/>
                    <a:gd name="connsiteX7" fmla="*/ 44380 w 133350"/>
                    <a:gd name="connsiteY7" fmla="*/ 49362 h 420613"/>
                    <a:gd name="connsiteX8" fmla="*/ 88106 w 133350"/>
                    <a:gd name="connsiteY8" fmla="*/ 180107 h 420613"/>
                    <a:gd name="connsiteX9" fmla="*/ 0 w 133350"/>
                    <a:gd name="connsiteY9" fmla="*/ 199157 h 420613"/>
                    <a:gd name="connsiteX10" fmla="*/ 45244 w 133350"/>
                    <a:gd name="connsiteY10" fmla="*/ 420613 h 420613"/>
                    <a:gd name="connsiteX11" fmla="*/ 78581 w 133350"/>
                    <a:gd name="connsiteY11" fmla="*/ 365844 h 420613"/>
                    <a:gd name="connsiteX0" fmla="*/ 78581 w 133350"/>
                    <a:gd name="connsiteY0" fmla="*/ 365844 h 420613"/>
                    <a:gd name="connsiteX1" fmla="*/ 47625 w 133350"/>
                    <a:gd name="connsiteY1" fmla="*/ 227732 h 420613"/>
                    <a:gd name="connsiteX2" fmla="*/ 133350 w 133350"/>
                    <a:gd name="connsiteY2" fmla="*/ 213444 h 420613"/>
                    <a:gd name="connsiteX3" fmla="*/ 78581 w 133350"/>
                    <a:gd name="connsiteY3" fmla="*/ 34851 h 420613"/>
                    <a:gd name="connsiteX4" fmla="*/ 107156 w 133350"/>
                    <a:gd name="connsiteY4" fmla="*/ 22944 h 420613"/>
                    <a:gd name="connsiteX5" fmla="*/ 44805 w 133350"/>
                    <a:gd name="connsiteY5" fmla="*/ 0 h 420613"/>
                    <a:gd name="connsiteX6" fmla="*/ 18396 w 133350"/>
                    <a:gd name="connsiteY6" fmla="*/ 53905 h 420613"/>
                    <a:gd name="connsiteX7" fmla="*/ 50221 w 133350"/>
                    <a:gd name="connsiteY7" fmla="*/ 44170 h 420613"/>
                    <a:gd name="connsiteX8" fmla="*/ 88106 w 133350"/>
                    <a:gd name="connsiteY8" fmla="*/ 180107 h 420613"/>
                    <a:gd name="connsiteX9" fmla="*/ 0 w 133350"/>
                    <a:gd name="connsiteY9" fmla="*/ 199157 h 420613"/>
                    <a:gd name="connsiteX10" fmla="*/ 45244 w 133350"/>
                    <a:gd name="connsiteY10" fmla="*/ 420613 h 420613"/>
                    <a:gd name="connsiteX11" fmla="*/ 78581 w 133350"/>
                    <a:gd name="connsiteY11" fmla="*/ 365844 h 420613"/>
                    <a:gd name="connsiteX0" fmla="*/ 78581 w 133350"/>
                    <a:gd name="connsiteY0" fmla="*/ 371685 h 426454"/>
                    <a:gd name="connsiteX1" fmla="*/ 47625 w 133350"/>
                    <a:gd name="connsiteY1" fmla="*/ 233573 h 426454"/>
                    <a:gd name="connsiteX2" fmla="*/ 133350 w 133350"/>
                    <a:gd name="connsiteY2" fmla="*/ 219285 h 426454"/>
                    <a:gd name="connsiteX3" fmla="*/ 78581 w 133350"/>
                    <a:gd name="connsiteY3" fmla="*/ 40692 h 426454"/>
                    <a:gd name="connsiteX4" fmla="*/ 107156 w 133350"/>
                    <a:gd name="connsiteY4" fmla="*/ 28785 h 426454"/>
                    <a:gd name="connsiteX5" fmla="*/ 49348 w 133350"/>
                    <a:gd name="connsiteY5" fmla="*/ 0 h 426454"/>
                    <a:gd name="connsiteX6" fmla="*/ 18396 w 133350"/>
                    <a:gd name="connsiteY6" fmla="*/ 59746 h 426454"/>
                    <a:gd name="connsiteX7" fmla="*/ 50221 w 133350"/>
                    <a:gd name="connsiteY7" fmla="*/ 50011 h 426454"/>
                    <a:gd name="connsiteX8" fmla="*/ 88106 w 133350"/>
                    <a:gd name="connsiteY8" fmla="*/ 185948 h 426454"/>
                    <a:gd name="connsiteX9" fmla="*/ 0 w 133350"/>
                    <a:gd name="connsiteY9" fmla="*/ 204998 h 426454"/>
                    <a:gd name="connsiteX10" fmla="*/ 45244 w 133350"/>
                    <a:gd name="connsiteY10" fmla="*/ 426454 h 426454"/>
                    <a:gd name="connsiteX11" fmla="*/ 78581 w 133350"/>
                    <a:gd name="connsiteY11" fmla="*/ 371685 h 426454"/>
                    <a:gd name="connsiteX0" fmla="*/ 78581 w 133350"/>
                    <a:gd name="connsiteY0" fmla="*/ 371685 h 426454"/>
                    <a:gd name="connsiteX1" fmla="*/ 47625 w 133350"/>
                    <a:gd name="connsiteY1" fmla="*/ 233573 h 426454"/>
                    <a:gd name="connsiteX2" fmla="*/ 133350 w 133350"/>
                    <a:gd name="connsiteY2" fmla="*/ 219285 h 426454"/>
                    <a:gd name="connsiteX3" fmla="*/ 78581 w 133350"/>
                    <a:gd name="connsiteY3" fmla="*/ 40692 h 426454"/>
                    <a:gd name="connsiteX4" fmla="*/ 109752 w 133350"/>
                    <a:gd name="connsiteY4" fmla="*/ 32030 h 426454"/>
                    <a:gd name="connsiteX5" fmla="*/ 49348 w 133350"/>
                    <a:gd name="connsiteY5" fmla="*/ 0 h 426454"/>
                    <a:gd name="connsiteX6" fmla="*/ 18396 w 133350"/>
                    <a:gd name="connsiteY6" fmla="*/ 59746 h 426454"/>
                    <a:gd name="connsiteX7" fmla="*/ 50221 w 133350"/>
                    <a:gd name="connsiteY7" fmla="*/ 50011 h 426454"/>
                    <a:gd name="connsiteX8" fmla="*/ 88106 w 133350"/>
                    <a:gd name="connsiteY8" fmla="*/ 185948 h 426454"/>
                    <a:gd name="connsiteX9" fmla="*/ 0 w 133350"/>
                    <a:gd name="connsiteY9" fmla="*/ 204998 h 426454"/>
                    <a:gd name="connsiteX10" fmla="*/ 45244 w 133350"/>
                    <a:gd name="connsiteY10" fmla="*/ 426454 h 426454"/>
                    <a:gd name="connsiteX11" fmla="*/ 78581 w 133350"/>
                    <a:gd name="connsiteY11" fmla="*/ 371685 h 426454"/>
                    <a:gd name="connsiteX0" fmla="*/ 78581 w 133350"/>
                    <a:gd name="connsiteY0" fmla="*/ 371685 h 426454"/>
                    <a:gd name="connsiteX1" fmla="*/ 47625 w 133350"/>
                    <a:gd name="connsiteY1" fmla="*/ 233573 h 426454"/>
                    <a:gd name="connsiteX2" fmla="*/ 133350 w 133350"/>
                    <a:gd name="connsiteY2" fmla="*/ 219285 h 426454"/>
                    <a:gd name="connsiteX3" fmla="*/ 78581 w 133350"/>
                    <a:gd name="connsiteY3" fmla="*/ 40692 h 426454"/>
                    <a:gd name="connsiteX4" fmla="*/ 109752 w 133350"/>
                    <a:gd name="connsiteY4" fmla="*/ 32030 h 426454"/>
                    <a:gd name="connsiteX5" fmla="*/ 49348 w 133350"/>
                    <a:gd name="connsiteY5" fmla="*/ 0 h 426454"/>
                    <a:gd name="connsiteX6" fmla="*/ 26184 w 133350"/>
                    <a:gd name="connsiteY6" fmla="*/ 55203 h 426454"/>
                    <a:gd name="connsiteX7" fmla="*/ 50221 w 133350"/>
                    <a:gd name="connsiteY7" fmla="*/ 50011 h 426454"/>
                    <a:gd name="connsiteX8" fmla="*/ 88106 w 133350"/>
                    <a:gd name="connsiteY8" fmla="*/ 185948 h 426454"/>
                    <a:gd name="connsiteX9" fmla="*/ 0 w 133350"/>
                    <a:gd name="connsiteY9" fmla="*/ 204998 h 426454"/>
                    <a:gd name="connsiteX10" fmla="*/ 45244 w 133350"/>
                    <a:gd name="connsiteY10" fmla="*/ 426454 h 426454"/>
                    <a:gd name="connsiteX11" fmla="*/ 78581 w 133350"/>
                    <a:gd name="connsiteY11" fmla="*/ 371685 h 426454"/>
                    <a:gd name="connsiteX0" fmla="*/ 78581 w 133685"/>
                    <a:gd name="connsiteY0" fmla="*/ 371685 h 426454"/>
                    <a:gd name="connsiteX1" fmla="*/ 47625 w 133685"/>
                    <a:gd name="connsiteY1" fmla="*/ 233573 h 426454"/>
                    <a:gd name="connsiteX2" fmla="*/ 133350 w 133685"/>
                    <a:gd name="connsiteY2" fmla="*/ 219285 h 426454"/>
                    <a:gd name="connsiteX3" fmla="*/ 78581 w 133685"/>
                    <a:gd name="connsiteY3" fmla="*/ 40692 h 426454"/>
                    <a:gd name="connsiteX4" fmla="*/ 109752 w 133685"/>
                    <a:gd name="connsiteY4" fmla="*/ 32030 h 426454"/>
                    <a:gd name="connsiteX5" fmla="*/ 49348 w 133685"/>
                    <a:gd name="connsiteY5" fmla="*/ 0 h 426454"/>
                    <a:gd name="connsiteX6" fmla="*/ 26184 w 133685"/>
                    <a:gd name="connsiteY6" fmla="*/ 55203 h 426454"/>
                    <a:gd name="connsiteX7" fmla="*/ 50221 w 133685"/>
                    <a:gd name="connsiteY7" fmla="*/ 50011 h 426454"/>
                    <a:gd name="connsiteX8" fmla="*/ 88106 w 133685"/>
                    <a:gd name="connsiteY8" fmla="*/ 185948 h 426454"/>
                    <a:gd name="connsiteX9" fmla="*/ 0 w 133685"/>
                    <a:gd name="connsiteY9" fmla="*/ 204998 h 426454"/>
                    <a:gd name="connsiteX10" fmla="*/ 45244 w 133685"/>
                    <a:gd name="connsiteY10" fmla="*/ 426454 h 426454"/>
                    <a:gd name="connsiteX11" fmla="*/ 78581 w 133685"/>
                    <a:gd name="connsiteY11" fmla="*/ 371685 h 426454"/>
                    <a:gd name="connsiteX0" fmla="*/ 79441 w 134545"/>
                    <a:gd name="connsiteY0" fmla="*/ 371685 h 426454"/>
                    <a:gd name="connsiteX1" fmla="*/ 48485 w 134545"/>
                    <a:gd name="connsiteY1" fmla="*/ 233573 h 426454"/>
                    <a:gd name="connsiteX2" fmla="*/ 134210 w 134545"/>
                    <a:gd name="connsiteY2" fmla="*/ 219285 h 426454"/>
                    <a:gd name="connsiteX3" fmla="*/ 79441 w 134545"/>
                    <a:gd name="connsiteY3" fmla="*/ 40692 h 426454"/>
                    <a:gd name="connsiteX4" fmla="*/ 110612 w 134545"/>
                    <a:gd name="connsiteY4" fmla="*/ 32030 h 426454"/>
                    <a:gd name="connsiteX5" fmla="*/ 50208 w 134545"/>
                    <a:gd name="connsiteY5" fmla="*/ 0 h 426454"/>
                    <a:gd name="connsiteX6" fmla="*/ 27044 w 134545"/>
                    <a:gd name="connsiteY6" fmla="*/ 55203 h 426454"/>
                    <a:gd name="connsiteX7" fmla="*/ 51081 w 134545"/>
                    <a:gd name="connsiteY7" fmla="*/ 50011 h 426454"/>
                    <a:gd name="connsiteX8" fmla="*/ 88966 w 134545"/>
                    <a:gd name="connsiteY8" fmla="*/ 185948 h 426454"/>
                    <a:gd name="connsiteX9" fmla="*/ 860 w 134545"/>
                    <a:gd name="connsiteY9" fmla="*/ 204998 h 426454"/>
                    <a:gd name="connsiteX10" fmla="*/ 46104 w 134545"/>
                    <a:gd name="connsiteY10" fmla="*/ 426454 h 426454"/>
                    <a:gd name="connsiteX11" fmla="*/ 79441 w 134545"/>
                    <a:gd name="connsiteY11" fmla="*/ 371685 h 426454"/>
                    <a:gd name="connsiteX0" fmla="*/ 79441 w 134545"/>
                    <a:gd name="connsiteY0" fmla="*/ 371685 h 426454"/>
                    <a:gd name="connsiteX1" fmla="*/ 48485 w 134545"/>
                    <a:gd name="connsiteY1" fmla="*/ 233573 h 426454"/>
                    <a:gd name="connsiteX2" fmla="*/ 134210 w 134545"/>
                    <a:gd name="connsiteY2" fmla="*/ 219285 h 426454"/>
                    <a:gd name="connsiteX3" fmla="*/ 79441 w 134545"/>
                    <a:gd name="connsiteY3" fmla="*/ 40692 h 426454"/>
                    <a:gd name="connsiteX4" fmla="*/ 111261 w 134545"/>
                    <a:gd name="connsiteY4" fmla="*/ 34626 h 426454"/>
                    <a:gd name="connsiteX5" fmla="*/ 50208 w 134545"/>
                    <a:gd name="connsiteY5" fmla="*/ 0 h 426454"/>
                    <a:gd name="connsiteX6" fmla="*/ 27044 w 134545"/>
                    <a:gd name="connsiteY6" fmla="*/ 55203 h 426454"/>
                    <a:gd name="connsiteX7" fmla="*/ 51081 w 134545"/>
                    <a:gd name="connsiteY7" fmla="*/ 50011 h 426454"/>
                    <a:gd name="connsiteX8" fmla="*/ 88966 w 134545"/>
                    <a:gd name="connsiteY8" fmla="*/ 185948 h 426454"/>
                    <a:gd name="connsiteX9" fmla="*/ 860 w 134545"/>
                    <a:gd name="connsiteY9" fmla="*/ 204998 h 426454"/>
                    <a:gd name="connsiteX10" fmla="*/ 46104 w 134545"/>
                    <a:gd name="connsiteY10" fmla="*/ 426454 h 426454"/>
                    <a:gd name="connsiteX11" fmla="*/ 79441 w 134545"/>
                    <a:gd name="connsiteY11" fmla="*/ 371685 h 426454"/>
                    <a:gd name="connsiteX0" fmla="*/ 79441 w 134598"/>
                    <a:gd name="connsiteY0" fmla="*/ 371685 h 426454"/>
                    <a:gd name="connsiteX1" fmla="*/ 48485 w 134598"/>
                    <a:gd name="connsiteY1" fmla="*/ 233573 h 426454"/>
                    <a:gd name="connsiteX2" fmla="*/ 134210 w 134598"/>
                    <a:gd name="connsiteY2" fmla="*/ 219285 h 426454"/>
                    <a:gd name="connsiteX3" fmla="*/ 81388 w 134598"/>
                    <a:gd name="connsiteY3" fmla="*/ 43288 h 426454"/>
                    <a:gd name="connsiteX4" fmla="*/ 111261 w 134598"/>
                    <a:gd name="connsiteY4" fmla="*/ 34626 h 426454"/>
                    <a:gd name="connsiteX5" fmla="*/ 50208 w 134598"/>
                    <a:gd name="connsiteY5" fmla="*/ 0 h 426454"/>
                    <a:gd name="connsiteX6" fmla="*/ 27044 w 134598"/>
                    <a:gd name="connsiteY6" fmla="*/ 55203 h 426454"/>
                    <a:gd name="connsiteX7" fmla="*/ 51081 w 134598"/>
                    <a:gd name="connsiteY7" fmla="*/ 50011 h 426454"/>
                    <a:gd name="connsiteX8" fmla="*/ 88966 w 134598"/>
                    <a:gd name="connsiteY8" fmla="*/ 185948 h 426454"/>
                    <a:gd name="connsiteX9" fmla="*/ 860 w 134598"/>
                    <a:gd name="connsiteY9" fmla="*/ 204998 h 426454"/>
                    <a:gd name="connsiteX10" fmla="*/ 46104 w 134598"/>
                    <a:gd name="connsiteY10" fmla="*/ 426454 h 426454"/>
                    <a:gd name="connsiteX11" fmla="*/ 79441 w 134598"/>
                    <a:gd name="connsiteY11" fmla="*/ 371685 h 426454"/>
                    <a:gd name="connsiteX0" fmla="*/ 79441 w 134598"/>
                    <a:gd name="connsiteY0" fmla="*/ 371685 h 426454"/>
                    <a:gd name="connsiteX1" fmla="*/ 48485 w 134598"/>
                    <a:gd name="connsiteY1" fmla="*/ 233573 h 426454"/>
                    <a:gd name="connsiteX2" fmla="*/ 134210 w 134598"/>
                    <a:gd name="connsiteY2" fmla="*/ 219285 h 426454"/>
                    <a:gd name="connsiteX3" fmla="*/ 81388 w 134598"/>
                    <a:gd name="connsiteY3" fmla="*/ 43288 h 426454"/>
                    <a:gd name="connsiteX4" fmla="*/ 111261 w 134598"/>
                    <a:gd name="connsiteY4" fmla="*/ 34626 h 426454"/>
                    <a:gd name="connsiteX5" fmla="*/ 50208 w 134598"/>
                    <a:gd name="connsiteY5" fmla="*/ 0 h 426454"/>
                    <a:gd name="connsiteX6" fmla="*/ 27044 w 134598"/>
                    <a:gd name="connsiteY6" fmla="*/ 55203 h 426454"/>
                    <a:gd name="connsiteX7" fmla="*/ 51081 w 134598"/>
                    <a:gd name="connsiteY7" fmla="*/ 50011 h 426454"/>
                    <a:gd name="connsiteX8" fmla="*/ 88966 w 134598"/>
                    <a:gd name="connsiteY8" fmla="*/ 185948 h 426454"/>
                    <a:gd name="connsiteX9" fmla="*/ 860 w 134598"/>
                    <a:gd name="connsiteY9" fmla="*/ 204998 h 426454"/>
                    <a:gd name="connsiteX10" fmla="*/ 46104 w 134598"/>
                    <a:gd name="connsiteY10" fmla="*/ 426454 h 426454"/>
                    <a:gd name="connsiteX11" fmla="*/ 79441 w 134598"/>
                    <a:gd name="connsiteY11" fmla="*/ 371685 h 426454"/>
                    <a:gd name="connsiteX0" fmla="*/ 79441 w 134598"/>
                    <a:gd name="connsiteY0" fmla="*/ 371685 h 426454"/>
                    <a:gd name="connsiteX1" fmla="*/ 48485 w 134598"/>
                    <a:gd name="connsiteY1" fmla="*/ 233573 h 426454"/>
                    <a:gd name="connsiteX2" fmla="*/ 134210 w 134598"/>
                    <a:gd name="connsiteY2" fmla="*/ 219285 h 426454"/>
                    <a:gd name="connsiteX3" fmla="*/ 81388 w 134598"/>
                    <a:gd name="connsiteY3" fmla="*/ 43288 h 426454"/>
                    <a:gd name="connsiteX4" fmla="*/ 111261 w 134598"/>
                    <a:gd name="connsiteY4" fmla="*/ 34626 h 426454"/>
                    <a:gd name="connsiteX5" fmla="*/ 50208 w 134598"/>
                    <a:gd name="connsiteY5" fmla="*/ 0 h 426454"/>
                    <a:gd name="connsiteX6" fmla="*/ 27044 w 134598"/>
                    <a:gd name="connsiteY6" fmla="*/ 55203 h 426454"/>
                    <a:gd name="connsiteX7" fmla="*/ 51081 w 134598"/>
                    <a:gd name="connsiteY7" fmla="*/ 50011 h 426454"/>
                    <a:gd name="connsiteX8" fmla="*/ 88966 w 134598"/>
                    <a:gd name="connsiteY8" fmla="*/ 185948 h 426454"/>
                    <a:gd name="connsiteX9" fmla="*/ 860 w 134598"/>
                    <a:gd name="connsiteY9" fmla="*/ 204998 h 426454"/>
                    <a:gd name="connsiteX10" fmla="*/ 46104 w 134598"/>
                    <a:gd name="connsiteY10" fmla="*/ 426454 h 426454"/>
                    <a:gd name="connsiteX11" fmla="*/ 79441 w 134598"/>
                    <a:gd name="connsiteY11" fmla="*/ 371685 h 426454"/>
                    <a:gd name="connsiteX0" fmla="*/ 79630 w 134787"/>
                    <a:gd name="connsiteY0" fmla="*/ 371685 h 425805"/>
                    <a:gd name="connsiteX1" fmla="*/ 48674 w 134787"/>
                    <a:gd name="connsiteY1" fmla="*/ 233573 h 425805"/>
                    <a:gd name="connsiteX2" fmla="*/ 134399 w 134787"/>
                    <a:gd name="connsiteY2" fmla="*/ 219285 h 425805"/>
                    <a:gd name="connsiteX3" fmla="*/ 81577 w 134787"/>
                    <a:gd name="connsiteY3" fmla="*/ 43288 h 425805"/>
                    <a:gd name="connsiteX4" fmla="*/ 111450 w 134787"/>
                    <a:gd name="connsiteY4" fmla="*/ 34626 h 425805"/>
                    <a:gd name="connsiteX5" fmla="*/ 50397 w 134787"/>
                    <a:gd name="connsiteY5" fmla="*/ 0 h 425805"/>
                    <a:gd name="connsiteX6" fmla="*/ 27233 w 134787"/>
                    <a:gd name="connsiteY6" fmla="*/ 55203 h 425805"/>
                    <a:gd name="connsiteX7" fmla="*/ 51270 w 134787"/>
                    <a:gd name="connsiteY7" fmla="*/ 50011 h 425805"/>
                    <a:gd name="connsiteX8" fmla="*/ 89155 w 134787"/>
                    <a:gd name="connsiteY8" fmla="*/ 185948 h 425805"/>
                    <a:gd name="connsiteX9" fmla="*/ 1049 w 134787"/>
                    <a:gd name="connsiteY9" fmla="*/ 204998 h 425805"/>
                    <a:gd name="connsiteX10" fmla="*/ 43048 w 134787"/>
                    <a:gd name="connsiteY10" fmla="*/ 425805 h 425805"/>
                    <a:gd name="connsiteX11" fmla="*/ 79630 w 134787"/>
                    <a:gd name="connsiteY11" fmla="*/ 371685 h 425805"/>
                    <a:gd name="connsiteX0" fmla="*/ 79520 w 134677"/>
                    <a:gd name="connsiteY0" fmla="*/ 371685 h 425805"/>
                    <a:gd name="connsiteX1" fmla="*/ 48564 w 134677"/>
                    <a:gd name="connsiteY1" fmla="*/ 233573 h 425805"/>
                    <a:gd name="connsiteX2" fmla="*/ 134289 w 134677"/>
                    <a:gd name="connsiteY2" fmla="*/ 219285 h 425805"/>
                    <a:gd name="connsiteX3" fmla="*/ 81467 w 134677"/>
                    <a:gd name="connsiteY3" fmla="*/ 43288 h 425805"/>
                    <a:gd name="connsiteX4" fmla="*/ 111340 w 134677"/>
                    <a:gd name="connsiteY4" fmla="*/ 34626 h 425805"/>
                    <a:gd name="connsiteX5" fmla="*/ 50287 w 134677"/>
                    <a:gd name="connsiteY5" fmla="*/ 0 h 425805"/>
                    <a:gd name="connsiteX6" fmla="*/ 27123 w 134677"/>
                    <a:gd name="connsiteY6" fmla="*/ 55203 h 425805"/>
                    <a:gd name="connsiteX7" fmla="*/ 51160 w 134677"/>
                    <a:gd name="connsiteY7" fmla="*/ 50011 h 425805"/>
                    <a:gd name="connsiteX8" fmla="*/ 89045 w 134677"/>
                    <a:gd name="connsiteY8" fmla="*/ 185948 h 425805"/>
                    <a:gd name="connsiteX9" fmla="*/ 939 w 134677"/>
                    <a:gd name="connsiteY9" fmla="*/ 204998 h 425805"/>
                    <a:gd name="connsiteX10" fmla="*/ 42938 w 134677"/>
                    <a:gd name="connsiteY10" fmla="*/ 425805 h 425805"/>
                    <a:gd name="connsiteX11" fmla="*/ 79520 w 134677"/>
                    <a:gd name="connsiteY11" fmla="*/ 371685 h 425805"/>
                    <a:gd name="connsiteX0" fmla="*/ 79520 w 134677"/>
                    <a:gd name="connsiteY0" fmla="*/ 371685 h 425805"/>
                    <a:gd name="connsiteX1" fmla="*/ 48564 w 134677"/>
                    <a:gd name="connsiteY1" fmla="*/ 233573 h 425805"/>
                    <a:gd name="connsiteX2" fmla="*/ 134289 w 134677"/>
                    <a:gd name="connsiteY2" fmla="*/ 219285 h 425805"/>
                    <a:gd name="connsiteX3" fmla="*/ 81467 w 134677"/>
                    <a:gd name="connsiteY3" fmla="*/ 43288 h 425805"/>
                    <a:gd name="connsiteX4" fmla="*/ 111340 w 134677"/>
                    <a:gd name="connsiteY4" fmla="*/ 34626 h 425805"/>
                    <a:gd name="connsiteX5" fmla="*/ 50287 w 134677"/>
                    <a:gd name="connsiteY5" fmla="*/ 0 h 425805"/>
                    <a:gd name="connsiteX6" fmla="*/ 27123 w 134677"/>
                    <a:gd name="connsiteY6" fmla="*/ 55203 h 425805"/>
                    <a:gd name="connsiteX7" fmla="*/ 51160 w 134677"/>
                    <a:gd name="connsiteY7" fmla="*/ 50011 h 425805"/>
                    <a:gd name="connsiteX8" fmla="*/ 89045 w 134677"/>
                    <a:gd name="connsiteY8" fmla="*/ 185948 h 425805"/>
                    <a:gd name="connsiteX9" fmla="*/ 939 w 134677"/>
                    <a:gd name="connsiteY9" fmla="*/ 204998 h 425805"/>
                    <a:gd name="connsiteX10" fmla="*/ 42938 w 134677"/>
                    <a:gd name="connsiteY10" fmla="*/ 425805 h 425805"/>
                    <a:gd name="connsiteX11" fmla="*/ 79520 w 134677"/>
                    <a:gd name="connsiteY11" fmla="*/ 371685 h 425805"/>
                    <a:gd name="connsiteX0" fmla="*/ 79520 w 134677"/>
                    <a:gd name="connsiteY0" fmla="*/ 371685 h 425805"/>
                    <a:gd name="connsiteX1" fmla="*/ 48564 w 134677"/>
                    <a:gd name="connsiteY1" fmla="*/ 233573 h 425805"/>
                    <a:gd name="connsiteX2" fmla="*/ 134289 w 134677"/>
                    <a:gd name="connsiteY2" fmla="*/ 219285 h 425805"/>
                    <a:gd name="connsiteX3" fmla="*/ 81467 w 134677"/>
                    <a:gd name="connsiteY3" fmla="*/ 43288 h 425805"/>
                    <a:gd name="connsiteX4" fmla="*/ 101605 w 134677"/>
                    <a:gd name="connsiteY4" fmla="*/ 36573 h 425805"/>
                    <a:gd name="connsiteX5" fmla="*/ 50287 w 134677"/>
                    <a:gd name="connsiteY5" fmla="*/ 0 h 425805"/>
                    <a:gd name="connsiteX6" fmla="*/ 27123 w 134677"/>
                    <a:gd name="connsiteY6" fmla="*/ 55203 h 425805"/>
                    <a:gd name="connsiteX7" fmla="*/ 51160 w 134677"/>
                    <a:gd name="connsiteY7" fmla="*/ 50011 h 425805"/>
                    <a:gd name="connsiteX8" fmla="*/ 89045 w 134677"/>
                    <a:gd name="connsiteY8" fmla="*/ 185948 h 425805"/>
                    <a:gd name="connsiteX9" fmla="*/ 939 w 134677"/>
                    <a:gd name="connsiteY9" fmla="*/ 204998 h 425805"/>
                    <a:gd name="connsiteX10" fmla="*/ 42938 w 134677"/>
                    <a:gd name="connsiteY10" fmla="*/ 425805 h 425805"/>
                    <a:gd name="connsiteX11" fmla="*/ 79520 w 134677"/>
                    <a:gd name="connsiteY11" fmla="*/ 371685 h 425805"/>
                    <a:gd name="connsiteX0" fmla="*/ 79520 w 134659"/>
                    <a:gd name="connsiteY0" fmla="*/ 371685 h 425805"/>
                    <a:gd name="connsiteX1" fmla="*/ 48564 w 134659"/>
                    <a:gd name="connsiteY1" fmla="*/ 233573 h 425805"/>
                    <a:gd name="connsiteX2" fmla="*/ 134289 w 134659"/>
                    <a:gd name="connsiteY2" fmla="*/ 219285 h 425805"/>
                    <a:gd name="connsiteX3" fmla="*/ 80818 w 134659"/>
                    <a:gd name="connsiteY3" fmla="*/ 43288 h 425805"/>
                    <a:gd name="connsiteX4" fmla="*/ 101605 w 134659"/>
                    <a:gd name="connsiteY4" fmla="*/ 36573 h 425805"/>
                    <a:gd name="connsiteX5" fmla="*/ 50287 w 134659"/>
                    <a:gd name="connsiteY5" fmla="*/ 0 h 425805"/>
                    <a:gd name="connsiteX6" fmla="*/ 27123 w 134659"/>
                    <a:gd name="connsiteY6" fmla="*/ 55203 h 425805"/>
                    <a:gd name="connsiteX7" fmla="*/ 51160 w 134659"/>
                    <a:gd name="connsiteY7" fmla="*/ 50011 h 425805"/>
                    <a:gd name="connsiteX8" fmla="*/ 89045 w 134659"/>
                    <a:gd name="connsiteY8" fmla="*/ 185948 h 425805"/>
                    <a:gd name="connsiteX9" fmla="*/ 939 w 134659"/>
                    <a:gd name="connsiteY9" fmla="*/ 204998 h 425805"/>
                    <a:gd name="connsiteX10" fmla="*/ 42938 w 134659"/>
                    <a:gd name="connsiteY10" fmla="*/ 425805 h 425805"/>
                    <a:gd name="connsiteX11" fmla="*/ 79520 w 134659"/>
                    <a:gd name="connsiteY11" fmla="*/ 371685 h 425805"/>
                    <a:gd name="connsiteX0" fmla="*/ 79520 w 134714"/>
                    <a:gd name="connsiteY0" fmla="*/ 371685 h 425805"/>
                    <a:gd name="connsiteX1" fmla="*/ 48564 w 134714"/>
                    <a:gd name="connsiteY1" fmla="*/ 233573 h 425805"/>
                    <a:gd name="connsiteX2" fmla="*/ 134289 w 134714"/>
                    <a:gd name="connsiteY2" fmla="*/ 219285 h 425805"/>
                    <a:gd name="connsiteX3" fmla="*/ 80818 w 134714"/>
                    <a:gd name="connsiteY3" fmla="*/ 43288 h 425805"/>
                    <a:gd name="connsiteX4" fmla="*/ 101605 w 134714"/>
                    <a:gd name="connsiteY4" fmla="*/ 36573 h 425805"/>
                    <a:gd name="connsiteX5" fmla="*/ 50287 w 134714"/>
                    <a:gd name="connsiteY5" fmla="*/ 0 h 425805"/>
                    <a:gd name="connsiteX6" fmla="*/ 27123 w 134714"/>
                    <a:gd name="connsiteY6" fmla="*/ 55203 h 425805"/>
                    <a:gd name="connsiteX7" fmla="*/ 51160 w 134714"/>
                    <a:gd name="connsiteY7" fmla="*/ 50011 h 425805"/>
                    <a:gd name="connsiteX8" fmla="*/ 89045 w 134714"/>
                    <a:gd name="connsiteY8" fmla="*/ 185948 h 425805"/>
                    <a:gd name="connsiteX9" fmla="*/ 939 w 134714"/>
                    <a:gd name="connsiteY9" fmla="*/ 204998 h 425805"/>
                    <a:gd name="connsiteX10" fmla="*/ 42938 w 134714"/>
                    <a:gd name="connsiteY10" fmla="*/ 425805 h 425805"/>
                    <a:gd name="connsiteX11" fmla="*/ 79520 w 134714"/>
                    <a:gd name="connsiteY11" fmla="*/ 371685 h 425805"/>
                    <a:gd name="connsiteX0" fmla="*/ 79520 w 134714"/>
                    <a:gd name="connsiteY0" fmla="*/ 371685 h 425805"/>
                    <a:gd name="connsiteX1" fmla="*/ 48564 w 134714"/>
                    <a:gd name="connsiteY1" fmla="*/ 233573 h 425805"/>
                    <a:gd name="connsiteX2" fmla="*/ 134289 w 134714"/>
                    <a:gd name="connsiteY2" fmla="*/ 219285 h 425805"/>
                    <a:gd name="connsiteX3" fmla="*/ 80818 w 134714"/>
                    <a:gd name="connsiteY3" fmla="*/ 43288 h 425805"/>
                    <a:gd name="connsiteX4" fmla="*/ 101605 w 134714"/>
                    <a:gd name="connsiteY4" fmla="*/ 36573 h 425805"/>
                    <a:gd name="connsiteX5" fmla="*/ 50287 w 134714"/>
                    <a:gd name="connsiteY5" fmla="*/ 0 h 425805"/>
                    <a:gd name="connsiteX6" fmla="*/ 27123 w 134714"/>
                    <a:gd name="connsiteY6" fmla="*/ 55203 h 425805"/>
                    <a:gd name="connsiteX7" fmla="*/ 51160 w 134714"/>
                    <a:gd name="connsiteY7" fmla="*/ 50011 h 425805"/>
                    <a:gd name="connsiteX8" fmla="*/ 89045 w 134714"/>
                    <a:gd name="connsiteY8" fmla="*/ 185948 h 425805"/>
                    <a:gd name="connsiteX9" fmla="*/ 939 w 134714"/>
                    <a:gd name="connsiteY9" fmla="*/ 204998 h 425805"/>
                    <a:gd name="connsiteX10" fmla="*/ 42938 w 134714"/>
                    <a:gd name="connsiteY10" fmla="*/ 425805 h 425805"/>
                    <a:gd name="connsiteX11" fmla="*/ 79520 w 134714"/>
                    <a:gd name="connsiteY11" fmla="*/ 371685 h 425805"/>
                    <a:gd name="connsiteX0" fmla="*/ 79520 w 134714"/>
                    <a:gd name="connsiteY0" fmla="*/ 371685 h 425805"/>
                    <a:gd name="connsiteX1" fmla="*/ 48564 w 134714"/>
                    <a:gd name="connsiteY1" fmla="*/ 233573 h 425805"/>
                    <a:gd name="connsiteX2" fmla="*/ 134289 w 134714"/>
                    <a:gd name="connsiteY2" fmla="*/ 219285 h 425805"/>
                    <a:gd name="connsiteX3" fmla="*/ 80818 w 134714"/>
                    <a:gd name="connsiteY3" fmla="*/ 43288 h 425805"/>
                    <a:gd name="connsiteX4" fmla="*/ 101605 w 134714"/>
                    <a:gd name="connsiteY4" fmla="*/ 36573 h 425805"/>
                    <a:gd name="connsiteX5" fmla="*/ 50287 w 134714"/>
                    <a:gd name="connsiteY5" fmla="*/ 0 h 425805"/>
                    <a:gd name="connsiteX6" fmla="*/ 28421 w 134714"/>
                    <a:gd name="connsiteY6" fmla="*/ 58448 h 425805"/>
                    <a:gd name="connsiteX7" fmla="*/ 51160 w 134714"/>
                    <a:gd name="connsiteY7" fmla="*/ 50011 h 425805"/>
                    <a:gd name="connsiteX8" fmla="*/ 89045 w 134714"/>
                    <a:gd name="connsiteY8" fmla="*/ 185948 h 425805"/>
                    <a:gd name="connsiteX9" fmla="*/ 939 w 134714"/>
                    <a:gd name="connsiteY9" fmla="*/ 204998 h 425805"/>
                    <a:gd name="connsiteX10" fmla="*/ 42938 w 134714"/>
                    <a:gd name="connsiteY10" fmla="*/ 425805 h 425805"/>
                    <a:gd name="connsiteX11" fmla="*/ 79520 w 134714"/>
                    <a:gd name="connsiteY11" fmla="*/ 371685 h 425805"/>
                    <a:gd name="connsiteX0" fmla="*/ 79520 w 134714"/>
                    <a:gd name="connsiteY0" fmla="*/ 369738 h 423858"/>
                    <a:gd name="connsiteX1" fmla="*/ 48564 w 134714"/>
                    <a:gd name="connsiteY1" fmla="*/ 231626 h 423858"/>
                    <a:gd name="connsiteX2" fmla="*/ 134289 w 134714"/>
                    <a:gd name="connsiteY2" fmla="*/ 217338 h 423858"/>
                    <a:gd name="connsiteX3" fmla="*/ 80818 w 134714"/>
                    <a:gd name="connsiteY3" fmla="*/ 41341 h 423858"/>
                    <a:gd name="connsiteX4" fmla="*/ 101605 w 134714"/>
                    <a:gd name="connsiteY4" fmla="*/ 34626 h 423858"/>
                    <a:gd name="connsiteX5" fmla="*/ 48989 w 134714"/>
                    <a:gd name="connsiteY5" fmla="*/ 0 h 423858"/>
                    <a:gd name="connsiteX6" fmla="*/ 28421 w 134714"/>
                    <a:gd name="connsiteY6" fmla="*/ 56501 h 423858"/>
                    <a:gd name="connsiteX7" fmla="*/ 51160 w 134714"/>
                    <a:gd name="connsiteY7" fmla="*/ 48064 h 423858"/>
                    <a:gd name="connsiteX8" fmla="*/ 89045 w 134714"/>
                    <a:gd name="connsiteY8" fmla="*/ 184001 h 423858"/>
                    <a:gd name="connsiteX9" fmla="*/ 939 w 134714"/>
                    <a:gd name="connsiteY9" fmla="*/ 203051 h 423858"/>
                    <a:gd name="connsiteX10" fmla="*/ 42938 w 134714"/>
                    <a:gd name="connsiteY10" fmla="*/ 423858 h 423858"/>
                    <a:gd name="connsiteX11" fmla="*/ 79520 w 134714"/>
                    <a:gd name="connsiteY11" fmla="*/ 369738 h 423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4714" h="423858">
                      <a:moveTo>
                        <a:pt x="79520" y="369738"/>
                      </a:moveTo>
                      <a:cubicBezTo>
                        <a:pt x="66605" y="323701"/>
                        <a:pt x="43308" y="250406"/>
                        <a:pt x="48564" y="231626"/>
                      </a:cubicBezTo>
                      <a:cubicBezTo>
                        <a:pt x="57692" y="206226"/>
                        <a:pt x="128913" y="249052"/>
                        <a:pt x="134289" y="217338"/>
                      </a:cubicBezTo>
                      <a:cubicBezTo>
                        <a:pt x="139665" y="185624"/>
                        <a:pt x="92539" y="73848"/>
                        <a:pt x="80818" y="41341"/>
                      </a:cubicBezTo>
                      <a:lnTo>
                        <a:pt x="101605" y="34626"/>
                      </a:lnTo>
                      <a:lnTo>
                        <a:pt x="48989" y="0"/>
                      </a:lnTo>
                      <a:lnTo>
                        <a:pt x="28421" y="56501"/>
                      </a:lnTo>
                      <a:lnTo>
                        <a:pt x="51160" y="48064"/>
                      </a:lnTo>
                      <a:cubicBezTo>
                        <a:pt x="68980" y="96621"/>
                        <a:pt x="97833" y="172436"/>
                        <a:pt x="89045" y="184001"/>
                      </a:cubicBezTo>
                      <a:cubicBezTo>
                        <a:pt x="80675" y="209832"/>
                        <a:pt x="8623" y="163075"/>
                        <a:pt x="939" y="203051"/>
                      </a:cubicBezTo>
                      <a:cubicBezTo>
                        <a:pt x="-6745" y="243027"/>
                        <a:pt x="35033" y="384396"/>
                        <a:pt x="42938" y="423858"/>
                      </a:cubicBezTo>
                      <a:lnTo>
                        <a:pt x="79520" y="369738"/>
                      </a:lnTo>
                      <a:close/>
                    </a:path>
                  </a:pathLst>
                </a:custGeom>
                <a:solidFill>
                  <a:schemeClr val="accent2"/>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nvGrpSpPr>
                <p:cNvPr id="425" name="Group 424"/>
                <p:cNvGrpSpPr/>
                <p:nvPr/>
              </p:nvGrpSpPr>
              <p:grpSpPr>
                <a:xfrm>
                  <a:off x="3893446" y="3343475"/>
                  <a:ext cx="376780" cy="403349"/>
                  <a:chOff x="3893446" y="3343475"/>
                  <a:chExt cx="376780" cy="403349"/>
                </a:xfrm>
              </p:grpSpPr>
              <p:grpSp>
                <p:nvGrpSpPr>
                  <p:cNvPr id="426" name="Group 425"/>
                  <p:cNvGrpSpPr/>
                  <p:nvPr/>
                </p:nvGrpSpPr>
                <p:grpSpPr>
                  <a:xfrm rot="19506619">
                    <a:off x="4000500" y="3353084"/>
                    <a:ext cx="269726" cy="269726"/>
                    <a:chOff x="6683375" y="4748213"/>
                    <a:chExt cx="477838" cy="477838"/>
                  </a:xfrm>
                  <a:solidFill>
                    <a:schemeClr val="tx2"/>
                  </a:solidFill>
                </p:grpSpPr>
                <p:sp>
                  <p:nvSpPr>
                    <p:cNvPr id="431" name="Freeform 14"/>
                    <p:cNvSpPr>
                      <a:spLocks/>
                    </p:cNvSpPr>
                    <p:nvPr/>
                  </p:nvSpPr>
                  <p:spPr bwMode="auto">
                    <a:xfrm>
                      <a:off x="6883400" y="4813300"/>
                      <a:ext cx="214313" cy="349250"/>
                    </a:xfrm>
                    <a:custGeom>
                      <a:avLst/>
                      <a:gdLst>
                        <a:gd name="T0" fmla="*/ 57 w 57"/>
                        <a:gd name="T1" fmla="*/ 47 h 93"/>
                        <a:gd name="T2" fmla="*/ 43 w 57"/>
                        <a:gd name="T3" fmla="*/ 80 h 93"/>
                        <a:gd name="T4" fmla="*/ 14 w 57"/>
                        <a:gd name="T5" fmla="*/ 93 h 93"/>
                        <a:gd name="T6" fmla="*/ 14 w 57"/>
                        <a:gd name="T7" fmla="*/ 85 h 93"/>
                        <a:gd name="T8" fmla="*/ 25 w 57"/>
                        <a:gd name="T9" fmla="*/ 81 h 93"/>
                        <a:gd name="T10" fmla="*/ 33 w 57"/>
                        <a:gd name="T11" fmla="*/ 74 h 93"/>
                        <a:gd name="T12" fmla="*/ 36 w 57"/>
                        <a:gd name="T13" fmla="*/ 62 h 93"/>
                        <a:gd name="T14" fmla="*/ 34 w 57"/>
                        <a:gd name="T15" fmla="*/ 53 h 93"/>
                        <a:gd name="T16" fmla="*/ 27 w 57"/>
                        <a:gd name="T17" fmla="*/ 47 h 93"/>
                        <a:gd name="T18" fmla="*/ 20 w 57"/>
                        <a:gd name="T19" fmla="*/ 42 h 93"/>
                        <a:gd name="T20" fmla="*/ 12 w 57"/>
                        <a:gd name="T21" fmla="*/ 39 h 93"/>
                        <a:gd name="T22" fmla="*/ 7 w 57"/>
                        <a:gd name="T23" fmla="*/ 36 h 93"/>
                        <a:gd name="T24" fmla="*/ 2 w 57"/>
                        <a:gd name="T25" fmla="*/ 33 h 93"/>
                        <a:gd name="T26" fmla="*/ 0 w 57"/>
                        <a:gd name="T27" fmla="*/ 29 h 93"/>
                        <a:gd name="T28" fmla="*/ 3 w 57"/>
                        <a:gd name="T29" fmla="*/ 23 h 93"/>
                        <a:gd name="T30" fmla="*/ 8 w 57"/>
                        <a:gd name="T31" fmla="*/ 20 h 93"/>
                        <a:gd name="T32" fmla="*/ 15 w 57"/>
                        <a:gd name="T33" fmla="*/ 20 h 93"/>
                        <a:gd name="T34" fmla="*/ 24 w 57"/>
                        <a:gd name="T35" fmla="*/ 20 h 93"/>
                        <a:gd name="T36" fmla="*/ 31 w 57"/>
                        <a:gd name="T37" fmla="*/ 23 h 93"/>
                        <a:gd name="T38" fmla="*/ 32 w 57"/>
                        <a:gd name="T39" fmla="*/ 10 h 93"/>
                        <a:gd name="T40" fmla="*/ 24 w 57"/>
                        <a:gd name="T41" fmla="*/ 9 h 93"/>
                        <a:gd name="T42" fmla="*/ 15 w 57"/>
                        <a:gd name="T43" fmla="*/ 8 h 93"/>
                        <a:gd name="T44" fmla="*/ 15 w 57"/>
                        <a:gd name="T45" fmla="*/ 0 h 93"/>
                        <a:gd name="T46" fmla="*/ 43 w 57"/>
                        <a:gd name="T47" fmla="*/ 14 h 93"/>
                        <a:gd name="T48" fmla="*/ 57 w 57"/>
                        <a:gd name="T49" fmla="*/ 47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 h="93">
                          <a:moveTo>
                            <a:pt x="57" y="47"/>
                          </a:moveTo>
                          <a:cubicBezTo>
                            <a:pt x="57" y="60"/>
                            <a:pt x="52" y="71"/>
                            <a:pt x="43" y="80"/>
                          </a:cubicBezTo>
                          <a:cubicBezTo>
                            <a:pt x="35" y="88"/>
                            <a:pt x="25" y="92"/>
                            <a:pt x="14" y="93"/>
                          </a:cubicBezTo>
                          <a:cubicBezTo>
                            <a:pt x="14" y="85"/>
                            <a:pt x="14" y="85"/>
                            <a:pt x="14" y="85"/>
                          </a:cubicBezTo>
                          <a:cubicBezTo>
                            <a:pt x="18" y="84"/>
                            <a:pt x="22" y="83"/>
                            <a:pt x="25" y="81"/>
                          </a:cubicBezTo>
                          <a:cubicBezTo>
                            <a:pt x="28" y="79"/>
                            <a:pt x="31" y="77"/>
                            <a:pt x="33" y="74"/>
                          </a:cubicBezTo>
                          <a:cubicBezTo>
                            <a:pt x="35" y="71"/>
                            <a:pt x="36" y="67"/>
                            <a:pt x="36" y="62"/>
                          </a:cubicBezTo>
                          <a:cubicBezTo>
                            <a:pt x="36" y="58"/>
                            <a:pt x="35" y="55"/>
                            <a:pt x="34" y="53"/>
                          </a:cubicBezTo>
                          <a:cubicBezTo>
                            <a:pt x="32" y="50"/>
                            <a:pt x="30" y="48"/>
                            <a:pt x="27" y="47"/>
                          </a:cubicBezTo>
                          <a:cubicBezTo>
                            <a:pt x="25" y="45"/>
                            <a:pt x="23" y="43"/>
                            <a:pt x="20" y="42"/>
                          </a:cubicBezTo>
                          <a:cubicBezTo>
                            <a:pt x="12" y="39"/>
                            <a:pt x="12" y="39"/>
                            <a:pt x="12" y="39"/>
                          </a:cubicBezTo>
                          <a:cubicBezTo>
                            <a:pt x="10" y="38"/>
                            <a:pt x="8" y="37"/>
                            <a:pt x="7" y="36"/>
                          </a:cubicBezTo>
                          <a:cubicBezTo>
                            <a:pt x="5" y="35"/>
                            <a:pt x="3" y="34"/>
                            <a:pt x="2" y="33"/>
                          </a:cubicBezTo>
                          <a:cubicBezTo>
                            <a:pt x="1" y="32"/>
                            <a:pt x="0" y="30"/>
                            <a:pt x="0" y="29"/>
                          </a:cubicBezTo>
                          <a:cubicBezTo>
                            <a:pt x="0" y="26"/>
                            <a:pt x="1" y="24"/>
                            <a:pt x="3" y="23"/>
                          </a:cubicBezTo>
                          <a:cubicBezTo>
                            <a:pt x="4" y="22"/>
                            <a:pt x="6" y="21"/>
                            <a:pt x="8" y="20"/>
                          </a:cubicBezTo>
                          <a:cubicBezTo>
                            <a:pt x="11" y="20"/>
                            <a:pt x="13" y="20"/>
                            <a:pt x="15" y="20"/>
                          </a:cubicBezTo>
                          <a:cubicBezTo>
                            <a:pt x="18" y="20"/>
                            <a:pt x="21" y="20"/>
                            <a:pt x="24" y="20"/>
                          </a:cubicBezTo>
                          <a:cubicBezTo>
                            <a:pt x="26" y="21"/>
                            <a:pt x="29" y="22"/>
                            <a:pt x="31" y="23"/>
                          </a:cubicBezTo>
                          <a:cubicBezTo>
                            <a:pt x="32" y="10"/>
                            <a:pt x="32" y="10"/>
                            <a:pt x="32" y="10"/>
                          </a:cubicBezTo>
                          <a:cubicBezTo>
                            <a:pt x="29" y="10"/>
                            <a:pt x="27" y="9"/>
                            <a:pt x="24" y="9"/>
                          </a:cubicBezTo>
                          <a:cubicBezTo>
                            <a:pt x="21" y="8"/>
                            <a:pt x="18" y="8"/>
                            <a:pt x="15" y="8"/>
                          </a:cubicBezTo>
                          <a:cubicBezTo>
                            <a:pt x="15" y="0"/>
                            <a:pt x="15" y="0"/>
                            <a:pt x="15" y="0"/>
                          </a:cubicBezTo>
                          <a:cubicBezTo>
                            <a:pt x="26" y="1"/>
                            <a:pt x="36" y="6"/>
                            <a:pt x="43" y="14"/>
                          </a:cubicBezTo>
                          <a:cubicBezTo>
                            <a:pt x="52" y="23"/>
                            <a:pt x="57" y="34"/>
                            <a:pt x="5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32" name="Freeform 15"/>
                    <p:cNvSpPr>
                      <a:spLocks/>
                    </p:cNvSpPr>
                    <p:nvPr/>
                  </p:nvSpPr>
                  <p:spPr bwMode="auto">
                    <a:xfrm>
                      <a:off x="6743700" y="4813300"/>
                      <a:ext cx="214313" cy="349250"/>
                    </a:xfrm>
                    <a:custGeom>
                      <a:avLst/>
                      <a:gdLst>
                        <a:gd name="T0" fmla="*/ 43 w 57"/>
                        <a:gd name="T1" fmla="*/ 9 h 93"/>
                        <a:gd name="T2" fmla="*/ 32 w 57"/>
                        <a:gd name="T3" fmla="*/ 12 h 93"/>
                        <a:gd name="T4" fmla="*/ 25 w 57"/>
                        <a:gd name="T5" fmla="*/ 19 h 93"/>
                        <a:gd name="T6" fmla="*/ 22 w 57"/>
                        <a:gd name="T7" fmla="*/ 30 h 93"/>
                        <a:gd name="T8" fmla="*/ 24 w 57"/>
                        <a:gd name="T9" fmla="*/ 38 h 93"/>
                        <a:gd name="T10" fmla="*/ 29 w 57"/>
                        <a:gd name="T11" fmla="*/ 44 h 93"/>
                        <a:gd name="T12" fmla="*/ 36 w 57"/>
                        <a:gd name="T13" fmla="*/ 48 h 93"/>
                        <a:gd name="T14" fmla="*/ 44 w 57"/>
                        <a:gd name="T15" fmla="*/ 52 h 93"/>
                        <a:gd name="T16" fmla="*/ 50 w 57"/>
                        <a:gd name="T17" fmla="*/ 55 h 93"/>
                        <a:gd name="T18" fmla="*/ 55 w 57"/>
                        <a:gd name="T19" fmla="*/ 58 h 93"/>
                        <a:gd name="T20" fmla="*/ 57 w 57"/>
                        <a:gd name="T21" fmla="*/ 63 h 93"/>
                        <a:gd name="T22" fmla="*/ 55 w 57"/>
                        <a:gd name="T23" fmla="*/ 69 h 93"/>
                        <a:gd name="T24" fmla="*/ 50 w 57"/>
                        <a:gd name="T25" fmla="*/ 73 h 93"/>
                        <a:gd name="T26" fmla="*/ 43 w 57"/>
                        <a:gd name="T27" fmla="*/ 74 h 93"/>
                        <a:gd name="T28" fmla="*/ 32 w 57"/>
                        <a:gd name="T29" fmla="*/ 72 h 93"/>
                        <a:gd name="T30" fmla="*/ 23 w 57"/>
                        <a:gd name="T31" fmla="*/ 69 h 93"/>
                        <a:gd name="T32" fmla="*/ 22 w 57"/>
                        <a:gd name="T33" fmla="*/ 82 h 93"/>
                        <a:gd name="T34" fmla="*/ 32 w 57"/>
                        <a:gd name="T35" fmla="*/ 84 h 93"/>
                        <a:gd name="T36" fmla="*/ 42 w 57"/>
                        <a:gd name="T37" fmla="*/ 85 h 93"/>
                        <a:gd name="T38" fmla="*/ 42 w 57"/>
                        <a:gd name="T39" fmla="*/ 93 h 93"/>
                        <a:gd name="T40" fmla="*/ 14 w 57"/>
                        <a:gd name="T41" fmla="*/ 80 h 93"/>
                        <a:gd name="T42" fmla="*/ 0 w 57"/>
                        <a:gd name="T43" fmla="*/ 47 h 93"/>
                        <a:gd name="T44" fmla="*/ 14 w 57"/>
                        <a:gd name="T45" fmla="*/ 14 h 93"/>
                        <a:gd name="T46" fmla="*/ 43 w 57"/>
                        <a:gd name="T47" fmla="*/ 0 h 93"/>
                        <a:gd name="T48" fmla="*/ 43 w 57"/>
                        <a:gd name="T49" fmla="*/ 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 h="93">
                          <a:moveTo>
                            <a:pt x="43" y="9"/>
                          </a:moveTo>
                          <a:cubicBezTo>
                            <a:pt x="39" y="9"/>
                            <a:pt x="36" y="10"/>
                            <a:pt x="32" y="12"/>
                          </a:cubicBezTo>
                          <a:cubicBezTo>
                            <a:pt x="29" y="14"/>
                            <a:pt x="27" y="16"/>
                            <a:pt x="25" y="19"/>
                          </a:cubicBezTo>
                          <a:cubicBezTo>
                            <a:pt x="23" y="21"/>
                            <a:pt x="22" y="25"/>
                            <a:pt x="22" y="30"/>
                          </a:cubicBezTo>
                          <a:cubicBezTo>
                            <a:pt x="22" y="33"/>
                            <a:pt x="22" y="36"/>
                            <a:pt x="24" y="38"/>
                          </a:cubicBezTo>
                          <a:cubicBezTo>
                            <a:pt x="25" y="40"/>
                            <a:pt x="27" y="42"/>
                            <a:pt x="29" y="44"/>
                          </a:cubicBezTo>
                          <a:cubicBezTo>
                            <a:pt x="31" y="46"/>
                            <a:pt x="34" y="47"/>
                            <a:pt x="36" y="48"/>
                          </a:cubicBezTo>
                          <a:cubicBezTo>
                            <a:pt x="44" y="52"/>
                            <a:pt x="44" y="52"/>
                            <a:pt x="44" y="52"/>
                          </a:cubicBezTo>
                          <a:cubicBezTo>
                            <a:pt x="46" y="53"/>
                            <a:pt x="48" y="54"/>
                            <a:pt x="50" y="55"/>
                          </a:cubicBezTo>
                          <a:cubicBezTo>
                            <a:pt x="52" y="56"/>
                            <a:pt x="54" y="57"/>
                            <a:pt x="55" y="58"/>
                          </a:cubicBezTo>
                          <a:cubicBezTo>
                            <a:pt x="56" y="60"/>
                            <a:pt x="57" y="61"/>
                            <a:pt x="57" y="63"/>
                          </a:cubicBezTo>
                          <a:cubicBezTo>
                            <a:pt x="57" y="66"/>
                            <a:pt x="56" y="68"/>
                            <a:pt x="55" y="69"/>
                          </a:cubicBezTo>
                          <a:cubicBezTo>
                            <a:pt x="54" y="71"/>
                            <a:pt x="52" y="72"/>
                            <a:pt x="50" y="73"/>
                          </a:cubicBezTo>
                          <a:cubicBezTo>
                            <a:pt x="47" y="73"/>
                            <a:pt x="45" y="74"/>
                            <a:pt x="43" y="74"/>
                          </a:cubicBezTo>
                          <a:cubicBezTo>
                            <a:pt x="39" y="74"/>
                            <a:pt x="36" y="73"/>
                            <a:pt x="32" y="72"/>
                          </a:cubicBezTo>
                          <a:cubicBezTo>
                            <a:pt x="29" y="72"/>
                            <a:pt x="26" y="71"/>
                            <a:pt x="23" y="69"/>
                          </a:cubicBezTo>
                          <a:cubicBezTo>
                            <a:pt x="22" y="82"/>
                            <a:pt x="22" y="82"/>
                            <a:pt x="22" y="82"/>
                          </a:cubicBezTo>
                          <a:cubicBezTo>
                            <a:pt x="25" y="83"/>
                            <a:pt x="29" y="84"/>
                            <a:pt x="32" y="84"/>
                          </a:cubicBezTo>
                          <a:cubicBezTo>
                            <a:pt x="35" y="85"/>
                            <a:pt x="38" y="85"/>
                            <a:pt x="42" y="85"/>
                          </a:cubicBezTo>
                          <a:cubicBezTo>
                            <a:pt x="42" y="93"/>
                            <a:pt x="42" y="93"/>
                            <a:pt x="42" y="93"/>
                          </a:cubicBezTo>
                          <a:cubicBezTo>
                            <a:pt x="31" y="92"/>
                            <a:pt x="22" y="87"/>
                            <a:pt x="14" y="80"/>
                          </a:cubicBezTo>
                          <a:cubicBezTo>
                            <a:pt x="5" y="71"/>
                            <a:pt x="0" y="60"/>
                            <a:pt x="0" y="47"/>
                          </a:cubicBezTo>
                          <a:cubicBezTo>
                            <a:pt x="0" y="34"/>
                            <a:pt x="5" y="23"/>
                            <a:pt x="14" y="14"/>
                          </a:cubicBezTo>
                          <a:cubicBezTo>
                            <a:pt x="22" y="5"/>
                            <a:pt x="32" y="1"/>
                            <a:pt x="43" y="0"/>
                          </a:cubicBezTo>
                          <a:lnTo>
                            <a:pt x="43"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33" name="Freeform 16"/>
                    <p:cNvSpPr>
                      <a:spLocks noEditPoints="1"/>
                    </p:cNvSpPr>
                    <p:nvPr/>
                  </p:nvSpPr>
                  <p:spPr bwMode="auto">
                    <a:xfrm>
                      <a:off x="6683375" y="4748213"/>
                      <a:ext cx="477838" cy="477838"/>
                    </a:xfrm>
                    <a:custGeom>
                      <a:avLst/>
                      <a:gdLst>
                        <a:gd name="T0" fmla="*/ 117 w 127"/>
                        <a:gd name="T1" fmla="*/ 64 h 127"/>
                        <a:gd name="T2" fmla="*/ 101 w 127"/>
                        <a:gd name="T3" fmla="*/ 26 h 127"/>
                        <a:gd name="T4" fmla="*/ 63 w 127"/>
                        <a:gd name="T5" fmla="*/ 10 h 127"/>
                        <a:gd name="T6" fmla="*/ 40 w 127"/>
                        <a:gd name="T7" fmla="*/ 15 h 127"/>
                        <a:gd name="T8" fmla="*/ 25 w 127"/>
                        <a:gd name="T9" fmla="*/ 26 h 127"/>
                        <a:gd name="T10" fmla="*/ 10 w 127"/>
                        <a:gd name="T11" fmla="*/ 64 h 127"/>
                        <a:gd name="T12" fmla="*/ 25 w 127"/>
                        <a:gd name="T13" fmla="*/ 101 h 127"/>
                        <a:gd name="T14" fmla="*/ 63 w 127"/>
                        <a:gd name="T15" fmla="*/ 117 h 127"/>
                        <a:gd name="T16" fmla="*/ 101 w 127"/>
                        <a:gd name="T17" fmla="*/ 101 h 127"/>
                        <a:gd name="T18" fmla="*/ 114 w 127"/>
                        <a:gd name="T19" fmla="*/ 81 h 127"/>
                        <a:gd name="T20" fmla="*/ 117 w 127"/>
                        <a:gd name="T21" fmla="*/ 64 h 127"/>
                        <a:gd name="T22" fmla="*/ 127 w 127"/>
                        <a:gd name="T23" fmla="*/ 64 h 127"/>
                        <a:gd name="T24" fmla="*/ 125 w 127"/>
                        <a:gd name="T25" fmla="*/ 78 h 127"/>
                        <a:gd name="T26" fmla="*/ 108 w 127"/>
                        <a:gd name="T27" fmla="*/ 109 h 127"/>
                        <a:gd name="T28" fmla="*/ 63 w 127"/>
                        <a:gd name="T29" fmla="*/ 127 h 127"/>
                        <a:gd name="T30" fmla="*/ 18 w 127"/>
                        <a:gd name="T31" fmla="*/ 109 h 127"/>
                        <a:gd name="T32" fmla="*/ 0 w 127"/>
                        <a:gd name="T33" fmla="*/ 64 h 127"/>
                        <a:gd name="T34" fmla="*/ 18 w 127"/>
                        <a:gd name="T35" fmla="*/ 19 h 127"/>
                        <a:gd name="T36" fmla="*/ 42 w 127"/>
                        <a:gd name="T37" fmla="*/ 4 h 127"/>
                        <a:gd name="T38" fmla="*/ 63 w 127"/>
                        <a:gd name="T39" fmla="*/ 0 h 127"/>
                        <a:gd name="T40" fmla="*/ 108 w 127"/>
                        <a:gd name="T41" fmla="*/ 19 h 127"/>
                        <a:gd name="T42" fmla="*/ 127 w 127"/>
                        <a:gd name="T43" fmla="*/ 64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7" h="127">
                          <a:moveTo>
                            <a:pt x="117" y="64"/>
                          </a:moveTo>
                          <a:cubicBezTo>
                            <a:pt x="117" y="49"/>
                            <a:pt x="111" y="36"/>
                            <a:pt x="101" y="26"/>
                          </a:cubicBezTo>
                          <a:cubicBezTo>
                            <a:pt x="91" y="15"/>
                            <a:pt x="78" y="10"/>
                            <a:pt x="63" y="10"/>
                          </a:cubicBezTo>
                          <a:cubicBezTo>
                            <a:pt x="55" y="10"/>
                            <a:pt x="47" y="12"/>
                            <a:pt x="40" y="15"/>
                          </a:cubicBezTo>
                          <a:cubicBezTo>
                            <a:pt x="35" y="18"/>
                            <a:pt x="30" y="21"/>
                            <a:pt x="25" y="26"/>
                          </a:cubicBezTo>
                          <a:cubicBezTo>
                            <a:pt x="15" y="36"/>
                            <a:pt x="10" y="49"/>
                            <a:pt x="10" y="64"/>
                          </a:cubicBezTo>
                          <a:cubicBezTo>
                            <a:pt x="10" y="78"/>
                            <a:pt x="15" y="91"/>
                            <a:pt x="25" y="101"/>
                          </a:cubicBezTo>
                          <a:cubicBezTo>
                            <a:pt x="36" y="112"/>
                            <a:pt x="49" y="117"/>
                            <a:pt x="63" y="117"/>
                          </a:cubicBezTo>
                          <a:cubicBezTo>
                            <a:pt x="78" y="117"/>
                            <a:pt x="91" y="112"/>
                            <a:pt x="101" y="101"/>
                          </a:cubicBezTo>
                          <a:cubicBezTo>
                            <a:pt x="107" y="95"/>
                            <a:pt x="111" y="88"/>
                            <a:pt x="114" y="81"/>
                          </a:cubicBezTo>
                          <a:cubicBezTo>
                            <a:pt x="116" y="75"/>
                            <a:pt x="117" y="70"/>
                            <a:pt x="117" y="64"/>
                          </a:cubicBezTo>
                          <a:close/>
                          <a:moveTo>
                            <a:pt x="127" y="64"/>
                          </a:moveTo>
                          <a:cubicBezTo>
                            <a:pt x="127" y="68"/>
                            <a:pt x="126" y="73"/>
                            <a:pt x="125" y="78"/>
                          </a:cubicBezTo>
                          <a:cubicBezTo>
                            <a:pt x="123" y="89"/>
                            <a:pt x="117" y="100"/>
                            <a:pt x="108" y="109"/>
                          </a:cubicBezTo>
                          <a:cubicBezTo>
                            <a:pt x="96" y="121"/>
                            <a:pt x="81" y="127"/>
                            <a:pt x="63" y="127"/>
                          </a:cubicBezTo>
                          <a:cubicBezTo>
                            <a:pt x="46" y="127"/>
                            <a:pt x="31" y="121"/>
                            <a:pt x="18" y="109"/>
                          </a:cubicBezTo>
                          <a:cubicBezTo>
                            <a:pt x="6" y="96"/>
                            <a:pt x="0" y="81"/>
                            <a:pt x="0" y="64"/>
                          </a:cubicBezTo>
                          <a:cubicBezTo>
                            <a:pt x="0" y="46"/>
                            <a:pt x="6" y="31"/>
                            <a:pt x="18" y="19"/>
                          </a:cubicBezTo>
                          <a:cubicBezTo>
                            <a:pt x="25" y="12"/>
                            <a:pt x="33" y="7"/>
                            <a:pt x="42" y="4"/>
                          </a:cubicBezTo>
                          <a:cubicBezTo>
                            <a:pt x="48" y="1"/>
                            <a:pt x="55" y="0"/>
                            <a:pt x="63" y="0"/>
                          </a:cubicBezTo>
                          <a:cubicBezTo>
                            <a:pt x="81" y="0"/>
                            <a:pt x="96" y="6"/>
                            <a:pt x="108" y="19"/>
                          </a:cubicBezTo>
                          <a:cubicBezTo>
                            <a:pt x="121" y="31"/>
                            <a:pt x="127" y="46"/>
                            <a:pt x="12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sp>
                <p:nvSpPr>
                  <p:cNvPr id="427" name="Freeform 56"/>
                  <p:cNvSpPr>
                    <a:spLocks noChangeAspect="1" noEditPoints="1"/>
                  </p:cNvSpPr>
                  <p:nvPr/>
                </p:nvSpPr>
                <p:spPr bwMode="auto">
                  <a:xfrm rot="19494378">
                    <a:off x="3982843" y="3572745"/>
                    <a:ext cx="117053" cy="174079"/>
                  </a:xfrm>
                  <a:custGeom>
                    <a:avLst/>
                    <a:gdLst>
                      <a:gd name="T0" fmla="*/ 390 w 445"/>
                      <a:gd name="T1" fmla="*/ 570 h 661"/>
                      <a:gd name="T2" fmla="*/ 349 w 445"/>
                      <a:gd name="T3" fmla="*/ 584 h 661"/>
                      <a:gd name="T4" fmla="*/ 335 w 445"/>
                      <a:gd name="T5" fmla="*/ 364 h 661"/>
                      <a:gd name="T6" fmla="*/ 377 w 445"/>
                      <a:gd name="T7" fmla="*/ 350 h 661"/>
                      <a:gd name="T8" fmla="*/ 390 w 445"/>
                      <a:gd name="T9" fmla="*/ 570 h 661"/>
                      <a:gd name="T10" fmla="*/ 268 w 445"/>
                      <a:gd name="T11" fmla="*/ 399 h 661"/>
                      <a:gd name="T12" fmla="*/ 268 w 445"/>
                      <a:gd name="T13" fmla="*/ 350 h 661"/>
                      <a:gd name="T14" fmla="*/ 268 w 445"/>
                      <a:gd name="T15" fmla="*/ 399 h 661"/>
                      <a:gd name="T16" fmla="*/ 268 w 445"/>
                      <a:gd name="T17" fmla="*/ 493 h 661"/>
                      <a:gd name="T18" fmla="*/ 268 w 445"/>
                      <a:gd name="T19" fmla="*/ 444 h 661"/>
                      <a:gd name="T20" fmla="*/ 268 w 445"/>
                      <a:gd name="T21" fmla="*/ 493 h 661"/>
                      <a:gd name="T22" fmla="*/ 268 w 445"/>
                      <a:gd name="T23" fmla="*/ 587 h 661"/>
                      <a:gd name="T24" fmla="*/ 268 w 445"/>
                      <a:gd name="T25" fmla="*/ 538 h 661"/>
                      <a:gd name="T26" fmla="*/ 268 w 445"/>
                      <a:gd name="T27" fmla="*/ 587 h 661"/>
                      <a:gd name="T28" fmla="*/ 175 w 445"/>
                      <a:gd name="T29" fmla="*/ 399 h 661"/>
                      <a:gd name="T30" fmla="*/ 175 w 445"/>
                      <a:gd name="T31" fmla="*/ 350 h 661"/>
                      <a:gd name="T32" fmla="*/ 175 w 445"/>
                      <a:gd name="T33" fmla="*/ 399 h 661"/>
                      <a:gd name="T34" fmla="*/ 175 w 445"/>
                      <a:gd name="T35" fmla="*/ 493 h 661"/>
                      <a:gd name="T36" fmla="*/ 175 w 445"/>
                      <a:gd name="T37" fmla="*/ 444 h 661"/>
                      <a:gd name="T38" fmla="*/ 175 w 445"/>
                      <a:gd name="T39" fmla="*/ 493 h 661"/>
                      <a:gd name="T40" fmla="*/ 175 w 445"/>
                      <a:gd name="T41" fmla="*/ 587 h 661"/>
                      <a:gd name="T42" fmla="*/ 175 w 445"/>
                      <a:gd name="T43" fmla="*/ 538 h 661"/>
                      <a:gd name="T44" fmla="*/ 175 w 445"/>
                      <a:gd name="T45" fmla="*/ 587 h 661"/>
                      <a:gd name="T46" fmla="*/ 82 w 445"/>
                      <a:gd name="T47" fmla="*/ 303 h 661"/>
                      <a:gd name="T48" fmla="*/ 82 w 445"/>
                      <a:gd name="T49" fmla="*/ 254 h 661"/>
                      <a:gd name="T50" fmla="*/ 82 w 445"/>
                      <a:gd name="T51" fmla="*/ 303 h 661"/>
                      <a:gd name="T52" fmla="*/ 82 w 445"/>
                      <a:gd name="T53" fmla="*/ 399 h 661"/>
                      <a:gd name="T54" fmla="*/ 82 w 445"/>
                      <a:gd name="T55" fmla="*/ 350 h 661"/>
                      <a:gd name="T56" fmla="*/ 82 w 445"/>
                      <a:gd name="T57" fmla="*/ 399 h 661"/>
                      <a:gd name="T58" fmla="*/ 82 w 445"/>
                      <a:gd name="T59" fmla="*/ 493 h 661"/>
                      <a:gd name="T60" fmla="*/ 82 w 445"/>
                      <a:gd name="T61" fmla="*/ 444 h 661"/>
                      <a:gd name="T62" fmla="*/ 82 w 445"/>
                      <a:gd name="T63" fmla="*/ 493 h 661"/>
                      <a:gd name="T64" fmla="*/ 82 w 445"/>
                      <a:gd name="T65" fmla="*/ 587 h 661"/>
                      <a:gd name="T66" fmla="*/ 82 w 445"/>
                      <a:gd name="T67" fmla="*/ 538 h 661"/>
                      <a:gd name="T68" fmla="*/ 82 w 445"/>
                      <a:gd name="T69" fmla="*/ 587 h 661"/>
                      <a:gd name="T70" fmla="*/ 199 w 445"/>
                      <a:gd name="T71" fmla="*/ 278 h 661"/>
                      <a:gd name="T72" fmla="*/ 150 w 445"/>
                      <a:gd name="T73" fmla="*/ 278 h 661"/>
                      <a:gd name="T74" fmla="*/ 199 w 445"/>
                      <a:gd name="T75" fmla="*/ 278 h 661"/>
                      <a:gd name="T76" fmla="*/ 292 w 445"/>
                      <a:gd name="T77" fmla="*/ 278 h 661"/>
                      <a:gd name="T78" fmla="*/ 243 w 445"/>
                      <a:gd name="T79" fmla="*/ 278 h 661"/>
                      <a:gd name="T80" fmla="*/ 292 w 445"/>
                      <a:gd name="T81" fmla="*/ 278 h 661"/>
                      <a:gd name="T82" fmla="*/ 385 w 445"/>
                      <a:gd name="T83" fmla="*/ 278 h 661"/>
                      <a:gd name="T84" fmla="*/ 337 w 445"/>
                      <a:gd name="T85" fmla="*/ 278 h 661"/>
                      <a:gd name="T86" fmla="*/ 385 w 445"/>
                      <a:gd name="T87" fmla="*/ 278 h 661"/>
                      <a:gd name="T88" fmla="*/ 56 w 445"/>
                      <a:gd name="T89" fmla="*/ 95 h 661"/>
                      <a:gd name="T90" fmla="*/ 365 w 445"/>
                      <a:gd name="T91" fmla="*/ 72 h 661"/>
                      <a:gd name="T92" fmla="*/ 388 w 445"/>
                      <a:gd name="T93" fmla="*/ 161 h 661"/>
                      <a:gd name="T94" fmla="*/ 79 w 445"/>
                      <a:gd name="T95" fmla="*/ 184 h 661"/>
                      <a:gd name="T96" fmla="*/ 56 w 445"/>
                      <a:gd name="T97" fmla="*/ 95 h 661"/>
                      <a:gd name="T98" fmla="*/ 389 w 445"/>
                      <a:gd name="T99" fmla="*/ 0 h 661"/>
                      <a:gd name="T100" fmla="*/ 0 w 445"/>
                      <a:gd name="T101" fmla="*/ 54 h 661"/>
                      <a:gd name="T102" fmla="*/ 55 w 445"/>
                      <a:gd name="T103" fmla="*/ 661 h 661"/>
                      <a:gd name="T104" fmla="*/ 445 w 445"/>
                      <a:gd name="T105" fmla="*/ 606 h 661"/>
                      <a:gd name="T106" fmla="*/ 389 w 445"/>
                      <a:gd name="T107" fmla="*/ 0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661">
                        <a:moveTo>
                          <a:pt x="390" y="570"/>
                        </a:moveTo>
                        <a:lnTo>
                          <a:pt x="390" y="570"/>
                        </a:lnTo>
                        <a:cubicBezTo>
                          <a:pt x="390" y="578"/>
                          <a:pt x="384" y="584"/>
                          <a:pt x="377" y="584"/>
                        </a:cubicBezTo>
                        <a:lnTo>
                          <a:pt x="349" y="584"/>
                        </a:lnTo>
                        <a:cubicBezTo>
                          <a:pt x="341" y="584"/>
                          <a:pt x="335" y="578"/>
                          <a:pt x="335" y="570"/>
                        </a:cubicBezTo>
                        <a:lnTo>
                          <a:pt x="335" y="364"/>
                        </a:lnTo>
                        <a:cubicBezTo>
                          <a:pt x="335" y="356"/>
                          <a:pt x="341" y="350"/>
                          <a:pt x="349" y="350"/>
                        </a:cubicBezTo>
                        <a:lnTo>
                          <a:pt x="377" y="350"/>
                        </a:lnTo>
                        <a:cubicBezTo>
                          <a:pt x="384" y="350"/>
                          <a:pt x="390" y="356"/>
                          <a:pt x="390" y="364"/>
                        </a:cubicBezTo>
                        <a:lnTo>
                          <a:pt x="390" y="570"/>
                        </a:lnTo>
                        <a:close/>
                        <a:moveTo>
                          <a:pt x="268" y="399"/>
                        </a:moveTo>
                        <a:lnTo>
                          <a:pt x="268" y="399"/>
                        </a:lnTo>
                        <a:cubicBezTo>
                          <a:pt x="254" y="399"/>
                          <a:pt x="243" y="388"/>
                          <a:pt x="243" y="374"/>
                        </a:cubicBezTo>
                        <a:cubicBezTo>
                          <a:pt x="243" y="361"/>
                          <a:pt x="254" y="350"/>
                          <a:pt x="268" y="350"/>
                        </a:cubicBezTo>
                        <a:cubicBezTo>
                          <a:pt x="281" y="350"/>
                          <a:pt x="292" y="361"/>
                          <a:pt x="292" y="374"/>
                        </a:cubicBezTo>
                        <a:cubicBezTo>
                          <a:pt x="292" y="388"/>
                          <a:pt x="281" y="399"/>
                          <a:pt x="268" y="399"/>
                        </a:cubicBezTo>
                        <a:close/>
                        <a:moveTo>
                          <a:pt x="268" y="493"/>
                        </a:moveTo>
                        <a:lnTo>
                          <a:pt x="268" y="493"/>
                        </a:lnTo>
                        <a:cubicBezTo>
                          <a:pt x="254" y="493"/>
                          <a:pt x="243" y="482"/>
                          <a:pt x="243" y="468"/>
                        </a:cubicBezTo>
                        <a:cubicBezTo>
                          <a:pt x="243" y="455"/>
                          <a:pt x="254" y="444"/>
                          <a:pt x="268" y="444"/>
                        </a:cubicBezTo>
                        <a:cubicBezTo>
                          <a:pt x="281" y="444"/>
                          <a:pt x="292" y="455"/>
                          <a:pt x="292" y="468"/>
                        </a:cubicBezTo>
                        <a:cubicBezTo>
                          <a:pt x="292" y="482"/>
                          <a:pt x="281" y="493"/>
                          <a:pt x="268" y="493"/>
                        </a:cubicBezTo>
                        <a:close/>
                        <a:moveTo>
                          <a:pt x="268" y="587"/>
                        </a:moveTo>
                        <a:lnTo>
                          <a:pt x="268" y="587"/>
                        </a:lnTo>
                        <a:cubicBezTo>
                          <a:pt x="254" y="587"/>
                          <a:pt x="243" y="576"/>
                          <a:pt x="243" y="563"/>
                        </a:cubicBezTo>
                        <a:cubicBezTo>
                          <a:pt x="243" y="549"/>
                          <a:pt x="254" y="538"/>
                          <a:pt x="268" y="538"/>
                        </a:cubicBezTo>
                        <a:cubicBezTo>
                          <a:pt x="281" y="538"/>
                          <a:pt x="292" y="549"/>
                          <a:pt x="292" y="563"/>
                        </a:cubicBezTo>
                        <a:cubicBezTo>
                          <a:pt x="292" y="576"/>
                          <a:pt x="281" y="587"/>
                          <a:pt x="268" y="587"/>
                        </a:cubicBezTo>
                        <a:close/>
                        <a:moveTo>
                          <a:pt x="175" y="399"/>
                        </a:moveTo>
                        <a:lnTo>
                          <a:pt x="175" y="399"/>
                        </a:lnTo>
                        <a:cubicBezTo>
                          <a:pt x="161" y="399"/>
                          <a:pt x="150" y="388"/>
                          <a:pt x="150" y="374"/>
                        </a:cubicBezTo>
                        <a:cubicBezTo>
                          <a:pt x="150" y="361"/>
                          <a:pt x="161" y="350"/>
                          <a:pt x="175" y="350"/>
                        </a:cubicBezTo>
                        <a:cubicBezTo>
                          <a:pt x="188" y="350"/>
                          <a:pt x="199" y="361"/>
                          <a:pt x="199" y="374"/>
                        </a:cubicBezTo>
                        <a:cubicBezTo>
                          <a:pt x="199" y="388"/>
                          <a:pt x="188" y="399"/>
                          <a:pt x="175" y="399"/>
                        </a:cubicBezTo>
                        <a:close/>
                        <a:moveTo>
                          <a:pt x="175" y="493"/>
                        </a:moveTo>
                        <a:lnTo>
                          <a:pt x="175" y="493"/>
                        </a:lnTo>
                        <a:cubicBezTo>
                          <a:pt x="161" y="493"/>
                          <a:pt x="150" y="482"/>
                          <a:pt x="150" y="468"/>
                        </a:cubicBezTo>
                        <a:cubicBezTo>
                          <a:pt x="150" y="455"/>
                          <a:pt x="161" y="444"/>
                          <a:pt x="175" y="444"/>
                        </a:cubicBezTo>
                        <a:cubicBezTo>
                          <a:pt x="188" y="444"/>
                          <a:pt x="199" y="455"/>
                          <a:pt x="199" y="468"/>
                        </a:cubicBezTo>
                        <a:cubicBezTo>
                          <a:pt x="199" y="482"/>
                          <a:pt x="188" y="493"/>
                          <a:pt x="175" y="493"/>
                        </a:cubicBezTo>
                        <a:close/>
                        <a:moveTo>
                          <a:pt x="175" y="587"/>
                        </a:moveTo>
                        <a:lnTo>
                          <a:pt x="175" y="587"/>
                        </a:lnTo>
                        <a:cubicBezTo>
                          <a:pt x="161" y="587"/>
                          <a:pt x="150" y="576"/>
                          <a:pt x="150" y="563"/>
                        </a:cubicBezTo>
                        <a:cubicBezTo>
                          <a:pt x="150" y="549"/>
                          <a:pt x="161" y="538"/>
                          <a:pt x="175" y="538"/>
                        </a:cubicBezTo>
                        <a:cubicBezTo>
                          <a:pt x="188" y="538"/>
                          <a:pt x="199" y="549"/>
                          <a:pt x="199" y="563"/>
                        </a:cubicBezTo>
                        <a:cubicBezTo>
                          <a:pt x="199" y="576"/>
                          <a:pt x="188" y="587"/>
                          <a:pt x="175" y="587"/>
                        </a:cubicBezTo>
                        <a:close/>
                        <a:moveTo>
                          <a:pt x="82" y="303"/>
                        </a:moveTo>
                        <a:lnTo>
                          <a:pt x="82" y="303"/>
                        </a:lnTo>
                        <a:cubicBezTo>
                          <a:pt x="68" y="303"/>
                          <a:pt x="57" y="292"/>
                          <a:pt x="57" y="278"/>
                        </a:cubicBezTo>
                        <a:cubicBezTo>
                          <a:pt x="57" y="265"/>
                          <a:pt x="68" y="254"/>
                          <a:pt x="82" y="254"/>
                        </a:cubicBezTo>
                        <a:cubicBezTo>
                          <a:pt x="95" y="254"/>
                          <a:pt x="106" y="265"/>
                          <a:pt x="106" y="278"/>
                        </a:cubicBezTo>
                        <a:cubicBezTo>
                          <a:pt x="106" y="292"/>
                          <a:pt x="95" y="303"/>
                          <a:pt x="82" y="303"/>
                        </a:cubicBezTo>
                        <a:close/>
                        <a:moveTo>
                          <a:pt x="82" y="399"/>
                        </a:moveTo>
                        <a:lnTo>
                          <a:pt x="82" y="399"/>
                        </a:lnTo>
                        <a:cubicBezTo>
                          <a:pt x="68" y="399"/>
                          <a:pt x="57" y="388"/>
                          <a:pt x="57" y="374"/>
                        </a:cubicBezTo>
                        <a:cubicBezTo>
                          <a:pt x="57" y="361"/>
                          <a:pt x="68" y="350"/>
                          <a:pt x="82" y="350"/>
                        </a:cubicBezTo>
                        <a:cubicBezTo>
                          <a:pt x="95" y="350"/>
                          <a:pt x="106" y="361"/>
                          <a:pt x="106" y="374"/>
                        </a:cubicBezTo>
                        <a:cubicBezTo>
                          <a:pt x="106" y="388"/>
                          <a:pt x="95" y="399"/>
                          <a:pt x="82" y="399"/>
                        </a:cubicBezTo>
                        <a:close/>
                        <a:moveTo>
                          <a:pt x="82" y="493"/>
                        </a:moveTo>
                        <a:lnTo>
                          <a:pt x="82" y="493"/>
                        </a:lnTo>
                        <a:cubicBezTo>
                          <a:pt x="68" y="493"/>
                          <a:pt x="57" y="482"/>
                          <a:pt x="57" y="468"/>
                        </a:cubicBezTo>
                        <a:cubicBezTo>
                          <a:pt x="57" y="455"/>
                          <a:pt x="68" y="444"/>
                          <a:pt x="82" y="444"/>
                        </a:cubicBezTo>
                        <a:cubicBezTo>
                          <a:pt x="95" y="444"/>
                          <a:pt x="106" y="455"/>
                          <a:pt x="106" y="468"/>
                        </a:cubicBezTo>
                        <a:cubicBezTo>
                          <a:pt x="106" y="482"/>
                          <a:pt x="95" y="493"/>
                          <a:pt x="82" y="493"/>
                        </a:cubicBezTo>
                        <a:close/>
                        <a:moveTo>
                          <a:pt x="82" y="587"/>
                        </a:moveTo>
                        <a:lnTo>
                          <a:pt x="82" y="587"/>
                        </a:lnTo>
                        <a:cubicBezTo>
                          <a:pt x="68" y="587"/>
                          <a:pt x="57" y="576"/>
                          <a:pt x="57" y="563"/>
                        </a:cubicBezTo>
                        <a:cubicBezTo>
                          <a:pt x="57" y="549"/>
                          <a:pt x="68" y="538"/>
                          <a:pt x="82" y="538"/>
                        </a:cubicBezTo>
                        <a:cubicBezTo>
                          <a:pt x="95" y="538"/>
                          <a:pt x="106" y="549"/>
                          <a:pt x="106" y="563"/>
                        </a:cubicBezTo>
                        <a:cubicBezTo>
                          <a:pt x="106" y="576"/>
                          <a:pt x="95" y="587"/>
                          <a:pt x="82" y="587"/>
                        </a:cubicBezTo>
                        <a:close/>
                        <a:moveTo>
                          <a:pt x="199" y="278"/>
                        </a:moveTo>
                        <a:lnTo>
                          <a:pt x="199" y="278"/>
                        </a:lnTo>
                        <a:cubicBezTo>
                          <a:pt x="199" y="292"/>
                          <a:pt x="188" y="303"/>
                          <a:pt x="175" y="303"/>
                        </a:cubicBezTo>
                        <a:cubicBezTo>
                          <a:pt x="161" y="303"/>
                          <a:pt x="150" y="292"/>
                          <a:pt x="150" y="278"/>
                        </a:cubicBezTo>
                        <a:cubicBezTo>
                          <a:pt x="150" y="265"/>
                          <a:pt x="161" y="254"/>
                          <a:pt x="175" y="254"/>
                        </a:cubicBezTo>
                        <a:cubicBezTo>
                          <a:pt x="188" y="254"/>
                          <a:pt x="199" y="265"/>
                          <a:pt x="199" y="278"/>
                        </a:cubicBezTo>
                        <a:close/>
                        <a:moveTo>
                          <a:pt x="292" y="278"/>
                        </a:moveTo>
                        <a:lnTo>
                          <a:pt x="292" y="278"/>
                        </a:lnTo>
                        <a:cubicBezTo>
                          <a:pt x="292" y="292"/>
                          <a:pt x="281" y="303"/>
                          <a:pt x="268" y="303"/>
                        </a:cubicBezTo>
                        <a:cubicBezTo>
                          <a:pt x="254" y="303"/>
                          <a:pt x="243" y="292"/>
                          <a:pt x="243" y="278"/>
                        </a:cubicBezTo>
                        <a:cubicBezTo>
                          <a:pt x="243" y="265"/>
                          <a:pt x="254" y="254"/>
                          <a:pt x="268" y="254"/>
                        </a:cubicBezTo>
                        <a:cubicBezTo>
                          <a:pt x="281" y="254"/>
                          <a:pt x="292" y="265"/>
                          <a:pt x="292" y="278"/>
                        </a:cubicBezTo>
                        <a:close/>
                        <a:moveTo>
                          <a:pt x="385" y="278"/>
                        </a:moveTo>
                        <a:lnTo>
                          <a:pt x="385" y="278"/>
                        </a:lnTo>
                        <a:cubicBezTo>
                          <a:pt x="385" y="292"/>
                          <a:pt x="375" y="303"/>
                          <a:pt x="361" y="303"/>
                        </a:cubicBezTo>
                        <a:cubicBezTo>
                          <a:pt x="348" y="303"/>
                          <a:pt x="337" y="292"/>
                          <a:pt x="337" y="278"/>
                        </a:cubicBezTo>
                        <a:cubicBezTo>
                          <a:pt x="337" y="265"/>
                          <a:pt x="348" y="254"/>
                          <a:pt x="361" y="254"/>
                        </a:cubicBezTo>
                        <a:cubicBezTo>
                          <a:pt x="375" y="254"/>
                          <a:pt x="385" y="265"/>
                          <a:pt x="385" y="278"/>
                        </a:cubicBezTo>
                        <a:close/>
                        <a:moveTo>
                          <a:pt x="56" y="95"/>
                        </a:moveTo>
                        <a:lnTo>
                          <a:pt x="56" y="95"/>
                        </a:lnTo>
                        <a:cubicBezTo>
                          <a:pt x="56" y="82"/>
                          <a:pt x="66" y="72"/>
                          <a:pt x="79" y="72"/>
                        </a:cubicBezTo>
                        <a:lnTo>
                          <a:pt x="365" y="72"/>
                        </a:lnTo>
                        <a:cubicBezTo>
                          <a:pt x="377" y="72"/>
                          <a:pt x="388" y="82"/>
                          <a:pt x="388" y="95"/>
                        </a:cubicBezTo>
                        <a:lnTo>
                          <a:pt x="388" y="161"/>
                        </a:lnTo>
                        <a:cubicBezTo>
                          <a:pt x="388" y="174"/>
                          <a:pt x="377" y="184"/>
                          <a:pt x="365" y="184"/>
                        </a:cubicBezTo>
                        <a:lnTo>
                          <a:pt x="79" y="184"/>
                        </a:lnTo>
                        <a:cubicBezTo>
                          <a:pt x="66" y="184"/>
                          <a:pt x="56" y="174"/>
                          <a:pt x="56" y="161"/>
                        </a:cubicBezTo>
                        <a:lnTo>
                          <a:pt x="56" y="95"/>
                        </a:lnTo>
                        <a:close/>
                        <a:moveTo>
                          <a:pt x="389" y="0"/>
                        </a:moveTo>
                        <a:lnTo>
                          <a:pt x="389" y="0"/>
                        </a:lnTo>
                        <a:lnTo>
                          <a:pt x="55" y="0"/>
                        </a:lnTo>
                        <a:cubicBezTo>
                          <a:pt x="24" y="0"/>
                          <a:pt x="0" y="24"/>
                          <a:pt x="0" y="54"/>
                        </a:cubicBezTo>
                        <a:lnTo>
                          <a:pt x="0" y="606"/>
                        </a:lnTo>
                        <a:cubicBezTo>
                          <a:pt x="0" y="637"/>
                          <a:pt x="24" y="661"/>
                          <a:pt x="55" y="661"/>
                        </a:cubicBezTo>
                        <a:lnTo>
                          <a:pt x="389" y="661"/>
                        </a:lnTo>
                        <a:cubicBezTo>
                          <a:pt x="420" y="661"/>
                          <a:pt x="445" y="637"/>
                          <a:pt x="445" y="606"/>
                        </a:cubicBezTo>
                        <a:lnTo>
                          <a:pt x="445" y="54"/>
                        </a:lnTo>
                        <a:cubicBezTo>
                          <a:pt x="445" y="24"/>
                          <a:pt x="420" y="0"/>
                          <a:pt x="389" y="0"/>
                        </a:cubicBezTo>
                        <a:close/>
                      </a:path>
                    </a:pathLst>
                  </a:custGeom>
                  <a:solidFill>
                    <a:srgbClr val="C4D600"/>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28" name="Cross 427"/>
                  <p:cNvSpPr/>
                  <p:nvPr/>
                </p:nvSpPr>
                <p:spPr bwMode="gray">
                  <a:xfrm rot="19367481">
                    <a:off x="3893446" y="3471687"/>
                    <a:ext cx="98184" cy="98184"/>
                  </a:xfrm>
                  <a:prstGeom prst="plus">
                    <a:avLst>
                      <a:gd name="adj" fmla="val 40785"/>
                    </a:avLst>
                  </a:prstGeom>
                  <a:solidFill>
                    <a:schemeClr val="accent1"/>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429" name="Cross 428"/>
                  <p:cNvSpPr/>
                  <p:nvPr/>
                </p:nvSpPr>
                <p:spPr bwMode="gray">
                  <a:xfrm rot="19707525">
                    <a:off x="3906199" y="3392523"/>
                    <a:ext cx="79243" cy="79243"/>
                  </a:xfrm>
                  <a:prstGeom prst="plus">
                    <a:avLst>
                      <a:gd name="adj" fmla="val 40785"/>
                    </a:avLst>
                  </a:prstGeom>
                  <a:solidFill>
                    <a:schemeClr val="accent2"/>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430" name="Cross 429"/>
                  <p:cNvSpPr/>
                  <p:nvPr/>
                </p:nvSpPr>
                <p:spPr bwMode="gray">
                  <a:xfrm rot="21078736">
                    <a:off x="3980536" y="3343475"/>
                    <a:ext cx="47892" cy="47892"/>
                  </a:xfrm>
                  <a:prstGeom prst="plus">
                    <a:avLst>
                      <a:gd name="adj" fmla="val 40785"/>
                    </a:avLst>
                  </a:prstGeom>
                  <a:solidFill>
                    <a:srgbClr val="C4D600"/>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grpSp>
          <p:sp>
            <p:nvSpPr>
              <p:cNvPr id="372" name="Freeform 73"/>
              <p:cNvSpPr>
                <a:spLocks noChangeAspect="1" noEditPoints="1"/>
              </p:cNvSpPr>
              <p:nvPr/>
            </p:nvSpPr>
            <p:spPr bwMode="auto">
              <a:xfrm rot="4505000">
                <a:off x="2738348" y="3228996"/>
                <a:ext cx="229126" cy="324079"/>
              </a:xfrm>
              <a:custGeom>
                <a:avLst/>
                <a:gdLst>
                  <a:gd name="T0" fmla="*/ 207 w 222"/>
                  <a:gd name="T1" fmla="*/ 156 h 314"/>
                  <a:gd name="T2" fmla="*/ 214 w 222"/>
                  <a:gd name="T3" fmla="*/ 144 h 314"/>
                  <a:gd name="T4" fmla="*/ 147 w 222"/>
                  <a:gd name="T5" fmla="*/ 13 h 314"/>
                  <a:gd name="T6" fmla="*/ 153 w 222"/>
                  <a:gd name="T7" fmla="*/ 0 h 314"/>
                  <a:gd name="T8" fmla="*/ 8 w 222"/>
                  <a:gd name="T9" fmla="*/ 13 h 314"/>
                  <a:gd name="T10" fmla="*/ 14 w 222"/>
                  <a:gd name="T11" fmla="*/ 287 h 314"/>
                  <a:gd name="T12" fmla="*/ 0 w 222"/>
                  <a:gd name="T13" fmla="*/ 314 h 314"/>
                  <a:gd name="T14" fmla="*/ 222 w 222"/>
                  <a:gd name="T15" fmla="*/ 287 h 314"/>
                  <a:gd name="T16" fmla="*/ 69 w 222"/>
                  <a:gd name="T17" fmla="*/ 276 h 314"/>
                  <a:gd name="T18" fmla="*/ 42 w 222"/>
                  <a:gd name="T19" fmla="*/ 236 h 314"/>
                  <a:gd name="T20" fmla="*/ 69 w 222"/>
                  <a:gd name="T21" fmla="*/ 276 h 314"/>
                  <a:gd name="T22" fmla="*/ 42 w 222"/>
                  <a:gd name="T23" fmla="*/ 211 h 314"/>
                  <a:gd name="T24" fmla="*/ 69 w 222"/>
                  <a:gd name="T25" fmla="*/ 171 h 314"/>
                  <a:gd name="T26" fmla="*/ 69 w 222"/>
                  <a:gd name="T27" fmla="*/ 144 h 314"/>
                  <a:gd name="T28" fmla="*/ 42 w 222"/>
                  <a:gd name="T29" fmla="*/ 104 h 314"/>
                  <a:gd name="T30" fmla="*/ 69 w 222"/>
                  <a:gd name="T31" fmla="*/ 144 h 314"/>
                  <a:gd name="T32" fmla="*/ 42 w 222"/>
                  <a:gd name="T33" fmla="*/ 78 h 314"/>
                  <a:gd name="T34" fmla="*/ 69 w 222"/>
                  <a:gd name="T35" fmla="*/ 38 h 314"/>
                  <a:gd name="T36" fmla="*/ 119 w 222"/>
                  <a:gd name="T37" fmla="*/ 287 h 314"/>
                  <a:gd name="T38" fmla="*/ 90 w 222"/>
                  <a:gd name="T39" fmla="*/ 236 h 314"/>
                  <a:gd name="T40" fmla="*/ 119 w 222"/>
                  <a:gd name="T41" fmla="*/ 287 h 314"/>
                  <a:gd name="T42" fmla="*/ 90 w 222"/>
                  <a:gd name="T43" fmla="*/ 211 h 314"/>
                  <a:gd name="T44" fmla="*/ 119 w 222"/>
                  <a:gd name="T45" fmla="*/ 171 h 314"/>
                  <a:gd name="T46" fmla="*/ 119 w 222"/>
                  <a:gd name="T47" fmla="*/ 144 h 314"/>
                  <a:gd name="T48" fmla="*/ 90 w 222"/>
                  <a:gd name="T49" fmla="*/ 104 h 314"/>
                  <a:gd name="T50" fmla="*/ 119 w 222"/>
                  <a:gd name="T51" fmla="*/ 144 h 314"/>
                  <a:gd name="T52" fmla="*/ 90 w 222"/>
                  <a:gd name="T53" fmla="*/ 78 h 314"/>
                  <a:gd name="T54" fmla="*/ 119 w 222"/>
                  <a:gd name="T55" fmla="*/ 38 h 314"/>
                  <a:gd name="T56" fmla="*/ 189 w 222"/>
                  <a:gd name="T57" fmla="*/ 276 h 314"/>
                  <a:gd name="T58" fmla="*/ 159 w 222"/>
                  <a:gd name="T59" fmla="*/ 236 h 314"/>
                  <a:gd name="T60" fmla="*/ 189 w 222"/>
                  <a:gd name="T61" fmla="*/ 276 h 314"/>
                  <a:gd name="T62" fmla="*/ 159 w 222"/>
                  <a:gd name="T63" fmla="*/ 211 h 314"/>
                  <a:gd name="T64" fmla="*/ 189 w 222"/>
                  <a:gd name="T65" fmla="*/ 171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2" h="314">
                    <a:moveTo>
                      <a:pt x="207" y="287"/>
                    </a:moveTo>
                    <a:lnTo>
                      <a:pt x="207" y="156"/>
                    </a:lnTo>
                    <a:lnTo>
                      <a:pt x="214" y="156"/>
                    </a:lnTo>
                    <a:lnTo>
                      <a:pt x="214" y="144"/>
                    </a:lnTo>
                    <a:lnTo>
                      <a:pt x="147" y="144"/>
                    </a:lnTo>
                    <a:lnTo>
                      <a:pt x="147" y="13"/>
                    </a:lnTo>
                    <a:lnTo>
                      <a:pt x="153" y="13"/>
                    </a:lnTo>
                    <a:lnTo>
                      <a:pt x="153" y="0"/>
                    </a:lnTo>
                    <a:lnTo>
                      <a:pt x="8" y="0"/>
                    </a:lnTo>
                    <a:lnTo>
                      <a:pt x="8" y="13"/>
                    </a:lnTo>
                    <a:lnTo>
                      <a:pt x="14" y="13"/>
                    </a:lnTo>
                    <a:lnTo>
                      <a:pt x="14" y="287"/>
                    </a:lnTo>
                    <a:lnTo>
                      <a:pt x="0" y="287"/>
                    </a:lnTo>
                    <a:lnTo>
                      <a:pt x="0" y="314"/>
                    </a:lnTo>
                    <a:lnTo>
                      <a:pt x="222" y="314"/>
                    </a:lnTo>
                    <a:lnTo>
                      <a:pt x="222" y="287"/>
                    </a:lnTo>
                    <a:lnTo>
                      <a:pt x="207" y="287"/>
                    </a:lnTo>
                    <a:close/>
                    <a:moveTo>
                      <a:pt x="69" y="276"/>
                    </a:moveTo>
                    <a:lnTo>
                      <a:pt x="42" y="276"/>
                    </a:lnTo>
                    <a:lnTo>
                      <a:pt x="42" y="236"/>
                    </a:lnTo>
                    <a:lnTo>
                      <a:pt x="69" y="236"/>
                    </a:lnTo>
                    <a:lnTo>
                      <a:pt x="69" y="276"/>
                    </a:lnTo>
                    <a:close/>
                    <a:moveTo>
                      <a:pt x="69" y="211"/>
                    </a:moveTo>
                    <a:lnTo>
                      <a:pt x="42" y="211"/>
                    </a:lnTo>
                    <a:lnTo>
                      <a:pt x="42" y="171"/>
                    </a:lnTo>
                    <a:lnTo>
                      <a:pt x="69" y="171"/>
                    </a:lnTo>
                    <a:lnTo>
                      <a:pt x="69" y="211"/>
                    </a:lnTo>
                    <a:close/>
                    <a:moveTo>
                      <a:pt x="69" y="144"/>
                    </a:moveTo>
                    <a:lnTo>
                      <a:pt x="42" y="144"/>
                    </a:lnTo>
                    <a:lnTo>
                      <a:pt x="42" y="104"/>
                    </a:lnTo>
                    <a:lnTo>
                      <a:pt x="69" y="104"/>
                    </a:lnTo>
                    <a:lnTo>
                      <a:pt x="69" y="144"/>
                    </a:lnTo>
                    <a:close/>
                    <a:moveTo>
                      <a:pt x="69" y="78"/>
                    </a:moveTo>
                    <a:lnTo>
                      <a:pt x="42" y="78"/>
                    </a:lnTo>
                    <a:lnTo>
                      <a:pt x="42" y="38"/>
                    </a:lnTo>
                    <a:lnTo>
                      <a:pt x="69" y="38"/>
                    </a:lnTo>
                    <a:lnTo>
                      <a:pt x="69" y="78"/>
                    </a:lnTo>
                    <a:close/>
                    <a:moveTo>
                      <a:pt x="119" y="287"/>
                    </a:moveTo>
                    <a:lnTo>
                      <a:pt x="90" y="287"/>
                    </a:lnTo>
                    <a:lnTo>
                      <a:pt x="90" y="236"/>
                    </a:lnTo>
                    <a:lnTo>
                      <a:pt x="119" y="236"/>
                    </a:lnTo>
                    <a:lnTo>
                      <a:pt x="119" y="287"/>
                    </a:lnTo>
                    <a:close/>
                    <a:moveTo>
                      <a:pt x="119" y="211"/>
                    </a:moveTo>
                    <a:lnTo>
                      <a:pt x="90" y="211"/>
                    </a:lnTo>
                    <a:lnTo>
                      <a:pt x="90" y="171"/>
                    </a:lnTo>
                    <a:lnTo>
                      <a:pt x="119" y="171"/>
                    </a:lnTo>
                    <a:lnTo>
                      <a:pt x="119" y="211"/>
                    </a:lnTo>
                    <a:close/>
                    <a:moveTo>
                      <a:pt x="119" y="144"/>
                    </a:moveTo>
                    <a:lnTo>
                      <a:pt x="90" y="144"/>
                    </a:lnTo>
                    <a:lnTo>
                      <a:pt x="90" y="104"/>
                    </a:lnTo>
                    <a:lnTo>
                      <a:pt x="119" y="104"/>
                    </a:lnTo>
                    <a:lnTo>
                      <a:pt x="119" y="144"/>
                    </a:lnTo>
                    <a:close/>
                    <a:moveTo>
                      <a:pt x="119" y="78"/>
                    </a:moveTo>
                    <a:lnTo>
                      <a:pt x="90" y="78"/>
                    </a:lnTo>
                    <a:lnTo>
                      <a:pt x="90" y="38"/>
                    </a:lnTo>
                    <a:lnTo>
                      <a:pt x="119" y="38"/>
                    </a:lnTo>
                    <a:lnTo>
                      <a:pt x="119" y="78"/>
                    </a:lnTo>
                    <a:close/>
                    <a:moveTo>
                      <a:pt x="189" y="276"/>
                    </a:moveTo>
                    <a:lnTo>
                      <a:pt x="159" y="276"/>
                    </a:lnTo>
                    <a:lnTo>
                      <a:pt x="159" y="236"/>
                    </a:lnTo>
                    <a:lnTo>
                      <a:pt x="189" y="236"/>
                    </a:lnTo>
                    <a:lnTo>
                      <a:pt x="189" y="276"/>
                    </a:lnTo>
                    <a:close/>
                    <a:moveTo>
                      <a:pt x="189" y="211"/>
                    </a:moveTo>
                    <a:lnTo>
                      <a:pt x="159" y="211"/>
                    </a:lnTo>
                    <a:lnTo>
                      <a:pt x="159" y="171"/>
                    </a:lnTo>
                    <a:lnTo>
                      <a:pt x="189" y="171"/>
                    </a:lnTo>
                    <a:lnTo>
                      <a:pt x="189" y="211"/>
                    </a:lnTo>
                    <a:close/>
                  </a:path>
                </a:pathLst>
              </a:custGeom>
              <a:solidFill>
                <a:schemeClr val="tx2"/>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373" name="Freeform 74"/>
              <p:cNvSpPr>
                <a:spLocks noChangeAspect="1" noEditPoints="1"/>
              </p:cNvSpPr>
              <p:nvPr/>
            </p:nvSpPr>
            <p:spPr bwMode="auto">
              <a:xfrm rot="2766340">
                <a:off x="2536578" y="2575511"/>
                <a:ext cx="217928" cy="540019"/>
              </a:xfrm>
              <a:custGeom>
                <a:avLst/>
                <a:gdLst>
                  <a:gd name="T0" fmla="*/ 149 w 159"/>
                  <a:gd name="T1" fmla="*/ 24 h 394"/>
                  <a:gd name="T2" fmla="*/ 103 w 159"/>
                  <a:gd name="T3" fmla="*/ 0 h 394"/>
                  <a:gd name="T4" fmla="*/ 10 w 159"/>
                  <a:gd name="T5" fmla="*/ 11 h 394"/>
                  <a:gd name="T6" fmla="*/ 15 w 159"/>
                  <a:gd name="T7" fmla="*/ 367 h 394"/>
                  <a:gd name="T8" fmla="*/ 159 w 159"/>
                  <a:gd name="T9" fmla="*/ 394 h 394"/>
                  <a:gd name="T10" fmla="*/ 57 w 159"/>
                  <a:gd name="T11" fmla="*/ 367 h 394"/>
                  <a:gd name="T12" fmla="*/ 57 w 159"/>
                  <a:gd name="T13" fmla="*/ 344 h 394"/>
                  <a:gd name="T14" fmla="*/ 36 w 159"/>
                  <a:gd name="T15" fmla="*/ 329 h 394"/>
                  <a:gd name="T16" fmla="*/ 57 w 159"/>
                  <a:gd name="T17" fmla="*/ 329 h 394"/>
                  <a:gd name="T18" fmla="*/ 36 w 159"/>
                  <a:gd name="T19" fmla="*/ 268 h 394"/>
                  <a:gd name="T20" fmla="*/ 57 w 159"/>
                  <a:gd name="T21" fmla="*/ 253 h 394"/>
                  <a:gd name="T22" fmla="*/ 57 w 159"/>
                  <a:gd name="T23" fmla="*/ 228 h 394"/>
                  <a:gd name="T24" fmla="*/ 36 w 159"/>
                  <a:gd name="T25" fmla="*/ 215 h 394"/>
                  <a:gd name="T26" fmla="*/ 57 w 159"/>
                  <a:gd name="T27" fmla="*/ 215 h 394"/>
                  <a:gd name="T28" fmla="*/ 36 w 159"/>
                  <a:gd name="T29" fmla="*/ 152 h 394"/>
                  <a:gd name="T30" fmla="*/ 57 w 159"/>
                  <a:gd name="T31" fmla="*/ 137 h 394"/>
                  <a:gd name="T32" fmla="*/ 57 w 159"/>
                  <a:gd name="T33" fmla="*/ 114 h 394"/>
                  <a:gd name="T34" fmla="*/ 36 w 159"/>
                  <a:gd name="T35" fmla="*/ 99 h 394"/>
                  <a:gd name="T36" fmla="*/ 57 w 159"/>
                  <a:gd name="T37" fmla="*/ 99 h 394"/>
                  <a:gd name="T38" fmla="*/ 36 w 159"/>
                  <a:gd name="T39" fmla="*/ 36 h 394"/>
                  <a:gd name="T40" fmla="*/ 90 w 159"/>
                  <a:gd name="T41" fmla="*/ 367 h 394"/>
                  <a:gd name="T42" fmla="*/ 90 w 159"/>
                  <a:gd name="T43" fmla="*/ 344 h 394"/>
                  <a:gd name="T44" fmla="*/ 69 w 159"/>
                  <a:gd name="T45" fmla="*/ 329 h 394"/>
                  <a:gd name="T46" fmla="*/ 90 w 159"/>
                  <a:gd name="T47" fmla="*/ 329 h 394"/>
                  <a:gd name="T48" fmla="*/ 69 w 159"/>
                  <a:gd name="T49" fmla="*/ 268 h 394"/>
                  <a:gd name="T50" fmla="*/ 90 w 159"/>
                  <a:gd name="T51" fmla="*/ 253 h 394"/>
                  <a:gd name="T52" fmla="*/ 90 w 159"/>
                  <a:gd name="T53" fmla="*/ 228 h 394"/>
                  <a:gd name="T54" fmla="*/ 69 w 159"/>
                  <a:gd name="T55" fmla="*/ 215 h 394"/>
                  <a:gd name="T56" fmla="*/ 90 w 159"/>
                  <a:gd name="T57" fmla="*/ 215 h 394"/>
                  <a:gd name="T58" fmla="*/ 69 w 159"/>
                  <a:gd name="T59" fmla="*/ 152 h 394"/>
                  <a:gd name="T60" fmla="*/ 90 w 159"/>
                  <a:gd name="T61" fmla="*/ 137 h 394"/>
                  <a:gd name="T62" fmla="*/ 90 w 159"/>
                  <a:gd name="T63" fmla="*/ 114 h 394"/>
                  <a:gd name="T64" fmla="*/ 69 w 159"/>
                  <a:gd name="T65" fmla="*/ 99 h 394"/>
                  <a:gd name="T66" fmla="*/ 90 w 159"/>
                  <a:gd name="T67" fmla="*/ 99 h 394"/>
                  <a:gd name="T68" fmla="*/ 69 w 159"/>
                  <a:gd name="T69" fmla="*/ 36 h 394"/>
                  <a:gd name="T70" fmla="*/ 124 w 159"/>
                  <a:gd name="T71" fmla="*/ 367 h 394"/>
                  <a:gd name="T72" fmla="*/ 124 w 159"/>
                  <a:gd name="T73" fmla="*/ 344 h 394"/>
                  <a:gd name="T74" fmla="*/ 105 w 159"/>
                  <a:gd name="T75" fmla="*/ 329 h 394"/>
                  <a:gd name="T76" fmla="*/ 124 w 159"/>
                  <a:gd name="T77" fmla="*/ 329 h 394"/>
                  <a:gd name="T78" fmla="*/ 105 w 159"/>
                  <a:gd name="T79" fmla="*/ 268 h 394"/>
                  <a:gd name="T80" fmla="*/ 124 w 159"/>
                  <a:gd name="T81" fmla="*/ 253 h 394"/>
                  <a:gd name="T82" fmla="*/ 124 w 159"/>
                  <a:gd name="T83" fmla="*/ 228 h 394"/>
                  <a:gd name="T84" fmla="*/ 105 w 159"/>
                  <a:gd name="T85" fmla="*/ 215 h 394"/>
                  <a:gd name="T86" fmla="*/ 124 w 159"/>
                  <a:gd name="T87" fmla="*/ 215 h 394"/>
                  <a:gd name="T88" fmla="*/ 105 w 159"/>
                  <a:gd name="T89" fmla="*/ 152 h 394"/>
                  <a:gd name="T90" fmla="*/ 124 w 159"/>
                  <a:gd name="T91" fmla="*/ 137 h 394"/>
                  <a:gd name="T92" fmla="*/ 124 w 159"/>
                  <a:gd name="T93" fmla="*/ 114 h 394"/>
                  <a:gd name="T94" fmla="*/ 105 w 159"/>
                  <a:gd name="T95" fmla="*/ 99 h 394"/>
                  <a:gd name="T96" fmla="*/ 124 w 159"/>
                  <a:gd name="T97" fmla="*/ 99 h 394"/>
                  <a:gd name="T98" fmla="*/ 105 w 159"/>
                  <a:gd name="T99" fmla="*/ 36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9" h="394">
                    <a:moveTo>
                      <a:pt x="147" y="367"/>
                    </a:moveTo>
                    <a:lnTo>
                      <a:pt x="147" y="24"/>
                    </a:lnTo>
                    <a:lnTo>
                      <a:pt x="149" y="24"/>
                    </a:lnTo>
                    <a:lnTo>
                      <a:pt x="149" y="11"/>
                    </a:lnTo>
                    <a:lnTo>
                      <a:pt x="103" y="11"/>
                    </a:lnTo>
                    <a:lnTo>
                      <a:pt x="103" y="0"/>
                    </a:lnTo>
                    <a:lnTo>
                      <a:pt x="31" y="0"/>
                    </a:lnTo>
                    <a:lnTo>
                      <a:pt x="31" y="11"/>
                    </a:lnTo>
                    <a:lnTo>
                      <a:pt x="10" y="11"/>
                    </a:lnTo>
                    <a:lnTo>
                      <a:pt x="10" y="24"/>
                    </a:lnTo>
                    <a:lnTo>
                      <a:pt x="15" y="24"/>
                    </a:lnTo>
                    <a:lnTo>
                      <a:pt x="15" y="367"/>
                    </a:lnTo>
                    <a:lnTo>
                      <a:pt x="0" y="367"/>
                    </a:lnTo>
                    <a:lnTo>
                      <a:pt x="0" y="394"/>
                    </a:lnTo>
                    <a:lnTo>
                      <a:pt x="159" y="394"/>
                    </a:lnTo>
                    <a:lnTo>
                      <a:pt x="159" y="367"/>
                    </a:lnTo>
                    <a:lnTo>
                      <a:pt x="147" y="367"/>
                    </a:lnTo>
                    <a:close/>
                    <a:moveTo>
                      <a:pt x="57" y="367"/>
                    </a:moveTo>
                    <a:lnTo>
                      <a:pt x="36" y="367"/>
                    </a:lnTo>
                    <a:lnTo>
                      <a:pt x="36" y="344"/>
                    </a:lnTo>
                    <a:lnTo>
                      <a:pt x="57" y="344"/>
                    </a:lnTo>
                    <a:lnTo>
                      <a:pt x="57" y="367"/>
                    </a:lnTo>
                    <a:close/>
                    <a:moveTo>
                      <a:pt x="57" y="329"/>
                    </a:moveTo>
                    <a:lnTo>
                      <a:pt x="36" y="329"/>
                    </a:lnTo>
                    <a:lnTo>
                      <a:pt x="36" y="306"/>
                    </a:lnTo>
                    <a:lnTo>
                      <a:pt x="57" y="306"/>
                    </a:lnTo>
                    <a:lnTo>
                      <a:pt x="57" y="329"/>
                    </a:lnTo>
                    <a:close/>
                    <a:moveTo>
                      <a:pt x="57" y="291"/>
                    </a:moveTo>
                    <a:lnTo>
                      <a:pt x="36" y="291"/>
                    </a:lnTo>
                    <a:lnTo>
                      <a:pt x="36" y="268"/>
                    </a:lnTo>
                    <a:lnTo>
                      <a:pt x="57" y="268"/>
                    </a:lnTo>
                    <a:lnTo>
                      <a:pt x="57" y="291"/>
                    </a:lnTo>
                    <a:close/>
                    <a:moveTo>
                      <a:pt x="57" y="253"/>
                    </a:moveTo>
                    <a:lnTo>
                      <a:pt x="36" y="253"/>
                    </a:lnTo>
                    <a:lnTo>
                      <a:pt x="36" y="228"/>
                    </a:lnTo>
                    <a:lnTo>
                      <a:pt x="57" y="228"/>
                    </a:lnTo>
                    <a:lnTo>
                      <a:pt x="57" y="253"/>
                    </a:lnTo>
                    <a:close/>
                    <a:moveTo>
                      <a:pt x="57" y="215"/>
                    </a:moveTo>
                    <a:lnTo>
                      <a:pt x="36" y="215"/>
                    </a:lnTo>
                    <a:lnTo>
                      <a:pt x="36" y="190"/>
                    </a:lnTo>
                    <a:lnTo>
                      <a:pt x="57" y="190"/>
                    </a:lnTo>
                    <a:lnTo>
                      <a:pt x="57" y="215"/>
                    </a:lnTo>
                    <a:close/>
                    <a:moveTo>
                      <a:pt x="57" y="177"/>
                    </a:moveTo>
                    <a:lnTo>
                      <a:pt x="36" y="177"/>
                    </a:lnTo>
                    <a:lnTo>
                      <a:pt x="36" y="152"/>
                    </a:lnTo>
                    <a:lnTo>
                      <a:pt x="57" y="152"/>
                    </a:lnTo>
                    <a:lnTo>
                      <a:pt x="57" y="177"/>
                    </a:lnTo>
                    <a:close/>
                    <a:moveTo>
                      <a:pt x="57" y="137"/>
                    </a:moveTo>
                    <a:lnTo>
                      <a:pt x="36" y="137"/>
                    </a:lnTo>
                    <a:lnTo>
                      <a:pt x="36" y="114"/>
                    </a:lnTo>
                    <a:lnTo>
                      <a:pt x="57" y="114"/>
                    </a:lnTo>
                    <a:lnTo>
                      <a:pt x="57" y="137"/>
                    </a:lnTo>
                    <a:close/>
                    <a:moveTo>
                      <a:pt x="57" y="99"/>
                    </a:moveTo>
                    <a:lnTo>
                      <a:pt x="36" y="99"/>
                    </a:lnTo>
                    <a:lnTo>
                      <a:pt x="36" y="76"/>
                    </a:lnTo>
                    <a:lnTo>
                      <a:pt x="57" y="76"/>
                    </a:lnTo>
                    <a:lnTo>
                      <a:pt x="57" y="99"/>
                    </a:lnTo>
                    <a:close/>
                    <a:moveTo>
                      <a:pt x="57" y="61"/>
                    </a:moveTo>
                    <a:lnTo>
                      <a:pt x="36" y="61"/>
                    </a:lnTo>
                    <a:lnTo>
                      <a:pt x="36" y="36"/>
                    </a:lnTo>
                    <a:lnTo>
                      <a:pt x="57" y="36"/>
                    </a:lnTo>
                    <a:lnTo>
                      <a:pt x="57" y="61"/>
                    </a:lnTo>
                    <a:close/>
                    <a:moveTo>
                      <a:pt x="90" y="367"/>
                    </a:moveTo>
                    <a:lnTo>
                      <a:pt x="69" y="367"/>
                    </a:lnTo>
                    <a:lnTo>
                      <a:pt x="69" y="344"/>
                    </a:lnTo>
                    <a:lnTo>
                      <a:pt x="90" y="344"/>
                    </a:lnTo>
                    <a:lnTo>
                      <a:pt x="90" y="367"/>
                    </a:lnTo>
                    <a:close/>
                    <a:moveTo>
                      <a:pt x="90" y="329"/>
                    </a:moveTo>
                    <a:lnTo>
                      <a:pt x="69" y="329"/>
                    </a:lnTo>
                    <a:lnTo>
                      <a:pt x="69" y="306"/>
                    </a:lnTo>
                    <a:lnTo>
                      <a:pt x="90" y="306"/>
                    </a:lnTo>
                    <a:lnTo>
                      <a:pt x="90" y="329"/>
                    </a:lnTo>
                    <a:close/>
                    <a:moveTo>
                      <a:pt x="90" y="291"/>
                    </a:moveTo>
                    <a:lnTo>
                      <a:pt x="69" y="291"/>
                    </a:lnTo>
                    <a:lnTo>
                      <a:pt x="69" y="268"/>
                    </a:lnTo>
                    <a:lnTo>
                      <a:pt x="90" y="268"/>
                    </a:lnTo>
                    <a:lnTo>
                      <a:pt x="90" y="291"/>
                    </a:lnTo>
                    <a:close/>
                    <a:moveTo>
                      <a:pt x="90" y="253"/>
                    </a:moveTo>
                    <a:lnTo>
                      <a:pt x="69" y="253"/>
                    </a:lnTo>
                    <a:lnTo>
                      <a:pt x="69" y="228"/>
                    </a:lnTo>
                    <a:lnTo>
                      <a:pt x="90" y="228"/>
                    </a:lnTo>
                    <a:lnTo>
                      <a:pt x="90" y="253"/>
                    </a:lnTo>
                    <a:close/>
                    <a:moveTo>
                      <a:pt x="90" y="215"/>
                    </a:moveTo>
                    <a:lnTo>
                      <a:pt x="69" y="215"/>
                    </a:lnTo>
                    <a:lnTo>
                      <a:pt x="69" y="190"/>
                    </a:lnTo>
                    <a:lnTo>
                      <a:pt x="90" y="190"/>
                    </a:lnTo>
                    <a:lnTo>
                      <a:pt x="90" y="215"/>
                    </a:lnTo>
                    <a:close/>
                    <a:moveTo>
                      <a:pt x="90" y="177"/>
                    </a:moveTo>
                    <a:lnTo>
                      <a:pt x="69" y="177"/>
                    </a:lnTo>
                    <a:lnTo>
                      <a:pt x="69" y="152"/>
                    </a:lnTo>
                    <a:lnTo>
                      <a:pt x="90" y="152"/>
                    </a:lnTo>
                    <a:lnTo>
                      <a:pt x="90" y="177"/>
                    </a:lnTo>
                    <a:close/>
                    <a:moveTo>
                      <a:pt x="90" y="137"/>
                    </a:moveTo>
                    <a:lnTo>
                      <a:pt x="69" y="137"/>
                    </a:lnTo>
                    <a:lnTo>
                      <a:pt x="69" y="114"/>
                    </a:lnTo>
                    <a:lnTo>
                      <a:pt x="90" y="114"/>
                    </a:lnTo>
                    <a:lnTo>
                      <a:pt x="90" y="137"/>
                    </a:lnTo>
                    <a:close/>
                    <a:moveTo>
                      <a:pt x="90" y="99"/>
                    </a:moveTo>
                    <a:lnTo>
                      <a:pt x="69" y="99"/>
                    </a:lnTo>
                    <a:lnTo>
                      <a:pt x="69" y="76"/>
                    </a:lnTo>
                    <a:lnTo>
                      <a:pt x="90" y="76"/>
                    </a:lnTo>
                    <a:lnTo>
                      <a:pt x="90" y="99"/>
                    </a:lnTo>
                    <a:close/>
                    <a:moveTo>
                      <a:pt x="90" y="61"/>
                    </a:moveTo>
                    <a:lnTo>
                      <a:pt x="69" y="61"/>
                    </a:lnTo>
                    <a:lnTo>
                      <a:pt x="69" y="36"/>
                    </a:lnTo>
                    <a:lnTo>
                      <a:pt x="90" y="36"/>
                    </a:lnTo>
                    <a:lnTo>
                      <a:pt x="90" y="61"/>
                    </a:lnTo>
                    <a:close/>
                    <a:moveTo>
                      <a:pt x="124" y="367"/>
                    </a:moveTo>
                    <a:lnTo>
                      <a:pt x="105" y="367"/>
                    </a:lnTo>
                    <a:lnTo>
                      <a:pt x="105" y="344"/>
                    </a:lnTo>
                    <a:lnTo>
                      <a:pt x="124" y="344"/>
                    </a:lnTo>
                    <a:lnTo>
                      <a:pt x="124" y="367"/>
                    </a:lnTo>
                    <a:close/>
                    <a:moveTo>
                      <a:pt x="124" y="329"/>
                    </a:moveTo>
                    <a:lnTo>
                      <a:pt x="105" y="329"/>
                    </a:lnTo>
                    <a:lnTo>
                      <a:pt x="105" y="306"/>
                    </a:lnTo>
                    <a:lnTo>
                      <a:pt x="124" y="306"/>
                    </a:lnTo>
                    <a:lnTo>
                      <a:pt x="124" y="329"/>
                    </a:lnTo>
                    <a:close/>
                    <a:moveTo>
                      <a:pt x="124" y="291"/>
                    </a:moveTo>
                    <a:lnTo>
                      <a:pt x="105" y="291"/>
                    </a:lnTo>
                    <a:lnTo>
                      <a:pt x="105" y="268"/>
                    </a:lnTo>
                    <a:lnTo>
                      <a:pt x="124" y="268"/>
                    </a:lnTo>
                    <a:lnTo>
                      <a:pt x="124" y="291"/>
                    </a:lnTo>
                    <a:close/>
                    <a:moveTo>
                      <a:pt x="124" y="253"/>
                    </a:moveTo>
                    <a:lnTo>
                      <a:pt x="105" y="253"/>
                    </a:lnTo>
                    <a:lnTo>
                      <a:pt x="105" y="228"/>
                    </a:lnTo>
                    <a:lnTo>
                      <a:pt x="124" y="228"/>
                    </a:lnTo>
                    <a:lnTo>
                      <a:pt x="124" y="253"/>
                    </a:lnTo>
                    <a:close/>
                    <a:moveTo>
                      <a:pt x="124" y="215"/>
                    </a:moveTo>
                    <a:lnTo>
                      <a:pt x="105" y="215"/>
                    </a:lnTo>
                    <a:lnTo>
                      <a:pt x="105" y="190"/>
                    </a:lnTo>
                    <a:lnTo>
                      <a:pt x="124" y="190"/>
                    </a:lnTo>
                    <a:lnTo>
                      <a:pt x="124" y="215"/>
                    </a:lnTo>
                    <a:close/>
                    <a:moveTo>
                      <a:pt x="124" y="177"/>
                    </a:moveTo>
                    <a:lnTo>
                      <a:pt x="105" y="177"/>
                    </a:lnTo>
                    <a:lnTo>
                      <a:pt x="105" y="152"/>
                    </a:lnTo>
                    <a:lnTo>
                      <a:pt x="124" y="152"/>
                    </a:lnTo>
                    <a:lnTo>
                      <a:pt x="124" y="177"/>
                    </a:lnTo>
                    <a:close/>
                    <a:moveTo>
                      <a:pt x="124" y="137"/>
                    </a:moveTo>
                    <a:lnTo>
                      <a:pt x="105" y="137"/>
                    </a:lnTo>
                    <a:lnTo>
                      <a:pt x="105" y="114"/>
                    </a:lnTo>
                    <a:lnTo>
                      <a:pt x="124" y="114"/>
                    </a:lnTo>
                    <a:lnTo>
                      <a:pt x="124" y="137"/>
                    </a:lnTo>
                    <a:close/>
                    <a:moveTo>
                      <a:pt x="124" y="99"/>
                    </a:moveTo>
                    <a:lnTo>
                      <a:pt x="105" y="99"/>
                    </a:lnTo>
                    <a:lnTo>
                      <a:pt x="105" y="76"/>
                    </a:lnTo>
                    <a:lnTo>
                      <a:pt x="124" y="76"/>
                    </a:lnTo>
                    <a:lnTo>
                      <a:pt x="124" y="99"/>
                    </a:lnTo>
                    <a:close/>
                    <a:moveTo>
                      <a:pt x="124" y="61"/>
                    </a:moveTo>
                    <a:lnTo>
                      <a:pt x="105" y="61"/>
                    </a:lnTo>
                    <a:lnTo>
                      <a:pt x="105" y="36"/>
                    </a:lnTo>
                    <a:lnTo>
                      <a:pt x="124" y="36"/>
                    </a:lnTo>
                    <a:lnTo>
                      <a:pt x="124" y="61"/>
                    </a:lnTo>
                    <a:close/>
                  </a:path>
                </a:pathLst>
              </a:custGeom>
              <a:solidFill>
                <a:schemeClr val="accent1"/>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374" name="Freeform 75"/>
              <p:cNvSpPr>
                <a:spLocks noChangeAspect="1" noEditPoints="1"/>
              </p:cNvSpPr>
              <p:nvPr/>
            </p:nvSpPr>
            <p:spPr bwMode="auto">
              <a:xfrm rot="5400000">
                <a:off x="2707470" y="3550607"/>
                <a:ext cx="161911" cy="126915"/>
              </a:xfrm>
              <a:custGeom>
                <a:avLst/>
                <a:gdLst>
                  <a:gd name="T0" fmla="*/ 334 w 347"/>
                  <a:gd name="T1" fmla="*/ 245 h 272"/>
                  <a:gd name="T2" fmla="*/ 334 w 347"/>
                  <a:gd name="T3" fmla="*/ 40 h 272"/>
                  <a:gd name="T4" fmla="*/ 341 w 347"/>
                  <a:gd name="T5" fmla="*/ 40 h 272"/>
                  <a:gd name="T6" fmla="*/ 341 w 347"/>
                  <a:gd name="T7" fmla="*/ 28 h 272"/>
                  <a:gd name="T8" fmla="*/ 276 w 347"/>
                  <a:gd name="T9" fmla="*/ 28 h 272"/>
                  <a:gd name="T10" fmla="*/ 276 w 347"/>
                  <a:gd name="T11" fmla="*/ 0 h 272"/>
                  <a:gd name="T12" fmla="*/ 74 w 347"/>
                  <a:gd name="T13" fmla="*/ 0 h 272"/>
                  <a:gd name="T14" fmla="*/ 74 w 347"/>
                  <a:gd name="T15" fmla="*/ 28 h 272"/>
                  <a:gd name="T16" fmla="*/ 7 w 347"/>
                  <a:gd name="T17" fmla="*/ 28 h 272"/>
                  <a:gd name="T18" fmla="*/ 7 w 347"/>
                  <a:gd name="T19" fmla="*/ 40 h 272"/>
                  <a:gd name="T20" fmla="*/ 13 w 347"/>
                  <a:gd name="T21" fmla="*/ 40 h 272"/>
                  <a:gd name="T22" fmla="*/ 13 w 347"/>
                  <a:gd name="T23" fmla="*/ 245 h 272"/>
                  <a:gd name="T24" fmla="*/ 0 w 347"/>
                  <a:gd name="T25" fmla="*/ 245 h 272"/>
                  <a:gd name="T26" fmla="*/ 0 w 347"/>
                  <a:gd name="T27" fmla="*/ 272 h 272"/>
                  <a:gd name="T28" fmla="*/ 347 w 347"/>
                  <a:gd name="T29" fmla="*/ 272 h 272"/>
                  <a:gd name="T30" fmla="*/ 347 w 347"/>
                  <a:gd name="T31" fmla="*/ 245 h 272"/>
                  <a:gd name="T32" fmla="*/ 334 w 347"/>
                  <a:gd name="T33" fmla="*/ 245 h 272"/>
                  <a:gd name="T34" fmla="*/ 129 w 347"/>
                  <a:gd name="T35" fmla="*/ 232 h 272"/>
                  <a:gd name="T36" fmla="*/ 36 w 347"/>
                  <a:gd name="T37" fmla="*/ 232 h 272"/>
                  <a:gd name="T38" fmla="*/ 36 w 347"/>
                  <a:gd name="T39" fmla="*/ 190 h 272"/>
                  <a:gd name="T40" fmla="*/ 129 w 347"/>
                  <a:gd name="T41" fmla="*/ 190 h 272"/>
                  <a:gd name="T42" fmla="*/ 129 w 347"/>
                  <a:gd name="T43" fmla="*/ 232 h 272"/>
                  <a:gd name="T44" fmla="*/ 129 w 347"/>
                  <a:gd name="T45" fmla="*/ 165 h 272"/>
                  <a:gd name="T46" fmla="*/ 36 w 347"/>
                  <a:gd name="T47" fmla="*/ 165 h 272"/>
                  <a:gd name="T48" fmla="*/ 36 w 347"/>
                  <a:gd name="T49" fmla="*/ 123 h 272"/>
                  <a:gd name="T50" fmla="*/ 129 w 347"/>
                  <a:gd name="T51" fmla="*/ 123 h 272"/>
                  <a:gd name="T52" fmla="*/ 129 w 347"/>
                  <a:gd name="T53" fmla="*/ 165 h 272"/>
                  <a:gd name="T54" fmla="*/ 129 w 347"/>
                  <a:gd name="T55" fmla="*/ 99 h 272"/>
                  <a:gd name="T56" fmla="*/ 36 w 347"/>
                  <a:gd name="T57" fmla="*/ 99 h 272"/>
                  <a:gd name="T58" fmla="*/ 36 w 347"/>
                  <a:gd name="T59" fmla="*/ 55 h 272"/>
                  <a:gd name="T60" fmla="*/ 129 w 347"/>
                  <a:gd name="T61" fmla="*/ 55 h 272"/>
                  <a:gd name="T62" fmla="*/ 129 w 347"/>
                  <a:gd name="T63" fmla="*/ 99 h 272"/>
                  <a:gd name="T64" fmla="*/ 196 w 347"/>
                  <a:gd name="T65" fmla="*/ 245 h 272"/>
                  <a:gd name="T66" fmla="*/ 154 w 347"/>
                  <a:gd name="T67" fmla="*/ 245 h 272"/>
                  <a:gd name="T68" fmla="*/ 154 w 347"/>
                  <a:gd name="T69" fmla="*/ 190 h 272"/>
                  <a:gd name="T70" fmla="*/ 196 w 347"/>
                  <a:gd name="T71" fmla="*/ 190 h 272"/>
                  <a:gd name="T72" fmla="*/ 196 w 347"/>
                  <a:gd name="T73" fmla="*/ 245 h 272"/>
                  <a:gd name="T74" fmla="*/ 196 w 347"/>
                  <a:gd name="T75" fmla="*/ 165 h 272"/>
                  <a:gd name="T76" fmla="*/ 154 w 347"/>
                  <a:gd name="T77" fmla="*/ 165 h 272"/>
                  <a:gd name="T78" fmla="*/ 154 w 347"/>
                  <a:gd name="T79" fmla="*/ 123 h 272"/>
                  <a:gd name="T80" fmla="*/ 196 w 347"/>
                  <a:gd name="T81" fmla="*/ 123 h 272"/>
                  <a:gd name="T82" fmla="*/ 196 w 347"/>
                  <a:gd name="T83" fmla="*/ 165 h 272"/>
                  <a:gd name="T84" fmla="*/ 196 w 347"/>
                  <a:gd name="T85" fmla="*/ 99 h 272"/>
                  <a:gd name="T86" fmla="*/ 154 w 347"/>
                  <a:gd name="T87" fmla="*/ 99 h 272"/>
                  <a:gd name="T88" fmla="*/ 154 w 347"/>
                  <a:gd name="T89" fmla="*/ 55 h 272"/>
                  <a:gd name="T90" fmla="*/ 196 w 347"/>
                  <a:gd name="T91" fmla="*/ 55 h 272"/>
                  <a:gd name="T92" fmla="*/ 196 w 347"/>
                  <a:gd name="T93" fmla="*/ 99 h 272"/>
                  <a:gd name="T94" fmla="*/ 313 w 347"/>
                  <a:gd name="T95" fmla="*/ 232 h 272"/>
                  <a:gd name="T96" fmla="*/ 219 w 347"/>
                  <a:gd name="T97" fmla="*/ 232 h 272"/>
                  <a:gd name="T98" fmla="*/ 219 w 347"/>
                  <a:gd name="T99" fmla="*/ 190 h 272"/>
                  <a:gd name="T100" fmla="*/ 313 w 347"/>
                  <a:gd name="T101" fmla="*/ 190 h 272"/>
                  <a:gd name="T102" fmla="*/ 313 w 347"/>
                  <a:gd name="T103" fmla="*/ 232 h 272"/>
                  <a:gd name="T104" fmla="*/ 313 w 347"/>
                  <a:gd name="T105" fmla="*/ 165 h 272"/>
                  <a:gd name="T106" fmla="*/ 219 w 347"/>
                  <a:gd name="T107" fmla="*/ 165 h 272"/>
                  <a:gd name="T108" fmla="*/ 219 w 347"/>
                  <a:gd name="T109" fmla="*/ 123 h 272"/>
                  <a:gd name="T110" fmla="*/ 313 w 347"/>
                  <a:gd name="T111" fmla="*/ 123 h 272"/>
                  <a:gd name="T112" fmla="*/ 313 w 347"/>
                  <a:gd name="T113" fmla="*/ 165 h 272"/>
                  <a:gd name="T114" fmla="*/ 313 w 347"/>
                  <a:gd name="T115" fmla="*/ 99 h 272"/>
                  <a:gd name="T116" fmla="*/ 219 w 347"/>
                  <a:gd name="T117" fmla="*/ 99 h 272"/>
                  <a:gd name="T118" fmla="*/ 219 w 347"/>
                  <a:gd name="T119" fmla="*/ 55 h 272"/>
                  <a:gd name="T120" fmla="*/ 313 w 347"/>
                  <a:gd name="T121" fmla="*/ 55 h 272"/>
                  <a:gd name="T122" fmla="*/ 313 w 347"/>
                  <a:gd name="T123" fmla="*/ 99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7" h="272">
                    <a:moveTo>
                      <a:pt x="334" y="245"/>
                    </a:moveTo>
                    <a:lnTo>
                      <a:pt x="334" y="40"/>
                    </a:lnTo>
                    <a:lnTo>
                      <a:pt x="341" y="40"/>
                    </a:lnTo>
                    <a:lnTo>
                      <a:pt x="341" y="28"/>
                    </a:lnTo>
                    <a:lnTo>
                      <a:pt x="276" y="28"/>
                    </a:lnTo>
                    <a:lnTo>
                      <a:pt x="276" y="0"/>
                    </a:lnTo>
                    <a:lnTo>
                      <a:pt x="74" y="0"/>
                    </a:lnTo>
                    <a:lnTo>
                      <a:pt x="74" y="28"/>
                    </a:lnTo>
                    <a:lnTo>
                      <a:pt x="7" y="28"/>
                    </a:lnTo>
                    <a:lnTo>
                      <a:pt x="7" y="40"/>
                    </a:lnTo>
                    <a:lnTo>
                      <a:pt x="13" y="40"/>
                    </a:lnTo>
                    <a:lnTo>
                      <a:pt x="13" y="245"/>
                    </a:lnTo>
                    <a:lnTo>
                      <a:pt x="0" y="245"/>
                    </a:lnTo>
                    <a:lnTo>
                      <a:pt x="0" y="272"/>
                    </a:lnTo>
                    <a:lnTo>
                      <a:pt x="347" y="272"/>
                    </a:lnTo>
                    <a:lnTo>
                      <a:pt x="347" y="245"/>
                    </a:lnTo>
                    <a:lnTo>
                      <a:pt x="334" y="245"/>
                    </a:lnTo>
                    <a:close/>
                    <a:moveTo>
                      <a:pt x="129" y="232"/>
                    </a:moveTo>
                    <a:lnTo>
                      <a:pt x="36" y="232"/>
                    </a:lnTo>
                    <a:lnTo>
                      <a:pt x="36" y="190"/>
                    </a:lnTo>
                    <a:lnTo>
                      <a:pt x="129" y="190"/>
                    </a:lnTo>
                    <a:lnTo>
                      <a:pt x="129" y="232"/>
                    </a:lnTo>
                    <a:close/>
                    <a:moveTo>
                      <a:pt x="129" y="165"/>
                    </a:moveTo>
                    <a:lnTo>
                      <a:pt x="36" y="165"/>
                    </a:lnTo>
                    <a:lnTo>
                      <a:pt x="36" y="123"/>
                    </a:lnTo>
                    <a:lnTo>
                      <a:pt x="129" y="123"/>
                    </a:lnTo>
                    <a:lnTo>
                      <a:pt x="129" y="165"/>
                    </a:lnTo>
                    <a:close/>
                    <a:moveTo>
                      <a:pt x="129" y="99"/>
                    </a:moveTo>
                    <a:lnTo>
                      <a:pt x="36" y="99"/>
                    </a:lnTo>
                    <a:lnTo>
                      <a:pt x="36" y="55"/>
                    </a:lnTo>
                    <a:lnTo>
                      <a:pt x="129" y="55"/>
                    </a:lnTo>
                    <a:lnTo>
                      <a:pt x="129" y="99"/>
                    </a:lnTo>
                    <a:close/>
                    <a:moveTo>
                      <a:pt x="196" y="245"/>
                    </a:moveTo>
                    <a:lnTo>
                      <a:pt x="154" y="245"/>
                    </a:lnTo>
                    <a:lnTo>
                      <a:pt x="154" y="190"/>
                    </a:lnTo>
                    <a:lnTo>
                      <a:pt x="196" y="190"/>
                    </a:lnTo>
                    <a:lnTo>
                      <a:pt x="196" y="245"/>
                    </a:lnTo>
                    <a:close/>
                    <a:moveTo>
                      <a:pt x="196" y="165"/>
                    </a:moveTo>
                    <a:lnTo>
                      <a:pt x="154" y="165"/>
                    </a:lnTo>
                    <a:lnTo>
                      <a:pt x="154" y="123"/>
                    </a:lnTo>
                    <a:lnTo>
                      <a:pt x="196" y="123"/>
                    </a:lnTo>
                    <a:lnTo>
                      <a:pt x="196" y="165"/>
                    </a:lnTo>
                    <a:close/>
                    <a:moveTo>
                      <a:pt x="196" y="99"/>
                    </a:moveTo>
                    <a:lnTo>
                      <a:pt x="154" y="99"/>
                    </a:lnTo>
                    <a:lnTo>
                      <a:pt x="154" y="55"/>
                    </a:lnTo>
                    <a:lnTo>
                      <a:pt x="196" y="55"/>
                    </a:lnTo>
                    <a:lnTo>
                      <a:pt x="196" y="99"/>
                    </a:lnTo>
                    <a:close/>
                    <a:moveTo>
                      <a:pt x="313" y="232"/>
                    </a:moveTo>
                    <a:lnTo>
                      <a:pt x="219" y="232"/>
                    </a:lnTo>
                    <a:lnTo>
                      <a:pt x="219" y="190"/>
                    </a:lnTo>
                    <a:lnTo>
                      <a:pt x="313" y="190"/>
                    </a:lnTo>
                    <a:lnTo>
                      <a:pt x="313" y="232"/>
                    </a:lnTo>
                    <a:close/>
                    <a:moveTo>
                      <a:pt x="313" y="165"/>
                    </a:moveTo>
                    <a:lnTo>
                      <a:pt x="219" y="165"/>
                    </a:lnTo>
                    <a:lnTo>
                      <a:pt x="219" y="123"/>
                    </a:lnTo>
                    <a:lnTo>
                      <a:pt x="313" y="123"/>
                    </a:lnTo>
                    <a:lnTo>
                      <a:pt x="313" y="165"/>
                    </a:lnTo>
                    <a:close/>
                    <a:moveTo>
                      <a:pt x="313" y="99"/>
                    </a:moveTo>
                    <a:lnTo>
                      <a:pt x="219" y="99"/>
                    </a:lnTo>
                    <a:lnTo>
                      <a:pt x="219" y="55"/>
                    </a:lnTo>
                    <a:lnTo>
                      <a:pt x="313" y="55"/>
                    </a:lnTo>
                    <a:lnTo>
                      <a:pt x="313" y="99"/>
                    </a:lnTo>
                    <a:close/>
                  </a:path>
                </a:pathLst>
              </a:custGeom>
              <a:solidFill>
                <a:schemeClr val="accent2"/>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375" name="Freeform 17"/>
              <p:cNvSpPr>
                <a:spLocks/>
              </p:cNvSpPr>
              <p:nvPr/>
            </p:nvSpPr>
            <p:spPr bwMode="auto">
              <a:xfrm rot="15446558">
                <a:off x="1005601" y="3928804"/>
                <a:ext cx="414499" cy="287353"/>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accent1"/>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376" name="Freeform 17"/>
              <p:cNvSpPr>
                <a:spLocks/>
              </p:cNvSpPr>
              <p:nvPr/>
            </p:nvSpPr>
            <p:spPr bwMode="auto">
              <a:xfrm rot="12634039" flipH="1">
                <a:off x="956880" y="3825433"/>
                <a:ext cx="414499" cy="345331"/>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accent1">
                  <a:lumMod val="75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nvGrpSpPr>
              <p:cNvPr id="377" name="Group 376"/>
              <p:cNvGrpSpPr/>
              <p:nvPr/>
            </p:nvGrpSpPr>
            <p:grpSpPr>
              <a:xfrm rot="10800000">
                <a:off x="228412" y="3455581"/>
                <a:ext cx="1081338" cy="399064"/>
                <a:chOff x="1795199" y="3692891"/>
                <a:chExt cx="1081338" cy="399064"/>
              </a:xfrm>
            </p:grpSpPr>
            <p:grpSp>
              <p:nvGrpSpPr>
                <p:cNvPr id="418" name="Group 417"/>
                <p:cNvGrpSpPr/>
                <p:nvPr/>
              </p:nvGrpSpPr>
              <p:grpSpPr>
                <a:xfrm rot="4364082">
                  <a:off x="2075335" y="3535326"/>
                  <a:ext cx="289909" cy="785563"/>
                  <a:chOff x="2636755" y="2991852"/>
                  <a:chExt cx="399064" cy="1081338"/>
                </a:xfrm>
                <a:solidFill>
                  <a:schemeClr val="accent1"/>
                </a:solidFill>
              </p:grpSpPr>
              <p:sp>
                <p:nvSpPr>
                  <p:cNvPr id="422" name="Freeform 11"/>
                  <p:cNvSpPr>
                    <a:spLocks noChangeAspect="1"/>
                  </p:cNvSpPr>
                  <p:nvPr/>
                </p:nvSpPr>
                <p:spPr bwMode="auto">
                  <a:xfrm rot="843828">
                    <a:off x="2636755" y="2991852"/>
                    <a:ext cx="399064" cy="477171"/>
                  </a:xfrm>
                  <a:custGeom>
                    <a:avLst/>
                    <a:gdLst>
                      <a:gd name="T0" fmla="*/ 129 w 134"/>
                      <a:gd name="T1" fmla="*/ 57 h 160"/>
                      <a:gd name="T2" fmla="*/ 13 w 134"/>
                      <a:gd name="T3" fmla="*/ 48 h 160"/>
                      <a:gd name="T4" fmla="*/ 0 w 134"/>
                      <a:gd name="T5" fmla="*/ 53 h 160"/>
                      <a:gd name="T6" fmla="*/ 27 w 134"/>
                      <a:gd name="T7" fmla="*/ 159 h 160"/>
                      <a:gd name="T8" fmla="*/ 42 w 134"/>
                      <a:gd name="T9" fmla="*/ 159 h 160"/>
                      <a:gd name="T10" fmla="*/ 28 w 134"/>
                      <a:gd name="T11" fmla="*/ 107 h 160"/>
                      <a:gd name="T12" fmla="*/ 132 w 134"/>
                      <a:gd name="T13" fmla="*/ 60 h 160"/>
                      <a:gd name="T14" fmla="*/ 129 w 134"/>
                      <a:gd name="T15" fmla="*/ 57 h 1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4" h="160">
                        <a:moveTo>
                          <a:pt x="129" y="57"/>
                        </a:moveTo>
                        <a:cubicBezTo>
                          <a:pt x="45" y="91"/>
                          <a:pt x="79" y="0"/>
                          <a:pt x="13" y="48"/>
                        </a:cubicBezTo>
                        <a:cubicBezTo>
                          <a:pt x="0" y="53"/>
                          <a:pt x="0" y="53"/>
                          <a:pt x="0" y="53"/>
                        </a:cubicBezTo>
                        <a:cubicBezTo>
                          <a:pt x="27" y="159"/>
                          <a:pt x="27" y="159"/>
                          <a:pt x="27" y="159"/>
                        </a:cubicBezTo>
                        <a:cubicBezTo>
                          <a:pt x="42" y="159"/>
                          <a:pt x="42" y="159"/>
                          <a:pt x="42" y="159"/>
                        </a:cubicBezTo>
                        <a:cubicBezTo>
                          <a:pt x="28" y="107"/>
                          <a:pt x="28" y="107"/>
                          <a:pt x="28" y="107"/>
                        </a:cubicBezTo>
                        <a:cubicBezTo>
                          <a:pt x="87" y="58"/>
                          <a:pt x="63" y="160"/>
                          <a:pt x="132" y="60"/>
                        </a:cubicBezTo>
                        <a:cubicBezTo>
                          <a:pt x="134" y="58"/>
                          <a:pt x="131" y="56"/>
                          <a:pt x="129" y="57"/>
                        </a:cubicBezTo>
                        <a:close/>
                      </a:path>
                    </a:pathLst>
                  </a:custGeom>
                  <a:grp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23" name="Freeform 422"/>
                  <p:cNvSpPr/>
                  <p:nvPr/>
                </p:nvSpPr>
                <p:spPr bwMode="gray">
                  <a:xfrm>
                    <a:off x="2665110" y="3365959"/>
                    <a:ext cx="64294" cy="707231"/>
                  </a:xfrm>
                  <a:custGeom>
                    <a:avLst/>
                    <a:gdLst>
                      <a:gd name="connsiteX0" fmla="*/ 0 w 64294"/>
                      <a:gd name="connsiteY0" fmla="*/ 0 h 707231"/>
                      <a:gd name="connsiteX1" fmla="*/ 0 w 64294"/>
                      <a:gd name="connsiteY1" fmla="*/ 707231 h 707231"/>
                      <a:gd name="connsiteX2" fmla="*/ 64294 w 64294"/>
                      <a:gd name="connsiteY2" fmla="*/ 707231 h 707231"/>
                      <a:gd name="connsiteX3" fmla="*/ 0 w 64294"/>
                      <a:gd name="connsiteY3" fmla="*/ 0 h 707231"/>
                      <a:gd name="connsiteX0" fmla="*/ 0 w 64294"/>
                      <a:gd name="connsiteY0" fmla="*/ 0 h 707231"/>
                      <a:gd name="connsiteX1" fmla="*/ 0 w 64294"/>
                      <a:gd name="connsiteY1" fmla="*/ 707231 h 707231"/>
                      <a:gd name="connsiteX2" fmla="*/ 64294 w 64294"/>
                      <a:gd name="connsiteY2" fmla="*/ 707231 h 707231"/>
                      <a:gd name="connsiteX3" fmla="*/ 4763 w 64294"/>
                      <a:gd name="connsiteY3" fmla="*/ 59531 h 707231"/>
                      <a:gd name="connsiteX4" fmla="*/ 0 w 64294"/>
                      <a:gd name="connsiteY4" fmla="*/ 0 h 707231"/>
                      <a:gd name="connsiteX0" fmla="*/ 0 w 64294"/>
                      <a:gd name="connsiteY0" fmla="*/ 0 h 707231"/>
                      <a:gd name="connsiteX1" fmla="*/ 0 w 64294"/>
                      <a:gd name="connsiteY1" fmla="*/ 707231 h 707231"/>
                      <a:gd name="connsiteX2" fmla="*/ 64294 w 64294"/>
                      <a:gd name="connsiteY2" fmla="*/ 707231 h 707231"/>
                      <a:gd name="connsiteX3" fmla="*/ 40482 w 64294"/>
                      <a:gd name="connsiteY3" fmla="*/ 21431 h 707231"/>
                      <a:gd name="connsiteX4" fmla="*/ 0 w 64294"/>
                      <a:gd name="connsiteY4" fmla="*/ 0 h 707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294" h="707231">
                        <a:moveTo>
                          <a:pt x="0" y="0"/>
                        </a:moveTo>
                        <a:lnTo>
                          <a:pt x="0" y="707231"/>
                        </a:lnTo>
                        <a:lnTo>
                          <a:pt x="64294" y="707231"/>
                        </a:lnTo>
                        <a:lnTo>
                          <a:pt x="40482" y="21431"/>
                        </a:lnTo>
                        <a:lnTo>
                          <a:pt x="0" y="0"/>
                        </a:lnTo>
                        <a:close/>
                      </a:path>
                    </a:pathLst>
                  </a:custGeom>
                  <a:grp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grpSp>
              <p:nvGrpSpPr>
                <p:cNvPr id="419" name="Group 418"/>
                <p:cNvGrpSpPr/>
                <p:nvPr/>
              </p:nvGrpSpPr>
              <p:grpSpPr>
                <a:xfrm rot="3718519">
                  <a:off x="2136336" y="3351754"/>
                  <a:ext cx="399064" cy="1081338"/>
                  <a:chOff x="2636755" y="2991852"/>
                  <a:chExt cx="399064" cy="1081338"/>
                </a:xfrm>
              </p:grpSpPr>
              <p:sp>
                <p:nvSpPr>
                  <p:cNvPr id="420" name="Freeform 11"/>
                  <p:cNvSpPr>
                    <a:spLocks noChangeAspect="1"/>
                  </p:cNvSpPr>
                  <p:nvPr/>
                </p:nvSpPr>
                <p:spPr bwMode="auto">
                  <a:xfrm rot="843828">
                    <a:off x="2636755" y="2991852"/>
                    <a:ext cx="399064" cy="477171"/>
                  </a:xfrm>
                  <a:custGeom>
                    <a:avLst/>
                    <a:gdLst>
                      <a:gd name="T0" fmla="*/ 129 w 134"/>
                      <a:gd name="T1" fmla="*/ 57 h 160"/>
                      <a:gd name="T2" fmla="*/ 13 w 134"/>
                      <a:gd name="T3" fmla="*/ 48 h 160"/>
                      <a:gd name="T4" fmla="*/ 0 w 134"/>
                      <a:gd name="T5" fmla="*/ 53 h 160"/>
                      <a:gd name="T6" fmla="*/ 27 w 134"/>
                      <a:gd name="T7" fmla="*/ 159 h 160"/>
                      <a:gd name="T8" fmla="*/ 42 w 134"/>
                      <a:gd name="T9" fmla="*/ 159 h 160"/>
                      <a:gd name="T10" fmla="*/ 28 w 134"/>
                      <a:gd name="T11" fmla="*/ 107 h 160"/>
                      <a:gd name="T12" fmla="*/ 132 w 134"/>
                      <a:gd name="T13" fmla="*/ 60 h 160"/>
                      <a:gd name="T14" fmla="*/ 129 w 134"/>
                      <a:gd name="T15" fmla="*/ 57 h 1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4" h="160">
                        <a:moveTo>
                          <a:pt x="129" y="57"/>
                        </a:moveTo>
                        <a:cubicBezTo>
                          <a:pt x="45" y="91"/>
                          <a:pt x="79" y="0"/>
                          <a:pt x="13" y="48"/>
                        </a:cubicBezTo>
                        <a:cubicBezTo>
                          <a:pt x="0" y="53"/>
                          <a:pt x="0" y="53"/>
                          <a:pt x="0" y="53"/>
                        </a:cubicBezTo>
                        <a:cubicBezTo>
                          <a:pt x="27" y="159"/>
                          <a:pt x="27" y="159"/>
                          <a:pt x="27" y="159"/>
                        </a:cubicBezTo>
                        <a:cubicBezTo>
                          <a:pt x="42" y="159"/>
                          <a:pt x="42" y="159"/>
                          <a:pt x="42" y="159"/>
                        </a:cubicBezTo>
                        <a:cubicBezTo>
                          <a:pt x="28" y="107"/>
                          <a:pt x="28" y="107"/>
                          <a:pt x="28" y="107"/>
                        </a:cubicBezTo>
                        <a:cubicBezTo>
                          <a:pt x="87" y="58"/>
                          <a:pt x="63" y="160"/>
                          <a:pt x="132" y="60"/>
                        </a:cubicBezTo>
                        <a:cubicBezTo>
                          <a:pt x="134" y="58"/>
                          <a:pt x="131" y="56"/>
                          <a:pt x="129" y="57"/>
                        </a:cubicBezTo>
                        <a:close/>
                      </a:path>
                    </a:pathLst>
                  </a:custGeom>
                  <a:solidFill>
                    <a:schemeClr val="accent2"/>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21" name="Freeform 420"/>
                  <p:cNvSpPr/>
                  <p:nvPr/>
                </p:nvSpPr>
                <p:spPr bwMode="gray">
                  <a:xfrm>
                    <a:off x="2665110" y="3365959"/>
                    <a:ext cx="64294" cy="707231"/>
                  </a:xfrm>
                  <a:custGeom>
                    <a:avLst/>
                    <a:gdLst>
                      <a:gd name="connsiteX0" fmla="*/ 0 w 64294"/>
                      <a:gd name="connsiteY0" fmla="*/ 0 h 707231"/>
                      <a:gd name="connsiteX1" fmla="*/ 0 w 64294"/>
                      <a:gd name="connsiteY1" fmla="*/ 707231 h 707231"/>
                      <a:gd name="connsiteX2" fmla="*/ 64294 w 64294"/>
                      <a:gd name="connsiteY2" fmla="*/ 707231 h 707231"/>
                      <a:gd name="connsiteX3" fmla="*/ 0 w 64294"/>
                      <a:gd name="connsiteY3" fmla="*/ 0 h 707231"/>
                      <a:gd name="connsiteX0" fmla="*/ 0 w 64294"/>
                      <a:gd name="connsiteY0" fmla="*/ 0 h 707231"/>
                      <a:gd name="connsiteX1" fmla="*/ 0 w 64294"/>
                      <a:gd name="connsiteY1" fmla="*/ 707231 h 707231"/>
                      <a:gd name="connsiteX2" fmla="*/ 64294 w 64294"/>
                      <a:gd name="connsiteY2" fmla="*/ 707231 h 707231"/>
                      <a:gd name="connsiteX3" fmla="*/ 4763 w 64294"/>
                      <a:gd name="connsiteY3" fmla="*/ 59531 h 707231"/>
                      <a:gd name="connsiteX4" fmla="*/ 0 w 64294"/>
                      <a:gd name="connsiteY4" fmla="*/ 0 h 707231"/>
                      <a:gd name="connsiteX0" fmla="*/ 0 w 64294"/>
                      <a:gd name="connsiteY0" fmla="*/ 0 h 707231"/>
                      <a:gd name="connsiteX1" fmla="*/ 0 w 64294"/>
                      <a:gd name="connsiteY1" fmla="*/ 707231 h 707231"/>
                      <a:gd name="connsiteX2" fmla="*/ 64294 w 64294"/>
                      <a:gd name="connsiteY2" fmla="*/ 707231 h 707231"/>
                      <a:gd name="connsiteX3" fmla="*/ 40482 w 64294"/>
                      <a:gd name="connsiteY3" fmla="*/ 21431 h 707231"/>
                      <a:gd name="connsiteX4" fmla="*/ 0 w 64294"/>
                      <a:gd name="connsiteY4" fmla="*/ 0 h 707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294" h="707231">
                        <a:moveTo>
                          <a:pt x="0" y="0"/>
                        </a:moveTo>
                        <a:lnTo>
                          <a:pt x="0" y="707231"/>
                        </a:lnTo>
                        <a:lnTo>
                          <a:pt x="64294" y="707231"/>
                        </a:lnTo>
                        <a:lnTo>
                          <a:pt x="40482" y="21431"/>
                        </a:lnTo>
                        <a:lnTo>
                          <a:pt x="0" y="0"/>
                        </a:lnTo>
                        <a:close/>
                      </a:path>
                    </a:pathLst>
                  </a:custGeom>
                  <a:solidFill>
                    <a:schemeClr val="accent2"/>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grpSp>
          <p:sp>
            <p:nvSpPr>
              <p:cNvPr id="378" name="Freeform 38"/>
              <p:cNvSpPr>
                <a:spLocks noChangeAspect="1" noEditPoints="1"/>
              </p:cNvSpPr>
              <p:nvPr/>
            </p:nvSpPr>
            <p:spPr bwMode="auto">
              <a:xfrm rot="17409041">
                <a:off x="573320" y="3030023"/>
                <a:ext cx="391522" cy="605616"/>
              </a:xfrm>
              <a:custGeom>
                <a:avLst/>
                <a:gdLst>
                  <a:gd name="T0" fmla="*/ 70 w 104"/>
                  <a:gd name="T1" fmla="*/ 61 h 213"/>
                  <a:gd name="T2" fmla="*/ 69 w 104"/>
                  <a:gd name="T3" fmla="*/ 59 h 213"/>
                  <a:gd name="T4" fmla="*/ 62 w 104"/>
                  <a:gd name="T5" fmla="*/ 51 h 213"/>
                  <a:gd name="T6" fmla="*/ 56 w 104"/>
                  <a:gd name="T7" fmla="*/ 51 h 213"/>
                  <a:gd name="T8" fmla="*/ 59 w 104"/>
                  <a:gd name="T9" fmla="*/ 44 h 213"/>
                  <a:gd name="T10" fmla="*/ 53 w 104"/>
                  <a:gd name="T11" fmla="*/ 0 h 213"/>
                  <a:gd name="T12" fmla="*/ 46 w 104"/>
                  <a:gd name="T13" fmla="*/ 44 h 213"/>
                  <a:gd name="T14" fmla="*/ 50 w 104"/>
                  <a:gd name="T15" fmla="*/ 52 h 213"/>
                  <a:gd name="T16" fmla="*/ 46 w 104"/>
                  <a:gd name="T17" fmla="*/ 58 h 213"/>
                  <a:gd name="T18" fmla="*/ 38 w 104"/>
                  <a:gd name="T19" fmla="*/ 59 h 213"/>
                  <a:gd name="T20" fmla="*/ 1 w 104"/>
                  <a:gd name="T21" fmla="*/ 84 h 213"/>
                  <a:gd name="T22" fmla="*/ 43 w 104"/>
                  <a:gd name="T23" fmla="*/ 70 h 213"/>
                  <a:gd name="T24" fmla="*/ 48 w 104"/>
                  <a:gd name="T25" fmla="*/ 64 h 213"/>
                  <a:gd name="T26" fmla="*/ 50 w 104"/>
                  <a:gd name="T27" fmla="*/ 65 h 213"/>
                  <a:gd name="T28" fmla="*/ 45 w 104"/>
                  <a:gd name="T29" fmla="*/ 213 h 213"/>
                  <a:gd name="T30" fmla="*/ 64 w 104"/>
                  <a:gd name="T31" fmla="*/ 213 h 213"/>
                  <a:gd name="T32" fmla="*/ 59 w 104"/>
                  <a:gd name="T33" fmla="*/ 66 h 213"/>
                  <a:gd name="T34" fmla="*/ 62 w 104"/>
                  <a:gd name="T35" fmla="*/ 70 h 213"/>
                  <a:gd name="T36" fmla="*/ 103 w 104"/>
                  <a:gd name="T37" fmla="*/ 86 h 213"/>
                  <a:gd name="T38" fmla="*/ 70 w 104"/>
                  <a:gd name="T39" fmla="*/ 61 h 213"/>
                  <a:gd name="T40" fmla="*/ 53 w 104"/>
                  <a:gd name="T41" fmla="*/ 64 h 213"/>
                  <a:gd name="T42" fmla="*/ 48 w 104"/>
                  <a:gd name="T43" fmla="*/ 58 h 213"/>
                  <a:gd name="T44" fmla="*/ 53 w 104"/>
                  <a:gd name="T45" fmla="*/ 53 h 213"/>
                  <a:gd name="T46" fmla="*/ 59 w 104"/>
                  <a:gd name="T47" fmla="*/ 58 h 213"/>
                  <a:gd name="T48" fmla="*/ 53 w 104"/>
                  <a:gd name="T49" fmla="*/ 64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4" h="213">
                    <a:moveTo>
                      <a:pt x="70" y="61"/>
                    </a:moveTo>
                    <a:cubicBezTo>
                      <a:pt x="69" y="60"/>
                      <a:pt x="69" y="60"/>
                      <a:pt x="69" y="59"/>
                    </a:cubicBezTo>
                    <a:cubicBezTo>
                      <a:pt x="69" y="55"/>
                      <a:pt x="66" y="51"/>
                      <a:pt x="62" y="51"/>
                    </a:cubicBezTo>
                    <a:cubicBezTo>
                      <a:pt x="56" y="51"/>
                      <a:pt x="56" y="51"/>
                      <a:pt x="56" y="51"/>
                    </a:cubicBezTo>
                    <a:cubicBezTo>
                      <a:pt x="59" y="44"/>
                      <a:pt x="59" y="44"/>
                      <a:pt x="59" y="44"/>
                    </a:cubicBezTo>
                    <a:cubicBezTo>
                      <a:pt x="59" y="44"/>
                      <a:pt x="56" y="0"/>
                      <a:pt x="53" y="0"/>
                    </a:cubicBezTo>
                    <a:cubicBezTo>
                      <a:pt x="50" y="0"/>
                      <a:pt x="46" y="44"/>
                      <a:pt x="46" y="44"/>
                    </a:cubicBezTo>
                    <a:cubicBezTo>
                      <a:pt x="50" y="52"/>
                      <a:pt x="50" y="52"/>
                      <a:pt x="50" y="52"/>
                    </a:cubicBezTo>
                    <a:cubicBezTo>
                      <a:pt x="48" y="53"/>
                      <a:pt x="46" y="55"/>
                      <a:pt x="46" y="58"/>
                    </a:cubicBezTo>
                    <a:cubicBezTo>
                      <a:pt x="38" y="59"/>
                      <a:pt x="38" y="59"/>
                      <a:pt x="38" y="59"/>
                    </a:cubicBezTo>
                    <a:cubicBezTo>
                      <a:pt x="38" y="59"/>
                      <a:pt x="0" y="81"/>
                      <a:pt x="1" y="84"/>
                    </a:cubicBezTo>
                    <a:cubicBezTo>
                      <a:pt x="3" y="87"/>
                      <a:pt x="43" y="70"/>
                      <a:pt x="43" y="70"/>
                    </a:cubicBezTo>
                    <a:cubicBezTo>
                      <a:pt x="48" y="64"/>
                      <a:pt x="48" y="64"/>
                      <a:pt x="48" y="64"/>
                    </a:cubicBezTo>
                    <a:cubicBezTo>
                      <a:pt x="49" y="64"/>
                      <a:pt x="49" y="65"/>
                      <a:pt x="50" y="65"/>
                    </a:cubicBezTo>
                    <a:cubicBezTo>
                      <a:pt x="50" y="65"/>
                      <a:pt x="45" y="213"/>
                      <a:pt x="45" y="213"/>
                    </a:cubicBezTo>
                    <a:cubicBezTo>
                      <a:pt x="64" y="213"/>
                      <a:pt x="64" y="213"/>
                      <a:pt x="64" y="213"/>
                    </a:cubicBezTo>
                    <a:cubicBezTo>
                      <a:pt x="59" y="66"/>
                      <a:pt x="59" y="66"/>
                      <a:pt x="59" y="66"/>
                    </a:cubicBezTo>
                    <a:cubicBezTo>
                      <a:pt x="62" y="70"/>
                      <a:pt x="62" y="70"/>
                      <a:pt x="62" y="70"/>
                    </a:cubicBezTo>
                    <a:cubicBezTo>
                      <a:pt x="62" y="70"/>
                      <a:pt x="102" y="88"/>
                      <a:pt x="103" y="86"/>
                    </a:cubicBezTo>
                    <a:cubicBezTo>
                      <a:pt x="104" y="83"/>
                      <a:pt x="77" y="65"/>
                      <a:pt x="70" y="61"/>
                    </a:cubicBezTo>
                    <a:close/>
                    <a:moveTo>
                      <a:pt x="53" y="64"/>
                    </a:moveTo>
                    <a:cubicBezTo>
                      <a:pt x="50" y="64"/>
                      <a:pt x="48" y="61"/>
                      <a:pt x="48" y="58"/>
                    </a:cubicBezTo>
                    <a:cubicBezTo>
                      <a:pt x="48" y="55"/>
                      <a:pt x="50" y="53"/>
                      <a:pt x="53" y="53"/>
                    </a:cubicBezTo>
                    <a:cubicBezTo>
                      <a:pt x="56" y="53"/>
                      <a:pt x="59" y="55"/>
                      <a:pt x="59" y="58"/>
                    </a:cubicBezTo>
                    <a:cubicBezTo>
                      <a:pt x="59" y="61"/>
                      <a:pt x="56" y="64"/>
                      <a:pt x="53" y="64"/>
                    </a:cubicBezTo>
                    <a:close/>
                  </a:path>
                </a:pathLst>
              </a:custGeom>
              <a:solidFill>
                <a:schemeClr val="tx1">
                  <a:lumMod val="75000"/>
                  <a:lumOff val="25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379" name="Freeform 17"/>
              <p:cNvSpPr>
                <a:spLocks/>
              </p:cNvSpPr>
              <p:nvPr/>
            </p:nvSpPr>
            <p:spPr bwMode="auto">
              <a:xfrm rot="17989328">
                <a:off x="811001" y="3428549"/>
                <a:ext cx="594307" cy="412005"/>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tx1">
                  <a:lumMod val="75000"/>
                  <a:lumOff val="25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380" name="Freeform 17"/>
              <p:cNvSpPr>
                <a:spLocks/>
              </p:cNvSpPr>
              <p:nvPr/>
            </p:nvSpPr>
            <p:spPr bwMode="auto">
              <a:xfrm rot="18949917">
                <a:off x="835593" y="3206123"/>
                <a:ext cx="594307" cy="412005"/>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accent2"/>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nvGrpSpPr>
              <p:cNvPr id="381" name="Group 380"/>
              <p:cNvGrpSpPr/>
              <p:nvPr/>
            </p:nvGrpSpPr>
            <p:grpSpPr>
              <a:xfrm rot="10023699">
                <a:off x="973114" y="4075228"/>
                <a:ext cx="656116" cy="857245"/>
                <a:chOff x="1543570" y="2621206"/>
                <a:chExt cx="721728" cy="942969"/>
              </a:xfrm>
            </p:grpSpPr>
            <p:grpSp>
              <p:nvGrpSpPr>
                <p:cNvPr id="406" name="Group 405"/>
                <p:cNvGrpSpPr/>
                <p:nvPr/>
              </p:nvGrpSpPr>
              <p:grpSpPr>
                <a:xfrm rot="1869549">
                  <a:off x="1743680" y="3016556"/>
                  <a:ext cx="251491" cy="277199"/>
                  <a:chOff x="1761328" y="1767277"/>
                  <a:chExt cx="463550" cy="639762"/>
                </a:xfrm>
              </p:grpSpPr>
              <p:sp>
                <p:nvSpPr>
                  <p:cNvPr id="414" name="Freeform 6"/>
                  <p:cNvSpPr>
                    <a:spLocks/>
                  </p:cNvSpPr>
                  <p:nvPr/>
                </p:nvSpPr>
                <p:spPr bwMode="auto">
                  <a:xfrm>
                    <a:off x="1897853" y="2127639"/>
                    <a:ext cx="209550" cy="279400"/>
                  </a:xfrm>
                  <a:custGeom>
                    <a:avLst/>
                    <a:gdLst>
                      <a:gd name="T0" fmla="*/ 55 w 56"/>
                      <a:gd name="T1" fmla="*/ 19 h 74"/>
                      <a:gd name="T2" fmla="*/ 56 w 56"/>
                      <a:gd name="T3" fmla="*/ 21 h 74"/>
                      <a:gd name="T4" fmla="*/ 39 w 56"/>
                      <a:gd name="T5" fmla="*/ 25 h 74"/>
                      <a:gd name="T6" fmla="*/ 30 w 56"/>
                      <a:gd name="T7" fmla="*/ 31 h 74"/>
                      <a:gd name="T8" fmla="*/ 26 w 56"/>
                      <a:gd name="T9" fmla="*/ 45 h 74"/>
                      <a:gd name="T10" fmla="*/ 25 w 56"/>
                      <a:gd name="T11" fmla="*/ 53 h 74"/>
                      <a:gd name="T12" fmla="*/ 26 w 56"/>
                      <a:gd name="T13" fmla="*/ 60 h 74"/>
                      <a:gd name="T14" fmla="*/ 28 w 56"/>
                      <a:gd name="T15" fmla="*/ 67 h 74"/>
                      <a:gd name="T16" fmla="*/ 30 w 56"/>
                      <a:gd name="T17" fmla="*/ 67 h 74"/>
                      <a:gd name="T18" fmla="*/ 33 w 56"/>
                      <a:gd name="T19" fmla="*/ 72 h 74"/>
                      <a:gd name="T20" fmla="*/ 33 w 56"/>
                      <a:gd name="T21" fmla="*/ 74 h 74"/>
                      <a:gd name="T22" fmla="*/ 20 w 56"/>
                      <a:gd name="T23" fmla="*/ 71 h 74"/>
                      <a:gd name="T24" fmla="*/ 7 w 56"/>
                      <a:gd name="T25" fmla="*/ 68 h 74"/>
                      <a:gd name="T26" fmla="*/ 6 w 56"/>
                      <a:gd name="T27" fmla="*/ 65 h 74"/>
                      <a:gd name="T28" fmla="*/ 7 w 56"/>
                      <a:gd name="T29" fmla="*/ 64 h 74"/>
                      <a:gd name="T30" fmla="*/ 13 w 56"/>
                      <a:gd name="T31" fmla="*/ 31 h 74"/>
                      <a:gd name="T32" fmla="*/ 0 w 56"/>
                      <a:gd name="T33" fmla="*/ 10 h 74"/>
                      <a:gd name="T34" fmla="*/ 1 w 56"/>
                      <a:gd name="T35" fmla="*/ 9 h 74"/>
                      <a:gd name="T36" fmla="*/ 6 w 56"/>
                      <a:gd name="T37" fmla="*/ 5 h 74"/>
                      <a:gd name="T38" fmla="*/ 9 w 56"/>
                      <a:gd name="T39" fmla="*/ 0 h 74"/>
                      <a:gd name="T40" fmla="*/ 12 w 56"/>
                      <a:gd name="T41" fmla="*/ 6 h 74"/>
                      <a:gd name="T42" fmla="*/ 11 w 56"/>
                      <a:gd name="T43" fmla="*/ 6 h 74"/>
                      <a:gd name="T44" fmla="*/ 19 w 56"/>
                      <a:gd name="T45" fmla="*/ 16 h 74"/>
                      <a:gd name="T46" fmla="*/ 28 w 56"/>
                      <a:gd name="T47" fmla="*/ 11 h 74"/>
                      <a:gd name="T48" fmla="*/ 32 w 56"/>
                      <a:gd name="T49" fmla="*/ 2 h 74"/>
                      <a:gd name="T50" fmla="*/ 38 w 56"/>
                      <a:gd name="T51" fmla="*/ 6 h 74"/>
                      <a:gd name="T52" fmla="*/ 39 w 56"/>
                      <a:gd name="T53" fmla="*/ 6 h 74"/>
                      <a:gd name="T54" fmla="*/ 36 w 56"/>
                      <a:gd name="T55" fmla="*/ 8 h 74"/>
                      <a:gd name="T56" fmla="*/ 34 w 56"/>
                      <a:gd name="T57" fmla="*/ 11 h 74"/>
                      <a:gd name="T58" fmla="*/ 33 w 56"/>
                      <a:gd name="T59" fmla="*/ 12 h 74"/>
                      <a:gd name="T60" fmla="*/ 32 w 56"/>
                      <a:gd name="T61" fmla="*/ 14 h 74"/>
                      <a:gd name="T62" fmla="*/ 34 w 56"/>
                      <a:gd name="T63" fmla="*/ 18 h 74"/>
                      <a:gd name="T64" fmla="*/ 39 w 56"/>
                      <a:gd name="T65" fmla="*/ 18 h 74"/>
                      <a:gd name="T66" fmla="*/ 46 w 56"/>
                      <a:gd name="T67" fmla="*/ 16 h 74"/>
                      <a:gd name="T68" fmla="*/ 50 w 56"/>
                      <a:gd name="T69" fmla="*/ 14 h 74"/>
                      <a:gd name="T70" fmla="*/ 55 w 56"/>
                      <a:gd name="T71" fmla="*/ 19 h 74"/>
                      <a:gd name="T72" fmla="*/ 55 w 56"/>
                      <a:gd name="T73" fmla="*/ 1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 h="74">
                        <a:moveTo>
                          <a:pt x="55" y="19"/>
                        </a:moveTo>
                        <a:cubicBezTo>
                          <a:pt x="55" y="20"/>
                          <a:pt x="55" y="21"/>
                          <a:pt x="56" y="21"/>
                        </a:cubicBezTo>
                        <a:cubicBezTo>
                          <a:pt x="50" y="22"/>
                          <a:pt x="44" y="24"/>
                          <a:pt x="39" y="25"/>
                        </a:cubicBezTo>
                        <a:cubicBezTo>
                          <a:pt x="34" y="28"/>
                          <a:pt x="30" y="29"/>
                          <a:pt x="30" y="31"/>
                        </a:cubicBezTo>
                        <a:cubicBezTo>
                          <a:pt x="28" y="37"/>
                          <a:pt x="27" y="42"/>
                          <a:pt x="26" y="45"/>
                        </a:cubicBezTo>
                        <a:cubicBezTo>
                          <a:pt x="25" y="45"/>
                          <a:pt x="25" y="48"/>
                          <a:pt x="25" y="53"/>
                        </a:cubicBezTo>
                        <a:cubicBezTo>
                          <a:pt x="25" y="57"/>
                          <a:pt x="25" y="60"/>
                          <a:pt x="26" y="60"/>
                        </a:cubicBezTo>
                        <a:cubicBezTo>
                          <a:pt x="26" y="63"/>
                          <a:pt x="27" y="65"/>
                          <a:pt x="28" y="67"/>
                        </a:cubicBezTo>
                        <a:cubicBezTo>
                          <a:pt x="30" y="67"/>
                          <a:pt x="30" y="67"/>
                          <a:pt x="30" y="67"/>
                        </a:cubicBezTo>
                        <a:cubicBezTo>
                          <a:pt x="33" y="72"/>
                          <a:pt x="33" y="72"/>
                          <a:pt x="33" y="72"/>
                        </a:cubicBezTo>
                        <a:cubicBezTo>
                          <a:pt x="33" y="74"/>
                          <a:pt x="33" y="74"/>
                          <a:pt x="33" y="74"/>
                        </a:cubicBezTo>
                        <a:cubicBezTo>
                          <a:pt x="28" y="73"/>
                          <a:pt x="24" y="72"/>
                          <a:pt x="20" y="71"/>
                        </a:cubicBezTo>
                        <a:cubicBezTo>
                          <a:pt x="16" y="69"/>
                          <a:pt x="12" y="69"/>
                          <a:pt x="7" y="68"/>
                        </a:cubicBezTo>
                        <a:cubicBezTo>
                          <a:pt x="6" y="65"/>
                          <a:pt x="6" y="65"/>
                          <a:pt x="6" y="65"/>
                        </a:cubicBezTo>
                        <a:cubicBezTo>
                          <a:pt x="6" y="65"/>
                          <a:pt x="7" y="65"/>
                          <a:pt x="7" y="64"/>
                        </a:cubicBezTo>
                        <a:cubicBezTo>
                          <a:pt x="11" y="45"/>
                          <a:pt x="13" y="34"/>
                          <a:pt x="13" y="31"/>
                        </a:cubicBezTo>
                        <a:cubicBezTo>
                          <a:pt x="13" y="30"/>
                          <a:pt x="8" y="22"/>
                          <a:pt x="0" y="10"/>
                        </a:cubicBezTo>
                        <a:cubicBezTo>
                          <a:pt x="1" y="9"/>
                          <a:pt x="1" y="9"/>
                          <a:pt x="1" y="9"/>
                        </a:cubicBezTo>
                        <a:cubicBezTo>
                          <a:pt x="2" y="8"/>
                          <a:pt x="4" y="7"/>
                          <a:pt x="6" y="5"/>
                        </a:cubicBezTo>
                        <a:cubicBezTo>
                          <a:pt x="8" y="3"/>
                          <a:pt x="10" y="1"/>
                          <a:pt x="9" y="0"/>
                        </a:cubicBezTo>
                        <a:cubicBezTo>
                          <a:pt x="10" y="3"/>
                          <a:pt x="11" y="4"/>
                          <a:pt x="12" y="6"/>
                        </a:cubicBezTo>
                        <a:cubicBezTo>
                          <a:pt x="11" y="6"/>
                          <a:pt x="11" y="6"/>
                          <a:pt x="11" y="6"/>
                        </a:cubicBezTo>
                        <a:cubicBezTo>
                          <a:pt x="10" y="13"/>
                          <a:pt x="13" y="16"/>
                          <a:pt x="19" y="16"/>
                        </a:cubicBezTo>
                        <a:cubicBezTo>
                          <a:pt x="24" y="16"/>
                          <a:pt x="27" y="14"/>
                          <a:pt x="28" y="11"/>
                        </a:cubicBezTo>
                        <a:cubicBezTo>
                          <a:pt x="29" y="9"/>
                          <a:pt x="30" y="6"/>
                          <a:pt x="32" y="2"/>
                        </a:cubicBezTo>
                        <a:cubicBezTo>
                          <a:pt x="32" y="4"/>
                          <a:pt x="35" y="5"/>
                          <a:pt x="38" y="6"/>
                        </a:cubicBezTo>
                        <a:cubicBezTo>
                          <a:pt x="38" y="6"/>
                          <a:pt x="39" y="6"/>
                          <a:pt x="39" y="6"/>
                        </a:cubicBezTo>
                        <a:cubicBezTo>
                          <a:pt x="38" y="6"/>
                          <a:pt x="37" y="7"/>
                          <a:pt x="36" y="8"/>
                        </a:cubicBezTo>
                        <a:cubicBezTo>
                          <a:pt x="35" y="9"/>
                          <a:pt x="35" y="10"/>
                          <a:pt x="34" y="11"/>
                        </a:cubicBezTo>
                        <a:cubicBezTo>
                          <a:pt x="34" y="11"/>
                          <a:pt x="34" y="11"/>
                          <a:pt x="33" y="12"/>
                        </a:cubicBezTo>
                        <a:cubicBezTo>
                          <a:pt x="32" y="13"/>
                          <a:pt x="32" y="14"/>
                          <a:pt x="32" y="14"/>
                        </a:cubicBezTo>
                        <a:cubicBezTo>
                          <a:pt x="32" y="16"/>
                          <a:pt x="33" y="17"/>
                          <a:pt x="34" y="18"/>
                        </a:cubicBezTo>
                        <a:cubicBezTo>
                          <a:pt x="35" y="18"/>
                          <a:pt x="36" y="18"/>
                          <a:pt x="39" y="18"/>
                        </a:cubicBezTo>
                        <a:cubicBezTo>
                          <a:pt x="41" y="18"/>
                          <a:pt x="44" y="17"/>
                          <a:pt x="46" y="16"/>
                        </a:cubicBezTo>
                        <a:cubicBezTo>
                          <a:pt x="47" y="15"/>
                          <a:pt x="49" y="15"/>
                          <a:pt x="50" y="14"/>
                        </a:cubicBezTo>
                        <a:cubicBezTo>
                          <a:pt x="51" y="16"/>
                          <a:pt x="53" y="17"/>
                          <a:pt x="55" y="19"/>
                        </a:cubicBezTo>
                        <a:cubicBezTo>
                          <a:pt x="55" y="19"/>
                          <a:pt x="55" y="19"/>
                          <a:pt x="55" y="19"/>
                        </a:cubicBezTo>
                        <a:close/>
                      </a:path>
                    </a:pathLst>
                  </a:custGeom>
                  <a:solidFill>
                    <a:srgbClr val="663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15" name="Freeform 9"/>
                  <p:cNvSpPr>
                    <a:spLocks/>
                  </p:cNvSpPr>
                  <p:nvPr/>
                </p:nvSpPr>
                <p:spPr bwMode="auto">
                  <a:xfrm>
                    <a:off x="1761328" y="1767277"/>
                    <a:ext cx="463550" cy="481013"/>
                  </a:xfrm>
                  <a:custGeom>
                    <a:avLst/>
                    <a:gdLst>
                      <a:gd name="T0" fmla="*/ 67 w 123"/>
                      <a:gd name="T1" fmla="*/ 97 h 128"/>
                      <a:gd name="T2" fmla="*/ 65 w 123"/>
                      <a:gd name="T3" fmla="*/ 97 h 128"/>
                      <a:gd name="T4" fmla="*/ 54 w 123"/>
                      <a:gd name="T5" fmla="*/ 104 h 128"/>
                      <a:gd name="T6" fmla="*/ 48 w 123"/>
                      <a:gd name="T7" fmla="*/ 102 h 128"/>
                      <a:gd name="T8" fmla="*/ 42 w 123"/>
                      <a:gd name="T9" fmla="*/ 101 h 128"/>
                      <a:gd name="T10" fmla="*/ 36 w 123"/>
                      <a:gd name="T11" fmla="*/ 106 h 128"/>
                      <a:gd name="T12" fmla="*/ 33 w 123"/>
                      <a:gd name="T13" fmla="*/ 108 h 128"/>
                      <a:gd name="T14" fmla="*/ 22 w 123"/>
                      <a:gd name="T15" fmla="*/ 107 h 128"/>
                      <a:gd name="T16" fmla="*/ 17 w 123"/>
                      <a:gd name="T17" fmla="*/ 98 h 128"/>
                      <a:gd name="T18" fmla="*/ 12 w 123"/>
                      <a:gd name="T19" fmla="*/ 100 h 128"/>
                      <a:gd name="T20" fmla="*/ 6 w 123"/>
                      <a:gd name="T21" fmla="*/ 96 h 128"/>
                      <a:gd name="T22" fmla="*/ 0 w 123"/>
                      <a:gd name="T23" fmla="*/ 90 h 128"/>
                      <a:gd name="T24" fmla="*/ 0 w 123"/>
                      <a:gd name="T25" fmla="*/ 65 h 128"/>
                      <a:gd name="T26" fmla="*/ 10 w 123"/>
                      <a:gd name="T27" fmla="*/ 58 h 128"/>
                      <a:gd name="T28" fmla="*/ 7 w 123"/>
                      <a:gd name="T29" fmla="*/ 51 h 128"/>
                      <a:gd name="T30" fmla="*/ 18 w 123"/>
                      <a:gd name="T31" fmla="*/ 39 h 128"/>
                      <a:gd name="T32" fmla="*/ 21 w 123"/>
                      <a:gd name="T33" fmla="*/ 34 h 128"/>
                      <a:gd name="T34" fmla="*/ 27 w 123"/>
                      <a:gd name="T35" fmla="*/ 31 h 128"/>
                      <a:gd name="T36" fmla="*/ 38 w 123"/>
                      <a:gd name="T37" fmla="*/ 22 h 128"/>
                      <a:gd name="T38" fmla="*/ 43 w 123"/>
                      <a:gd name="T39" fmla="*/ 15 h 128"/>
                      <a:gd name="T40" fmla="*/ 55 w 123"/>
                      <a:gd name="T41" fmla="*/ 11 h 128"/>
                      <a:gd name="T42" fmla="*/ 63 w 123"/>
                      <a:gd name="T43" fmla="*/ 4 h 128"/>
                      <a:gd name="T44" fmla="*/ 72 w 123"/>
                      <a:gd name="T45" fmla="*/ 1 h 128"/>
                      <a:gd name="T46" fmla="*/ 79 w 123"/>
                      <a:gd name="T47" fmla="*/ 1 h 128"/>
                      <a:gd name="T48" fmla="*/ 88 w 123"/>
                      <a:gd name="T49" fmla="*/ 9 h 128"/>
                      <a:gd name="T50" fmla="*/ 107 w 123"/>
                      <a:gd name="T51" fmla="*/ 26 h 128"/>
                      <a:gd name="T52" fmla="*/ 109 w 123"/>
                      <a:gd name="T53" fmla="*/ 43 h 128"/>
                      <a:gd name="T54" fmla="*/ 106 w 123"/>
                      <a:gd name="T55" fmla="*/ 53 h 128"/>
                      <a:gd name="T56" fmla="*/ 112 w 123"/>
                      <a:gd name="T57" fmla="*/ 62 h 128"/>
                      <a:gd name="T58" fmla="*/ 116 w 123"/>
                      <a:gd name="T59" fmla="*/ 69 h 128"/>
                      <a:gd name="T60" fmla="*/ 114 w 123"/>
                      <a:gd name="T61" fmla="*/ 70 h 128"/>
                      <a:gd name="T62" fmla="*/ 116 w 123"/>
                      <a:gd name="T63" fmla="*/ 69 h 128"/>
                      <a:gd name="T64" fmla="*/ 121 w 123"/>
                      <a:gd name="T65" fmla="*/ 80 h 128"/>
                      <a:gd name="T66" fmla="*/ 121 w 123"/>
                      <a:gd name="T67" fmla="*/ 101 h 128"/>
                      <a:gd name="T68" fmla="*/ 117 w 123"/>
                      <a:gd name="T69" fmla="*/ 118 h 128"/>
                      <a:gd name="T70" fmla="*/ 115 w 123"/>
                      <a:gd name="T71" fmla="*/ 118 h 128"/>
                      <a:gd name="T72" fmla="*/ 117 w 123"/>
                      <a:gd name="T73" fmla="*/ 123 h 128"/>
                      <a:gd name="T74" fmla="*/ 108 w 123"/>
                      <a:gd name="T75" fmla="*/ 128 h 128"/>
                      <a:gd name="T76" fmla="*/ 92 w 123"/>
                      <a:gd name="T77" fmla="*/ 117 h 128"/>
                      <a:gd name="T78" fmla="*/ 92 w 123"/>
                      <a:gd name="T79" fmla="*/ 116 h 128"/>
                      <a:gd name="T80" fmla="*/ 91 w 123"/>
                      <a:gd name="T81" fmla="*/ 115 h 128"/>
                      <a:gd name="T82" fmla="*/ 84 w 123"/>
                      <a:gd name="T83" fmla="*/ 107 h 128"/>
                      <a:gd name="T84" fmla="*/ 86 w 123"/>
                      <a:gd name="T85" fmla="*/ 102 h 128"/>
                      <a:gd name="T86" fmla="*/ 74 w 123"/>
                      <a:gd name="T87" fmla="*/ 10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3" h="128">
                        <a:moveTo>
                          <a:pt x="68" y="98"/>
                        </a:moveTo>
                        <a:cubicBezTo>
                          <a:pt x="67" y="98"/>
                          <a:pt x="67" y="98"/>
                          <a:pt x="67" y="97"/>
                        </a:cubicBezTo>
                        <a:cubicBezTo>
                          <a:pt x="67" y="96"/>
                          <a:pt x="67" y="95"/>
                          <a:pt x="68" y="94"/>
                        </a:cubicBezTo>
                        <a:cubicBezTo>
                          <a:pt x="67" y="95"/>
                          <a:pt x="66" y="96"/>
                          <a:pt x="65" y="97"/>
                        </a:cubicBezTo>
                        <a:cubicBezTo>
                          <a:pt x="64" y="98"/>
                          <a:pt x="63" y="99"/>
                          <a:pt x="62" y="100"/>
                        </a:cubicBezTo>
                        <a:cubicBezTo>
                          <a:pt x="59" y="103"/>
                          <a:pt x="56" y="104"/>
                          <a:pt x="54" y="104"/>
                        </a:cubicBezTo>
                        <a:cubicBezTo>
                          <a:pt x="51" y="104"/>
                          <a:pt x="49" y="104"/>
                          <a:pt x="48" y="102"/>
                        </a:cubicBezTo>
                        <a:cubicBezTo>
                          <a:pt x="48" y="102"/>
                          <a:pt x="48" y="102"/>
                          <a:pt x="48" y="102"/>
                        </a:cubicBezTo>
                        <a:cubicBezTo>
                          <a:pt x="47" y="100"/>
                          <a:pt x="46" y="99"/>
                          <a:pt x="45" y="96"/>
                        </a:cubicBezTo>
                        <a:cubicBezTo>
                          <a:pt x="46" y="97"/>
                          <a:pt x="44" y="99"/>
                          <a:pt x="42" y="101"/>
                        </a:cubicBezTo>
                        <a:cubicBezTo>
                          <a:pt x="40" y="103"/>
                          <a:pt x="38" y="104"/>
                          <a:pt x="37" y="105"/>
                        </a:cubicBezTo>
                        <a:cubicBezTo>
                          <a:pt x="36" y="106"/>
                          <a:pt x="36" y="106"/>
                          <a:pt x="36" y="106"/>
                        </a:cubicBezTo>
                        <a:cubicBezTo>
                          <a:pt x="36" y="106"/>
                          <a:pt x="35" y="106"/>
                          <a:pt x="35" y="106"/>
                        </a:cubicBezTo>
                        <a:cubicBezTo>
                          <a:pt x="35" y="106"/>
                          <a:pt x="34" y="107"/>
                          <a:pt x="33" y="108"/>
                        </a:cubicBezTo>
                        <a:cubicBezTo>
                          <a:pt x="32" y="108"/>
                          <a:pt x="31" y="109"/>
                          <a:pt x="29" y="109"/>
                        </a:cubicBezTo>
                        <a:cubicBezTo>
                          <a:pt x="25" y="109"/>
                          <a:pt x="23" y="108"/>
                          <a:pt x="22" y="107"/>
                        </a:cubicBezTo>
                        <a:cubicBezTo>
                          <a:pt x="21" y="105"/>
                          <a:pt x="20" y="102"/>
                          <a:pt x="18" y="98"/>
                        </a:cubicBezTo>
                        <a:cubicBezTo>
                          <a:pt x="17" y="98"/>
                          <a:pt x="17" y="98"/>
                          <a:pt x="17" y="98"/>
                        </a:cubicBezTo>
                        <a:cubicBezTo>
                          <a:pt x="17" y="99"/>
                          <a:pt x="17" y="100"/>
                          <a:pt x="16" y="100"/>
                        </a:cubicBezTo>
                        <a:cubicBezTo>
                          <a:pt x="16" y="100"/>
                          <a:pt x="15" y="100"/>
                          <a:pt x="12" y="100"/>
                        </a:cubicBezTo>
                        <a:cubicBezTo>
                          <a:pt x="10" y="100"/>
                          <a:pt x="8" y="100"/>
                          <a:pt x="8" y="100"/>
                        </a:cubicBezTo>
                        <a:cubicBezTo>
                          <a:pt x="7" y="100"/>
                          <a:pt x="6" y="99"/>
                          <a:pt x="6" y="96"/>
                        </a:cubicBezTo>
                        <a:cubicBezTo>
                          <a:pt x="4" y="93"/>
                          <a:pt x="3" y="92"/>
                          <a:pt x="2" y="92"/>
                        </a:cubicBezTo>
                        <a:cubicBezTo>
                          <a:pt x="1" y="92"/>
                          <a:pt x="0" y="91"/>
                          <a:pt x="0" y="90"/>
                        </a:cubicBezTo>
                        <a:cubicBezTo>
                          <a:pt x="1" y="74"/>
                          <a:pt x="1" y="74"/>
                          <a:pt x="1" y="74"/>
                        </a:cubicBezTo>
                        <a:cubicBezTo>
                          <a:pt x="0" y="71"/>
                          <a:pt x="0" y="68"/>
                          <a:pt x="0" y="65"/>
                        </a:cubicBezTo>
                        <a:cubicBezTo>
                          <a:pt x="1" y="60"/>
                          <a:pt x="4" y="58"/>
                          <a:pt x="9" y="58"/>
                        </a:cubicBezTo>
                        <a:cubicBezTo>
                          <a:pt x="10" y="58"/>
                          <a:pt x="10" y="58"/>
                          <a:pt x="10" y="58"/>
                        </a:cubicBezTo>
                        <a:cubicBezTo>
                          <a:pt x="9" y="56"/>
                          <a:pt x="8" y="55"/>
                          <a:pt x="8" y="54"/>
                        </a:cubicBezTo>
                        <a:cubicBezTo>
                          <a:pt x="7" y="53"/>
                          <a:pt x="7" y="52"/>
                          <a:pt x="7" y="51"/>
                        </a:cubicBezTo>
                        <a:cubicBezTo>
                          <a:pt x="7" y="48"/>
                          <a:pt x="8" y="46"/>
                          <a:pt x="10" y="43"/>
                        </a:cubicBezTo>
                        <a:cubicBezTo>
                          <a:pt x="12" y="41"/>
                          <a:pt x="15" y="39"/>
                          <a:pt x="18" y="39"/>
                        </a:cubicBezTo>
                        <a:cubicBezTo>
                          <a:pt x="19" y="39"/>
                          <a:pt x="20" y="40"/>
                          <a:pt x="21" y="41"/>
                        </a:cubicBezTo>
                        <a:cubicBezTo>
                          <a:pt x="21" y="36"/>
                          <a:pt x="21" y="34"/>
                          <a:pt x="21" y="34"/>
                        </a:cubicBezTo>
                        <a:cubicBezTo>
                          <a:pt x="22" y="31"/>
                          <a:pt x="23" y="30"/>
                          <a:pt x="25" y="30"/>
                        </a:cubicBezTo>
                        <a:cubicBezTo>
                          <a:pt x="26" y="30"/>
                          <a:pt x="26" y="30"/>
                          <a:pt x="27" y="31"/>
                        </a:cubicBezTo>
                        <a:cubicBezTo>
                          <a:pt x="27" y="31"/>
                          <a:pt x="28" y="32"/>
                          <a:pt x="29" y="32"/>
                        </a:cubicBezTo>
                        <a:cubicBezTo>
                          <a:pt x="37" y="29"/>
                          <a:pt x="40" y="25"/>
                          <a:pt x="38" y="22"/>
                        </a:cubicBezTo>
                        <a:cubicBezTo>
                          <a:pt x="43" y="22"/>
                          <a:pt x="43" y="22"/>
                          <a:pt x="43" y="22"/>
                        </a:cubicBezTo>
                        <a:cubicBezTo>
                          <a:pt x="43" y="19"/>
                          <a:pt x="43" y="17"/>
                          <a:pt x="43" y="15"/>
                        </a:cubicBezTo>
                        <a:cubicBezTo>
                          <a:pt x="44" y="11"/>
                          <a:pt x="46" y="9"/>
                          <a:pt x="51" y="9"/>
                        </a:cubicBezTo>
                        <a:cubicBezTo>
                          <a:pt x="52" y="9"/>
                          <a:pt x="53" y="10"/>
                          <a:pt x="55" y="11"/>
                        </a:cubicBezTo>
                        <a:cubicBezTo>
                          <a:pt x="56" y="13"/>
                          <a:pt x="57" y="14"/>
                          <a:pt x="58" y="14"/>
                        </a:cubicBezTo>
                        <a:cubicBezTo>
                          <a:pt x="60" y="11"/>
                          <a:pt x="61" y="8"/>
                          <a:pt x="63" y="4"/>
                        </a:cubicBezTo>
                        <a:cubicBezTo>
                          <a:pt x="64" y="2"/>
                          <a:pt x="66" y="0"/>
                          <a:pt x="69" y="0"/>
                        </a:cubicBezTo>
                        <a:cubicBezTo>
                          <a:pt x="72" y="1"/>
                          <a:pt x="72" y="1"/>
                          <a:pt x="72" y="1"/>
                        </a:cubicBezTo>
                        <a:cubicBezTo>
                          <a:pt x="75" y="2"/>
                          <a:pt x="77" y="2"/>
                          <a:pt x="78" y="2"/>
                        </a:cubicBezTo>
                        <a:cubicBezTo>
                          <a:pt x="79" y="1"/>
                          <a:pt x="79" y="1"/>
                          <a:pt x="79" y="1"/>
                        </a:cubicBezTo>
                        <a:cubicBezTo>
                          <a:pt x="79" y="1"/>
                          <a:pt x="79" y="1"/>
                          <a:pt x="79" y="1"/>
                        </a:cubicBezTo>
                        <a:cubicBezTo>
                          <a:pt x="81" y="2"/>
                          <a:pt x="84" y="4"/>
                          <a:pt x="88" y="9"/>
                        </a:cubicBezTo>
                        <a:cubicBezTo>
                          <a:pt x="93" y="14"/>
                          <a:pt x="95" y="19"/>
                          <a:pt x="94" y="24"/>
                        </a:cubicBezTo>
                        <a:cubicBezTo>
                          <a:pt x="101" y="23"/>
                          <a:pt x="105" y="24"/>
                          <a:pt x="107" y="26"/>
                        </a:cubicBezTo>
                        <a:cubicBezTo>
                          <a:pt x="109" y="28"/>
                          <a:pt x="110" y="31"/>
                          <a:pt x="110" y="36"/>
                        </a:cubicBezTo>
                        <a:cubicBezTo>
                          <a:pt x="110" y="40"/>
                          <a:pt x="109" y="42"/>
                          <a:pt x="109" y="43"/>
                        </a:cubicBezTo>
                        <a:cubicBezTo>
                          <a:pt x="107" y="45"/>
                          <a:pt x="105" y="48"/>
                          <a:pt x="103" y="50"/>
                        </a:cubicBezTo>
                        <a:cubicBezTo>
                          <a:pt x="106" y="53"/>
                          <a:pt x="106" y="53"/>
                          <a:pt x="106" y="53"/>
                        </a:cubicBezTo>
                        <a:cubicBezTo>
                          <a:pt x="108" y="55"/>
                          <a:pt x="109" y="56"/>
                          <a:pt x="110" y="58"/>
                        </a:cubicBezTo>
                        <a:cubicBezTo>
                          <a:pt x="110" y="59"/>
                          <a:pt x="111" y="60"/>
                          <a:pt x="112" y="62"/>
                        </a:cubicBezTo>
                        <a:cubicBezTo>
                          <a:pt x="113" y="62"/>
                          <a:pt x="114" y="63"/>
                          <a:pt x="116" y="65"/>
                        </a:cubicBezTo>
                        <a:cubicBezTo>
                          <a:pt x="116" y="69"/>
                          <a:pt x="116" y="69"/>
                          <a:pt x="116" y="69"/>
                        </a:cubicBezTo>
                        <a:cubicBezTo>
                          <a:pt x="115" y="69"/>
                          <a:pt x="115" y="69"/>
                          <a:pt x="114" y="69"/>
                        </a:cubicBezTo>
                        <a:cubicBezTo>
                          <a:pt x="114" y="70"/>
                          <a:pt x="114" y="70"/>
                          <a:pt x="114" y="70"/>
                        </a:cubicBezTo>
                        <a:cubicBezTo>
                          <a:pt x="114" y="70"/>
                          <a:pt x="115" y="70"/>
                          <a:pt x="116" y="70"/>
                        </a:cubicBezTo>
                        <a:cubicBezTo>
                          <a:pt x="116" y="69"/>
                          <a:pt x="116" y="69"/>
                          <a:pt x="116" y="69"/>
                        </a:cubicBezTo>
                        <a:cubicBezTo>
                          <a:pt x="119" y="70"/>
                          <a:pt x="120" y="71"/>
                          <a:pt x="121" y="73"/>
                        </a:cubicBezTo>
                        <a:cubicBezTo>
                          <a:pt x="121" y="74"/>
                          <a:pt x="121" y="77"/>
                          <a:pt x="121" y="80"/>
                        </a:cubicBezTo>
                        <a:cubicBezTo>
                          <a:pt x="121" y="83"/>
                          <a:pt x="120" y="87"/>
                          <a:pt x="119" y="92"/>
                        </a:cubicBezTo>
                        <a:cubicBezTo>
                          <a:pt x="119" y="92"/>
                          <a:pt x="119" y="95"/>
                          <a:pt x="121" y="101"/>
                        </a:cubicBezTo>
                        <a:cubicBezTo>
                          <a:pt x="122" y="107"/>
                          <a:pt x="123" y="111"/>
                          <a:pt x="123" y="113"/>
                        </a:cubicBezTo>
                        <a:cubicBezTo>
                          <a:pt x="123" y="117"/>
                          <a:pt x="121" y="118"/>
                          <a:pt x="117" y="118"/>
                        </a:cubicBezTo>
                        <a:cubicBezTo>
                          <a:pt x="117" y="118"/>
                          <a:pt x="116" y="118"/>
                          <a:pt x="116" y="118"/>
                        </a:cubicBezTo>
                        <a:cubicBezTo>
                          <a:pt x="115" y="118"/>
                          <a:pt x="115" y="118"/>
                          <a:pt x="115" y="118"/>
                        </a:cubicBezTo>
                        <a:cubicBezTo>
                          <a:pt x="115" y="118"/>
                          <a:pt x="116" y="119"/>
                          <a:pt x="116" y="119"/>
                        </a:cubicBezTo>
                        <a:cubicBezTo>
                          <a:pt x="117" y="121"/>
                          <a:pt x="117" y="122"/>
                          <a:pt x="117" y="123"/>
                        </a:cubicBezTo>
                        <a:cubicBezTo>
                          <a:pt x="117" y="126"/>
                          <a:pt x="116" y="128"/>
                          <a:pt x="113" y="128"/>
                        </a:cubicBezTo>
                        <a:cubicBezTo>
                          <a:pt x="113" y="128"/>
                          <a:pt x="111" y="128"/>
                          <a:pt x="108" y="128"/>
                        </a:cubicBezTo>
                        <a:cubicBezTo>
                          <a:pt x="104" y="128"/>
                          <a:pt x="101" y="128"/>
                          <a:pt x="99" y="126"/>
                        </a:cubicBezTo>
                        <a:cubicBezTo>
                          <a:pt x="97" y="125"/>
                          <a:pt x="95" y="122"/>
                          <a:pt x="92" y="117"/>
                        </a:cubicBezTo>
                        <a:cubicBezTo>
                          <a:pt x="92" y="117"/>
                          <a:pt x="93" y="117"/>
                          <a:pt x="94" y="117"/>
                        </a:cubicBezTo>
                        <a:cubicBezTo>
                          <a:pt x="93" y="116"/>
                          <a:pt x="93" y="116"/>
                          <a:pt x="92" y="116"/>
                        </a:cubicBezTo>
                        <a:cubicBezTo>
                          <a:pt x="92" y="116"/>
                          <a:pt x="92" y="115"/>
                          <a:pt x="91" y="115"/>
                        </a:cubicBezTo>
                        <a:cubicBezTo>
                          <a:pt x="91" y="115"/>
                          <a:pt x="91" y="115"/>
                          <a:pt x="91" y="115"/>
                        </a:cubicBezTo>
                        <a:cubicBezTo>
                          <a:pt x="89" y="113"/>
                          <a:pt x="87" y="112"/>
                          <a:pt x="86" y="110"/>
                        </a:cubicBezTo>
                        <a:cubicBezTo>
                          <a:pt x="85" y="109"/>
                          <a:pt x="84" y="108"/>
                          <a:pt x="84" y="107"/>
                        </a:cubicBezTo>
                        <a:cubicBezTo>
                          <a:pt x="84" y="106"/>
                          <a:pt x="85" y="106"/>
                          <a:pt x="85" y="105"/>
                        </a:cubicBezTo>
                        <a:cubicBezTo>
                          <a:pt x="85" y="104"/>
                          <a:pt x="86" y="103"/>
                          <a:pt x="86" y="102"/>
                        </a:cubicBezTo>
                        <a:cubicBezTo>
                          <a:pt x="81" y="102"/>
                          <a:pt x="78" y="102"/>
                          <a:pt x="75" y="102"/>
                        </a:cubicBezTo>
                        <a:cubicBezTo>
                          <a:pt x="75" y="102"/>
                          <a:pt x="74" y="102"/>
                          <a:pt x="74" y="102"/>
                        </a:cubicBezTo>
                        <a:cubicBezTo>
                          <a:pt x="71" y="101"/>
                          <a:pt x="68" y="100"/>
                          <a:pt x="68" y="98"/>
                        </a:cubicBezTo>
                        <a:close/>
                      </a:path>
                    </a:pathLst>
                  </a:custGeom>
                  <a:solidFill>
                    <a:schemeClr val="accent1">
                      <a:lumMod val="60000"/>
                      <a:lumOff val="40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16" name="Freeform 10"/>
                  <p:cNvSpPr>
                    <a:spLocks/>
                  </p:cNvSpPr>
                  <p:nvPr/>
                </p:nvSpPr>
                <p:spPr bwMode="auto">
                  <a:xfrm>
                    <a:off x="2194716" y="2207014"/>
                    <a:ext cx="0" cy="4763"/>
                  </a:xfrm>
                  <a:custGeom>
                    <a:avLst/>
                    <a:gdLst>
                      <a:gd name="T0" fmla="*/ 0 h 3"/>
                      <a:gd name="T1" fmla="*/ 0 h 3"/>
                      <a:gd name="T2" fmla="*/ 3 h 3"/>
                      <a:gd name="T3" fmla="*/ 0 h 3"/>
                    </a:gdLst>
                    <a:ahLst/>
                    <a:cxnLst>
                      <a:cxn ang="0">
                        <a:pos x="0" y="T0"/>
                      </a:cxn>
                      <a:cxn ang="0">
                        <a:pos x="0" y="T1"/>
                      </a:cxn>
                      <a:cxn ang="0">
                        <a:pos x="0" y="T2"/>
                      </a:cxn>
                      <a:cxn ang="0">
                        <a:pos x="0" y="T3"/>
                      </a:cxn>
                    </a:cxnLst>
                    <a:rect l="0" t="0" r="r" b="b"/>
                    <a:pathLst>
                      <a:path h="3">
                        <a:moveTo>
                          <a:pt x="0" y="0"/>
                        </a:moveTo>
                        <a:lnTo>
                          <a:pt x="0" y="0"/>
                        </a:lnTo>
                        <a:lnTo>
                          <a:pt x="0" y="3"/>
                        </a:lnTo>
                        <a:lnTo>
                          <a:pt x="0" y="0"/>
                        </a:lnTo>
                        <a:close/>
                      </a:path>
                    </a:pathLst>
                  </a:custGeom>
                  <a:solidFill>
                    <a:srgbClr val="0099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17" name="Freeform 11"/>
                  <p:cNvSpPr>
                    <a:spLocks/>
                  </p:cNvSpPr>
                  <p:nvPr/>
                </p:nvSpPr>
                <p:spPr bwMode="auto">
                  <a:xfrm>
                    <a:off x="1799428" y="1984764"/>
                    <a:ext cx="7938" cy="4763"/>
                  </a:xfrm>
                  <a:custGeom>
                    <a:avLst/>
                    <a:gdLst>
                      <a:gd name="T0" fmla="*/ 2 w 2"/>
                      <a:gd name="T1" fmla="*/ 1 h 1"/>
                      <a:gd name="T2" fmla="*/ 0 w 2"/>
                      <a:gd name="T3" fmla="*/ 0 h 1"/>
                      <a:gd name="T4" fmla="*/ 0 w 2"/>
                      <a:gd name="T5" fmla="*/ 0 h 1"/>
                      <a:gd name="T6" fmla="*/ 1 w 2"/>
                      <a:gd name="T7" fmla="*/ 1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0"/>
                          <a:pt x="1" y="0"/>
                          <a:pt x="0" y="0"/>
                        </a:cubicBezTo>
                        <a:cubicBezTo>
                          <a:pt x="0" y="0"/>
                          <a:pt x="0" y="0"/>
                          <a:pt x="0" y="0"/>
                        </a:cubicBezTo>
                        <a:cubicBezTo>
                          <a:pt x="1" y="0"/>
                          <a:pt x="1" y="1"/>
                          <a:pt x="1" y="1"/>
                        </a:cubicBezTo>
                        <a:lnTo>
                          <a:pt x="2" y="1"/>
                        </a:lnTo>
                        <a:close/>
                      </a:path>
                    </a:pathLst>
                  </a:custGeom>
                  <a:solidFill>
                    <a:srgbClr val="0099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nvGrpSpPr>
                <p:cNvPr id="407" name="Group 406"/>
                <p:cNvGrpSpPr/>
                <p:nvPr/>
              </p:nvGrpSpPr>
              <p:grpSpPr>
                <a:xfrm rot="2221088">
                  <a:off x="1966196" y="2964897"/>
                  <a:ext cx="299102" cy="599278"/>
                  <a:chOff x="2453478" y="1706952"/>
                  <a:chExt cx="441326" cy="884238"/>
                </a:xfrm>
              </p:grpSpPr>
              <p:sp>
                <p:nvSpPr>
                  <p:cNvPr id="412" name="Freeform 5"/>
                  <p:cNvSpPr>
                    <a:spLocks/>
                  </p:cNvSpPr>
                  <p:nvPr/>
                </p:nvSpPr>
                <p:spPr bwMode="auto">
                  <a:xfrm>
                    <a:off x="2453478" y="2319727"/>
                    <a:ext cx="125413" cy="271463"/>
                  </a:xfrm>
                  <a:custGeom>
                    <a:avLst/>
                    <a:gdLst>
                      <a:gd name="T0" fmla="*/ 15 w 33"/>
                      <a:gd name="T1" fmla="*/ 0 h 72"/>
                      <a:gd name="T2" fmla="*/ 23 w 33"/>
                      <a:gd name="T3" fmla="*/ 12 h 72"/>
                      <a:gd name="T4" fmla="*/ 33 w 33"/>
                      <a:gd name="T5" fmla="*/ 5 h 72"/>
                      <a:gd name="T6" fmla="*/ 22 w 33"/>
                      <a:gd name="T7" fmla="*/ 39 h 72"/>
                      <a:gd name="T8" fmla="*/ 24 w 33"/>
                      <a:gd name="T9" fmla="*/ 59 h 72"/>
                      <a:gd name="T10" fmla="*/ 30 w 33"/>
                      <a:gd name="T11" fmla="*/ 72 h 72"/>
                      <a:gd name="T12" fmla="*/ 30 w 33"/>
                      <a:gd name="T13" fmla="*/ 72 h 72"/>
                      <a:gd name="T14" fmla="*/ 14 w 33"/>
                      <a:gd name="T15" fmla="*/ 64 h 72"/>
                      <a:gd name="T16" fmla="*/ 0 w 33"/>
                      <a:gd name="T17" fmla="*/ 57 h 72"/>
                      <a:gd name="T18" fmla="*/ 9 w 33"/>
                      <a:gd name="T19" fmla="*/ 36 h 72"/>
                      <a:gd name="T20" fmla="*/ 15 w 33"/>
                      <a:gd name="T21" fmla="*/ 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72">
                        <a:moveTo>
                          <a:pt x="15" y="0"/>
                        </a:moveTo>
                        <a:cubicBezTo>
                          <a:pt x="20" y="7"/>
                          <a:pt x="23" y="11"/>
                          <a:pt x="23" y="12"/>
                        </a:cubicBezTo>
                        <a:cubicBezTo>
                          <a:pt x="26" y="9"/>
                          <a:pt x="29" y="7"/>
                          <a:pt x="33" y="5"/>
                        </a:cubicBezTo>
                        <a:cubicBezTo>
                          <a:pt x="26" y="12"/>
                          <a:pt x="22" y="23"/>
                          <a:pt x="22" y="39"/>
                        </a:cubicBezTo>
                        <a:cubicBezTo>
                          <a:pt x="22" y="48"/>
                          <a:pt x="23" y="55"/>
                          <a:pt x="24" y="59"/>
                        </a:cubicBezTo>
                        <a:cubicBezTo>
                          <a:pt x="25" y="62"/>
                          <a:pt x="27" y="67"/>
                          <a:pt x="30" y="72"/>
                        </a:cubicBezTo>
                        <a:cubicBezTo>
                          <a:pt x="30" y="72"/>
                          <a:pt x="30" y="72"/>
                          <a:pt x="30" y="72"/>
                        </a:cubicBezTo>
                        <a:cubicBezTo>
                          <a:pt x="28" y="71"/>
                          <a:pt x="23" y="68"/>
                          <a:pt x="14" y="64"/>
                        </a:cubicBezTo>
                        <a:cubicBezTo>
                          <a:pt x="5" y="59"/>
                          <a:pt x="1" y="57"/>
                          <a:pt x="0" y="57"/>
                        </a:cubicBezTo>
                        <a:cubicBezTo>
                          <a:pt x="4" y="53"/>
                          <a:pt x="7" y="46"/>
                          <a:pt x="9" y="36"/>
                        </a:cubicBezTo>
                        <a:cubicBezTo>
                          <a:pt x="12" y="25"/>
                          <a:pt x="14" y="13"/>
                          <a:pt x="15" y="0"/>
                        </a:cubicBezTo>
                        <a:close/>
                      </a:path>
                    </a:pathLst>
                  </a:custGeom>
                  <a:solidFill>
                    <a:srgbClr val="663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13" name="Freeform 12"/>
                  <p:cNvSpPr>
                    <a:spLocks/>
                  </p:cNvSpPr>
                  <p:nvPr/>
                </p:nvSpPr>
                <p:spPr bwMode="auto">
                  <a:xfrm>
                    <a:off x="2461416" y="1706952"/>
                    <a:ext cx="433388" cy="658813"/>
                  </a:xfrm>
                  <a:custGeom>
                    <a:avLst/>
                    <a:gdLst>
                      <a:gd name="T0" fmla="*/ 31 w 115"/>
                      <a:gd name="T1" fmla="*/ 168 h 175"/>
                      <a:gd name="T2" fmla="*/ 21 w 115"/>
                      <a:gd name="T3" fmla="*/ 175 h 175"/>
                      <a:gd name="T4" fmla="*/ 13 w 115"/>
                      <a:gd name="T5" fmla="*/ 163 h 175"/>
                      <a:gd name="T6" fmla="*/ 11 w 115"/>
                      <a:gd name="T7" fmla="*/ 160 h 175"/>
                      <a:gd name="T8" fmla="*/ 0 w 115"/>
                      <a:gd name="T9" fmla="*/ 144 h 175"/>
                      <a:gd name="T10" fmla="*/ 1 w 115"/>
                      <a:gd name="T11" fmla="*/ 141 h 175"/>
                      <a:gd name="T12" fmla="*/ 5 w 115"/>
                      <a:gd name="T13" fmla="*/ 139 h 175"/>
                      <a:gd name="T14" fmla="*/ 14 w 115"/>
                      <a:gd name="T15" fmla="*/ 134 h 175"/>
                      <a:gd name="T16" fmla="*/ 16 w 115"/>
                      <a:gd name="T17" fmla="*/ 130 h 175"/>
                      <a:gd name="T18" fmla="*/ 13 w 115"/>
                      <a:gd name="T19" fmla="*/ 123 h 175"/>
                      <a:gd name="T20" fmla="*/ 10 w 115"/>
                      <a:gd name="T21" fmla="*/ 118 h 175"/>
                      <a:gd name="T22" fmla="*/ 13 w 115"/>
                      <a:gd name="T23" fmla="*/ 115 h 175"/>
                      <a:gd name="T24" fmla="*/ 15 w 115"/>
                      <a:gd name="T25" fmla="*/ 111 h 175"/>
                      <a:gd name="T26" fmla="*/ 11 w 115"/>
                      <a:gd name="T27" fmla="*/ 105 h 175"/>
                      <a:gd name="T28" fmla="*/ 7 w 115"/>
                      <a:gd name="T29" fmla="*/ 98 h 175"/>
                      <a:gd name="T30" fmla="*/ 13 w 115"/>
                      <a:gd name="T31" fmla="*/ 86 h 175"/>
                      <a:gd name="T32" fmla="*/ 19 w 115"/>
                      <a:gd name="T33" fmla="*/ 81 h 175"/>
                      <a:gd name="T34" fmla="*/ 15 w 115"/>
                      <a:gd name="T35" fmla="*/ 73 h 175"/>
                      <a:gd name="T36" fmla="*/ 11 w 115"/>
                      <a:gd name="T37" fmla="*/ 61 h 175"/>
                      <a:gd name="T38" fmla="*/ 24 w 115"/>
                      <a:gd name="T39" fmla="*/ 48 h 175"/>
                      <a:gd name="T40" fmla="*/ 22 w 115"/>
                      <a:gd name="T41" fmla="*/ 38 h 175"/>
                      <a:gd name="T42" fmla="*/ 23 w 115"/>
                      <a:gd name="T43" fmla="*/ 26 h 175"/>
                      <a:gd name="T44" fmla="*/ 36 w 115"/>
                      <a:gd name="T45" fmla="*/ 23 h 175"/>
                      <a:gd name="T46" fmla="*/ 47 w 115"/>
                      <a:gd name="T47" fmla="*/ 23 h 175"/>
                      <a:gd name="T48" fmla="*/ 46 w 115"/>
                      <a:gd name="T49" fmla="*/ 22 h 175"/>
                      <a:gd name="T50" fmla="*/ 46 w 115"/>
                      <a:gd name="T51" fmla="*/ 18 h 175"/>
                      <a:gd name="T52" fmla="*/ 48 w 115"/>
                      <a:gd name="T53" fmla="*/ 11 h 175"/>
                      <a:gd name="T54" fmla="*/ 52 w 115"/>
                      <a:gd name="T55" fmla="*/ 5 h 175"/>
                      <a:gd name="T56" fmla="*/ 56 w 115"/>
                      <a:gd name="T57" fmla="*/ 3 h 175"/>
                      <a:gd name="T58" fmla="*/ 69 w 115"/>
                      <a:gd name="T59" fmla="*/ 0 h 175"/>
                      <a:gd name="T60" fmla="*/ 82 w 115"/>
                      <a:gd name="T61" fmla="*/ 2 h 175"/>
                      <a:gd name="T62" fmla="*/ 95 w 115"/>
                      <a:gd name="T63" fmla="*/ 13 h 175"/>
                      <a:gd name="T64" fmla="*/ 92 w 115"/>
                      <a:gd name="T65" fmla="*/ 25 h 175"/>
                      <a:gd name="T66" fmla="*/ 89 w 115"/>
                      <a:gd name="T67" fmla="*/ 33 h 175"/>
                      <a:gd name="T68" fmla="*/ 95 w 115"/>
                      <a:gd name="T69" fmla="*/ 50 h 175"/>
                      <a:gd name="T70" fmla="*/ 104 w 115"/>
                      <a:gd name="T71" fmla="*/ 54 h 175"/>
                      <a:gd name="T72" fmla="*/ 112 w 115"/>
                      <a:gd name="T73" fmla="*/ 63 h 175"/>
                      <a:gd name="T74" fmla="*/ 115 w 115"/>
                      <a:gd name="T75" fmla="*/ 77 h 175"/>
                      <a:gd name="T76" fmla="*/ 109 w 115"/>
                      <a:gd name="T77" fmla="*/ 94 h 175"/>
                      <a:gd name="T78" fmla="*/ 94 w 115"/>
                      <a:gd name="T79" fmla="*/ 102 h 175"/>
                      <a:gd name="T80" fmla="*/ 98 w 115"/>
                      <a:gd name="T81" fmla="*/ 107 h 175"/>
                      <a:gd name="T82" fmla="*/ 99 w 115"/>
                      <a:gd name="T83" fmla="*/ 111 h 175"/>
                      <a:gd name="T84" fmla="*/ 98 w 115"/>
                      <a:gd name="T85" fmla="*/ 117 h 175"/>
                      <a:gd name="T86" fmla="*/ 93 w 115"/>
                      <a:gd name="T87" fmla="*/ 125 h 175"/>
                      <a:gd name="T88" fmla="*/ 86 w 115"/>
                      <a:gd name="T89" fmla="*/ 127 h 175"/>
                      <a:gd name="T90" fmla="*/ 83 w 115"/>
                      <a:gd name="T91" fmla="*/ 130 h 175"/>
                      <a:gd name="T92" fmla="*/ 84 w 115"/>
                      <a:gd name="T93" fmla="*/ 135 h 175"/>
                      <a:gd name="T94" fmla="*/ 81 w 115"/>
                      <a:gd name="T95" fmla="*/ 143 h 175"/>
                      <a:gd name="T96" fmla="*/ 76 w 115"/>
                      <a:gd name="T97" fmla="*/ 146 h 175"/>
                      <a:gd name="T98" fmla="*/ 69 w 115"/>
                      <a:gd name="T99" fmla="*/ 152 h 175"/>
                      <a:gd name="T100" fmla="*/ 63 w 115"/>
                      <a:gd name="T101" fmla="*/ 159 h 175"/>
                      <a:gd name="T102" fmla="*/ 49 w 115"/>
                      <a:gd name="T103" fmla="*/ 161 h 175"/>
                      <a:gd name="T104" fmla="*/ 34 w 115"/>
                      <a:gd name="T105" fmla="*/ 166 h 175"/>
                      <a:gd name="T106" fmla="*/ 31 w 115"/>
                      <a:gd name="T107" fmla="*/ 16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75">
                        <a:moveTo>
                          <a:pt x="31" y="168"/>
                        </a:moveTo>
                        <a:cubicBezTo>
                          <a:pt x="27" y="170"/>
                          <a:pt x="24" y="172"/>
                          <a:pt x="21" y="175"/>
                        </a:cubicBezTo>
                        <a:cubicBezTo>
                          <a:pt x="21" y="174"/>
                          <a:pt x="18" y="170"/>
                          <a:pt x="13" y="163"/>
                        </a:cubicBezTo>
                        <a:cubicBezTo>
                          <a:pt x="12" y="162"/>
                          <a:pt x="11" y="161"/>
                          <a:pt x="11" y="160"/>
                        </a:cubicBezTo>
                        <a:cubicBezTo>
                          <a:pt x="4" y="151"/>
                          <a:pt x="0" y="146"/>
                          <a:pt x="0" y="144"/>
                        </a:cubicBezTo>
                        <a:cubicBezTo>
                          <a:pt x="0" y="143"/>
                          <a:pt x="0" y="142"/>
                          <a:pt x="1" y="141"/>
                        </a:cubicBezTo>
                        <a:cubicBezTo>
                          <a:pt x="1" y="141"/>
                          <a:pt x="2" y="140"/>
                          <a:pt x="5" y="139"/>
                        </a:cubicBezTo>
                        <a:cubicBezTo>
                          <a:pt x="8" y="137"/>
                          <a:pt x="11" y="136"/>
                          <a:pt x="14" y="134"/>
                        </a:cubicBezTo>
                        <a:cubicBezTo>
                          <a:pt x="15" y="134"/>
                          <a:pt x="16" y="132"/>
                          <a:pt x="16" y="130"/>
                        </a:cubicBezTo>
                        <a:cubicBezTo>
                          <a:pt x="16" y="128"/>
                          <a:pt x="15" y="126"/>
                          <a:pt x="13" y="123"/>
                        </a:cubicBezTo>
                        <a:cubicBezTo>
                          <a:pt x="11" y="121"/>
                          <a:pt x="10" y="119"/>
                          <a:pt x="10" y="118"/>
                        </a:cubicBezTo>
                        <a:cubicBezTo>
                          <a:pt x="10" y="118"/>
                          <a:pt x="11" y="117"/>
                          <a:pt x="13" y="115"/>
                        </a:cubicBezTo>
                        <a:cubicBezTo>
                          <a:pt x="14" y="114"/>
                          <a:pt x="15" y="113"/>
                          <a:pt x="15" y="111"/>
                        </a:cubicBezTo>
                        <a:cubicBezTo>
                          <a:pt x="15" y="109"/>
                          <a:pt x="14" y="107"/>
                          <a:pt x="11" y="105"/>
                        </a:cubicBezTo>
                        <a:cubicBezTo>
                          <a:pt x="8" y="102"/>
                          <a:pt x="7" y="100"/>
                          <a:pt x="7" y="98"/>
                        </a:cubicBezTo>
                        <a:cubicBezTo>
                          <a:pt x="7" y="92"/>
                          <a:pt x="9" y="87"/>
                          <a:pt x="13" y="86"/>
                        </a:cubicBezTo>
                        <a:cubicBezTo>
                          <a:pt x="17" y="84"/>
                          <a:pt x="19" y="83"/>
                          <a:pt x="19" y="81"/>
                        </a:cubicBezTo>
                        <a:cubicBezTo>
                          <a:pt x="19" y="79"/>
                          <a:pt x="18" y="76"/>
                          <a:pt x="15" y="73"/>
                        </a:cubicBezTo>
                        <a:cubicBezTo>
                          <a:pt x="12" y="69"/>
                          <a:pt x="11" y="65"/>
                          <a:pt x="11" y="61"/>
                        </a:cubicBezTo>
                        <a:cubicBezTo>
                          <a:pt x="11" y="52"/>
                          <a:pt x="15" y="47"/>
                          <a:pt x="24" y="48"/>
                        </a:cubicBezTo>
                        <a:cubicBezTo>
                          <a:pt x="23" y="46"/>
                          <a:pt x="22" y="43"/>
                          <a:pt x="22" y="38"/>
                        </a:cubicBezTo>
                        <a:cubicBezTo>
                          <a:pt x="22" y="31"/>
                          <a:pt x="23" y="27"/>
                          <a:pt x="23" y="26"/>
                        </a:cubicBezTo>
                        <a:cubicBezTo>
                          <a:pt x="25" y="24"/>
                          <a:pt x="29" y="23"/>
                          <a:pt x="36" y="23"/>
                        </a:cubicBezTo>
                        <a:cubicBezTo>
                          <a:pt x="36" y="23"/>
                          <a:pt x="40" y="23"/>
                          <a:pt x="47" y="23"/>
                        </a:cubicBezTo>
                        <a:cubicBezTo>
                          <a:pt x="47" y="23"/>
                          <a:pt x="46" y="22"/>
                          <a:pt x="46" y="22"/>
                        </a:cubicBezTo>
                        <a:cubicBezTo>
                          <a:pt x="46" y="21"/>
                          <a:pt x="46" y="20"/>
                          <a:pt x="46" y="18"/>
                        </a:cubicBezTo>
                        <a:cubicBezTo>
                          <a:pt x="46" y="15"/>
                          <a:pt x="47" y="13"/>
                          <a:pt x="48" y="11"/>
                        </a:cubicBezTo>
                        <a:cubicBezTo>
                          <a:pt x="49" y="8"/>
                          <a:pt x="50" y="6"/>
                          <a:pt x="52" y="5"/>
                        </a:cubicBezTo>
                        <a:cubicBezTo>
                          <a:pt x="53" y="5"/>
                          <a:pt x="55" y="4"/>
                          <a:pt x="56" y="3"/>
                        </a:cubicBezTo>
                        <a:cubicBezTo>
                          <a:pt x="58" y="1"/>
                          <a:pt x="62" y="0"/>
                          <a:pt x="69" y="0"/>
                        </a:cubicBezTo>
                        <a:cubicBezTo>
                          <a:pt x="69" y="0"/>
                          <a:pt x="73" y="1"/>
                          <a:pt x="82" y="2"/>
                        </a:cubicBezTo>
                        <a:cubicBezTo>
                          <a:pt x="91" y="5"/>
                          <a:pt x="95" y="8"/>
                          <a:pt x="95" y="13"/>
                        </a:cubicBezTo>
                        <a:cubicBezTo>
                          <a:pt x="95" y="18"/>
                          <a:pt x="94" y="22"/>
                          <a:pt x="92" y="25"/>
                        </a:cubicBezTo>
                        <a:cubicBezTo>
                          <a:pt x="90" y="28"/>
                          <a:pt x="89" y="30"/>
                          <a:pt x="89" y="33"/>
                        </a:cubicBezTo>
                        <a:cubicBezTo>
                          <a:pt x="89" y="42"/>
                          <a:pt x="91" y="47"/>
                          <a:pt x="95" y="50"/>
                        </a:cubicBezTo>
                        <a:cubicBezTo>
                          <a:pt x="97" y="52"/>
                          <a:pt x="100" y="53"/>
                          <a:pt x="104" y="54"/>
                        </a:cubicBezTo>
                        <a:cubicBezTo>
                          <a:pt x="108" y="58"/>
                          <a:pt x="111" y="61"/>
                          <a:pt x="112" y="63"/>
                        </a:cubicBezTo>
                        <a:cubicBezTo>
                          <a:pt x="114" y="67"/>
                          <a:pt x="115" y="71"/>
                          <a:pt x="115" y="77"/>
                        </a:cubicBezTo>
                        <a:cubicBezTo>
                          <a:pt x="115" y="85"/>
                          <a:pt x="113" y="90"/>
                          <a:pt x="109" y="94"/>
                        </a:cubicBezTo>
                        <a:cubicBezTo>
                          <a:pt x="107" y="95"/>
                          <a:pt x="102" y="98"/>
                          <a:pt x="94" y="102"/>
                        </a:cubicBezTo>
                        <a:cubicBezTo>
                          <a:pt x="96" y="104"/>
                          <a:pt x="98" y="105"/>
                          <a:pt x="98" y="107"/>
                        </a:cubicBezTo>
                        <a:cubicBezTo>
                          <a:pt x="99" y="107"/>
                          <a:pt x="99" y="109"/>
                          <a:pt x="99" y="111"/>
                        </a:cubicBezTo>
                        <a:cubicBezTo>
                          <a:pt x="99" y="114"/>
                          <a:pt x="98" y="116"/>
                          <a:pt x="98" y="117"/>
                        </a:cubicBezTo>
                        <a:cubicBezTo>
                          <a:pt x="97" y="119"/>
                          <a:pt x="95" y="122"/>
                          <a:pt x="93" y="125"/>
                        </a:cubicBezTo>
                        <a:cubicBezTo>
                          <a:pt x="92" y="126"/>
                          <a:pt x="89" y="127"/>
                          <a:pt x="86" y="127"/>
                        </a:cubicBezTo>
                        <a:cubicBezTo>
                          <a:pt x="84" y="127"/>
                          <a:pt x="83" y="128"/>
                          <a:pt x="83" y="130"/>
                        </a:cubicBezTo>
                        <a:cubicBezTo>
                          <a:pt x="84" y="135"/>
                          <a:pt x="84" y="135"/>
                          <a:pt x="84" y="135"/>
                        </a:cubicBezTo>
                        <a:cubicBezTo>
                          <a:pt x="84" y="138"/>
                          <a:pt x="83" y="141"/>
                          <a:pt x="81" y="143"/>
                        </a:cubicBezTo>
                        <a:cubicBezTo>
                          <a:pt x="78" y="144"/>
                          <a:pt x="76" y="145"/>
                          <a:pt x="76" y="146"/>
                        </a:cubicBezTo>
                        <a:cubicBezTo>
                          <a:pt x="73" y="148"/>
                          <a:pt x="70" y="150"/>
                          <a:pt x="69" y="152"/>
                        </a:cubicBezTo>
                        <a:cubicBezTo>
                          <a:pt x="67" y="154"/>
                          <a:pt x="65" y="157"/>
                          <a:pt x="63" y="159"/>
                        </a:cubicBezTo>
                        <a:cubicBezTo>
                          <a:pt x="63" y="159"/>
                          <a:pt x="58" y="160"/>
                          <a:pt x="49" y="161"/>
                        </a:cubicBezTo>
                        <a:cubicBezTo>
                          <a:pt x="44" y="162"/>
                          <a:pt x="39" y="164"/>
                          <a:pt x="34" y="166"/>
                        </a:cubicBezTo>
                        <a:cubicBezTo>
                          <a:pt x="33" y="167"/>
                          <a:pt x="32" y="167"/>
                          <a:pt x="31" y="168"/>
                        </a:cubicBezTo>
                        <a:close/>
                      </a:path>
                    </a:pathLst>
                  </a:custGeom>
                  <a:solidFill>
                    <a:srgbClr val="339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nvGrpSpPr>
                <p:cNvPr id="408" name="Group 407"/>
                <p:cNvGrpSpPr/>
                <p:nvPr/>
              </p:nvGrpSpPr>
              <p:grpSpPr>
                <a:xfrm rot="1510935">
                  <a:off x="1543570" y="2621206"/>
                  <a:ext cx="387574" cy="556517"/>
                  <a:chOff x="8613775" y="2378075"/>
                  <a:chExt cx="681038" cy="977901"/>
                </a:xfrm>
              </p:grpSpPr>
              <p:sp>
                <p:nvSpPr>
                  <p:cNvPr id="410" name="Freeform 7"/>
                  <p:cNvSpPr>
                    <a:spLocks/>
                  </p:cNvSpPr>
                  <p:nvPr/>
                </p:nvSpPr>
                <p:spPr bwMode="auto">
                  <a:xfrm>
                    <a:off x="8789988" y="3062288"/>
                    <a:ext cx="271463" cy="293688"/>
                  </a:xfrm>
                  <a:custGeom>
                    <a:avLst/>
                    <a:gdLst>
                      <a:gd name="T0" fmla="*/ 69 w 72"/>
                      <a:gd name="T1" fmla="*/ 21 h 78"/>
                      <a:gd name="T2" fmla="*/ 72 w 72"/>
                      <a:gd name="T3" fmla="*/ 23 h 78"/>
                      <a:gd name="T4" fmla="*/ 68 w 72"/>
                      <a:gd name="T5" fmla="*/ 31 h 78"/>
                      <a:gd name="T6" fmla="*/ 37 w 72"/>
                      <a:gd name="T7" fmla="*/ 40 h 78"/>
                      <a:gd name="T8" fmla="*/ 27 w 72"/>
                      <a:gd name="T9" fmla="*/ 78 h 78"/>
                      <a:gd name="T10" fmla="*/ 0 w 72"/>
                      <a:gd name="T11" fmla="*/ 78 h 78"/>
                      <a:gd name="T12" fmla="*/ 18 w 72"/>
                      <a:gd name="T13" fmla="*/ 41 h 78"/>
                      <a:gd name="T14" fmla="*/ 18 w 72"/>
                      <a:gd name="T15" fmla="*/ 0 h 78"/>
                      <a:gd name="T16" fmla="*/ 27 w 72"/>
                      <a:gd name="T17" fmla="*/ 4 h 78"/>
                      <a:gd name="T18" fmla="*/ 35 w 72"/>
                      <a:gd name="T19" fmla="*/ 6 h 78"/>
                      <a:gd name="T20" fmla="*/ 38 w 72"/>
                      <a:gd name="T21" fmla="*/ 25 h 78"/>
                      <a:gd name="T22" fmla="*/ 52 w 72"/>
                      <a:gd name="T23" fmla="*/ 18 h 78"/>
                      <a:gd name="T24" fmla="*/ 38 w 72"/>
                      <a:gd name="T25" fmla="*/ 31 h 78"/>
                      <a:gd name="T26" fmla="*/ 69 w 72"/>
                      <a:gd name="T27" fmla="*/ 2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78">
                        <a:moveTo>
                          <a:pt x="69" y="21"/>
                        </a:moveTo>
                        <a:cubicBezTo>
                          <a:pt x="69" y="21"/>
                          <a:pt x="70" y="22"/>
                          <a:pt x="72" y="23"/>
                        </a:cubicBezTo>
                        <a:cubicBezTo>
                          <a:pt x="68" y="25"/>
                          <a:pt x="67" y="27"/>
                          <a:pt x="68" y="31"/>
                        </a:cubicBezTo>
                        <a:cubicBezTo>
                          <a:pt x="55" y="41"/>
                          <a:pt x="45" y="44"/>
                          <a:pt x="37" y="40"/>
                        </a:cubicBezTo>
                        <a:cubicBezTo>
                          <a:pt x="36" y="53"/>
                          <a:pt x="32" y="65"/>
                          <a:pt x="27" y="78"/>
                        </a:cubicBezTo>
                        <a:cubicBezTo>
                          <a:pt x="0" y="78"/>
                          <a:pt x="0" y="78"/>
                          <a:pt x="0" y="78"/>
                        </a:cubicBezTo>
                        <a:cubicBezTo>
                          <a:pt x="18" y="41"/>
                          <a:pt x="18" y="41"/>
                          <a:pt x="18" y="41"/>
                        </a:cubicBezTo>
                        <a:cubicBezTo>
                          <a:pt x="22" y="30"/>
                          <a:pt x="22" y="16"/>
                          <a:pt x="18" y="0"/>
                        </a:cubicBezTo>
                        <a:cubicBezTo>
                          <a:pt x="21" y="2"/>
                          <a:pt x="24" y="3"/>
                          <a:pt x="27" y="4"/>
                        </a:cubicBezTo>
                        <a:cubicBezTo>
                          <a:pt x="30" y="5"/>
                          <a:pt x="32" y="6"/>
                          <a:pt x="35" y="6"/>
                        </a:cubicBezTo>
                        <a:cubicBezTo>
                          <a:pt x="36" y="12"/>
                          <a:pt x="37" y="19"/>
                          <a:pt x="38" y="25"/>
                        </a:cubicBezTo>
                        <a:cubicBezTo>
                          <a:pt x="52" y="18"/>
                          <a:pt x="52" y="18"/>
                          <a:pt x="52" y="18"/>
                        </a:cubicBezTo>
                        <a:cubicBezTo>
                          <a:pt x="38" y="31"/>
                          <a:pt x="38" y="31"/>
                          <a:pt x="38" y="31"/>
                        </a:cubicBezTo>
                        <a:cubicBezTo>
                          <a:pt x="48" y="37"/>
                          <a:pt x="58" y="33"/>
                          <a:pt x="69" y="21"/>
                        </a:cubicBezTo>
                        <a:close/>
                      </a:path>
                    </a:pathLst>
                  </a:custGeom>
                  <a:solidFill>
                    <a:srgbClr val="6633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11" name="Freeform 8"/>
                  <p:cNvSpPr>
                    <a:spLocks noEditPoints="1"/>
                  </p:cNvSpPr>
                  <p:nvPr/>
                </p:nvSpPr>
                <p:spPr bwMode="auto">
                  <a:xfrm>
                    <a:off x="8613775" y="2378075"/>
                    <a:ext cx="681038" cy="862013"/>
                  </a:xfrm>
                  <a:custGeom>
                    <a:avLst/>
                    <a:gdLst>
                      <a:gd name="T0" fmla="*/ 65 w 181"/>
                      <a:gd name="T1" fmla="*/ 182 h 229"/>
                      <a:gd name="T2" fmla="*/ 44 w 181"/>
                      <a:gd name="T3" fmla="*/ 144 h 229"/>
                      <a:gd name="T4" fmla="*/ 7 w 181"/>
                      <a:gd name="T5" fmla="*/ 127 h 229"/>
                      <a:gd name="T6" fmla="*/ 9 w 181"/>
                      <a:gd name="T7" fmla="*/ 90 h 229"/>
                      <a:gd name="T8" fmla="*/ 49 w 181"/>
                      <a:gd name="T9" fmla="*/ 67 h 229"/>
                      <a:gd name="T10" fmla="*/ 60 w 181"/>
                      <a:gd name="T11" fmla="*/ 45 h 229"/>
                      <a:gd name="T12" fmla="*/ 84 w 181"/>
                      <a:gd name="T13" fmla="*/ 35 h 229"/>
                      <a:gd name="T14" fmla="*/ 140 w 181"/>
                      <a:gd name="T15" fmla="*/ 14 h 229"/>
                      <a:gd name="T16" fmla="*/ 158 w 181"/>
                      <a:gd name="T17" fmla="*/ 49 h 229"/>
                      <a:gd name="T18" fmla="*/ 155 w 181"/>
                      <a:gd name="T19" fmla="*/ 98 h 229"/>
                      <a:gd name="T20" fmla="*/ 148 w 181"/>
                      <a:gd name="T21" fmla="*/ 155 h 229"/>
                      <a:gd name="T22" fmla="*/ 127 w 181"/>
                      <a:gd name="T23" fmla="*/ 169 h 229"/>
                      <a:gd name="T24" fmla="*/ 105 w 181"/>
                      <a:gd name="T25" fmla="*/ 179 h 229"/>
                      <a:gd name="T26" fmla="*/ 82 w 181"/>
                      <a:gd name="T27" fmla="*/ 188 h 229"/>
                      <a:gd name="T28" fmla="*/ 74 w 181"/>
                      <a:gd name="T29" fmla="*/ 186 h 229"/>
                      <a:gd name="T30" fmla="*/ 65 w 181"/>
                      <a:gd name="T31" fmla="*/ 182 h 229"/>
                      <a:gd name="T32" fmla="*/ 115 w 181"/>
                      <a:gd name="T33" fmla="*/ 213 h 229"/>
                      <a:gd name="T34" fmla="*/ 119 w 181"/>
                      <a:gd name="T35" fmla="*/ 205 h 229"/>
                      <a:gd name="T36" fmla="*/ 116 w 181"/>
                      <a:gd name="T37" fmla="*/ 203 h 229"/>
                      <a:gd name="T38" fmla="*/ 115 w 181"/>
                      <a:gd name="T39" fmla="*/ 195 h 229"/>
                      <a:gd name="T40" fmla="*/ 122 w 181"/>
                      <a:gd name="T41" fmla="*/ 189 h 229"/>
                      <a:gd name="T42" fmla="*/ 134 w 181"/>
                      <a:gd name="T43" fmla="*/ 192 h 229"/>
                      <a:gd name="T44" fmla="*/ 140 w 181"/>
                      <a:gd name="T45" fmla="*/ 190 h 229"/>
                      <a:gd name="T46" fmla="*/ 146 w 181"/>
                      <a:gd name="T47" fmla="*/ 192 h 229"/>
                      <a:gd name="T48" fmla="*/ 153 w 181"/>
                      <a:gd name="T49" fmla="*/ 192 h 229"/>
                      <a:gd name="T50" fmla="*/ 160 w 181"/>
                      <a:gd name="T51" fmla="*/ 199 h 229"/>
                      <a:gd name="T52" fmla="*/ 157 w 181"/>
                      <a:gd name="T53" fmla="*/ 208 h 229"/>
                      <a:gd name="T54" fmla="*/ 147 w 181"/>
                      <a:gd name="T55" fmla="*/ 217 h 229"/>
                      <a:gd name="T56" fmla="*/ 146 w 181"/>
                      <a:gd name="T57" fmla="*/ 221 h 229"/>
                      <a:gd name="T58" fmla="*/ 136 w 181"/>
                      <a:gd name="T59" fmla="*/ 226 h 229"/>
                      <a:gd name="T60" fmla="*/ 129 w 181"/>
                      <a:gd name="T61" fmla="*/ 225 h 229"/>
                      <a:gd name="T62" fmla="*/ 123 w 181"/>
                      <a:gd name="T63" fmla="*/ 223 h 229"/>
                      <a:gd name="T64" fmla="*/ 117 w 181"/>
                      <a:gd name="T65" fmla="*/ 218 h 229"/>
                      <a:gd name="T66" fmla="*/ 115 w 181"/>
                      <a:gd name="T67" fmla="*/ 213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1" h="229">
                        <a:moveTo>
                          <a:pt x="65" y="182"/>
                        </a:moveTo>
                        <a:cubicBezTo>
                          <a:pt x="47" y="174"/>
                          <a:pt x="40" y="161"/>
                          <a:pt x="44" y="144"/>
                        </a:cubicBezTo>
                        <a:cubicBezTo>
                          <a:pt x="26" y="149"/>
                          <a:pt x="14" y="144"/>
                          <a:pt x="7" y="127"/>
                        </a:cubicBezTo>
                        <a:cubicBezTo>
                          <a:pt x="0" y="109"/>
                          <a:pt x="1" y="97"/>
                          <a:pt x="9" y="90"/>
                        </a:cubicBezTo>
                        <a:cubicBezTo>
                          <a:pt x="19" y="70"/>
                          <a:pt x="32" y="63"/>
                          <a:pt x="49" y="67"/>
                        </a:cubicBezTo>
                        <a:cubicBezTo>
                          <a:pt x="44" y="46"/>
                          <a:pt x="47" y="39"/>
                          <a:pt x="60" y="45"/>
                        </a:cubicBezTo>
                        <a:cubicBezTo>
                          <a:pt x="68" y="28"/>
                          <a:pt x="75" y="25"/>
                          <a:pt x="84" y="35"/>
                        </a:cubicBezTo>
                        <a:cubicBezTo>
                          <a:pt x="108" y="7"/>
                          <a:pt x="127" y="0"/>
                          <a:pt x="140" y="14"/>
                        </a:cubicBezTo>
                        <a:cubicBezTo>
                          <a:pt x="154" y="28"/>
                          <a:pt x="160" y="39"/>
                          <a:pt x="158" y="49"/>
                        </a:cubicBezTo>
                        <a:cubicBezTo>
                          <a:pt x="181" y="67"/>
                          <a:pt x="181" y="84"/>
                          <a:pt x="155" y="98"/>
                        </a:cubicBezTo>
                        <a:cubicBezTo>
                          <a:pt x="174" y="119"/>
                          <a:pt x="171" y="138"/>
                          <a:pt x="148" y="155"/>
                        </a:cubicBezTo>
                        <a:cubicBezTo>
                          <a:pt x="152" y="165"/>
                          <a:pt x="145" y="170"/>
                          <a:pt x="127" y="169"/>
                        </a:cubicBezTo>
                        <a:cubicBezTo>
                          <a:pt x="127" y="185"/>
                          <a:pt x="120" y="188"/>
                          <a:pt x="105" y="179"/>
                        </a:cubicBezTo>
                        <a:cubicBezTo>
                          <a:pt x="96" y="185"/>
                          <a:pt x="88" y="188"/>
                          <a:pt x="82" y="188"/>
                        </a:cubicBezTo>
                        <a:cubicBezTo>
                          <a:pt x="79" y="188"/>
                          <a:pt x="77" y="187"/>
                          <a:pt x="74" y="186"/>
                        </a:cubicBezTo>
                        <a:cubicBezTo>
                          <a:pt x="71" y="185"/>
                          <a:pt x="68" y="184"/>
                          <a:pt x="65" y="182"/>
                        </a:cubicBezTo>
                        <a:close/>
                        <a:moveTo>
                          <a:pt x="115" y="213"/>
                        </a:moveTo>
                        <a:cubicBezTo>
                          <a:pt x="114" y="209"/>
                          <a:pt x="115" y="207"/>
                          <a:pt x="119" y="205"/>
                        </a:cubicBezTo>
                        <a:cubicBezTo>
                          <a:pt x="117" y="204"/>
                          <a:pt x="116" y="203"/>
                          <a:pt x="116" y="203"/>
                        </a:cubicBezTo>
                        <a:cubicBezTo>
                          <a:pt x="114" y="201"/>
                          <a:pt x="113" y="198"/>
                          <a:pt x="115" y="195"/>
                        </a:cubicBezTo>
                        <a:cubicBezTo>
                          <a:pt x="117" y="191"/>
                          <a:pt x="119" y="188"/>
                          <a:pt x="122" y="189"/>
                        </a:cubicBezTo>
                        <a:cubicBezTo>
                          <a:pt x="127" y="187"/>
                          <a:pt x="131" y="188"/>
                          <a:pt x="134" y="192"/>
                        </a:cubicBezTo>
                        <a:cubicBezTo>
                          <a:pt x="136" y="187"/>
                          <a:pt x="138" y="186"/>
                          <a:pt x="140" y="190"/>
                        </a:cubicBezTo>
                        <a:cubicBezTo>
                          <a:pt x="144" y="188"/>
                          <a:pt x="146" y="189"/>
                          <a:pt x="146" y="192"/>
                        </a:cubicBezTo>
                        <a:cubicBezTo>
                          <a:pt x="149" y="192"/>
                          <a:pt x="151" y="192"/>
                          <a:pt x="153" y="192"/>
                        </a:cubicBezTo>
                        <a:cubicBezTo>
                          <a:pt x="158" y="193"/>
                          <a:pt x="160" y="195"/>
                          <a:pt x="160" y="199"/>
                        </a:cubicBezTo>
                        <a:cubicBezTo>
                          <a:pt x="160" y="204"/>
                          <a:pt x="159" y="207"/>
                          <a:pt x="157" y="208"/>
                        </a:cubicBezTo>
                        <a:cubicBezTo>
                          <a:pt x="158" y="216"/>
                          <a:pt x="155" y="219"/>
                          <a:pt x="147" y="217"/>
                        </a:cubicBezTo>
                        <a:cubicBezTo>
                          <a:pt x="147" y="219"/>
                          <a:pt x="147" y="220"/>
                          <a:pt x="146" y="221"/>
                        </a:cubicBezTo>
                        <a:cubicBezTo>
                          <a:pt x="145" y="225"/>
                          <a:pt x="141" y="227"/>
                          <a:pt x="136" y="226"/>
                        </a:cubicBezTo>
                        <a:cubicBezTo>
                          <a:pt x="135" y="229"/>
                          <a:pt x="132" y="228"/>
                          <a:pt x="129" y="225"/>
                        </a:cubicBezTo>
                        <a:cubicBezTo>
                          <a:pt x="126" y="228"/>
                          <a:pt x="124" y="227"/>
                          <a:pt x="123" y="223"/>
                        </a:cubicBezTo>
                        <a:cubicBezTo>
                          <a:pt x="119" y="222"/>
                          <a:pt x="117" y="220"/>
                          <a:pt x="117" y="218"/>
                        </a:cubicBezTo>
                        <a:cubicBezTo>
                          <a:pt x="116" y="216"/>
                          <a:pt x="115" y="215"/>
                          <a:pt x="115" y="213"/>
                        </a:cubicBezTo>
                        <a:close/>
                      </a:path>
                    </a:pathLst>
                  </a:custGeom>
                  <a:solidFill>
                    <a:srgbClr val="006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sp>
              <p:nvSpPr>
                <p:cNvPr id="409" name="Freeform 37"/>
                <p:cNvSpPr>
                  <a:spLocks noChangeAspect="1" noEditPoints="1"/>
                </p:cNvSpPr>
                <p:nvPr/>
              </p:nvSpPr>
              <p:spPr bwMode="auto">
                <a:xfrm>
                  <a:off x="2028709" y="2806591"/>
                  <a:ext cx="174682" cy="174682"/>
                </a:xfrm>
                <a:custGeom>
                  <a:avLst/>
                  <a:gdLst>
                    <a:gd name="T0" fmla="*/ 422 w 543"/>
                    <a:gd name="T1" fmla="*/ 452 h 543"/>
                    <a:gd name="T2" fmla="*/ 476 w 543"/>
                    <a:gd name="T3" fmla="*/ 475 h 543"/>
                    <a:gd name="T4" fmla="*/ 453 w 543"/>
                    <a:gd name="T5" fmla="*/ 421 h 543"/>
                    <a:gd name="T6" fmla="*/ 422 w 543"/>
                    <a:gd name="T7" fmla="*/ 452 h 543"/>
                    <a:gd name="T8" fmla="*/ 102 w 543"/>
                    <a:gd name="T9" fmla="*/ 70 h 543"/>
                    <a:gd name="T10" fmla="*/ 71 w 543"/>
                    <a:gd name="T11" fmla="*/ 101 h 543"/>
                    <a:gd name="T12" fmla="*/ 125 w 543"/>
                    <a:gd name="T13" fmla="*/ 124 h 543"/>
                    <a:gd name="T14" fmla="*/ 102 w 543"/>
                    <a:gd name="T15" fmla="*/ 70 h 543"/>
                    <a:gd name="T16" fmla="*/ 90 w 543"/>
                    <a:gd name="T17" fmla="*/ 421 h 543"/>
                    <a:gd name="T18" fmla="*/ 67 w 543"/>
                    <a:gd name="T19" fmla="*/ 475 h 543"/>
                    <a:gd name="T20" fmla="*/ 121 w 543"/>
                    <a:gd name="T21" fmla="*/ 452 h 543"/>
                    <a:gd name="T22" fmla="*/ 90 w 543"/>
                    <a:gd name="T23" fmla="*/ 421 h 543"/>
                    <a:gd name="T24" fmla="*/ 472 w 543"/>
                    <a:gd name="T25" fmla="*/ 101 h 543"/>
                    <a:gd name="T26" fmla="*/ 441 w 543"/>
                    <a:gd name="T27" fmla="*/ 70 h 543"/>
                    <a:gd name="T28" fmla="*/ 418 w 543"/>
                    <a:gd name="T29" fmla="*/ 124 h 543"/>
                    <a:gd name="T30" fmla="*/ 472 w 543"/>
                    <a:gd name="T31" fmla="*/ 101 h 543"/>
                    <a:gd name="T32" fmla="*/ 271 w 543"/>
                    <a:gd name="T33" fmla="*/ 461 h 543"/>
                    <a:gd name="T34" fmla="*/ 250 w 543"/>
                    <a:gd name="T35" fmla="*/ 515 h 543"/>
                    <a:gd name="T36" fmla="*/ 293 w 543"/>
                    <a:gd name="T37" fmla="*/ 515 h 543"/>
                    <a:gd name="T38" fmla="*/ 271 w 543"/>
                    <a:gd name="T39" fmla="*/ 461 h 543"/>
                    <a:gd name="T40" fmla="*/ 271 w 543"/>
                    <a:gd name="T41" fmla="*/ 80 h 543"/>
                    <a:gd name="T42" fmla="*/ 293 w 543"/>
                    <a:gd name="T43" fmla="*/ 26 h 543"/>
                    <a:gd name="T44" fmla="*/ 250 w 543"/>
                    <a:gd name="T45" fmla="*/ 26 h 543"/>
                    <a:gd name="T46" fmla="*/ 271 w 543"/>
                    <a:gd name="T47" fmla="*/ 80 h 543"/>
                    <a:gd name="T48" fmla="*/ 81 w 543"/>
                    <a:gd name="T49" fmla="*/ 271 h 543"/>
                    <a:gd name="T50" fmla="*/ 27 w 543"/>
                    <a:gd name="T51" fmla="*/ 249 h 543"/>
                    <a:gd name="T52" fmla="*/ 27 w 543"/>
                    <a:gd name="T53" fmla="*/ 292 h 543"/>
                    <a:gd name="T54" fmla="*/ 81 w 543"/>
                    <a:gd name="T55" fmla="*/ 271 h 543"/>
                    <a:gd name="T56" fmla="*/ 271 w 543"/>
                    <a:gd name="T57" fmla="*/ 379 h 543"/>
                    <a:gd name="T58" fmla="*/ 271 w 543"/>
                    <a:gd name="T59" fmla="*/ 162 h 543"/>
                    <a:gd name="T60" fmla="*/ 271 w 543"/>
                    <a:gd name="T61" fmla="*/ 379 h 543"/>
                    <a:gd name="T62" fmla="*/ 271 w 543"/>
                    <a:gd name="T63" fmla="*/ 121 h 543"/>
                    <a:gd name="T64" fmla="*/ 271 w 543"/>
                    <a:gd name="T65" fmla="*/ 420 h 543"/>
                    <a:gd name="T66" fmla="*/ 271 w 543"/>
                    <a:gd name="T67" fmla="*/ 121 h 543"/>
                    <a:gd name="T68" fmla="*/ 516 w 543"/>
                    <a:gd name="T69" fmla="*/ 249 h 543"/>
                    <a:gd name="T70" fmla="*/ 462 w 543"/>
                    <a:gd name="T71" fmla="*/ 271 h 543"/>
                    <a:gd name="T72" fmla="*/ 516 w 543"/>
                    <a:gd name="T73" fmla="*/ 292 h 543"/>
                    <a:gd name="T74" fmla="*/ 516 w 543"/>
                    <a:gd name="T75" fmla="*/ 249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43" h="543">
                      <a:moveTo>
                        <a:pt x="422" y="452"/>
                      </a:moveTo>
                      <a:lnTo>
                        <a:pt x="422" y="452"/>
                      </a:lnTo>
                      <a:lnTo>
                        <a:pt x="441" y="471"/>
                      </a:lnTo>
                      <a:cubicBezTo>
                        <a:pt x="452" y="481"/>
                        <a:pt x="467" y="483"/>
                        <a:pt x="476" y="475"/>
                      </a:cubicBezTo>
                      <a:cubicBezTo>
                        <a:pt x="484" y="466"/>
                        <a:pt x="482" y="451"/>
                        <a:pt x="472" y="440"/>
                      </a:cubicBezTo>
                      <a:cubicBezTo>
                        <a:pt x="469" y="437"/>
                        <a:pt x="456" y="424"/>
                        <a:pt x="453" y="421"/>
                      </a:cubicBezTo>
                      <a:cubicBezTo>
                        <a:pt x="442" y="410"/>
                        <a:pt x="427" y="409"/>
                        <a:pt x="418" y="417"/>
                      </a:cubicBezTo>
                      <a:cubicBezTo>
                        <a:pt x="410" y="426"/>
                        <a:pt x="411" y="441"/>
                        <a:pt x="422" y="452"/>
                      </a:cubicBezTo>
                      <a:close/>
                      <a:moveTo>
                        <a:pt x="102" y="70"/>
                      </a:moveTo>
                      <a:lnTo>
                        <a:pt x="102" y="70"/>
                      </a:lnTo>
                      <a:cubicBezTo>
                        <a:pt x="91" y="60"/>
                        <a:pt x="76" y="58"/>
                        <a:pt x="67" y="66"/>
                      </a:cubicBezTo>
                      <a:cubicBezTo>
                        <a:pt x="59" y="75"/>
                        <a:pt x="61" y="90"/>
                        <a:pt x="71" y="101"/>
                      </a:cubicBezTo>
                      <a:cubicBezTo>
                        <a:pt x="74" y="104"/>
                        <a:pt x="87" y="117"/>
                        <a:pt x="90" y="120"/>
                      </a:cubicBezTo>
                      <a:cubicBezTo>
                        <a:pt x="101" y="131"/>
                        <a:pt x="116" y="132"/>
                        <a:pt x="125" y="124"/>
                      </a:cubicBezTo>
                      <a:cubicBezTo>
                        <a:pt x="133" y="115"/>
                        <a:pt x="132" y="100"/>
                        <a:pt x="121" y="89"/>
                      </a:cubicBezTo>
                      <a:cubicBezTo>
                        <a:pt x="118" y="86"/>
                        <a:pt x="105" y="73"/>
                        <a:pt x="102" y="70"/>
                      </a:cubicBezTo>
                      <a:close/>
                      <a:moveTo>
                        <a:pt x="90" y="421"/>
                      </a:moveTo>
                      <a:lnTo>
                        <a:pt x="90" y="421"/>
                      </a:lnTo>
                      <a:lnTo>
                        <a:pt x="71" y="440"/>
                      </a:lnTo>
                      <a:cubicBezTo>
                        <a:pt x="61" y="451"/>
                        <a:pt x="59" y="466"/>
                        <a:pt x="67" y="475"/>
                      </a:cubicBezTo>
                      <a:cubicBezTo>
                        <a:pt x="76" y="483"/>
                        <a:pt x="91" y="481"/>
                        <a:pt x="102" y="471"/>
                      </a:cubicBezTo>
                      <a:cubicBezTo>
                        <a:pt x="105" y="468"/>
                        <a:pt x="118" y="455"/>
                        <a:pt x="121" y="452"/>
                      </a:cubicBezTo>
                      <a:cubicBezTo>
                        <a:pt x="132" y="441"/>
                        <a:pt x="133" y="426"/>
                        <a:pt x="125" y="417"/>
                      </a:cubicBezTo>
                      <a:cubicBezTo>
                        <a:pt x="116" y="409"/>
                        <a:pt x="101" y="410"/>
                        <a:pt x="90" y="421"/>
                      </a:cubicBezTo>
                      <a:close/>
                      <a:moveTo>
                        <a:pt x="472" y="101"/>
                      </a:moveTo>
                      <a:lnTo>
                        <a:pt x="472" y="101"/>
                      </a:lnTo>
                      <a:cubicBezTo>
                        <a:pt x="482" y="90"/>
                        <a:pt x="484" y="75"/>
                        <a:pt x="476" y="66"/>
                      </a:cubicBezTo>
                      <a:cubicBezTo>
                        <a:pt x="467" y="58"/>
                        <a:pt x="452" y="60"/>
                        <a:pt x="441" y="70"/>
                      </a:cubicBezTo>
                      <a:cubicBezTo>
                        <a:pt x="438" y="73"/>
                        <a:pt x="425" y="86"/>
                        <a:pt x="422" y="89"/>
                      </a:cubicBezTo>
                      <a:cubicBezTo>
                        <a:pt x="411" y="100"/>
                        <a:pt x="410" y="115"/>
                        <a:pt x="418" y="124"/>
                      </a:cubicBezTo>
                      <a:cubicBezTo>
                        <a:pt x="427" y="132"/>
                        <a:pt x="442" y="131"/>
                        <a:pt x="453" y="120"/>
                      </a:cubicBezTo>
                      <a:cubicBezTo>
                        <a:pt x="456" y="117"/>
                        <a:pt x="469" y="104"/>
                        <a:pt x="472" y="101"/>
                      </a:cubicBezTo>
                      <a:close/>
                      <a:moveTo>
                        <a:pt x="271" y="461"/>
                      </a:moveTo>
                      <a:lnTo>
                        <a:pt x="271" y="461"/>
                      </a:lnTo>
                      <a:cubicBezTo>
                        <a:pt x="259" y="461"/>
                        <a:pt x="250" y="473"/>
                        <a:pt x="250" y="488"/>
                      </a:cubicBezTo>
                      <a:lnTo>
                        <a:pt x="250" y="515"/>
                      </a:lnTo>
                      <a:cubicBezTo>
                        <a:pt x="250" y="530"/>
                        <a:pt x="259" y="543"/>
                        <a:pt x="271" y="543"/>
                      </a:cubicBezTo>
                      <a:cubicBezTo>
                        <a:pt x="283" y="543"/>
                        <a:pt x="293" y="530"/>
                        <a:pt x="293" y="515"/>
                      </a:cubicBezTo>
                      <a:lnTo>
                        <a:pt x="293" y="488"/>
                      </a:lnTo>
                      <a:cubicBezTo>
                        <a:pt x="293" y="473"/>
                        <a:pt x="283" y="461"/>
                        <a:pt x="271" y="461"/>
                      </a:cubicBezTo>
                      <a:close/>
                      <a:moveTo>
                        <a:pt x="271" y="80"/>
                      </a:moveTo>
                      <a:lnTo>
                        <a:pt x="271" y="80"/>
                      </a:lnTo>
                      <a:cubicBezTo>
                        <a:pt x="283" y="80"/>
                        <a:pt x="293" y="68"/>
                        <a:pt x="293" y="53"/>
                      </a:cubicBezTo>
                      <a:lnTo>
                        <a:pt x="293" y="26"/>
                      </a:lnTo>
                      <a:cubicBezTo>
                        <a:pt x="293" y="11"/>
                        <a:pt x="283" y="0"/>
                        <a:pt x="271" y="0"/>
                      </a:cubicBezTo>
                      <a:cubicBezTo>
                        <a:pt x="259" y="0"/>
                        <a:pt x="250" y="11"/>
                        <a:pt x="250" y="26"/>
                      </a:cubicBezTo>
                      <a:lnTo>
                        <a:pt x="250" y="53"/>
                      </a:lnTo>
                      <a:cubicBezTo>
                        <a:pt x="250" y="68"/>
                        <a:pt x="259" y="80"/>
                        <a:pt x="271" y="80"/>
                      </a:cubicBezTo>
                      <a:close/>
                      <a:moveTo>
                        <a:pt x="81" y="271"/>
                      </a:moveTo>
                      <a:lnTo>
                        <a:pt x="81" y="271"/>
                      </a:lnTo>
                      <a:cubicBezTo>
                        <a:pt x="81" y="259"/>
                        <a:pt x="69" y="249"/>
                        <a:pt x="54" y="249"/>
                      </a:cubicBezTo>
                      <a:lnTo>
                        <a:pt x="27" y="249"/>
                      </a:lnTo>
                      <a:cubicBezTo>
                        <a:pt x="12" y="249"/>
                        <a:pt x="0" y="259"/>
                        <a:pt x="0" y="271"/>
                      </a:cubicBezTo>
                      <a:cubicBezTo>
                        <a:pt x="0" y="283"/>
                        <a:pt x="12" y="292"/>
                        <a:pt x="27" y="292"/>
                      </a:cubicBezTo>
                      <a:lnTo>
                        <a:pt x="54" y="292"/>
                      </a:lnTo>
                      <a:cubicBezTo>
                        <a:pt x="69" y="292"/>
                        <a:pt x="81" y="283"/>
                        <a:pt x="81" y="271"/>
                      </a:cubicBezTo>
                      <a:close/>
                      <a:moveTo>
                        <a:pt x="271" y="379"/>
                      </a:moveTo>
                      <a:lnTo>
                        <a:pt x="271" y="379"/>
                      </a:lnTo>
                      <a:cubicBezTo>
                        <a:pt x="211" y="379"/>
                        <a:pt x="163" y="331"/>
                        <a:pt x="163" y="271"/>
                      </a:cubicBezTo>
                      <a:cubicBezTo>
                        <a:pt x="163" y="210"/>
                        <a:pt x="211" y="162"/>
                        <a:pt x="271" y="162"/>
                      </a:cubicBezTo>
                      <a:cubicBezTo>
                        <a:pt x="331" y="162"/>
                        <a:pt x="380" y="210"/>
                        <a:pt x="380" y="271"/>
                      </a:cubicBezTo>
                      <a:cubicBezTo>
                        <a:pt x="380" y="331"/>
                        <a:pt x="331" y="379"/>
                        <a:pt x="271" y="379"/>
                      </a:cubicBezTo>
                      <a:close/>
                      <a:moveTo>
                        <a:pt x="271" y="121"/>
                      </a:moveTo>
                      <a:lnTo>
                        <a:pt x="271" y="121"/>
                      </a:lnTo>
                      <a:cubicBezTo>
                        <a:pt x="188" y="121"/>
                        <a:pt x="122" y="188"/>
                        <a:pt x="122" y="271"/>
                      </a:cubicBezTo>
                      <a:cubicBezTo>
                        <a:pt x="122" y="354"/>
                        <a:pt x="188" y="420"/>
                        <a:pt x="271" y="420"/>
                      </a:cubicBezTo>
                      <a:cubicBezTo>
                        <a:pt x="354" y="420"/>
                        <a:pt x="421" y="354"/>
                        <a:pt x="421" y="271"/>
                      </a:cubicBezTo>
                      <a:cubicBezTo>
                        <a:pt x="421" y="188"/>
                        <a:pt x="354" y="121"/>
                        <a:pt x="271" y="121"/>
                      </a:cubicBezTo>
                      <a:close/>
                      <a:moveTo>
                        <a:pt x="516" y="249"/>
                      </a:moveTo>
                      <a:lnTo>
                        <a:pt x="516" y="249"/>
                      </a:lnTo>
                      <a:lnTo>
                        <a:pt x="489" y="249"/>
                      </a:lnTo>
                      <a:cubicBezTo>
                        <a:pt x="474" y="249"/>
                        <a:pt x="462" y="259"/>
                        <a:pt x="462" y="271"/>
                      </a:cubicBezTo>
                      <a:cubicBezTo>
                        <a:pt x="462" y="283"/>
                        <a:pt x="474" y="292"/>
                        <a:pt x="489" y="292"/>
                      </a:cubicBezTo>
                      <a:lnTo>
                        <a:pt x="516" y="292"/>
                      </a:lnTo>
                      <a:cubicBezTo>
                        <a:pt x="531" y="292"/>
                        <a:pt x="543" y="283"/>
                        <a:pt x="543" y="271"/>
                      </a:cubicBezTo>
                      <a:cubicBezTo>
                        <a:pt x="543" y="259"/>
                        <a:pt x="531" y="249"/>
                        <a:pt x="516" y="249"/>
                      </a:cubicBezTo>
                      <a:close/>
                    </a:path>
                  </a:pathLst>
                </a:custGeom>
                <a:solidFill>
                  <a:schemeClr val="tx2"/>
                </a:solidFill>
                <a:ln w="0">
                  <a:noFill/>
                  <a:prstDash val="solid"/>
                  <a:round/>
                  <a:headEnd/>
                  <a:tailEnd/>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sp>
            <p:nvSpPr>
              <p:cNvPr id="382" name="Freeform 17"/>
              <p:cNvSpPr>
                <a:spLocks/>
              </p:cNvSpPr>
              <p:nvPr/>
            </p:nvSpPr>
            <p:spPr bwMode="auto">
              <a:xfrm rot="14349176">
                <a:off x="1411625" y="4165330"/>
                <a:ext cx="594307" cy="412005"/>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accent1"/>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nvGrpSpPr>
              <p:cNvPr id="383" name="Group 382"/>
              <p:cNvGrpSpPr/>
              <p:nvPr/>
            </p:nvGrpSpPr>
            <p:grpSpPr>
              <a:xfrm rot="10800000">
                <a:off x="1855796" y="4034195"/>
                <a:ext cx="759155" cy="825771"/>
                <a:chOff x="489998" y="2687570"/>
                <a:chExt cx="759155" cy="825771"/>
              </a:xfrm>
            </p:grpSpPr>
            <p:sp>
              <p:nvSpPr>
                <p:cNvPr id="400" name="Freeform 13"/>
                <p:cNvSpPr>
                  <a:spLocks noEditPoints="1"/>
                </p:cNvSpPr>
                <p:nvPr/>
              </p:nvSpPr>
              <p:spPr bwMode="auto">
                <a:xfrm rot="506818">
                  <a:off x="515932" y="2925201"/>
                  <a:ext cx="288620" cy="339222"/>
                </a:xfrm>
                <a:custGeom>
                  <a:avLst/>
                  <a:gdLst>
                    <a:gd name="T0" fmla="*/ 52 w 462"/>
                    <a:gd name="T1" fmla="*/ 204 h 543"/>
                    <a:gd name="T2" fmla="*/ 0 w 462"/>
                    <a:gd name="T3" fmla="*/ 181 h 543"/>
                    <a:gd name="T4" fmla="*/ 43 w 462"/>
                    <a:gd name="T5" fmla="*/ 0 h 543"/>
                    <a:gd name="T6" fmla="*/ 235 w 462"/>
                    <a:gd name="T7" fmla="*/ 29 h 543"/>
                    <a:gd name="T8" fmla="*/ 235 w 462"/>
                    <a:gd name="T9" fmla="*/ 86 h 543"/>
                    <a:gd name="T10" fmla="*/ 462 w 462"/>
                    <a:gd name="T11" fmla="*/ 394 h 543"/>
                    <a:gd name="T12" fmla="*/ 318 w 462"/>
                    <a:gd name="T13" fmla="*/ 479 h 543"/>
                    <a:gd name="T14" fmla="*/ 242 w 462"/>
                    <a:gd name="T15" fmla="*/ 543 h 543"/>
                    <a:gd name="T16" fmla="*/ 52 w 462"/>
                    <a:gd name="T17" fmla="*/ 204 h 543"/>
                    <a:gd name="T18" fmla="*/ 147 w 462"/>
                    <a:gd name="T19" fmla="*/ 176 h 543"/>
                    <a:gd name="T20" fmla="*/ 105 w 462"/>
                    <a:gd name="T21" fmla="*/ 207 h 543"/>
                    <a:gd name="T22" fmla="*/ 142 w 462"/>
                    <a:gd name="T23" fmla="*/ 275 h 543"/>
                    <a:gd name="T24" fmla="*/ 185 w 462"/>
                    <a:gd name="T25" fmla="*/ 240 h 543"/>
                    <a:gd name="T26" fmla="*/ 147 w 462"/>
                    <a:gd name="T27" fmla="*/ 176 h 543"/>
                    <a:gd name="T28" fmla="*/ 282 w 462"/>
                    <a:gd name="T29" fmla="*/ 235 h 543"/>
                    <a:gd name="T30" fmla="*/ 240 w 462"/>
                    <a:gd name="T31" fmla="*/ 261 h 543"/>
                    <a:gd name="T32" fmla="*/ 285 w 462"/>
                    <a:gd name="T33" fmla="*/ 323 h 543"/>
                    <a:gd name="T34" fmla="*/ 332 w 462"/>
                    <a:gd name="T35" fmla="*/ 294 h 543"/>
                    <a:gd name="T36" fmla="*/ 282 w 462"/>
                    <a:gd name="T37" fmla="*/ 235 h 543"/>
                    <a:gd name="T38" fmla="*/ 173 w 462"/>
                    <a:gd name="T39" fmla="*/ 157 h 543"/>
                    <a:gd name="T40" fmla="*/ 216 w 462"/>
                    <a:gd name="T41" fmla="*/ 219 h 543"/>
                    <a:gd name="T42" fmla="*/ 266 w 462"/>
                    <a:gd name="T43" fmla="*/ 190 h 543"/>
                    <a:gd name="T44" fmla="*/ 216 w 462"/>
                    <a:gd name="T45" fmla="*/ 131 h 543"/>
                    <a:gd name="T46" fmla="*/ 173 w 462"/>
                    <a:gd name="T47" fmla="*/ 157 h 543"/>
                    <a:gd name="T48" fmla="*/ 254 w 462"/>
                    <a:gd name="T49" fmla="*/ 344 h 543"/>
                    <a:gd name="T50" fmla="*/ 214 w 462"/>
                    <a:gd name="T51" fmla="*/ 280 h 543"/>
                    <a:gd name="T52" fmla="*/ 173 w 462"/>
                    <a:gd name="T53" fmla="*/ 311 h 543"/>
                    <a:gd name="T54" fmla="*/ 209 w 462"/>
                    <a:gd name="T55" fmla="*/ 380 h 543"/>
                    <a:gd name="T56" fmla="*/ 254 w 462"/>
                    <a:gd name="T57" fmla="*/ 344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2" h="543">
                      <a:moveTo>
                        <a:pt x="52" y="204"/>
                      </a:moveTo>
                      <a:lnTo>
                        <a:pt x="0" y="181"/>
                      </a:lnTo>
                      <a:lnTo>
                        <a:pt x="43" y="0"/>
                      </a:lnTo>
                      <a:lnTo>
                        <a:pt x="235" y="29"/>
                      </a:lnTo>
                      <a:lnTo>
                        <a:pt x="235" y="86"/>
                      </a:lnTo>
                      <a:lnTo>
                        <a:pt x="462" y="394"/>
                      </a:lnTo>
                      <a:lnTo>
                        <a:pt x="318" y="479"/>
                      </a:lnTo>
                      <a:lnTo>
                        <a:pt x="242" y="543"/>
                      </a:lnTo>
                      <a:lnTo>
                        <a:pt x="52" y="204"/>
                      </a:lnTo>
                      <a:close/>
                      <a:moveTo>
                        <a:pt x="147" y="176"/>
                      </a:moveTo>
                      <a:lnTo>
                        <a:pt x="105" y="207"/>
                      </a:lnTo>
                      <a:lnTo>
                        <a:pt x="142" y="275"/>
                      </a:lnTo>
                      <a:lnTo>
                        <a:pt x="185" y="240"/>
                      </a:lnTo>
                      <a:lnTo>
                        <a:pt x="147" y="176"/>
                      </a:lnTo>
                      <a:close/>
                      <a:moveTo>
                        <a:pt x="282" y="235"/>
                      </a:moveTo>
                      <a:lnTo>
                        <a:pt x="240" y="261"/>
                      </a:lnTo>
                      <a:lnTo>
                        <a:pt x="285" y="323"/>
                      </a:lnTo>
                      <a:lnTo>
                        <a:pt x="332" y="294"/>
                      </a:lnTo>
                      <a:lnTo>
                        <a:pt x="282" y="235"/>
                      </a:lnTo>
                      <a:close/>
                      <a:moveTo>
                        <a:pt x="173" y="157"/>
                      </a:moveTo>
                      <a:lnTo>
                        <a:pt x="216" y="219"/>
                      </a:lnTo>
                      <a:lnTo>
                        <a:pt x="266" y="190"/>
                      </a:lnTo>
                      <a:lnTo>
                        <a:pt x="216" y="131"/>
                      </a:lnTo>
                      <a:lnTo>
                        <a:pt x="173" y="157"/>
                      </a:lnTo>
                      <a:close/>
                      <a:moveTo>
                        <a:pt x="254" y="344"/>
                      </a:moveTo>
                      <a:lnTo>
                        <a:pt x="214" y="280"/>
                      </a:lnTo>
                      <a:lnTo>
                        <a:pt x="173" y="311"/>
                      </a:lnTo>
                      <a:lnTo>
                        <a:pt x="209" y="380"/>
                      </a:lnTo>
                      <a:lnTo>
                        <a:pt x="254" y="344"/>
                      </a:lnTo>
                      <a:close/>
                    </a:path>
                  </a:pathLst>
                </a:custGeom>
                <a:solidFill>
                  <a:schemeClr val="accent2"/>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01" name="Freeform 13"/>
                <p:cNvSpPr>
                  <a:spLocks noEditPoints="1"/>
                </p:cNvSpPr>
                <p:nvPr/>
              </p:nvSpPr>
              <p:spPr bwMode="auto">
                <a:xfrm rot="506818">
                  <a:off x="879662" y="2808297"/>
                  <a:ext cx="288620" cy="339222"/>
                </a:xfrm>
                <a:custGeom>
                  <a:avLst/>
                  <a:gdLst>
                    <a:gd name="T0" fmla="*/ 52 w 462"/>
                    <a:gd name="T1" fmla="*/ 204 h 543"/>
                    <a:gd name="T2" fmla="*/ 0 w 462"/>
                    <a:gd name="T3" fmla="*/ 181 h 543"/>
                    <a:gd name="T4" fmla="*/ 43 w 462"/>
                    <a:gd name="T5" fmla="*/ 0 h 543"/>
                    <a:gd name="T6" fmla="*/ 235 w 462"/>
                    <a:gd name="T7" fmla="*/ 29 h 543"/>
                    <a:gd name="T8" fmla="*/ 235 w 462"/>
                    <a:gd name="T9" fmla="*/ 86 h 543"/>
                    <a:gd name="T10" fmla="*/ 462 w 462"/>
                    <a:gd name="T11" fmla="*/ 394 h 543"/>
                    <a:gd name="T12" fmla="*/ 318 w 462"/>
                    <a:gd name="T13" fmla="*/ 479 h 543"/>
                    <a:gd name="T14" fmla="*/ 242 w 462"/>
                    <a:gd name="T15" fmla="*/ 543 h 543"/>
                    <a:gd name="T16" fmla="*/ 52 w 462"/>
                    <a:gd name="T17" fmla="*/ 204 h 543"/>
                    <a:gd name="T18" fmla="*/ 147 w 462"/>
                    <a:gd name="T19" fmla="*/ 176 h 543"/>
                    <a:gd name="T20" fmla="*/ 105 w 462"/>
                    <a:gd name="T21" fmla="*/ 207 h 543"/>
                    <a:gd name="T22" fmla="*/ 142 w 462"/>
                    <a:gd name="T23" fmla="*/ 275 h 543"/>
                    <a:gd name="T24" fmla="*/ 185 w 462"/>
                    <a:gd name="T25" fmla="*/ 240 h 543"/>
                    <a:gd name="T26" fmla="*/ 147 w 462"/>
                    <a:gd name="T27" fmla="*/ 176 h 543"/>
                    <a:gd name="T28" fmla="*/ 282 w 462"/>
                    <a:gd name="T29" fmla="*/ 235 h 543"/>
                    <a:gd name="T30" fmla="*/ 240 w 462"/>
                    <a:gd name="T31" fmla="*/ 261 h 543"/>
                    <a:gd name="T32" fmla="*/ 285 w 462"/>
                    <a:gd name="T33" fmla="*/ 323 h 543"/>
                    <a:gd name="T34" fmla="*/ 332 w 462"/>
                    <a:gd name="T35" fmla="*/ 294 h 543"/>
                    <a:gd name="T36" fmla="*/ 282 w 462"/>
                    <a:gd name="T37" fmla="*/ 235 h 543"/>
                    <a:gd name="T38" fmla="*/ 173 w 462"/>
                    <a:gd name="T39" fmla="*/ 157 h 543"/>
                    <a:gd name="T40" fmla="*/ 216 w 462"/>
                    <a:gd name="T41" fmla="*/ 219 h 543"/>
                    <a:gd name="T42" fmla="*/ 266 w 462"/>
                    <a:gd name="T43" fmla="*/ 190 h 543"/>
                    <a:gd name="T44" fmla="*/ 216 w 462"/>
                    <a:gd name="T45" fmla="*/ 131 h 543"/>
                    <a:gd name="T46" fmla="*/ 173 w 462"/>
                    <a:gd name="T47" fmla="*/ 157 h 543"/>
                    <a:gd name="T48" fmla="*/ 254 w 462"/>
                    <a:gd name="T49" fmla="*/ 344 h 543"/>
                    <a:gd name="T50" fmla="*/ 214 w 462"/>
                    <a:gd name="T51" fmla="*/ 280 h 543"/>
                    <a:gd name="T52" fmla="*/ 173 w 462"/>
                    <a:gd name="T53" fmla="*/ 311 h 543"/>
                    <a:gd name="T54" fmla="*/ 209 w 462"/>
                    <a:gd name="T55" fmla="*/ 380 h 543"/>
                    <a:gd name="T56" fmla="*/ 254 w 462"/>
                    <a:gd name="T57" fmla="*/ 344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2" h="543">
                      <a:moveTo>
                        <a:pt x="52" y="204"/>
                      </a:moveTo>
                      <a:lnTo>
                        <a:pt x="0" y="181"/>
                      </a:lnTo>
                      <a:lnTo>
                        <a:pt x="43" y="0"/>
                      </a:lnTo>
                      <a:lnTo>
                        <a:pt x="235" y="29"/>
                      </a:lnTo>
                      <a:lnTo>
                        <a:pt x="235" y="86"/>
                      </a:lnTo>
                      <a:lnTo>
                        <a:pt x="462" y="394"/>
                      </a:lnTo>
                      <a:lnTo>
                        <a:pt x="318" y="479"/>
                      </a:lnTo>
                      <a:lnTo>
                        <a:pt x="242" y="543"/>
                      </a:lnTo>
                      <a:lnTo>
                        <a:pt x="52" y="204"/>
                      </a:lnTo>
                      <a:close/>
                      <a:moveTo>
                        <a:pt x="147" y="176"/>
                      </a:moveTo>
                      <a:lnTo>
                        <a:pt x="105" y="207"/>
                      </a:lnTo>
                      <a:lnTo>
                        <a:pt x="142" y="275"/>
                      </a:lnTo>
                      <a:lnTo>
                        <a:pt x="185" y="240"/>
                      </a:lnTo>
                      <a:lnTo>
                        <a:pt x="147" y="176"/>
                      </a:lnTo>
                      <a:close/>
                      <a:moveTo>
                        <a:pt x="282" y="235"/>
                      </a:moveTo>
                      <a:lnTo>
                        <a:pt x="240" y="261"/>
                      </a:lnTo>
                      <a:lnTo>
                        <a:pt x="285" y="323"/>
                      </a:lnTo>
                      <a:lnTo>
                        <a:pt x="332" y="294"/>
                      </a:lnTo>
                      <a:lnTo>
                        <a:pt x="282" y="235"/>
                      </a:lnTo>
                      <a:close/>
                      <a:moveTo>
                        <a:pt x="173" y="157"/>
                      </a:moveTo>
                      <a:lnTo>
                        <a:pt x="216" y="219"/>
                      </a:lnTo>
                      <a:lnTo>
                        <a:pt x="266" y="190"/>
                      </a:lnTo>
                      <a:lnTo>
                        <a:pt x="216" y="131"/>
                      </a:lnTo>
                      <a:lnTo>
                        <a:pt x="173" y="157"/>
                      </a:lnTo>
                      <a:close/>
                      <a:moveTo>
                        <a:pt x="254" y="344"/>
                      </a:moveTo>
                      <a:lnTo>
                        <a:pt x="214" y="280"/>
                      </a:lnTo>
                      <a:lnTo>
                        <a:pt x="173" y="311"/>
                      </a:lnTo>
                      <a:lnTo>
                        <a:pt x="209" y="380"/>
                      </a:lnTo>
                      <a:lnTo>
                        <a:pt x="254" y="344"/>
                      </a:lnTo>
                      <a:close/>
                    </a:path>
                  </a:pathLst>
                </a:custGeom>
                <a:solidFill>
                  <a:schemeClr val="accent1"/>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02" name="Freeform 13"/>
                <p:cNvSpPr>
                  <a:spLocks noEditPoints="1"/>
                </p:cNvSpPr>
                <p:nvPr/>
              </p:nvSpPr>
              <p:spPr bwMode="auto">
                <a:xfrm rot="506818">
                  <a:off x="570902" y="2687570"/>
                  <a:ext cx="442514" cy="520098"/>
                </a:xfrm>
                <a:custGeom>
                  <a:avLst/>
                  <a:gdLst>
                    <a:gd name="T0" fmla="*/ 52 w 462"/>
                    <a:gd name="T1" fmla="*/ 204 h 543"/>
                    <a:gd name="T2" fmla="*/ 0 w 462"/>
                    <a:gd name="T3" fmla="*/ 181 h 543"/>
                    <a:gd name="T4" fmla="*/ 43 w 462"/>
                    <a:gd name="T5" fmla="*/ 0 h 543"/>
                    <a:gd name="T6" fmla="*/ 235 w 462"/>
                    <a:gd name="T7" fmla="*/ 29 h 543"/>
                    <a:gd name="T8" fmla="*/ 235 w 462"/>
                    <a:gd name="T9" fmla="*/ 86 h 543"/>
                    <a:gd name="T10" fmla="*/ 462 w 462"/>
                    <a:gd name="T11" fmla="*/ 394 h 543"/>
                    <a:gd name="T12" fmla="*/ 318 w 462"/>
                    <a:gd name="T13" fmla="*/ 479 h 543"/>
                    <a:gd name="T14" fmla="*/ 242 w 462"/>
                    <a:gd name="T15" fmla="*/ 543 h 543"/>
                    <a:gd name="T16" fmla="*/ 52 w 462"/>
                    <a:gd name="T17" fmla="*/ 204 h 543"/>
                    <a:gd name="T18" fmla="*/ 147 w 462"/>
                    <a:gd name="T19" fmla="*/ 176 h 543"/>
                    <a:gd name="T20" fmla="*/ 105 w 462"/>
                    <a:gd name="T21" fmla="*/ 207 h 543"/>
                    <a:gd name="T22" fmla="*/ 142 w 462"/>
                    <a:gd name="T23" fmla="*/ 275 h 543"/>
                    <a:gd name="T24" fmla="*/ 185 w 462"/>
                    <a:gd name="T25" fmla="*/ 240 h 543"/>
                    <a:gd name="T26" fmla="*/ 147 w 462"/>
                    <a:gd name="T27" fmla="*/ 176 h 543"/>
                    <a:gd name="T28" fmla="*/ 282 w 462"/>
                    <a:gd name="T29" fmla="*/ 235 h 543"/>
                    <a:gd name="T30" fmla="*/ 240 w 462"/>
                    <a:gd name="T31" fmla="*/ 261 h 543"/>
                    <a:gd name="T32" fmla="*/ 285 w 462"/>
                    <a:gd name="T33" fmla="*/ 323 h 543"/>
                    <a:gd name="T34" fmla="*/ 332 w 462"/>
                    <a:gd name="T35" fmla="*/ 294 h 543"/>
                    <a:gd name="T36" fmla="*/ 282 w 462"/>
                    <a:gd name="T37" fmla="*/ 235 h 543"/>
                    <a:gd name="T38" fmla="*/ 173 w 462"/>
                    <a:gd name="T39" fmla="*/ 157 h 543"/>
                    <a:gd name="T40" fmla="*/ 216 w 462"/>
                    <a:gd name="T41" fmla="*/ 219 h 543"/>
                    <a:gd name="T42" fmla="*/ 266 w 462"/>
                    <a:gd name="T43" fmla="*/ 190 h 543"/>
                    <a:gd name="T44" fmla="*/ 216 w 462"/>
                    <a:gd name="T45" fmla="*/ 131 h 543"/>
                    <a:gd name="T46" fmla="*/ 173 w 462"/>
                    <a:gd name="T47" fmla="*/ 157 h 543"/>
                    <a:gd name="T48" fmla="*/ 254 w 462"/>
                    <a:gd name="T49" fmla="*/ 344 h 543"/>
                    <a:gd name="T50" fmla="*/ 214 w 462"/>
                    <a:gd name="T51" fmla="*/ 280 h 543"/>
                    <a:gd name="T52" fmla="*/ 173 w 462"/>
                    <a:gd name="T53" fmla="*/ 311 h 543"/>
                    <a:gd name="T54" fmla="*/ 209 w 462"/>
                    <a:gd name="T55" fmla="*/ 380 h 543"/>
                    <a:gd name="T56" fmla="*/ 254 w 462"/>
                    <a:gd name="T57" fmla="*/ 344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2" h="543">
                      <a:moveTo>
                        <a:pt x="52" y="204"/>
                      </a:moveTo>
                      <a:lnTo>
                        <a:pt x="0" y="181"/>
                      </a:lnTo>
                      <a:lnTo>
                        <a:pt x="43" y="0"/>
                      </a:lnTo>
                      <a:lnTo>
                        <a:pt x="235" y="29"/>
                      </a:lnTo>
                      <a:lnTo>
                        <a:pt x="235" y="86"/>
                      </a:lnTo>
                      <a:lnTo>
                        <a:pt x="462" y="394"/>
                      </a:lnTo>
                      <a:lnTo>
                        <a:pt x="318" y="479"/>
                      </a:lnTo>
                      <a:lnTo>
                        <a:pt x="242" y="543"/>
                      </a:lnTo>
                      <a:lnTo>
                        <a:pt x="52" y="204"/>
                      </a:lnTo>
                      <a:close/>
                      <a:moveTo>
                        <a:pt x="147" y="176"/>
                      </a:moveTo>
                      <a:lnTo>
                        <a:pt x="105" y="207"/>
                      </a:lnTo>
                      <a:lnTo>
                        <a:pt x="142" y="275"/>
                      </a:lnTo>
                      <a:lnTo>
                        <a:pt x="185" y="240"/>
                      </a:lnTo>
                      <a:lnTo>
                        <a:pt x="147" y="176"/>
                      </a:lnTo>
                      <a:close/>
                      <a:moveTo>
                        <a:pt x="282" y="235"/>
                      </a:moveTo>
                      <a:lnTo>
                        <a:pt x="240" y="261"/>
                      </a:lnTo>
                      <a:lnTo>
                        <a:pt x="285" y="323"/>
                      </a:lnTo>
                      <a:lnTo>
                        <a:pt x="332" y="294"/>
                      </a:lnTo>
                      <a:lnTo>
                        <a:pt x="282" y="235"/>
                      </a:lnTo>
                      <a:close/>
                      <a:moveTo>
                        <a:pt x="173" y="157"/>
                      </a:moveTo>
                      <a:lnTo>
                        <a:pt x="216" y="219"/>
                      </a:lnTo>
                      <a:lnTo>
                        <a:pt x="266" y="190"/>
                      </a:lnTo>
                      <a:lnTo>
                        <a:pt x="216" y="131"/>
                      </a:lnTo>
                      <a:lnTo>
                        <a:pt x="173" y="157"/>
                      </a:lnTo>
                      <a:close/>
                      <a:moveTo>
                        <a:pt x="254" y="344"/>
                      </a:moveTo>
                      <a:lnTo>
                        <a:pt x="214" y="280"/>
                      </a:lnTo>
                      <a:lnTo>
                        <a:pt x="173" y="311"/>
                      </a:lnTo>
                      <a:lnTo>
                        <a:pt x="209" y="380"/>
                      </a:lnTo>
                      <a:lnTo>
                        <a:pt x="254" y="344"/>
                      </a:lnTo>
                      <a:close/>
                    </a:path>
                  </a:pathLst>
                </a:custGeom>
                <a:solidFill>
                  <a:schemeClr val="accent1">
                    <a:lumMod val="75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03" name="Freeform 17"/>
                <p:cNvSpPr>
                  <a:spLocks/>
                </p:cNvSpPr>
                <p:nvPr/>
              </p:nvSpPr>
              <p:spPr bwMode="auto">
                <a:xfrm rot="1999172">
                  <a:off x="971092" y="2951535"/>
                  <a:ext cx="278061" cy="228351"/>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tx1">
                    <a:lumMod val="75000"/>
                    <a:lumOff val="25000"/>
                  </a:schemeClr>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04" name="Freeform 17"/>
                <p:cNvSpPr>
                  <a:spLocks/>
                </p:cNvSpPr>
                <p:nvPr/>
              </p:nvSpPr>
              <p:spPr bwMode="auto">
                <a:xfrm rot="300239">
                  <a:off x="489998" y="2992868"/>
                  <a:ext cx="534950" cy="520473"/>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sp>
              <p:nvSpPr>
                <p:cNvPr id="405" name="Freeform 17"/>
                <p:cNvSpPr>
                  <a:spLocks/>
                </p:cNvSpPr>
                <p:nvPr/>
              </p:nvSpPr>
              <p:spPr bwMode="auto">
                <a:xfrm rot="805608">
                  <a:off x="716382" y="2961256"/>
                  <a:ext cx="373982" cy="356472"/>
                </a:xfrm>
                <a:custGeom>
                  <a:avLst/>
                  <a:gdLst>
                    <a:gd name="T0" fmla="*/ 222 w 222"/>
                    <a:gd name="T1" fmla="*/ 40 h 214"/>
                    <a:gd name="T2" fmla="*/ 36 w 222"/>
                    <a:gd name="T3" fmla="*/ 214 h 214"/>
                    <a:gd name="T4" fmla="*/ 222 w 222"/>
                    <a:gd name="T5" fmla="*/ 40 h 214"/>
                  </a:gdLst>
                  <a:ahLst/>
                  <a:cxnLst>
                    <a:cxn ang="0">
                      <a:pos x="T0" y="T1"/>
                    </a:cxn>
                    <a:cxn ang="0">
                      <a:pos x="T2" y="T3"/>
                    </a:cxn>
                    <a:cxn ang="0">
                      <a:pos x="T4" y="T5"/>
                    </a:cxn>
                  </a:cxnLst>
                  <a:rect l="0" t="0" r="r" b="b"/>
                  <a:pathLst>
                    <a:path w="222" h="214">
                      <a:moveTo>
                        <a:pt x="222" y="40"/>
                      </a:moveTo>
                      <a:cubicBezTo>
                        <a:pt x="120" y="125"/>
                        <a:pt x="58" y="183"/>
                        <a:pt x="36" y="214"/>
                      </a:cubicBezTo>
                      <a:cubicBezTo>
                        <a:pt x="0" y="58"/>
                        <a:pt x="62" y="0"/>
                        <a:pt x="222" y="40"/>
                      </a:cubicBezTo>
                      <a:close/>
                    </a:path>
                  </a:pathLst>
                </a:custGeom>
                <a:solidFill>
                  <a:schemeClr val="accent1"/>
                </a:solidFill>
                <a:ln>
                  <a:noFill/>
                </a:ln>
              </p:spPr>
              <p:txBody>
                <a:bodyPr vert="horz" wrap="square" lIns="78226" tIns="39113" rIns="78226" bIns="39113" numCol="1" anchor="t" anchorCtr="0" compatLnSpc="1">
                  <a:prstTxWarp prst="textNoShape">
                    <a:avLst/>
                  </a:prstTxWarp>
                </a:bodyPr>
                <a:lstStyle/>
                <a:p>
                  <a:endParaRPr lang="en-US" sz="1600" dirty="0">
                    <a:solidFill>
                      <a:prstClr val="black"/>
                    </a:solidFill>
                  </a:endParaRPr>
                </a:p>
              </p:txBody>
            </p:sp>
          </p:grpSp>
          <p:grpSp>
            <p:nvGrpSpPr>
              <p:cNvPr id="384" name="Group 383"/>
              <p:cNvGrpSpPr/>
              <p:nvPr/>
            </p:nvGrpSpPr>
            <p:grpSpPr>
              <a:xfrm rot="10800000">
                <a:off x="1004691" y="2775516"/>
                <a:ext cx="1724020" cy="1724020"/>
                <a:chOff x="1014412" y="2717008"/>
                <a:chExt cx="1724020" cy="1724020"/>
              </a:xfrm>
            </p:grpSpPr>
            <p:sp>
              <p:nvSpPr>
                <p:cNvPr id="395" name="Oval 394"/>
                <p:cNvSpPr/>
                <p:nvPr/>
              </p:nvSpPr>
              <p:spPr bwMode="gray">
                <a:xfrm>
                  <a:off x="1014412" y="2717008"/>
                  <a:ext cx="1724020" cy="1724020"/>
                </a:xfrm>
                <a:prstGeom prst="ellipse">
                  <a:avLst/>
                </a:prstGeom>
                <a:solidFill>
                  <a:schemeClr val="accent1"/>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6" name="Oval 395"/>
                <p:cNvSpPr/>
                <p:nvPr/>
              </p:nvSpPr>
              <p:spPr bwMode="gray">
                <a:xfrm>
                  <a:off x="1121567" y="2824163"/>
                  <a:ext cx="1509710" cy="1509710"/>
                </a:xfrm>
                <a:prstGeom prst="ellipse">
                  <a:avLst/>
                </a:prstGeom>
                <a:solidFill>
                  <a:srgbClr val="C4D600"/>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7" name="Oval 396"/>
                <p:cNvSpPr/>
                <p:nvPr/>
              </p:nvSpPr>
              <p:spPr bwMode="gray">
                <a:xfrm>
                  <a:off x="1171575" y="2874171"/>
                  <a:ext cx="1409694" cy="1409694"/>
                </a:xfrm>
                <a:prstGeom prst="ellipse">
                  <a:avLst/>
                </a:prstGeom>
                <a:solidFill>
                  <a:schemeClr val="bg1"/>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8" name="Oval 397"/>
                <p:cNvSpPr/>
                <p:nvPr/>
              </p:nvSpPr>
              <p:spPr bwMode="gray">
                <a:xfrm>
                  <a:off x="1264440" y="2967036"/>
                  <a:ext cx="1223964" cy="1223964"/>
                </a:xfrm>
                <a:prstGeom prst="ellipse">
                  <a:avLst/>
                </a:prstGeom>
                <a:solidFill>
                  <a:schemeClr val="bg1"/>
                </a:solidFill>
                <a:ln w="19050" algn="ctr">
                  <a:solidFill>
                    <a:schemeClr val="accent2"/>
                  </a:solid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9" name="Rectangle 398"/>
                <p:cNvSpPr/>
                <p:nvPr/>
              </p:nvSpPr>
              <p:spPr>
                <a:xfrm rot="10800000">
                  <a:off x="1328299" y="3300459"/>
                  <a:ext cx="1076880" cy="492813"/>
                </a:xfrm>
                <a:prstGeom prst="rect">
                  <a:avLst/>
                </a:prstGeom>
              </p:spPr>
              <p:txBody>
                <a:bodyPr wrap="square">
                  <a:spAutoFit/>
                </a:bodyPr>
                <a:lstStyle/>
                <a:p>
                  <a:pPr algn="ctr"/>
                  <a:r>
                    <a:rPr lang="en-US" sz="1050" dirty="0">
                      <a:solidFill>
                        <a:prstClr val="black"/>
                      </a:solidFill>
                    </a:rPr>
                    <a:t>DELOITTE GLOBALLY </a:t>
                  </a:r>
                  <a:r>
                    <a:rPr lang="en-US" sz="1400" b="1" dirty="0">
                      <a:solidFill>
                        <a:prstClr val="black"/>
                      </a:solidFill>
                    </a:rPr>
                    <a:t>FY2017</a:t>
                  </a:r>
                </a:p>
              </p:txBody>
            </p:sp>
          </p:grpSp>
          <p:grpSp>
            <p:nvGrpSpPr>
              <p:cNvPr id="385" name="Group 384"/>
              <p:cNvGrpSpPr/>
              <p:nvPr/>
            </p:nvGrpSpPr>
            <p:grpSpPr>
              <a:xfrm rot="673604">
                <a:off x="659894" y="3854675"/>
                <a:ext cx="338072" cy="338072"/>
                <a:chOff x="3390135" y="2693194"/>
                <a:chExt cx="350064" cy="350064"/>
              </a:xfrm>
            </p:grpSpPr>
            <p:sp>
              <p:nvSpPr>
                <p:cNvPr id="393" name="Teardrop 392"/>
                <p:cNvSpPr/>
                <p:nvPr/>
              </p:nvSpPr>
              <p:spPr bwMode="gray">
                <a:xfrm>
                  <a:off x="3390135" y="2693194"/>
                  <a:ext cx="350064" cy="350064"/>
                </a:xfrm>
                <a:prstGeom prst="teardrop">
                  <a:avLst/>
                </a:prstGeom>
                <a:solidFill>
                  <a:schemeClr val="tx2"/>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4" name="Oval 393"/>
                <p:cNvSpPr/>
                <p:nvPr/>
              </p:nvSpPr>
              <p:spPr bwMode="gray">
                <a:xfrm>
                  <a:off x="3409414" y="2712473"/>
                  <a:ext cx="311507" cy="311507"/>
                </a:xfrm>
                <a:prstGeom prst="ellipse">
                  <a:avLst/>
                </a:prstGeom>
                <a:solidFill>
                  <a:schemeClr val="tx2">
                    <a:lumMod val="20000"/>
                    <a:lumOff val="80000"/>
                  </a:schemeClr>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grpSp>
            <p:nvGrpSpPr>
              <p:cNvPr id="386" name="Group 385"/>
              <p:cNvGrpSpPr/>
              <p:nvPr/>
            </p:nvGrpSpPr>
            <p:grpSpPr>
              <a:xfrm rot="935370">
                <a:off x="544196" y="4146571"/>
                <a:ext cx="192644" cy="192644"/>
                <a:chOff x="3390135" y="2693194"/>
                <a:chExt cx="350064" cy="350064"/>
              </a:xfrm>
            </p:grpSpPr>
            <p:sp>
              <p:nvSpPr>
                <p:cNvPr id="391" name="Teardrop 390"/>
                <p:cNvSpPr/>
                <p:nvPr/>
              </p:nvSpPr>
              <p:spPr bwMode="gray">
                <a:xfrm>
                  <a:off x="3390135" y="2693194"/>
                  <a:ext cx="350064" cy="350064"/>
                </a:xfrm>
                <a:prstGeom prst="teardrop">
                  <a:avLst/>
                </a:prstGeom>
                <a:solidFill>
                  <a:schemeClr val="accent2"/>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2" name="Oval 391"/>
                <p:cNvSpPr/>
                <p:nvPr/>
              </p:nvSpPr>
              <p:spPr bwMode="gray">
                <a:xfrm>
                  <a:off x="3409414" y="2712473"/>
                  <a:ext cx="311507" cy="311507"/>
                </a:xfrm>
                <a:prstGeom prst="ellipse">
                  <a:avLst/>
                </a:prstGeom>
                <a:solidFill>
                  <a:schemeClr val="accent2">
                    <a:lumMod val="20000"/>
                    <a:lumOff val="80000"/>
                  </a:schemeClr>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grpSp>
            <p:nvGrpSpPr>
              <p:cNvPr id="387" name="Group 386"/>
              <p:cNvGrpSpPr/>
              <p:nvPr/>
            </p:nvGrpSpPr>
            <p:grpSpPr>
              <a:xfrm rot="506023">
                <a:off x="775076" y="4194956"/>
                <a:ext cx="137226" cy="137226"/>
                <a:chOff x="3390135" y="2693194"/>
                <a:chExt cx="350064" cy="350064"/>
              </a:xfrm>
            </p:grpSpPr>
            <p:sp>
              <p:nvSpPr>
                <p:cNvPr id="389" name="Teardrop 388"/>
                <p:cNvSpPr/>
                <p:nvPr/>
              </p:nvSpPr>
              <p:spPr bwMode="gray">
                <a:xfrm>
                  <a:off x="3390135" y="2693194"/>
                  <a:ext cx="350064" cy="350064"/>
                </a:xfrm>
                <a:prstGeom prst="teardrop">
                  <a:avLst/>
                </a:prstGeom>
                <a:solidFill>
                  <a:schemeClr val="accent1"/>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sp>
              <p:nvSpPr>
                <p:cNvPr id="390" name="Oval 389"/>
                <p:cNvSpPr/>
                <p:nvPr/>
              </p:nvSpPr>
              <p:spPr bwMode="gray">
                <a:xfrm>
                  <a:off x="3409414" y="2712473"/>
                  <a:ext cx="311507" cy="311507"/>
                </a:xfrm>
                <a:prstGeom prst="ellipse">
                  <a:avLst/>
                </a:prstGeom>
                <a:solidFill>
                  <a:schemeClr val="accent1">
                    <a:lumMod val="40000"/>
                    <a:lumOff val="60000"/>
                  </a:schemeClr>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sp>
            <p:nvSpPr>
              <p:cNvPr id="388" name="Freeform 387"/>
              <p:cNvSpPr/>
              <p:nvPr/>
            </p:nvSpPr>
            <p:spPr bwMode="gray">
              <a:xfrm>
                <a:off x="3117850" y="2759075"/>
                <a:ext cx="241300" cy="152400"/>
              </a:xfrm>
              <a:custGeom>
                <a:avLst/>
                <a:gdLst>
                  <a:gd name="connsiteX0" fmla="*/ 0 w 241300"/>
                  <a:gd name="connsiteY0" fmla="*/ 88900 h 152400"/>
                  <a:gd name="connsiteX1" fmla="*/ 241300 w 241300"/>
                  <a:gd name="connsiteY1" fmla="*/ 0 h 152400"/>
                  <a:gd name="connsiteX2" fmla="*/ 38100 w 241300"/>
                  <a:gd name="connsiteY2" fmla="*/ 152400 h 152400"/>
                  <a:gd name="connsiteX3" fmla="*/ 0 w 241300"/>
                  <a:gd name="connsiteY3" fmla="*/ 88900 h 152400"/>
                </a:gdLst>
                <a:ahLst/>
                <a:cxnLst>
                  <a:cxn ang="0">
                    <a:pos x="connsiteX0" y="connsiteY0"/>
                  </a:cxn>
                  <a:cxn ang="0">
                    <a:pos x="connsiteX1" y="connsiteY1"/>
                  </a:cxn>
                  <a:cxn ang="0">
                    <a:pos x="connsiteX2" y="connsiteY2"/>
                  </a:cxn>
                  <a:cxn ang="0">
                    <a:pos x="connsiteX3" y="connsiteY3"/>
                  </a:cxn>
                </a:cxnLst>
                <a:rect l="l" t="t" r="r" b="b"/>
                <a:pathLst>
                  <a:path w="241300" h="152400">
                    <a:moveTo>
                      <a:pt x="0" y="88900"/>
                    </a:moveTo>
                    <a:lnTo>
                      <a:pt x="241300" y="0"/>
                    </a:lnTo>
                    <a:lnTo>
                      <a:pt x="38100" y="152400"/>
                    </a:lnTo>
                    <a:lnTo>
                      <a:pt x="0" y="88900"/>
                    </a:lnTo>
                    <a:close/>
                  </a:path>
                </a:pathLst>
              </a:custGeom>
              <a:solidFill>
                <a:schemeClr val="accent2"/>
              </a:solidFill>
              <a:ln w="19050" algn="ctr">
                <a:noFill/>
                <a:miter lim="800000"/>
                <a:headEnd/>
                <a:tailEnd/>
              </a:ln>
            </p:spPr>
            <p:txBody>
              <a:bodyPr wrap="square" lIns="76053" tIns="76053" rIns="76053" bIns="76053" rtlCol="0" anchor="ctr"/>
              <a:lstStyle/>
              <a:p>
                <a:pPr algn="ctr">
                  <a:lnSpc>
                    <a:spcPct val="106000"/>
                  </a:lnSpc>
                  <a:buFont typeface="Wingdings 2" pitchFamily="18" charset="2"/>
                  <a:buNone/>
                </a:pPr>
                <a:endParaRPr lang="en-US" sz="1400" b="1" dirty="0">
                  <a:solidFill>
                    <a:prstClr val="white"/>
                  </a:solidFill>
                </a:endParaRPr>
              </a:p>
            </p:txBody>
          </p:sp>
        </p:grpSp>
        <p:cxnSp>
          <p:nvCxnSpPr>
            <p:cNvPr id="345" name="Straight Connector 344"/>
            <p:cNvCxnSpPr/>
            <p:nvPr/>
          </p:nvCxnSpPr>
          <p:spPr>
            <a:xfrm>
              <a:off x="6809426" y="3803382"/>
              <a:ext cx="9592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6" name="Rectangle 345"/>
            <p:cNvSpPr/>
            <p:nvPr/>
          </p:nvSpPr>
          <p:spPr>
            <a:xfrm>
              <a:off x="7198300" y="3406263"/>
              <a:ext cx="636369" cy="363327"/>
            </a:xfrm>
            <a:prstGeom prst="rect">
              <a:avLst/>
            </a:prstGeom>
          </p:spPr>
          <p:txBody>
            <a:bodyPr wrap="none">
              <a:spAutoFit/>
            </a:bodyPr>
            <a:lstStyle/>
            <a:p>
              <a:pPr algn="r"/>
              <a:r>
                <a:rPr lang="en-US" sz="2400" i="1" dirty="0">
                  <a:solidFill>
                    <a:srgbClr val="0097A9"/>
                  </a:solidFill>
                </a:rPr>
                <a:t>674</a:t>
              </a:r>
            </a:p>
          </p:txBody>
        </p:sp>
        <p:sp>
          <p:nvSpPr>
            <p:cNvPr id="347" name="Rectangle 346"/>
            <p:cNvSpPr/>
            <p:nvPr/>
          </p:nvSpPr>
          <p:spPr>
            <a:xfrm>
              <a:off x="7335997" y="3832258"/>
              <a:ext cx="407318" cy="96887"/>
            </a:xfrm>
            <a:prstGeom prst="rect">
              <a:avLst/>
            </a:prstGeom>
          </p:spPr>
          <p:txBody>
            <a:bodyPr wrap="none" lIns="0" tIns="0" rIns="0" bIns="0">
              <a:spAutoFit/>
            </a:bodyPr>
            <a:lstStyle/>
            <a:p>
              <a:pPr algn="r"/>
              <a:r>
                <a:rPr lang="en-US" sz="800" b="1" dirty="0">
                  <a:solidFill>
                    <a:prstClr val="black"/>
                  </a:solidFill>
                </a:rPr>
                <a:t>OFFICES</a:t>
              </a:r>
            </a:p>
          </p:txBody>
        </p:sp>
        <p:cxnSp>
          <p:nvCxnSpPr>
            <p:cNvPr id="348" name="Straight Connector 347"/>
            <p:cNvCxnSpPr/>
            <p:nvPr/>
          </p:nvCxnSpPr>
          <p:spPr>
            <a:xfrm>
              <a:off x="3363322" y="3682636"/>
              <a:ext cx="1223142"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9" name="Rectangle 348"/>
            <p:cNvSpPr/>
            <p:nvPr/>
          </p:nvSpPr>
          <p:spPr>
            <a:xfrm>
              <a:off x="3363530" y="3343925"/>
              <a:ext cx="1131319" cy="290662"/>
            </a:xfrm>
            <a:prstGeom prst="rect">
              <a:avLst/>
            </a:prstGeom>
          </p:spPr>
          <p:txBody>
            <a:bodyPr wrap="square" lIns="0" tIns="0" rIns="0" bIns="0">
              <a:spAutoFit/>
            </a:bodyPr>
            <a:lstStyle/>
            <a:p>
              <a:r>
                <a:rPr lang="en-US" sz="2400" i="1" dirty="0">
                  <a:solidFill>
                    <a:srgbClr val="0097A9"/>
                  </a:solidFill>
                </a:rPr>
                <a:t>$38.8B</a:t>
              </a:r>
            </a:p>
          </p:txBody>
        </p:sp>
        <p:sp>
          <p:nvSpPr>
            <p:cNvPr id="350" name="Rectangle 349"/>
            <p:cNvSpPr/>
            <p:nvPr/>
          </p:nvSpPr>
          <p:spPr>
            <a:xfrm>
              <a:off x="3387226" y="3726431"/>
              <a:ext cx="810669" cy="96887"/>
            </a:xfrm>
            <a:prstGeom prst="rect">
              <a:avLst/>
            </a:prstGeom>
          </p:spPr>
          <p:txBody>
            <a:bodyPr wrap="none" lIns="0" tIns="0" rIns="0" bIns="0">
              <a:spAutoFit/>
            </a:bodyPr>
            <a:lstStyle/>
            <a:p>
              <a:r>
                <a:rPr lang="en-US" sz="800" b="1" dirty="0">
                  <a:solidFill>
                    <a:prstClr val="black"/>
                  </a:solidFill>
                </a:rPr>
                <a:t>REVENUE IN US$</a:t>
              </a:r>
            </a:p>
          </p:txBody>
        </p:sp>
        <p:sp>
          <p:nvSpPr>
            <p:cNvPr id="351" name="Rectangle 350"/>
            <p:cNvSpPr/>
            <p:nvPr/>
          </p:nvSpPr>
          <p:spPr>
            <a:xfrm>
              <a:off x="3883680" y="2609700"/>
              <a:ext cx="1131319" cy="290662"/>
            </a:xfrm>
            <a:prstGeom prst="rect">
              <a:avLst/>
            </a:prstGeom>
          </p:spPr>
          <p:txBody>
            <a:bodyPr wrap="square" lIns="0" tIns="0" rIns="0" bIns="0">
              <a:spAutoFit/>
            </a:bodyPr>
            <a:lstStyle/>
            <a:p>
              <a:r>
                <a:rPr lang="en-US" sz="2400" i="1" dirty="0">
                  <a:solidFill>
                    <a:srgbClr val="0097A9"/>
                  </a:solidFill>
                </a:rPr>
                <a:t>69,900</a:t>
              </a:r>
            </a:p>
          </p:txBody>
        </p:sp>
        <p:sp>
          <p:nvSpPr>
            <p:cNvPr id="352" name="Rectangle 351"/>
            <p:cNvSpPr/>
            <p:nvPr/>
          </p:nvSpPr>
          <p:spPr>
            <a:xfrm>
              <a:off x="3892384" y="2993944"/>
              <a:ext cx="555434" cy="96887"/>
            </a:xfrm>
            <a:prstGeom prst="rect">
              <a:avLst/>
            </a:prstGeom>
          </p:spPr>
          <p:txBody>
            <a:bodyPr wrap="none" lIns="0" tIns="0" rIns="0" bIns="0">
              <a:spAutoFit/>
            </a:bodyPr>
            <a:lstStyle/>
            <a:p>
              <a:r>
                <a:rPr lang="en-US" sz="800" b="1" dirty="0">
                  <a:solidFill>
                    <a:prstClr val="black"/>
                  </a:solidFill>
                </a:rPr>
                <a:t>NEW HIRES</a:t>
              </a:r>
            </a:p>
          </p:txBody>
        </p:sp>
        <p:sp>
          <p:nvSpPr>
            <p:cNvPr id="353" name="Freeform 352"/>
            <p:cNvSpPr/>
            <p:nvPr/>
          </p:nvSpPr>
          <p:spPr bwMode="gray">
            <a:xfrm>
              <a:off x="3868147" y="2957446"/>
              <a:ext cx="1349375" cy="222250"/>
            </a:xfrm>
            <a:custGeom>
              <a:avLst/>
              <a:gdLst>
                <a:gd name="connsiteX0" fmla="*/ 1349375 w 1349375"/>
                <a:gd name="connsiteY0" fmla="*/ 222250 h 222250"/>
                <a:gd name="connsiteX1" fmla="*/ 1177925 w 1349375"/>
                <a:gd name="connsiteY1" fmla="*/ 0 h 222250"/>
                <a:gd name="connsiteX2" fmla="*/ 0 w 1349375"/>
                <a:gd name="connsiteY2" fmla="*/ 0 h 222250"/>
              </a:gdLst>
              <a:ahLst/>
              <a:cxnLst>
                <a:cxn ang="0">
                  <a:pos x="connsiteX0" y="connsiteY0"/>
                </a:cxn>
                <a:cxn ang="0">
                  <a:pos x="connsiteX1" y="connsiteY1"/>
                </a:cxn>
                <a:cxn ang="0">
                  <a:pos x="connsiteX2" y="connsiteY2"/>
                </a:cxn>
              </a:cxnLst>
              <a:rect l="l" t="t" r="r" b="b"/>
              <a:pathLst>
                <a:path w="1349375" h="222250">
                  <a:moveTo>
                    <a:pt x="1349375" y="222250"/>
                  </a:moveTo>
                  <a:lnTo>
                    <a:pt x="1177925" y="0"/>
                  </a:lnTo>
                  <a:lnTo>
                    <a:pt x="0" y="0"/>
                  </a:lnTo>
                </a:path>
              </a:pathLst>
            </a:cu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solidFill>
                  <a:prstClr val="black"/>
                </a:solidFill>
              </a:endParaRPr>
            </a:p>
          </p:txBody>
        </p:sp>
        <p:sp>
          <p:nvSpPr>
            <p:cNvPr id="354" name="Rectangle 353"/>
            <p:cNvSpPr/>
            <p:nvPr/>
          </p:nvSpPr>
          <p:spPr>
            <a:xfrm>
              <a:off x="6067811" y="2378624"/>
              <a:ext cx="1289847" cy="290662"/>
            </a:xfrm>
            <a:prstGeom prst="rect">
              <a:avLst/>
            </a:prstGeom>
          </p:spPr>
          <p:txBody>
            <a:bodyPr wrap="square" lIns="0" tIns="0" rIns="0" bIns="0">
              <a:spAutoFit/>
            </a:bodyPr>
            <a:lstStyle/>
            <a:p>
              <a:r>
                <a:rPr lang="en-US" sz="2400" i="1" dirty="0">
                  <a:solidFill>
                    <a:srgbClr val="0097A9"/>
                  </a:solidFill>
                </a:rPr>
                <a:t>263,900</a:t>
              </a:r>
            </a:p>
          </p:txBody>
        </p:sp>
        <p:sp>
          <p:nvSpPr>
            <p:cNvPr id="355" name="Rectangle 354"/>
            <p:cNvSpPr/>
            <p:nvPr/>
          </p:nvSpPr>
          <p:spPr>
            <a:xfrm>
              <a:off x="6205517" y="2740165"/>
              <a:ext cx="933658" cy="96887"/>
            </a:xfrm>
            <a:prstGeom prst="rect">
              <a:avLst/>
            </a:prstGeom>
          </p:spPr>
          <p:txBody>
            <a:bodyPr wrap="none" lIns="0" tIns="0" rIns="0" bIns="0">
              <a:spAutoFit/>
            </a:bodyPr>
            <a:lstStyle/>
            <a:p>
              <a:r>
                <a:rPr lang="en-US" sz="800" b="1" dirty="0">
                  <a:solidFill>
                    <a:prstClr val="black"/>
                  </a:solidFill>
                </a:rPr>
                <a:t>TOTAL HEADCOUNT</a:t>
              </a:r>
            </a:p>
          </p:txBody>
        </p:sp>
        <p:sp>
          <p:nvSpPr>
            <p:cNvPr id="356" name="Freeform 355"/>
            <p:cNvSpPr/>
            <p:nvPr/>
          </p:nvSpPr>
          <p:spPr bwMode="gray">
            <a:xfrm flipH="1">
              <a:off x="5572171" y="2712714"/>
              <a:ext cx="1539874" cy="407988"/>
            </a:xfrm>
            <a:custGeom>
              <a:avLst/>
              <a:gdLst>
                <a:gd name="connsiteX0" fmla="*/ 1349375 w 1349375"/>
                <a:gd name="connsiteY0" fmla="*/ 222250 h 222250"/>
                <a:gd name="connsiteX1" fmla="*/ 1177925 w 1349375"/>
                <a:gd name="connsiteY1" fmla="*/ 0 h 222250"/>
                <a:gd name="connsiteX2" fmla="*/ 0 w 1349375"/>
                <a:gd name="connsiteY2" fmla="*/ 0 h 222250"/>
                <a:gd name="connsiteX0" fmla="*/ 1401762 w 1401762"/>
                <a:gd name="connsiteY0" fmla="*/ 222250 h 222250"/>
                <a:gd name="connsiteX1" fmla="*/ 1230312 w 1401762"/>
                <a:gd name="connsiteY1" fmla="*/ 0 h 222250"/>
                <a:gd name="connsiteX2" fmla="*/ 0 w 1401762"/>
                <a:gd name="connsiteY2" fmla="*/ 0 h 222250"/>
                <a:gd name="connsiteX0" fmla="*/ 1539874 w 1539874"/>
                <a:gd name="connsiteY0" fmla="*/ 407988 h 407988"/>
                <a:gd name="connsiteX1" fmla="*/ 1230312 w 1539874"/>
                <a:gd name="connsiteY1" fmla="*/ 0 h 407988"/>
                <a:gd name="connsiteX2" fmla="*/ 0 w 1539874"/>
                <a:gd name="connsiteY2" fmla="*/ 0 h 407988"/>
              </a:gdLst>
              <a:ahLst/>
              <a:cxnLst>
                <a:cxn ang="0">
                  <a:pos x="connsiteX0" y="connsiteY0"/>
                </a:cxn>
                <a:cxn ang="0">
                  <a:pos x="connsiteX1" y="connsiteY1"/>
                </a:cxn>
                <a:cxn ang="0">
                  <a:pos x="connsiteX2" y="connsiteY2"/>
                </a:cxn>
              </a:cxnLst>
              <a:rect l="l" t="t" r="r" b="b"/>
              <a:pathLst>
                <a:path w="1539874" h="407988">
                  <a:moveTo>
                    <a:pt x="1539874" y="407988"/>
                  </a:moveTo>
                  <a:lnTo>
                    <a:pt x="1230312" y="0"/>
                  </a:lnTo>
                  <a:lnTo>
                    <a:pt x="0" y="0"/>
                  </a:lnTo>
                </a:path>
              </a:pathLst>
            </a:cu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solidFill>
                  <a:prstClr val="black"/>
                </a:solidFill>
              </a:endParaRPr>
            </a:p>
          </p:txBody>
        </p:sp>
        <p:sp>
          <p:nvSpPr>
            <p:cNvPr id="357" name="Rectangle 356"/>
            <p:cNvSpPr/>
            <p:nvPr/>
          </p:nvSpPr>
          <p:spPr>
            <a:xfrm>
              <a:off x="3247367" y="4387057"/>
              <a:ext cx="1131319" cy="290662"/>
            </a:xfrm>
            <a:prstGeom prst="rect">
              <a:avLst/>
            </a:prstGeom>
          </p:spPr>
          <p:txBody>
            <a:bodyPr wrap="square" lIns="0" tIns="0" rIns="0" bIns="0">
              <a:spAutoFit/>
            </a:bodyPr>
            <a:lstStyle/>
            <a:p>
              <a:r>
                <a:rPr lang="en-US" sz="2400" i="1" dirty="0">
                  <a:solidFill>
                    <a:srgbClr val="0097A9"/>
                  </a:solidFill>
                </a:rPr>
                <a:t>150+</a:t>
              </a:r>
            </a:p>
          </p:txBody>
        </p:sp>
        <p:sp>
          <p:nvSpPr>
            <p:cNvPr id="358" name="Rectangle 357"/>
            <p:cNvSpPr/>
            <p:nvPr/>
          </p:nvSpPr>
          <p:spPr>
            <a:xfrm>
              <a:off x="3297257" y="4787265"/>
              <a:ext cx="890677" cy="193774"/>
            </a:xfrm>
            <a:prstGeom prst="rect">
              <a:avLst/>
            </a:prstGeom>
          </p:spPr>
          <p:txBody>
            <a:bodyPr wrap="square" lIns="0" tIns="0" rIns="0" bIns="0">
              <a:spAutoFit/>
            </a:bodyPr>
            <a:lstStyle/>
            <a:p>
              <a:r>
                <a:rPr lang="en-US" sz="800" b="1" dirty="0">
                  <a:solidFill>
                    <a:prstClr val="black"/>
                  </a:solidFill>
                </a:rPr>
                <a:t>COUNTRIES AND TERRITORIES</a:t>
              </a:r>
            </a:p>
          </p:txBody>
        </p:sp>
        <p:sp>
          <p:nvSpPr>
            <p:cNvPr id="359" name="Freeform 358"/>
            <p:cNvSpPr/>
            <p:nvPr/>
          </p:nvSpPr>
          <p:spPr bwMode="gray">
            <a:xfrm>
              <a:off x="3271561" y="4645136"/>
              <a:ext cx="1165839" cy="64443"/>
            </a:xfrm>
            <a:custGeom>
              <a:avLst/>
              <a:gdLst>
                <a:gd name="connsiteX0" fmla="*/ 0 w 1409700"/>
                <a:gd name="connsiteY0" fmla="*/ 243840 h 243840"/>
                <a:gd name="connsiteX1" fmla="*/ 1143000 w 1409700"/>
                <a:gd name="connsiteY1" fmla="*/ 243840 h 243840"/>
                <a:gd name="connsiteX2" fmla="*/ 1409700 w 1409700"/>
                <a:gd name="connsiteY2" fmla="*/ 0 h 243840"/>
                <a:gd name="connsiteX0" fmla="*/ 0 w 1333500"/>
                <a:gd name="connsiteY0" fmla="*/ 99060 h 99060"/>
                <a:gd name="connsiteX1" fmla="*/ 1143000 w 1333500"/>
                <a:gd name="connsiteY1" fmla="*/ 99060 h 99060"/>
                <a:gd name="connsiteX2" fmla="*/ 1333500 w 1333500"/>
                <a:gd name="connsiteY2" fmla="*/ 0 h 99060"/>
              </a:gdLst>
              <a:ahLst/>
              <a:cxnLst>
                <a:cxn ang="0">
                  <a:pos x="connsiteX0" y="connsiteY0"/>
                </a:cxn>
                <a:cxn ang="0">
                  <a:pos x="connsiteX1" y="connsiteY1"/>
                </a:cxn>
                <a:cxn ang="0">
                  <a:pos x="connsiteX2" y="connsiteY2"/>
                </a:cxn>
              </a:cxnLst>
              <a:rect l="l" t="t" r="r" b="b"/>
              <a:pathLst>
                <a:path w="1333500" h="99060">
                  <a:moveTo>
                    <a:pt x="0" y="99060"/>
                  </a:moveTo>
                  <a:lnTo>
                    <a:pt x="1143000" y="99060"/>
                  </a:lnTo>
                  <a:lnTo>
                    <a:pt x="1333500" y="0"/>
                  </a:lnTo>
                </a:path>
              </a:pathLst>
            </a:cu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solidFill>
                  <a:prstClr val="black"/>
                </a:solidFill>
              </a:endParaRPr>
            </a:p>
          </p:txBody>
        </p:sp>
        <p:sp>
          <p:nvSpPr>
            <p:cNvPr id="360" name="Rectangle 359"/>
            <p:cNvSpPr/>
            <p:nvPr/>
          </p:nvSpPr>
          <p:spPr>
            <a:xfrm>
              <a:off x="3308611" y="4313283"/>
              <a:ext cx="774612" cy="96887"/>
            </a:xfrm>
            <a:prstGeom prst="rect">
              <a:avLst/>
            </a:prstGeom>
          </p:spPr>
          <p:txBody>
            <a:bodyPr wrap="square" lIns="0" tIns="0" rIns="0" bIns="0">
              <a:spAutoFit/>
            </a:bodyPr>
            <a:lstStyle/>
            <a:p>
              <a:r>
                <a:rPr lang="en-US" sz="800" b="1" dirty="0">
                  <a:solidFill>
                    <a:prstClr val="black"/>
                  </a:solidFill>
                </a:rPr>
                <a:t>MORE THAN</a:t>
              </a:r>
            </a:p>
          </p:txBody>
        </p:sp>
        <p:sp>
          <p:nvSpPr>
            <p:cNvPr id="361" name="Rectangle 360"/>
            <p:cNvSpPr/>
            <p:nvPr/>
          </p:nvSpPr>
          <p:spPr>
            <a:xfrm>
              <a:off x="6731363" y="4856466"/>
              <a:ext cx="1131319" cy="290662"/>
            </a:xfrm>
            <a:prstGeom prst="rect">
              <a:avLst/>
            </a:prstGeom>
          </p:spPr>
          <p:txBody>
            <a:bodyPr wrap="square" lIns="0" tIns="0" rIns="0" bIns="0">
              <a:spAutoFit/>
            </a:bodyPr>
            <a:lstStyle/>
            <a:p>
              <a:pPr algn="r"/>
              <a:r>
                <a:rPr lang="en-US" sz="2400" i="1" dirty="0">
                  <a:solidFill>
                    <a:srgbClr val="0097A9"/>
                  </a:solidFill>
                </a:rPr>
                <a:t>$200M</a:t>
              </a:r>
            </a:p>
          </p:txBody>
        </p:sp>
        <p:sp>
          <p:nvSpPr>
            <p:cNvPr id="362" name="Rectangle 361"/>
            <p:cNvSpPr/>
            <p:nvPr/>
          </p:nvSpPr>
          <p:spPr>
            <a:xfrm>
              <a:off x="6693149" y="5223428"/>
              <a:ext cx="1169534" cy="193774"/>
            </a:xfrm>
            <a:prstGeom prst="rect">
              <a:avLst/>
            </a:prstGeom>
          </p:spPr>
          <p:txBody>
            <a:bodyPr wrap="square" lIns="0" tIns="0" rIns="0" bIns="0">
              <a:spAutoFit/>
            </a:bodyPr>
            <a:lstStyle/>
            <a:p>
              <a:pPr algn="r"/>
              <a:r>
                <a:rPr lang="en-US" sz="800" b="1" dirty="0">
                  <a:solidFill>
                    <a:prstClr val="black"/>
                  </a:solidFill>
                </a:rPr>
                <a:t>SOCIETAL IMPACT CONTRIBUTIONS IN US$</a:t>
              </a:r>
            </a:p>
          </p:txBody>
        </p:sp>
        <p:sp>
          <p:nvSpPr>
            <p:cNvPr id="363" name="Freeform 362"/>
            <p:cNvSpPr/>
            <p:nvPr/>
          </p:nvSpPr>
          <p:spPr bwMode="gray">
            <a:xfrm flipH="1">
              <a:off x="6461395" y="4943091"/>
              <a:ext cx="1409700" cy="243840"/>
            </a:xfrm>
            <a:custGeom>
              <a:avLst/>
              <a:gdLst>
                <a:gd name="connsiteX0" fmla="*/ 0 w 1409700"/>
                <a:gd name="connsiteY0" fmla="*/ 243840 h 243840"/>
                <a:gd name="connsiteX1" fmla="*/ 1143000 w 1409700"/>
                <a:gd name="connsiteY1" fmla="*/ 243840 h 243840"/>
                <a:gd name="connsiteX2" fmla="*/ 1409700 w 1409700"/>
                <a:gd name="connsiteY2" fmla="*/ 0 h 243840"/>
              </a:gdLst>
              <a:ahLst/>
              <a:cxnLst>
                <a:cxn ang="0">
                  <a:pos x="connsiteX0" y="connsiteY0"/>
                </a:cxn>
                <a:cxn ang="0">
                  <a:pos x="connsiteX1" y="connsiteY1"/>
                </a:cxn>
                <a:cxn ang="0">
                  <a:pos x="connsiteX2" y="connsiteY2"/>
                </a:cxn>
              </a:cxnLst>
              <a:rect l="l" t="t" r="r" b="b"/>
              <a:pathLst>
                <a:path w="1409700" h="243840">
                  <a:moveTo>
                    <a:pt x="0" y="243840"/>
                  </a:moveTo>
                  <a:lnTo>
                    <a:pt x="1143000" y="243840"/>
                  </a:lnTo>
                  <a:lnTo>
                    <a:pt x="1409700" y="0"/>
                  </a:lnTo>
                </a:path>
              </a:pathLst>
            </a:cu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solidFill>
                  <a:prstClr val="black"/>
                </a:solidFill>
              </a:endParaRPr>
            </a:p>
          </p:txBody>
        </p:sp>
        <p:sp>
          <p:nvSpPr>
            <p:cNvPr id="364" name="Rectangle 363"/>
            <p:cNvSpPr/>
            <p:nvPr/>
          </p:nvSpPr>
          <p:spPr>
            <a:xfrm>
              <a:off x="3580218" y="5299064"/>
              <a:ext cx="969740" cy="290662"/>
            </a:xfrm>
            <a:prstGeom prst="rect">
              <a:avLst/>
            </a:prstGeom>
          </p:spPr>
          <p:txBody>
            <a:bodyPr wrap="square" lIns="0" tIns="0" rIns="0" bIns="0">
              <a:spAutoFit/>
            </a:bodyPr>
            <a:lstStyle/>
            <a:p>
              <a:r>
                <a:rPr lang="en-US" sz="2400" i="1" dirty="0">
                  <a:solidFill>
                    <a:srgbClr val="0097A9"/>
                  </a:solidFill>
                </a:rPr>
                <a:t>65,000</a:t>
              </a:r>
            </a:p>
          </p:txBody>
        </p:sp>
        <p:sp>
          <p:nvSpPr>
            <p:cNvPr id="365" name="Rectangle 364"/>
            <p:cNvSpPr/>
            <p:nvPr/>
          </p:nvSpPr>
          <p:spPr>
            <a:xfrm>
              <a:off x="3387226" y="5704193"/>
              <a:ext cx="1360943" cy="290662"/>
            </a:xfrm>
            <a:prstGeom prst="rect">
              <a:avLst/>
            </a:prstGeom>
          </p:spPr>
          <p:txBody>
            <a:bodyPr wrap="square" lIns="0" tIns="0" rIns="0" bIns="0">
              <a:spAutoFit/>
            </a:bodyPr>
            <a:lstStyle/>
            <a:p>
              <a:r>
                <a:rPr lang="en-US" sz="800" b="1" dirty="0">
                  <a:solidFill>
                    <a:prstClr val="black"/>
                  </a:solidFill>
                </a:rPr>
                <a:t>DELOITTE PROFESSIONALS EXPERIENCED DELOITTE UNIVERSITY</a:t>
              </a:r>
            </a:p>
          </p:txBody>
        </p:sp>
        <p:sp>
          <p:nvSpPr>
            <p:cNvPr id="366" name="Freeform 365"/>
            <p:cNvSpPr/>
            <p:nvPr/>
          </p:nvSpPr>
          <p:spPr bwMode="gray">
            <a:xfrm>
              <a:off x="3317642" y="5332469"/>
              <a:ext cx="1576423" cy="295455"/>
            </a:xfrm>
            <a:custGeom>
              <a:avLst/>
              <a:gdLst>
                <a:gd name="connsiteX0" fmla="*/ 0 w 2110740"/>
                <a:gd name="connsiteY0" fmla="*/ 365760 h 365760"/>
                <a:gd name="connsiteX1" fmla="*/ 1592580 w 2110740"/>
                <a:gd name="connsiteY1" fmla="*/ 365760 h 365760"/>
                <a:gd name="connsiteX2" fmla="*/ 2110740 w 2110740"/>
                <a:gd name="connsiteY2" fmla="*/ 0 h 365760"/>
                <a:gd name="connsiteX0" fmla="*/ 0 w 1965960"/>
                <a:gd name="connsiteY0" fmla="*/ 518160 h 518160"/>
                <a:gd name="connsiteX1" fmla="*/ 1592580 w 1965960"/>
                <a:gd name="connsiteY1" fmla="*/ 518160 h 518160"/>
                <a:gd name="connsiteX2" fmla="*/ 1965960 w 1965960"/>
                <a:gd name="connsiteY2" fmla="*/ 0 h 518160"/>
                <a:gd name="connsiteX0" fmla="*/ 0 w 1821180"/>
                <a:gd name="connsiteY0" fmla="*/ 289560 h 289560"/>
                <a:gd name="connsiteX1" fmla="*/ 1592580 w 1821180"/>
                <a:gd name="connsiteY1" fmla="*/ 289560 h 289560"/>
                <a:gd name="connsiteX2" fmla="*/ 1821180 w 1821180"/>
                <a:gd name="connsiteY2" fmla="*/ 0 h 289560"/>
              </a:gdLst>
              <a:ahLst/>
              <a:cxnLst>
                <a:cxn ang="0">
                  <a:pos x="connsiteX0" y="connsiteY0"/>
                </a:cxn>
                <a:cxn ang="0">
                  <a:pos x="connsiteX1" y="connsiteY1"/>
                </a:cxn>
                <a:cxn ang="0">
                  <a:pos x="connsiteX2" y="connsiteY2"/>
                </a:cxn>
              </a:cxnLst>
              <a:rect l="l" t="t" r="r" b="b"/>
              <a:pathLst>
                <a:path w="1821180" h="289560">
                  <a:moveTo>
                    <a:pt x="0" y="289560"/>
                  </a:moveTo>
                  <a:lnTo>
                    <a:pt x="1592580" y="289560"/>
                  </a:lnTo>
                  <a:lnTo>
                    <a:pt x="1821180" y="0"/>
                  </a:lnTo>
                </a:path>
              </a:pathLst>
            </a:cu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dirty="0">
                <a:solidFill>
                  <a:prstClr val="black"/>
                </a:solidFill>
              </a:endParaRPr>
            </a:p>
          </p:txBody>
        </p:sp>
      </p:grpSp>
    </p:spTree>
    <p:extLst>
      <p:ext uri="{BB962C8B-B14F-4D97-AF65-F5344CB8AC3E}">
        <p14:creationId xmlns:p14="http://schemas.microsoft.com/office/powerpoint/2010/main" val="4038229613"/>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3"/>
          </p:nvPr>
        </p:nvSpPr>
        <p:spPr>
          <a:xfrm>
            <a:off x="352350" y="867347"/>
            <a:ext cx="10014280" cy="835084"/>
          </a:xfrm>
        </p:spPr>
        <p:txBody>
          <a:bodyPr/>
          <a:lstStyle/>
          <a:p>
            <a:r>
              <a:rPr lang="en-GB" dirty="0"/>
              <a:t>We are India’s most eminent professional services firm which combines its global capabilities with regional experience and insights…</a:t>
            </a:r>
          </a:p>
        </p:txBody>
      </p:sp>
      <p:sp>
        <p:nvSpPr>
          <p:cNvPr id="11" name="Content Placeholder 10"/>
          <p:cNvSpPr>
            <a:spLocks noGrp="1"/>
          </p:cNvSpPr>
          <p:nvPr>
            <p:ph idx="1"/>
          </p:nvPr>
        </p:nvSpPr>
        <p:spPr>
          <a:xfrm>
            <a:off x="439794" y="1724237"/>
            <a:ext cx="9788639" cy="5159882"/>
          </a:xfrm>
        </p:spPr>
        <p:txBody>
          <a:bodyPr/>
          <a:lstStyle/>
          <a:p>
            <a:endParaRPr lang="en-GB" dirty="0"/>
          </a:p>
        </p:txBody>
      </p:sp>
      <p:sp>
        <p:nvSpPr>
          <p:cNvPr id="13" name="Rectangle 12"/>
          <p:cNvSpPr/>
          <p:nvPr/>
        </p:nvSpPr>
        <p:spPr bwMode="gray">
          <a:xfrm>
            <a:off x="352351" y="1680216"/>
            <a:ext cx="10014280" cy="5224463"/>
          </a:xfrm>
          <a:prstGeom prst="rect">
            <a:avLst/>
          </a:prstGeom>
          <a:pattFill prst="dkHorz">
            <a:fgClr>
              <a:schemeClr val="bg1">
                <a:lumMod val="95000"/>
              </a:schemeClr>
            </a:fgClr>
            <a:bgClr>
              <a:schemeClr val="bg1"/>
            </a:bgClr>
          </a:patt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14" name="Group 13"/>
          <p:cNvGrpSpPr/>
          <p:nvPr/>
        </p:nvGrpSpPr>
        <p:grpSpPr>
          <a:xfrm>
            <a:off x="3318448" y="5049653"/>
            <a:ext cx="2280053" cy="1482963"/>
            <a:chOff x="3318448" y="5198237"/>
            <a:chExt cx="2280053" cy="1482963"/>
          </a:xfrm>
          <a:solidFill>
            <a:schemeClr val="accent6">
              <a:lumMod val="60000"/>
              <a:lumOff val="40000"/>
            </a:schemeClr>
          </a:solidFill>
        </p:grpSpPr>
        <p:grpSp>
          <p:nvGrpSpPr>
            <p:cNvPr id="15" name="Group 14"/>
            <p:cNvGrpSpPr/>
            <p:nvPr/>
          </p:nvGrpSpPr>
          <p:grpSpPr>
            <a:xfrm>
              <a:off x="3318448" y="5198237"/>
              <a:ext cx="2280053" cy="978028"/>
              <a:chOff x="3318448" y="5198237"/>
              <a:chExt cx="2280053" cy="978028"/>
            </a:xfrm>
            <a:grpFill/>
          </p:grpSpPr>
          <p:grpSp>
            <p:nvGrpSpPr>
              <p:cNvPr id="37" name="Group 36"/>
              <p:cNvGrpSpPr/>
              <p:nvPr/>
            </p:nvGrpSpPr>
            <p:grpSpPr>
              <a:xfrm>
                <a:off x="3318448" y="5198237"/>
                <a:ext cx="2280053" cy="473489"/>
                <a:chOff x="3318448" y="5198237"/>
                <a:chExt cx="2280053" cy="473489"/>
              </a:xfrm>
              <a:grpFill/>
            </p:grpSpPr>
            <p:grpSp>
              <p:nvGrpSpPr>
                <p:cNvPr id="59" name="Group 58"/>
                <p:cNvGrpSpPr/>
                <p:nvPr/>
              </p:nvGrpSpPr>
              <p:grpSpPr>
                <a:xfrm>
                  <a:off x="3318448" y="5198237"/>
                  <a:ext cx="2280053" cy="219456"/>
                  <a:chOff x="3318448" y="5198237"/>
                  <a:chExt cx="2280053" cy="219456"/>
                </a:xfrm>
                <a:grpFill/>
              </p:grpSpPr>
              <p:sp>
                <p:nvSpPr>
                  <p:cNvPr id="70"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1"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2"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3"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4"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5"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6"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7"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78"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60" name="Group 59"/>
                <p:cNvGrpSpPr/>
                <p:nvPr/>
              </p:nvGrpSpPr>
              <p:grpSpPr>
                <a:xfrm>
                  <a:off x="3318448" y="5452270"/>
                  <a:ext cx="2280053" cy="219456"/>
                  <a:chOff x="3318448" y="5198237"/>
                  <a:chExt cx="2280053" cy="219456"/>
                </a:xfrm>
                <a:grpFill/>
              </p:grpSpPr>
              <p:sp>
                <p:nvSpPr>
                  <p:cNvPr id="61"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2"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3"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4"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5"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6"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7"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8"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69"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grpSp>
            <p:nvGrpSpPr>
              <p:cNvPr id="38" name="Group 37"/>
              <p:cNvGrpSpPr/>
              <p:nvPr/>
            </p:nvGrpSpPr>
            <p:grpSpPr>
              <a:xfrm>
                <a:off x="3318448" y="5702776"/>
                <a:ext cx="2280053" cy="473489"/>
                <a:chOff x="3318448" y="5198237"/>
                <a:chExt cx="2280053" cy="473489"/>
              </a:xfrm>
              <a:grpFill/>
            </p:grpSpPr>
            <p:grpSp>
              <p:nvGrpSpPr>
                <p:cNvPr id="39" name="Group 38"/>
                <p:cNvGrpSpPr/>
                <p:nvPr/>
              </p:nvGrpSpPr>
              <p:grpSpPr>
                <a:xfrm>
                  <a:off x="3318448" y="5198237"/>
                  <a:ext cx="2280053" cy="219456"/>
                  <a:chOff x="3318448" y="5198237"/>
                  <a:chExt cx="2280053" cy="219456"/>
                </a:xfrm>
                <a:grpFill/>
              </p:grpSpPr>
              <p:sp>
                <p:nvSpPr>
                  <p:cNvPr id="50"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1"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2"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3"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4"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5"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6"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7"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58"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40" name="Group 39"/>
                <p:cNvGrpSpPr/>
                <p:nvPr/>
              </p:nvGrpSpPr>
              <p:grpSpPr>
                <a:xfrm>
                  <a:off x="3318448" y="5452270"/>
                  <a:ext cx="2280053" cy="219456"/>
                  <a:chOff x="3318448" y="5198237"/>
                  <a:chExt cx="2280053" cy="219456"/>
                </a:xfrm>
                <a:grpFill/>
              </p:grpSpPr>
              <p:sp>
                <p:nvSpPr>
                  <p:cNvPr id="41"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2"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3"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4"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5"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6"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7"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8"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49"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grpSp>
        <p:grpSp>
          <p:nvGrpSpPr>
            <p:cNvPr id="16" name="Group 15"/>
            <p:cNvGrpSpPr/>
            <p:nvPr/>
          </p:nvGrpSpPr>
          <p:grpSpPr>
            <a:xfrm>
              <a:off x="3318448" y="6207711"/>
              <a:ext cx="2280053" cy="473489"/>
              <a:chOff x="3318448" y="5198237"/>
              <a:chExt cx="2280053" cy="473489"/>
            </a:xfrm>
            <a:grpFill/>
          </p:grpSpPr>
          <p:grpSp>
            <p:nvGrpSpPr>
              <p:cNvPr id="17" name="Group 16"/>
              <p:cNvGrpSpPr/>
              <p:nvPr/>
            </p:nvGrpSpPr>
            <p:grpSpPr>
              <a:xfrm>
                <a:off x="3318448" y="5198237"/>
                <a:ext cx="2280053" cy="219456"/>
                <a:chOff x="3318448" y="5198237"/>
                <a:chExt cx="2280053" cy="219456"/>
              </a:xfrm>
              <a:grpFill/>
            </p:grpSpPr>
            <p:sp>
              <p:nvSpPr>
                <p:cNvPr id="28"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9"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0"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1"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2"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3"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4"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5"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36"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18" name="Group 17"/>
              <p:cNvGrpSpPr/>
              <p:nvPr/>
            </p:nvGrpSpPr>
            <p:grpSpPr>
              <a:xfrm>
                <a:off x="3318448" y="5452270"/>
                <a:ext cx="2280053" cy="219456"/>
                <a:chOff x="3318448" y="5198237"/>
                <a:chExt cx="2280053" cy="219456"/>
              </a:xfrm>
              <a:grpFill/>
            </p:grpSpPr>
            <p:sp>
              <p:nvSpPr>
                <p:cNvPr id="19"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0"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1"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2"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3"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4"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5"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6"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27"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grpSp>
      <p:grpSp>
        <p:nvGrpSpPr>
          <p:cNvPr id="79" name="Group 78"/>
          <p:cNvGrpSpPr/>
          <p:nvPr/>
        </p:nvGrpSpPr>
        <p:grpSpPr>
          <a:xfrm>
            <a:off x="3323076" y="3520255"/>
            <a:ext cx="2264695" cy="1490041"/>
            <a:chOff x="3323076" y="3668839"/>
            <a:chExt cx="2264695" cy="1490041"/>
          </a:xfrm>
          <a:solidFill>
            <a:schemeClr val="tx2">
              <a:lumMod val="20000"/>
              <a:lumOff val="80000"/>
            </a:schemeClr>
          </a:solidFill>
        </p:grpSpPr>
        <p:grpSp>
          <p:nvGrpSpPr>
            <p:cNvPr id="80" name="Group 79"/>
            <p:cNvGrpSpPr/>
            <p:nvPr/>
          </p:nvGrpSpPr>
          <p:grpSpPr>
            <a:xfrm>
              <a:off x="3323076" y="3668839"/>
              <a:ext cx="2264695" cy="219456"/>
              <a:chOff x="3323076" y="3668839"/>
              <a:chExt cx="2264695" cy="219456"/>
            </a:xfrm>
            <a:grpFill/>
          </p:grpSpPr>
          <p:sp>
            <p:nvSpPr>
              <p:cNvPr id="131"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2"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3"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4"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5"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6"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7"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8"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9"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81" name="Group 80"/>
            <p:cNvGrpSpPr/>
            <p:nvPr/>
          </p:nvGrpSpPr>
          <p:grpSpPr>
            <a:xfrm>
              <a:off x="3323076" y="3925557"/>
              <a:ext cx="2264695" cy="219456"/>
              <a:chOff x="3323076" y="3668839"/>
              <a:chExt cx="2264695" cy="219456"/>
            </a:xfrm>
            <a:grpFill/>
          </p:grpSpPr>
          <p:sp>
            <p:nvSpPr>
              <p:cNvPr id="122"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3"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4"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5"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6"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7"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8"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9"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30"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82" name="Group 81"/>
            <p:cNvGrpSpPr/>
            <p:nvPr/>
          </p:nvGrpSpPr>
          <p:grpSpPr>
            <a:xfrm>
              <a:off x="3323076" y="4178502"/>
              <a:ext cx="2264695" cy="219456"/>
              <a:chOff x="3323076" y="3668839"/>
              <a:chExt cx="2264695" cy="219456"/>
            </a:xfrm>
            <a:grpFill/>
          </p:grpSpPr>
          <p:sp>
            <p:nvSpPr>
              <p:cNvPr id="113"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4"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5"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6"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7"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8"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9"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0"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21"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83" name="Group 82"/>
            <p:cNvGrpSpPr/>
            <p:nvPr/>
          </p:nvGrpSpPr>
          <p:grpSpPr>
            <a:xfrm>
              <a:off x="3323076" y="4435220"/>
              <a:ext cx="2264695" cy="219456"/>
              <a:chOff x="3323076" y="3668839"/>
              <a:chExt cx="2264695" cy="219456"/>
            </a:xfrm>
            <a:grpFill/>
          </p:grpSpPr>
          <p:sp>
            <p:nvSpPr>
              <p:cNvPr id="104"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5"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6"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7"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8"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9"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0"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1"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12"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84" name="Group 83"/>
            <p:cNvGrpSpPr/>
            <p:nvPr/>
          </p:nvGrpSpPr>
          <p:grpSpPr>
            <a:xfrm>
              <a:off x="3323076" y="4682706"/>
              <a:ext cx="2264695" cy="219456"/>
              <a:chOff x="3323076" y="3668839"/>
              <a:chExt cx="2264695" cy="219456"/>
            </a:xfrm>
            <a:grpFill/>
          </p:grpSpPr>
          <p:sp>
            <p:nvSpPr>
              <p:cNvPr id="95"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6"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7"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8"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9"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0"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1"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2"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103"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nvGrpSpPr>
            <p:cNvPr id="85" name="Group 84"/>
            <p:cNvGrpSpPr/>
            <p:nvPr/>
          </p:nvGrpSpPr>
          <p:grpSpPr>
            <a:xfrm>
              <a:off x="3323076" y="4939424"/>
              <a:ext cx="2264695" cy="219456"/>
              <a:chOff x="3323076" y="3668839"/>
              <a:chExt cx="2264695" cy="219456"/>
            </a:xfrm>
            <a:grpFill/>
          </p:grpSpPr>
          <p:sp>
            <p:nvSpPr>
              <p:cNvPr id="86"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87"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88"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89"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0"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1"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2"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3"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sp>
            <p:nvSpPr>
              <p:cNvPr id="94"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dirty="0"/>
              </a:p>
            </p:txBody>
          </p:sp>
        </p:grpSp>
      </p:grpSp>
      <p:grpSp>
        <p:nvGrpSpPr>
          <p:cNvPr id="140" name="Group 139"/>
          <p:cNvGrpSpPr/>
          <p:nvPr/>
        </p:nvGrpSpPr>
        <p:grpSpPr>
          <a:xfrm>
            <a:off x="3321642" y="1990891"/>
            <a:ext cx="2262542" cy="1485900"/>
            <a:chOff x="3321642" y="2139475"/>
            <a:chExt cx="2262542" cy="1485900"/>
          </a:xfrm>
          <a:solidFill>
            <a:schemeClr val="accent3">
              <a:lumMod val="40000"/>
              <a:lumOff val="60000"/>
            </a:schemeClr>
          </a:solidFill>
        </p:grpSpPr>
        <p:grpSp>
          <p:nvGrpSpPr>
            <p:cNvPr id="141" name="Group 140"/>
            <p:cNvGrpSpPr/>
            <p:nvPr/>
          </p:nvGrpSpPr>
          <p:grpSpPr>
            <a:xfrm>
              <a:off x="3321642" y="2139475"/>
              <a:ext cx="2262542" cy="220890"/>
              <a:chOff x="3649188" y="1858074"/>
              <a:chExt cx="2262542" cy="220890"/>
            </a:xfrm>
            <a:grpFill/>
          </p:grpSpPr>
          <p:sp>
            <p:nvSpPr>
              <p:cNvPr id="192"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3"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4"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5"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6"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7"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8"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9"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200"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grpSp>
        <p:grpSp>
          <p:nvGrpSpPr>
            <p:cNvPr id="142" name="Group 141"/>
            <p:cNvGrpSpPr/>
            <p:nvPr/>
          </p:nvGrpSpPr>
          <p:grpSpPr>
            <a:xfrm>
              <a:off x="3321642" y="2386706"/>
              <a:ext cx="2262542" cy="220890"/>
              <a:chOff x="3649188" y="1858074"/>
              <a:chExt cx="2262542" cy="220890"/>
            </a:xfrm>
            <a:grpFill/>
          </p:grpSpPr>
          <p:sp>
            <p:nvSpPr>
              <p:cNvPr id="183"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4"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5"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6"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7"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8"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9"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0"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91"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grpSp>
        <p:grpSp>
          <p:nvGrpSpPr>
            <p:cNvPr id="143" name="Group 142"/>
            <p:cNvGrpSpPr/>
            <p:nvPr/>
          </p:nvGrpSpPr>
          <p:grpSpPr>
            <a:xfrm>
              <a:off x="3321642" y="2665803"/>
              <a:ext cx="2262542" cy="220890"/>
              <a:chOff x="3649188" y="1858074"/>
              <a:chExt cx="2262542" cy="220890"/>
            </a:xfrm>
            <a:grpFill/>
          </p:grpSpPr>
          <p:sp>
            <p:nvSpPr>
              <p:cNvPr id="174"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5"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6"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7"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8"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9"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0"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1"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82"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grpSp>
        <p:grpSp>
          <p:nvGrpSpPr>
            <p:cNvPr id="144" name="Group 143"/>
            <p:cNvGrpSpPr/>
            <p:nvPr/>
          </p:nvGrpSpPr>
          <p:grpSpPr>
            <a:xfrm>
              <a:off x="3321642" y="2913034"/>
              <a:ext cx="2262542" cy="220890"/>
              <a:chOff x="3649188" y="1858074"/>
              <a:chExt cx="2262542" cy="220890"/>
            </a:xfrm>
            <a:grpFill/>
          </p:grpSpPr>
          <p:sp>
            <p:nvSpPr>
              <p:cNvPr id="165"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6"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7"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8"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9"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0"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1"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2"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73"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grpSp>
        <p:grpSp>
          <p:nvGrpSpPr>
            <p:cNvPr id="145" name="Group 144"/>
            <p:cNvGrpSpPr/>
            <p:nvPr/>
          </p:nvGrpSpPr>
          <p:grpSpPr>
            <a:xfrm>
              <a:off x="3321642" y="3157254"/>
              <a:ext cx="2262542" cy="220890"/>
              <a:chOff x="3649188" y="1858074"/>
              <a:chExt cx="2262542" cy="220890"/>
            </a:xfrm>
            <a:grpFill/>
          </p:grpSpPr>
          <p:sp>
            <p:nvSpPr>
              <p:cNvPr id="156"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7"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8"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9"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0"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1"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2"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3"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64"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grpSp>
        <p:grpSp>
          <p:nvGrpSpPr>
            <p:cNvPr id="146" name="Group 145"/>
            <p:cNvGrpSpPr/>
            <p:nvPr/>
          </p:nvGrpSpPr>
          <p:grpSpPr>
            <a:xfrm>
              <a:off x="3321642" y="3404485"/>
              <a:ext cx="2262542" cy="220890"/>
              <a:chOff x="3649188" y="1858074"/>
              <a:chExt cx="2262542" cy="220890"/>
            </a:xfrm>
            <a:grpFill/>
          </p:grpSpPr>
          <p:sp>
            <p:nvSpPr>
              <p:cNvPr id="147"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48"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49"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0"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1"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2"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3"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4"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sp>
            <p:nvSpPr>
              <p:cNvPr id="155"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endParaRPr lang="en-GB" dirty="0">
                  <a:solidFill>
                    <a:schemeClr val="accent3">
                      <a:lumMod val="20000"/>
                      <a:lumOff val="80000"/>
                    </a:schemeClr>
                  </a:solidFill>
                </a:endParaRPr>
              </a:p>
            </p:txBody>
          </p:sp>
        </p:grpSp>
      </p:grpSp>
      <p:sp>
        <p:nvSpPr>
          <p:cNvPr id="201" name="TextBox 200"/>
          <p:cNvSpPr txBox="1"/>
          <p:nvPr/>
        </p:nvSpPr>
        <p:spPr>
          <a:xfrm>
            <a:off x="3679027" y="2310501"/>
            <a:ext cx="1591039" cy="543195"/>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ts val="4000"/>
              </a:lnSpc>
            </a:pPr>
            <a:r>
              <a:rPr lang="en-GB" sz="3200" b="0" dirty="0">
                <a:solidFill>
                  <a:schemeClr val="accent1"/>
                </a:solidFill>
              </a:rPr>
              <a:t>9000+</a:t>
            </a:r>
          </a:p>
        </p:txBody>
      </p:sp>
      <p:grpSp>
        <p:nvGrpSpPr>
          <p:cNvPr id="202" name="Group 201"/>
          <p:cNvGrpSpPr/>
          <p:nvPr/>
        </p:nvGrpSpPr>
        <p:grpSpPr>
          <a:xfrm>
            <a:off x="621928" y="2171763"/>
            <a:ext cx="2517580" cy="2539158"/>
            <a:chOff x="715860" y="1944115"/>
            <a:chExt cx="2517580" cy="2539158"/>
          </a:xfrm>
        </p:grpSpPr>
        <p:sp>
          <p:nvSpPr>
            <p:cNvPr id="203" name="Freeform 14"/>
            <p:cNvSpPr>
              <a:spLocks noChangeAspect="1"/>
            </p:cNvSpPr>
            <p:nvPr/>
          </p:nvSpPr>
          <p:spPr bwMode="auto">
            <a:xfrm>
              <a:off x="715860" y="1944115"/>
              <a:ext cx="2517580" cy="2539158"/>
            </a:xfrm>
            <a:custGeom>
              <a:avLst/>
              <a:gdLst>
                <a:gd name="T0" fmla="*/ 2147483647 w 1903"/>
                <a:gd name="T1" fmla="*/ 2147483647 h 2101"/>
                <a:gd name="T2" fmla="*/ 2147483647 w 1903"/>
                <a:gd name="T3" fmla="*/ 2147483647 h 2101"/>
                <a:gd name="T4" fmla="*/ 2147483647 w 1903"/>
                <a:gd name="T5" fmla="*/ 2147483647 h 2101"/>
                <a:gd name="T6" fmla="*/ 2147483647 w 1903"/>
                <a:gd name="T7" fmla="*/ 2147483647 h 2101"/>
                <a:gd name="T8" fmla="*/ 2147483647 w 1903"/>
                <a:gd name="T9" fmla="*/ 2147483647 h 2101"/>
                <a:gd name="T10" fmla="*/ 2147483647 w 1903"/>
                <a:gd name="T11" fmla="*/ 2147483647 h 2101"/>
                <a:gd name="T12" fmla="*/ 2147483647 w 1903"/>
                <a:gd name="T13" fmla="*/ 2147483647 h 2101"/>
                <a:gd name="T14" fmla="*/ 2147483647 w 1903"/>
                <a:gd name="T15" fmla="*/ 2147483647 h 2101"/>
                <a:gd name="T16" fmla="*/ 2147483647 w 1903"/>
                <a:gd name="T17" fmla="*/ 2147483647 h 2101"/>
                <a:gd name="T18" fmla="*/ 2147483647 w 1903"/>
                <a:gd name="T19" fmla="*/ 2147483647 h 2101"/>
                <a:gd name="T20" fmla="*/ 2147483647 w 1903"/>
                <a:gd name="T21" fmla="*/ 2147483647 h 2101"/>
                <a:gd name="T22" fmla="*/ 2147483647 w 1903"/>
                <a:gd name="T23" fmla="*/ 2147483647 h 2101"/>
                <a:gd name="T24" fmla="*/ 2147483647 w 1903"/>
                <a:gd name="T25" fmla="*/ 2147483647 h 2101"/>
                <a:gd name="T26" fmla="*/ 2147483647 w 1903"/>
                <a:gd name="T27" fmla="*/ 2147483647 h 2101"/>
                <a:gd name="T28" fmla="*/ 2147483647 w 1903"/>
                <a:gd name="T29" fmla="*/ 2147483647 h 2101"/>
                <a:gd name="T30" fmla="*/ 2147483647 w 1903"/>
                <a:gd name="T31" fmla="*/ 2147483647 h 2101"/>
                <a:gd name="T32" fmla="*/ 2147483647 w 1903"/>
                <a:gd name="T33" fmla="*/ 2147483647 h 2101"/>
                <a:gd name="T34" fmla="*/ 2147483647 w 1903"/>
                <a:gd name="T35" fmla="*/ 2147483647 h 2101"/>
                <a:gd name="T36" fmla="*/ 2147483647 w 1903"/>
                <a:gd name="T37" fmla="*/ 2147483647 h 2101"/>
                <a:gd name="T38" fmla="*/ 2147483647 w 1903"/>
                <a:gd name="T39" fmla="*/ 1847412083 h 2101"/>
                <a:gd name="T40" fmla="*/ 2147483647 w 1903"/>
                <a:gd name="T41" fmla="*/ 256577569 h 2101"/>
                <a:gd name="T42" fmla="*/ 2147483647 w 1903"/>
                <a:gd name="T43" fmla="*/ 2147483647 h 2101"/>
                <a:gd name="T44" fmla="*/ 2147483647 w 1903"/>
                <a:gd name="T45" fmla="*/ 2147483647 h 2101"/>
                <a:gd name="T46" fmla="*/ 2147483647 w 1903"/>
                <a:gd name="T47" fmla="*/ 2147483647 h 2101"/>
                <a:gd name="T48" fmla="*/ 2147483647 w 1903"/>
                <a:gd name="T49" fmla="*/ 2147483647 h 2101"/>
                <a:gd name="T50" fmla="*/ 2147483647 w 1903"/>
                <a:gd name="T51" fmla="*/ 2147483647 h 2101"/>
                <a:gd name="T52" fmla="*/ 2147483647 w 1903"/>
                <a:gd name="T53" fmla="*/ 2147483647 h 2101"/>
                <a:gd name="T54" fmla="*/ 2147483647 w 1903"/>
                <a:gd name="T55" fmla="*/ 2147483647 h 2101"/>
                <a:gd name="T56" fmla="*/ 2147483647 w 1903"/>
                <a:gd name="T57" fmla="*/ 2147483647 h 2101"/>
                <a:gd name="T58" fmla="*/ 2147483647 w 1903"/>
                <a:gd name="T59" fmla="*/ 2147483647 h 2101"/>
                <a:gd name="T60" fmla="*/ 2147483647 w 1903"/>
                <a:gd name="T61" fmla="*/ 2147483647 h 2101"/>
                <a:gd name="T62" fmla="*/ 2016059137 w 1903"/>
                <a:gd name="T63" fmla="*/ 2147483647 h 2101"/>
                <a:gd name="T64" fmla="*/ 2147483647 w 1903"/>
                <a:gd name="T65" fmla="*/ 2147483647 h 2101"/>
                <a:gd name="T66" fmla="*/ 2147483647 w 1903"/>
                <a:gd name="T67" fmla="*/ 2147483647 h 2101"/>
                <a:gd name="T68" fmla="*/ 2147483647 w 1903"/>
                <a:gd name="T69" fmla="*/ 2147483647 h 2101"/>
                <a:gd name="T70" fmla="*/ 2147483647 w 1903"/>
                <a:gd name="T71" fmla="*/ 2147483647 h 2101"/>
                <a:gd name="T72" fmla="*/ 2147483647 w 1903"/>
                <a:gd name="T73" fmla="*/ 2147483647 h 2101"/>
                <a:gd name="T74" fmla="*/ 2147483647 w 1903"/>
                <a:gd name="T75" fmla="*/ 2147483647 h 2101"/>
                <a:gd name="T76" fmla="*/ 2147483647 w 1903"/>
                <a:gd name="T77" fmla="*/ 2147483647 h 2101"/>
                <a:gd name="T78" fmla="*/ 2147483647 w 1903"/>
                <a:gd name="T79" fmla="*/ 2147483647 h 2101"/>
                <a:gd name="T80" fmla="*/ 2147483647 w 1903"/>
                <a:gd name="T81" fmla="*/ 2147483647 h 2101"/>
                <a:gd name="T82" fmla="*/ 2147483647 w 1903"/>
                <a:gd name="T83" fmla="*/ 2147483647 h 2101"/>
                <a:gd name="T84" fmla="*/ 2147483647 w 1903"/>
                <a:gd name="T85" fmla="*/ 2147483647 h 2101"/>
                <a:gd name="T86" fmla="*/ 2147483647 w 1903"/>
                <a:gd name="T87" fmla="*/ 2147483647 h 2101"/>
                <a:gd name="T88" fmla="*/ 2147483647 w 1903"/>
                <a:gd name="T89" fmla="*/ 2147483647 h 2101"/>
                <a:gd name="T90" fmla="*/ 2147483647 w 1903"/>
                <a:gd name="T91" fmla="*/ 2147483647 h 2101"/>
                <a:gd name="T92" fmla="*/ 2147483647 w 1903"/>
                <a:gd name="T93" fmla="*/ 2147483647 h 2101"/>
                <a:gd name="T94" fmla="*/ 2147483647 w 1903"/>
                <a:gd name="T95" fmla="*/ 2147483647 h 2101"/>
                <a:gd name="T96" fmla="*/ 2147483647 w 1903"/>
                <a:gd name="T97" fmla="*/ 2147483647 h 2101"/>
                <a:gd name="T98" fmla="*/ 2147483647 w 1903"/>
                <a:gd name="T99" fmla="*/ 2147483647 h 2101"/>
                <a:gd name="T100" fmla="*/ 2147483647 w 1903"/>
                <a:gd name="T101" fmla="*/ 2147483647 h 2101"/>
                <a:gd name="T102" fmla="*/ 2147483647 w 1903"/>
                <a:gd name="T103" fmla="*/ 2147483647 h 2101"/>
                <a:gd name="T104" fmla="*/ 2147483647 w 1903"/>
                <a:gd name="T105" fmla="*/ 2147483647 h 2101"/>
                <a:gd name="T106" fmla="*/ 2147483647 w 1903"/>
                <a:gd name="T107" fmla="*/ 2147483647 h 2101"/>
                <a:gd name="T108" fmla="*/ 2147483647 w 1903"/>
                <a:gd name="T109" fmla="*/ 2147483647 h 2101"/>
                <a:gd name="T110" fmla="*/ 2147483647 w 1903"/>
                <a:gd name="T111" fmla="*/ 2147483647 h 2101"/>
                <a:gd name="T112" fmla="*/ 2147483647 w 1903"/>
                <a:gd name="T113" fmla="*/ 2147483647 h 2101"/>
                <a:gd name="T114" fmla="*/ 2147483647 w 1903"/>
                <a:gd name="T115" fmla="*/ 2147483647 h 2101"/>
                <a:gd name="T116" fmla="*/ 2147483647 w 1903"/>
                <a:gd name="T117" fmla="*/ 2147483647 h 2101"/>
                <a:gd name="T118" fmla="*/ 2147483647 w 1903"/>
                <a:gd name="T119" fmla="*/ 2147483647 h 2101"/>
                <a:gd name="T120" fmla="*/ 2147483647 w 1903"/>
                <a:gd name="T121" fmla="*/ 2147483647 h 2101"/>
                <a:gd name="T122" fmla="*/ 2147483647 w 1903"/>
                <a:gd name="T123" fmla="*/ 2147483647 h 21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03"/>
                <a:gd name="T187" fmla="*/ 0 h 2101"/>
                <a:gd name="T188" fmla="*/ 1903 w 1903"/>
                <a:gd name="T189" fmla="*/ 2101 h 21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03" h="2101">
                  <a:moveTo>
                    <a:pt x="1856" y="553"/>
                  </a:moveTo>
                  <a:lnTo>
                    <a:pt x="1839" y="543"/>
                  </a:lnTo>
                  <a:lnTo>
                    <a:pt x="1840" y="542"/>
                  </a:lnTo>
                  <a:lnTo>
                    <a:pt x="1841" y="537"/>
                  </a:lnTo>
                  <a:lnTo>
                    <a:pt x="1839" y="532"/>
                  </a:lnTo>
                  <a:lnTo>
                    <a:pt x="1832" y="522"/>
                  </a:lnTo>
                  <a:lnTo>
                    <a:pt x="1824" y="513"/>
                  </a:lnTo>
                  <a:lnTo>
                    <a:pt x="1820" y="510"/>
                  </a:lnTo>
                  <a:lnTo>
                    <a:pt x="1818" y="507"/>
                  </a:lnTo>
                  <a:lnTo>
                    <a:pt x="1815" y="503"/>
                  </a:lnTo>
                  <a:lnTo>
                    <a:pt x="1811" y="496"/>
                  </a:lnTo>
                  <a:lnTo>
                    <a:pt x="1803" y="491"/>
                  </a:lnTo>
                  <a:lnTo>
                    <a:pt x="1792" y="497"/>
                  </a:lnTo>
                  <a:lnTo>
                    <a:pt x="1783" y="507"/>
                  </a:lnTo>
                  <a:lnTo>
                    <a:pt x="1777" y="514"/>
                  </a:lnTo>
                  <a:lnTo>
                    <a:pt x="1771" y="518"/>
                  </a:lnTo>
                  <a:lnTo>
                    <a:pt x="1764" y="519"/>
                  </a:lnTo>
                  <a:lnTo>
                    <a:pt x="1759" y="518"/>
                  </a:lnTo>
                  <a:lnTo>
                    <a:pt x="1752" y="517"/>
                  </a:lnTo>
                  <a:lnTo>
                    <a:pt x="1744" y="514"/>
                  </a:lnTo>
                  <a:lnTo>
                    <a:pt x="1736" y="513"/>
                  </a:lnTo>
                  <a:lnTo>
                    <a:pt x="1727" y="511"/>
                  </a:lnTo>
                  <a:lnTo>
                    <a:pt x="1719" y="511"/>
                  </a:lnTo>
                  <a:lnTo>
                    <a:pt x="1712" y="512"/>
                  </a:lnTo>
                  <a:lnTo>
                    <a:pt x="1707" y="514"/>
                  </a:lnTo>
                  <a:lnTo>
                    <a:pt x="1699" y="522"/>
                  </a:lnTo>
                  <a:lnTo>
                    <a:pt x="1690" y="529"/>
                  </a:lnTo>
                  <a:lnTo>
                    <a:pt x="1682" y="537"/>
                  </a:lnTo>
                  <a:lnTo>
                    <a:pt x="1675" y="547"/>
                  </a:lnTo>
                  <a:lnTo>
                    <a:pt x="1672" y="552"/>
                  </a:lnTo>
                  <a:lnTo>
                    <a:pt x="1667" y="557"/>
                  </a:lnTo>
                  <a:lnTo>
                    <a:pt x="1661" y="560"/>
                  </a:lnTo>
                  <a:lnTo>
                    <a:pt x="1655" y="565"/>
                  </a:lnTo>
                  <a:lnTo>
                    <a:pt x="1648" y="568"/>
                  </a:lnTo>
                  <a:lnTo>
                    <a:pt x="1643" y="573"/>
                  </a:lnTo>
                  <a:lnTo>
                    <a:pt x="1637" y="578"/>
                  </a:lnTo>
                  <a:lnTo>
                    <a:pt x="1632" y="582"/>
                  </a:lnTo>
                  <a:lnTo>
                    <a:pt x="1624" y="592"/>
                  </a:lnTo>
                  <a:lnTo>
                    <a:pt x="1616" y="600"/>
                  </a:lnTo>
                  <a:lnTo>
                    <a:pt x="1608" y="608"/>
                  </a:lnTo>
                  <a:lnTo>
                    <a:pt x="1600" y="615"/>
                  </a:lnTo>
                  <a:lnTo>
                    <a:pt x="1596" y="618"/>
                  </a:lnTo>
                  <a:lnTo>
                    <a:pt x="1589" y="623"/>
                  </a:lnTo>
                  <a:lnTo>
                    <a:pt x="1582" y="626"/>
                  </a:lnTo>
                  <a:lnTo>
                    <a:pt x="1575" y="628"/>
                  </a:lnTo>
                  <a:lnTo>
                    <a:pt x="1568" y="632"/>
                  </a:lnTo>
                  <a:lnTo>
                    <a:pt x="1563" y="633"/>
                  </a:lnTo>
                  <a:lnTo>
                    <a:pt x="1559" y="635"/>
                  </a:lnTo>
                  <a:lnTo>
                    <a:pt x="1558" y="635"/>
                  </a:lnTo>
                  <a:lnTo>
                    <a:pt x="1554" y="635"/>
                  </a:lnTo>
                  <a:lnTo>
                    <a:pt x="1547" y="638"/>
                  </a:lnTo>
                  <a:lnTo>
                    <a:pt x="1540" y="645"/>
                  </a:lnTo>
                  <a:lnTo>
                    <a:pt x="1537" y="657"/>
                  </a:lnTo>
                  <a:lnTo>
                    <a:pt x="1541" y="668"/>
                  </a:lnTo>
                  <a:lnTo>
                    <a:pt x="1553" y="672"/>
                  </a:lnTo>
                  <a:lnTo>
                    <a:pt x="1562" y="676"/>
                  </a:lnTo>
                  <a:lnTo>
                    <a:pt x="1566" y="685"/>
                  </a:lnTo>
                  <a:lnTo>
                    <a:pt x="1561" y="693"/>
                  </a:lnTo>
                  <a:lnTo>
                    <a:pt x="1552" y="695"/>
                  </a:lnTo>
                  <a:lnTo>
                    <a:pt x="1543" y="694"/>
                  </a:lnTo>
                  <a:lnTo>
                    <a:pt x="1533" y="696"/>
                  </a:lnTo>
                  <a:lnTo>
                    <a:pt x="1529" y="699"/>
                  </a:lnTo>
                  <a:lnTo>
                    <a:pt x="1525" y="700"/>
                  </a:lnTo>
                  <a:lnTo>
                    <a:pt x="1521" y="702"/>
                  </a:lnTo>
                  <a:lnTo>
                    <a:pt x="1516" y="702"/>
                  </a:lnTo>
                  <a:lnTo>
                    <a:pt x="1510" y="703"/>
                  </a:lnTo>
                  <a:lnTo>
                    <a:pt x="1506" y="703"/>
                  </a:lnTo>
                  <a:lnTo>
                    <a:pt x="1502" y="703"/>
                  </a:lnTo>
                  <a:lnTo>
                    <a:pt x="1498" y="703"/>
                  </a:lnTo>
                  <a:lnTo>
                    <a:pt x="1493" y="703"/>
                  </a:lnTo>
                  <a:lnTo>
                    <a:pt x="1488" y="701"/>
                  </a:lnTo>
                  <a:lnTo>
                    <a:pt x="1483" y="700"/>
                  </a:lnTo>
                  <a:lnTo>
                    <a:pt x="1476" y="699"/>
                  </a:lnTo>
                  <a:lnTo>
                    <a:pt x="1470" y="698"/>
                  </a:lnTo>
                  <a:lnTo>
                    <a:pt x="1463" y="699"/>
                  </a:lnTo>
                  <a:lnTo>
                    <a:pt x="1457" y="702"/>
                  </a:lnTo>
                  <a:lnTo>
                    <a:pt x="1452" y="707"/>
                  </a:lnTo>
                  <a:lnTo>
                    <a:pt x="1445" y="715"/>
                  </a:lnTo>
                  <a:lnTo>
                    <a:pt x="1441" y="716"/>
                  </a:lnTo>
                  <a:lnTo>
                    <a:pt x="1434" y="714"/>
                  </a:lnTo>
                  <a:lnTo>
                    <a:pt x="1419" y="710"/>
                  </a:lnTo>
                  <a:lnTo>
                    <a:pt x="1409" y="709"/>
                  </a:lnTo>
                  <a:lnTo>
                    <a:pt x="1401" y="708"/>
                  </a:lnTo>
                  <a:lnTo>
                    <a:pt x="1393" y="706"/>
                  </a:lnTo>
                  <a:lnTo>
                    <a:pt x="1386" y="704"/>
                  </a:lnTo>
                  <a:lnTo>
                    <a:pt x="1380" y="702"/>
                  </a:lnTo>
                  <a:lnTo>
                    <a:pt x="1377" y="700"/>
                  </a:lnTo>
                  <a:lnTo>
                    <a:pt x="1374" y="696"/>
                  </a:lnTo>
                  <a:lnTo>
                    <a:pt x="1373" y="693"/>
                  </a:lnTo>
                  <a:lnTo>
                    <a:pt x="1373" y="685"/>
                  </a:lnTo>
                  <a:lnTo>
                    <a:pt x="1373" y="676"/>
                  </a:lnTo>
                  <a:lnTo>
                    <a:pt x="1373" y="665"/>
                  </a:lnTo>
                  <a:lnTo>
                    <a:pt x="1373" y="654"/>
                  </a:lnTo>
                  <a:lnTo>
                    <a:pt x="1373" y="640"/>
                  </a:lnTo>
                  <a:lnTo>
                    <a:pt x="1371" y="628"/>
                  </a:lnTo>
                  <a:lnTo>
                    <a:pt x="1366" y="621"/>
                  </a:lnTo>
                  <a:lnTo>
                    <a:pt x="1356" y="618"/>
                  </a:lnTo>
                  <a:lnTo>
                    <a:pt x="1343" y="620"/>
                  </a:lnTo>
                  <a:lnTo>
                    <a:pt x="1335" y="626"/>
                  </a:lnTo>
                  <a:lnTo>
                    <a:pt x="1329" y="633"/>
                  </a:lnTo>
                  <a:lnTo>
                    <a:pt x="1327" y="635"/>
                  </a:lnTo>
                  <a:lnTo>
                    <a:pt x="1324" y="636"/>
                  </a:lnTo>
                  <a:lnTo>
                    <a:pt x="1317" y="640"/>
                  </a:lnTo>
                  <a:lnTo>
                    <a:pt x="1309" y="646"/>
                  </a:lnTo>
                  <a:lnTo>
                    <a:pt x="1305" y="654"/>
                  </a:lnTo>
                  <a:lnTo>
                    <a:pt x="1305" y="668"/>
                  </a:lnTo>
                  <a:lnTo>
                    <a:pt x="1306" y="687"/>
                  </a:lnTo>
                  <a:lnTo>
                    <a:pt x="1309" y="707"/>
                  </a:lnTo>
                  <a:lnTo>
                    <a:pt x="1313" y="721"/>
                  </a:lnTo>
                  <a:lnTo>
                    <a:pt x="1317" y="730"/>
                  </a:lnTo>
                  <a:lnTo>
                    <a:pt x="1316" y="738"/>
                  </a:lnTo>
                  <a:lnTo>
                    <a:pt x="1311" y="744"/>
                  </a:lnTo>
                  <a:lnTo>
                    <a:pt x="1302" y="746"/>
                  </a:lnTo>
                  <a:lnTo>
                    <a:pt x="1295" y="746"/>
                  </a:lnTo>
                  <a:lnTo>
                    <a:pt x="1285" y="746"/>
                  </a:lnTo>
                  <a:lnTo>
                    <a:pt x="1273" y="747"/>
                  </a:lnTo>
                  <a:lnTo>
                    <a:pt x="1260" y="747"/>
                  </a:lnTo>
                  <a:lnTo>
                    <a:pt x="1248" y="747"/>
                  </a:lnTo>
                  <a:lnTo>
                    <a:pt x="1236" y="746"/>
                  </a:lnTo>
                  <a:lnTo>
                    <a:pt x="1227" y="745"/>
                  </a:lnTo>
                  <a:lnTo>
                    <a:pt x="1221" y="742"/>
                  </a:lnTo>
                  <a:lnTo>
                    <a:pt x="1215" y="740"/>
                  </a:lnTo>
                  <a:lnTo>
                    <a:pt x="1209" y="737"/>
                  </a:lnTo>
                  <a:lnTo>
                    <a:pt x="1200" y="734"/>
                  </a:lnTo>
                  <a:lnTo>
                    <a:pt x="1191" y="732"/>
                  </a:lnTo>
                  <a:lnTo>
                    <a:pt x="1183" y="731"/>
                  </a:lnTo>
                  <a:lnTo>
                    <a:pt x="1176" y="729"/>
                  </a:lnTo>
                  <a:lnTo>
                    <a:pt x="1172" y="727"/>
                  </a:lnTo>
                  <a:lnTo>
                    <a:pt x="1171" y="727"/>
                  </a:lnTo>
                  <a:lnTo>
                    <a:pt x="1169" y="725"/>
                  </a:lnTo>
                  <a:lnTo>
                    <a:pt x="1166" y="719"/>
                  </a:lnTo>
                  <a:lnTo>
                    <a:pt x="1159" y="716"/>
                  </a:lnTo>
                  <a:lnTo>
                    <a:pt x="1150" y="717"/>
                  </a:lnTo>
                  <a:lnTo>
                    <a:pt x="1144" y="719"/>
                  </a:lnTo>
                  <a:lnTo>
                    <a:pt x="1137" y="719"/>
                  </a:lnTo>
                  <a:lnTo>
                    <a:pt x="1131" y="719"/>
                  </a:lnTo>
                  <a:lnTo>
                    <a:pt x="1124" y="718"/>
                  </a:lnTo>
                  <a:lnTo>
                    <a:pt x="1119" y="717"/>
                  </a:lnTo>
                  <a:lnTo>
                    <a:pt x="1114" y="715"/>
                  </a:lnTo>
                  <a:lnTo>
                    <a:pt x="1112" y="714"/>
                  </a:lnTo>
                  <a:lnTo>
                    <a:pt x="1111" y="714"/>
                  </a:lnTo>
                  <a:lnTo>
                    <a:pt x="1111" y="712"/>
                  </a:lnTo>
                  <a:lnTo>
                    <a:pt x="1110" y="709"/>
                  </a:lnTo>
                  <a:lnTo>
                    <a:pt x="1107" y="703"/>
                  </a:lnTo>
                  <a:lnTo>
                    <a:pt x="1104" y="698"/>
                  </a:lnTo>
                  <a:lnTo>
                    <a:pt x="1098" y="692"/>
                  </a:lnTo>
                  <a:lnTo>
                    <a:pt x="1091" y="686"/>
                  </a:lnTo>
                  <a:lnTo>
                    <a:pt x="1083" y="683"/>
                  </a:lnTo>
                  <a:lnTo>
                    <a:pt x="1072" y="681"/>
                  </a:lnTo>
                  <a:lnTo>
                    <a:pt x="1059" y="681"/>
                  </a:lnTo>
                  <a:lnTo>
                    <a:pt x="1045" y="681"/>
                  </a:lnTo>
                  <a:lnTo>
                    <a:pt x="1030" y="680"/>
                  </a:lnTo>
                  <a:lnTo>
                    <a:pt x="1017" y="679"/>
                  </a:lnTo>
                  <a:lnTo>
                    <a:pt x="1005" y="679"/>
                  </a:lnTo>
                  <a:lnTo>
                    <a:pt x="995" y="678"/>
                  </a:lnTo>
                  <a:lnTo>
                    <a:pt x="989" y="678"/>
                  </a:lnTo>
                  <a:lnTo>
                    <a:pt x="986" y="678"/>
                  </a:lnTo>
                  <a:lnTo>
                    <a:pt x="986" y="677"/>
                  </a:lnTo>
                  <a:lnTo>
                    <a:pt x="985" y="676"/>
                  </a:lnTo>
                  <a:lnTo>
                    <a:pt x="983" y="672"/>
                  </a:lnTo>
                  <a:lnTo>
                    <a:pt x="979" y="669"/>
                  </a:lnTo>
                  <a:lnTo>
                    <a:pt x="974" y="666"/>
                  </a:lnTo>
                  <a:lnTo>
                    <a:pt x="967" y="663"/>
                  </a:lnTo>
                  <a:lnTo>
                    <a:pt x="959" y="662"/>
                  </a:lnTo>
                  <a:lnTo>
                    <a:pt x="947" y="661"/>
                  </a:lnTo>
                  <a:lnTo>
                    <a:pt x="946" y="659"/>
                  </a:lnTo>
                  <a:lnTo>
                    <a:pt x="944" y="658"/>
                  </a:lnTo>
                  <a:lnTo>
                    <a:pt x="940" y="655"/>
                  </a:lnTo>
                  <a:lnTo>
                    <a:pt x="936" y="651"/>
                  </a:lnTo>
                  <a:lnTo>
                    <a:pt x="930" y="649"/>
                  </a:lnTo>
                  <a:lnTo>
                    <a:pt x="923" y="647"/>
                  </a:lnTo>
                  <a:lnTo>
                    <a:pt x="916" y="646"/>
                  </a:lnTo>
                  <a:lnTo>
                    <a:pt x="908" y="647"/>
                  </a:lnTo>
                  <a:lnTo>
                    <a:pt x="906" y="645"/>
                  </a:lnTo>
                  <a:lnTo>
                    <a:pt x="899" y="640"/>
                  </a:lnTo>
                  <a:lnTo>
                    <a:pt x="888" y="632"/>
                  </a:lnTo>
                  <a:lnTo>
                    <a:pt x="877" y="623"/>
                  </a:lnTo>
                  <a:lnTo>
                    <a:pt x="864" y="615"/>
                  </a:lnTo>
                  <a:lnTo>
                    <a:pt x="852" y="606"/>
                  </a:lnTo>
                  <a:lnTo>
                    <a:pt x="841" y="602"/>
                  </a:lnTo>
                  <a:lnTo>
                    <a:pt x="834" y="600"/>
                  </a:lnTo>
                  <a:lnTo>
                    <a:pt x="826" y="597"/>
                  </a:lnTo>
                  <a:lnTo>
                    <a:pt x="820" y="593"/>
                  </a:lnTo>
                  <a:lnTo>
                    <a:pt x="818" y="588"/>
                  </a:lnTo>
                  <a:lnTo>
                    <a:pt x="817" y="586"/>
                  </a:lnTo>
                  <a:lnTo>
                    <a:pt x="818" y="583"/>
                  </a:lnTo>
                  <a:lnTo>
                    <a:pt x="823" y="578"/>
                  </a:lnTo>
                  <a:lnTo>
                    <a:pt x="827" y="570"/>
                  </a:lnTo>
                  <a:lnTo>
                    <a:pt x="831" y="557"/>
                  </a:lnTo>
                  <a:lnTo>
                    <a:pt x="833" y="544"/>
                  </a:lnTo>
                  <a:lnTo>
                    <a:pt x="837" y="532"/>
                  </a:lnTo>
                  <a:lnTo>
                    <a:pt x="842" y="522"/>
                  </a:lnTo>
                  <a:lnTo>
                    <a:pt x="849" y="514"/>
                  </a:lnTo>
                  <a:lnTo>
                    <a:pt x="857" y="509"/>
                  </a:lnTo>
                  <a:lnTo>
                    <a:pt x="863" y="502"/>
                  </a:lnTo>
                  <a:lnTo>
                    <a:pt x="863" y="492"/>
                  </a:lnTo>
                  <a:lnTo>
                    <a:pt x="856" y="483"/>
                  </a:lnTo>
                  <a:lnTo>
                    <a:pt x="849" y="477"/>
                  </a:lnTo>
                  <a:lnTo>
                    <a:pt x="841" y="473"/>
                  </a:lnTo>
                  <a:lnTo>
                    <a:pt x="832" y="467"/>
                  </a:lnTo>
                  <a:lnTo>
                    <a:pt x="825" y="464"/>
                  </a:lnTo>
                  <a:lnTo>
                    <a:pt x="817" y="459"/>
                  </a:lnTo>
                  <a:lnTo>
                    <a:pt x="811" y="457"/>
                  </a:lnTo>
                  <a:lnTo>
                    <a:pt x="808" y="456"/>
                  </a:lnTo>
                  <a:lnTo>
                    <a:pt x="807" y="454"/>
                  </a:lnTo>
                  <a:lnTo>
                    <a:pt x="804" y="451"/>
                  </a:lnTo>
                  <a:lnTo>
                    <a:pt x="799" y="442"/>
                  </a:lnTo>
                  <a:lnTo>
                    <a:pt x="789" y="431"/>
                  </a:lnTo>
                  <a:lnTo>
                    <a:pt x="778" y="426"/>
                  </a:lnTo>
                  <a:lnTo>
                    <a:pt x="765" y="422"/>
                  </a:lnTo>
                  <a:lnTo>
                    <a:pt x="755" y="419"/>
                  </a:lnTo>
                  <a:lnTo>
                    <a:pt x="748" y="416"/>
                  </a:lnTo>
                  <a:lnTo>
                    <a:pt x="746" y="415"/>
                  </a:lnTo>
                  <a:lnTo>
                    <a:pt x="743" y="413"/>
                  </a:lnTo>
                  <a:lnTo>
                    <a:pt x="739" y="407"/>
                  </a:lnTo>
                  <a:lnTo>
                    <a:pt x="733" y="397"/>
                  </a:lnTo>
                  <a:lnTo>
                    <a:pt x="725" y="383"/>
                  </a:lnTo>
                  <a:lnTo>
                    <a:pt x="720" y="374"/>
                  </a:lnTo>
                  <a:lnTo>
                    <a:pt x="721" y="373"/>
                  </a:lnTo>
                  <a:lnTo>
                    <a:pt x="720" y="371"/>
                  </a:lnTo>
                  <a:lnTo>
                    <a:pt x="714" y="362"/>
                  </a:lnTo>
                  <a:lnTo>
                    <a:pt x="710" y="356"/>
                  </a:lnTo>
                  <a:lnTo>
                    <a:pt x="706" y="351"/>
                  </a:lnTo>
                  <a:lnTo>
                    <a:pt x="704" y="346"/>
                  </a:lnTo>
                  <a:lnTo>
                    <a:pt x="702" y="343"/>
                  </a:lnTo>
                  <a:lnTo>
                    <a:pt x="702" y="340"/>
                  </a:lnTo>
                  <a:lnTo>
                    <a:pt x="703" y="338"/>
                  </a:lnTo>
                  <a:lnTo>
                    <a:pt x="704" y="336"/>
                  </a:lnTo>
                  <a:lnTo>
                    <a:pt x="705" y="333"/>
                  </a:lnTo>
                  <a:lnTo>
                    <a:pt x="710" y="330"/>
                  </a:lnTo>
                  <a:lnTo>
                    <a:pt x="716" y="332"/>
                  </a:lnTo>
                  <a:lnTo>
                    <a:pt x="723" y="339"/>
                  </a:lnTo>
                  <a:lnTo>
                    <a:pt x="731" y="348"/>
                  </a:lnTo>
                  <a:lnTo>
                    <a:pt x="735" y="351"/>
                  </a:lnTo>
                  <a:lnTo>
                    <a:pt x="739" y="352"/>
                  </a:lnTo>
                  <a:lnTo>
                    <a:pt x="743" y="351"/>
                  </a:lnTo>
                  <a:lnTo>
                    <a:pt x="748" y="348"/>
                  </a:lnTo>
                  <a:lnTo>
                    <a:pt x="752" y="346"/>
                  </a:lnTo>
                  <a:lnTo>
                    <a:pt x="757" y="343"/>
                  </a:lnTo>
                  <a:lnTo>
                    <a:pt x="762" y="339"/>
                  </a:lnTo>
                  <a:lnTo>
                    <a:pt x="766" y="336"/>
                  </a:lnTo>
                  <a:lnTo>
                    <a:pt x="771" y="327"/>
                  </a:lnTo>
                  <a:lnTo>
                    <a:pt x="770" y="314"/>
                  </a:lnTo>
                  <a:lnTo>
                    <a:pt x="764" y="302"/>
                  </a:lnTo>
                  <a:lnTo>
                    <a:pt x="757" y="293"/>
                  </a:lnTo>
                  <a:lnTo>
                    <a:pt x="754" y="290"/>
                  </a:lnTo>
                  <a:lnTo>
                    <a:pt x="751" y="285"/>
                  </a:lnTo>
                  <a:lnTo>
                    <a:pt x="750" y="279"/>
                  </a:lnTo>
                  <a:lnTo>
                    <a:pt x="748" y="274"/>
                  </a:lnTo>
                  <a:lnTo>
                    <a:pt x="748" y="271"/>
                  </a:lnTo>
                  <a:lnTo>
                    <a:pt x="748" y="269"/>
                  </a:lnTo>
                  <a:lnTo>
                    <a:pt x="747" y="267"/>
                  </a:lnTo>
                  <a:lnTo>
                    <a:pt x="746" y="264"/>
                  </a:lnTo>
                  <a:lnTo>
                    <a:pt x="744" y="261"/>
                  </a:lnTo>
                  <a:lnTo>
                    <a:pt x="742" y="257"/>
                  </a:lnTo>
                  <a:lnTo>
                    <a:pt x="741" y="254"/>
                  </a:lnTo>
                  <a:lnTo>
                    <a:pt x="739" y="250"/>
                  </a:lnTo>
                  <a:lnTo>
                    <a:pt x="735" y="244"/>
                  </a:lnTo>
                  <a:lnTo>
                    <a:pt x="738" y="238"/>
                  </a:lnTo>
                  <a:lnTo>
                    <a:pt x="744" y="234"/>
                  </a:lnTo>
                  <a:lnTo>
                    <a:pt x="754" y="233"/>
                  </a:lnTo>
                  <a:lnTo>
                    <a:pt x="761" y="231"/>
                  </a:lnTo>
                  <a:lnTo>
                    <a:pt x="765" y="227"/>
                  </a:lnTo>
                  <a:lnTo>
                    <a:pt x="766" y="223"/>
                  </a:lnTo>
                  <a:lnTo>
                    <a:pt x="767" y="216"/>
                  </a:lnTo>
                  <a:lnTo>
                    <a:pt x="769" y="211"/>
                  </a:lnTo>
                  <a:lnTo>
                    <a:pt x="772" y="206"/>
                  </a:lnTo>
                  <a:lnTo>
                    <a:pt x="776" y="200"/>
                  </a:lnTo>
                  <a:lnTo>
                    <a:pt x="780" y="193"/>
                  </a:lnTo>
                  <a:lnTo>
                    <a:pt x="786" y="186"/>
                  </a:lnTo>
                  <a:lnTo>
                    <a:pt x="792" y="179"/>
                  </a:lnTo>
                  <a:lnTo>
                    <a:pt x="797" y="172"/>
                  </a:lnTo>
                  <a:lnTo>
                    <a:pt x="803" y="165"/>
                  </a:lnTo>
                  <a:lnTo>
                    <a:pt x="810" y="150"/>
                  </a:lnTo>
                  <a:lnTo>
                    <a:pt x="811" y="134"/>
                  </a:lnTo>
                  <a:lnTo>
                    <a:pt x="807" y="120"/>
                  </a:lnTo>
                  <a:lnTo>
                    <a:pt x="800" y="112"/>
                  </a:lnTo>
                  <a:lnTo>
                    <a:pt x="792" y="108"/>
                  </a:lnTo>
                  <a:lnTo>
                    <a:pt x="784" y="101"/>
                  </a:lnTo>
                  <a:lnTo>
                    <a:pt x="776" y="93"/>
                  </a:lnTo>
                  <a:lnTo>
                    <a:pt x="766" y="82"/>
                  </a:lnTo>
                  <a:lnTo>
                    <a:pt x="761" y="78"/>
                  </a:lnTo>
                  <a:lnTo>
                    <a:pt x="752" y="76"/>
                  </a:lnTo>
                  <a:lnTo>
                    <a:pt x="743" y="76"/>
                  </a:lnTo>
                  <a:lnTo>
                    <a:pt x="733" y="79"/>
                  </a:lnTo>
                  <a:lnTo>
                    <a:pt x="721" y="82"/>
                  </a:lnTo>
                  <a:lnTo>
                    <a:pt x="710" y="87"/>
                  </a:lnTo>
                  <a:lnTo>
                    <a:pt x="698" y="93"/>
                  </a:lnTo>
                  <a:lnTo>
                    <a:pt x="688" y="98"/>
                  </a:lnTo>
                  <a:lnTo>
                    <a:pt x="680" y="104"/>
                  </a:lnTo>
                  <a:lnTo>
                    <a:pt x="674" y="109"/>
                  </a:lnTo>
                  <a:lnTo>
                    <a:pt x="668" y="115"/>
                  </a:lnTo>
                  <a:lnTo>
                    <a:pt x="665" y="119"/>
                  </a:lnTo>
                  <a:lnTo>
                    <a:pt x="660" y="116"/>
                  </a:lnTo>
                  <a:lnTo>
                    <a:pt x="656" y="113"/>
                  </a:lnTo>
                  <a:lnTo>
                    <a:pt x="649" y="112"/>
                  </a:lnTo>
                  <a:lnTo>
                    <a:pt x="643" y="112"/>
                  </a:lnTo>
                  <a:lnTo>
                    <a:pt x="636" y="112"/>
                  </a:lnTo>
                  <a:lnTo>
                    <a:pt x="630" y="111"/>
                  </a:lnTo>
                  <a:lnTo>
                    <a:pt x="626" y="111"/>
                  </a:lnTo>
                  <a:lnTo>
                    <a:pt x="622" y="109"/>
                  </a:lnTo>
                  <a:lnTo>
                    <a:pt x="619" y="106"/>
                  </a:lnTo>
                  <a:lnTo>
                    <a:pt x="615" y="105"/>
                  </a:lnTo>
                  <a:lnTo>
                    <a:pt x="610" y="104"/>
                  </a:lnTo>
                  <a:lnTo>
                    <a:pt x="605" y="103"/>
                  </a:lnTo>
                  <a:lnTo>
                    <a:pt x="599" y="103"/>
                  </a:lnTo>
                  <a:lnTo>
                    <a:pt x="595" y="101"/>
                  </a:lnTo>
                  <a:lnTo>
                    <a:pt x="590" y="98"/>
                  </a:lnTo>
                  <a:lnTo>
                    <a:pt x="587" y="95"/>
                  </a:lnTo>
                  <a:lnTo>
                    <a:pt x="581" y="89"/>
                  </a:lnTo>
                  <a:lnTo>
                    <a:pt x="576" y="86"/>
                  </a:lnTo>
                  <a:lnTo>
                    <a:pt x="571" y="83"/>
                  </a:lnTo>
                  <a:lnTo>
                    <a:pt x="564" y="80"/>
                  </a:lnTo>
                  <a:lnTo>
                    <a:pt x="557" y="74"/>
                  </a:lnTo>
                  <a:lnTo>
                    <a:pt x="551" y="68"/>
                  </a:lnTo>
                  <a:lnTo>
                    <a:pt x="549" y="62"/>
                  </a:lnTo>
                  <a:lnTo>
                    <a:pt x="549" y="53"/>
                  </a:lnTo>
                  <a:lnTo>
                    <a:pt x="550" y="44"/>
                  </a:lnTo>
                  <a:lnTo>
                    <a:pt x="546" y="36"/>
                  </a:lnTo>
                  <a:lnTo>
                    <a:pt x="541" y="30"/>
                  </a:lnTo>
                  <a:lnTo>
                    <a:pt x="534" y="28"/>
                  </a:lnTo>
                  <a:lnTo>
                    <a:pt x="528" y="27"/>
                  </a:lnTo>
                  <a:lnTo>
                    <a:pt x="523" y="23"/>
                  </a:lnTo>
                  <a:lnTo>
                    <a:pt x="519" y="18"/>
                  </a:lnTo>
                  <a:lnTo>
                    <a:pt x="515" y="10"/>
                  </a:lnTo>
                  <a:lnTo>
                    <a:pt x="509" y="4"/>
                  </a:lnTo>
                  <a:lnTo>
                    <a:pt x="501" y="2"/>
                  </a:lnTo>
                  <a:lnTo>
                    <a:pt x="491" y="3"/>
                  </a:lnTo>
                  <a:lnTo>
                    <a:pt x="483" y="2"/>
                  </a:lnTo>
                  <a:lnTo>
                    <a:pt x="480" y="0"/>
                  </a:lnTo>
                  <a:lnTo>
                    <a:pt x="475" y="0"/>
                  </a:lnTo>
                  <a:lnTo>
                    <a:pt x="470" y="0"/>
                  </a:lnTo>
                  <a:lnTo>
                    <a:pt x="466" y="2"/>
                  </a:lnTo>
                  <a:lnTo>
                    <a:pt x="461" y="3"/>
                  </a:lnTo>
                  <a:lnTo>
                    <a:pt x="457" y="5"/>
                  </a:lnTo>
                  <a:lnTo>
                    <a:pt x="452" y="7"/>
                  </a:lnTo>
                  <a:lnTo>
                    <a:pt x="448" y="10"/>
                  </a:lnTo>
                  <a:lnTo>
                    <a:pt x="445" y="13"/>
                  </a:lnTo>
                  <a:lnTo>
                    <a:pt x="440" y="15"/>
                  </a:lnTo>
                  <a:lnTo>
                    <a:pt x="435" y="18"/>
                  </a:lnTo>
                  <a:lnTo>
                    <a:pt x="430" y="19"/>
                  </a:lnTo>
                  <a:lnTo>
                    <a:pt x="424" y="20"/>
                  </a:lnTo>
                  <a:lnTo>
                    <a:pt x="419" y="21"/>
                  </a:lnTo>
                  <a:lnTo>
                    <a:pt x="414" y="21"/>
                  </a:lnTo>
                  <a:lnTo>
                    <a:pt x="410" y="21"/>
                  </a:lnTo>
                  <a:lnTo>
                    <a:pt x="404" y="21"/>
                  </a:lnTo>
                  <a:lnTo>
                    <a:pt x="395" y="23"/>
                  </a:lnTo>
                  <a:lnTo>
                    <a:pt x="386" y="26"/>
                  </a:lnTo>
                  <a:lnTo>
                    <a:pt x="379" y="29"/>
                  </a:lnTo>
                  <a:lnTo>
                    <a:pt x="372" y="36"/>
                  </a:lnTo>
                  <a:lnTo>
                    <a:pt x="362" y="45"/>
                  </a:lnTo>
                  <a:lnTo>
                    <a:pt x="353" y="56"/>
                  </a:lnTo>
                  <a:lnTo>
                    <a:pt x="347" y="63"/>
                  </a:lnTo>
                  <a:lnTo>
                    <a:pt x="346" y="67"/>
                  </a:lnTo>
                  <a:lnTo>
                    <a:pt x="348" y="72"/>
                  </a:lnTo>
                  <a:lnTo>
                    <a:pt x="353" y="75"/>
                  </a:lnTo>
                  <a:lnTo>
                    <a:pt x="360" y="78"/>
                  </a:lnTo>
                  <a:lnTo>
                    <a:pt x="363" y="79"/>
                  </a:lnTo>
                  <a:lnTo>
                    <a:pt x="367" y="81"/>
                  </a:lnTo>
                  <a:lnTo>
                    <a:pt x="370" y="83"/>
                  </a:lnTo>
                  <a:lnTo>
                    <a:pt x="374" y="87"/>
                  </a:lnTo>
                  <a:lnTo>
                    <a:pt x="378" y="90"/>
                  </a:lnTo>
                  <a:lnTo>
                    <a:pt x="384" y="94"/>
                  </a:lnTo>
                  <a:lnTo>
                    <a:pt x="390" y="98"/>
                  </a:lnTo>
                  <a:lnTo>
                    <a:pt x="397" y="102"/>
                  </a:lnTo>
                  <a:lnTo>
                    <a:pt x="409" y="111"/>
                  </a:lnTo>
                  <a:lnTo>
                    <a:pt x="419" y="123"/>
                  </a:lnTo>
                  <a:lnTo>
                    <a:pt x="424" y="134"/>
                  </a:lnTo>
                  <a:lnTo>
                    <a:pt x="427" y="142"/>
                  </a:lnTo>
                  <a:lnTo>
                    <a:pt x="423" y="150"/>
                  </a:lnTo>
                  <a:lnTo>
                    <a:pt x="415" y="161"/>
                  </a:lnTo>
                  <a:lnTo>
                    <a:pt x="406" y="172"/>
                  </a:lnTo>
                  <a:lnTo>
                    <a:pt x="398" y="179"/>
                  </a:lnTo>
                  <a:lnTo>
                    <a:pt x="394" y="185"/>
                  </a:lnTo>
                  <a:lnTo>
                    <a:pt x="393" y="193"/>
                  </a:lnTo>
                  <a:lnTo>
                    <a:pt x="394" y="203"/>
                  </a:lnTo>
                  <a:lnTo>
                    <a:pt x="397" y="215"/>
                  </a:lnTo>
                  <a:lnTo>
                    <a:pt x="398" y="231"/>
                  </a:lnTo>
                  <a:lnTo>
                    <a:pt x="399" y="249"/>
                  </a:lnTo>
                  <a:lnTo>
                    <a:pt x="400" y="268"/>
                  </a:lnTo>
                  <a:lnTo>
                    <a:pt x="404" y="280"/>
                  </a:lnTo>
                  <a:lnTo>
                    <a:pt x="407" y="285"/>
                  </a:lnTo>
                  <a:lnTo>
                    <a:pt x="412" y="290"/>
                  </a:lnTo>
                  <a:lnTo>
                    <a:pt x="417" y="293"/>
                  </a:lnTo>
                  <a:lnTo>
                    <a:pt x="424" y="298"/>
                  </a:lnTo>
                  <a:lnTo>
                    <a:pt x="430" y="301"/>
                  </a:lnTo>
                  <a:lnTo>
                    <a:pt x="436" y="303"/>
                  </a:lnTo>
                  <a:lnTo>
                    <a:pt x="442" y="306"/>
                  </a:lnTo>
                  <a:lnTo>
                    <a:pt x="447" y="308"/>
                  </a:lnTo>
                  <a:lnTo>
                    <a:pt x="447" y="309"/>
                  </a:lnTo>
                  <a:lnTo>
                    <a:pt x="447" y="317"/>
                  </a:lnTo>
                  <a:lnTo>
                    <a:pt x="448" y="324"/>
                  </a:lnTo>
                  <a:lnTo>
                    <a:pt x="453" y="330"/>
                  </a:lnTo>
                  <a:lnTo>
                    <a:pt x="458" y="335"/>
                  </a:lnTo>
                  <a:lnTo>
                    <a:pt x="463" y="338"/>
                  </a:lnTo>
                  <a:lnTo>
                    <a:pt x="469" y="340"/>
                  </a:lnTo>
                  <a:lnTo>
                    <a:pt x="476" y="343"/>
                  </a:lnTo>
                  <a:lnTo>
                    <a:pt x="483" y="344"/>
                  </a:lnTo>
                  <a:lnTo>
                    <a:pt x="488" y="345"/>
                  </a:lnTo>
                  <a:lnTo>
                    <a:pt x="490" y="347"/>
                  </a:lnTo>
                  <a:lnTo>
                    <a:pt x="489" y="350"/>
                  </a:lnTo>
                  <a:lnTo>
                    <a:pt x="485" y="351"/>
                  </a:lnTo>
                  <a:lnTo>
                    <a:pt x="481" y="353"/>
                  </a:lnTo>
                  <a:lnTo>
                    <a:pt x="475" y="355"/>
                  </a:lnTo>
                  <a:lnTo>
                    <a:pt x="470" y="358"/>
                  </a:lnTo>
                  <a:lnTo>
                    <a:pt x="466" y="359"/>
                  </a:lnTo>
                  <a:lnTo>
                    <a:pt x="457" y="362"/>
                  </a:lnTo>
                  <a:lnTo>
                    <a:pt x="448" y="367"/>
                  </a:lnTo>
                  <a:lnTo>
                    <a:pt x="443" y="375"/>
                  </a:lnTo>
                  <a:lnTo>
                    <a:pt x="440" y="386"/>
                  </a:lnTo>
                  <a:lnTo>
                    <a:pt x="439" y="400"/>
                  </a:lnTo>
                  <a:lnTo>
                    <a:pt x="437" y="415"/>
                  </a:lnTo>
                  <a:lnTo>
                    <a:pt x="433" y="428"/>
                  </a:lnTo>
                  <a:lnTo>
                    <a:pt x="427" y="441"/>
                  </a:lnTo>
                  <a:lnTo>
                    <a:pt x="416" y="452"/>
                  </a:lnTo>
                  <a:lnTo>
                    <a:pt x="406" y="465"/>
                  </a:lnTo>
                  <a:lnTo>
                    <a:pt x="398" y="479"/>
                  </a:lnTo>
                  <a:lnTo>
                    <a:pt x="394" y="490"/>
                  </a:lnTo>
                  <a:lnTo>
                    <a:pt x="391" y="497"/>
                  </a:lnTo>
                  <a:lnTo>
                    <a:pt x="382" y="502"/>
                  </a:lnTo>
                  <a:lnTo>
                    <a:pt x="371" y="507"/>
                  </a:lnTo>
                  <a:lnTo>
                    <a:pt x="362" y="519"/>
                  </a:lnTo>
                  <a:lnTo>
                    <a:pt x="354" y="532"/>
                  </a:lnTo>
                  <a:lnTo>
                    <a:pt x="346" y="541"/>
                  </a:lnTo>
                  <a:lnTo>
                    <a:pt x="340" y="550"/>
                  </a:lnTo>
                  <a:lnTo>
                    <a:pt x="338" y="562"/>
                  </a:lnTo>
                  <a:lnTo>
                    <a:pt x="337" y="567"/>
                  </a:lnTo>
                  <a:lnTo>
                    <a:pt x="332" y="571"/>
                  </a:lnTo>
                  <a:lnTo>
                    <a:pt x="326" y="572"/>
                  </a:lnTo>
                  <a:lnTo>
                    <a:pt x="319" y="574"/>
                  </a:lnTo>
                  <a:lnTo>
                    <a:pt x="311" y="575"/>
                  </a:lnTo>
                  <a:lnTo>
                    <a:pt x="305" y="579"/>
                  </a:lnTo>
                  <a:lnTo>
                    <a:pt x="299" y="582"/>
                  </a:lnTo>
                  <a:lnTo>
                    <a:pt x="295" y="589"/>
                  </a:lnTo>
                  <a:lnTo>
                    <a:pt x="288" y="604"/>
                  </a:lnTo>
                  <a:lnTo>
                    <a:pt x="279" y="617"/>
                  </a:lnTo>
                  <a:lnTo>
                    <a:pt x="271" y="628"/>
                  </a:lnTo>
                  <a:lnTo>
                    <a:pt x="266" y="639"/>
                  </a:lnTo>
                  <a:lnTo>
                    <a:pt x="224" y="650"/>
                  </a:lnTo>
                  <a:lnTo>
                    <a:pt x="223" y="651"/>
                  </a:lnTo>
                  <a:lnTo>
                    <a:pt x="218" y="653"/>
                  </a:lnTo>
                  <a:lnTo>
                    <a:pt x="212" y="651"/>
                  </a:lnTo>
                  <a:lnTo>
                    <a:pt x="207" y="647"/>
                  </a:lnTo>
                  <a:lnTo>
                    <a:pt x="201" y="638"/>
                  </a:lnTo>
                  <a:lnTo>
                    <a:pt x="194" y="631"/>
                  </a:lnTo>
                  <a:lnTo>
                    <a:pt x="186" y="627"/>
                  </a:lnTo>
                  <a:lnTo>
                    <a:pt x="174" y="628"/>
                  </a:lnTo>
                  <a:lnTo>
                    <a:pt x="167" y="632"/>
                  </a:lnTo>
                  <a:lnTo>
                    <a:pt x="161" y="638"/>
                  </a:lnTo>
                  <a:lnTo>
                    <a:pt x="155" y="643"/>
                  </a:lnTo>
                  <a:lnTo>
                    <a:pt x="150" y="650"/>
                  </a:lnTo>
                  <a:lnTo>
                    <a:pt x="146" y="657"/>
                  </a:lnTo>
                  <a:lnTo>
                    <a:pt x="142" y="663"/>
                  </a:lnTo>
                  <a:lnTo>
                    <a:pt x="140" y="666"/>
                  </a:lnTo>
                  <a:lnTo>
                    <a:pt x="139" y="668"/>
                  </a:lnTo>
                  <a:lnTo>
                    <a:pt x="134" y="670"/>
                  </a:lnTo>
                  <a:lnTo>
                    <a:pt x="123" y="677"/>
                  </a:lnTo>
                  <a:lnTo>
                    <a:pt x="111" y="689"/>
                  </a:lnTo>
                  <a:lnTo>
                    <a:pt x="106" y="710"/>
                  </a:lnTo>
                  <a:lnTo>
                    <a:pt x="109" y="732"/>
                  </a:lnTo>
                  <a:lnTo>
                    <a:pt x="116" y="747"/>
                  </a:lnTo>
                  <a:lnTo>
                    <a:pt x="125" y="757"/>
                  </a:lnTo>
                  <a:lnTo>
                    <a:pt x="135" y="763"/>
                  </a:lnTo>
                  <a:lnTo>
                    <a:pt x="136" y="770"/>
                  </a:lnTo>
                  <a:lnTo>
                    <a:pt x="139" y="787"/>
                  </a:lnTo>
                  <a:lnTo>
                    <a:pt x="144" y="806"/>
                  </a:lnTo>
                  <a:lnTo>
                    <a:pt x="152" y="817"/>
                  </a:lnTo>
                  <a:lnTo>
                    <a:pt x="164" y="827"/>
                  </a:lnTo>
                  <a:lnTo>
                    <a:pt x="174" y="842"/>
                  </a:lnTo>
                  <a:lnTo>
                    <a:pt x="181" y="854"/>
                  </a:lnTo>
                  <a:lnTo>
                    <a:pt x="185" y="860"/>
                  </a:lnTo>
                  <a:lnTo>
                    <a:pt x="188" y="913"/>
                  </a:lnTo>
                  <a:lnTo>
                    <a:pt x="187" y="912"/>
                  </a:lnTo>
                  <a:lnTo>
                    <a:pt x="185" y="908"/>
                  </a:lnTo>
                  <a:lnTo>
                    <a:pt x="181" y="905"/>
                  </a:lnTo>
                  <a:lnTo>
                    <a:pt x="176" y="900"/>
                  </a:lnTo>
                  <a:lnTo>
                    <a:pt x="167" y="898"/>
                  </a:lnTo>
                  <a:lnTo>
                    <a:pt x="158" y="897"/>
                  </a:lnTo>
                  <a:lnTo>
                    <a:pt x="148" y="898"/>
                  </a:lnTo>
                  <a:lnTo>
                    <a:pt x="135" y="903"/>
                  </a:lnTo>
                  <a:lnTo>
                    <a:pt x="133" y="903"/>
                  </a:lnTo>
                  <a:lnTo>
                    <a:pt x="126" y="900"/>
                  </a:lnTo>
                  <a:lnTo>
                    <a:pt x="116" y="899"/>
                  </a:lnTo>
                  <a:lnTo>
                    <a:pt x="103" y="897"/>
                  </a:lnTo>
                  <a:lnTo>
                    <a:pt x="90" y="895"/>
                  </a:lnTo>
                  <a:lnTo>
                    <a:pt x="78" y="893"/>
                  </a:lnTo>
                  <a:lnTo>
                    <a:pt x="67" y="891"/>
                  </a:lnTo>
                  <a:lnTo>
                    <a:pt x="60" y="891"/>
                  </a:lnTo>
                  <a:lnTo>
                    <a:pt x="51" y="896"/>
                  </a:lnTo>
                  <a:lnTo>
                    <a:pt x="45" y="905"/>
                  </a:lnTo>
                  <a:lnTo>
                    <a:pt x="41" y="915"/>
                  </a:lnTo>
                  <a:lnTo>
                    <a:pt x="40" y="920"/>
                  </a:lnTo>
                  <a:lnTo>
                    <a:pt x="38" y="920"/>
                  </a:lnTo>
                  <a:lnTo>
                    <a:pt x="35" y="920"/>
                  </a:lnTo>
                  <a:lnTo>
                    <a:pt x="29" y="921"/>
                  </a:lnTo>
                  <a:lnTo>
                    <a:pt x="22" y="922"/>
                  </a:lnTo>
                  <a:lnTo>
                    <a:pt x="15" y="924"/>
                  </a:lnTo>
                  <a:lnTo>
                    <a:pt x="10" y="927"/>
                  </a:lnTo>
                  <a:lnTo>
                    <a:pt x="4" y="931"/>
                  </a:lnTo>
                  <a:lnTo>
                    <a:pt x="0" y="937"/>
                  </a:lnTo>
                  <a:lnTo>
                    <a:pt x="3" y="937"/>
                  </a:lnTo>
                  <a:lnTo>
                    <a:pt x="9" y="939"/>
                  </a:lnTo>
                  <a:lnTo>
                    <a:pt x="15" y="943"/>
                  </a:lnTo>
                  <a:lnTo>
                    <a:pt x="21" y="952"/>
                  </a:lnTo>
                  <a:lnTo>
                    <a:pt x="50" y="941"/>
                  </a:lnTo>
                  <a:lnTo>
                    <a:pt x="49" y="944"/>
                  </a:lnTo>
                  <a:lnTo>
                    <a:pt x="44" y="952"/>
                  </a:lnTo>
                  <a:lnTo>
                    <a:pt x="37" y="960"/>
                  </a:lnTo>
                  <a:lnTo>
                    <a:pt x="28" y="966"/>
                  </a:lnTo>
                  <a:lnTo>
                    <a:pt x="32" y="969"/>
                  </a:lnTo>
                  <a:lnTo>
                    <a:pt x="38" y="979"/>
                  </a:lnTo>
                  <a:lnTo>
                    <a:pt x="48" y="990"/>
                  </a:lnTo>
                  <a:lnTo>
                    <a:pt x="57" y="1002"/>
                  </a:lnTo>
                  <a:lnTo>
                    <a:pt x="62" y="1006"/>
                  </a:lnTo>
                  <a:lnTo>
                    <a:pt x="65" y="1011"/>
                  </a:lnTo>
                  <a:lnTo>
                    <a:pt x="71" y="1014"/>
                  </a:lnTo>
                  <a:lnTo>
                    <a:pt x="75" y="1017"/>
                  </a:lnTo>
                  <a:lnTo>
                    <a:pt x="81" y="1019"/>
                  </a:lnTo>
                  <a:lnTo>
                    <a:pt x="87" y="1021"/>
                  </a:lnTo>
                  <a:lnTo>
                    <a:pt x="93" y="1022"/>
                  </a:lnTo>
                  <a:lnTo>
                    <a:pt x="100" y="1022"/>
                  </a:lnTo>
                  <a:lnTo>
                    <a:pt x="106" y="1022"/>
                  </a:lnTo>
                  <a:lnTo>
                    <a:pt x="114" y="1021"/>
                  </a:lnTo>
                  <a:lnTo>
                    <a:pt x="121" y="1019"/>
                  </a:lnTo>
                  <a:lnTo>
                    <a:pt x="129" y="1017"/>
                  </a:lnTo>
                  <a:lnTo>
                    <a:pt x="135" y="1016"/>
                  </a:lnTo>
                  <a:lnTo>
                    <a:pt x="141" y="1013"/>
                  </a:lnTo>
                  <a:lnTo>
                    <a:pt x="144" y="1012"/>
                  </a:lnTo>
                  <a:lnTo>
                    <a:pt x="146" y="1012"/>
                  </a:lnTo>
                  <a:lnTo>
                    <a:pt x="147" y="1016"/>
                  </a:lnTo>
                  <a:lnTo>
                    <a:pt x="149" y="1024"/>
                  </a:lnTo>
                  <a:lnTo>
                    <a:pt x="149" y="1034"/>
                  </a:lnTo>
                  <a:lnTo>
                    <a:pt x="142" y="1041"/>
                  </a:lnTo>
                  <a:lnTo>
                    <a:pt x="133" y="1044"/>
                  </a:lnTo>
                  <a:lnTo>
                    <a:pt x="125" y="1045"/>
                  </a:lnTo>
                  <a:lnTo>
                    <a:pt x="118" y="1048"/>
                  </a:lnTo>
                  <a:lnTo>
                    <a:pt x="110" y="1051"/>
                  </a:lnTo>
                  <a:lnTo>
                    <a:pt x="101" y="1055"/>
                  </a:lnTo>
                  <a:lnTo>
                    <a:pt x="90" y="1056"/>
                  </a:lnTo>
                  <a:lnTo>
                    <a:pt x="82" y="1055"/>
                  </a:lnTo>
                  <a:lnTo>
                    <a:pt x="79" y="1055"/>
                  </a:lnTo>
                  <a:lnTo>
                    <a:pt x="60" y="1048"/>
                  </a:lnTo>
                  <a:lnTo>
                    <a:pt x="64" y="1065"/>
                  </a:lnTo>
                  <a:lnTo>
                    <a:pt x="67" y="1069"/>
                  </a:lnTo>
                  <a:lnTo>
                    <a:pt x="75" y="1075"/>
                  </a:lnTo>
                  <a:lnTo>
                    <a:pt x="86" y="1087"/>
                  </a:lnTo>
                  <a:lnTo>
                    <a:pt x="93" y="1097"/>
                  </a:lnTo>
                  <a:lnTo>
                    <a:pt x="96" y="1103"/>
                  </a:lnTo>
                  <a:lnTo>
                    <a:pt x="100" y="1111"/>
                  </a:lnTo>
                  <a:lnTo>
                    <a:pt x="104" y="1119"/>
                  </a:lnTo>
                  <a:lnTo>
                    <a:pt x="110" y="1128"/>
                  </a:lnTo>
                  <a:lnTo>
                    <a:pt x="117" y="1138"/>
                  </a:lnTo>
                  <a:lnTo>
                    <a:pt x="124" y="1147"/>
                  </a:lnTo>
                  <a:lnTo>
                    <a:pt x="131" y="1154"/>
                  </a:lnTo>
                  <a:lnTo>
                    <a:pt x="139" y="1161"/>
                  </a:lnTo>
                  <a:lnTo>
                    <a:pt x="146" y="1165"/>
                  </a:lnTo>
                  <a:lnTo>
                    <a:pt x="151" y="1169"/>
                  </a:lnTo>
                  <a:lnTo>
                    <a:pt x="156" y="1172"/>
                  </a:lnTo>
                  <a:lnTo>
                    <a:pt x="161" y="1174"/>
                  </a:lnTo>
                  <a:lnTo>
                    <a:pt x="164" y="1176"/>
                  </a:lnTo>
                  <a:lnTo>
                    <a:pt x="170" y="1177"/>
                  </a:lnTo>
                  <a:lnTo>
                    <a:pt x="177" y="1178"/>
                  </a:lnTo>
                  <a:lnTo>
                    <a:pt x="185" y="1178"/>
                  </a:lnTo>
                  <a:lnTo>
                    <a:pt x="195" y="1177"/>
                  </a:lnTo>
                  <a:lnTo>
                    <a:pt x="205" y="1174"/>
                  </a:lnTo>
                  <a:lnTo>
                    <a:pt x="216" y="1171"/>
                  </a:lnTo>
                  <a:lnTo>
                    <a:pt x="226" y="1168"/>
                  </a:lnTo>
                  <a:lnTo>
                    <a:pt x="235" y="1163"/>
                  </a:lnTo>
                  <a:lnTo>
                    <a:pt x="243" y="1160"/>
                  </a:lnTo>
                  <a:lnTo>
                    <a:pt x="250" y="1156"/>
                  </a:lnTo>
                  <a:lnTo>
                    <a:pt x="256" y="1154"/>
                  </a:lnTo>
                  <a:lnTo>
                    <a:pt x="264" y="1148"/>
                  </a:lnTo>
                  <a:lnTo>
                    <a:pt x="270" y="1140"/>
                  </a:lnTo>
                  <a:lnTo>
                    <a:pt x="275" y="1128"/>
                  </a:lnTo>
                  <a:lnTo>
                    <a:pt x="277" y="1116"/>
                  </a:lnTo>
                  <a:lnTo>
                    <a:pt x="278" y="1102"/>
                  </a:lnTo>
                  <a:lnTo>
                    <a:pt x="281" y="1090"/>
                  </a:lnTo>
                  <a:lnTo>
                    <a:pt x="287" y="1083"/>
                  </a:lnTo>
                  <a:lnTo>
                    <a:pt x="295" y="1083"/>
                  </a:lnTo>
                  <a:lnTo>
                    <a:pt x="301" y="1090"/>
                  </a:lnTo>
                  <a:lnTo>
                    <a:pt x="302" y="1098"/>
                  </a:lnTo>
                  <a:lnTo>
                    <a:pt x="302" y="1110"/>
                  </a:lnTo>
                  <a:lnTo>
                    <a:pt x="302" y="1123"/>
                  </a:lnTo>
                  <a:lnTo>
                    <a:pt x="305" y="1135"/>
                  </a:lnTo>
                  <a:lnTo>
                    <a:pt x="310" y="1149"/>
                  </a:lnTo>
                  <a:lnTo>
                    <a:pt x="315" y="1163"/>
                  </a:lnTo>
                  <a:lnTo>
                    <a:pt x="316" y="1178"/>
                  </a:lnTo>
                  <a:lnTo>
                    <a:pt x="313" y="1193"/>
                  </a:lnTo>
                  <a:lnTo>
                    <a:pt x="309" y="1208"/>
                  </a:lnTo>
                  <a:lnTo>
                    <a:pt x="306" y="1225"/>
                  </a:lnTo>
                  <a:lnTo>
                    <a:pt x="302" y="1246"/>
                  </a:lnTo>
                  <a:lnTo>
                    <a:pt x="303" y="1267"/>
                  </a:lnTo>
                  <a:lnTo>
                    <a:pt x="309" y="1283"/>
                  </a:lnTo>
                  <a:lnTo>
                    <a:pt x="315" y="1297"/>
                  </a:lnTo>
                  <a:lnTo>
                    <a:pt x="316" y="1309"/>
                  </a:lnTo>
                  <a:lnTo>
                    <a:pt x="313" y="1323"/>
                  </a:lnTo>
                  <a:lnTo>
                    <a:pt x="309" y="1338"/>
                  </a:lnTo>
                  <a:lnTo>
                    <a:pt x="308" y="1353"/>
                  </a:lnTo>
                  <a:lnTo>
                    <a:pt x="313" y="1367"/>
                  </a:lnTo>
                  <a:lnTo>
                    <a:pt x="317" y="1375"/>
                  </a:lnTo>
                  <a:lnTo>
                    <a:pt x="323" y="1386"/>
                  </a:lnTo>
                  <a:lnTo>
                    <a:pt x="329" y="1399"/>
                  </a:lnTo>
                  <a:lnTo>
                    <a:pt x="334" y="1413"/>
                  </a:lnTo>
                  <a:lnTo>
                    <a:pt x="339" y="1427"/>
                  </a:lnTo>
                  <a:lnTo>
                    <a:pt x="343" y="1441"/>
                  </a:lnTo>
                  <a:lnTo>
                    <a:pt x="345" y="1453"/>
                  </a:lnTo>
                  <a:lnTo>
                    <a:pt x="345" y="1463"/>
                  </a:lnTo>
                  <a:lnTo>
                    <a:pt x="343" y="1478"/>
                  </a:lnTo>
                  <a:lnTo>
                    <a:pt x="344" y="1492"/>
                  </a:lnTo>
                  <a:lnTo>
                    <a:pt x="347" y="1510"/>
                  </a:lnTo>
                  <a:lnTo>
                    <a:pt x="355" y="1533"/>
                  </a:lnTo>
                  <a:lnTo>
                    <a:pt x="361" y="1545"/>
                  </a:lnTo>
                  <a:lnTo>
                    <a:pt x="367" y="1558"/>
                  </a:lnTo>
                  <a:lnTo>
                    <a:pt x="372" y="1570"/>
                  </a:lnTo>
                  <a:lnTo>
                    <a:pt x="378" y="1580"/>
                  </a:lnTo>
                  <a:lnTo>
                    <a:pt x="384" y="1592"/>
                  </a:lnTo>
                  <a:lnTo>
                    <a:pt x="389" y="1602"/>
                  </a:lnTo>
                  <a:lnTo>
                    <a:pt x="393" y="1612"/>
                  </a:lnTo>
                  <a:lnTo>
                    <a:pt x="398" y="1623"/>
                  </a:lnTo>
                  <a:lnTo>
                    <a:pt x="402" y="1638"/>
                  </a:lnTo>
                  <a:lnTo>
                    <a:pt x="404" y="1647"/>
                  </a:lnTo>
                  <a:lnTo>
                    <a:pt x="405" y="1660"/>
                  </a:lnTo>
                  <a:lnTo>
                    <a:pt x="412" y="1683"/>
                  </a:lnTo>
                  <a:lnTo>
                    <a:pt x="417" y="1699"/>
                  </a:lnTo>
                  <a:lnTo>
                    <a:pt x="423" y="1714"/>
                  </a:lnTo>
                  <a:lnTo>
                    <a:pt x="430" y="1729"/>
                  </a:lnTo>
                  <a:lnTo>
                    <a:pt x="435" y="1743"/>
                  </a:lnTo>
                  <a:lnTo>
                    <a:pt x="440" y="1755"/>
                  </a:lnTo>
                  <a:lnTo>
                    <a:pt x="444" y="1767"/>
                  </a:lnTo>
                  <a:lnTo>
                    <a:pt x="446" y="1775"/>
                  </a:lnTo>
                  <a:lnTo>
                    <a:pt x="447" y="1782"/>
                  </a:lnTo>
                  <a:lnTo>
                    <a:pt x="448" y="1789"/>
                  </a:lnTo>
                  <a:lnTo>
                    <a:pt x="452" y="1796"/>
                  </a:lnTo>
                  <a:lnTo>
                    <a:pt x="457" y="1805"/>
                  </a:lnTo>
                  <a:lnTo>
                    <a:pt x="462" y="1813"/>
                  </a:lnTo>
                  <a:lnTo>
                    <a:pt x="469" y="1822"/>
                  </a:lnTo>
                  <a:lnTo>
                    <a:pt x="476" y="1829"/>
                  </a:lnTo>
                  <a:lnTo>
                    <a:pt x="483" y="1835"/>
                  </a:lnTo>
                  <a:lnTo>
                    <a:pt x="490" y="1839"/>
                  </a:lnTo>
                  <a:lnTo>
                    <a:pt x="493" y="1849"/>
                  </a:lnTo>
                  <a:lnTo>
                    <a:pt x="503" y="1869"/>
                  </a:lnTo>
                  <a:lnTo>
                    <a:pt x="513" y="1896"/>
                  </a:lnTo>
                  <a:lnTo>
                    <a:pt x="519" y="1921"/>
                  </a:lnTo>
                  <a:lnTo>
                    <a:pt x="523" y="1938"/>
                  </a:lnTo>
                  <a:lnTo>
                    <a:pt x="530" y="1951"/>
                  </a:lnTo>
                  <a:lnTo>
                    <a:pt x="537" y="1964"/>
                  </a:lnTo>
                  <a:lnTo>
                    <a:pt x="539" y="1978"/>
                  </a:lnTo>
                  <a:lnTo>
                    <a:pt x="542" y="1995"/>
                  </a:lnTo>
                  <a:lnTo>
                    <a:pt x="548" y="2012"/>
                  </a:lnTo>
                  <a:lnTo>
                    <a:pt x="556" y="2031"/>
                  </a:lnTo>
                  <a:lnTo>
                    <a:pt x="565" y="2046"/>
                  </a:lnTo>
                  <a:lnTo>
                    <a:pt x="571" y="2052"/>
                  </a:lnTo>
                  <a:lnTo>
                    <a:pt x="577" y="2062"/>
                  </a:lnTo>
                  <a:lnTo>
                    <a:pt x="586" y="2070"/>
                  </a:lnTo>
                  <a:lnTo>
                    <a:pt x="594" y="2079"/>
                  </a:lnTo>
                  <a:lnTo>
                    <a:pt x="600" y="2086"/>
                  </a:lnTo>
                  <a:lnTo>
                    <a:pt x="605" y="2093"/>
                  </a:lnTo>
                  <a:lnTo>
                    <a:pt x="610" y="2097"/>
                  </a:lnTo>
                  <a:lnTo>
                    <a:pt x="611" y="2099"/>
                  </a:lnTo>
                  <a:lnTo>
                    <a:pt x="612" y="2099"/>
                  </a:lnTo>
                  <a:lnTo>
                    <a:pt x="615" y="2100"/>
                  </a:lnTo>
                  <a:lnTo>
                    <a:pt x="620" y="2101"/>
                  </a:lnTo>
                  <a:lnTo>
                    <a:pt x="626" y="2101"/>
                  </a:lnTo>
                  <a:lnTo>
                    <a:pt x="629" y="2101"/>
                  </a:lnTo>
                  <a:lnTo>
                    <a:pt x="634" y="2101"/>
                  </a:lnTo>
                  <a:lnTo>
                    <a:pt x="637" y="2100"/>
                  </a:lnTo>
                  <a:lnTo>
                    <a:pt x="642" y="2099"/>
                  </a:lnTo>
                  <a:lnTo>
                    <a:pt x="647" y="2096"/>
                  </a:lnTo>
                  <a:lnTo>
                    <a:pt x="651" y="2095"/>
                  </a:lnTo>
                  <a:lnTo>
                    <a:pt x="656" y="2092"/>
                  </a:lnTo>
                  <a:lnTo>
                    <a:pt x="660" y="2088"/>
                  </a:lnTo>
                  <a:lnTo>
                    <a:pt x="673" y="2072"/>
                  </a:lnTo>
                  <a:lnTo>
                    <a:pt x="678" y="2057"/>
                  </a:lnTo>
                  <a:lnTo>
                    <a:pt x="680" y="2046"/>
                  </a:lnTo>
                  <a:lnTo>
                    <a:pt x="686" y="2037"/>
                  </a:lnTo>
                  <a:lnTo>
                    <a:pt x="691" y="2035"/>
                  </a:lnTo>
                  <a:lnTo>
                    <a:pt x="697" y="2032"/>
                  </a:lnTo>
                  <a:lnTo>
                    <a:pt x="704" y="2029"/>
                  </a:lnTo>
                  <a:lnTo>
                    <a:pt x="711" y="2026"/>
                  </a:lnTo>
                  <a:lnTo>
                    <a:pt x="716" y="2024"/>
                  </a:lnTo>
                  <a:lnTo>
                    <a:pt x="720" y="2021"/>
                  </a:lnTo>
                  <a:lnTo>
                    <a:pt x="724" y="2020"/>
                  </a:lnTo>
                  <a:lnTo>
                    <a:pt x="725" y="2020"/>
                  </a:lnTo>
                  <a:lnTo>
                    <a:pt x="725" y="2018"/>
                  </a:lnTo>
                  <a:lnTo>
                    <a:pt x="726" y="2012"/>
                  </a:lnTo>
                  <a:lnTo>
                    <a:pt x="728" y="2004"/>
                  </a:lnTo>
                  <a:lnTo>
                    <a:pt x="732" y="1995"/>
                  </a:lnTo>
                  <a:lnTo>
                    <a:pt x="738" y="1987"/>
                  </a:lnTo>
                  <a:lnTo>
                    <a:pt x="746" y="1978"/>
                  </a:lnTo>
                  <a:lnTo>
                    <a:pt x="752" y="1968"/>
                  </a:lnTo>
                  <a:lnTo>
                    <a:pt x="757" y="1959"/>
                  </a:lnTo>
                  <a:lnTo>
                    <a:pt x="761" y="1953"/>
                  </a:lnTo>
                  <a:lnTo>
                    <a:pt x="766" y="1950"/>
                  </a:lnTo>
                  <a:lnTo>
                    <a:pt x="773" y="1949"/>
                  </a:lnTo>
                  <a:lnTo>
                    <a:pt x="781" y="1949"/>
                  </a:lnTo>
                  <a:lnTo>
                    <a:pt x="789" y="1948"/>
                  </a:lnTo>
                  <a:lnTo>
                    <a:pt x="796" y="1943"/>
                  </a:lnTo>
                  <a:lnTo>
                    <a:pt x="801" y="1940"/>
                  </a:lnTo>
                  <a:lnTo>
                    <a:pt x="803" y="1938"/>
                  </a:lnTo>
                  <a:lnTo>
                    <a:pt x="803" y="1934"/>
                  </a:lnTo>
                  <a:lnTo>
                    <a:pt x="802" y="1922"/>
                  </a:lnTo>
                  <a:lnTo>
                    <a:pt x="802" y="1908"/>
                  </a:lnTo>
                  <a:lnTo>
                    <a:pt x="803" y="1896"/>
                  </a:lnTo>
                  <a:lnTo>
                    <a:pt x="802" y="1884"/>
                  </a:lnTo>
                  <a:lnTo>
                    <a:pt x="797" y="1872"/>
                  </a:lnTo>
                  <a:lnTo>
                    <a:pt x="791" y="1859"/>
                  </a:lnTo>
                  <a:lnTo>
                    <a:pt x="788" y="1850"/>
                  </a:lnTo>
                  <a:lnTo>
                    <a:pt x="789" y="1842"/>
                  </a:lnTo>
                  <a:lnTo>
                    <a:pt x="794" y="1834"/>
                  </a:lnTo>
                  <a:lnTo>
                    <a:pt x="801" y="1824"/>
                  </a:lnTo>
                  <a:lnTo>
                    <a:pt x="810" y="1810"/>
                  </a:lnTo>
                  <a:lnTo>
                    <a:pt x="820" y="1792"/>
                  </a:lnTo>
                  <a:lnTo>
                    <a:pt x="829" y="1764"/>
                  </a:lnTo>
                  <a:lnTo>
                    <a:pt x="829" y="1725"/>
                  </a:lnTo>
                  <a:lnTo>
                    <a:pt x="817" y="1669"/>
                  </a:lnTo>
                  <a:lnTo>
                    <a:pt x="817" y="1661"/>
                  </a:lnTo>
                  <a:lnTo>
                    <a:pt x="817" y="1640"/>
                  </a:lnTo>
                  <a:lnTo>
                    <a:pt x="816" y="1616"/>
                  </a:lnTo>
                  <a:lnTo>
                    <a:pt x="814" y="1594"/>
                  </a:lnTo>
                  <a:lnTo>
                    <a:pt x="814" y="1577"/>
                  </a:lnTo>
                  <a:lnTo>
                    <a:pt x="819" y="1563"/>
                  </a:lnTo>
                  <a:lnTo>
                    <a:pt x="830" y="1552"/>
                  </a:lnTo>
                  <a:lnTo>
                    <a:pt x="842" y="1548"/>
                  </a:lnTo>
                  <a:lnTo>
                    <a:pt x="853" y="1547"/>
                  </a:lnTo>
                  <a:lnTo>
                    <a:pt x="858" y="1548"/>
                  </a:lnTo>
                  <a:lnTo>
                    <a:pt x="861" y="1550"/>
                  </a:lnTo>
                  <a:lnTo>
                    <a:pt x="862" y="1551"/>
                  </a:lnTo>
                  <a:lnTo>
                    <a:pt x="867" y="1550"/>
                  </a:lnTo>
                  <a:lnTo>
                    <a:pt x="877" y="1545"/>
                  </a:lnTo>
                  <a:lnTo>
                    <a:pt x="887" y="1537"/>
                  </a:lnTo>
                  <a:lnTo>
                    <a:pt x="894" y="1526"/>
                  </a:lnTo>
                  <a:lnTo>
                    <a:pt x="900" y="1516"/>
                  </a:lnTo>
                  <a:lnTo>
                    <a:pt x="908" y="1509"/>
                  </a:lnTo>
                  <a:lnTo>
                    <a:pt x="915" y="1506"/>
                  </a:lnTo>
                  <a:lnTo>
                    <a:pt x="918" y="1505"/>
                  </a:lnTo>
                  <a:lnTo>
                    <a:pt x="921" y="1505"/>
                  </a:lnTo>
                  <a:lnTo>
                    <a:pt x="925" y="1505"/>
                  </a:lnTo>
                  <a:lnTo>
                    <a:pt x="933" y="1504"/>
                  </a:lnTo>
                  <a:lnTo>
                    <a:pt x="943" y="1503"/>
                  </a:lnTo>
                  <a:lnTo>
                    <a:pt x="952" y="1502"/>
                  </a:lnTo>
                  <a:lnTo>
                    <a:pt x="961" y="1499"/>
                  </a:lnTo>
                  <a:lnTo>
                    <a:pt x="968" y="1495"/>
                  </a:lnTo>
                  <a:lnTo>
                    <a:pt x="972" y="1490"/>
                  </a:lnTo>
                  <a:lnTo>
                    <a:pt x="974" y="1484"/>
                  </a:lnTo>
                  <a:lnTo>
                    <a:pt x="972" y="1479"/>
                  </a:lnTo>
                  <a:lnTo>
                    <a:pt x="969" y="1472"/>
                  </a:lnTo>
                  <a:lnTo>
                    <a:pt x="967" y="1465"/>
                  </a:lnTo>
                  <a:lnTo>
                    <a:pt x="966" y="1458"/>
                  </a:lnTo>
                  <a:lnTo>
                    <a:pt x="967" y="1451"/>
                  </a:lnTo>
                  <a:lnTo>
                    <a:pt x="972" y="1445"/>
                  </a:lnTo>
                  <a:lnTo>
                    <a:pt x="983" y="1441"/>
                  </a:lnTo>
                  <a:lnTo>
                    <a:pt x="995" y="1436"/>
                  </a:lnTo>
                  <a:lnTo>
                    <a:pt x="1005" y="1430"/>
                  </a:lnTo>
                  <a:lnTo>
                    <a:pt x="1013" y="1423"/>
                  </a:lnTo>
                  <a:lnTo>
                    <a:pt x="1021" y="1416"/>
                  </a:lnTo>
                  <a:lnTo>
                    <a:pt x="1028" y="1408"/>
                  </a:lnTo>
                  <a:lnTo>
                    <a:pt x="1033" y="1400"/>
                  </a:lnTo>
                  <a:lnTo>
                    <a:pt x="1042" y="1392"/>
                  </a:lnTo>
                  <a:lnTo>
                    <a:pt x="1050" y="1384"/>
                  </a:lnTo>
                  <a:lnTo>
                    <a:pt x="1060" y="1376"/>
                  </a:lnTo>
                  <a:lnTo>
                    <a:pt x="1070" y="1368"/>
                  </a:lnTo>
                  <a:lnTo>
                    <a:pt x="1082" y="1359"/>
                  </a:lnTo>
                  <a:lnTo>
                    <a:pt x="1093" y="1351"/>
                  </a:lnTo>
                  <a:lnTo>
                    <a:pt x="1104" y="1342"/>
                  </a:lnTo>
                  <a:lnTo>
                    <a:pt x="1113" y="1331"/>
                  </a:lnTo>
                  <a:lnTo>
                    <a:pt x="1122" y="1321"/>
                  </a:lnTo>
                  <a:lnTo>
                    <a:pt x="1128" y="1309"/>
                  </a:lnTo>
                  <a:lnTo>
                    <a:pt x="1135" y="1298"/>
                  </a:lnTo>
                  <a:lnTo>
                    <a:pt x="1142" y="1287"/>
                  </a:lnTo>
                  <a:lnTo>
                    <a:pt x="1151" y="1279"/>
                  </a:lnTo>
                  <a:lnTo>
                    <a:pt x="1160" y="1271"/>
                  </a:lnTo>
                  <a:lnTo>
                    <a:pt x="1169" y="1264"/>
                  </a:lnTo>
                  <a:lnTo>
                    <a:pt x="1179" y="1259"/>
                  </a:lnTo>
                  <a:lnTo>
                    <a:pt x="1186" y="1254"/>
                  </a:lnTo>
                  <a:lnTo>
                    <a:pt x="1192" y="1249"/>
                  </a:lnTo>
                  <a:lnTo>
                    <a:pt x="1198" y="1246"/>
                  </a:lnTo>
                  <a:lnTo>
                    <a:pt x="1206" y="1244"/>
                  </a:lnTo>
                  <a:lnTo>
                    <a:pt x="1214" y="1242"/>
                  </a:lnTo>
                  <a:lnTo>
                    <a:pt x="1222" y="1241"/>
                  </a:lnTo>
                  <a:lnTo>
                    <a:pt x="1230" y="1240"/>
                  </a:lnTo>
                  <a:lnTo>
                    <a:pt x="1237" y="1239"/>
                  </a:lnTo>
                  <a:lnTo>
                    <a:pt x="1243" y="1236"/>
                  </a:lnTo>
                  <a:lnTo>
                    <a:pt x="1245" y="1231"/>
                  </a:lnTo>
                  <a:lnTo>
                    <a:pt x="1250" y="1218"/>
                  </a:lnTo>
                  <a:lnTo>
                    <a:pt x="1259" y="1204"/>
                  </a:lnTo>
                  <a:lnTo>
                    <a:pt x="1268" y="1192"/>
                  </a:lnTo>
                  <a:lnTo>
                    <a:pt x="1278" y="1181"/>
                  </a:lnTo>
                  <a:lnTo>
                    <a:pt x="1281" y="1172"/>
                  </a:lnTo>
                  <a:lnTo>
                    <a:pt x="1278" y="1162"/>
                  </a:lnTo>
                  <a:lnTo>
                    <a:pt x="1273" y="1153"/>
                  </a:lnTo>
                  <a:lnTo>
                    <a:pt x="1271" y="1149"/>
                  </a:lnTo>
                  <a:lnTo>
                    <a:pt x="1270" y="1147"/>
                  </a:lnTo>
                  <a:lnTo>
                    <a:pt x="1270" y="1140"/>
                  </a:lnTo>
                  <a:lnTo>
                    <a:pt x="1274" y="1130"/>
                  </a:lnTo>
                  <a:lnTo>
                    <a:pt x="1288" y="1116"/>
                  </a:lnTo>
                  <a:lnTo>
                    <a:pt x="1297" y="1109"/>
                  </a:lnTo>
                  <a:lnTo>
                    <a:pt x="1306" y="1103"/>
                  </a:lnTo>
                  <a:lnTo>
                    <a:pt x="1315" y="1098"/>
                  </a:lnTo>
                  <a:lnTo>
                    <a:pt x="1321" y="1096"/>
                  </a:lnTo>
                  <a:lnTo>
                    <a:pt x="1328" y="1094"/>
                  </a:lnTo>
                  <a:lnTo>
                    <a:pt x="1335" y="1094"/>
                  </a:lnTo>
                  <a:lnTo>
                    <a:pt x="1340" y="1095"/>
                  </a:lnTo>
                  <a:lnTo>
                    <a:pt x="1344" y="1097"/>
                  </a:lnTo>
                  <a:lnTo>
                    <a:pt x="1349" y="1100"/>
                  </a:lnTo>
                  <a:lnTo>
                    <a:pt x="1354" y="1101"/>
                  </a:lnTo>
                  <a:lnTo>
                    <a:pt x="1358" y="1102"/>
                  </a:lnTo>
                  <a:lnTo>
                    <a:pt x="1363" y="1103"/>
                  </a:lnTo>
                  <a:lnTo>
                    <a:pt x="1369" y="1103"/>
                  </a:lnTo>
                  <a:lnTo>
                    <a:pt x="1373" y="1103"/>
                  </a:lnTo>
                  <a:lnTo>
                    <a:pt x="1379" y="1102"/>
                  </a:lnTo>
                  <a:lnTo>
                    <a:pt x="1384" y="1101"/>
                  </a:lnTo>
                  <a:lnTo>
                    <a:pt x="1395" y="1098"/>
                  </a:lnTo>
                  <a:lnTo>
                    <a:pt x="1405" y="1096"/>
                  </a:lnTo>
                  <a:lnTo>
                    <a:pt x="1412" y="1095"/>
                  </a:lnTo>
                  <a:lnTo>
                    <a:pt x="1416" y="1094"/>
                  </a:lnTo>
                  <a:lnTo>
                    <a:pt x="1415" y="1086"/>
                  </a:lnTo>
                  <a:lnTo>
                    <a:pt x="1414" y="1069"/>
                  </a:lnTo>
                  <a:lnTo>
                    <a:pt x="1411" y="1045"/>
                  </a:lnTo>
                  <a:lnTo>
                    <a:pt x="1409" y="1026"/>
                  </a:lnTo>
                  <a:lnTo>
                    <a:pt x="1404" y="1005"/>
                  </a:lnTo>
                  <a:lnTo>
                    <a:pt x="1397" y="981"/>
                  </a:lnTo>
                  <a:lnTo>
                    <a:pt x="1387" y="959"/>
                  </a:lnTo>
                  <a:lnTo>
                    <a:pt x="1377" y="949"/>
                  </a:lnTo>
                  <a:lnTo>
                    <a:pt x="1379" y="945"/>
                  </a:lnTo>
                  <a:lnTo>
                    <a:pt x="1384" y="937"/>
                  </a:lnTo>
                  <a:lnTo>
                    <a:pt x="1387" y="927"/>
                  </a:lnTo>
                  <a:lnTo>
                    <a:pt x="1387" y="916"/>
                  </a:lnTo>
                  <a:lnTo>
                    <a:pt x="1385" y="907"/>
                  </a:lnTo>
                  <a:lnTo>
                    <a:pt x="1381" y="901"/>
                  </a:lnTo>
                  <a:lnTo>
                    <a:pt x="1377" y="898"/>
                  </a:lnTo>
                  <a:lnTo>
                    <a:pt x="1370" y="895"/>
                  </a:lnTo>
                  <a:lnTo>
                    <a:pt x="1365" y="892"/>
                  </a:lnTo>
                  <a:lnTo>
                    <a:pt x="1359" y="890"/>
                  </a:lnTo>
                  <a:lnTo>
                    <a:pt x="1354" y="888"/>
                  </a:lnTo>
                  <a:lnTo>
                    <a:pt x="1348" y="884"/>
                  </a:lnTo>
                  <a:lnTo>
                    <a:pt x="1342" y="882"/>
                  </a:lnTo>
                  <a:lnTo>
                    <a:pt x="1339" y="880"/>
                  </a:lnTo>
                  <a:lnTo>
                    <a:pt x="1335" y="878"/>
                  </a:lnTo>
                  <a:lnTo>
                    <a:pt x="1334" y="877"/>
                  </a:lnTo>
                  <a:lnTo>
                    <a:pt x="1335" y="876"/>
                  </a:lnTo>
                  <a:lnTo>
                    <a:pt x="1339" y="873"/>
                  </a:lnTo>
                  <a:lnTo>
                    <a:pt x="1344" y="867"/>
                  </a:lnTo>
                  <a:lnTo>
                    <a:pt x="1350" y="861"/>
                  </a:lnTo>
                  <a:lnTo>
                    <a:pt x="1357" y="855"/>
                  </a:lnTo>
                  <a:lnTo>
                    <a:pt x="1364" y="850"/>
                  </a:lnTo>
                  <a:lnTo>
                    <a:pt x="1371" y="846"/>
                  </a:lnTo>
                  <a:lnTo>
                    <a:pt x="1377" y="845"/>
                  </a:lnTo>
                  <a:lnTo>
                    <a:pt x="1385" y="840"/>
                  </a:lnTo>
                  <a:lnTo>
                    <a:pt x="1387" y="829"/>
                  </a:lnTo>
                  <a:lnTo>
                    <a:pt x="1384" y="817"/>
                  </a:lnTo>
                  <a:lnTo>
                    <a:pt x="1373" y="813"/>
                  </a:lnTo>
                  <a:lnTo>
                    <a:pt x="1366" y="813"/>
                  </a:lnTo>
                  <a:lnTo>
                    <a:pt x="1361" y="810"/>
                  </a:lnTo>
                  <a:lnTo>
                    <a:pt x="1354" y="807"/>
                  </a:lnTo>
                  <a:lnTo>
                    <a:pt x="1349" y="802"/>
                  </a:lnTo>
                  <a:lnTo>
                    <a:pt x="1346" y="795"/>
                  </a:lnTo>
                  <a:lnTo>
                    <a:pt x="1343" y="786"/>
                  </a:lnTo>
                  <a:lnTo>
                    <a:pt x="1344" y="775"/>
                  </a:lnTo>
                  <a:lnTo>
                    <a:pt x="1348" y="760"/>
                  </a:lnTo>
                  <a:lnTo>
                    <a:pt x="1350" y="761"/>
                  </a:lnTo>
                  <a:lnTo>
                    <a:pt x="1356" y="763"/>
                  </a:lnTo>
                  <a:lnTo>
                    <a:pt x="1365" y="767"/>
                  </a:lnTo>
                  <a:lnTo>
                    <a:pt x="1376" y="772"/>
                  </a:lnTo>
                  <a:lnTo>
                    <a:pt x="1387" y="777"/>
                  </a:lnTo>
                  <a:lnTo>
                    <a:pt x="1397" y="783"/>
                  </a:lnTo>
                  <a:lnTo>
                    <a:pt x="1408" y="787"/>
                  </a:lnTo>
                  <a:lnTo>
                    <a:pt x="1416" y="792"/>
                  </a:lnTo>
                  <a:lnTo>
                    <a:pt x="1425" y="801"/>
                  </a:lnTo>
                  <a:lnTo>
                    <a:pt x="1430" y="814"/>
                  </a:lnTo>
                  <a:lnTo>
                    <a:pt x="1433" y="827"/>
                  </a:lnTo>
                  <a:lnTo>
                    <a:pt x="1441" y="838"/>
                  </a:lnTo>
                  <a:lnTo>
                    <a:pt x="1447" y="843"/>
                  </a:lnTo>
                  <a:lnTo>
                    <a:pt x="1454" y="845"/>
                  </a:lnTo>
                  <a:lnTo>
                    <a:pt x="1462" y="847"/>
                  </a:lnTo>
                  <a:lnTo>
                    <a:pt x="1470" y="848"/>
                  </a:lnTo>
                  <a:lnTo>
                    <a:pt x="1479" y="848"/>
                  </a:lnTo>
                  <a:lnTo>
                    <a:pt x="1488" y="847"/>
                  </a:lnTo>
                  <a:lnTo>
                    <a:pt x="1496" y="846"/>
                  </a:lnTo>
                  <a:lnTo>
                    <a:pt x="1505" y="845"/>
                  </a:lnTo>
                  <a:lnTo>
                    <a:pt x="1515" y="844"/>
                  </a:lnTo>
                  <a:lnTo>
                    <a:pt x="1528" y="844"/>
                  </a:lnTo>
                  <a:lnTo>
                    <a:pt x="1543" y="844"/>
                  </a:lnTo>
                  <a:lnTo>
                    <a:pt x="1558" y="844"/>
                  </a:lnTo>
                  <a:lnTo>
                    <a:pt x="1571" y="844"/>
                  </a:lnTo>
                  <a:lnTo>
                    <a:pt x="1583" y="845"/>
                  </a:lnTo>
                  <a:lnTo>
                    <a:pt x="1590" y="845"/>
                  </a:lnTo>
                  <a:lnTo>
                    <a:pt x="1593" y="845"/>
                  </a:lnTo>
                  <a:lnTo>
                    <a:pt x="1591" y="850"/>
                  </a:lnTo>
                  <a:lnTo>
                    <a:pt x="1586" y="862"/>
                  </a:lnTo>
                  <a:lnTo>
                    <a:pt x="1581" y="875"/>
                  </a:lnTo>
                  <a:lnTo>
                    <a:pt x="1572" y="884"/>
                  </a:lnTo>
                  <a:lnTo>
                    <a:pt x="1568" y="888"/>
                  </a:lnTo>
                  <a:lnTo>
                    <a:pt x="1561" y="892"/>
                  </a:lnTo>
                  <a:lnTo>
                    <a:pt x="1553" y="898"/>
                  </a:lnTo>
                  <a:lnTo>
                    <a:pt x="1545" y="905"/>
                  </a:lnTo>
                  <a:lnTo>
                    <a:pt x="1538" y="912"/>
                  </a:lnTo>
                  <a:lnTo>
                    <a:pt x="1531" y="919"/>
                  </a:lnTo>
                  <a:lnTo>
                    <a:pt x="1525" y="924"/>
                  </a:lnTo>
                  <a:lnTo>
                    <a:pt x="1523" y="930"/>
                  </a:lnTo>
                  <a:lnTo>
                    <a:pt x="1524" y="941"/>
                  </a:lnTo>
                  <a:lnTo>
                    <a:pt x="1530" y="951"/>
                  </a:lnTo>
                  <a:lnTo>
                    <a:pt x="1537" y="961"/>
                  </a:lnTo>
                  <a:lnTo>
                    <a:pt x="1544" y="973"/>
                  </a:lnTo>
                  <a:lnTo>
                    <a:pt x="1551" y="987"/>
                  </a:lnTo>
                  <a:lnTo>
                    <a:pt x="1561" y="997"/>
                  </a:lnTo>
                  <a:lnTo>
                    <a:pt x="1569" y="1005"/>
                  </a:lnTo>
                  <a:lnTo>
                    <a:pt x="1572" y="1009"/>
                  </a:lnTo>
                  <a:lnTo>
                    <a:pt x="1576" y="1006"/>
                  </a:lnTo>
                  <a:lnTo>
                    <a:pt x="1585" y="999"/>
                  </a:lnTo>
                  <a:lnTo>
                    <a:pt x="1593" y="989"/>
                  </a:lnTo>
                  <a:lnTo>
                    <a:pt x="1597" y="976"/>
                  </a:lnTo>
                  <a:lnTo>
                    <a:pt x="1598" y="963"/>
                  </a:lnTo>
                  <a:lnTo>
                    <a:pt x="1601" y="951"/>
                  </a:lnTo>
                  <a:lnTo>
                    <a:pt x="1606" y="949"/>
                  </a:lnTo>
                  <a:lnTo>
                    <a:pt x="1612" y="963"/>
                  </a:lnTo>
                  <a:lnTo>
                    <a:pt x="1619" y="987"/>
                  </a:lnTo>
                  <a:lnTo>
                    <a:pt x="1627" y="1010"/>
                  </a:lnTo>
                  <a:lnTo>
                    <a:pt x="1634" y="1029"/>
                  </a:lnTo>
                  <a:lnTo>
                    <a:pt x="1636" y="1041"/>
                  </a:lnTo>
                  <a:lnTo>
                    <a:pt x="1637" y="1044"/>
                  </a:lnTo>
                  <a:lnTo>
                    <a:pt x="1639" y="1049"/>
                  </a:lnTo>
                  <a:lnTo>
                    <a:pt x="1643" y="1052"/>
                  </a:lnTo>
                  <a:lnTo>
                    <a:pt x="1647" y="1056"/>
                  </a:lnTo>
                  <a:lnTo>
                    <a:pt x="1653" y="1059"/>
                  </a:lnTo>
                  <a:lnTo>
                    <a:pt x="1659" y="1062"/>
                  </a:lnTo>
                  <a:lnTo>
                    <a:pt x="1665" y="1062"/>
                  </a:lnTo>
                  <a:lnTo>
                    <a:pt x="1672" y="1062"/>
                  </a:lnTo>
                  <a:lnTo>
                    <a:pt x="1682" y="1057"/>
                  </a:lnTo>
                  <a:lnTo>
                    <a:pt x="1688" y="1049"/>
                  </a:lnTo>
                  <a:lnTo>
                    <a:pt x="1690" y="1040"/>
                  </a:lnTo>
                  <a:lnTo>
                    <a:pt x="1690" y="1030"/>
                  </a:lnTo>
                  <a:lnTo>
                    <a:pt x="1689" y="1020"/>
                  </a:lnTo>
                  <a:lnTo>
                    <a:pt x="1686" y="1006"/>
                  </a:lnTo>
                  <a:lnTo>
                    <a:pt x="1686" y="994"/>
                  </a:lnTo>
                  <a:lnTo>
                    <a:pt x="1690" y="983"/>
                  </a:lnTo>
                  <a:lnTo>
                    <a:pt x="1693" y="976"/>
                  </a:lnTo>
                  <a:lnTo>
                    <a:pt x="1696" y="971"/>
                  </a:lnTo>
                  <a:lnTo>
                    <a:pt x="1697" y="963"/>
                  </a:lnTo>
                  <a:lnTo>
                    <a:pt x="1697" y="949"/>
                  </a:lnTo>
                  <a:lnTo>
                    <a:pt x="1697" y="933"/>
                  </a:lnTo>
                  <a:lnTo>
                    <a:pt x="1697" y="922"/>
                  </a:lnTo>
                  <a:lnTo>
                    <a:pt x="1700" y="916"/>
                  </a:lnTo>
                  <a:lnTo>
                    <a:pt x="1707" y="916"/>
                  </a:lnTo>
                  <a:lnTo>
                    <a:pt x="1713" y="918"/>
                  </a:lnTo>
                  <a:lnTo>
                    <a:pt x="1718" y="919"/>
                  </a:lnTo>
                  <a:lnTo>
                    <a:pt x="1723" y="921"/>
                  </a:lnTo>
                  <a:lnTo>
                    <a:pt x="1729" y="921"/>
                  </a:lnTo>
                  <a:lnTo>
                    <a:pt x="1734" y="921"/>
                  </a:lnTo>
                  <a:lnTo>
                    <a:pt x="1738" y="920"/>
                  </a:lnTo>
                  <a:lnTo>
                    <a:pt x="1741" y="918"/>
                  </a:lnTo>
                  <a:lnTo>
                    <a:pt x="1743" y="913"/>
                  </a:lnTo>
                  <a:lnTo>
                    <a:pt x="1749" y="900"/>
                  </a:lnTo>
                  <a:lnTo>
                    <a:pt x="1757" y="884"/>
                  </a:lnTo>
                  <a:lnTo>
                    <a:pt x="1764" y="867"/>
                  </a:lnTo>
                  <a:lnTo>
                    <a:pt x="1767" y="848"/>
                  </a:lnTo>
                  <a:lnTo>
                    <a:pt x="1767" y="831"/>
                  </a:lnTo>
                  <a:lnTo>
                    <a:pt x="1767" y="816"/>
                  </a:lnTo>
                  <a:lnTo>
                    <a:pt x="1767" y="806"/>
                  </a:lnTo>
                  <a:lnTo>
                    <a:pt x="1767" y="802"/>
                  </a:lnTo>
                  <a:lnTo>
                    <a:pt x="1782" y="775"/>
                  </a:lnTo>
                  <a:lnTo>
                    <a:pt x="1783" y="771"/>
                  </a:lnTo>
                  <a:lnTo>
                    <a:pt x="1786" y="761"/>
                  </a:lnTo>
                  <a:lnTo>
                    <a:pt x="1787" y="746"/>
                  </a:lnTo>
                  <a:lnTo>
                    <a:pt x="1786" y="727"/>
                  </a:lnTo>
                  <a:lnTo>
                    <a:pt x="1786" y="712"/>
                  </a:lnTo>
                  <a:lnTo>
                    <a:pt x="1789" y="702"/>
                  </a:lnTo>
                  <a:lnTo>
                    <a:pt x="1795" y="696"/>
                  </a:lnTo>
                  <a:lnTo>
                    <a:pt x="1803" y="693"/>
                  </a:lnTo>
                  <a:lnTo>
                    <a:pt x="1810" y="689"/>
                  </a:lnTo>
                  <a:lnTo>
                    <a:pt x="1817" y="686"/>
                  </a:lnTo>
                  <a:lnTo>
                    <a:pt x="1821" y="680"/>
                  </a:lnTo>
                  <a:lnTo>
                    <a:pt x="1825" y="671"/>
                  </a:lnTo>
                  <a:lnTo>
                    <a:pt x="1826" y="666"/>
                  </a:lnTo>
                  <a:lnTo>
                    <a:pt x="1828" y="662"/>
                  </a:lnTo>
                  <a:lnTo>
                    <a:pt x="1832" y="658"/>
                  </a:lnTo>
                  <a:lnTo>
                    <a:pt x="1836" y="655"/>
                  </a:lnTo>
                  <a:lnTo>
                    <a:pt x="1842" y="653"/>
                  </a:lnTo>
                  <a:lnTo>
                    <a:pt x="1850" y="650"/>
                  </a:lnTo>
                  <a:lnTo>
                    <a:pt x="1862" y="648"/>
                  </a:lnTo>
                  <a:lnTo>
                    <a:pt x="1874" y="647"/>
                  </a:lnTo>
                  <a:lnTo>
                    <a:pt x="1885" y="632"/>
                  </a:lnTo>
                  <a:lnTo>
                    <a:pt x="1883" y="630"/>
                  </a:lnTo>
                  <a:lnTo>
                    <a:pt x="1882" y="625"/>
                  </a:lnTo>
                  <a:lnTo>
                    <a:pt x="1883" y="619"/>
                  </a:lnTo>
                  <a:lnTo>
                    <a:pt x="1888" y="615"/>
                  </a:lnTo>
                  <a:lnTo>
                    <a:pt x="1895" y="605"/>
                  </a:lnTo>
                  <a:lnTo>
                    <a:pt x="1900" y="590"/>
                  </a:lnTo>
                  <a:lnTo>
                    <a:pt x="1902" y="575"/>
                  </a:lnTo>
                  <a:lnTo>
                    <a:pt x="1903" y="568"/>
                  </a:lnTo>
                  <a:lnTo>
                    <a:pt x="1856" y="553"/>
                  </a:lnTo>
                  <a:close/>
                </a:path>
              </a:pathLst>
            </a:custGeom>
            <a:solidFill>
              <a:srgbClr val="012169"/>
            </a:solidFill>
            <a:ln w="6350">
              <a:solidFill>
                <a:srgbClr val="FFFFFF"/>
              </a:solidFill>
              <a:round/>
              <a:headEnd/>
              <a:tailEnd/>
            </a:ln>
          </p:spPr>
          <p:txBody>
            <a:bodyPr/>
            <a:lstStyle/>
            <a:p>
              <a:endParaRPr lang="en-US" dirty="0"/>
            </a:p>
          </p:txBody>
        </p:sp>
        <p:sp>
          <p:nvSpPr>
            <p:cNvPr id="204" name="TextBox 290"/>
            <p:cNvSpPr txBox="1">
              <a:spLocks noChangeArrowheads="1"/>
            </p:cNvSpPr>
            <p:nvPr/>
          </p:nvSpPr>
          <p:spPr bwMode="auto">
            <a:xfrm>
              <a:off x="1311659" y="2518436"/>
              <a:ext cx="489738"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New Delhi</a:t>
              </a:r>
            </a:p>
          </p:txBody>
        </p:sp>
        <p:sp>
          <p:nvSpPr>
            <p:cNvPr id="205" name="Oval 204"/>
            <p:cNvSpPr/>
            <p:nvPr/>
          </p:nvSpPr>
          <p:spPr>
            <a:xfrm>
              <a:off x="2030823" y="3069788"/>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 name="Oval 205"/>
            <p:cNvSpPr/>
            <p:nvPr/>
          </p:nvSpPr>
          <p:spPr>
            <a:xfrm>
              <a:off x="2334872" y="3193508"/>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7" name="Oval 206"/>
            <p:cNvSpPr/>
            <p:nvPr/>
          </p:nvSpPr>
          <p:spPr>
            <a:xfrm>
              <a:off x="1461723" y="2666488"/>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Oval 207"/>
            <p:cNvSpPr/>
            <p:nvPr/>
          </p:nvSpPr>
          <p:spPr>
            <a:xfrm>
              <a:off x="1112626" y="3154727"/>
              <a:ext cx="58967" cy="58967"/>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9" name="Oval 208"/>
            <p:cNvSpPr/>
            <p:nvPr/>
          </p:nvSpPr>
          <p:spPr>
            <a:xfrm>
              <a:off x="1201416" y="319759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 name="Oval 209"/>
            <p:cNvSpPr/>
            <p:nvPr/>
          </p:nvSpPr>
          <p:spPr>
            <a:xfrm>
              <a:off x="1292098" y="3549855"/>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 name="Oval 210"/>
            <p:cNvSpPr/>
            <p:nvPr/>
          </p:nvSpPr>
          <p:spPr>
            <a:xfrm>
              <a:off x="1159881" y="345940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Oval 211"/>
            <p:cNvSpPr/>
            <p:nvPr/>
          </p:nvSpPr>
          <p:spPr>
            <a:xfrm>
              <a:off x="1680587" y="3594396"/>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3" name="Oval 212"/>
            <p:cNvSpPr/>
            <p:nvPr/>
          </p:nvSpPr>
          <p:spPr>
            <a:xfrm>
              <a:off x="1179594" y="376805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4" name="Oval 213"/>
            <p:cNvSpPr/>
            <p:nvPr/>
          </p:nvSpPr>
          <p:spPr>
            <a:xfrm>
              <a:off x="1490724" y="401833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 name="Oval 214"/>
            <p:cNvSpPr/>
            <p:nvPr/>
          </p:nvSpPr>
          <p:spPr>
            <a:xfrm>
              <a:off x="1794309" y="4072523"/>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6" name="Oval 215"/>
            <p:cNvSpPr/>
            <p:nvPr/>
          </p:nvSpPr>
          <p:spPr>
            <a:xfrm>
              <a:off x="1497560" y="424161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7" name="Oval 216"/>
            <p:cNvSpPr/>
            <p:nvPr/>
          </p:nvSpPr>
          <p:spPr>
            <a:xfrm>
              <a:off x="1393176" y="4291325"/>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TextBox 290"/>
            <p:cNvSpPr txBox="1">
              <a:spLocks noChangeArrowheads="1"/>
            </p:cNvSpPr>
            <p:nvPr/>
          </p:nvSpPr>
          <p:spPr bwMode="auto">
            <a:xfrm>
              <a:off x="1101600" y="3014760"/>
              <a:ext cx="568677"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Ahmedabad</a:t>
              </a:r>
            </a:p>
          </p:txBody>
        </p:sp>
        <p:sp>
          <p:nvSpPr>
            <p:cNvPr id="219" name="TextBox 290"/>
            <p:cNvSpPr txBox="1">
              <a:spLocks noChangeArrowheads="1"/>
            </p:cNvSpPr>
            <p:nvPr/>
          </p:nvSpPr>
          <p:spPr bwMode="auto">
            <a:xfrm>
              <a:off x="1287926" y="3164170"/>
              <a:ext cx="568677"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Vadodara</a:t>
              </a:r>
            </a:p>
          </p:txBody>
        </p:sp>
        <p:sp>
          <p:nvSpPr>
            <p:cNvPr id="220" name="TextBox 290"/>
            <p:cNvSpPr txBox="1">
              <a:spLocks noChangeArrowheads="1"/>
            </p:cNvSpPr>
            <p:nvPr/>
          </p:nvSpPr>
          <p:spPr bwMode="auto">
            <a:xfrm>
              <a:off x="788920" y="3449554"/>
              <a:ext cx="350565" cy="100027"/>
            </a:xfrm>
            <a:prstGeom prst="rect">
              <a:avLst/>
            </a:prstGeom>
            <a:noFill/>
            <a:ln w="9525">
              <a:noFill/>
              <a:miter lim="800000"/>
              <a:headEnd/>
              <a:tailEnd/>
            </a:ln>
          </p:spPr>
          <p:txBody>
            <a:bodyPr wrap="square" lIns="0" tIns="0" rIns="0" bIns="0">
              <a:spAutoFit/>
            </a:bodyPr>
            <a:lstStyle/>
            <a:p>
              <a:r>
                <a:rPr lang="en-US" sz="650" dirty="0"/>
                <a:t>Mumbai</a:t>
              </a:r>
            </a:p>
          </p:txBody>
        </p:sp>
        <p:sp>
          <p:nvSpPr>
            <p:cNvPr id="221" name="TextBox 290"/>
            <p:cNvSpPr txBox="1">
              <a:spLocks noChangeArrowheads="1"/>
            </p:cNvSpPr>
            <p:nvPr/>
          </p:nvSpPr>
          <p:spPr bwMode="auto">
            <a:xfrm>
              <a:off x="1217036" y="3618346"/>
              <a:ext cx="226739"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Pune</a:t>
              </a:r>
            </a:p>
          </p:txBody>
        </p:sp>
        <p:sp>
          <p:nvSpPr>
            <p:cNvPr id="222" name="TextBox 290"/>
            <p:cNvSpPr txBox="1">
              <a:spLocks noChangeArrowheads="1"/>
            </p:cNvSpPr>
            <p:nvPr/>
          </p:nvSpPr>
          <p:spPr bwMode="auto">
            <a:xfrm>
              <a:off x="1293469" y="3741165"/>
              <a:ext cx="226739"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Goa</a:t>
              </a:r>
            </a:p>
          </p:txBody>
        </p:sp>
        <p:sp>
          <p:nvSpPr>
            <p:cNvPr id="223" name="TextBox 290"/>
            <p:cNvSpPr txBox="1">
              <a:spLocks noChangeArrowheads="1"/>
            </p:cNvSpPr>
            <p:nvPr/>
          </p:nvSpPr>
          <p:spPr bwMode="auto">
            <a:xfrm>
              <a:off x="1669959" y="3478684"/>
              <a:ext cx="486762"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Hyderabad</a:t>
              </a:r>
            </a:p>
          </p:txBody>
        </p:sp>
        <p:sp>
          <p:nvSpPr>
            <p:cNvPr id="224" name="TextBox 290"/>
            <p:cNvSpPr txBox="1">
              <a:spLocks noChangeArrowheads="1"/>
            </p:cNvSpPr>
            <p:nvPr/>
          </p:nvSpPr>
          <p:spPr bwMode="auto">
            <a:xfrm>
              <a:off x="1884300" y="4046274"/>
              <a:ext cx="486762" cy="100027"/>
            </a:xfrm>
            <a:prstGeom prst="rect">
              <a:avLst/>
            </a:prstGeom>
            <a:noFill/>
            <a:ln w="9525">
              <a:noFill/>
              <a:miter lim="800000"/>
              <a:headEnd/>
              <a:tailEnd/>
            </a:ln>
          </p:spPr>
          <p:txBody>
            <a:bodyPr wrap="square" lIns="0" tIns="0" rIns="0" bIns="0">
              <a:spAutoFit/>
            </a:bodyPr>
            <a:lstStyle/>
            <a:p>
              <a:r>
                <a:rPr lang="en-US" sz="650" dirty="0"/>
                <a:t>Chennai</a:t>
              </a:r>
            </a:p>
          </p:txBody>
        </p:sp>
        <p:sp>
          <p:nvSpPr>
            <p:cNvPr id="225" name="TextBox 290"/>
            <p:cNvSpPr txBox="1">
              <a:spLocks noChangeArrowheads="1"/>
            </p:cNvSpPr>
            <p:nvPr/>
          </p:nvSpPr>
          <p:spPr bwMode="auto">
            <a:xfrm>
              <a:off x="1601944" y="4214759"/>
              <a:ext cx="486762" cy="100027"/>
            </a:xfrm>
            <a:prstGeom prst="rect">
              <a:avLst/>
            </a:prstGeom>
            <a:noFill/>
            <a:ln w="9525">
              <a:noFill/>
              <a:miter lim="800000"/>
              <a:headEnd/>
              <a:tailEnd/>
            </a:ln>
          </p:spPr>
          <p:txBody>
            <a:bodyPr wrap="square" lIns="0" tIns="0" rIns="0" bIns="0">
              <a:spAutoFit/>
            </a:bodyPr>
            <a:lstStyle/>
            <a:p>
              <a:r>
                <a:rPr lang="en-US" sz="650" dirty="0"/>
                <a:t>Coimbatore</a:t>
              </a:r>
            </a:p>
          </p:txBody>
        </p:sp>
        <p:sp>
          <p:nvSpPr>
            <p:cNvPr id="226" name="TextBox 290"/>
            <p:cNvSpPr txBox="1">
              <a:spLocks noChangeArrowheads="1"/>
            </p:cNvSpPr>
            <p:nvPr/>
          </p:nvSpPr>
          <p:spPr bwMode="auto">
            <a:xfrm>
              <a:off x="1101599" y="4281862"/>
              <a:ext cx="280987" cy="100027"/>
            </a:xfrm>
            <a:prstGeom prst="rect">
              <a:avLst/>
            </a:prstGeom>
            <a:noFill/>
            <a:ln w="9525">
              <a:noFill/>
              <a:miter lim="800000"/>
              <a:headEnd/>
              <a:tailEnd/>
            </a:ln>
          </p:spPr>
          <p:txBody>
            <a:bodyPr wrap="square" lIns="0" tIns="0" rIns="0" bIns="0">
              <a:spAutoFit/>
            </a:bodyPr>
            <a:lstStyle/>
            <a:p>
              <a:r>
                <a:rPr lang="en-US" sz="650" dirty="0"/>
                <a:t>Kochi</a:t>
              </a:r>
            </a:p>
          </p:txBody>
        </p:sp>
        <p:sp>
          <p:nvSpPr>
            <p:cNvPr id="227" name="TextBox 290"/>
            <p:cNvSpPr txBox="1">
              <a:spLocks noChangeArrowheads="1"/>
            </p:cNvSpPr>
            <p:nvPr/>
          </p:nvSpPr>
          <p:spPr bwMode="auto">
            <a:xfrm>
              <a:off x="1309290" y="3902618"/>
              <a:ext cx="486762"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Bengaluru</a:t>
              </a:r>
            </a:p>
          </p:txBody>
        </p:sp>
        <p:sp>
          <p:nvSpPr>
            <p:cNvPr id="228" name="TextBox 290"/>
            <p:cNvSpPr txBox="1">
              <a:spLocks noChangeArrowheads="1"/>
            </p:cNvSpPr>
            <p:nvPr/>
          </p:nvSpPr>
          <p:spPr bwMode="auto">
            <a:xfrm>
              <a:off x="1955458" y="2950205"/>
              <a:ext cx="611014" cy="100027"/>
            </a:xfrm>
            <a:prstGeom prst="rect">
              <a:avLst/>
            </a:prstGeom>
            <a:noFill/>
            <a:ln w="9525">
              <a:noFill/>
              <a:miter lim="800000"/>
              <a:headEnd/>
              <a:tailEnd/>
            </a:ln>
          </p:spPr>
          <p:txBody>
            <a:bodyPr wrap="square" lIns="0" tIns="0" rIns="0" bIns="0">
              <a:spAutoFit/>
            </a:bodyPr>
            <a:lstStyle/>
            <a:p>
              <a:r>
                <a:rPr lang="en-US" sz="650" dirty="0">
                  <a:solidFill>
                    <a:schemeClr val="bg1"/>
                  </a:solidFill>
                </a:rPr>
                <a:t>Jamshedpur</a:t>
              </a:r>
            </a:p>
          </p:txBody>
        </p:sp>
        <p:sp>
          <p:nvSpPr>
            <p:cNvPr id="229" name="TextBox 290"/>
            <p:cNvSpPr txBox="1">
              <a:spLocks noChangeArrowheads="1"/>
            </p:cNvSpPr>
            <p:nvPr/>
          </p:nvSpPr>
          <p:spPr bwMode="auto">
            <a:xfrm>
              <a:off x="1993175" y="3230084"/>
              <a:ext cx="341697" cy="100027"/>
            </a:xfrm>
            <a:prstGeom prst="rect">
              <a:avLst/>
            </a:prstGeom>
            <a:noFill/>
            <a:ln w="9525">
              <a:noFill/>
              <a:miter lim="800000"/>
              <a:headEnd/>
              <a:tailEnd/>
            </a:ln>
          </p:spPr>
          <p:txBody>
            <a:bodyPr wrap="square" lIns="0" tIns="0" rIns="0" bIns="0">
              <a:spAutoFit/>
            </a:bodyPr>
            <a:lstStyle/>
            <a:p>
              <a:pPr algn="r"/>
              <a:r>
                <a:rPr lang="en-US" sz="650" dirty="0">
                  <a:solidFill>
                    <a:schemeClr val="bg1"/>
                  </a:solidFill>
                </a:rPr>
                <a:t>Kolkata</a:t>
              </a:r>
            </a:p>
          </p:txBody>
        </p:sp>
      </p:grpSp>
      <p:sp>
        <p:nvSpPr>
          <p:cNvPr id="230" name="Rectangle 229"/>
          <p:cNvSpPr/>
          <p:nvPr/>
        </p:nvSpPr>
        <p:spPr>
          <a:xfrm>
            <a:off x="6394467" y="2467475"/>
            <a:ext cx="3953051" cy="430887"/>
          </a:xfrm>
          <a:prstGeom prst="rect">
            <a:avLst/>
          </a:prstGeom>
        </p:spPr>
        <p:txBody>
          <a:bodyPr wrap="square" lIns="0" tIns="0" rIns="0" bIns="0">
            <a:spAutoFit/>
          </a:bodyPr>
          <a:lstStyle/>
          <a:p>
            <a:pPr defTabSz="1032282"/>
            <a:r>
              <a:rPr lang="en-GB" sz="1400" dirty="0">
                <a:solidFill>
                  <a:srgbClr val="313131"/>
                </a:solidFill>
                <a:cs typeface="Arial" charset="0"/>
              </a:rPr>
              <a:t>India clientele </a:t>
            </a:r>
            <a:br>
              <a:rPr lang="en-GB" sz="1400" dirty="0">
                <a:solidFill>
                  <a:srgbClr val="313131"/>
                </a:solidFill>
                <a:cs typeface="Arial" charset="0"/>
              </a:rPr>
            </a:br>
            <a:r>
              <a:rPr lang="en-GB" sz="1400" dirty="0">
                <a:solidFill>
                  <a:srgbClr val="313131"/>
                </a:solidFill>
                <a:cs typeface="Arial" charset="0"/>
              </a:rPr>
              <a:t>(Business Today 500 – Nov 2016)</a:t>
            </a:r>
          </a:p>
        </p:txBody>
      </p:sp>
      <p:grpSp>
        <p:nvGrpSpPr>
          <p:cNvPr id="231" name="Group 230"/>
          <p:cNvGrpSpPr/>
          <p:nvPr/>
        </p:nvGrpSpPr>
        <p:grpSpPr>
          <a:xfrm>
            <a:off x="7253748" y="3044560"/>
            <a:ext cx="765607" cy="900427"/>
            <a:chOff x="6760515" y="3143193"/>
            <a:chExt cx="765607" cy="900427"/>
          </a:xfrm>
        </p:grpSpPr>
        <p:sp>
          <p:nvSpPr>
            <p:cNvPr id="232" name="Rectangle 231"/>
            <p:cNvSpPr/>
            <p:nvPr/>
          </p:nvSpPr>
          <p:spPr bwMode="gray">
            <a:xfrm>
              <a:off x="6917392" y="3143193"/>
              <a:ext cx="599925" cy="900427"/>
            </a:xfrm>
            <a:prstGeom prst="rect">
              <a:avLst/>
            </a:prstGeom>
            <a:solidFill>
              <a:schemeClr val="bg1"/>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33" name="Rectangle 232"/>
            <p:cNvSpPr/>
            <p:nvPr/>
          </p:nvSpPr>
          <p:spPr>
            <a:xfrm>
              <a:off x="6903836" y="3274738"/>
              <a:ext cx="622286" cy="246221"/>
            </a:xfrm>
            <a:prstGeom prst="rect">
              <a:avLst/>
            </a:prstGeom>
          </p:spPr>
          <p:txBody>
            <a:bodyPr wrap="none" tIns="0" bIns="0">
              <a:spAutoFit/>
            </a:bodyPr>
            <a:lstStyle/>
            <a:p>
              <a:r>
                <a:rPr lang="en-US" sz="1600" b="1" dirty="0">
                  <a:solidFill>
                    <a:srgbClr val="313131"/>
                  </a:solidFill>
                  <a:cs typeface="Arial" charset="0"/>
                </a:rPr>
                <a:t>135</a:t>
              </a:r>
              <a:endParaRPr lang="en-IN" sz="1600" b="1" dirty="0"/>
            </a:p>
          </p:txBody>
        </p:sp>
        <p:sp>
          <p:nvSpPr>
            <p:cNvPr id="234" name="Rectangle 233"/>
            <p:cNvSpPr/>
            <p:nvPr/>
          </p:nvSpPr>
          <p:spPr>
            <a:xfrm>
              <a:off x="6975971" y="3723078"/>
              <a:ext cx="478016" cy="184666"/>
            </a:xfrm>
            <a:prstGeom prst="rect">
              <a:avLst/>
            </a:prstGeom>
          </p:spPr>
          <p:txBody>
            <a:bodyPr wrap="none" tIns="0" bIns="0">
              <a:spAutoFit/>
            </a:bodyPr>
            <a:lstStyle/>
            <a:p>
              <a:r>
                <a:rPr lang="en-US" sz="1200" dirty="0">
                  <a:solidFill>
                    <a:srgbClr val="313131"/>
                  </a:solidFill>
                  <a:cs typeface="Arial" charset="0"/>
                </a:rPr>
                <a:t>234</a:t>
              </a:r>
              <a:endParaRPr lang="en-IN" sz="1200" dirty="0">
                <a:solidFill>
                  <a:srgbClr val="313131"/>
                </a:solidFill>
                <a:cs typeface="Arial" charset="0"/>
              </a:endParaRPr>
            </a:p>
          </p:txBody>
        </p:sp>
        <p:sp>
          <p:nvSpPr>
            <p:cNvPr id="235" name="Rectangle 234"/>
            <p:cNvSpPr/>
            <p:nvPr/>
          </p:nvSpPr>
          <p:spPr>
            <a:xfrm>
              <a:off x="6760515" y="3538179"/>
              <a:ext cx="756803" cy="153888"/>
            </a:xfrm>
            <a:prstGeom prst="rect">
              <a:avLst/>
            </a:prstGeom>
            <a:solidFill>
              <a:schemeClr val="accent3"/>
            </a:solidFill>
          </p:spPr>
          <p:txBody>
            <a:bodyPr wrap="square" lIns="274320"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236" name="Rectangle 235"/>
            <p:cNvSpPr/>
            <p:nvPr/>
          </p:nvSpPr>
          <p:spPr>
            <a:xfrm>
              <a:off x="6950513" y="3882663"/>
              <a:ext cx="548227" cy="123111"/>
            </a:xfrm>
            <a:prstGeom prst="rect">
              <a:avLst/>
            </a:prstGeom>
          </p:spPr>
          <p:txBody>
            <a:bodyPr wrap="none" lIns="0" tIns="0" rIns="0" bIns="0">
              <a:spAutoFit/>
            </a:bodyPr>
            <a:lstStyle/>
            <a:p>
              <a:pPr defTabSz="1032282"/>
              <a:r>
                <a:rPr lang="en-US" sz="800" dirty="0">
                  <a:solidFill>
                    <a:srgbClr val="313131"/>
                  </a:solidFill>
                  <a:cs typeface="Arial" charset="0"/>
                </a:rPr>
                <a:t>companies</a:t>
              </a:r>
            </a:p>
          </p:txBody>
        </p:sp>
        <p:sp>
          <p:nvSpPr>
            <p:cNvPr id="237" name="Rectangle 236"/>
            <p:cNvSpPr/>
            <p:nvPr/>
          </p:nvSpPr>
          <p:spPr>
            <a:xfrm>
              <a:off x="7054045" y="3171396"/>
              <a:ext cx="349455" cy="123111"/>
            </a:xfrm>
            <a:prstGeom prst="rect">
              <a:avLst/>
            </a:prstGeom>
          </p:spPr>
          <p:txBody>
            <a:bodyPr wrap="none" lIns="0" tIns="0" rIns="0" bIns="0">
              <a:spAutoFit/>
            </a:bodyPr>
            <a:lstStyle/>
            <a:p>
              <a:pPr defTabSz="1032282"/>
              <a:r>
                <a:rPr lang="en-US" sz="800" dirty="0">
                  <a:solidFill>
                    <a:srgbClr val="313131"/>
                  </a:solidFill>
                  <a:cs typeface="Arial" charset="0"/>
                </a:rPr>
                <a:t>Serves</a:t>
              </a:r>
            </a:p>
          </p:txBody>
        </p:sp>
      </p:grpSp>
      <p:grpSp>
        <p:nvGrpSpPr>
          <p:cNvPr id="238" name="Group 237"/>
          <p:cNvGrpSpPr/>
          <p:nvPr/>
        </p:nvGrpSpPr>
        <p:grpSpPr>
          <a:xfrm>
            <a:off x="6940358" y="3320555"/>
            <a:ext cx="405566" cy="405566"/>
            <a:chOff x="8160584" y="4119087"/>
            <a:chExt cx="405566" cy="405566"/>
          </a:xfrm>
        </p:grpSpPr>
        <p:sp>
          <p:nvSpPr>
            <p:cNvPr id="239" name="Oval 238"/>
            <p:cNvSpPr/>
            <p:nvPr/>
          </p:nvSpPr>
          <p:spPr bwMode="gray">
            <a:xfrm>
              <a:off x="8160584" y="4119087"/>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nvGrpSpPr>
            <p:cNvPr id="240" name="Group 682"/>
            <p:cNvGrpSpPr>
              <a:grpSpLocks/>
            </p:cNvGrpSpPr>
            <p:nvPr/>
          </p:nvGrpSpPr>
          <p:grpSpPr bwMode="auto">
            <a:xfrm>
              <a:off x="8187636" y="4146617"/>
              <a:ext cx="351462" cy="353672"/>
              <a:chOff x="1144" y="2344"/>
              <a:chExt cx="340" cy="340"/>
            </a:xfrm>
            <a:solidFill>
              <a:schemeClr val="accent3"/>
            </a:solidFill>
          </p:grpSpPr>
          <p:sp>
            <p:nvSpPr>
              <p:cNvPr id="241" name="Freeform 683"/>
              <p:cNvSpPr>
                <a:spLocks noEditPoints="1"/>
              </p:cNvSpPr>
              <p:nvPr/>
            </p:nvSpPr>
            <p:spPr bwMode="auto">
              <a:xfrm>
                <a:off x="1144" y="234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242" name="Freeform 684"/>
              <p:cNvSpPr>
                <a:spLocks noEditPoints="1"/>
              </p:cNvSpPr>
              <p:nvPr/>
            </p:nvSpPr>
            <p:spPr bwMode="auto">
              <a:xfrm>
                <a:off x="1207" y="2435"/>
                <a:ext cx="214" cy="171"/>
              </a:xfrm>
              <a:custGeom>
                <a:avLst/>
                <a:gdLst>
                  <a:gd name="T0" fmla="*/ 313 w 322"/>
                  <a:gd name="T1" fmla="*/ 22 h 257"/>
                  <a:gd name="T2" fmla="*/ 276 w 322"/>
                  <a:gd name="T3" fmla="*/ 31 h 257"/>
                  <a:gd name="T4" fmla="*/ 246 w 322"/>
                  <a:gd name="T5" fmla="*/ 185 h 257"/>
                  <a:gd name="T6" fmla="*/ 235 w 322"/>
                  <a:gd name="T7" fmla="*/ 193 h 257"/>
                  <a:gd name="T8" fmla="*/ 235 w 322"/>
                  <a:gd name="T9" fmla="*/ 193 h 257"/>
                  <a:gd name="T10" fmla="*/ 235 w 322"/>
                  <a:gd name="T11" fmla="*/ 193 h 257"/>
                  <a:gd name="T12" fmla="*/ 54 w 322"/>
                  <a:gd name="T13" fmla="*/ 193 h 257"/>
                  <a:gd name="T14" fmla="*/ 43 w 322"/>
                  <a:gd name="T15" fmla="*/ 183 h 257"/>
                  <a:gd name="T16" fmla="*/ 54 w 322"/>
                  <a:gd name="T17" fmla="*/ 172 h 257"/>
                  <a:gd name="T18" fmla="*/ 227 w 322"/>
                  <a:gd name="T19" fmla="*/ 172 h 257"/>
                  <a:gd name="T20" fmla="*/ 257 w 322"/>
                  <a:gd name="T21" fmla="*/ 21 h 257"/>
                  <a:gd name="T22" fmla="*/ 265 w 322"/>
                  <a:gd name="T23" fmla="*/ 12 h 257"/>
                  <a:gd name="T24" fmla="*/ 307 w 322"/>
                  <a:gd name="T25" fmla="*/ 2 h 257"/>
                  <a:gd name="T26" fmla="*/ 320 w 322"/>
                  <a:gd name="T27" fmla="*/ 9 h 257"/>
                  <a:gd name="T28" fmla="*/ 313 w 322"/>
                  <a:gd name="T29" fmla="*/ 22 h 257"/>
                  <a:gd name="T30" fmla="*/ 203 w 322"/>
                  <a:gd name="T31" fmla="*/ 140 h 257"/>
                  <a:gd name="T32" fmla="*/ 193 w 322"/>
                  <a:gd name="T33" fmla="*/ 129 h 257"/>
                  <a:gd name="T34" fmla="*/ 41 w 322"/>
                  <a:gd name="T35" fmla="*/ 129 h 257"/>
                  <a:gd name="T36" fmla="*/ 25 w 322"/>
                  <a:gd name="T37" fmla="*/ 65 h 257"/>
                  <a:gd name="T38" fmla="*/ 214 w 322"/>
                  <a:gd name="T39" fmla="*/ 65 h 257"/>
                  <a:gd name="T40" fmla="*/ 225 w 322"/>
                  <a:gd name="T41" fmla="*/ 55 h 257"/>
                  <a:gd name="T42" fmla="*/ 214 w 322"/>
                  <a:gd name="T43" fmla="*/ 44 h 257"/>
                  <a:gd name="T44" fmla="*/ 11 w 322"/>
                  <a:gd name="T45" fmla="*/ 44 h 257"/>
                  <a:gd name="T46" fmla="*/ 3 w 322"/>
                  <a:gd name="T47" fmla="*/ 48 h 257"/>
                  <a:gd name="T48" fmla="*/ 1 w 322"/>
                  <a:gd name="T49" fmla="*/ 57 h 257"/>
                  <a:gd name="T50" fmla="*/ 22 w 322"/>
                  <a:gd name="T51" fmla="*/ 143 h 257"/>
                  <a:gd name="T52" fmla="*/ 33 w 322"/>
                  <a:gd name="T53" fmla="*/ 151 h 257"/>
                  <a:gd name="T54" fmla="*/ 193 w 322"/>
                  <a:gd name="T55" fmla="*/ 151 h 257"/>
                  <a:gd name="T56" fmla="*/ 203 w 322"/>
                  <a:gd name="T57" fmla="*/ 140 h 257"/>
                  <a:gd name="T58" fmla="*/ 65 w 322"/>
                  <a:gd name="T59" fmla="*/ 87 h 257"/>
                  <a:gd name="T60" fmla="*/ 54 w 322"/>
                  <a:gd name="T61" fmla="*/ 97 h 257"/>
                  <a:gd name="T62" fmla="*/ 65 w 322"/>
                  <a:gd name="T63" fmla="*/ 108 h 257"/>
                  <a:gd name="T64" fmla="*/ 203 w 322"/>
                  <a:gd name="T65" fmla="*/ 108 h 257"/>
                  <a:gd name="T66" fmla="*/ 214 w 322"/>
                  <a:gd name="T67" fmla="*/ 97 h 257"/>
                  <a:gd name="T68" fmla="*/ 203 w 322"/>
                  <a:gd name="T69" fmla="*/ 87 h 257"/>
                  <a:gd name="T70" fmla="*/ 65 w 322"/>
                  <a:gd name="T71" fmla="*/ 87 h 257"/>
                  <a:gd name="T72" fmla="*/ 75 w 322"/>
                  <a:gd name="T73" fmla="*/ 215 h 257"/>
                  <a:gd name="T74" fmla="*/ 54 w 322"/>
                  <a:gd name="T75" fmla="*/ 236 h 257"/>
                  <a:gd name="T76" fmla="*/ 75 w 322"/>
                  <a:gd name="T77" fmla="*/ 257 h 257"/>
                  <a:gd name="T78" fmla="*/ 97 w 322"/>
                  <a:gd name="T79" fmla="*/ 236 h 257"/>
                  <a:gd name="T80" fmla="*/ 75 w 322"/>
                  <a:gd name="T81" fmla="*/ 215 h 257"/>
                  <a:gd name="T82" fmla="*/ 214 w 322"/>
                  <a:gd name="T83" fmla="*/ 215 h 257"/>
                  <a:gd name="T84" fmla="*/ 193 w 322"/>
                  <a:gd name="T85" fmla="*/ 236 h 257"/>
                  <a:gd name="T86" fmla="*/ 214 w 322"/>
                  <a:gd name="T87" fmla="*/ 257 h 257"/>
                  <a:gd name="T88" fmla="*/ 235 w 322"/>
                  <a:gd name="T89" fmla="*/ 236 h 257"/>
                  <a:gd name="T90" fmla="*/ 214 w 322"/>
                  <a:gd name="T91" fmla="*/ 21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2" h="257">
                    <a:moveTo>
                      <a:pt x="313" y="22"/>
                    </a:moveTo>
                    <a:cubicBezTo>
                      <a:pt x="276" y="31"/>
                      <a:pt x="276" y="31"/>
                      <a:pt x="276" y="31"/>
                    </a:cubicBezTo>
                    <a:cubicBezTo>
                      <a:pt x="246" y="185"/>
                      <a:pt x="246" y="185"/>
                      <a:pt x="246" y="185"/>
                    </a:cubicBezTo>
                    <a:cubicBezTo>
                      <a:pt x="245" y="190"/>
                      <a:pt x="240" y="193"/>
                      <a:pt x="235" y="193"/>
                    </a:cubicBezTo>
                    <a:cubicBezTo>
                      <a:pt x="235" y="193"/>
                      <a:pt x="235" y="193"/>
                      <a:pt x="235" y="193"/>
                    </a:cubicBezTo>
                    <a:cubicBezTo>
                      <a:pt x="235" y="193"/>
                      <a:pt x="235" y="193"/>
                      <a:pt x="235" y="193"/>
                    </a:cubicBezTo>
                    <a:cubicBezTo>
                      <a:pt x="54" y="193"/>
                      <a:pt x="54" y="193"/>
                      <a:pt x="54" y="193"/>
                    </a:cubicBezTo>
                    <a:cubicBezTo>
                      <a:pt x="48" y="193"/>
                      <a:pt x="43" y="189"/>
                      <a:pt x="43" y="183"/>
                    </a:cubicBezTo>
                    <a:cubicBezTo>
                      <a:pt x="43" y="177"/>
                      <a:pt x="48" y="172"/>
                      <a:pt x="54" y="172"/>
                    </a:cubicBezTo>
                    <a:cubicBezTo>
                      <a:pt x="227" y="172"/>
                      <a:pt x="227" y="172"/>
                      <a:pt x="227" y="172"/>
                    </a:cubicBezTo>
                    <a:cubicBezTo>
                      <a:pt x="257" y="21"/>
                      <a:pt x="257" y="21"/>
                      <a:pt x="257" y="21"/>
                    </a:cubicBezTo>
                    <a:cubicBezTo>
                      <a:pt x="258" y="17"/>
                      <a:pt x="261" y="13"/>
                      <a:pt x="265" y="12"/>
                    </a:cubicBezTo>
                    <a:cubicBezTo>
                      <a:pt x="307" y="2"/>
                      <a:pt x="307" y="2"/>
                      <a:pt x="307" y="2"/>
                    </a:cubicBezTo>
                    <a:cubicBezTo>
                      <a:pt x="313" y="0"/>
                      <a:pt x="319" y="4"/>
                      <a:pt x="320" y="9"/>
                    </a:cubicBezTo>
                    <a:cubicBezTo>
                      <a:pt x="322" y="15"/>
                      <a:pt x="318" y="21"/>
                      <a:pt x="313" y="22"/>
                    </a:cubicBezTo>
                    <a:close/>
                    <a:moveTo>
                      <a:pt x="203" y="140"/>
                    </a:moveTo>
                    <a:cubicBezTo>
                      <a:pt x="203" y="134"/>
                      <a:pt x="199" y="129"/>
                      <a:pt x="193" y="129"/>
                    </a:cubicBezTo>
                    <a:cubicBezTo>
                      <a:pt x="41" y="129"/>
                      <a:pt x="41" y="129"/>
                      <a:pt x="41" y="129"/>
                    </a:cubicBezTo>
                    <a:cubicBezTo>
                      <a:pt x="25" y="65"/>
                      <a:pt x="25" y="65"/>
                      <a:pt x="25" y="65"/>
                    </a:cubicBezTo>
                    <a:cubicBezTo>
                      <a:pt x="214" y="65"/>
                      <a:pt x="214" y="65"/>
                      <a:pt x="214" y="65"/>
                    </a:cubicBezTo>
                    <a:cubicBezTo>
                      <a:pt x="220" y="65"/>
                      <a:pt x="225" y="61"/>
                      <a:pt x="225" y="55"/>
                    </a:cubicBezTo>
                    <a:cubicBezTo>
                      <a:pt x="225" y="49"/>
                      <a:pt x="220" y="44"/>
                      <a:pt x="214" y="44"/>
                    </a:cubicBezTo>
                    <a:cubicBezTo>
                      <a:pt x="11" y="44"/>
                      <a:pt x="11" y="44"/>
                      <a:pt x="11" y="44"/>
                    </a:cubicBezTo>
                    <a:cubicBezTo>
                      <a:pt x="8" y="44"/>
                      <a:pt x="5" y="46"/>
                      <a:pt x="3" y="48"/>
                    </a:cubicBezTo>
                    <a:cubicBezTo>
                      <a:pt x="1" y="51"/>
                      <a:pt x="0" y="54"/>
                      <a:pt x="1" y="57"/>
                    </a:cubicBezTo>
                    <a:cubicBezTo>
                      <a:pt x="22" y="143"/>
                      <a:pt x="22" y="143"/>
                      <a:pt x="22" y="143"/>
                    </a:cubicBezTo>
                    <a:cubicBezTo>
                      <a:pt x="24" y="147"/>
                      <a:pt x="28" y="151"/>
                      <a:pt x="33" y="151"/>
                    </a:cubicBezTo>
                    <a:cubicBezTo>
                      <a:pt x="193" y="151"/>
                      <a:pt x="193" y="151"/>
                      <a:pt x="193" y="151"/>
                    </a:cubicBezTo>
                    <a:cubicBezTo>
                      <a:pt x="199" y="151"/>
                      <a:pt x="203" y="146"/>
                      <a:pt x="203" y="140"/>
                    </a:cubicBezTo>
                    <a:close/>
                    <a:moveTo>
                      <a:pt x="65" y="87"/>
                    </a:moveTo>
                    <a:cubicBezTo>
                      <a:pt x="59" y="87"/>
                      <a:pt x="54" y="91"/>
                      <a:pt x="54" y="97"/>
                    </a:cubicBezTo>
                    <a:cubicBezTo>
                      <a:pt x="54" y="103"/>
                      <a:pt x="59" y="108"/>
                      <a:pt x="65" y="108"/>
                    </a:cubicBezTo>
                    <a:cubicBezTo>
                      <a:pt x="203" y="108"/>
                      <a:pt x="203" y="108"/>
                      <a:pt x="203" y="108"/>
                    </a:cubicBezTo>
                    <a:cubicBezTo>
                      <a:pt x="209" y="108"/>
                      <a:pt x="214" y="103"/>
                      <a:pt x="214" y="97"/>
                    </a:cubicBezTo>
                    <a:cubicBezTo>
                      <a:pt x="214" y="91"/>
                      <a:pt x="209" y="87"/>
                      <a:pt x="203" y="87"/>
                    </a:cubicBezTo>
                    <a:lnTo>
                      <a:pt x="65" y="87"/>
                    </a:lnTo>
                    <a:close/>
                    <a:moveTo>
                      <a:pt x="75" y="215"/>
                    </a:moveTo>
                    <a:cubicBezTo>
                      <a:pt x="64" y="215"/>
                      <a:pt x="54" y="224"/>
                      <a:pt x="54" y="236"/>
                    </a:cubicBezTo>
                    <a:cubicBezTo>
                      <a:pt x="54" y="248"/>
                      <a:pt x="64" y="257"/>
                      <a:pt x="75" y="257"/>
                    </a:cubicBezTo>
                    <a:cubicBezTo>
                      <a:pt x="87" y="257"/>
                      <a:pt x="97" y="248"/>
                      <a:pt x="97" y="236"/>
                    </a:cubicBezTo>
                    <a:cubicBezTo>
                      <a:pt x="97" y="224"/>
                      <a:pt x="87" y="215"/>
                      <a:pt x="75" y="215"/>
                    </a:cubicBezTo>
                    <a:close/>
                    <a:moveTo>
                      <a:pt x="214" y="215"/>
                    </a:moveTo>
                    <a:cubicBezTo>
                      <a:pt x="202" y="215"/>
                      <a:pt x="193" y="224"/>
                      <a:pt x="193" y="236"/>
                    </a:cubicBezTo>
                    <a:cubicBezTo>
                      <a:pt x="193" y="248"/>
                      <a:pt x="202" y="257"/>
                      <a:pt x="214" y="257"/>
                    </a:cubicBezTo>
                    <a:cubicBezTo>
                      <a:pt x="226" y="257"/>
                      <a:pt x="235" y="248"/>
                      <a:pt x="235" y="236"/>
                    </a:cubicBezTo>
                    <a:cubicBezTo>
                      <a:pt x="235" y="224"/>
                      <a:pt x="226" y="215"/>
                      <a:pt x="214" y="21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grpSp>
      </p:grpSp>
      <p:sp>
        <p:nvSpPr>
          <p:cNvPr id="243" name="Rectangle 242"/>
          <p:cNvSpPr/>
          <p:nvPr/>
        </p:nvSpPr>
        <p:spPr>
          <a:xfrm>
            <a:off x="6034167" y="3294337"/>
            <a:ext cx="827972" cy="477054"/>
          </a:xfrm>
          <a:prstGeom prst="rect">
            <a:avLst/>
          </a:prstGeom>
        </p:spPr>
        <p:txBody>
          <a:bodyPr wrap="square" lIns="0">
            <a:spAutoFit/>
          </a:bodyPr>
          <a:lstStyle/>
          <a:p>
            <a:pPr algn="r" defTabSz="905428">
              <a:lnSpc>
                <a:spcPts val="1000"/>
              </a:lnSpc>
            </a:pPr>
            <a:r>
              <a:rPr lang="en-GB" sz="800" dirty="0">
                <a:cs typeface="Arial" charset="0"/>
              </a:rPr>
              <a:t>Consumer and Industrial Products</a:t>
            </a:r>
          </a:p>
        </p:txBody>
      </p:sp>
      <p:sp>
        <p:nvSpPr>
          <p:cNvPr id="244" name="Isosceles Triangle 243"/>
          <p:cNvSpPr/>
          <p:nvPr/>
        </p:nvSpPr>
        <p:spPr bwMode="gray">
          <a:xfrm rot="5400000">
            <a:off x="6837240" y="3485386"/>
            <a:ext cx="103948" cy="89610"/>
          </a:xfrm>
          <a:prstGeom prst="triangl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45" name="Group 244"/>
          <p:cNvGrpSpPr/>
          <p:nvPr/>
        </p:nvGrpSpPr>
        <p:grpSpPr>
          <a:xfrm>
            <a:off x="7253748" y="4057224"/>
            <a:ext cx="756803" cy="900427"/>
            <a:chOff x="6760515" y="3143193"/>
            <a:chExt cx="756803" cy="900427"/>
          </a:xfrm>
        </p:grpSpPr>
        <p:sp>
          <p:nvSpPr>
            <p:cNvPr id="246" name="Rectangle 245"/>
            <p:cNvSpPr/>
            <p:nvPr/>
          </p:nvSpPr>
          <p:spPr bwMode="gray">
            <a:xfrm>
              <a:off x="6917392" y="3143193"/>
              <a:ext cx="599925" cy="900427"/>
            </a:xfrm>
            <a:prstGeom prst="rect">
              <a:avLst/>
            </a:prstGeom>
            <a:solidFill>
              <a:schemeClr val="bg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247" name="Rectangle 246"/>
            <p:cNvSpPr/>
            <p:nvPr/>
          </p:nvSpPr>
          <p:spPr>
            <a:xfrm>
              <a:off x="6986420" y="3274738"/>
              <a:ext cx="476412" cy="246221"/>
            </a:xfrm>
            <a:prstGeom prst="rect">
              <a:avLst/>
            </a:prstGeom>
          </p:spPr>
          <p:txBody>
            <a:bodyPr wrap="none" tIns="0" bIns="0">
              <a:spAutoFit/>
            </a:bodyPr>
            <a:lstStyle/>
            <a:p>
              <a:r>
                <a:rPr lang="en-US" sz="1600" b="1" dirty="0">
                  <a:solidFill>
                    <a:srgbClr val="313131"/>
                  </a:solidFill>
                  <a:cs typeface="Arial" charset="0"/>
                </a:rPr>
                <a:t>64</a:t>
              </a:r>
              <a:endParaRPr lang="en-IN" sz="1600" b="1" dirty="0"/>
            </a:p>
          </p:txBody>
        </p:sp>
        <p:sp>
          <p:nvSpPr>
            <p:cNvPr id="248" name="Rectangle 247"/>
            <p:cNvSpPr/>
            <p:nvPr/>
          </p:nvSpPr>
          <p:spPr>
            <a:xfrm>
              <a:off x="6975971" y="3723078"/>
              <a:ext cx="478016" cy="184666"/>
            </a:xfrm>
            <a:prstGeom prst="rect">
              <a:avLst/>
            </a:prstGeom>
          </p:spPr>
          <p:txBody>
            <a:bodyPr wrap="none" tIns="0" bIns="0">
              <a:spAutoFit/>
            </a:bodyPr>
            <a:lstStyle/>
            <a:p>
              <a:r>
                <a:rPr lang="en-US" sz="1200" dirty="0">
                  <a:solidFill>
                    <a:srgbClr val="313131"/>
                  </a:solidFill>
                  <a:cs typeface="Arial" charset="0"/>
                </a:rPr>
                <a:t>105</a:t>
              </a:r>
              <a:endParaRPr lang="en-IN" sz="1200" dirty="0">
                <a:solidFill>
                  <a:srgbClr val="313131"/>
                </a:solidFill>
                <a:cs typeface="Arial" charset="0"/>
              </a:endParaRPr>
            </a:p>
          </p:txBody>
        </p:sp>
        <p:sp>
          <p:nvSpPr>
            <p:cNvPr id="249" name="Rectangle 248"/>
            <p:cNvSpPr/>
            <p:nvPr/>
          </p:nvSpPr>
          <p:spPr>
            <a:xfrm>
              <a:off x="6760515" y="3538179"/>
              <a:ext cx="756803" cy="153888"/>
            </a:xfrm>
            <a:prstGeom prst="rect">
              <a:avLst/>
            </a:prstGeom>
            <a:solidFill>
              <a:schemeClr val="accent1"/>
            </a:solidFill>
          </p:spPr>
          <p:txBody>
            <a:bodyPr wrap="square" lIns="274320"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250" name="Rectangle 249"/>
            <p:cNvSpPr/>
            <p:nvPr/>
          </p:nvSpPr>
          <p:spPr>
            <a:xfrm>
              <a:off x="6950513" y="3882663"/>
              <a:ext cx="548227" cy="123111"/>
            </a:xfrm>
            <a:prstGeom prst="rect">
              <a:avLst/>
            </a:prstGeom>
          </p:spPr>
          <p:txBody>
            <a:bodyPr wrap="none" lIns="0" tIns="0" rIns="0" bIns="0">
              <a:spAutoFit/>
            </a:bodyPr>
            <a:lstStyle/>
            <a:p>
              <a:pPr defTabSz="1032282"/>
              <a:r>
                <a:rPr lang="en-US" sz="800" dirty="0">
                  <a:solidFill>
                    <a:srgbClr val="313131"/>
                  </a:solidFill>
                  <a:cs typeface="Arial" charset="0"/>
                </a:rPr>
                <a:t>companies</a:t>
              </a:r>
            </a:p>
          </p:txBody>
        </p:sp>
        <p:sp>
          <p:nvSpPr>
            <p:cNvPr id="251" name="Rectangle 250"/>
            <p:cNvSpPr/>
            <p:nvPr/>
          </p:nvSpPr>
          <p:spPr>
            <a:xfrm>
              <a:off x="7054045" y="3171396"/>
              <a:ext cx="349455" cy="123111"/>
            </a:xfrm>
            <a:prstGeom prst="rect">
              <a:avLst/>
            </a:prstGeom>
          </p:spPr>
          <p:txBody>
            <a:bodyPr wrap="none" lIns="0" tIns="0" rIns="0" bIns="0">
              <a:spAutoFit/>
            </a:bodyPr>
            <a:lstStyle/>
            <a:p>
              <a:pPr defTabSz="1032282"/>
              <a:r>
                <a:rPr lang="en-US" sz="800" dirty="0">
                  <a:solidFill>
                    <a:srgbClr val="313131"/>
                  </a:solidFill>
                  <a:cs typeface="Arial" charset="0"/>
                </a:rPr>
                <a:t>Serves</a:t>
              </a:r>
            </a:p>
          </p:txBody>
        </p:sp>
      </p:grpSp>
      <p:sp>
        <p:nvSpPr>
          <p:cNvPr id="252" name="Oval 251"/>
          <p:cNvSpPr/>
          <p:nvPr/>
        </p:nvSpPr>
        <p:spPr bwMode="gray">
          <a:xfrm>
            <a:off x="6940358" y="4333219"/>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253" name="Rectangle 252"/>
          <p:cNvSpPr/>
          <p:nvPr/>
        </p:nvSpPr>
        <p:spPr>
          <a:xfrm>
            <a:off x="6096366" y="4408876"/>
            <a:ext cx="687724" cy="348813"/>
          </a:xfrm>
          <a:prstGeom prst="rect">
            <a:avLst/>
          </a:prstGeom>
        </p:spPr>
        <p:txBody>
          <a:bodyPr wrap="square" lIns="0" rIns="0">
            <a:spAutoFit/>
          </a:bodyPr>
          <a:lstStyle/>
          <a:p>
            <a:pPr algn="r" defTabSz="905428">
              <a:lnSpc>
                <a:spcPts val="1000"/>
              </a:lnSpc>
            </a:pPr>
            <a:r>
              <a:rPr lang="en-GB" sz="800" dirty="0">
                <a:cs typeface="Arial" charset="0"/>
              </a:rPr>
              <a:t>Financial services </a:t>
            </a:r>
          </a:p>
        </p:txBody>
      </p:sp>
      <p:sp>
        <p:nvSpPr>
          <p:cNvPr id="254" name="Isosceles Triangle 253"/>
          <p:cNvSpPr/>
          <p:nvPr/>
        </p:nvSpPr>
        <p:spPr bwMode="gray">
          <a:xfrm rot="5400000">
            <a:off x="6837240" y="4498050"/>
            <a:ext cx="103948" cy="89610"/>
          </a:xfrm>
          <a:prstGeom prst="triangl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55" name="Group 345"/>
          <p:cNvGrpSpPr>
            <a:grpSpLocks/>
          </p:cNvGrpSpPr>
          <p:nvPr/>
        </p:nvGrpSpPr>
        <p:grpSpPr bwMode="auto">
          <a:xfrm>
            <a:off x="6967410" y="4360039"/>
            <a:ext cx="351923" cy="351923"/>
            <a:chOff x="3451" y="1171"/>
            <a:chExt cx="340" cy="340"/>
          </a:xfrm>
          <a:solidFill>
            <a:schemeClr val="accent1"/>
          </a:solidFill>
        </p:grpSpPr>
        <p:sp>
          <p:nvSpPr>
            <p:cNvPr id="256" name="Freeform 346"/>
            <p:cNvSpPr>
              <a:spLocks noEditPoints="1"/>
            </p:cNvSpPr>
            <p:nvPr/>
          </p:nvSpPr>
          <p:spPr bwMode="auto">
            <a:xfrm>
              <a:off x="3515" y="1241"/>
              <a:ext cx="212" cy="192"/>
            </a:xfrm>
            <a:custGeom>
              <a:avLst/>
              <a:gdLst>
                <a:gd name="T0" fmla="*/ 224 w 320"/>
                <a:gd name="T1" fmla="*/ 288 h 288"/>
                <a:gd name="T2" fmla="*/ 170 w 320"/>
                <a:gd name="T3" fmla="*/ 288 h 288"/>
                <a:gd name="T4" fmla="*/ 160 w 320"/>
                <a:gd name="T5" fmla="*/ 278 h 288"/>
                <a:gd name="T6" fmla="*/ 160 w 320"/>
                <a:gd name="T7" fmla="*/ 267 h 288"/>
                <a:gd name="T8" fmla="*/ 138 w 320"/>
                <a:gd name="T9" fmla="*/ 267 h 288"/>
                <a:gd name="T10" fmla="*/ 138 w 320"/>
                <a:gd name="T11" fmla="*/ 278 h 288"/>
                <a:gd name="T12" fmla="*/ 128 w 320"/>
                <a:gd name="T13" fmla="*/ 288 h 288"/>
                <a:gd name="T14" fmla="*/ 74 w 320"/>
                <a:gd name="T15" fmla="*/ 288 h 288"/>
                <a:gd name="T16" fmla="*/ 64 w 320"/>
                <a:gd name="T17" fmla="*/ 278 h 288"/>
                <a:gd name="T18" fmla="*/ 27 w 320"/>
                <a:gd name="T19" fmla="*/ 235 h 288"/>
                <a:gd name="T20" fmla="*/ 18 w 320"/>
                <a:gd name="T21" fmla="*/ 230 h 288"/>
                <a:gd name="T22" fmla="*/ 0 w 320"/>
                <a:gd name="T23" fmla="*/ 160 h 288"/>
                <a:gd name="T24" fmla="*/ 138 w 320"/>
                <a:gd name="T25" fmla="*/ 22 h 288"/>
                <a:gd name="T26" fmla="*/ 198 w 320"/>
                <a:gd name="T27" fmla="*/ 30 h 288"/>
                <a:gd name="T28" fmla="*/ 255 w 320"/>
                <a:gd name="T29" fmla="*/ 0 h 288"/>
                <a:gd name="T30" fmla="*/ 264 w 320"/>
                <a:gd name="T31" fmla="*/ 4 h 288"/>
                <a:gd name="T32" fmla="*/ 266 w 320"/>
                <a:gd name="T33" fmla="*/ 14 h 288"/>
                <a:gd name="T34" fmla="*/ 257 w 320"/>
                <a:gd name="T35" fmla="*/ 49 h 288"/>
                <a:gd name="T36" fmla="*/ 294 w 320"/>
                <a:gd name="T37" fmla="*/ 96 h 288"/>
                <a:gd name="T38" fmla="*/ 309 w 320"/>
                <a:gd name="T39" fmla="*/ 96 h 288"/>
                <a:gd name="T40" fmla="*/ 320 w 320"/>
                <a:gd name="T41" fmla="*/ 107 h 288"/>
                <a:gd name="T42" fmla="*/ 320 w 320"/>
                <a:gd name="T43" fmla="*/ 171 h 288"/>
                <a:gd name="T44" fmla="*/ 309 w 320"/>
                <a:gd name="T45" fmla="*/ 182 h 288"/>
                <a:gd name="T46" fmla="*/ 275 w 320"/>
                <a:gd name="T47" fmla="*/ 182 h 288"/>
                <a:gd name="T48" fmla="*/ 234 w 320"/>
                <a:gd name="T49" fmla="*/ 259 h 288"/>
                <a:gd name="T50" fmla="*/ 234 w 320"/>
                <a:gd name="T51" fmla="*/ 278 h 288"/>
                <a:gd name="T52" fmla="*/ 224 w 320"/>
                <a:gd name="T53" fmla="*/ 288 h 288"/>
                <a:gd name="T54" fmla="*/ 181 w 320"/>
                <a:gd name="T55" fmla="*/ 267 h 288"/>
                <a:gd name="T56" fmla="*/ 213 w 320"/>
                <a:gd name="T57" fmla="*/ 267 h 288"/>
                <a:gd name="T58" fmla="*/ 213 w 320"/>
                <a:gd name="T59" fmla="*/ 255 h 288"/>
                <a:gd name="T60" fmla="*/ 216 w 320"/>
                <a:gd name="T61" fmla="*/ 248 h 288"/>
                <a:gd name="T62" fmla="*/ 255 w 320"/>
                <a:gd name="T63" fmla="*/ 170 h 288"/>
                <a:gd name="T64" fmla="*/ 266 w 320"/>
                <a:gd name="T65" fmla="*/ 160 h 288"/>
                <a:gd name="T66" fmla="*/ 298 w 320"/>
                <a:gd name="T67" fmla="*/ 160 h 288"/>
                <a:gd name="T68" fmla="*/ 298 w 320"/>
                <a:gd name="T69" fmla="*/ 118 h 288"/>
                <a:gd name="T70" fmla="*/ 288 w 320"/>
                <a:gd name="T71" fmla="*/ 118 h 288"/>
                <a:gd name="T72" fmla="*/ 278 w 320"/>
                <a:gd name="T73" fmla="*/ 112 h 288"/>
                <a:gd name="T74" fmla="*/ 240 w 320"/>
                <a:gd name="T75" fmla="*/ 63 h 288"/>
                <a:gd name="T76" fmla="*/ 235 w 320"/>
                <a:gd name="T77" fmla="*/ 51 h 288"/>
                <a:gd name="T78" fmla="*/ 241 w 320"/>
                <a:gd name="T79" fmla="*/ 25 h 288"/>
                <a:gd name="T80" fmla="*/ 212 w 320"/>
                <a:gd name="T81" fmla="*/ 48 h 288"/>
                <a:gd name="T82" fmla="*/ 199 w 320"/>
                <a:gd name="T83" fmla="*/ 53 h 288"/>
                <a:gd name="T84" fmla="*/ 138 w 320"/>
                <a:gd name="T85" fmla="*/ 43 h 288"/>
                <a:gd name="T86" fmla="*/ 21 w 320"/>
                <a:gd name="T87" fmla="*/ 160 h 288"/>
                <a:gd name="T88" fmla="*/ 34 w 320"/>
                <a:gd name="T89" fmla="*/ 214 h 288"/>
                <a:gd name="T90" fmla="*/ 84 w 320"/>
                <a:gd name="T91" fmla="*/ 267 h 288"/>
                <a:gd name="T92" fmla="*/ 117 w 320"/>
                <a:gd name="T93" fmla="*/ 267 h 288"/>
                <a:gd name="T94" fmla="*/ 117 w 320"/>
                <a:gd name="T95" fmla="*/ 256 h 288"/>
                <a:gd name="T96" fmla="*/ 128 w 320"/>
                <a:gd name="T97" fmla="*/ 246 h 288"/>
                <a:gd name="T98" fmla="*/ 170 w 320"/>
                <a:gd name="T99" fmla="*/ 246 h 288"/>
                <a:gd name="T100" fmla="*/ 181 w 320"/>
                <a:gd name="T101" fmla="*/ 256 h 288"/>
                <a:gd name="T102" fmla="*/ 181 w 320"/>
                <a:gd name="T103" fmla="*/ 267 h 288"/>
                <a:gd name="T104" fmla="*/ 82 w 320"/>
                <a:gd name="T105" fmla="*/ 104 h 288"/>
                <a:gd name="T106" fmla="*/ 130 w 320"/>
                <a:gd name="T107" fmla="*/ 79 h 288"/>
                <a:gd name="T108" fmla="*/ 138 w 320"/>
                <a:gd name="T109" fmla="*/ 66 h 288"/>
                <a:gd name="T110" fmla="*/ 125 w 320"/>
                <a:gd name="T111" fmla="*/ 58 h 288"/>
                <a:gd name="T112" fmla="*/ 68 w 320"/>
                <a:gd name="T113" fmla="*/ 88 h 288"/>
                <a:gd name="T114" fmla="*/ 67 w 320"/>
                <a:gd name="T115" fmla="*/ 103 h 288"/>
                <a:gd name="T116" fmla="*/ 75 w 320"/>
                <a:gd name="T117" fmla="*/ 107 h 288"/>
                <a:gd name="T118" fmla="*/ 82 w 320"/>
                <a:gd name="T11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88">
                  <a:moveTo>
                    <a:pt x="224" y="288"/>
                  </a:moveTo>
                  <a:cubicBezTo>
                    <a:pt x="170" y="288"/>
                    <a:pt x="170" y="288"/>
                    <a:pt x="170" y="288"/>
                  </a:cubicBezTo>
                  <a:cubicBezTo>
                    <a:pt x="164" y="288"/>
                    <a:pt x="160" y="284"/>
                    <a:pt x="160" y="278"/>
                  </a:cubicBezTo>
                  <a:cubicBezTo>
                    <a:pt x="160" y="267"/>
                    <a:pt x="160" y="267"/>
                    <a:pt x="160" y="267"/>
                  </a:cubicBezTo>
                  <a:cubicBezTo>
                    <a:pt x="138" y="267"/>
                    <a:pt x="138" y="267"/>
                    <a:pt x="138" y="267"/>
                  </a:cubicBezTo>
                  <a:cubicBezTo>
                    <a:pt x="138" y="278"/>
                    <a:pt x="138" y="278"/>
                    <a:pt x="138" y="278"/>
                  </a:cubicBezTo>
                  <a:cubicBezTo>
                    <a:pt x="138" y="284"/>
                    <a:pt x="134" y="288"/>
                    <a:pt x="128" y="288"/>
                  </a:cubicBezTo>
                  <a:cubicBezTo>
                    <a:pt x="74" y="288"/>
                    <a:pt x="74" y="288"/>
                    <a:pt x="74" y="288"/>
                  </a:cubicBezTo>
                  <a:cubicBezTo>
                    <a:pt x="68" y="288"/>
                    <a:pt x="64" y="284"/>
                    <a:pt x="64" y="278"/>
                  </a:cubicBezTo>
                  <a:cubicBezTo>
                    <a:pt x="64" y="237"/>
                    <a:pt x="29" y="235"/>
                    <a:pt x="27" y="235"/>
                  </a:cubicBezTo>
                  <a:cubicBezTo>
                    <a:pt x="23" y="235"/>
                    <a:pt x="20" y="233"/>
                    <a:pt x="18" y="230"/>
                  </a:cubicBezTo>
                  <a:cubicBezTo>
                    <a:pt x="6" y="209"/>
                    <a:pt x="0" y="185"/>
                    <a:pt x="0" y="160"/>
                  </a:cubicBezTo>
                  <a:cubicBezTo>
                    <a:pt x="0" y="84"/>
                    <a:pt x="62" y="22"/>
                    <a:pt x="138" y="22"/>
                  </a:cubicBezTo>
                  <a:cubicBezTo>
                    <a:pt x="160" y="22"/>
                    <a:pt x="179" y="24"/>
                    <a:pt x="198" y="30"/>
                  </a:cubicBezTo>
                  <a:cubicBezTo>
                    <a:pt x="217" y="3"/>
                    <a:pt x="253" y="0"/>
                    <a:pt x="255" y="0"/>
                  </a:cubicBezTo>
                  <a:cubicBezTo>
                    <a:pt x="259" y="0"/>
                    <a:pt x="262" y="2"/>
                    <a:pt x="264" y="4"/>
                  </a:cubicBezTo>
                  <a:cubicBezTo>
                    <a:pt x="266" y="7"/>
                    <a:pt x="267" y="10"/>
                    <a:pt x="266" y="14"/>
                  </a:cubicBezTo>
                  <a:cubicBezTo>
                    <a:pt x="257" y="49"/>
                    <a:pt x="257" y="49"/>
                    <a:pt x="257" y="49"/>
                  </a:cubicBezTo>
                  <a:cubicBezTo>
                    <a:pt x="275" y="63"/>
                    <a:pt x="288" y="85"/>
                    <a:pt x="294" y="96"/>
                  </a:cubicBezTo>
                  <a:cubicBezTo>
                    <a:pt x="309" y="96"/>
                    <a:pt x="309" y="96"/>
                    <a:pt x="309" y="96"/>
                  </a:cubicBezTo>
                  <a:cubicBezTo>
                    <a:pt x="315" y="96"/>
                    <a:pt x="320" y="101"/>
                    <a:pt x="320" y="107"/>
                  </a:cubicBezTo>
                  <a:cubicBezTo>
                    <a:pt x="320" y="171"/>
                    <a:pt x="320" y="171"/>
                    <a:pt x="320" y="171"/>
                  </a:cubicBezTo>
                  <a:cubicBezTo>
                    <a:pt x="320" y="177"/>
                    <a:pt x="315" y="182"/>
                    <a:pt x="309" y="182"/>
                  </a:cubicBezTo>
                  <a:cubicBezTo>
                    <a:pt x="275" y="182"/>
                    <a:pt x="275" y="182"/>
                    <a:pt x="275" y="182"/>
                  </a:cubicBezTo>
                  <a:cubicBezTo>
                    <a:pt x="269" y="217"/>
                    <a:pt x="249" y="244"/>
                    <a:pt x="234" y="259"/>
                  </a:cubicBezTo>
                  <a:cubicBezTo>
                    <a:pt x="234" y="278"/>
                    <a:pt x="234" y="278"/>
                    <a:pt x="234" y="278"/>
                  </a:cubicBezTo>
                  <a:cubicBezTo>
                    <a:pt x="234" y="284"/>
                    <a:pt x="230" y="288"/>
                    <a:pt x="224" y="288"/>
                  </a:cubicBezTo>
                  <a:close/>
                  <a:moveTo>
                    <a:pt x="181" y="267"/>
                  </a:moveTo>
                  <a:cubicBezTo>
                    <a:pt x="213" y="267"/>
                    <a:pt x="213" y="267"/>
                    <a:pt x="213" y="267"/>
                  </a:cubicBezTo>
                  <a:cubicBezTo>
                    <a:pt x="213" y="255"/>
                    <a:pt x="213" y="255"/>
                    <a:pt x="213" y="255"/>
                  </a:cubicBezTo>
                  <a:cubicBezTo>
                    <a:pt x="213" y="252"/>
                    <a:pt x="214" y="250"/>
                    <a:pt x="216" y="248"/>
                  </a:cubicBezTo>
                  <a:cubicBezTo>
                    <a:pt x="239" y="225"/>
                    <a:pt x="253" y="197"/>
                    <a:pt x="255" y="170"/>
                  </a:cubicBezTo>
                  <a:cubicBezTo>
                    <a:pt x="256" y="165"/>
                    <a:pt x="260" y="160"/>
                    <a:pt x="266" y="160"/>
                  </a:cubicBezTo>
                  <a:cubicBezTo>
                    <a:pt x="298" y="160"/>
                    <a:pt x="298" y="160"/>
                    <a:pt x="298" y="160"/>
                  </a:cubicBezTo>
                  <a:cubicBezTo>
                    <a:pt x="298" y="118"/>
                    <a:pt x="298" y="118"/>
                    <a:pt x="298" y="118"/>
                  </a:cubicBezTo>
                  <a:cubicBezTo>
                    <a:pt x="288" y="118"/>
                    <a:pt x="288" y="118"/>
                    <a:pt x="288" y="118"/>
                  </a:cubicBezTo>
                  <a:cubicBezTo>
                    <a:pt x="284" y="118"/>
                    <a:pt x="280" y="115"/>
                    <a:pt x="278" y="112"/>
                  </a:cubicBezTo>
                  <a:cubicBezTo>
                    <a:pt x="278" y="111"/>
                    <a:pt x="261" y="76"/>
                    <a:pt x="240" y="63"/>
                  </a:cubicBezTo>
                  <a:cubicBezTo>
                    <a:pt x="236" y="60"/>
                    <a:pt x="234" y="56"/>
                    <a:pt x="235" y="51"/>
                  </a:cubicBezTo>
                  <a:cubicBezTo>
                    <a:pt x="241" y="25"/>
                    <a:pt x="241" y="25"/>
                    <a:pt x="241" y="25"/>
                  </a:cubicBezTo>
                  <a:cubicBezTo>
                    <a:pt x="231" y="28"/>
                    <a:pt x="218" y="35"/>
                    <a:pt x="212" y="48"/>
                  </a:cubicBezTo>
                  <a:cubicBezTo>
                    <a:pt x="210" y="53"/>
                    <a:pt x="204" y="55"/>
                    <a:pt x="199" y="53"/>
                  </a:cubicBezTo>
                  <a:cubicBezTo>
                    <a:pt x="180" y="46"/>
                    <a:pt x="161" y="43"/>
                    <a:pt x="138" y="43"/>
                  </a:cubicBezTo>
                  <a:cubicBezTo>
                    <a:pt x="74" y="43"/>
                    <a:pt x="21" y="96"/>
                    <a:pt x="21" y="160"/>
                  </a:cubicBezTo>
                  <a:cubicBezTo>
                    <a:pt x="21" y="179"/>
                    <a:pt x="26" y="198"/>
                    <a:pt x="34" y="214"/>
                  </a:cubicBezTo>
                  <a:cubicBezTo>
                    <a:pt x="53" y="217"/>
                    <a:pt x="80" y="231"/>
                    <a:pt x="84" y="267"/>
                  </a:cubicBezTo>
                  <a:cubicBezTo>
                    <a:pt x="117" y="267"/>
                    <a:pt x="117" y="267"/>
                    <a:pt x="117" y="267"/>
                  </a:cubicBezTo>
                  <a:cubicBezTo>
                    <a:pt x="117" y="256"/>
                    <a:pt x="117" y="256"/>
                    <a:pt x="117" y="256"/>
                  </a:cubicBezTo>
                  <a:cubicBezTo>
                    <a:pt x="117" y="250"/>
                    <a:pt x="122" y="246"/>
                    <a:pt x="128" y="246"/>
                  </a:cubicBezTo>
                  <a:cubicBezTo>
                    <a:pt x="170" y="246"/>
                    <a:pt x="170" y="246"/>
                    <a:pt x="170" y="246"/>
                  </a:cubicBezTo>
                  <a:cubicBezTo>
                    <a:pt x="176" y="246"/>
                    <a:pt x="181" y="250"/>
                    <a:pt x="181" y="256"/>
                  </a:cubicBezTo>
                  <a:lnTo>
                    <a:pt x="181" y="267"/>
                  </a:lnTo>
                  <a:close/>
                  <a:moveTo>
                    <a:pt x="82" y="104"/>
                  </a:moveTo>
                  <a:cubicBezTo>
                    <a:pt x="96" y="92"/>
                    <a:pt x="113" y="83"/>
                    <a:pt x="130" y="79"/>
                  </a:cubicBezTo>
                  <a:cubicBezTo>
                    <a:pt x="136" y="77"/>
                    <a:pt x="139" y="71"/>
                    <a:pt x="138" y="66"/>
                  </a:cubicBezTo>
                  <a:cubicBezTo>
                    <a:pt x="137" y="60"/>
                    <a:pt x="131" y="57"/>
                    <a:pt x="125" y="58"/>
                  </a:cubicBezTo>
                  <a:cubicBezTo>
                    <a:pt x="104" y="63"/>
                    <a:pt x="84" y="74"/>
                    <a:pt x="68" y="88"/>
                  </a:cubicBezTo>
                  <a:cubicBezTo>
                    <a:pt x="64" y="92"/>
                    <a:pt x="63" y="99"/>
                    <a:pt x="67" y="103"/>
                  </a:cubicBezTo>
                  <a:cubicBezTo>
                    <a:pt x="69" y="106"/>
                    <a:pt x="72" y="107"/>
                    <a:pt x="75" y="107"/>
                  </a:cubicBezTo>
                  <a:cubicBezTo>
                    <a:pt x="78" y="107"/>
                    <a:pt x="80" y="106"/>
                    <a:pt x="82" y="10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257" name="Freeform 347"/>
            <p:cNvSpPr>
              <a:spLocks noEditPoints="1"/>
            </p:cNvSpPr>
            <p:nvPr/>
          </p:nvSpPr>
          <p:spPr bwMode="auto">
            <a:xfrm>
              <a:off x="3451" y="11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grpSp>
      <p:grpSp>
        <p:nvGrpSpPr>
          <p:cNvPr id="258" name="Group 257"/>
          <p:cNvGrpSpPr/>
          <p:nvPr/>
        </p:nvGrpSpPr>
        <p:grpSpPr>
          <a:xfrm>
            <a:off x="9341269" y="3044560"/>
            <a:ext cx="756803" cy="900427"/>
            <a:chOff x="6760515" y="3143193"/>
            <a:chExt cx="756803" cy="900427"/>
          </a:xfrm>
        </p:grpSpPr>
        <p:sp>
          <p:nvSpPr>
            <p:cNvPr id="259" name="Rectangle 258"/>
            <p:cNvSpPr/>
            <p:nvPr/>
          </p:nvSpPr>
          <p:spPr bwMode="gray">
            <a:xfrm>
              <a:off x="6917392" y="3143193"/>
              <a:ext cx="599925" cy="900427"/>
            </a:xfrm>
            <a:prstGeom prst="rect">
              <a:avLst/>
            </a:prstGeom>
            <a:solidFill>
              <a:schemeClr val="bg1"/>
            </a:solidFill>
            <a:ln w="19050" algn="ctr">
              <a:solidFill>
                <a:schemeClr val="accent5"/>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260" name="Rectangle 259"/>
            <p:cNvSpPr/>
            <p:nvPr/>
          </p:nvSpPr>
          <p:spPr>
            <a:xfrm>
              <a:off x="6981708" y="3274738"/>
              <a:ext cx="476412" cy="246221"/>
            </a:xfrm>
            <a:prstGeom prst="rect">
              <a:avLst/>
            </a:prstGeom>
          </p:spPr>
          <p:txBody>
            <a:bodyPr wrap="none" tIns="0" bIns="0">
              <a:spAutoFit/>
            </a:bodyPr>
            <a:lstStyle/>
            <a:p>
              <a:r>
                <a:rPr lang="en-US" sz="1600" b="1" dirty="0">
                  <a:solidFill>
                    <a:srgbClr val="313131"/>
                  </a:solidFill>
                  <a:cs typeface="Arial" charset="0"/>
                </a:rPr>
                <a:t>36</a:t>
              </a:r>
              <a:endParaRPr lang="en-IN" sz="1600" b="1" dirty="0"/>
            </a:p>
          </p:txBody>
        </p:sp>
        <p:sp>
          <p:nvSpPr>
            <p:cNvPr id="261" name="Rectangle 260"/>
            <p:cNvSpPr/>
            <p:nvPr/>
          </p:nvSpPr>
          <p:spPr>
            <a:xfrm>
              <a:off x="7038835" y="3723078"/>
              <a:ext cx="380232" cy="184666"/>
            </a:xfrm>
            <a:prstGeom prst="rect">
              <a:avLst/>
            </a:prstGeom>
          </p:spPr>
          <p:txBody>
            <a:bodyPr wrap="none" tIns="0" bIns="0">
              <a:spAutoFit/>
            </a:bodyPr>
            <a:lstStyle/>
            <a:p>
              <a:r>
                <a:rPr lang="en-US" sz="1200" dirty="0">
                  <a:solidFill>
                    <a:srgbClr val="313131"/>
                  </a:solidFill>
                  <a:cs typeface="Arial" charset="0"/>
                </a:rPr>
                <a:t>52</a:t>
              </a:r>
              <a:endParaRPr lang="en-IN" sz="1200" dirty="0">
                <a:solidFill>
                  <a:srgbClr val="313131"/>
                </a:solidFill>
                <a:cs typeface="Arial" charset="0"/>
              </a:endParaRPr>
            </a:p>
          </p:txBody>
        </p:sp>
        <p:sp>
          <p:nvSpPr>
            <p:cNvPr id="262" name="Rectangle 261"/>
            <p:cNvSpPr/>
            <p:nvPr/>
          </p:nvSpPr>
          <p:spPr>
            <a:xfrm>
              <a:off x="6760515" y="3538179"/>
              <a:ext cx="756803" cy="153888"/>
            </a:xfrm>
            <a:prstGeom prst="rect">
              <a:avLst/>
            </a:prstGeom>
            <a:solidFill>
              <a:schemeClr val="accent5"/>
            </a:solidFill>
          </p:spPr>
          <p:txBody>
            <a:bodyPr wrap="square" lIns="274320"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263" name="Rectangle 262"/>
            <p:cNvSpPr/>
            <p:nvPr/>
          </p:nvSpPr>
          <p:spPr>
            <a:xfrm>
              <a:off x="6950513" y="3882663"/>
              <a:ext cx="548227" cy="123111"/>
            </a:xfrm>
            <a:prstGeom prst="rect">
              <a:avLst/>
            </a:prstGeom>
          </p:spPr>
          <p:txBody>
            <a:bodyPr wrap="none" lIns="0" tIns="0" rIns="0" bIns="0">
              <a:spAutoFit/>
            </a:bodyPr>
            <a:lstStyle/>
            <a:p>
              <a:pPr defTabSz="1032282"/>
              <a:r>
                <a:rPr lang="en-US" sz="800" dirty="0">
                  <a:solidFill>
                    <a:srgbClr val="313131"/>
                  </a:solidFill>
                  <a:cs typeface="Arial" charset="0"/>
                </a:rPr>
                <a:t>companies</a:t>
              </a:r>
            </a:p>
          </p:txBody>
        </p:sp>
        <p:sp>
          <p:nvSpPr>
            <p:cNvPr id="264" name="Rectangle 263"/>
            <p:cNvSpPr/>
            <p:nvPr/>
          </p:nvSpPr>
          <p:spPr>
            <a:xfrm>
              <a:off x="7054045" y="3171396"/>
              <a:ext cx="349455" cy="123111"/>
            </a:xfrm>
            <a:prstGeom prst="rect">
              <a:avLst/>
            </a:prstGeom>
          </p:spPr>
          <p:txBody>
            <a:bodyPr wrap="none" lIns="0" tIns="0" rIns="0" bIns="0">
              <a:spAutoFit/>
            </a:bodyPr>
            <a:lstStyle/>
            <a:p>
              <a:pPr defTabSz="1032282"/>
              <a:r>
                <a:rPr lang="en-US" sz="800" dirty="0">
                  <a:solidFill>
                    <a:srgbClr val="313131"/>
                  </a:solidFill>
                  <a:cs typeface="Arial" charset="0"/>
                </a:rPr>
                <a:t>Serves</a:t>
              </a:r>
            </a:p>
          </p:txBody>
        </p:sp>
      </p:grpSp>
      <p:sp>
        <p:nvSpPr>
          <p:cNvPr id="265" name="Oval 264"/>
          <p:cNvSpPr/>
          <p:nvPr/>
        </p:nvSpPr>
        <p:spPr bwMode="gray">
          <a:xfrm>
            <a:off x="9027879" y="3320555"/>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266" name="Rectangle 265"/>
          <p:cNvSpPr/>
          <p:nvPr/>
        </p:nvSpPr>
        <p:spPr>
          <a:xfrm>
            <a:off x="8038590" y="3347896"/>
            <a:ext cx="827972" cy="348813"/>
          </a:xfrm>
          <a:prstGeom prst="rect">
            <a:avLst/>
          </a:prstGeom>
        </p:spPr>
        <p:txBody>
          <a:bodyPr wrap="square" lIns="0" rIns="0">
            <a:spAutoFit/>
          </a:bodyPr>
          <a:lstStyle/>
          <a:p>
            <a:pPr algn="r" defTabSz="905428">
              <a:lnSpc>
                <a:spcPts val="1000"/>
              </a:lnSpc>
            </a:pPr>
            <a:r>
              <a:rPr lang="en-GB" sz="800" dirty="0">
                <a:cs typeface="Arial" charset="0"/>
              </a:rPr>
              <a:t>Energy &amp; resources</a:t>
            </a:r>
          </a:p>
        </p:txBody>
      </p:sp>
      <p:sp>
        <p:nvSpPr>
          <p:cNvPr id="267" name="Isosceles Triangle 266"/>
          <p:cNvSpPr/>
          <p:nvPr/>
        </p:nvSpPr>
        <p:spPr bwMode="gray">
          <a:xfrm rot="5400000">
            <a:off x="8924761" y="3485386"/>
            <a:ext cx="103948" cy="89610"/>
          </a:xfrm>
          <a:prstGeom prst="triangl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68" name="Group 267"/>
          <p:cNvGrpSpPr/>
          <p:nvPr/>
        </p:nvGrpSpPr>
        <p:grpSpPr>
          <a:xfrm>
            <a:off x="7253748" y="5065537"/>
            <a:ext cx="756803" cy="900427"/>
            <a:chOff x="6760515" y="3143193"/>
            <a:chExt cx="756803" cy="900427"/>
          </a:xfrm>
        </p:grpSpPr>
        <p:sp>
          <p:nvSpPr>
            <p:cNvPr id="269" name="Rectangle 268"/>
            <p:cNvSpPr/>
            <p:nvPr/>
          </p:nvSpPr>
          <p:spPr bwMode="gray">
            <a:xfrm>
              <a:off x="6917392" y="3143193"/>
              <a:ext cx="599925" cy="900427"/>
            </a:xfrm>
            <a:prstGeom prst="rect">
              <a:avLst/>
            </a:prstGeom>
            <a:solidFill>
              <a:schemeClr val="bg1"/>
            </a:solidFill>
            <a:ln w="19050" algn="ctr">
              <a:solidFill>
                <a:schemeClr val="accent6">
                  <a:lumMod val="50000"/>
                </a:schemeClr>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270" name="Rectangle 269"/>
            <p:cNvSpPr/>
            <p:nvPr/>
          </p:nvSpPr>
          <p:spPr>
            <a:xfrm>
              <a:off x="6986420" y="3274738"/>
              <a:ext cx="476412" cy="246221"/>
            </a:xfrm>
            <a:prstGeom prst="rect">
              <a:avLst/>
            </a:prstGeom>
          </p:spPr>
          <p:txBody>
            <a:bodyPr wrap="none" tIns="0" bIns="0">
              <a:spAutoFit/>
            </a:bodyPr>
            <a:lstStyle/>
            <a:p>
              <a:r>
                <a:rPr lang="en-US" sz="1600" b="1" dirty="0">
                  <a:solidFill>
                    <a:srgbClr val="313131"/>
                  </a:solidFill>
                  <a:cs typeface="Arial" charset="0"/>
                </a:rPr>
                <a:t>40</a:t>
              </a:r>
              <a:endParaRPr lang="en-IN" sz="1600" b="1" dirty="0"/>
            </a:p>
          </p:txBody>
        </p:sp>
        <p:sp>
          <p:nvSpPr>
            <p:cNvPr id="271" name="Rectangle 270"/>
            <p:cNvSpPr/>
            <p:nvPr/>
          </p:nvSpPr>
          <p:spPr>
            <a:xfrm>
              <a:off x="7042881" y="3723078"/>
              <a:ext cx="380232" cy="184666"/>
            </a:xfrm>
            <a:prstGeom prst="rect">
              <a:avLst/>
            </a:prstGeom>
          </p:spPr>
          <p:txBody>
            <a:bodyPr wrap="none" tIns="0" bIns="0">
              <a:spAutoFit/>
            </a:bodyPr>
            <a:lstStyle/>
            <a:p>
              <a:r>
                <a:rPr lang="en-US" sz="1200" dirty="0">
                  <a:solidFill>
                    <a:srgbClr val="313131"/>
                  </a:solidFill>
                  <a:cs typeface="Arial" charset="0"/>
                </a:rPr>
                <a:t>58</a:t>
              </a:r>
              <a:endParaRPr lang="en-IN" sz="1200" dirty="0">
                <a:solidFill>
                  <a:srgbClr val="313131"/>
                </a:solidFill>
                <a:cs typeface="Arial" charset="0"/>
              </a:endParaRPr>
            </a:p>
          </p:txBody>
        </p:sp>
        <p:sp>
          <p:nvSpPr>
            <p:cNvPr id="272" name="Rectangle 271"/>
            <p:cNvSpPr/>
            <p:nvPr/>
          </p:nvSpPr>
          <p:spPr>
            <a:xfrm>
              <a:off x="6760515" y="3538179"/>
              <a:ext cx="756803" cy="153888"/>
            </a:xfrm>
            <a:prstGeom prst="rect">
              <a:avLst/>
            </a:prstGeom>
            <a:solidFill>
              <a:schemeClr val="accent6">
                <a:lumMod val="50000"/>
              </a:schemeClr>
            </a:solidFill>
          </p:spPr>
          <p:txBody>
            <a:bodyPr wrap="square" lIns="274320"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273" name="Rectangle 272"/>
            <p:cNvSpPr/>
            <p:nvPr/>
          </p:nvSpPr>
          <p:spPr>
            <a:xfrm>
              <a:off x="6950513" y="3882663"/>
              <a:ext cx="548227" cy="123111"/>
            </a:xfrm>
            <a:prstGeom prst="rect">
              <a:avLst/>
            </a:prstGeom>
          </p:spPr>
          <p:txBody>
            <a:bodyPr wrap="none" lIns="0" tIns="0" rIns="0" bIns="0">
              <a:spAutoFit/>
            </a:bodyPr>
            <a:lstStyle/>
            <a:p>
              <a:pPr defTabSz="1032282"/>
              <a:r>
                <a:rPr lang="en-US" sz="800" dirty="0">
                  <a:solidFill>
                    <a:srgbClr val="313131"/>
                  </a:solidFill>
                  <a:cs typeface="Arial" charset="0"/>
                </a:rPr>
                <a:t>companies</a:t>
              </a:r>
            </a:p>
          </p:txBody>
        </p:sp>
        <p:sp>
          <p:nvSpPr>
            <p:cNvPr id="274" name="Rectangle 273"/>
            <p:cNvSpPr/>
            <p:nvPr/>
          </p:nvSpPr>
          <p:spPr>
            <a:xfrm>
              <a:off x="7054045" y="3171396"/>
              <a:ext cx="349455" cy="123111"/>
            </a:xfrm>
            <a:prstGeom prst="rect">
              <a:avLst/>
            </a:prstGeom>
          </p:spPr>
          <p:txBody>
            <a:bodyPr wrap="none" lIns="0" tIns="0" rIns="0" bIns="0">
              <a:spAutoFit/>
            </a:bodyPr>
            <a:lstStyle/>
            <a:p>
              <a:pPr defTabSz="1032282"/>
              <a:r>
                <a:rPr lang="en-US" sz="800" dirty="0">
                  <a:solidFill>
                    <a:srgbClr val="313131"/>
                  </a:solidFill>
                  <a:cs typeface="Arial" charset="0"/>
                </a:rPr>
                <a:t>Serves</a:t>
              </a:r>
            </a:p>
          </p:txBody>
        </p:sp>
      </p:grpSp>
      <p:sp>
        <p:nvSpPr>
          <p:cNvPr id="275" name="Oval 274"/>
          <p:cNvSpPr/>
          <p:nvPr/>
        </p:nvSpPr>
        <p:spPr bwMode="gray">
          <a:xfrm>
            <a:off x="6934019" y="5350717"/>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276" name="Rectangle 275"/>
          <p:cNvSpPr/>
          <p:nvPr/>
        </p:nvSpPr>
        <p:spPr>
          <a:xfrm>
            <a:off x="5956118" y="5375294"/>
            <a:ext cx="827972" cy="348813"/>
          </a:xfrm>
          <a:prstGeom prst="rect">
            <a:avLst/>
          </a:prstGeom>
        </p:spPr>
        <p:txBody>
          <a:bodyPr wrap="square" lIns="0" rIns="0">
            <a:spAutoFit/>
          </a:bodyPr>
          <a:lstStyle/>
          <a:p>
            <a:pPr algn="r" defTabSz="905428">
              <a:lnSpc>
                <a:spcPts val="1000"/>
              </a:lnSpc>
            </a:pPr>
            <a:r>
              <a:rPr lang="en-GB" sz="800" dirty="0">
                <a:cs typeface="Arial" charset="0"/>
              </a:rPr>
              <a:t>Tech, media</a:t>
            </a:r>
            <a:br>
              <a:rPr lang="en-GB" sz="800" dirty="0">
                <a:cs typeface="Arial" charset="0"/>
              </a:rPr>
            </a:br>
            <a:r>
              <a:rPr lang="en-GB" sz="800" dirty="0">
                <a:cs typeface="Arial" charset="0"/>
              </a:rPr>
              <a:t>&amp; telecom</a:t>
            </a:r>
          </a:p>
        </p:txBody>
      </p:sp>
      <p:sp>
        <p:nvSpPr>
          <p:cNvPr id="277" name="Isosceles Triangle 276"/>
          <p:cNvSpPr/>
          <p:nvPr/>
        </p:nvSpPr>
        <p:spPr bwMode="gray">
          <a:xfrm rot="5400000">
            <a:off x="6837240" y="5506363"/>
            <a:ext cx="103948" cy="89610"/>
          </a:xfrm>
          <a:prstGeom prst="triangle">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cxnSp>
        <p:nvCxnSpPr>
          <p:cNvPr id="278" name="Straight Connector 277"/>
          <p:cNvCxnSpPr/>
          <p:nvPr/>
        </p:nvCxnSpPr>
        <p:spPr>
          <a:xfrm>
            <a:off x="5947025" y="2921749"/>
            <a:ext cx="41510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p:cNvCxnSpPr/>
          <p:nvPr/>
        </p:nvCxnSpPr>
        <p:spPr>
          <a:xfrm>
            <a:off x="5947025" y="6081955"/>
            <a:ext cx="41510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80" name="Group 55"/>
          <p:cNvGrpSpPr>
            <a:grpSpLocks/>
          </p:cNvGrpSpPr>
          <p:nvPr/>
        </p:nvGrpSpPr>
        <p:grpSpPr bwMode="auto">
          <a:xfrm>
            <a:off x="9054871" y="3345549"/>
            <a:ext cx="351923" cy="353505"/>
            <a:chOff x="4263" y="0"/>
            <a:chExt cx="340" cy="340"/>
          </a:xfrm>
          <a:solidFill>
            <a:schemeClr val="accent5"/>
          </a:solidFill>
        </p:grpSpPr>
        <p:sp>
          <p:nvSpPr>
            <p:cNvPr id="281" name="Freeform 56"/>
            <p:cNvSpPr>
              <a:spLocks noEditPoints="1"/>
            </p:cNvSpPr>
            <p:nvPr/>
          </p:nvSpPr>
          <p:spPr bwMode="auto">
            <a:xfrm>
              <a:off x="4263" y="0"/>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282" name="Freeform 57"/>
            <p:cNvSpPr>
              <a:spLocks noEditPoints="1"/>
            </p:cNvSpPr>
            <p:nvPr/>
          </p:nvSpPr>
          <p:spPr bwMode="auto">
            <a:xfrm>
              <a:off x="4341" y="70"/>
              <a:ext cx="188" cy="192"/>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grpSp>
      <p:grpSp>
        <p:nvGrpSpPr>
          <p:cNvPr id="283" name="Group 282"/>
          <p:cNvGrpSpPr/>
          <p:nvPr/>
        </p:nvGrpSpPr>
        <p:grpSpPr>
          <a:xfrm>
            <a:off x="9341269" y="4057224"/>
            <a:ext cx="756803" cy="900427"/>
            <a:chOff x="6760515" y="3143193"/>
            <a:chExt cx="756803" cy="900427"/>
          </a:xfrm>
        </p:grpSpPr>
        <p:sp>
          <p:nvSpPr>
            <p:cNvPr id="284" name="Rectangle 283"/>
            <p:cNvSpPr/>
            <p:nvPr/>
          </p:nvSpPr>
          <p:spPr bwMode="gray">
            <a:xfrm>
              <a:off x="6917392" y="3143193"/>
              <a:ext cx="599925" cy="900427"/>
            </a:xfrm>
            <a:prstGeom prst="rect">
              <a:avLst/>
            </a:prstGeom>
            <a:solidFill>
              <a:schemeClr val="bg1"/>
            </a:solidFill>
            <a:ln w="19050" algn="ctr">
              <a:solidFill>
                <a:schemeClr val="accent2"/>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285" name="Rectangle 284"/>
            <p:cNvSpPr/>
            <p:nvPr/>
          </p:nvSpPr>
          <p:spPr>
            <a:xfrm>
              <a:off x="6986420" y="3274738"/>
              <a:ext cx="476412" cy="246221"/>
            </a:xfrm>
            <a:prstGeom prst="rect">
              <a:avLst/>
            </a:prstGeom>
          </p:spPr>
          <p:txBody>
            <a:bodyPr wrap="none" tIns="0" bIns="0">
              <a:spAutoFit/>
            </a:bodyPr>
            <a:lstStyle/>
            <a:p>
              <a:r>
                <a:rPr lang="en-US" sz="1600" b="1" dirty="0">
                  <a:solidFill>
                    <a:srgbClr val="313131"/>
                  </a:solidFill>
                  <a:cs typeface="Arial" charset="0"/>
                </a:rPr>
                <a:t>24</a:t>
              </a:r>
              <a:endParaRPr lang="en-IN" sz="1600" b="1" dirty="0"/>
            </a:p>
          </p:txBody>
        </p:sp>
        <p:sp>
          <p:nvSpPr>
            <p:cNvPr id="286" name="Rectangle 285"/>
            <p:cNvSpPr/>
            <p:nvPr/>
          </p:nvSpPr>
          <p:spPr>
            <a:xfrm>
              <a:off x="7038835" y="3723078"/>
              <a:ext cx="380232" cy="184666"/>
            </a:xfrm>
            <a:prstGeom prst="rect">
              <a:avLst/>
            </a:prstGeom>
          </p:spPr>
          <p:txBody>
            <a:bodyPr wrap="none" tIns="0" bIns="0">
              <a:spAutoFit/>
            </a:bodyPr>
            <a:lstStyle/>
            <a:p>
              <a:r>
                <a:rPr lang="en-IN" sz="1200" dirty="0">
                  <a:solidFill>
                    <a:srgbClr val="313131"/>
                  </a:solidFill>
                  <a:cs typeface="Arial" charset="0"/>
                </a:rPr>
                <a:t>45</a:t>
              </a:r>
            </a:p>
          </p:txBody>
        </p:sp>
        <p:sp>
          <p:nvSpPr>
            <p:cNvPr id="287" name="Rectangle 286"/>
            <p:cNvSpPr/>
            <p:nvPr/>
          </p:nvSpPr>
          <p:spPr>
            <a:xfrm>
              <a:off x="6760515" y="3538179"/>
              <a:ext cx="756803" cy="153888"/>
            </a:xfrm>
            <a:prstGeom prst="rect">
              <a:avLst/>
            </a:prstGeom>
            <a:solidFill>
              <a:schemeClr val="accent2"/>
            </a:solidFill>
          </p:spPr>
          <p:txBody>
            <a:bodyPr wrap="square" lIns="274320"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288" name="Rectangle 287"/>
            <p:cNvSpPr/>
            <p:nvPr/>
          </p:nvSpPr>
          <p:spPr>
            <a:xfrm>
              <a:off x="6950513" y="3882663"/>
              <a:ext cx="548227" cy="123111"/>
            </a:xfrm>
            <a:prstGeom prst="rect">
              <a:avLst/>
            </a:prstGeom>
          </p:spPr>
          <p:txBody>
            <a:bodyPr wrap="none" lIns="0" tIns="0" rIns="0" bIns="0">
              <a:spAutoFit/>
            </a:bodyPr>
            <a:lstStyle/>
            <a:p>
              <a:pPr defTabSz="1032282"/>
              <a:r>
                <a:rPr lang="en-US" sz="800" dirty="0">
                  <a:solidFill>
                    <a:srgbClr val="313131"/>
                  </a:solidFill>
                  <a:cs typeface="Arial" charset="0"/>
                </a:rPr>
                <a:t>companies</a:t>
              </a:r>
            </a:p>
          </p:txBody>
        </p:sp>
        <p:sp>
          <p:nvSpPr>
            <p:cNvPr id="289" name="Rectangle 288"/>
            <p:cNvSpPr/>
            <p:nvPr/>
          </p:nvSpPr>
          <p:spPr>
            <a:xfrm>
              <a:off x="7054045" y="3171396"/>
              <a:ext cx="349455" cy="123111"/>
            </a:xfrm>
            <a:prstGeom prst="rect">
              <a:avLst/>
            </a:prstGeom>
          </p:spPr>
          <p:txBody>
            <a:bodyPr wrap="none" lIns="0" tIns="0" rIns="0" bIns="0">
              <a:spAutoFit/>
            </a:bodyPr>
            <a:lstStyle/>
            <a:p>
              <a:pPr defTabSz="1032282"/>
              <a:r>
                <a:rPr lang="en-US" sz="800" dirty="0">
                  <a:solidFill>
                    <a:srgbClr val="313131"/>
                  </a:solidFill>
                  <a:cs typeface="Arial" charset="0"/>
                </a:rPr>
                <a:t>Serves</a:t>
              </a:r>
            </a:p>
          </p:txBody>
        </p:sp>
      </p:grpSp>
      <p:sp>
        <p:nvSpPr>
          <p:cNvPr id="290" name="Oval 289"/>
          <p:cNvSpPr/>
          <p:nvPr/>
        </p:nvSpPr>
        <p:spPr bwMode="gray">
          <a:xfrm>
            <a:off x="9027879" y="4333219"/>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291" name="Rectangle 290"/>
          <p:cNvSpPr/>
          <p:nvPr/>
        </p:nvSpPr>
        <p:spPr>
          <a:xfrm>
            <a:off x="8043685" y="4366981"/>
            <a:ext cx="827972" cy="348813"/>
          </a:xfrm>
          <a:prstGeom prst="rect">
            <a:avLst/>
          </a:prstGeom>
        </p:spPr>
        <p:txBody>
          <a:bodyPr wrap="square" lIns="0" rIns="0">
            <a:spAutoFit/>
          </a:bodyPr>
          <a:lstStyle/>
          <a:p>
            <a:pPr algn="r" defTabSz="905428">
              <a:lnSpc>
                <a:spcPts val="1000"/>
              </a:lnSpc>
            </a:pPr>
            <a:r>
              <a:rPr lang="en-GB" sz="800" dirty="0">
                <a:cs typeface="Arial" charset="0"/>
              </a:rPr>
              <a:t>Life sciences &amp; healthcare </a:t>
            </a:r>
          </a:p>
        </p:txBody>
      </p:sp>
      <p:sp>
        <p:nvSpPr>
          <p:cNvPr id="292" name="Isosceles Triangle 291"/>
          <p:cNvSpPr/>
          <p:nvPr/>
        </p:nvSpPr>
        <p:spPr bwMode="gray">
          <a:xfrm rot="5400000">
            <a:off x="8924761" y="4498050"/>
            <a:ext cx="103948" cy="89610"/>
          </a:xfrm>
          <a:prstGeom prst="triangle">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293" name="Group 327"/>
          <p:cNvGrpSpPr>
            <a:grpSpLocks/>
          </p:cNvGrpSpPr>
          <p:nvPr/>
        </p:nvGrpSpPr>
        <p:grpSpPr bwMode="auto">
          <a:xfrm>
            <a:off x="9054871" y="4354108"/>
            <a:ext cx="351923" cy="353505"/>
            <a:chOff x="5029" y="1186"/>
            <a:chExt cx="340" cy="340"/>
          </a:xfrm>
          <a:solidFill>
            <a:schemeClr val="accent2"/>
          </a:solidFill>
        </p:grpSpPr>
        <p:sp>
          <p:nvSpPr>
            <p:cNvPr id="294" name="Freeform 328"/>
            <p:cNvSpPr>
              <a:spLocks noEditPoints="1"/>
            </p:cNvSpPr>
            <p:nvPr/>
          </p:nvSpPr>
          <p:spPr bwMode="auto">
            <a:xfrm>
              <a:off x="5109" y="1266"/>
              <a:ext cx="180" cy="180"/>
            </a:xfrm>
            <a:custGeom>
              <a:avLst/>
              <a:gdLst>
                <a:gd name="T0" fmla="*/ 248 w 270"/>
                <a:gd name="T1" fmla="*/ 142 h 270"/>
                <a:gd name="T2" fmla="*/ 187 w 270"/>
                <a:gd name="T3" fmla="*/ 82 h 270"/>
                <a:gd name="T4" fmla="*/ 127 w 270"/>
                <a:gd name="T5" fmla="*/ 22 h 270"/>
                <a:gd name="T6" fmla="*/ 74 w 270"/>
                <a:gd name="T7" fmla="*/ 0 h 270"/>
                <a:gd name="T8" fmla="*/ 22 w 270"/>
                <a:gd name="T9" fmla="*/ 22 h 270"/>
                <a:gd name="T10" fmla="*/ 0 w 270"/>
                <a:gd name="T11" fmla="*/ 74 h 270"/>
                <a:gd name="T12" fmla="*/ 22 w 270"/>
                <a:gd name="T13" fmla="*/ 127 h 270"/>
                <a:gd name="T14" fmla="*/ 82 w 270"/>
                <a:gd name="T15" fmla="*/ 187 h 270"/>
                <a:gd name="T16" fmla="*/ 142 w 270"/>
                <a:gd name="T17" fmla="*/ 248 h 270"/>
                <a:gd name="T18" fmla="*/ 195 w 270"/>
                <a:gd name="T19" fmla="*/ 270 h 270"/>
                <a:gd name="T20" fmla="*/ 248 w 270"/>
                <a:gd name="T21" fmla="*/ 248 h 270"/>
                <a:gd name="T22" fmla="*/ 270 w 270"/>
                <a:gd name="T23" fmla="*/ 195 h 270"/>
                <a:gd name="T24" fmla="*/ 248 w 270"/>
                <a:gd name="T25" fmla="*/ 142 h 270"/>
                <a:gd name="T26" fmla="*/ 240 w 270"/>
                <a:gd name="T27" fmla="*/ 167 h 270"/>
                <a:gd name="T28" fmla="*/ 118 w 270"/>
                <a:gd name="T29" fmla="*/ 167 h 270"/>
                <a:gd name="T30" fmla="*/ 139 w 270"/>
                <a:gd name="T31" fmla="*/ 145 h 270"/>
                <a:gd name="T32" fmla="*/ 220 w 270"/>
                <a:gd name="T33" fmla="*/ 145 h 270"/>
                <a:gd name="T34" fmla="*/ 220 w 270"/>
                <a:gd name="T35" fmla="*/ 145 h 270"/>
                <a:gd name="T36" fmla="*/ 233 w 270"/>
                <a:gd name="T37" fmla="*/ 157 h 270"/>
                <a:gd name="T38" fmla="*/ 240 w 270"/>
                <a:gd name="T39" fmla="*/ 167 h 270"/>
                <a:gd name="T40" fmla="*/ 248 w 270"/>
                <a:gd name="T41" fmla="*/ 195 h 270"/>
                <a:gd name="T42" fmla="*/ 246 w 270"/>
                <a:gd name="T43" fmla="*/ 209 h 270"/>
                <a:gd name="T44" fmla="*/ 135 w 270"/>
                <a:gd name="T45" fmla="*/ 209 h 270"/>
                <a:gd name="T46" fmla="*/ 135 w 270"/>
                <a:gd name="T47" fmla="*/ 210 h 270"/>
                <a:gd name="T48" fmla="*/ 113 w 270"/>
                <a:gd name="T49" fmla="*/ 188 h 270"/>
                <a:gd name="T50" fmla="*/ 248 w 270"/>
                <a:gd name="T51" fmla="*/ 188 h 270"/>
                <a:gd name="T52" fmla="*/ 248 w 270"/>
                <a:gd name="T53" fmla="*/ 195 h 270"/>
                <a:gd name="T54" fmla="*/ 180 w 270"/>
                <a:gd name="T55" fmla="*/ 105 h 270"/>
                <a:gd name="T56" fmla="*/ 199 w 270"/>
                <a:gd name="T57" fmla="*/ 124 h 270"/>
                <a:gd name="T58" fmla="*/ 160 w 270"/>
                <a:gd name="T59" fmla="*/ 124 h 270"/>
                <a:gd name="T60" fmla="*/ 180 w 270"/>
                <a:gd name="T61" fmla="*/ 105 h 270"/>
                <a:gd name="T62" fmla="*/ 21 w 270"/>
                <a:gd name="T63" fmla="*/ 74 h 270"/>
                <a:gd name="T64" fmla="*/ 37 w 270"/>
                <a:gd name="T65" fmla="*/ 37 h 270"/>
                <a:gd name="T66" fmla="*/ 74 w 270"/>
                <a:gd name="T67" fmla="*/ 21 h 270"/>
                <a:gd name="T68" fmla="*/ 112 w 270"/>
                <a:gd name="T69" fmla="*/ 37 h 270"/>
                <a:gd name="T70" fmla="*/ 165 w 270"/>
                <a:gd name="T71" fmla="*/ 89 h 270"/>
                <a:gd name="T72" fmla="*/ 89 w 270"/>
                <a:gd name="T73" fmla="*/ 165 h 270"/>
                <a:gd name="T74" fmla="*/ 37 w 270"/>
                <a:gd name="T75" fmla="*/ 112 h 270"/>
                <a:gd name="T76" fmla="*/ 21 w 270"/>
                <a:gd name="T77" fmla="*/ 74 h 270"/>
                <a:gd name="T78" fmla="*/ 195 w 270"/>
                <a:gd name="T79" fmla="*/ 248 h 270"/>
                <a:gd name="T80" fmla="*/ 157 w 270"/>
                <a:gd name="T81" fmla="*/ 233 h 270"/>
                <a:gd name="T82" fmla="*/ 155 w 270"/>
                <a:gd name="T83" fmla="*/ 231 h 270"/>
                <a:gd name="T84" fmla="*/ 234 w 270"/>
                <a:gd name="T85" fmla="*/ 231 h 270"/>
                <a:gd name="T86" fmla="*/ 233 w 270"/>
                <a:gd name="T87" fmla="*/ 233 h 270"/>
                <a:gd name="T88" fmla="*/ 195 w 270"/>
                <a:gd name="T89" fmla="*/ 24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0" h="270">
                  <a:moveTo>
                    <a:pt x="248" y="142"/>
                  </a:moveTo>
                  <a:cubicBezTo>
                    <a:pt x="187" y="82"/>
                    <a:pt x="187" y="82"/>
                    <a:pt x="187" y="82"/>
                  </a:cubicBezTo>
                  <a:cubicBezTo>
                    <a:pt x="127" y="22"/>
                    <a:pt x="127" y="22"/>
                    <a:pt x="127" y="22"/>
                  </a:cubicBezTo>
                  <a:cubicBezTo>
                    <a:pt x="113" y="7"/>
                    <a:pt x="94" y="0"/>
                    <a:pt x="74" y="0"/>
                  </a:cubicBezTo>
                  <a:cubicBezTo>
                    <a:pt x="54" y="0"/>
                    <a:pt x="36" y="7"/>
                    <a:pt x="22" y="22"/>
                  </a:cubicBezTo>
                  <a:cubicBezTo>
                    <a:pt x="7" y="36"/>
                    <a:pt x="0" y="54"/>
                    <a:pt x="0" y="74"/>
                  </a:cubicBezTo>
                  <a:cubicBezTo>
                    <a:pt x="0" y="94"/>
                    <a:pt x="7" y="113"/>
                    <a:pt x="22" y="127"/>
                  </a:cubicBezTo>
                  <a:cubicBezTo>
                    <a:pt x="82" y="187"/>
                    <a:pt x="82" y="187"/>
                    <a:pt x="82" y="187"/>
                  </a:cubicBezTo>
                  <a:cubicBezTo>
                    <a:pt x="142" y="248"/>
                    <a:pt x="142" y="248"/>
                    <a:pt x="142" y="248"/>
                  </a:cubicBezTo>
                  <a:cubicBezTo>
                    <a:pt x="156" y="262"/>
                    <a:pt x="175" y="270"/>
                    <a:pt x="195" y="270"/>
                  </a:cubicBezTo>
                  <a:cubicBezTo>
                    <a:pt x="215" y="270"/>
                    <a:pt x="234" y="262"/>
                    <a:pt x="248" y="248"/>
                  </a:cubicBezTo>
                  <a:cubicBezTo>
                    <a:pt x="262" y="234"/>
                    <a:pt x="270" y="215"/>
                    <a:pt x="270" y="195"/>
                  </a:cubicBezTo>
                  <a:cubicBezTo>
                    <a:pt x="270" y="175"/>
                    <a:pt x="262" y="156"/>
                    <a:pt x="248" y="142"/>
                  </a:cubicBezTo>
                  <a:close/>
                  <a:moveTo>
                    <a:pt x="240" y="167"/>
                  </a:moveTo>
                  <a:cubicBezTo>
                    <a:pt x="118" y="167"/>
                    <a:pt x="118" y="167"/>
                    <a:pt x="118" y="167"/>
                  </a:cubicBezTo>
                  <a:cubicBezTo>
                    <a:pt x="139" y="145"/>
                    <a:pt x="139" y="145"/>
                    <a:pt x="139" y="145"/>
                  </a:cubicBezTo>
                  <a:cubicBezTo>
                    <a:pt x="220" y="145"/>
                    <a:pt x="220" y="145"/>
                    <a:pt x="220" y="145"/>
                  </a:cubicBezTo>
                  <a:cubicBezTo>
                    <a:pt x="220" y="145"/>
                    <a:pt x="220" y="145"/>
                    <a:pt x="220" y="145"/>
                  </a:cubicBezTo>
                  <a:cubicBezTo>
                    <a:pt x="233" y="157"/>
                    <a:pt x="233" y="157"/>
                    <a:pt x="233" y="157"/>
                  </a:cubicBezTo>
                  <a:cubicBezTo>
                    <a:pt x="236" y="160"/>
                    <a:pt x="238" y="163"/>
                    <a:pt x="240" y="167"/>
                  </a:cubicBezTo>
                  <a:close/>
                  <a:moveTo>
                    <a:pt x="248" y="195"/>
                  </a:moveTo>
                  <a:cubicBezTo>
                    <a:pt x="248" y="200"/>
                    <a:pt x="247" y="205"/>
                    <a:pt x="246" y="209"/>
                  </a:cubicBezTo>
                  <a:cubicBezTo>
                    <a:pt x="135" y="209"/>
                    <a:pt x="135" y="209"/>
                    <a:pt x="135" y="209"/>
                  </a:cubicBezTo>
                  <a:cubicBezTo>
                    <a:pt x="135" y="210"/>
                    <a:pt x="135" y="210"/>
                    <a:pt x="135" y="210"/>
                  </a:cubicBezTo>
                  <a:cubicBezTo>
                    <a:pt x="113" y="188"/>
                    <a:pt x="113" y="188"/>
                    <a:pt x="113" y="188"/>
                  </a:cubicBezTo>
                  <a:cubicBezTo>
                    <a:pt x="248" y="188"/>
                    <a:pt x="248" y="188"/>
                    <a:pt x="248" y="188"/>
                  </a:cubicBezTo>
                  <a:cubicBezTo>
                    <a:pt x="248" y="190"/>
                    <a:pt x="248" y="193"/>
                    <a:pt x="248" y="195"/>
                  </a:cubicBezTo>
                  <a:close/>
                  <a:moveTo>
                    <a:pt x="180" y="105"/>
                  </a:moveTo>
                  <a:cubicBezTo>
                    <a:pt x="199" y="124"/>
                    <a:pt x="199" y="124"/>
                    <a:pt x="199" y="124"/>
                  </a:cubicBezTo>
                  <a:cubicBezTo>
                    <a:pt x="160" y="124"/>
                    <a:pt x="160" y="124"/>
                    <a:pt x="160" y="124"/>
                  </a:cubicBezTo>
                  <a:lnTo>
                    <a:pt x="180" y="105"/>
                  </a:lnTo>
                  <a:close/>
                  <a:moveTo>
                    <a:pt x="21" y="74"/>
                  </a:moveTo>
                  <a:cubicBezTo>
                    <a:pt x="21" y="60"/>
                    <a:pt x="27" y="47"/>
                    <a:pt x="37" y="37"/>
                  </a:cubicBezTo>
                  <a:cubicBezTo>
                    <a:pt x="47" y="27"/>
                    <a:pt x="60" y="21"/>
                    <a:pt x="74" y="21"/>
                  </a:cubicBezTo>
                  <a:cubicBezTo>
                    <a:pt x="89" y="21"/>
                    <a:pt x="102" y="27"/>
                    <a:pt x="112" y="37"/>
                  </a:cubicBezTo>
                  <a:cubicBezTo>
                    <a:pt x="165" y="89"/>
                    <a:pt x="165" y="89"/>
                    <a:pt x="165" y="89"/>
                  </a:cubicBezTo>
                  <a:cubicBezTo>
                    <a:pt x="89" y="165"/>
                    <a:pt x="89" y="165"/>
                    <a:pt x="89" y="165"/>
                  </a:cubicBezTo>
                  <a:cubicBezTo>
                    <a:pt x="37" y="112"/>
                    <a:pt x="37" y="112"/>
                    <a:pt x="37" y="112"/>
                  </a:cubicBezTo>
                  <a:cubicBezTo>
                    <a:pt x="27" y="102"/>
                    <a:pt x="21" y="89"/>
                    <a:pt x="21" y="74"/>
                  </a:cubicBezTo>
                  <a:close/>
                  <a:moveTo>
                    <a:pt x="195" y="248"/>
                  </a:moveTo>
                  <a:cubicBezTo>
                    <a:pt x="181" y="248"/>
                    <a:pt x="167" y="243"/>
                    <a:pt x="157" y="233"/>
                  </a:cubicBezTo>
                  <a:cubicBezTo>
                    <a:pt x="155" y="231"/>
                    <a:pt x="155" y="231"/>
                    <a:pt x="155" y="231"/>
                  </a:cubicBezTo>
                  <a:cubicBezTo>
                    <a:pt x="234" y="231"/>
                    <a:pt x="234" y="231"/>
                    <a:pt x="234" y="231"/>
                  </a:cubicBezTo>
                  <a:cubicBezTo>
                    <a:pt x="234" y="231"/>
                    <a:pt x="233" y="232"/>
                    <a:pt x="233" y="233"/>
                  </a:cubicBezTo>
                  <a:cubicBezTo>
                    <a:pt x="223" y="243"/>
                    <a:pt x="209" y="248"/>
                    <a:pt x="195" y="24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295" name="Freeform 329"/>
            <p:cNvSpPr>
              <a:spLocks noEditPoints="1"/>
            </p:cNvSpPr>
            <p:nvPr/>
          </p:nvSpPr>
          <p:spPr bwMode="auto">
            <a:xfrm>
              <a:off x="5029" y="11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grpSp>
      <p:grpSp>
        <p:nvGrpSpPr>
          <p:cNvPr id="296" name="Group 768"/>
          <p:cNvGrpSpPr>
            <a:grpSpLocks/>
          </p:cNvGrpSpPr>
          <p:nvPr/>
        </p:nvGrpSpPr>
        <p:grpSpPr bwMode="auto">
          <a:xfrm>
            <a:off x="6959477" y="5380565"/>
            <a:ext cx="351923" cy="353505"/>
            <a:chOff x="6591" y="3054"/>
            <a:chExt cx="340" cy="340"/>
          </a:xfrm>
          <a:solidFill>
            <a:schemeClr val="accent6">
              <a:lumMod val="50000"/>
            </a:schemeClr>
          </a:solidFill>
        </p:grpSpPr>
        <p:sp>
          <p:nvSpPr>
            <p:cNvPr id="297" name="Freeform 769"/>
            <p:cNvSpPr>
              <a:spLocks noEditPoints="1"/>
            </p:cNvSpPr>
            <p:nvPr/>
          </p:nvSpPr>
          <p:spPr bwMode="auto">
            <a:xfrm>
              <a:off x="6591" y="3054"/>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298" name="Freeform 770"/>
            <p:cNvSpPr>
              <a:spLocks noEditPoints="1"/>
            </p:cNvSpPr>
            <p:nvPr/>
          </p:nvSpPr>
          <p:spPr bwMode="auto">
            <a:xfrm>
              <a:off x="6690" y="3132"/>
              <a:ext cx="149" cy="198"/>
            </a:xfrm>
            <a:custGeom>
              <a:avLst/>
              <a:gdLst>
                <a:gd name="T0" fmla="*/ 142 w 224"/>
                <a:gd name="T1" fmla="*/ 97 h 298"/>
                <a:gd name="T2" fmla="*/ 147 w 224"/>
                <a:gd name="T3" fmla="*/ 93 h 298"/>
                <a:gd name="T4" fmla="*/ 147 w 224"/>
                <a:gd name="T5" fmla="*/ 77 h 298"/>
                <a:gd name="T6" fmla="*/ 131 w 224"/>
                <a:gd name="T7" fmla="*/ 77 h 298"/>
                <a:gd name="T8" fmla="*/ 127 w 224"/>
                <a:gd name="T9" fmla="*/ 82 h 298"/>
                <a:gd name="T10" fmla="*/ 74 w 224"/>
                <a:gd name="T11" fmla="*/ 30 h 298"/>
                <a:gd name="T12" fmla="*/ 59 w 224"/>
                <a:gd name="T13" fmla="*/ 30 h 298"/>
                <a:gd name="T14" fmla="*/ 59 w 224"/>
                <a:gd name="T15" fmla="*/ 165 h 298"/>
                <a:gd name="T16" fmla="*/ 64 w 224"/>
                <a:gd name="T17" fmla="*/ 170 h 298"/>
                <a:gd name="T18" fmla="*/ 25 w 224"/>
                <a:gd name="T19" fmla="*/ 277 h 298"/>
                <a:gd name="T20" fmla="*/ 11 w 224"/>
                <a:gd name="T21" fmla="*/ 277 h 298"/>
                <a:gd name="T22" fmla="*/ 0 w 224"/>
                <a:gd name="T23" fmla="*/ 288 h 298"/>
                <a:gd name="T24" fmla="*/ 11 w 224"/>
                <a:gd name="T25" fmla="*/ 298 h 298"/>
                <a:gd name="T26" fmla="*/ 139 w 224"/>
                <a:gd name="T27" fmla="*/ 298 h 298"/>
                <a:gd name="T28" fmla="*/ 150 w 224"/>
                <a:gd name="T29" fmla="*/ 288 h 298"/>
                <a:gd name="T30" fmla="*/ 139 w 224"/>
                <a:gd name="T31" fmla="*/ 277 h 298"/>
                <a:gd name="T32" fmla="*/ 125 w 224"/>
                <a:gd name="T33" fmla="*/ 277 h 298"/>
                <a:gd name="T34" fmla="*/ 92 w 224"/>
                <a:gd name="T35" fmla="*/ 187 h 298"/>
                <a:gd name="T36" fmla="*/ 127 w 224"/>
                <a:gd name="T37" fmla="*/ 193 h 298"/>
                <a:gd name="T38" fmla="*/ 194 w 224"/>
                <a:gd name="T39" fmla="*/ 165 h 298"/>
                <a:gd name="T40" fmla="*/ 198 w 224"/>
                <a:gd name="T41" fmla="*/ 158 h 298"/>
                <a:gd name="T42" fmla="*/ 194 w 224"/>
                <a:gd name="T43" fmla="*/ 150 h 298"/>
                <a:gd name="T44" fmla="*/ 142 w 224"/>
                <a:gd name="T45" fmla="*/ 97 h 298"/>
                <a:gd name="T46" fmla="*/ 48 w 224"/>
                <a:gd name="T47" fmla="*/ 277 h 298"/>
                <a:gd name="T48" fmla="*/ 75 w 224"/>
                <a:gd name="T49" fmla="*/ 202 h 298"/>
                <a:gd name="T50" fmla="*/ 102 w 224"/>
                <a:gd name="T51" fmla="*/ 277 h 298"/>
                <a:gd name="T52" fmla="*/ 48 w 224"/>
                <a:gd name="T53" fmla="*/ 277 h 298"/>
                <a:gd name="T54" fmla="*/ 74 w 224"/>
                <a:gd name="T55" fmla="*/ 150 h 298"/>
                <a:gd name="T56" fmla="*/ 67 w 224"/>
                <a:gd name="T57" fmla="*/ 53 h 298"/>
                <a:gd name="T58" fmla="*/ 171 w 224"/>
                <a:gd name="T59" fmla="*/ 157 h 298"/>
                <a:gd name="T60" fmla="*/ 74 w 224"/>
                <a:gd name="T61" fmla="*/ 150 h 298"/>
                <a:gd name="T62" fmla="*/ 139 w 224"/>
                <a:gd name="T63" fmla="*/ 64 h 298"/>
                <a:gd name="T64" fmla="*/ 128 w 224"/>
                <a:gd name="T65" fmla="*/ 53 h 298"/>
                <a:gd name="T66" fmla="*/ 139 w 224"/>
                <a:gd name="T67" fmla="*/ 42 h 298"/>
                <a:gd name="T68" fmla="*/ 182 w 224"/>
                <a:gd name="T69" fmla="*/ 85 h 298"/>
                <a:gd name="T70" fmla="*/ 171 w 224"/>
                <a:gd name="T71" fmla="*/ 96 h 298"/>
                <a:gd name="T72" fmla="*/ 160 w 224"/>
                <a:gd name="T73" fmla="*/ 85 h 298"/>
                <a:gd name="T74" fmla="*/ 139 w 224"/>
                <a:gd name="T75" fmla="*/ 64 h 298"/>
                <a:gd name="T76" fmla="*/ 224 w 224"/>
                <a:gd name="T77" fmla="*/ 85 h 298"/>
                <a:gd name="T78" fmla="*/ 214 w 224"/>
                <a:gd name="T79" fmla="*/ 96 h 298"/>
                <a:gd name="T80" fmla="*/ 203 w 224"/>
                <a:gd name="T81" fmla="*/ 85 h 298"/>
                <a:gd name="T82" fmla="*/ 139 w 224"/>
                <a:gd name="T83" fmla="*/ 21 h 298"/>
                <a:gd name="T84" fmla="*/ 128 w 224"/>
                <a:gd name="T85" fmla="*/ 10 h 298"/>
                <a:gd name="T86" fmla="*/ 139 w 224"/>
                <a:gd name="T87" fmla="*/ 0 h 298"/>
                <a:gd name="T88" fmla="*/ 224 w 224"/>
                <a:gd name="T89" fmla="*/ 8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298">
                  <a:moveTo>
                    <a:pt x="142" y="97"/>
                  </a:moveTo>
                  <a:cubicBezTo>
                    <a:pt x="147" y="93"/>
                    <a:pt x="147" y="93"/>
                    <a:pt x="147" y="93"/>
                  </a:cubicBezTo>
                  <a:cubicBezTo>
                    <a:pt x="151" y="88"/>
                    <a:pt x="151" y="82"/>
                    <a:pt x="147" y="77"/>
                  </a:cubicBezTo>
                  <a:cubicBezTo>
                    <a:pt x="142" y="73"/>
                    <a:pt x="136" y="73"/>
                    <a:pt x="131" y="77"/>
                  </a:cubicBezTo>
                  <a:cubicBezTo>
                    <a:pt x="127" y="82"/>
                    <a:pt x="127" y="82"/>
                    <a:pt x="127" y="82"/>
                  </a:cubicBezTo>
                  <a:cubicBezTo>
                    <a:pt x="74" y="30"/>
                    <a:pt x="74" y="30"/>
                    <a:pt x="74" y="30"/>
                  </a:cubicBezTo>
                  <a:cubicBezTo>
                    <a:pt x="70" y="25"/>
                    <a:pt x="63" y="25"/>
                    <a:pt x="59" y="30"/>
                  </a:cubicBezTo>
                  <a:cubicBezTo>
                    <a:pt x="21" y="67"/>
                    <a:pt x="21" y="128"/>
                    <a:pt x="59" y="165"/>
                  </a:cubicBezTo>
                  <a:cubicBezTo>
                    <a:pt x="60" y="167"/>
                    <a:pt x="62" y="169"/>
                    <a:pt x="64" y="170"/>
                  </a:cubicBezTo>
                  <a:cubicBezTo>
                    <a:pt x="25" y="277"/>
                    <a:pt x="25" y="277"/>
                    <a:pt x="25" y="277"/>
                  </a:cubicBezTo>
                  <a:cubicBezTo>
                    <a:pt x="11" y="277"/>
                    <a:pt x="11" y="277"/>
                    <a:pt x="11" y="277"/>
                  </a:cubicBezTo>
                  <a:cubicBezTo>
                    <a:pt x="5" y="277"/>
                    <a:pt x="0" y="282"/>
                    <a:pt x="0" y="288"/>
                  </a:cubicBezTo>
                  <a:cubicBezTo>
                    <a:pt x="0" y="294"/>
                    <a:pt x="5" y="298"/>
                    <a:pt x="11" y="298"/>
                  </a:cubicBezTo>
                  <a:cubicBezTo>
                    <a:pt x="139" y="298"/>
                    <a:pt x="139" y="298"/>
                    <a:pt x="139" y="298"/>
                  </a:cubicBezTo>
                  <a:cubicBezTo>
                    <a:pt x="145" y="298"/>
                    <a:pt x="150" y="294"/>
                    <a:pt x="150" y="288"/>
                  </a:cubicBezTo>
                  <a:cubicBezTo>
                    <a:pt x="150" y="282"/>
                    <a:pt x="145" y="277"/>
                    <a:pt x="139" y="277"/>
                  </a:cubicBezTo>
                  <a:cubicBezTo>
                    <a:pt x="125" y="277"/>
                    <a:pt x="125" y="277"/>
                    <a:pt x="125" y="277"/>
                  </a:cubicBezTo>
                  <a:cubicBezTo>
                    <a:pt x="92" y="187"/>
                    <a:pt x="92" y="187"/>
                    <a:pt x="92" y="187"/>
                  </a:cubicBezTo>
                  <a:cubicBezTo>
                    <a:pt x="103" y="191"/>
                    <a:pt x="115" y="193"/>
                    <a:pt x="127" y="193"/>
                  </a:cubicBezTo>
                  <a:cubicBezTo>
                    <a:pt x="151" y="193"/>
                    <a:pt x="176" y="184"/>
                    <a:pt x="194" y="165"/>
                  </a:cubicBezTo>
                  <a:cubicBezTo>
                    <a:pt x="196" y="163"/>
                    <a:pt x="198" y="161"/>
                    <a:pt x="198" y="158"/>
                  </a:cubicBezTo>
                  <a:cubicBezTo>
                    <a:pt x="198" y="155"/>
                    <a:pt x="196" y="152"/>
                    <a:pt x="194" y="150"/>
                  </a:cubicBezTo>
                  <a:lnTo>
                    <a:pt x="142" y="97"/>
                  </a:lnTo>
                  <a:close/>
                  <a:moveTo>
                    <a:pt x="48" y="277"/>
                  </a:moveTo>
                  <a:cubicBezTo>
                    <a:pt x="75" y="202"/>
                    <a:pt x="75" y="202"/>
                    <a:pt x="75" y="202"/>
                  </a:cubicBezTo>
                  <a:cubicBezTo>
                    <a:pt x="102" y="277"/>
                    <a:pt x="102" y="277"/>
                    <a:pt x="102" y="277"/>
                  </a:cubicBezTo>
                  <a:lnTo>
                    <a:pt x="48" y="277"/>
                  </a:lnTo>
                  <a:close/>
                  <a:moveTo>
                    <a:pt x="74" y="150"/>
                  </a:moveTo>
                  <a:cubicBezTo>
                    <a:pt x="47" y="124"/>
                    <a:pt x="45" y="82"/>
                    <a:pt x="67" y="53"/>
                  </a:cubicBezTo>
                  <a:cubicBezTo>
                    <a:pt x="171" y="157"/>
                    <a:pt x="171" y="157"/>
                    <a:pt x="171" y="157"/>
                  </a:cubicBezTo>
                  <a:cubicBezTo>
                    <a:pt x="142" y="179"/>
                    <a:pt x="100" y="177"/>
                    <a:pt x="74" y="150"/>
                  </a:cubicBezTo>
                  <a:close/>
                  <a:moveTo>
                    <a:pt x="139" y="64"/>
                  </a:moveTo>
                  <a:cubicBezTo>
                    <a:pt x="133" y="64"/>
                    <a:pt x="128" y="59"/>
                    <a:pt x="128" y="53"/>
                  </a:cubicBezTo>
                  <a:cubicBezTo>
                    <a:pt x="128" y="47"/>
                    <a:pt x="133" y="42"/>
                    <a:pt x="139" y="42"/>
                  </a:cubicBezTo>
                  <a:cubicBezTo>
                    <a:pt x="163" y="42"/>
                    <a:pt x="182" y="61"/>
                    <a:pt x="182" y="85"/>
                  </a:cubicBezTo>
                  <a:cubicBezTo>
                    <a:pt x="182" y="91"/>
                    <a:pt x="177" y="96"/>
                    <a:pt x="171" y="96"/>
                  </a:cubicBezTo>
                  <a:cubicBezTo>
                    <a:pt x="165" y="96"/>
                    <a:pt x="160" y="91"/>
                    <a:pt x="160" y="85"/>
                  </a:cubicBezTo>
                  <a:cubicBezTo>
                    <a:pt x="160" y="73"/>
                    <a:pt x="151" y="64"/>
                    <a:pt x="139" y="64"/>
                  </a:cubicBezTo>
                  <a:close/>
                  <a:moveTo>
                    <a:pt x="224" y="85"/>
                  </a:moveTo>
                  <a:cubicBezTo>
                    <a:pt x="224" y="91"/>
                    <a:pt x="220" y="96"/>
                    <a:pt x="214" y="96"/>
                  </a:cubicBezTo>
                  <a:cubicBezTo>
                    <a:pt x="208" y="96"/>
                    <a:pt x="203" y="91"/>
                    <a:pt x="203" y="85"/>
                  </a:cubicBezTo>
                  <a:cubicBezTo>
                    <a:pt x="203" y="50"/>
                    <a:pt x="174" y="21"/>
                    <a:pt x="139" y="21"/>
                  </a:cubicBezTo>
                  <a:cubicBezTo>
                    <a:pt x="133" y="21"/>
                    <a:pt x="128" y="16"/>
                    <a:pt x="128" y="10"/>
                  </a:cubicBezTo>
                  <a:cubicBezTo>
                    <a:pt x="128" y="4"/>
                    <a:pt x="133" y="0"/>
                    <a:pt x="139" y="0"/>
                  </a:cubicBezTo>
                  <a:cubicBezTo>
                    <a:pt x="186" y="0"/>
                    <a:pt x="224" y="38"/>
                    <a:pt x="224" y="8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grpSp>
      <p:grpSp>
        <p:nvGrpSpPr>
          <p:cNvPr id="299" name="Group 298"/>
          <p:cNvGrpSpPr/>
          <p:nvPr/>
        </p:nvGrpSpPr>
        <p:grpSpPr>
          <a:xfrm>
            <a:off x="9341269" y="5065537"/>
            <a:ext cx="756803" cy="900427"/>
            <a:chOff x="6760515" y="3143193"/>
            <a:chExt cx="756803" cy="900427"/>
          </a:xfrm>
        </p:grpSpPr>
        <p:sp>
          <p:nvSpPr>
            <p:cNvPr id="300" name="Rectangle 299"/>
            <p:cNvSpPr/>
            <p:nvPr/>
          </p:nvSpPr>
          <p:spPr bwMode="gray">
            <a:xfrm>
              <a:off x="6917392" y="3143193"/>
              <a:ext cx="599925" cy="900427"/>
            </a:xfrm>
            <a:prstGeom prst="rect">
              <a:avLst/>
            </a:prstGeom>
            <a:solidFill>
              <a:schemeClr val="bg1"/>
            </a:solidFill>
            <a:ln w="19050" algn="ctr">
              <a:solidFill>
                <a:schemeClr val="accent4"/>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a:t>
              </a:r>
              <a:endParaRPr lang="en-IN" sz="1600" b="1" dirty="0">
                <a:solidFill>
                  <a:schemeClr val="bg1"/>
                </a:solidFill>
              </a:endParaRPr>
            </a:p>
          </p:txBody>
        </p:sp>
        <p:sp>
          <p:nvSpPr>
            <p:cNvPr id="301" name="Rectangle 300"/>
            <p:cNvSpPr/>
            <p:nvPr/>
          </p:nvSpPr>
          <p:spPr>
            <a:xfrm>
              <a:off x="7072960" y="3274738"/>
              <a:ext cx="330540" cy="246221"/>
            </a:xfrm>
            <a:prstGeom prst="rect">
              <a:avLst/>
            </a:prstGeom>
          </p:spPr>
          <p:txBody>
            <a:bodyPr wrap="none" tIns="0" bIns="0">
              <a:spAutoFit/>
            </a:bodyPr>
            <a:lstStyle/>
            <a:p>
              <a:r>
                <a:rPr lang="en-US" sz="1600" b="1" dirty="0">
                  <a:solidFill>
                    <a:srgbClr val="313131"/>
                  </a:solidFill>
                  <a:cs typeface="Arial" charset="0"/>
                </a:rPr>
                <a:t>4</a:t>
              </a:r>
              <a:endParaRPr lang="en-IN" sz="1600" b="1" dirty="0"/>
            </a:p>
          </p:txBody>
        </p:sp>
        <p:sp>
          <p:nvSpPr>
            <p:cNvPr id="302" name="Rectangle 301"/>
            <p:cNvSpPr/>
            <p:nvPr/>
          </p:nvSpPr>
          <p:spPr>
            <a:xfrm>
              <a:off x="7102931" y="3723078"/>
              <a:ext cx="282450" cy="184666"/>
            </a:xfrm>
            <a:prstGeom prst="rect">
              <a:avLst/>
            </a:prstGeom>
          </p:spPr>
          <p:txBody>
            <a:bodyPr wrap="none" tIns="0" bIns="0">
              <a:spAutoFit/>
            </a:bodyPr>
            <a:lstStyle/>
            <a:p>
              <a:r>
                <a:rPr lang="en-US" sz="1200" dirty="0">
                  <a:solidFill>
                    <a:srgbClr val="313131"/>
                  </a:solidFill>
                  <a:cs typeface="Arial" charset="0"/>
                </a:rPr>
                <a:t>6</a:t>
              </a:r>
              <a:endParaRPr lang="en-IN" sz="1200" dirty="0">
                <a:solidFill>
                  <a:srgbClr val="313131"/>
                </a:solidFill>
                <a:cs typeface="Arial" charset="0"/>
              </a:endParaRPr>
            </a:p>
          </p:txBody>
        </p:sp>
        <p:sp>
          <p:nvSpPr>
            <p:cNvPr id="303" name="Rectangle 302"/>
            <p:cNvSpPr/>
            <p:nvPr/>
          </p:nvSpPr>
          <p:spPr>
            <a:xfrm>
              <a:off x="6760515" y="3538179"/>
              <a:ext cx="756803" cy="153888"/>
            </a:xfrm>
            <a:prstGeom prst="rect">
              <a:avLst/>
            </a:prstGeom>
            <a:solidFill>
              <a:schemeClr val="accent4"/>
            </a:solidFill>
          </p:spPr>
          <p:txBody>
            <a:bodyPr wrap="square" lIns="274320" tIns="0" bIns="0">
              <a:spAutoFit/>
            </a:bodyPr>
            <a:lstStyle/>
            <a:p>
              <a:pPr algn="ctr"/>
              <a:r>
                <a:rPr lang="en-US" sz="1000" b="1" dirty="0">
                  <a:solidFill>
                    <a:schemeClr val="bg1"/>
                  </a:solidFill>
                  <a:cs typeface="Arial" charset="0"/>
                </a:rPr>
                <a:t>of</a:t>
              </a:r>
              <a:endParaRPr lang="en-IN" sz="1000" b="1" dirty="0">
                <a:solidFill>
                  <a:schemeClr val="bg1"/>
                </a:solidFill>
                <a:cs typeface="Arial" charset="0"/>
              </a:endParaRPr>
            </a:p>
          </p:txBody>
        </p:sp>
        <p:sp>
          <p:nvSpPr>
            <p:cNvPr id="304" name="Rectangle 303"/>
            <p:cNvSpPr/>
            <p:nvPr/>
          </p:nvSpPr>
          <p:spPr>
            <a:xfrm>
              <a:off x="6950513" y="3882663"/>
              <a:ext cx="548227" cy="123111"/>
            </a:xfrm>
            <a:prstGeom prst="rect">
              <a:avLst/>
            </a:prstGeom>
          </p:spPr>
          <p:txBody>
            <a:bodyPr wrap="none" lIns="0" tIns="0" rIns="0" bIns="0">
              <a:spAutoFit/>
            </a:bodyPr>
            <a:lstStyle/>
            <a:p>
              <a:pPr defTabSz="1032282"/>
              <a:r>
                <a:rPr lang="en-US" sz="800" dirty="0">
                  <a:solidFill>
                    <a:srgbClr val="313131"/>
                  </a:solidFill>
                  <a:cs typeface="Arial" charset="0"/>
                </a:rPr>
                <a:t>companies</a:t>
              </a:r>
            </a:p>
          </p:txBody>
        </p:sp>
        <p:sp>
          <p:nvSpPr>
            <p:cNvPr id="305" name="Rectangle 304"/>
            <p:cNvSpPr/>
            <p:nvPr/>
          </p:nvSpPr>
          <p:spPr>
            <a:xfrm>
              <a:off x="7054045" y="3171396"/>
              <a:ext cx="349455" cy="123111"/>
            </a:xfrm>
            <a:prstGeom prst="rect">
              <a:avLst/>
            </a:prstGeom>
          </p:spPr>
          <p:txBody>
            <a:bodyPr wrap="none" lIns="0" tIns="0" rIns="0" bIns="0">
              <a:spAutoFit/>
            </a:bodyPr>
            <a:lstStyle/>
            <a:p>
              <a:pPr defTabSz="1032282"/>
              <a:r>
                <a:rPr lang="en-US" sz="800" dirty="0">
                  <a:solidFill>
                    <a:srgbClr val="313131"/>
                  </a:solidFill>
                  <a:cs typeface="Arial" charset="0"/>
                </a:rPr>
                <a:t>Serves</a:t>
              </a:r>
            </a:p>
          </p:txBody>
        </p:sp>
      </p:grpSp>
      <p:sp>
        <p:nvSpPr>
          <p:cNvPr id="306" name="Oval 305"/>
          <p:cNvSpPr/>
          <p:nvPr/>
        </p:nvSpPr>
        <p:spPr bwMode="gray">
          <a:xfrm>
            <a:off x="9027879" y="5341532"/>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307" name="Rectangle 306"/>
          <p:cNvSpPr/>
          <p:nvPr/>
        </p:nvSpPr>
        <p:spPr>
          <a:xfrm>
            <a:off x="8043685" y="5440807"/>
            <a:ext cx="827972" cy="209801"/>
          </a:xfrm>
          <a:prstGeom prst="rect">
            <a:avLst/>
          </a:prstGeom>
        </p:spPr>
        <p:txBody>
          <a:bodyPr wrap="square" lIns="0" rIns="0">
            <a:spAutoFit/>
          </a:bodyPr>
          <a:lstStyle/>
          <a:p>
            <a:pPr algn="r" defTabSz="905428">
              <a:lnSpc>
                <a:spcPts val="1000"/>
              </a:lnSpc>
            </a:pPr>
            <a:r>
              <a:rPr lang="en-GB" sz="800" dirty="0">
                <a:cs typeface="Arial" charset="0"/>
              </a:rPr>
              <a:t>Public sector</a:t>
            </a:r>
          </a:p>
        </p:txBody>
      </p:sp>
      <p:sp>
        <p:nvSpPr>
          <p:cNvPr id="308" name="Isosceles Triangle 307"/>
          <p:cNvSpPr/>
          <p:nvPr/>
        </p:nvSpPr>
        <p:spPr bwMode="gray">
          <a:xfrm rot="5400000">
            <a:off x="8924761" y="5506363"/>
            <a:ext cx="103948" cy="89610"/>
          </a:xfrm>
          <a:prstGeom prst="triangle">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pSp>
        <p:nvGrpSpPr>
          <p:cNvPr id="309" name="Group 29"/>
          <p:cNvGrpSpPr>
            <a:grpSpLocks/>
          </p:cNvGrpSpPr>
          <p:nvPr/>
        </p:nvGrpSpPr>
        <p:grpSpPr bwMode="auto">
          <a:xfrm>
            <a:off x="9053453" y="5372604"/>
            <a:ext cx="351923" cy="352176"/>
            <a:chOff x="2899" y="653"/>
            <a:chExt cx="340" cy="340"/>
          </a:xfrm>
          <a:solidFill>
            <a:schemeClr val="accent4"/>
          </a:solidFill>
        </p:grpSpPr>
        <p:sp>
          <p:nvSpPr>
            <p:cNvPr id="310" name="Freeform 30"/>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311" name="Freeform 31"/>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sp>
          <p:nvSpPr>
            <p:cNvPr id="312" name="Freeform 32"/>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defTabSz="905428"/>
              <a:endParaRPr lang="en-GB" sz="1730" dirty="0">
                <a:solidFill>
                  <a:prstClr val="black"/>
                </a:solidFill>
                <a:cs typeface="Arial" charset="0"/>
              </a:endParaRPr>
            </a:p>
          </p:txBody>
        </p:sp>
      </p:grpSp>
      <p:grpSp>
        <p:nvGrpSpPr>
          <p:cNvPr id="313" name="Group 312"/>
          <p:cNvGrpSpPr>
            <a:grpSpLocks noChangeAspect="1"/>
          </p:cNvGrpSpPr>
          <p:nvPr/>
        </p:nvGrpSpPr>
        <p:grpSpPr>
          <a:xfrm>
            <a:off x="5904103" y="2410001"/>
            <a:ext cx="372673" cy="370800"/>
            <a:chOff x="5672138" y="4513263"/>
            <a:chExt cx="1579562" cy="1571625"/>
          </a:xfrm>
          <a:solidFill>
            <a:schemeClr val="accent2"/>
          </a:solidFill>
        </p:grpSpPr>
        <p:sp>
          <p:nvSpPr>
            <p:cNvPr id="314" name="Rectangle 5"/>
            <p:cNvSpPr>
              <a:spLocks noChangeArrowheads="1"/>
            </p:cNvSpPr>
            <p:nvPr/>
          </p:nvSpPr>
          <p:spPr bwMode="auto">
            <a:xfrm>
              <a:off x="6067425"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5" name="Oval 6"/>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6" name="Rectangle 7"/>
            <p:cNvSpPr>
              <a:spLocks noChangeArrowheads="1"/>
            </p:cNvSpPr>
            <p:nvPr/>
          </p:nvSpPr>
          <p:spPr bwMode="auto">
            <a:xfrm>
              <a:off x="6396038"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7" name="Oval 8"/>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8" name="Oval 9"/>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9" name="Freeform 10"/>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0" name="Freeform 11"/>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21" name="Rectangle 320"/>
          <p:cNvSpPr/>
          <p:nvPr/>
        </p:nvSpPr>
        <p:spPr>
          <a:xfrm>
            <a:off x="3679462" y="5826006"/>
            <a:ext cx="1600200" cy="400110"/>
          </a:xfrm>
          <a:prstGeom prst="rect">
            <a:avLst/>
          </a:prstGeom>
          <a:solidFill>
            <a:srgbClr val="2C5234"/>
          </a:solidFill>
        </p:spPr>
        <p:txBody>
          <a:bodyPr wrap="square" lIns="45720" tIns="45720" rIns="45720" bIns="45720">
            <a:spAutoFit/>
          </a:bodyPr>
          <a:lstStyle/>
          <a:p>
            <a:pPr algn="ctr" defTabSz="905428"/>
            <a:r>
              <a:rPr lang="en-GB" sz="1000" dirty="0">
                <a:solidFill>
                  <a:schemeClr val="bg1"/>
                </a:solidFill>
                <a:cs typeface="Arial" charset="0"/>
              </a:rPr>
              <a:t>Years of successful client service</a:t>
            </a:r>
          </a:p>
        </p:txBody>
      </p:sp>
      <p:sp>
        <p:nvSpPr>
          <p:cNvPr id="322" name="Rectangle 321"/>
          <p:cNvSpPr/>
          <p:nvPr/>
        </p:nvSpPr>
        <p:spPr>
          <a:xfrm>
            <a:off x="3679462" y="4392381"/>
            <a:ext cx="1600200" cy="246221"/>
          </a:xfrm>
          <a:prstGeom prst="rect">
            <a:avLst/>
          </a:prstGeom>
          <a:solidFill>
            <a:srgbClr val="2C5234"/>
          </a:solidFill>
        </p:spPr>
        <p:txBody>
          <a:bodyPr wrap="square" lIns="45720" tIns="45720" rIns="45720" bIns="45720">
            <a:spAutoFit/>
          </a:bodyPr>
          <a:lstStyle/>
          <a:p>
            <a:pPr algn="ctr" defTabSz="905428"/>
            <a:r>
              <a:rPr lang="en-GB" sz="1000" dirty="0">
                <a:solidFill>
                  <a:schemeClr val="bg1"/>
                </a:solidFill>
                <a:cs typeface="Arial" charset="0"/>
              </a:rPr>
              <a:t>locations</a:t>
            </a:r>
          </a:p>
        </p:txBody>
      </p:sp>
      <p:sp>
        <p:nvSpPr>
          <p:cNvPr id="323" name="Rectangle 322"/>
          <p:cNvSpPr/>
          <p:nvPr/>
        </p:nvSpPr>
        <p:spPr>
          <a:xfrm>
            <a:off x="3679028" y="2854398"/>
            <a:ext cx="1601069" cy="374461"/>
          </a:xfrm>
          <a:prstGeom prst="rect">
            <a:avLst/>
          </a:prstGeom>
          <a:solidFill>
            <a:srgbClr val="2C5234"/>
          </a:solidFill>
        </p:spPr>
        <p:txBody>
          <a:bodyPr wrap="square" lIns="45720" tIns="45720" rIns="45720" bIns="45720">
            <a:spAutoFit/>
          </a:bodyPr>
          <a:lstStyle/>
          <a:p>
            <a:pPr algn="ctr" defTabSz="905428">
              <a:lnSpc>
                <a:spcPts val="1100"/>
              </a:lnSpc>
            </a:pPr>
            <a:r>
              <a:rPr lang="en-GB" sz="1000" dirty="0">
                <a:solidFill>
                  <a:schemeClr val="bg1"/>
                </a:solidFill>
                <a:cs typeface="Arial" charset="0"/>
              </a:rPr>
              <a:t>Professionals</a:t>
            </a:r>
          </a:p>
          <a:p>
            <a:pPr algn="ctr" defTabSz="905428">
              <a:lnSpc>
                <a:spcPts val="1100"/>
              </a:lnSpc>
            </a:pPr>
            <a:r>
              <a:rPr lang="en-GB" sz="1000" dirty="0">
                <a:solidFill>
                  <a:schemeClr val="bg1"/>
                </a:solidFill>
                <a:cs typeface="Arial" charset="0"/>
              </a:rPr>
              <a:t>Spread across</a:t>
            </a:r>
          </a:p>
        </p:txBody>
      </p:sp>
      <p:sp>
        <p:nvSpPr>
          <p:cNvPr id="324" name="TextBox 323"/>
          <p:cNvSpPr txBox="1"/>
          <p:nvPr/>
        </p:nvSpPr>
        <p:spPr>
          <a:xfrm>
            <a:off x="3664039" y="3747436"/>
            <a:ext cx="1591036" cy="630655"/>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ct val="100000"/>
              </a:lnSpc>
            </a:pPr>
            <a:r>
              <a:rPr lang="en-GB" sz="4800" b="0" dirty="0">
                <a:solidFill>
                  <a:schemeClr val="accent3"/>
                </a:solidFill>
              </a:rPr>
              <a:t>13</a:t>
            </a:r>
          </a:p>
        </p:txBody>
      </p:sp>
      <p:sp>
        <p:nvSpPr>
          <p:cNvPr id="325" name="TextBox 324"/>
          <p:cNvSpPr txBox="1"/>
          <p:nvPr/>
        </p:nvSpPr>
        <p:spPr>
          <a:xfrm>
            <a:off x="3679031" y="5140954"/>
            <a:ext cx="1600631" cy="685052"/>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a:lnSpc>
                <a:spcPct val="100000"/>
              </a:lnSpc>
            </a:pPr>
            <a:r>
              <a:rPr lang="en-GB" sz="6000" b="0" dirty="0">
                <a:solidFill>
                  <a:schemeClr val="accent2"/>
                </a:solidFill>
              </a:rPr>
              <a:t>125</a:t>
            </a:r>
          </a:p>
        </p:txBody>
      </p:sp>
      <p:sp>
        <p:nvSpPr>
          <p:cNvPr id="326" name="Rectangle 325"/>
          <p:cNvSpPr/>
          <p:nvPr/>
        </p:nvSpPr>
        <p:spPr>
          <a:xfrm>
            <a:off x="623147" y="5274034"/>
            <a:ext cx="2563365" cy="1244862"/>
          </a:xfrm>
          <a:prstGeom prst="rect">
            <a:avLst/>
          </a:prstGeom>
          <a:solidFill>
            <a:srgbClr val="2C5234"/>
          </a:solidFill>
        </p:spPr>
        <p:txBody>
          <a:bodyPr wrap="square" lIns="77721" tIns="38861" rIns="77721" bIns="38861">
            <a:noAutofit/>
          </a:bodyPr>
          <a:lstStyle/>
          <a:p>
            <a:pPr defTabSz="777252">
              <a:defRPr/>
            </a:pPr>
            <a:r>
              <a:rPr lang="en-GB" sz="1400" kern="0" dirty="0">
                <a:solidFill>
                  <a:prstClr val="white"/>
                </a:solidFill>
              </a:rPr>
              <a:t>Right combination of global talent, expertise with regional experience and local insights</a:t>
            </a:r>
          </a:p>
        </p:txBody>
      </p:sp>
      <p:sp>
        <p:nvSpPr>
          <p:cNvPr id="333" name="Rectangle 332"/>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About Deloitte</a:t>
            </a:r>
          </a:p>
        </p:txBody>
      </p:sp>
      <p:cxnSp>
        <p:nvCxnSpPr>
          <p:cNvPr id="334" name="Straight Connector 333"/>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335" name="Rectangle 334"/>
          <p:cNvSpPr/>
          <p:nvPr/>
        </p:nvSpPr>
        <p:spPr>
          <a:xfrm>
            <a:off x="263396" y="331644"/>
            <a:ext cx="10103234" cy="425758"/>
          </a:xfrm>
          <a:prstGeom prst="rect">
            <a:avLst/>
          </a:prstGeom>
        </p:spPr>
        <p:txBody>
          <a:bodyPr wrap="square">
            <a:spAutoFit/>
          </a:bodyPr>
          <a:lstStyle/>
          <a:p>
            <a:pPr defTabSz="914253">
              <a:lnSpc>
                <a:spcPts val="2599"/>
              </a:lnSpc>
            </a:pPr>
            <a:r>
              <a:rPr lang="en-US" sz="2400" dirty="0">
                <a:latin typeface="Verdana" panose="020B0604030504040204" pitchFamily="34" charset="0"/>
                <a:ea typeface="Verdana" panose="020B0604030504040204" pitchFamily="34" charset="0"/>
                <a:cs typeface="Verdana" panose="020B0604030504040204" pitchFamily="34" charset="0"/>
              </a:rPr>
              <a:t>Deloitte in India</a:t>
            </a:r>
          </a:p>
        </p:txBody>
      </p:sp>
    </p:spTree>
    <p:extLst>
      <p:ext uri="{BB962C8B-B14F-4D97-AF65-F5344CB8AC3E}">
        <p14:creationId xmlns:p14="http://schemas.microsoft.com/office/powerpoint/2010/main" val="187311868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3"/>
          </p:nvPr>
        </p:nvSpPr>
        <p:spPr>
          <a:xfrm>
            <a:off x="352350" y="799685"/>
            <a:ext cx="9785951" cy="525126"/>
          </a:xfrm>
        </p:spPr>
        <p:txBody>
          <a:bodyPr/>
          <a:lstStyle/>
          <a:p>
            <a:r>
              <a:rPr lang="en-US" dirty="0"/>
              <a:t>Deloitte is distinct in its ability to help clients solve their most complex problems, from strategy to implementation</a:t>
            </a:r>
            <a:endParaRPr lang="en-GB" dirty="0"/>
          </a:p>
        </p:txBody>
      </p:sp>
      <p:sp>
        <p:nvSpPr>
          <p:cNvPr id="14" name="Rectangle 13"/>
          <p:cNvSpPr/>
          <p:nvPr/>
        </p:nvSpPr>
        <p:spPr bwMode="gray">
          <a:xfrm>
            <a:off x="-21081" y="6611890"/>
            <a:ext cx="10728000" cy="382665"/>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sp>
        <p:nvSpPr>
          <p:cNvPr id="15" name="Rectangle 14"/>
          <p:cNvSpPr/>
          <p:nvPr/>
        </p:nvSpPr>
        <p:spPr bwMode="gray">
          <a:xfrm>
            <a:off x="-21081" y="1907613"/>
            <a:ext cx="10728000" cy="382665"/>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graphicFrame>
        <p:nvGraphicFramePr>
          <p:cNvPr id="16" name="Table 15"/>
          <p:cNvGraphicFramePr>
            <a:graphicFrameLocks noGrp="1" noChangeAspect="1"/>
          </p:cNvGraphicFramePr>
          <p:nvPr/>
        </p:nvGraphicFramePr>
        <p:xfrm>
          <a:off x="237517" y="2687504"/>
          <a:ext cx="10210804" cy="3754391"/>
        </p:xfrm>
        <a:graphic>
          <a:graphicData uri="http://schemas.openxmlformats.org/drawingml/2006/table">
            <a:tbl>
              <a:tblPr firstRow="1" bandRow="1">
                <a:tableStyleId>{5C22544A-7EE6-4342-B048-85BDC9FD1C3A}</a:tableStyleId>
              </a:tblPr>
              <a:tblGrid>
                <a:gridCol w="2552701">
                  <a:extLst>
                    <a:ext uri="{9D8B030D-6E8A-4147-A177-3AD203B41FA5}">
                      <a16:colId xmlns:a16="http://schemas.microsoft.com/office/drawing/2014/main" val="20000"/>
                    </a:ext>
                  </a:extLst>
                </a:gridCol>
                <a:gridCol w="2552701">
                  <a:extLst>
                    <a:ext uri="{9D8B030D-6E8A-4147-A177-3AD203B41FA5}">
                      <a16:colId xmlns:a16="http://schemas.microsoft.com/office/drawing/2014/main" val="20001"/>
                    </a:ext>
                  </a:extLst>
                </a:gridCol>
                <a:gridCol w="2552701">
                  <a:extLst>
                    <a:ext uri="{9D8B030D-6E8A-4147-A177-3AD203B41FA5}">
                      <a16:colId xmlns:a16="http://schemas.microsoft.com/office/drawing/2014/main" val="20002"/>
                    </a:ext>
                  </a:extLst>
                </a:gridCol>
                <a:gridCol w="2552701">
                  <a:extLst>
                    <a:ext uri="{9D8B030D-6E8A-4147-A177-3AD203B41FA5}">
                      <a16:colId xmlns:a16="http://schemas.microsoft.com/office/drawing/2014/main" val="20004"/>
                    </a:ext>
                  </a:extLst>
                </a:gridCol>
              </a:tblGrid>
              <a:tr h="605987">
                <a:tc>
                  <a:txBody>
                    <a:bodyPr/>
                    <a:lstStyle/>
                    <a:p>
                      <a:pPr marL="0" marR="0" indent="0" algn="ctr" defTabSz="1018824" rtl="0" eaLnBrk="1" fontAlgn="auto" latinLnBrk="0" hangingPunct="1">
                        <a:lnSpc>
                          <a:spcPct val="100000"/>
                        </a:lnSpc>
                        <a:spcBef>
                          <a:spcPts val="600"/>
                        </a:spcBef>
                        <a:spcAft>
                          <a:spcPts val="600"/>
                        </a:spcAft>
                        <a:buClrTx/>
                        <a:buSzTx/>
                        <a:buFontTx/>
                        <a:buNone/>
                        <a:tabLst/>
                        <a:defRPr/>
                      </a:pPr>
                      <a:r>
                        <a:rPr lang="en-GB" sz="1400" b="1" dirty="0">
                          <a:solidFill>
                            <a:schemeClr val="tx1"/>
                          </a:solidFill>
                        </a:rPr>
                        <a:t>Deep sector knowledge</a:t>
                      </a:r>
                    </a:p>
                  </a:txBody>
                  <a:tcPr marL="80682" marR="80682"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ctr" defTabSz="1018824" rtl="0" eaLnBrk="1" fontAlgn="auto" latinLnBrk="0" hangingPunct="1">
                        <a:lnSpc>
                          <a:spcPct val="100000"/>
                        </a:lnSpc>
                        <a:spcBef>
                          <a:spcPts val="600"/>
                        </a:spcBef>
                        <a:spcAft>
                          <a:spcPts val="600"/>
                        </a:spcAft>
                        <a:buClrTx/>
                        <a:buSzTx/>
                        <a:buFontTx/>
                        <a:buNone/>
                        <a:tabLst/>
                        <a:defRPr/>
                      </a:pPr>
                      <a:r>
                        <a:rPr lang="en-GB" sz="1400" b="1" kern="1200" baseline="0" dirty="0">
                          <a:solidFill>
                            <a:schemeClr val="tx1"/>
                          </a:solidFill>
                          <a:latin typeface="+mn-lt"/>
                          <a:ea typeface="+mn-ea"/>
                          <a:cs typeface="+mn-cs"/>
                        </a:rPr>
                        <a:t> Tailored </a:t>
                      </a:r>
                      <a:br>
                        <a:rPr lang="en-GB" sz="1400" b="1" kern="1200" baseline="0" dirty="0">
                          <a:solidFill>
                            <a:schemeClr val="tx1"/>
                          </a:solidFill>
                          <a:latin typeface="+mn-lt"/>
                          <a:ea typeface="+mn-ea"/>
                          <a:cs typeface="+mn-cs"/>
                        </a:rPr>
                      </a:br>
                      <a:r>
                        <a:rPr lang="en-GB" sz="1400" b="1" kern="1200" dirty="0">
                          <a:solidFill>
                            <a:schemeClr val="tx1"/>
                          </a:solidFill>
                          <a:latin typeface="+mn-lt"/>
                          <a:ea typeface="+mn-ea"/>
                          <a:cs typeface="+mn-cs"/>
                        </a:rPr>
                        <a:t>approach</a:t>
                      </a:r>
                    </a:p>
                  </a:txBody>
                  <a:tcPr marL="80682" marR="80682"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1" indent="0" algn="ctr" defTabSz="1018824" rtl="0" eaLnBrk="1" fontAlgn="auto" latinLnBrk="0" hangingPunct="1">
                        <a:lnSpc>
                          <a:spcPct val="100000"/>
                        </a:lnSpc>
                        <a:spcBef>
                          <a:spcPts val="600"/>
                        </a:spcBef>
                        <a:spcAft>
                          <a:spcPts val="600"/>
                        </a:spcAft>
                        <a:buClrTx/>
                        <a:buSzTx/>
                        <a:buFontTx/>
                        <a:buNone/>
                        <a:tabLst/>
                        <a:defRPr/>
                      </a:pPr>
                      <a:r>
                        <a:rPr lang="en-GB" sz="1400" b="1" dirty="0">
                          <a:solidFill>
                            <a:schemeClr val="tx1"/>
                          </a:solidFill>
                        </a:rPr>
                        <a:t>Experienced </a:t>
                      </a:r>
                      <a:br>
                        <a:rPr lang="en-GB" sz="1400" b="1" dirty="0">
                          <a:solidFill>
                            <a:schemeClr val="tx1"/>
                          </a:solidFill>
                        </a:rPr>
                      </a:br>
                      <a:r>
                        <a:rPr lang="en-GB" sz="1400" b="1" dirty="0">
                          <a:solidFill>
                            <a:schemeClr val="tx1"/>
                          </a:solidFill>
                        </a:rPr>
                        <a:t>team</a:t>
                      </a:r>
                    </a:p>
                  </a:txBody>
                  <a:tcPr marL="80682" marR="80682"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ctr" defTabSz="1018824" rtl="0" eaLnBrk="1" fontAlgn="auto" latinLnBrk="0" hangingPunct="1">
                        <a:lnSpc>
                          <a:spcPct val="100000"/>
                        </a:lnSpc>
                        <a:spcBef>
                          <a:spcPts val="600"/>
                        </a:spcBef>
                        <a:spcAft>
                          <a:spcPts val="600"/>
                        </a:spcAft>
                        <a:buClrTx/>
                        <a:buSzTx/>
                        <a:buFontTx/>
                        <a:buNone/>
                        <a:tabLst/>
                        <a:defRPr/>
                      </a:pPr>
                      <a:r>
                        <a:rPr lang="en-GB" sz="1400" b="1" dirty="0">
                          <a:solidFill>
                            <a:schemeClr val="tx1"/>
                          </a:solidFill>
                        </a:rPr>
                        <a:t>Multi-functional capabilities</a:t>
                      </a:r>
                    </a:p>
                  </a:txBody>
                  <a:tcPr marL="80682" marR="80682"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58264">
                <a:tc>
                  <a:txBody>
                    <a:bodyPr/>
                    <a:lstStyle/>
                    <a:p>
                      <a:pPr marL="0" marR="0" indent="0" algn="l" defTabSz="1018824" rtl="0" eaLnBrk="1" fontAlgn="auto" latinLnBrk="0" hangingPunct="1">
                        <a:lnSpc>
                          <a:spcPct val="100000"/>
                        </a:lnSpc>
                        <a:spcBef>
                          <a:spcPts val="600"/>
                        </a:spcBef>
                        <a:spcAft>
                          <a:spcPts val="600"/>
                        </a:spcAft>
                        <a:buClrTx/>
                        <a:buSzTx/>
                        <a:buFontTx/>
                        <a:buNone/>
                        <a:tabLst/>
                        <a:defRPr/>
                      </a:pPr>
                      <a:r>
                        <a:rPr lang="en-US" sz="1400" b="0" dirty="0">
                          <a:solidFill>
                            <a:schemeClr val="tx1"/>
                          </a:solidFill>
                          <a:latin typeface="+mn-lt"/>
                        </a:rPr>
                        <a:t>Deloitte</a:t>
                      </a:r>
                      <a:r>
                        <a:rPr lang="en-US" sz="1400" b="0" baseline="0" dirty="0">
                          <a:solidFill>
                            <a:schemeClr val="tx1"/>
                          </a:solidFill>
                          <a:latin typeface="+mn-lt"/>
                        </a:rPr>
                        <a:t> has rich experience </a:t>
                      </a:r>
                      <a:r>
                        <a:rPr lang="en-US" sz="1400" b="0" dirty="0">
                          <a:solidFill>
                            <a:schemeClr val="tx1"/>
                          </a:solidFill>
                          <a:latin typeface="+mn-lt"/>
                        </a:rPr>
                        <a:t>across the aviation sector.</a:t>
                      </a:r>
                      <a:r>
                        <a:rPr lang="en-US" sz="1400" b="0" baseline="0" dirty="0">
                          <a:solidFill>
                            <a:schemeClr val="tx1"/>
                          </a:solidFill>
                          <a:latin typeface="+mn-lt"/>
                        </a:rPr>
                        <a:t> </a:t>
                      </a:r>
                      <a:r>
                        <a:rPr lang="en-GB" sz="1400" b="0" dirty="0">
                          <a:solidFill>
                            <a:schemeClr val="tx1"/>
                          </a:solidFill>
                          <a:latin typeface="+mn-lt"/>
                        </a:rPr>
                        <a:t>Our offerings are</a:t>
                      </a:r>
                      <a:r>
                        <a:rPr lang="en-GB" sz="1400" b="0" baseline="0" dirty="0">
                          <a:solidFill>
                            <a:schemeClr val="tx1"/>
                          </a:solidFill>
                          <a:latin typeface="+mn-lt"/>
                        </a:rPr>
                        <a:t> built upon a deep understanding of your operations, garnered from a long history of providing a broad range of services to </a:t>
                      </a:r>
                      <a:r>
                        <a:rPr lang="en-US" sz="1400" b="0" baseline="0" dirty="0">
                          <a:solidFill>
                            <a:schemeClr val="tx1"/>
                          </a:solidFill>
                          <a:latin typeface="+mn-lt"/>
                        </a:rPr>
                        <a:t>clients,</a:t>
                      </a:r>
                      <a:r>
                        <a:rPr lang="en-US" sz="1400" b="0" dirty="0">
                          <a:solidFill>
                            <a:schemeClr val="tx1"/>
                          </a:solidFill>
                          <a:latin typeface="+mn-lt"/>
                        </a:rPr>
                        <a:t> including airlines, airports, air traffic controllers, ground handlers and Civil Aviation Authorities</a:t>
                      </a:r>
                      <a:r>
                        <a:rPr lang="en-GB" sz="1400" b="0" baseline="0" dirty="0">
                          <a:solidFill>
                            <a:schemeClr val="tx1"/>
                          </a:solidFill>
                          <a:latin typeface="+mn-lt"/>
                        </a:rPr>
                        <a:t>.</a:t>
                      </a:r>
                      <a:endParaRPr lang="en-GB" sz="1400" b="0" dirty="0">
                        <a:solidFill>
                          <a:schemeClr val="tx1"/>
                        </a:solidFill>
                        <a:latin typeface="+mn-lt"/>
                      </a:endParaRPr>
                    </a:p>
                  </a:txBody>
                  <a:tcPr marL="108000" marR="144000"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600"/>
                        </a:spcBef>
                        <a:spcAft>
                          <a:spcPts val="600"/>
                        </a:spcAft>
                        <a:buClrTx/>
                        <a:buSzTx/>
                        <a:buFontTx/>
                        <a:buNone/>
                        <a:tabLst/>
                        <a:defRPr/>
                      </a:pPr>
                      <a:r>
                        <a:rPr lang="en-GB" sz="1400" b="0" baseline="0" dirty="0">
                          <a:solidFill>
                            <a:schemeClr val="tx1"/>
                          </a:solidFill>
                          <a:latin typeface="+mn-lt"/>
                        </a:rPr>
                        <a:t>We tailor our project to your needs, focussing on sustainable value for you and leveraging our deep and extensive technical experience both in design and practice. </a:t>
                      </a:r>
                    </a:p>
                  </a:txBody>
                  <a:tcPr marL="108000" marR="144000"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spcBef>
                          <a:spcPts val="600"/>
                        </a:spcBef>
                        <a:spcAft>
                          <a:spcPts val="600"/>
                        </a:spcAft>
                      </a:pPr>
                      <a:r>
                        <a:rPr lang="en-GB" sz="1400" kern="0" dirty="0">
                          <a:solidFill>
                            <a:schemeClr val="tx1"/>
                          </a:solidFill>
                        </a:rPr>
                        <a:t>The</a:t>
                      </a:r>
                      <a:r>
                        <a:rPr lang="en-GB" sz="1400" kern="0" baseline="0" dirty="0">
                          <a:solidFill>
                            <a:schemeClr val="tx1"/>
                          </a:solidFill>
                        </a:rPr>
                        <a:t> </a:t>
                      </a:r>
                      <a:r>
                        <a:rPr lang="en-GB" sz="1400" kern="0" dirty="0">
                          <a:solidFill>
                            <a:schemeClr val="tx1"/>
                          </a:solidFill>
                        </a:rPr>
                        <a:t>team for you has been hand picked, comprising leaders and staff with direct experience working on aviation</a:t>
                      </a:r>
                      <a:r>
                        <a:rPr lang="en-GB" sz="1400" kern="0" baseline="0" dirty="0">
                          <a:solidFill>
                            <a:schemeClr val="tx1"/>
                          </a:solidFill>
                        </a:rPr>
                        <a:t> sector </a:t>
                      </a:r>
                      <a:r>
                        <a:rPr lang="en-GB" sz="1400" kern="0" dirty="0">
                          <a:solidFill>
                            <a:schemeClr val="tx1"/>
                          </a:solidFill>
                        </a:rPr>
                        <a:t>engagements. Our Advisory Panel,</a:t>
                      </a:r>
                      <a:r>
                        <a:rPr lang="en-GB" sz="1400" kern="0" baseline="0" dirty="0">
                          <a:solidFill>
                            <a:schemeClr val="tx1"/>
                          </a:solidFill>
                        </a:rPr>
                        <a:t> strengthened with</a:t>
                      </a:r>
                      <a:r>
                        <a:rPr lang="en-GB" sz="1400" kern="0" dirty="0">
                          <a:solidFill>
                            <a:schemeClr val="tx1"/>
                          </a:solidFill>
                        </a:rPr>
                        <a:t> industry</a:t>
                      </a:r>
                      <a:r>
                        <a:rPr lang="en-GB" sz="1400" kern="0" baseline="0" dirty="0">
                          <a:solidFill>
                            <a:schemeClr val="tx1"/>
                          </a:solidFill>
                        </a:rPr>
                        <a:t> knowledge, will help you explore new ideas, leading practices and lessons learned from past engagements.</a:t>
                      </a:r>
                      <a:endParaRPr lang="en-GB" sz="1400" kern="0" dirty="0">
                        <a:solidFill>
                          <a:schemeClr val="tx1"/>
                        </a:solidFill>
                      </a:endParaRPr>
                    </a:p>
                  </a:txBody>
                  <a:tcPr marL="108000" marR="144000"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600"/>
                        </a:spcBef>
                        <a:spcAft>
                          <a:spcPts val="600"/>
                        </a:spcAft>
                        <a:buClrTx/>
                        <a:buSzTx/>
                        <a:buFontTx/>
                        <a:buNone/>
                        <a:tabLst/>
                        <a:defRPr/>
                      </a:pPr>
                      <a:r>
                        <a:rPr lang="en-GB" sz="1400" kern="1200" dirty="0">
                          <a:solidFill>
                            <a:schemeClr val="tx1"/>
                          </a:solidFill>
                          <a:latin typeface="+mn-lt"/>
                          <a:ea typeface="+mn-ea"/>
                          <a:cs typeface="Calibri"/>
                        </a:rPr>
                        <a:t>By engaging Deloitte, you will have access to a unique set of capabilities. Your team will be able to leverage our cross-functional expertise spanning the</a:t>
                      </a:r>
                      <a:r>
                        <a:rPr lang="en-GB" sz="1400" kern="1200" baseline="0" dirty="0">
                          <a:solidFill>
                            <a:schemeClr val="tx1"/>
                          </a:solidFill>
                          <a:latin typeface="+mn-lt"/>
                          <a:ea typeface="+mn-ea"/>
                          <a:cs typeface="Calibri"/>
                        </a:rPr>
                        <a:t> areas of consulting, </a:t>
                      </a:r>
                      <a:r>
                        <a:rPr lang="en-GB" sz="1400" kern="1200" dirty="0">
                          <a:solidFill>
                            <a:schemeClr val="tx1"/>
                          </a:solidFill>
                          <a:latin typeface="+mn-lt"/>
                          <a:ea typeface="+mn-ea"/>
                          <a:cs typeface="Calibri"/>
                        </a:rPr>
                        <a:t>financial advisory,</a:t>
                      </a:r>
                      <a:r>
                        <a:rPr lang="en-GB" sz="1400" kern="1200" baseline="0" dirty="0">
                          <a:solidFill>
                            <a:schemeClr val="tx1"/>
                          </a:solidFill>
                          <a:latin typeface="+mn-lt"/>
                          <a:ea typeface="+mn-ea"/>
                          <a:cs typeface="Calibri"/>
                        </a:rPr>
                        <a:t> risk advisory and tax</a:t>
                      </a:r>
                      <a:r>
                        <a:rPr lang="en-GB" sz="1400" kern="1200" dirty="0">
                          <a:solidFill>
                            <a:schemeClr val="tx1"/>
                          </a:solidFill>
                          <a:latin typeface="+mn-lt"/>
                          <a:ea typeface="+mn-ea"/>
                          <a:cs typeface="Calibri"/>
                        </a:rPr>
                        <a:t>.</a:t>
                      </a:r>
                    </a:p>
                  </a:txBody>
                  <a:tcPr marL="108000" marR="144000" marT="80682" marB="80682">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pSp>
        <p:nvGrpSpPr>
          <p:cNvPr id="17" name="Group 16"/>
          <p:cNvGrpSpPr/>
          <p:nvPr/>
        </p:nvGrpSpPr>
        <p:grpSpPr>
          <a:xfrm>
            <a:off x="3477581" y="1506297"/>
            <a:ext cx="1285476" cy="1285476"/>
            <a:chOff x="3028781" y="1887884"/>
            <a:chExt cx="1285476" cy="1285476"/>
          </a:xfrm>
        </p:grpSpPr>
        <p:sp>
          <p:nvSpPr>
            <p:cNvPr id="18" name="Oval 17"/>
            <p:cNvSpPr>
              <a:spLocks noChangeAspect="1"/>
            </p:cNvSpPr>
            <p:nvPr/>
          </p:nvSpPr>
          <p:spPr>
            <a:xfrm>
              <a:off x="3028781" y="1887884"/>
              <a:ext cx="1285476" cy="1285476"/>
            </a:xfrm>
            <a:prstGeom prst="ellipse">
              <a:avLst/>
            </a:prstGeom>
            <a:solidFill>
              <a:srgbClr val="046A38"/>
            </a:solid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dirty="0"/>
            </a:p>
          </p:txBody>
        </p:sp>
        <p:sp>
          <p:nvSpPr>
            <p:cNvPr id="19" name="Freeform 263"/>
            <p:cNvSpPr>
              <a:spLocks noChangeAspect="1" noEditPoints="1"/>
            </p:cNvSpPr>
            <p:nvPr/>
          </p:nvSpPr>
          <p:spPr bwMode="auto">
            <a:xfrm>
              <a:off x="3391414" y="2207892"/>
              <a:ext cx="560209" cy="645459"/>
            </a:xfrm>
            <a:custGeom>
              <a:avLst/>
              <a:gdLst>
                <a:gd name="T0" fmla="*/ 267 w 277"/>
                <a:gd name="T1" fmla="*/ 128 h 320"/>
                <a:gd name="T2" fmla="*/ 149 w 277"/>
                <a:gd name="T3" fmla="*/ 128 h 320"/>
                <a:gd name="T4" fmla="*/ 149 w 277"/>
                <a:gd name="T5" fmla="*/ 106 h 320"/>
                <a:gd name="T6" fmla="*/ 224 w 277"/>
                <a:gd name="T7" fmla="*/ 106 h 320"/>
                <a:gd name="T8" fmla="*/ 230 w 277"/>
                <a:gd name="T9" fmla="*/ 104 h 320"/>
                <a:gd name="T10" fmla="*/ 273 w 277"/>
                <a:gd name="T11" fmla="*/ 72 h 320"/>
                <a:gd name="T12" fmla="*/ 277 w 277"/>
                <a:gd name="T13" fmla="*/ 64 h 320"/>
                <a:gd name="T14" fmla="*/ 273 w 277"/>
                <a:gd name="T15" fmla="*/ 55 h 320"/>
                <a:gd name="T16" fmla="*/ 230 w 277"/>
                <a:gd name="T17" fmla="*/ 23 h 320"/>
                <a:gd name="T18" fmla="*/ 224 w 277"/>
                <a:gd name="T19" fmla="*/ 21 h 320"/>
                <a:gd name="T20" fmla="*/ 149 w 277"/>
                <a:gd name="T21" fmla="*/ 21 h 320"/>
                <a:gd name="T22" fmla="*/ 149 w 277"/>
                <a:gd name="T23" fmla="*/ 10 h 320"/>
                <a:gd name="T24" fmla="*/ 139 w 277"/>
                <a:gd name="T25" fmla="*/ 0 h 320"/>
                <a:gd name="T26" fmla="*/ 128 w 277"/>
                <a:gd name="T27" fmla="*/ 10 h 320"/>
                <a:gd name="T28" fmla="*/ 128 w 277"/>
                <a:gd name="T29" fmla="*/ 21 h 320"/>
                <a:gd name="T30" fmla="*/ 11 w 277"/>
                <a:gd name="T31" fmla="*/ 21 h 320"/>
                <a:gd name="T32" fmla="*/ 0 w 277"/>
                <a:gd name="T33" fmla="*/ 32 h 320"/>
                <a:gd name="T34" fmla="*/ 0 w 277"/>
                <a:gd name="T35" fmla="*/ 96 h 320"/>
                <a:gd name="T36" fmla="*/ 11 w 277"/>
                <a:gd name="T37" fmla="*/ 106 h 320"/>
                <a:gd name="T38" fmla="*/ 128 w 277"/>
                <a:gd name="T39" fmla="*/ 106 h 320"/>
                <a:gd name="T40" fmla="*/ 128 w 277"/>
                <a:gd name="T41" fmla="*/ 128 h 320"/>
                <a:gd name="T42" fmla="*/ 53 w 277"/>
                <a:gd name="T43" fmla="*/ 128 h 320"/>
                <a:gd name="T44" fmla="*/ 47 w 277"/>
                <a:gd name="T45" fmla="*/ 130 h 320"/>
                <a:gd name="T46" fmla="*/ 4 w 277"/>
                <a:gd name="T47" fmla="*/ 162 h 320"/>
                <a:gd name="T48" fmla="*/ 0 w 277"/>
                <a:gd name="T49" fmla="*/ 170 h 320"/>
                <a:gd name="T50" fmla="*/ 4 w 277"/>
                <a:gd name="T51" fmla="*/ 179 h 320"/>
                <a:gd name="T52" fmla="*/ 47 w 277"/>
                <a:gd name="T53" fmla="*/ 211 h 320"/>
                <a:gd name="T54" fmla="*/ 53 w 277"/>
                <a:gd name="T55" fmla="*/ 213 h 320"/>
                <a:gd name="T56" fmla="*/ 128 w 277"/>
                <a:gd name="T57" fmla="*/ 213 h 320"/>
                <a:gd name="T58" fmla="*/ 128 w 277"/>
                <a:gd name="T59" fmla="*/ 309 h 320"/>
                <a:gd name="T60" fmla="*/ 139 w 277"/>
                <a:gd name="T61" fmla="*/ 320 h 320"/>
                <a:gd name="T62" fmla="*/ 149 w 277"/>
                <a:gd name="T63" fmla="*/ 309 h 320"/>
                <a:gd name="T64" fmla="*/ 149 w 277"/>
                <a:gd name="T65" fmla="*/ 213 h 320"/>
                <a:gd name="T66" fmla="*/ 267 w 277"/>
                <a:gd name="T67" fmla="*/ 213 h 320"/>
                <a:gd name="T68" fmla="*/ 277 w 277"/>
                <a:gd name="T69" fmla="*/ 202 h 320"/>
                <a:gd name="T70" fmla="*/ 277 w 277"/>
                <a:gd name="T71" fmla="*/ 138 h 320"/>
                <a:gd name="T72" fmla="*/ 267 w 277"/>
                <a:gd name="T73" fmla="*/ 128 h 320"/>
                <a:gd name="T74" fmla="*/ 21 w 277"/>
                <a:gd name="T75" fmla="*/ 85 h 320"/>
                <a:gd name="T76" fmla="*/ 21 w 277"/>
                <a:gd name="T77" fmla="*/ 42 h 320"/>
                <a:gd name="T78" fmla="*/ 220 w 277"/>
                <a:gd name="T79" fmla="*/ 42 h 320"/>
                <a:gd name="T80" fmla="*/ 249 w 277"/>
                <a:gd name="T81" fmla="*/ 64 h 320"/>
                <a:gd name="T82" fmla="*/ 220 w 277"/>
                <a:gd name="T83" fmla="*/ 85 h 320"/>
                <a:gd name="T84" fmla="*/ 21 w 277"/>
                <a:gd name="T85" fmla="*/ 85 h 320"/>
                <a:gd name="T86" fmla="*/ 256 w 277"/>
                <a:gd name="T87" fmla="*/ 192 h 320"/>
                <a:gd name="T88" fmla="*/ 57 w 277"/>
                <a:gd name="T89" fmla="*/ 192 h 320"/>
                <a:gd name="T90" fmla="*/ 28 w 277"/>
                <a:gd name="T91" fmla="*/ 170 h 320"/>
                <a:gd name="T92" fmla="*/ 57 w 277"/>
                <a:gd name="T93" fmla="*/ 149 h 320"/>
                <a:gd name="T94" fmla="*/ 256 w 277"/>
                <a:gd name="T95" fmla="*/ 149 h 320"/>
                <a:gd name="T96" fmla="*/ 256 w 277"/>
                <a:gd name="T97" fmla="*/ 19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7" h="320">
                  <a:moveTo>
                    <a:pt x="267" y="128"/>
                  </a:moveTo>
                  <a:cubicBezTo>
                    <a:pt x="149" y="128"/>
                    <a:pt x="149" y="128"/>
                    <a:pt x="149" y="128"/>
                  </a:cubicBezTo>
                  <a:cubicBezTo>
                    <a:pt x="149" y="106"/>
                    <a:pt x="149" y="106"/>
                    <a:pt x="149" y="106"/>
                  </a:cubicBezTo>
                  <a:cubicBezTo>
                    <a:pt x="224" y="106"/>
                    <a:pt x="224" y="106"/>
                    <a:pt x="224" y="106"/>
                  </a:cubicBezTo>
                  <a:cubicBezTo>
                    <a:pt x="226" y="106"/>
                    <a:pt x="229" y="106"/>
                    <a:pt x="230" y="104"/>
                  </a:cubicBezTo>
                  <a:cubicBezTo>
                    <a:pt x="273" y="72"/>
                    <a:pt x="273" y="72"/>
                    <a:pt x="273" y="72"/>
                  </a:cubicBezTo>
                  <a:cubicBezTo>
                    <a:pt x="276" y="70"/>
                    <a:pt x="277" y="67"/>
                    <a:pt x="277" y="64"/>
                  </a:cubicBezTo>
                  <a:cubicBezTo>
                    <a:pt x="277" y="60"/>
                    <a:pt x="276" y="57"/>
                    <a:pt x="273" y="55"/>
                  </a:cubicBezTo>
                  <a:cubicBezTo>
                    <a:pt x="230" y="23"/>
                    <a:pt x="230" y="23"/>
                    <a:pt x="230" y="23"/>
                  </a:cubicBezTo>
                  <a:cubicBezTo>
                    <a:pt x="229" y="22"/>
                    <a:pt x="226" y="21"/>
                    <a:pt x="224" y="21"/>
                  </a:cubicBezTo>
                  <a:cubicBezTo>
                    <a:pt x="149" y="21"/>
                    <a:pt x="149" y="21"/>
                    <a:pt x="149" y="21"/>
                  </a:cubicBezTo>
                  <a:cubicBezTo>
                    <a:pt x="149" y="10"/>
                    <a:pt x="149" y="10"/>
                    <a:pt x="149" y="10"/>
                  </a:cubicBezTo>
                  <a:cubicBezTo>
                    <a:pt x="149" y="4"/>
                    <a:pt x="145" y="0"/>
                    <a:pt x="139" y="0"/>
                  </a:cubicBezTo>
                  <a:cubicBezTo>
                    <a:pt x="133" y="0"/>
                    <a:pt x="128" y="4"/>
                    <a:pt x="128" y="10"/>
                  </a:cubicBezTo>
                  <a:cubicBezTo>
                    <a:pt x="128" y="21"/>
                    <a:pt x="128" y="21"/>
                    <a:pt x="128" y="21"/>
                  </a:cubicBezTo>
                  <a:cubicBezTo>
                    <a:pt x="11" y="21"/>
                    <a:pt x="11" y="21"/>
                    <a:pt x="11" y="21"/>
                  </a:cubicBezTo>
                  <a:cubicBezTo>
                    <a:pt x="5" y="21"/>
                    <a:pt x="0" y="26"/>
                    <a:pt x="0" y="32"/>
                  </a:cubicBezTo>
                  <a:cubicBezTo>
                    <a:pt x="0" y="96"/>
                    <a:pt x="0" y="96"/>
                    <a:pt x="0" y="96"/>
                  </a:cubicBezTo>
                  <a:cubicBezTo>
                    <a:pt x="0" y="102"/>
                    <a:pt x="5" y="106"/>
                    <a:pt x="11" y="106"/>
                  </a:cubicBezTo>
                  <a:cubicBezTo>
                    <a:pt x="128" y="106"/>
                    <a:pt x="128" y="106"/>
                    <a:pt x="128" y="106"/>
                  </a:cubicBezTo>
                  <a:cubicBezTo>
                    <a:pt x="128" y="128"/>
                    <a:pt x="128" y="128"/>
                    <a:pt x="128" y="128"/>
                  </a:cubicBezTo>
                  <a:cubicBezTo>
                    <a:pt x="53" y="128"/>
                    <a:pt x="53" y="128"/>
                    <a:pt x="53" y="128"/>
                  </a:cubicBezTo>
                  <a:cubicBezTo>
                    <a:pt x="51" y="128"/>
                    <a:pt x="49" y="128"/>
                    <a:pt x="47" y="130"/>
                  </a:cubicBezTo>
                  <a:cubicBezTo>
                    <a:pt x="4" y="162"/>
                    <a:pt x="4" y="162"/>
                    <a:pt x="4" y="162"/>
                  </a:cubicBezTo>
                  <a:cubicBezTo>
                    <a:pt x="2" y="164"/>
                    <a:pt x="0" y="167"/>
                    <a:pt x="0" y="170"/>
                  </a:cubicBezTo>
                  <a:cubicBezTo>
                    <a:pt x="0" y="174"/>
                    <a:pt x="2" y="177"/>
                    <a:pt x="4" y="179"/>
                  </a:cubicBezTo>
                  <a:cubicBezTo>
                    <a:pt x="47" y="211"/>
                    <a:pt x="47" y="211"/>
                    <a:pt x="47" y="211"/>
                  </a:cubicBezTo>
                  <a:cubicBezTo>
                    <a:pt x="49" y="212"/>
                    <a:pt x="51" y="213"/>
                    <a:pt x="53" y="213"/>
                  </a:cubicBezTo>
                  <a:cubicBezTo>
                    <a:pt x="128" y="213"/>
                    <a:pt x="128" y="213"/>
                    <a:pt x="128" y="213"/>
                  </a:cubicBezTo>
                  <a:cubicBezTo>
                    <a:pt x="128" y="309"/>
                    <a:pt x="128" y="309"/>
                    <a:pt x="128" y="309"/>
                  </a:cubicBezTo>
                  <a:cubicBezTo>
                    <a:pt x="128" y="315"/>
                    <a:pt x="133" y="320"/>
                    <a:pt x="139" y="320"/>
                  </a:cubicBezTo>
                  <a:cubicBezTo>
                    <a:pt x="145" y="320"/>
                    <a:pt x="149" y="315"/>
                    <a:pt x="149" y="309"/>
                  </a:cubicBezTo>
                  <a:cubicBezTo>
                    <a:pt x="149" y="213"/>
                    <a:pt x="149" y="213"/>
                    <a:pt x="149" y="213"/>
                  </a:cubicBezTo>
                  <a:cubicBezTo>
                    <a:pt x="267" y="213"/>
                    <a:pt x="267" y="213"/>
                    <a:pt x="267" y="213"/>
                  </a:cubicBezTo>
                  <a:cubicBezTo>
                    <a:pt x="273" y="213"/>
                    <a:pt x="277" y="208"/>
                    <a:pt x="277" y="202"/>
                  </a:cubicBezTo>
                  <a:cubicBezTo>
                    <a:pt x="277" y="138"/>
                    <a:pt x="277" y="138"/>
                    <a:pt x="277" y="138"/>
                  </a:cubicBezTo>
                  <a:cubicBezTo>
                    <a:pt x="277" y="132"/>
                    <a:pt x="273" y="128"/>
                    <a:pt x="267" y="128"/>
                  </a:cubicBezTo>
                  <a:close/>
                  <a:moveTo>
                    <a:pt x="21" y="85"/>
                  </a:moveTo>
                  <a:cubicBezTo>
                    <a:pt x="21" y="42"/>
                    <a:pt x="21" y="42"/>
                    <a:pt x="21" y="42"/>
                  </a:cubicBezTo>
                  <a:cubicBezTo>
                    <a:pt x="220" y="42"/>
                    <a:pt x="220" y="42"/>
                    <a:pt x="220" y="42"/>
                  </a:cubicBezTo>
                  <a:cubicBezTo>
                    <a:pt x="249" y="64"/>
                    <a:pt x="249" y="64"/>
                    <a:pt x="249" y="64"/>
                  </a:cubicBezTo>
                  <a:cubicBezTo>
                    <a:pt x="220" y="85"/>
                    <a:pt x="220" y="85"/>
                    <a:pt x="220" y="85"/>
                  </a:cubicBezTo>
                  <a:lnTo>
                    <a:pt x="21" y="85"/>
                  </a:lnTo>
                  <a:close/>
                  <a:moveTo>
                    <a:pt x="256" y="192"/>
                  </a:moveTo>
                  <a:cubicBezTo>
                    <a:pt x="57" y="192"/>
                    <a:pt x="57" y="192"/>
                    <a:pt x="57" y="192"/>
                  </a:cubicBezTo>
                  <a:cubicBezTo>
                    <a:pt x="28" y="170"/>
                    <a:pt x="28" y="170"/>
                    <a:pt x="28" y="170"/>
                  </a:cubicBezTo>
                  <a:cubicBezTo>
                    <a:pt x="57" y="149"/>
                    <a:pt x="57" y="149"/>
                    <a:pt x="57" y="149"/>
                  </a:cubicBezTo>
                  <a:cubicBezTo>
                    <a:pt x="256" y="149"/>
                    <a:pt x="256" y="149"/>
                    <a:pt x="256" y="149"/>
                  </a:cubicBezTo>
                  <a:lnTo>
                    <a:pt x="256" y="192"/>
                  </a:lnTo>
                  <a:close/>
                </a:path>
              </a:pathLst>
            </a:custGeom>
            <a:solidFill>
              <a:schemeClr val="bg1"/>
            </a:solidFill>
            <a:ln>
              <a:solidFill>
                <a:srgbClr val="FFFF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80682" tIns="40341" rIns="80682" bIns="40341" numCol="1" anchor="t" anchorCtr="0" compatLnSpc="1">
              <a:prstTxWarp prst="textNoShape">
                <a:avLst/>
              </a:prstTxWarp>
            </a:bodyPr>
            <a:lstStyle/>
            <a:p>
              <a:pPr defTabSz="806867">
                <a:defRPr/>
              </a:pPr>
              <a:endParaRPr lang="en-GB" sz="706" kern="0" dirty="0">
                <a:solidFill>
                  <a:prstClr val="black"/>
                </a:solidFill>
                <a:latin typeface="Verdana"/>
              </a:endParaRPr>
            </a:p>
          </p:txBody>
        </p:sp>
      </p:grpSp>
      <p:grpSp>
        <p:nvGrpSpPr>
          <p:cNvPr id="20" name="Group 19"/>
          <p:cNvGrpSpPr/>
          <p:nvPr/>
        </p:nvGrpSpPr>
        <p:grpSpPr>
          <a:xfrm>
            <a:off x="5925581" y="1506297"/>
            <a:ext cx="1285476" cy="1285476"/>
            <a:chOff x="4671593" y="1887884"/>
            <a:chExt cx="1285476" cy="1285476"/>
          </a:xfrm>
        </p:grpSpPr>
        <p:sp>
          <p:nvSpPr>
            <p:cNvPr id="21" name="Oval 20"/>
            <p:cNvSpPr>
              <a:spLocks noChangeAspect="1"/>
            </p:cNvSpPr>
            <p:nvPr/>
          </p:nvSpPr>
          <p:spPr>
            <a:xfrm>
              <a:off x="4671593" y="1887884"/>
              <a:ext cx="1285476" cy="1285476"/>
            </a:xfrm>
            <a:prstGeom prst="ellipse">
              <a:avLst/>
            </a:prstGeom>
            <a:solidFill>
              <a:srgbClr val="046A38"/>
            </a:solid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dirty="0"/>
            </a:p>
          </p:txBody>
        </p:sp>
        <p:sp>
          <p:nvSpPr>
            <p:cNvPr id="22" name="Freeform 21"/>
            <p:cNvSpPr>
              <a:spLocks noChangeAspect="1" noEditPoints="1"/>
            </p:cNvSpPr>
            <p:nvPr/>
          </p:nvSpPr>
          <p:spPr bwMode="auto">
            <a:xfrm>
              <a:off x="4923494" y="2226681"/>
              <a:ext cx="782272" cy="645459"/>
            </a:xfrm>
            <a:custGeom>
              <a:avLst/>
              <a:gdLst>
                <a:gd name="T0" fmla="*/ 61 w 94"/>
                <a:gd name="T1" fmla="*/ 22 h 78"/>
                <a:gd name="T2" fmla="*/ 61 w 94"/>
                <a:gd name="T3" fmla="*/ 22 h 78"/>
                <a:gd name="T4" fmla="*/ 47 w 94"/>
                <a:gd name="T5" fmla="*/ 35 h 78"/>
                <a:gd name="T6" fmla="*/ 34 w 94"/>
                <a:gd name="T7" fmla="*/ 22 h 78"/>
                <a:gd name="T8" fmla="*/ 47 w 94"/>
                <a:gd name="T9" fmla="*/ 8 h 78"/>
                <a:gd name="T10" fmla="*/ 61 w 94"/>
                <a:gd name="T11" fmla="*/ 22 h 78"/>
                <a:gd name="T12" fmla="*/ 56 w 94"/>
                <a:gd name="T13" fmla="*/ 38 h 78"/>
                <a:gd name="T14" fmla="*/ 56 w 94"/>
                <a:gd name="T15" fmla="*/ 38 h 78"/>
                <a:gd name="T16" fmla="*/ 47 w 94"/>
                <a:gd name="T17" fmla="*/ 47 h 78"/>
                <a:gd name="T18" fmla="*/ 39 w 94"/>
                <a:gd name="T19" fmla="*/ 38 h 78"/>
                <a:gd name="T20" fmla="*/ 24 w 94"/>
                <a:gd name="T21" fmla="*/ 63 h 78"/>
                <a:gd name="T22" fmla="*/ 24 w 94"/>
                <a:gd name="T23" fmla="*/ 68 h 78"/>
                <a:gd name="T24" fmla="*/ 48 w 94"/>
                <a:gd name="T25" fmla="*/ 78 h 78"/>
                <a:gd name="T26" fmla="*/ 71 w 94"/>
                <a:gd name="T27" fmla="*/ 68 h 78"/>
                <a:gd name="T28" fmla="*/ 71 w 94"/>
                <a:gd name="T29" fmla="*/ 63 h 78"/>
                <a:gd name="T30" fmla="*/ 56 w 94"/>
                <a:gd name="T31" fmla="*/ 38 h 78"/>
                <a:gd name="T32" fmla="*/ 72 w 94"/>
                <a:gd name="T33" fmla="*/ 0 h 78"/>
                <a:gd name="T34" fmla="*/ 72 w 94"/>
                <a:gd name="T35" fmla="*/ 0 h 78"/>
                <a:gd name="T36" fmla="*/ 60 w 94"/>
                <a:gd name="T37" fmla="*/ 9 h 78"/>
                <a:gd name="T38" fmla="*/ 66 w 94"/>
                <a:gd name="T39" fmla="*/ 22 h 78"/>
                <a:gd name="T40" fmla="*/ 66 w 94"/>
                <a:gd name="T41" fmla="*/ 22 h 78"/>
                <a:gd name="T42" fmla="*/ 72 w 94"/>
                <a:gd name="T43" fmla="*/ 24 h 78"/>
                <a:gd name="T44" fmla="*/ 85 w 94"/>
                <a:gd name="T45" fmla="*/ 12 h 78"/>
                <a:gd name="T46" fmla="*/ 72 w 94"/>
                <a:gd name="T47" fmla="*/ 0 h 78"/>
                <a:gd name="T48" fmla="*/ 29 w 94"/>
                <a:gd name="T49" fmla="*/ 22 h 78"/>
                <a:gd name="T50" fmla="*/ 29 w 94"/>
                <a:gd name="T51" fmla="*/ 22 h 78"/>
                <a:gd name="T52" fmla="*/ 34 w 94"/>
                <a:gd name="T53" fmla="*/ 9 h 78"/>
                <a:gd name="T54" fmla="*/ 22 w 94"/>
                <a:gd name="T55" fmla="*/ 0 h 78"/>
                <a:gd name="T56" fmla="*/ 9 w 94"/>
                <a:gd name="T57" fmla="*/ 12 h 78"/>
                <a:gd name="T58" fmla="*/ 22 w 94"/>
                <a:gd name="T59" fmla="*/ 24 h 78"/>
                <a:gd name="T60" fmla="*/ 29 w 94"/>
                <a:gd name="T61" fmla="*/ 22 h 78"/>
                <a:gd name="T62" fmla="*/ 29 w 94"/>
                <a:gd name="T63" fmla="*/ 22 h 78"/>
                <a:gd name="T64" fmla="*/ 80 w 94"/>
                <a:gd name="T65" fmla="*/ 27 h 78"/>
                <a:gd name="T66" fmla="*/ 80 w 94"/>
                <a:gd name="T67" fmla="*/ 27 h 78"/>
                <a:gd name="T68" fmla="*/ 72 w 94"/>
                <a:gd name="T69" fmla="*/ 36 h 78"/>
                <a:gd name="T70" fmla="*/ 65 w 94"/>
                <a:gd name="T71" fmla="*/ 27 h 78"/>
                <a:gd name="T72" fmla="*/ 60 w 94"/>
                <a:gd name="T73" fmla="*/ 34 h 78"/>
                <a:gd name="T74" fmla="*/ 76 w 94"/>
                <a:gd name="T75" fmla="*/ 63 h 78"/>
                <a:gd name="T76" fmla="*/ 76 w 94"/>
                <a:gd name="T77" fmla="*/ 64 h 78"/>
                <a:gd name="T78" fmla="*/ 94 w 94"/>
                <a:gd name="T79" fmla="*/ 55 h 78"/>
                <a:gd name="T80" fmla="*/ 94 w 94"/>
                <a:gd name="T81" fmla="*/ 50 h 78"/>
                <a:gd name="T82" fmla="*/ 80 w 94"/>
                <a:gd name="T83" fmla="*/ 27 h 78"/>
                <a:gd name="T84" fmla="*/ 19 w 94"/>
                <a:gd name="T85" fmla="*/ 63 h 78"/>
                <a:gd name="T86" fmla="*/ 19 w 94"/>
                <a:gd name="T87" fmla="*/ 63 h 78"/>
                <a:gd name="T88" fmla="*/ 34 w 94"/>
                <a:gd name="T89" fmla="*/ 35 h 78"/>
                <a:gd name="T90" fmla="*/ 30 w 94"/>
                <a:gd name="T91" fmla="*/ 27 h 78"/>
                <a:gd name="T92" fmla="*/ 29 w 94"/>
                <a:gd name="T93" fmla="*/ 27 h 78"/>
                <a:gd name="T94" fmla="*/ 22 w 94"/>
                <a:gd name="T95" fmla="*/ 36 h 78"/>
                <a:gd name="T96" fmla="*/ 14 w 94"/>
                <a:gd name="T97" fmla="*/ 27 h 78"/>
                <a:gd name="T98" fmla="*/ 0 w 94"/>
                <a:gd name="T99" fmla="*/ 50 h 78"/>
                <a:gd name="T100" fmla="*/ 0 w 94"/>
                <a:gd name="T101" fmla="*/ 55 h 78"/>
                <a:gd name="T102" fmla="*/ 19 w 94"/>
                <a:gd name="T103" fmla="*/ 64 h 78"/>
                <a:gd name="T104" fmla="*/ 19 w 94"/>
                <a:gd name="T105" fmla="*/ 63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4" h="78">
                  <a:moveTo>
                    <a:pt x="61" y="22"/>
                  </a:moveTo>
                  <a:cubicBezTo>
                    <a:pt x="61" y="22"/>
                    <a:pt x="61" y="22"/>
                    <a:pt x="61" y="22"/>
                  </a:cubicBezTo>
                  <a:cubicBezTo>
                    <a:pt x="61" y="29"/>
                    <a:pt x="55" y="35"/>
                    <a:pt x="47" y="35"/>
                  </a:cubicBezTo>
                  <a:cubicBezTo>
                    <a:pt x="40" y="35"/>
                    <a:pt x="34" y="29"/>
                    <a:pt x="34" y="22"/>
                  </a:cubicBezTo>
                  <a:cubicBezTo>
                    <a:pt x="34" y="14"/>
                    <a:pt x="40" y="8"/>
                    <a:pt x="47" y="8"/>
                  </a:cubicBezTo>
                  <a:cubicBezTo>
                    <a:pt x="55" y="8"/>
                    <a:pt x="61" y="14"/>
                    <a:pt x="61" y="22"/>
                  </a:cubicBezTo>
                  <a:close/>
                  <a:moveTo>
                    <a:pt x="56" y="38"/>
                  </a:moveTo>
                  <a:cubicBezTo>
                    <a:pt x="56" y="38"/>
                    <a:pt x="56" y="38"/>
                    <a:pt x="56" y="38"/>
                  </a:cubicBezTo>
                  <a:cubicBezTo>
                    <a:pt x="47" y="47"/>
                    <a:pt x="47" y="47"/>
                    <a:pt x="47" y="47"/>
                  </a:cubicBezTo>
                  <a:cubicBezTo>
                    <a:pt x="39" y="38"/>
                    <a:pt x="39" y="38"/>
                    <a:pt x="39" y="38"/>
                  </a:cubicBezTo>
                  <a:cubicBezTo>
                    <a:pt x="30" y="42"/>
                    <a:pt x="24" y="51"/>
                    <a:pt x="24" y="63"/>
                  </a:cubicBezTo>
                  <a:cubicBezTo>
                    <a:pt x="24" y="65"/>
                    <a:pt x="24" y="66"/>
                    <a:pt x="24" y="68"/>
                  </a:cubicBezTo>
                  <a:cubicBezTo>
                    <a:pt x="29" y="74"/>
                    <a:pt x="38" y="78"/>
                    <a:pt x="48" y="78"/>
                  </a:cubicBezTo>
                  <a:cubicBezTo>
                    <a:pt x="57" y="78"/>
                    <a:pt x="66" y="74"/>
                    <a:pt x="71" y="68"/>
                  </a:cubicBezTo>
                  <a:cubicBezTo>
                    <a:pt x="71" y="66"/>
                    <a:pt x="71" y="65"/>
                    <a:pt x="71" y="63"/>
                  </a:cubicBezTo>
                  <a:cubicBezTo>
                    <a:pt x="71" y="51"/>
                    <a:pt x="65" y="42"/>
                    <a:pt x="56" y="38"/>
                  </a:cubicBezTo>
                  <a:close/>
                  <a:moveTo>
                    <a:pt x="72" y="0"/>
                  </a:moveTo>
                  <a:cubicBezTo>
                    <a:pt x="72" y="0"/>
                    <a:pt x="72" y="0"/>
                    <a:pt x="72" y="0"/>
                  </a:cubicBezTo>
                  <a:cubicBezTo>
                    <a:pt x="66" y="0"/>
                    <a:pt x="62" y="3"/>
                    <a:pt x="60" y="9"/>
                  </a:cubicBezTo>
                  <a:cubicBezTo>
                    <a:pt x="64" y="12"/>
                    <a:pt x="66" y="17"/>
                    <a:pt x="66" y="22"/>
                  </a:cubicBezTo>
                  <a:cubicBezTo>
                    <a:pt x="66" y="22"/>
                    <a:pt x="66" y="22"/>
                    <a:pt x="66" y="22"/>
                  </a:cubicBezTo>
                  <a:cubicBezTo>
                    <a:pt x="68" y="23"/>
                    <a:pt x="70" y="24"/>
                    <a:pt x="72" y="24"/>
                  </a:cubicBezTo>
                  <a:cubicBezTo>
                    <a:pt x="79" y="24"/>
                    <a:pt x="85" y="19"/>
                    <a:pt x="85" y="12"/>
                  </a:cubicBezTo>
                  <a:cubicBezTo>
                    <a:pt x="85" y="5"/>
                    <a:pt x="79" y="0"/>
                    <a:pt x="72" y="0"/>
                  </a:cubicBezTo>
                  <a:close/>
                  <a:moveTo>
                    <a:pt x="29" y="22"/>
                  </a:moveTo>
                  <a:cubicBezTo>
                    <a:pt x="29" y="22"/>
                    <a:pt x="29" y="22"/>
                    <a:pt x="29" y="22"/>
                  </a:cubicBezTo>
                  <a:cubicBezTo>
                    <a:pt x="29" y="17"/>
                    <a:pt x="31" y="13"/>
                    <a:pt x="34" y="9"/>
                  </a:cubicBezTo>
                  <a:cubicBezTo>
                    <a:pt x="33" y="4"/>
                    <a:pt x="28" y="0"/>
                    <a:pt x="22" y="0"/>
                  </a:cubicBezTo>
                  <a:cubicBezTo>
                    <a:pt x="15" y="0"/>
                    <a:pt x="9" y="5"/>
                    <a:pt x="9" y="12"/>
                  </a:cubicBezTo>
                  <a:cubicBezTo>
                    <a:pt x="9" y="19"/>
                    <a:pt x="15" y="24"/>
                    <a:pt x="22" y="24"/>
                  </a:cubicBezTo>
                  <a:cubicBezTo>
                    <a:pt x="24" y="24"/>
                    <a:pt x="27" y="23"/>
                    <a:pt x="29" y="22"/>
                  </a:cubicBezTo>
                  <a:cubicBezTo>
                    <a:pt x="29" y="22"/>
                    <a:pt x="29" y="22"/>
                    <a:pt x="29" y="22"/>
                  </a:cubicBezTo>
                  <a:close/>
                  <a:moveTo>
                    <a:pt x="80" y="27"/>
                  </a:moveTo>
                  <a:cubicBezTo>
                    <a:pt x="80" y="27"/>
                    <a:pt x="80" y="27"/>
                    <a:pt x="80" y="27"/>
                  </a:cubicBezTo>
                  <a:cubicBezTo>
                    <a:pt x="72" y="36"/>
                    <a:pt x="72" y="36"/>
                    <a:pt x="72" y="36"/>
                  </a:cubicBezTo>
                  <a:cubicBezTo>
                    <a:pt x="65" y="27"/>
                    <a:pt x="65" y="27"/>
                    <a:pt x="65" y="27"/>
                  </a:cubicBezTo>
                  <a:cubicBezTo>
                    <a:pt x="64" y="30"/>
                    <a:pt x="62" y="32"/>
                    <a:pt x="60" y="34"/>
                  </a:cubicBezTo>
                  <a:cubicBezTo>
                    <a:pt x="70" y="40"/>
                    <a:pt x="76" y="51"/>
                    <a:pt x="76" y="63"/>
                  </a:cubicBezTo>
                  <a:cubicBezTo>
                    <a:pt x="76" y="63"/>
                    <a:pt x="76" y="64"/>
                    <a:pt x="76" y="64"/>
                  </a:cubicBezTo>
                  <a:cubicBezTo>
                    <a:pt x="84" y="63"/>
                    <a:pt x="90" y="60"/>
                    <a:pt x="94" y="55"/>
                  </a:cubicBezTo>
                  <a:cubicBezTo>
                    <a:pt x="94" y="53"/>
                    <a:pt x="94" y="52"/>
                    <a:pt x="94" y="50"/>
                  </a:cubicBezTo>
                  <a:cubicBezTo>
                    <a:pt x="94" y="39"/>
                    <a:pt x="88" y="30"/>
                    <a:pt x="80" y="27"/>
                  </a:cubicBezTo>
                  <a:close/>
                  <a:moveTo>
                    <a:pt x="19" y="63"/>
                  </a:moveTo>
                  <a:cubicBezTo>
                    <a:pt x="19" y="63"/>
                    <a:pt x="19" y="63"/>
                    <a:pt x="19" y="63"/>
                  </a:cubicBezTo>
                  <a:cubicBezTo>
                    <a:pt x="19" y="51"/>
                    <a:pt x="25" y="40"/>
                    <a:pt x="34" y="35"/>
                  </a:cubicBezTo>
                  <a:cubicBezTo>
                    <a:pt x="32" y="32"/>
                    <a:pt x="30" y="30"/>
                    <a:pt x="30" y="27"/>
                  </a:cubicBezTo>
                  <a:cubicBezTo>
                    <a:pt x="29" y="27"/>
                    <a:pt x="29" y="27"/>
                    <a:pt x="29" y="27"/>
                  </a:cubicBezTo>
                  <a:cubicBezTo>
                    <a:pt x="22" y="36"/>
                    <a:pt x="22" y="36"/>
                    <a:pt x="22" y="36"/>
                  </a:cubicBezTo>
                  <a:cubicBezTo>
                    <a:pt x="14" y="27"/>
                    <a:pt x="14" y="27"/>
                    <a:pt x="14" y="27"/>
                  </a:cubicBezTo>
                  <a:cubicBezTo>
                    <a:pt x="6" y="30"/>
                    <a:pt x="0" y="39"/>
                    <a:pt x="0" y="50"/>
                  </a:cubicBezTo>
                  <a:cubicBezTo>
                    <a:pt x="0" y="52"/>
                    <a:pt x="0" y="53"/>
                    <a:pt x="0" y="55"/>
                  </a:cubicBezTo>
                  <a:cubicBezTo>
                    <a:pt x="4" y="60"/>
                    <a:pt x="11" y="63"/>
                    <a:pt x="19" y="64"/>
                  </a:cubicBezTo>
                  <a:cubicBezTo>
                    <a:pt x="19" y="64"/>
                    <a:pt x="19" y="63"/>
                    <a:pt x="19" y="63"/>
                  </a:cubicBezTo>
                  <a:close/>
                </a:path>
              </a:pathLst>
            </a:custGeom>
            <a:solidFill>
              <a:schemeClr val="bg1"/>
            </a:solidFill>
            <a:ln w="38100">
              <a:solidFill>
                <a:schemeClr val="accent5"/>
              </a:solidFill>
            </a:ln>
          </p:spPr>
          <p:txBody>
            <a:bodyPr vert="horz" wrap="square" lIns="80682" tIns="40341" rIns="80682" bIns="40341" numCol="1" anchor="t" anchorCtr="0" compatLnSpc="1">
              <a:prstTxWarp prst="textNoShape">
                <a:avLst/>
              </a:prstTxWarp>
            </a:bodyPr>
            <a:lstStyle/>
            <a:p>
              <a:endParaRPr lang="en-US" sz="706" dirty="0"/>
            </a:p>
          </p:txBody>
        </p:sp>
      </p:grpSp>
      <p:grpSp>
        <p:nvGrpSpPr>
          <p:cNvPr id="23" name="Group 22"/>
          <p:cNvGrpSpPr/>
          <p:nvPr/>
        </p:nvGrpSpPr>
        <p:grpSpPr>
          <a:xfrm>
            <a:off x="8373581" y="1506297"/>
            <a:ext cx="1285476" cy="1285476"/>
            <a:chOff x="7957217" y="1887884"/>
            <a:chExt cx="1285476" cy="1285476"/>
          </a:xfrm>
        </p:grpSpPr>
        <p:sp>
          <p:nvSpPr>
            <p:cNvPr id="24" name="Oval 23"/>
            <p:cNvSpPr>
              <a:spLocks noChangeAspect="1"/>
            </p:cNvSpPr>
            <p:nvPr/>
          </p:nvSpPr>
          <p:spPr>
            <a:xfrm>
              <a:off x="7957217" y="1887884"/>
              <a:ext cx="1285476" cy="1285476"/>
            </a:xfrm>
            <a:prstGeom prst="ellipse">
              <a:avLst/>
            </a:prstGeom>
            <a:solidFill>
              <a:srgbClr val="046A3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88" dirty="0"/>
            </a:p>
          </p:txBody>
        </p:sp>
        <p:grpSp>
          <p:nvGrpSpPr>
            <p:cNvPr id="25" name="Group 24"/>
            <p:cNvGrpSpPr>
              <a:grpSpLocks noChangeAspect="1"/>
            </p:cNvGrpSpPr>
            <p:nvPr/>
          </p:nvGrpSpPr>
          <p:grpSpPr>
            <a:xfrm>
              <a:off x="8153895" y="2288574"/>
              <a:ext cx="892120" cy="484094"/>
              <a:chOff x="6278563" y="6364288"/>
              <a:chExt cx="1228725" cy="666750"/>
            </a:xfrm>
            <a:solidFill>
              <a:schemeClr val="tx1"/>
            </a:solidFill>
          </p:grpSpPr>
          <p:sp>
            <p:nvSpPr>
              <p:cNvPr id="26" name="Freeform 9"/>
              <p:cNvSpPr>
                <a:spLocks noEditPoints="1"/>
              </p:cNvSpPr>
              <p:nvPr/>
            </p:nvSpPr>
            <p:spPr bwMode="auto">
              <a:xfrm>
                <a:off x="6438901" y="6669088"/>
                <a:ext cx="954088" cy="361950"/>
              </a:xfrm>
              <a:custGeom>
                <a:avLst/>
                <a:gdLst>
                  <a:gd name="T0" fmla="*/ 0 w 232"/>
                  <a:gd name="T1" fmla="*/ 0 h 88"/>
                  <a:gd name="T2" fmla="*/ 0 w 232"/>
                  <a:gd name="T3" fmla="*/ 18 h 88"/>
                  <a:gd name="T4" fmla="*/ 106 w 232"/>
                  <a:gd name="T5" fmla="*/ 18 h 88"/>
                  <a:gd name="T6" fmla="*/ 106 w 232"/>
                  <a:gd name="T7" fmla="*/ 9 h 88"/>
                  <a:gd name="T8" fmla="*/ 108 w 232"/>
                  <a:gd name="T9" fmla="*/ 8 h 88"/>
                  <a:gd name="T10" fmla="*/ 123 w 232"/>
                  <a:gd name="T11" fmla="*/ 8 h 88"/>
                  <a:gd name="T12" fmla="*/ 125 w 232"/>
                  <a:gd name="T13" fmla="*/ 9 h 88"/>
                  <a:gd name="T14" fmla="*/ 125 w 232"/>
                  <a:gd name="T15" fmla="*/ 18 h 88"/>
                  <a:gd name="T16" fmla="*/ 232 w 232"/>
                  <a:gd name="T17" fmla="*/ 18 h 88"/>
                  <a:gd name="T18" fmla="*/ 232 w 232"/>
                  <a:gd name="T19" fmla="*/ 0 h 88"/>
                  <a:gd name="T20" fmla="*/ 0 w 232"/>
                  <a:gd name="T21" fmla="*/ 0 h 88"/>
                  <a:gd name="T22" fmla="*/ 109 w 232"/>
                  <a:gd name="T23" fmla="*/ 10 h 88"/>
                  <a:gd name="T24" fmla="*/ 109 w 232"/>
                  <a:gd name="T25" fmla="*/ 31 h 88"/>
                  <a:gd name="T26" fmla="*/ 115 w 232"/>
                  <a:gd name="T27" fmla="*/ 39 h 88"/>
                  <a:gd name="T28" fmla="*/ 122 w 232"/>
                  <a:gd name="T29" fmla="*/ 31 h 88"/>
                  <a:gd name="T30" fmla="*/ 122 w 232"/>
                  <a:gd name="T31" fmla="*/ 10 h 88"/>
                  <a:gd name="T32" fmla="*/ 109 w 232"/>
                  <a:gd name="T33" fmla="*/ 10 h 88"/>
                  <a:gd name="T34" fmla="*/ 0 w 232"/>
                  <a:gd name="T35" fmla="*/ 21 h 88"/>
                  <a:gd name="T36" fmla="*/ 0 w 232"/>
                  <a:gd name="T37" fmla="*/ 88 h 88"/>
                  <a:gd name="T38" fmla="*/ 232 w 232"/>
                  <a:gd name="T39" fmla="*/ 88 h 88"/>
                  <a:gd name="T40" fmla="*/ 232 w 232"/>
                  <a:gd name="T41" fmla="*/ 21 h 88"/>
                  <a:gd name="T42" fmla="*/ 125 w 232"/>
                  <a:gd name="T43" fmla="*/ 21 h 88"/>
                  <a:gd name="T44" fmla="*/ 125 w 232"/>
                  <a:gd name="T45" fmla="*/ 31 h 88"/>
                  <a:gd name="T46" fmla="*/ 115 w 232"/>
                  <a:gd name="T47" fmla="*/ 42 h 88"/>
                  <a:gd name="T48" fmla="*/ 106 w 232"/>
                  <a:gd name="T49" fmla="*/ 31 h 88"/>
                  <a:gd name="T50" fmla="*/ 106 w 232"/>
                  <a:gd name="T51" fmla="*/ 21 h 88"/>
                  <a:gd name="T52" fmla="*/ 0 w 232"/>
                  <a:gd name="T53" fmla="*/ 21 h 88"/>
                  <a:gd name="T54" fmla="*/ 115 w 232"/>
                  <a:gd name="T55" fmla="*/ 22 h 88"/>
                  <a:gd name="T56" fmla="*/ 117 w 232"/>
                  <a:gd name="T57" fmla="*/ 23 h 88"/>
                  <a:gd name="T58" fmla="*/ 117 w 232"/>
                  <a:gd name="T59" fmla="*/ 24 h 88"/>
                  <a:gd name="T60" fmla="*/ 117 w 232"/>
                  <a:gd name="T61" fmla="*/ 33 h 88"/>
                  <a:gd name="T62" fmla="*/ 116 w 232"/>
                  <a:gd name="T63" fmla="*/ 35 h 88"/>
                  <a:gd name="T64" fmla="*/ 115 w 232"/>
                  <a:gd name="T65" fmla="*/ 35 h 88"/>
                  <a:gd name="T66" fmla="*/ 114 w 232"/>
                  <a:gd name="T67" fmla="*/ 33 h 88"/>
                  <a:gd name="T68" fmla="*/ 114 w 232"/>
                  <a:gd name="T69" fmla="*/ 24 h 88"/>
                  <a:gd name="T70" fmla="*/ 115 w 232"/>
                  <a:gd name="T71" fmla="*/ 22 h 88"/>
                  <a:gd name="T72" fmla="*/ 10 w 232"/>
                  <a:gd name="T73" fmla="*/ 56 h 88"/>
                  <a:gd name="T74" fmla="*/ 221 w 232"/>
                  <a:gd name="T75" fmla="*/ 56 h 88"/>
                  <a:gd name="T76" fmla="*/ 223 w 232"/>
                  <a:gd name="T77" fmla="*/ 57 h 88"/>
                  <a:gd name="T78" fmla="*/ 223 w 232"/>
                  <a:gd name="T79" fmla="*/ 77 h 88"/>
                  <a:gd name="T80" fmla="*/ 221 w 232"/>
                  <a:gd name="T81" fmla="*/ 79 h 88"/>
                  <a:gd name="T82" fmla="*/ 10 w 232"/>
                  <a:gd name="T83" fmla="*/ 79 h 88"/>
                  <a:gd name="T84" fmla="*/ 8 w 232"/>
                  <a:gd name="T85" fmla="*/ 77 h 88"/>
                  <a:gd name="T86" fmla="*/ 8 w 232"/>
                  <a:gd name="T87" fmla="*/ 57 h 88"/>
                  <a:gd name="T88" fmla="*/ 10 w 232"/>
                  <a:gd name="T89" fmla="*/ 56 h 88"/>
                  <a:gd name="T90" fmla="*/ 12 w 232"/>
                  <a:gd name="T91" fmla="*/ 59 h 88"/>
                  <a:gd name="T92" fmla="*/ 12 w 232"/>
                  <a:gd name="T93" fmla="*/ 75 h 88"/>
                  <a:gd name="T94" fmla="*/ 219 w 232"/>
                  <a:gd name="T95" fmla="*/ 75 h 88"/>
                  <a:gd name="T96" fmla="*/ 219 w 232"/>
                  <a:gd name="T97" fmla="*/ 59 h 88"/>
                  <a:gd name="T98" fmla="*/ 12 w 232"/>
                  <a:gd name="T99" fmla="*/ 59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2" h="88">
                    <a:moveTo>
                      <a:pt x="0" y="0"/>
                    </a:moveTo>
                    <a:cubicBezTo>
                      <a:pt x="0" y="18"/>
                      <a:pt x="0" y="18"/>
                      <a:pt x="0" y="18"/>
                    </a:cubicBezTo>
                    <a:cubicBezTo>
                      <a:pt x="106" y="18"/>
                      <a:pt x="106" y="18"/>
                      <a:pt x="106" y="18"/>
                    </a:cubicBezTo>
                    <a:cubicBezTo>
                      <a:pt x="106" y="9"/>
                      <a:pt x="106" y="9"/>
                      <a:pt x="106" y="9"/>
                    </a:cubicBezTo>
                    <a:cubicBezTo>
                      <a:pt x="106" y="8"/>
                      <a:pt x="107" y="8"/>
                      <a:pt x="108" y="8"/>
                    </a:cubicBezTo>
                    <a:cubicBezTo>
                      <a:pt x="123" y="8"/>
                      <a:pt x="123" y="8"/>
                      <a:pt x="123" y="8"/>
                    </a:cubicBezTo>
                    <a:cubicBezTo>
                      <a:pt x="124" y="8"/>
                      <a:pt x="125" y="8"/>
                      <a:pt x="125" y="9"/>
                    </a:cubicBezTo>
                    <a:cubicBezTo>
                      <a:pt x="125" y="18"/>
                      <a:pt x="125" y="18"/>
                      <a:pt x="125" y="18"/>
                    </a:cubicBezTo>
                    <a:cubicBezTo>
                      <a:pt x="232" y="18"/>
                      <a:pt x="232" y="18"/>
                      <a:pt x="232" y="18"/>
                    </a:cubicBezTo>
                    <a:cubicBezTo>
                      <a:pt x="232" y="0"/>
                      <a:pt x="232" y="0"/>
                      <a:pt x="232" y="0"/>
                    </a:cubicBezTo>
                    <a:lnTo>
                      <a:pt x="0" y="0"/>
                    </a:lnTo>
                    <a:close/>
                    <a:moveTo>
                      <a:pt x="109" y="10"/>
                    </a:moveTo>
                    <a:cubicBezTo>
                      <a:pt x="109" y="31"/>
                      <a:pt x="109" y="31"/>
                      <a:pt x="109" y="31"/>
                    </a:cubicBezTo>
                    <a:cubicBezTo>
                      <a:pt x="109" y="35"/>
                      <a:pt x="112" y="39"/>
                      <a:pt x="115" y="39"/>
                    </a:cubicBezTo>
                    <a:cubicBezTo>
                      <a:pt x="119" y="39"/>
                      <a:pt x="122" y="35"/>
                      <a:pt x="122" y="31"/>
                    </a:cubicBezTo>
                    <a:cubicBezTo>
                      <a:pt x="122" y="10"/>
                      <a:pt x="122" y="10"/>
                      <a:pt x="122" y="10"/>
                    </a:cubicBezTo>
                    <a:lnTo>
                      <a:pt x="109" y="10"/>
                    </a:lnTo>
                    <a:close/>
                    <a:moveTo>
                      <a:pt x="0" y="21"/>
                    </a:moveTo>
                    <a:cubicBezTo>
                      <a:pt x="0" y="88"/>
                      <a:pt x="0" y="88"/>
                      <a:pt x="0" y="88"/>
                    </a:cubicBezTo>
                    <a:cubicBezTo>
                      <a:pt x="232" y="88"/>
                      <a:pt x="232" y="88"/>
                      <a:pt x="232" y="88"/>
                    </a:cubicBezTo>
                    <a:cubicBezTo>
                      <a:pt x="232" y="21"/>
                      <a:pt x="232" y="21"/>
                      <a:pt x="232" y="21"/>
                    </a:cubicBezTo>
                    <a:cubicBezTo>
                      <a:pt x="125" y="21"/>
                      <a:pt x="125" y="21"/>
                      <a:pt x="125" y="21"/>
                    </a:cubicBezTo>
                    <a:cubicBezTo>
                      <a:pt x="125" y="31"/>
                      <a:pt x="125" y="31"/>
                      <a:pt x="125" y="31"/>
                    </a:cubicBezTo>
                    <a:cubicBezTo>
                      <a:pt x="125" y="37"/>
                      <a:pt x="121" y="42"/>
                      <a:pt x="115" y="42"/>
                    </a:cubicBezTo>
                    <a:cubicBezTo>
                      <a:pt x="110" y="42"/>
                      <a:pt x="106" y="37"/>
                      <a:pt x="106" y="31"/>
                    </a:cubicBezTo>
                    <a:cubicBezTo>
                      <a:pt x="106" y="21"/>
                      <a:pt x="106" y="21"/>
                      <a:pt x="106" y="21"/>
                    </a:cubicBezTo>
                    <a:lnTo>
                      <a:pt x="0" y="21"/>
                    </a:lnTo>
                    <a:close/>
                    <a:moveTo>
                      <a:pt x="115" y="22"/>
                    </a:moveTo>
                    <a:cubicBezTo>
                      <a:pt x="116" y="22"/>
                      <a:pt x="116" y="23"/>
                      <a:pt x="117" y="23"/>
                    </a:cubicBezTo>
                    <a:cubicBezTo>
                      <a:pt x="117" y="23"/>
                      <a:pt x="117" y="24"/>
                      <a:pt x="117" y="24"/>
                    </a:cubicBezTo>
                    <a:cubicBezTo>
                      <a:pt x="117" y="33"/>
                      <a:pt x="117" y="33"/>
                      <a:pt x="117" y="33"/>
                    </a:cubicBezTo>
                    <a:cubicBezTo>
                      <a:pt x="117" y="34"/>
                      <a:pt x="117" y="34"/>
                      <a:pt x="116" y="35"/>
                    </a:cubicBezTo>
                    <a:cubicBezTo>
                      <a:pt x="116" y="35"/>
                      <a:pt x="115" y="35"/>
                      <a:pt x="115" y="35"/>
                    </a:cubicBezTo>
                    <a:cubicBezTo>
                      <a:pt x="114" y="34"/>
                      <a:pt x="114" y="34"/>
                      <a:pt x="114" y="33"/>
                    </a:cubicBezTo>
                    <a:cubicBezTo>
                      <a:pt x="114" y="24"/>
                      <a:pt x="114" y="24"/>
                      <a:pt x="114" y="24"/>
                    </a:cubicBezTo>
                    <a:cubicBezTo>
                      <a:pt x="114" y="23"/>
                      <a:pt x="114" y="22"/>
                      <a:pt x="115" y="22"/>
                    </a:cubicBezTo>
                    <a:close/>
                    <a:moveTo>
                      <a:pt x="10" y="56"/>
                    </a:moveTo>
                    <a:cubicBezTo>
                      <a:pt x="221" y="56"/>
                      <a:pt x="221" y="56"/>
                      <a:pt x="221" y="56"/>
                    </a:cubicBezTo>
                    <a:cubicBezTo>
                      <a:pt x="222" y="56"/>
                      <a:pt x="223" y="56"/>
                      <a:pt x="223" y="57"/>
                    </a:cubicBezTo>
                    <a:cubicBezTo>
                      <a:pt x="223" y="77"/>
                      <a:pt x="223" y="77"/>
                      <a:pt x="223" y="77"/>
                    </a:cubicBezTo>
                    <a:cubicBezTo>
                      <a:pt x="223" y="78"/>
                      <a:pt x="222" y="79"/>
                      <a:pt x="221" y="79"/>
                    </a:cubicBezTo>
                    <a:cubicBezTo>
                      <a:pt x="10" y="79"/>
                      <a:pt x="10" y="79"/>
                      <a:pt x="10" y="79"/>
                    </a:cubicBezTo>
                    <a:cubicBezTo>
                      <a:pt x="9" y="79"/>
                      <a:pt x="8" y="78"/>
                      <a:pt x="8" y="77"/>
                    </a:cubicBezTo>
                    <a:cubicBezTo>
                      <a:pt x="8" y="57"/>
                      <a:pt x="8" y="57"/>
                      <a:pt x="8" y="57"/>
                    </a:cubicBezTo>
                    <a:cubicBezTo>
                      <a:pt x="8" y="56"/>
                      <a:pt x="9" y="56"/>
                      <a:pt x="10" y="56"/>
                    </a:cubicBezTo>
                    <a:close/>
                    <a:moveTo>
                      <a:pt x="12" y="59"/>
                    </a:moveTo>
                    <a:cubicBezTo>
                      <a:pt x="12" y="75"/>
                      <a:pt x="12" y="75"/>
                      <a:pt x="12" y="75"/>
                    </a:cubicBezTo>
                    <a:cubicBezTo>
                      <a:pt x="219" y="75"/>
                      <a:pt x="219" y="75"/>
                      <a:pt x="219" y="75"/>
                    </a:cubicBezTo>
                    <a:cubicBezTo>
                      <a:pt x="219" y="59"/>
                      <a:pt x="219" y="59"/>
                      <a:pt x="219" y="59"/>
                    </a:cubicBezTo>
                    <a:lnTo>
                      <a:pt x="12" y="59"/>
                    </a:lnTo>
                    <a:close/>
                  </a:path>
                </a:pathLst>
              </a:custGeom>
              <a:solidFill>
                <a:schemeClr val="accent5"/>
              </a:solidFill>
              <a:ln w="28575">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27" name="Freeform 10"/>
              <p:cNvSpPr>
                <a:spLocks/>
              </p:cNvSpPr>
              <p:nvPr/>
            </p:nvSpPr>
            <p:spPr bwMode="auto">
              <a:xfrm>
                <a:off x="6278563" y="6364288"/>
                <a:ext cx="323850" cy="287338"/>
              </a:xfrm>
              <a:custGeom>
                <a:avLst/>
                <a:gdLst>
                  <a:gd name="T0" fmla="*/ 60 w 79"/>
                  <a:gd name="T1" fmla="*/ 0 h 70"/>
                  <a:gd name="T2" fmla="*/ 47 w 79"/>
                  <a:gd name="T3" fmla="*/ 7 h 70"/>
                  <a:gd name="T4" fmla="*/ 50 w 79"/>
                  <a:gd name="T5" fmla="*/ 13 h 70"/>
                  <a:gd name="T6" fmla="*/ 39 w 79"/>
                  <a:gd name="T7" fmla="*/ 10 h 70"/>
                  <a:gd name="T8" fmla="*/ 22 w 79"/>
                  <a:gd name="T9" fmla="*/ 25 h 70"/>
                  <a:gd name="T10" fmla="*/ 0 w 79"/>
                  <a:gd name="T11" fmla="*/ 53 h 70"/>
                  <a:gd name="T12" fmla="*/ 26 w 79"/>
                  <a:gd name="T13" fmla="*/ 33 h 70"/>
                  <a:gd name="T14" fmla="*/ 35 w 79"/>
                  <a:gd name="T15" fmla="*/ 38 h 70"/>
                  <a:gd name="T16" fmla="*/ 42 w 79"/>
                  <a:gd name="T17" fmla="*/ 36 h 70"/>
                  <a:gd name="T18" fmla="*/ 42 w 79"/>
                  <a:gd name="T19" fmla="*/ 36 h 70"/>
                  <a:gd name="T20" fmla="*/ 48 w 79"/>
                  <a:gd name="T21" fmla="*/ 46 h 70"/>
                  <a:gd name="T22" fmla="*/ 45 w 79"/>
                  <a:gd name="T23" fmla="*/ 47 h 70"/>
                  <a:gd name="T24" fmla="*/ 58 w 79"/>
                  <a:gd name="T25" fmla="*/ 70 h 70"/>
                  <a:gd name="T26" fmla="*/ 79 w 79"/>
                  <a:gd name="T27" fmla="*/ 70 h 70"/>
                  <a:gd name="T28" fmla="*/ 61 w 79"/>
                  <a:gd name="T29" fmla="*/ 38 h 70"/>
                  <a:gd name="T30" fmla="*/ 58 w 79"/>
                  <a:gd name="T31" fmla="*/ 40 h 70"/>
                  <a:gd name="T32" fmla="*/ 53 w 79"/>
                  <a:gd name="T33" fmla="*/ 31 h 70"/>
                  <a:gd name="T34" fmla="*/ 55 w 79"/>
                  <a:gd name="T35" fmla="*/ 22 h 70"/>
                  <a:gd name="T36" fmla="*/ 59 w 79"/>
                  <a:gd name="T37" fmla="*/ 28 h 70"/>
                  <a:gd name="T38" fmla="*/ 72 w 79"/>
                  <a:gd name="T39" fmla="*/ 20 h 70"/>
                  <a:gd name="T40" fmla="*/ 60 w 79"/>
                  <a:gd name="T41"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9" h="70">
                    <a:moveTo>
                      <a:pt x="60" y="0"/>
                    </a:moveTo>
                    <a:cubicBezTo>
                      <a:pt x="47" y="7"/>
                      <a:pt x="47" y="7"/>
                      <a:pt x="47" y="7"/>
                    </a:cubicBezTo>
                    <a:cubicBezTo>
                      <a:pt x="50" y="13"/>
                      <a:pt x="50" y="13"/>
                      <a:pt x="50" y="13"/>
                    </a:cubicBezTo>
                    <a:cubicBezTo>
                      <a:pt x="39" y="10"/>
                      <a:pt x="39" y="10"/>
                      <a:pt x="39" y="10"/>
                    </a:cubicBezTo>
                    <a:cubicBezTo>
                      <a:pt x="22" y="25"/>
                      <a:pt x="22" y="25"/>
                      <a:pt x="22" y="25"/>
                    </a:cubicBezTo>
                    <a:cubicBezTo>
                      <a:pt x="22" y="25"/>
                      <a:pt x="8" y="40"/>
                      <a:pt x="0" y="53"/>
                    </a:cubicBezTo>
                    <a:cubicBezTo>
                      <a:pt x="0" y="53"/>
                      <a:pt x="20" y="33"/>
                      <a:pt x="26" y="33"/>
                    </a:cubicBezTo>
                    <a:cubicBezTo>
                      <a:pt x="26" y="33"/>
                      <a:pt x="29" y="31"/>
                      <a:pt x="35" y="38"/>
                    </a:cubicBezTo>
                    <a:cubicBezTo>
                      <a:pt x="42" y="36"/>
                      <a:pt x="42" y="36"/>
                      <a:pt x="42" y="36"/>
                    </a:cubicBezTo>
                    <a:cubicBezTo>
                      <a:pt x="42" y="36"/>
                      <a:pt x="42" y="36"/>
                      <a:pt x="42" y="36"/>
                    </a:cubicBezTo>
                    <a:cubicBezTo>
                      <a:pt x="48" y="46"/>
                      <a:pt x="48" y="46"/>
                      <a:pt x="48" y="46"/>
                    </a:cubicBezTo>
                    <a:cubicBezTo>
                      <a:pt x="45" y="47"/>
                      <a:pt x="45" y="47"/>
                      <a:pt x="45" y="47"/>
                    </a:cubicBezTo>
                    <a:cubicBezTo>
                      <a:pt x="58" y="70"/>
                      <a:pt x="58" y="70"/>
                      <a:pt x="58" y="70"/>
                    </a:cubicBezTo>
                    <a:cubicBezTo>
                      <a:pt x="79" y="70"/>
                      <a:pt x="79" y="70"/>
                      <a:pt x="79" y="70"/>
                    </a:cubicBezTo>
                    <a:cubicBezTo>
                      <a:pt x="61" y="38"/>
                      <a:pt x="61" y="38"/>
                      <a:pt x="61" y="38"/>
                    </a:cubicBezTo>
                    <a:cubicBezTo>
                      <a:pt x="58" y="40"/>
                      <a:pt x="58" y="40"/>
                      <a:pt x="58" y="40"/>
                    </a:cubicBezTo>
                    <a:cubicBezTo>
                      <a:pt x="53" y="31"/>
                      <a:pt x="53" y="31"/>
                      <a:pt x="53" y="31"/>
                    </a:cubicBezTo>
                    <a:cubicBezTo>
                      <a:pt x="55" y="22"/>
                      <a:pt x="55" y="22"/>
                      <a:pt x="55" y="22"/>
                    </a:cubicBezTo>
                    <a:cubicBezTo>
                      <a:pt x="59" y="28"/>
                      <a:pt x="59" y="28"/>
                      <a:pt x="59" y="28"/>
                    </a:cubicBezTo>
                    <a:cubicBezTo>
                      <a:pt x="72" y="20"/>
                      <a:pt x="72" y="20"/>
                      <a:pt x="72" y="20"/>
                    </a:cubicBezTo>
                    <a:lnTo>
                      <a:pt x="60" y="0"/>
                    </a:lnTo>
                    <a:close/>
                  </a:path>
                </a:pathLst>
              </a:custGeom>
              <a:solidFill>
                <a:schemeClr val="accent5"/>
              </a:solidFill>
              <a:ln w="25400">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28" name="Freeform 11"/>
              <p:cNvSpPr>
                <a:spLocks/>
              </p:cNvSpPr>
              <p:nvPr/>
            </p:nvSpPr>
            <p:spPr bwMode="auto">
              <a:xfrm>
                <a:off x="6653213" y="6488113"/>
                <a:ext cx="163513" cy="160338"/>
              </a:xfrm>
              <a:custGeom>
                <a:avLst/>
                <a:gdLst>
                  <a:gd name="T0" fmla="*/ 25 w 40"/>
                  <a:gd name="T1" fmla="*/ 0 h 39"/>
                  <a:gd name="T2" fmla="*/ 14 w 40"/>
                  <a:gd name="T3" fmla="*/ 5 h 39"/>
                  <a:gd name="T4" fmla="*/ 13 w 40"/>
                  <a:gd name="T5" fmla="*/ 21 h 39"/>
                  <a:gd name="T6" fmla="*/ 0 w 40"/>
                  <a:gd name="T7" fmla="*/ 39 h 39"/>
                  <a:gd name="T8" fmla="*/ 13 w 40"/>
                  <a:gd name="T9" fmla="*/ 39 h 39"/>
                  <a:gd name="T10" fmla="*/ 22 w 40"/>
                  <a:gd name="T11" fmla="*/ 27 h 39"/>
                  <a:gd name="T12" fmla="*/ 36 w 40"/>
                  <a:gd name="T13" fmla="*/ 22 h 39"/>
                  <a:gd name="T14" fmla="*/ 37 w 40"/>
                  <a:gd name="T15" fmla="*/ 6 h 39"/>
                  <a:gd name="T16" fmla="*/ 29 w 40"/>
                  <a:gd name="T17" fmla="*/ 17 h 39"/>
                  <a:gd name="T18" fmla="*/ 20 w 40"/>
                  <a:gd name="T19" fmla="*/ 11 h 39"/>
                  <a:gd name="T20" fmla="*/ 28 w 40"/>
                  <a:gd name="T21" fmla="*/ 0 h 39"/>
                  <a:gd name="T22" fmla="*/ 25 w 40"/>
                  <a:gd name="T23"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39">
                    <a:moveTo>
                      <a:pt x="25" y="0"/>
                    </a:moveTo>
                    <a:cubicBezTo>
                      <a:pt x="21" y="0"/>
                      <a:pt x="16" y="2"/>
                      <a:pt x="14" y="5"/>
                    </a:cubicBezTo>
                    <a:cubicBezTo>
                      <a:pt x="10" y="10"/>
                      <a:pt x="10" y="16"/>
                      <a:pt x="13" y="21"/>
                    </a:cubicBezTo>
                    <a:cubicBezTo>
                      <a:pt x="0" y="39"/>
                      <a:pt x="0" y="39"/>
                      <a:pt x="0" y="39"/>
                    </a:cubicBezTo>
                    <a:cubicBezTo>
                      <a:pt x="13" y="39"/>
                      <a:pt x="13" y="39"/>
                      <a:pt x="13" y="39"/>
                    </a:cubicBezTo>
                    <a:cubicBezTo>
                      <a:pt x="22" y="27"/>
                      <a:pt x="22" y="27"/>
                      <a:pt x="22" y="27"/>
                    </a:cubicBezTo>
                    <a:cubicBezTo>
                      <a:pt x="27" y="28"/>
                      <a:pt x="33" y="27"/>
                      <a:pt x="36" y="22"/>
                    </a:cubicBezTo>
                    <a:cubicBezTo>
                      <a:pt x="40" y="17"/>
                      <a:pt x="40" y="11"/>
                      <a:pt x="37" y="6"/>
                    </a:cubicBezTo>
                    <a:cubicBezTo>
                      <a:pt x="29" y="17"/>
                      <a:pt x="29" y="17"/>
                      <a:pt x="29" y="17"/>
                    </a:cubicBezTo>
                    <a:cubicBezTo>
                      <a:pt x="20" y="11"/>
                      <a:pt x="20" y="11"/>
                      <a:pt x="20" y="11"/>
                    </a:cubicBezTo>
                    <a:cubicBezTo>
                      <a:pt x="28" y="0"/>
                      <a:pt x="28" y="0"/>
                      <a:pt x="28" y="0"/>
                    </a:cubicBezTo>
                    <a:cubicBezTo>
                      <a:pt x="27" y="0"/>
                      <a:pt x="26" y="0"/>
                      <a:pt x="25" y="0"/>
                    </a:cubicBezTo>
                    <a:close/>
                  </a:path>
                </a:pathLst>
              </a:custGeom>
              <a:solidFill>
                <a:schemeClr val="accent5"/>
              </a:solidFill>
              <a:ln w="25400">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29" name="Freeform 12"/>
              <p:cNvSpPr>
                <a:spLocks noEditPoints="1"/>
              </p:cNvSpPr>
              <p:nvPr/>
            </p:nvSpPr>
            <p:spPr bwMode="auto">
              <a:xfrm>
                <a:off x="6858001" y="6503988"/>
                <a:ext cx="65088" cy="147638"/>
              </a:xfrm>
              <a:custGeom>
                <a:avLst/>
                <a:gdLst>
                  <a:gd name="T0" fmla="*/ 1 w 16"/>
                  <a:gd name="T1" fmla="*/ 0 h 36"/>
                  <a:gd name="T2" fmla="*/ 1 w 16"/>
                  <a:gd name="T3" fmla="*/ 0 h 36"/>
                  <a:gd name="T4" fmla="*/ 2 w 16"/>
                  <a:gd name="T5" fmla="*/ 6 h 36"/>
                  <a:gd name="T6" fmla="*/ 2 w 16"/>
                  <a:gd name="T7" fmla="*/ 10 h 36"/>
                  <a:gd name="T8" fmla="*/ 1 w 16"/>
                  <a:gd name="T9" fmla="*/ 11 h 36"/>
                  <a:gd name="T10" fmla="*/ 0 w 16"/>
                  <a:gd name="T11" fmla="*/ 11 h 36"/>
                  <a:gd name="T12" fmla="*/ 6 w 16"/>
                  <a:gd name="T13" fmla="*/ 36 h 36"/>
                  <a:gd name="T14" fmla="*/ 16 w 16"/>
                  <a:gd name="T15" fmla="*/ 36 h 36"/>
                  <a:gd name="T16" fmla="*/ 9 w 16"/>
                  <a:gd name="T17" fmla="*/ 9 h 36"/>
                  <a:gd name="T18" fmla="*/ 8 w 16"/>
                  <a:gd name="T19" fmla="*/ 9 h 36"/>
                  <a:gd name="T20" fmla="*/ 7 w 16"/>
                  <a:gd name="T21" fmla="*/ 9 h 36"/>
                  <a:gd name="T22" fmla="*/ 4 w 16"/>
                  <a:gd name="T23" fmla="*/ 5 h 36"/>
                  <a:gd name="T24" fmla="*/ 2 w 16"/>
                  <a:gd name="T25" fmla="*/ 0 h 36"/>
                  <a:gd name="T26" fmla="*/ 1 w 16"/>
                  <a:gd name="T27" fmla="*/ 0 h 36"/>
                  <a:gd name="T28" fmla="*/ 4 w 16"/>
                  <a:gd name="T29" fmla="*/ 2 h 36"/>
                  <a:gd name="T30" fmla="*/ 5 w 16"/>
                  <a:gd name="T31" fmla="*/ 5 h 36"/>
                  <a:gd name="T32" fmla="*/ 7 w 16"/>
                  <a:gd name="T33" fmla="*/ 8 h 36"/>
                  <a:gd name="T34" fmla="*/ 8 w 16"/>
                  <a:gd name="T35" fmla="*/ 8 h 36"/>
                  <a:gd name="T36" fmla="*/ 8 w 16"/>
                  <a:gd name="T37" fmla="*/ 8 h 36"/>
                  <a:gd name="T38" fmla="*/ 8 w 16"/>
                  <a:gd name="T39" fmla="*/ 8 h 36"/>
                  <a:gd name="T40" fmla="*/ 4 w 16"/>
                  <a:gd name="T41" fmla="*/ 2 h 36"/>
                  <a:gd name="T42" fmla="*/ 1 w 16"/>
                  <a:gd name="T43" fmla="*/ 2 h 36"/>
                  <a:gd name="T44" fmla="*/ 0 w 16"/>
                  <a:gd name="T45" fmla="*/ 10 h 36"/>
                  <a:gd name="T46" fmla="*/ 0 w 16"/>
                  <a:gd name="T47" fmla="*/ 10 h 36"/>
                  <a:gd name="T48" fmla="*/ 0 w 16"/>
                  <a:gd name="T49" fmla="*/ 10 h 36"/>
                  <a:gd name="T50" fmla="*/ 1 w 16"/>
                  <a:gd name="T51" fmla="*/ 10 h 36"/>
                  <a:gd name="T52" fmla="*/ 1 w 16"/>
                  <a:gd name="T53" fmla="*/ 6 h 36"/>
                  <a:gd name="T54" fmla="*/ 1 w 16"/>
                  <a:gd name="T55" fmla="*/ 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 h="36">
                    <a:moveTo>
                      <a:pt x="1" y="0"/>
                    </a:moveTo>
                    <a:cubicBezTo>
                      <a:pt x="1" y="0"/>
                      <a:pt x="1" y="0"/>
                      <a:pt x="1" y="0"/>
                    </a:cubicBezTo>
                    <a:cubicBezTo>
                      <a:pt x="2" y="2"/>
                      <a:pt x="2" y="4"/>
                      <a:pt x="2" y="6"/>
                    </a:cubicBezTo>
                    <a:cubicBezTo>
                      <a:pt x="3" y="8"/>
                      <a:pt x="2" y="9"/>
                      <a:pt x="2" y="10"/>
                    </a:cubicBezTo>
                    <a:cubicBezTo>
                      <a:pt x="1" y="11"/>
                      <a:pt x="1" y="11"/>
                      <a:pt x="1" y="11"/>
                    </a:cubicBezTo>
                    <a:cubicBezTo>
                      <a:pt x="0" y="11"/>
                      <a:pt x="0" y="11"/>
                      <a:pt x="0" y="11"/>
                    </a:cubicBezTo>
                    <a:cubicBezTo>
                      <a:pt x="6" y="36"/>
                      <a:pt x="6" y="36"/>
                      <a:pt x="6" y="36"/>
                    </a:cubicBezTo>
                    <a:cubicBezTo>
                      <a:pt x="16" y="36"/>
                      <a:pt x="16" y="36"/>
                      <a:pt x="16" y="36"/>
                    </a:cubicBezTo>
                    <a:cubicBezTo>
                      <a:pt x="9" y="9"/>
                      <a:pt x="9" y="9"/>
                      <a:pt x="9" y="9"/>
                    </a:cubicBezTo>
                    <a:cubicBezTo>
                      <a:pt x="8" y="9"/>
                      <a:pt x="8" y="9"/>
                      <a:pt x="8" y="9"/>
                    </a:cubicBezTo>
                    <a:cubicBezTo>
                      <a:pt x="8" y="9"/>
                      <a:pt x="7" y="9"/>
                      <a:pt x="7" y="9"/>
                    </a:cubicBezTo>
                    <a:cubicBezTo>
                      <a:pt x="6" y="8"/>
                      <a:pt x="5" y="7"/>
                      <a:pt x="4" y="5"/>
                    </a:cubicBezTo>
                    <a:cubicBezTo>
                      <a:pt x="3" y="4"/>
                      <a:pt x="3" y="2"/>
                      <a:pt x="2" y="0"/>
                    </a:cubicBezTo>
                    <a:cubicBezTo>
                      <a:pt x="2" y="0"/>
                      <a:pt x="2" y="0"/>
                      <a:pt x="1" y="0"/>
                    </a:cubicBezTo>
                    <a:close/>
                    <a:moveTo>
                      <a:pt x="4" y="2"/>
                    </a:moveTo>
                    <a:cubicBezTo>
                      <a:pt x="4" y="3"/>
                      <a:pt x="5" y="4"/>
                      <a:pt x="5" y="5"/>
                    </a:cubicBezTo>
                    <a:cubicBezTo>
                      <a:pt x="6" y="7"/>
                      <a:pt x="7" y="8"/>
                      <a:pt x="7" y="8"/>
                    </a:cubicBezTo>
                    <a:cubicBezTo>
                      <a:pt x="8" y="8"/>
                      <a:pt x="8" y="8"/>
                      <a:pt x="8" y="8"/>
                    </a:cubicBezTo>
                    <a:cubicBezTo>
                      <a:pt x="8" y="8"/>
                      <a:pt x="8" y="8"/>
                      <a:pt x="8" y="8"/>
                    </a:cubicBezTo>
                    <a:cubicBezTo>
                      <a:pt x="8" y="8"/>
                      <a:pt x="8" y="8"/>
                      <a:pt x="8" y="8"/>
                    </a:cubicBezTo>
                    <a:cubicBezTo>
                      <a:pt x="8" y="7"/>
                      <a:pt x="6" y="5"/>
                      <a:pt x="4" y="2"/>
                    </a:cubicBezTo>
                    <a:close/>
                    <a:moveTo>
                      <a:pt x="1" y="2"/>
                    </a:moveTo>
                    <a:cubicBezTo>
                      <a:pt x="0" y="5"/>
                      <a:pt x="0" y="9"/>
                      <a:pt x="0" y="10"/>
                    </a:cubicBezTo>
                    <a:cubicBezTo>
                      <a:pt x="0" y="10"/>
                      <a:pt x="0" y="10"/>
                      <a:pt x="0" y="10"/>
                    </a:cubicBezTo>
                    <a:cubicBezTo>
                      <a:pt x="0" y="10"/>
                      <a:pt x="0" y="10"/>
                      <a:pt x="0" y="10"/>
                    </a:cubicBezTo>
                    <a:cubicBezTo>
                      <a:pt x="0" y="10"/>
                      <a:pt x="1" y="10"/>
                      <a:pt x="1" y="10"/>
                    </a:cubicBezTo>
                    <a:cubicBezTo>
                      <a:pt x="1" y="9"/>
                      <a:pt x="1" y="8"/>
                      <a:pt x="1" y="6"/>
                    </a:cubicBezTo>
                    <a:cubicBezTo>
                      <a:pt x="1" y="5"/>
                      <a:pt x="1" y="4"/>
                      <a:pt x="1" y="2"/>
                    </a:cubicBezTo>
                    <a:close/>
                  </a:path>
                </a:pathLst>
              </a:custGeom>
              <a:solidFill>
                <a:schemeClr val="accent5"/>
              </a:solidFill>
              <a:ln w="25400">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30" name="Freeform 13"/>
              <p:cNvSpPr>
                <a:spLocks/>
              </p:cNvSpPr>
              <p:nvPr/>
            </p:nvSpPr>
            <p:spPr bwMode="auto">
              <a:xfrm>
                <a:off x="7002463" y="6384926"/>
                <a:ext cx="196850" cy="266700"/>
              </a:xfrm>
              <a:custGeom>
                <a:avLst/>
                <a:gdLst>
                  <a:gd name="T0" fmla="*/ 36 w 48"/>
                  <a:gd name="T1" fmla="*/ 0 h 65"/>
                  <a:gd name="T2" fmla="*/ 26 w 48"/>
                  <a:gd name="T3" fmla="*/ 6 h 65"/>
                  <a:gd name="T4" fmla="*/ 8 w 48"/>
                  <a:gd name="T5" fmla="*/ 37 h 65"/>
                  <a:gd name="T6" fmla="*/ 5 w 48"/>
                  <a:gd name="T7" fmla="*/ 35 h 65"/>
                  <a:gd name="T8" fmla="*/ 0 w 48"/>
                  <a:gd name="T9" fmla="*/ 44 h 65"/>
                  <a:gd name="T10" fmla="*/ 9 w 48"/>
                  <a:gd name="T11" fmla="*/ 49 h 65"/>
                  <a:gd name="T12" fmla="*/ 0 w 48"/>
                  <a:gd name="T13" fmla="*/ 65 h 65"/>
                  <a:gd name="T14" fmla="*/ 9 w 48"/>
                  <a:gd name="T15" fmla="*/ 65 h 65"/>
                  <a:gd name="T16" fmla="*/ 15 w 48"/>
                  <a:gd name="T17" fmla="*/ 53 h 65"/>
                  <a:gd name="T18" fmla="*/ 25 w 48"/>
                  <a:gd name="T19" fmla="*/ 59 h 65"/>
                  <a:gd name="T20" fmla="*/ 30 w 48"/>
                  <a:gd name="T21" fmla="*/ 50 h 65"/>
                  <a:gd name="T22" fmla="*/ 27 w 48"/>
                  <a:gd name="T23" fmla="*/ 48 h 65"/>
                  <a:gd name="T24" fmla="*/ 45 w 48"/>
                  <a:gd name="T25" fmla="*/ 17 h 65"/>
                  <a:gd name="T26" fmla="*/ 41 w 48"/>
                  <a:gd name="T27" fmla="*/ 2 h 65"/>
                  <a:gd name="T28" fmla="*/ 36 w 48"/>
                  <a:gd name="T2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 h="65">
                    <a:moveTo>
                      <a:pt x="36" y="0"/>
                    </a:moveTo>
                    <a:cubicBezTo>
                      <a:pt x="32" y="0"/>
                      <a:pt x="28" y="2"/>
                      <a:pt x="26" y="6"/>
                    </a:cubicBezTo>
                    <a:cubicBezTo>
                      <a:pt x="8" y="37"/>
                      <a:pt x="8" y="37"/>
                      <a:pt x="8" y="37"/>
                    </a:cubicBezTo>
                    <a:cubicBezTo>
                      <a:pt x="5" y="35"/>
                      <a:pt x="5" y="35"/>
                      <a:pt x="5" y="35"/>
                    </a:cubicBezTo>
                    <a:cubicBezTo>
                      <a:pt x="0" y="44"/>
                      <a:pt x="0" y="44"/>
                      <a:pt x="0" y="44"/>
                    </a:cubicBezTo>
                    <a:cubicBezTo>
                      <a:pt x="9" y="49"/>
                      <a:pt x="9" y="49"/>
                      <a:pt x="9" y="49"/>
                    </a:cubicBezTo>
                    <a:cubicBezTo>
                      <a:pt x="0" y="65"/>
                      <a:pt x="0" y="65"/>
                      <a:pt x="0" y="65"/>
                    </a:cubicBezTo>
                    <a:cubicBezTo>
                      <a:pt x="9" y="65"/>
                      <a:pt x="9" y="65"/>
                      <a:pt x="9" y="65"/>
                    </a:cubicBezTo>
                    <a:cubicBezTo>
                      <a:pt x="15" y="53"/>
                      <a:pt x="15" y="53"/>
                      <a:pt x="15" y="53"/>
                    </a:cubicBezTo>
                    <a:cubicBezTo>
                      <a:pt x="25" y="59"/>
                      <a:pt x="25" y="59"/>
                      <a:pt x="25" y="59"/>
                    </a:cubicBezTo>
                    <a:cubicBezTo>
                      <a:pt x="30" y="50"/>
                      <a:pt x="30" y="50"/>
                      <a:pt x="30" y="50"/>
                    </a:cubicBezTo>
                    <a:cubicBezTo>
                      <a:pt x="27" y="48"/>
                      <a:pt x="27" y="48"/>
                      <a:pt x="27" y="48"/>
                    </a:cubicBezTo>
                    <a:cubicBezTo>
                      <a:pt x="29" y="45"/>
                      <a:pt x="45" y="17"/>
                      <a:pt x="45" y="17"/>
                    </a:cubicBezTo>
                    <a:cubicBezTo>
                      <a:pt x="48" y="11"/>
                      <a:pt x="46" y="5"/>
                      <a:pt x="41" y="2"/>
                    </a:cubicBezTo>
                    <a:cubicBezTo>
                      <a:pt x="39" y="1"/>
                      <a:pt x="38" y="0"/>
                      <a:pt x="36" y="0"/>
                    </a:cubicBezTo>
                    <a:close/>
                  </a:path>
                </a:pathLst>
              </a:custGeom>
              <a:solidFill>
                <a:schemeClr val="accent5"/>
              </a:solidFill>
              <a:ln w="25400">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31" name="Freeform 14"/>
              <p:cNvSpPr>
                <a:spLocks/>
              </p:cNvSpPr>
              <p:nvPr/>
            </p:nvSpPr>
            <p:spPr bwMode="auto">
              <a:xfrm>
                <a:off x="7158038" y="6397626"/>
                <a:ext cx="266700" cy="254000"/>
              </a:xfrm>
              <a:custGeom>
                <a:avLst/>
                <a:gdLst>
                  <a:gd name="T0" fmla="*/ 160 w 168"/>
                  <a:gd name="T1" fmla="*/ 0 h 160"/>
                  <a:gd name="T2" fmla="*/ 0 w 168"/>
                  <a:gd name="T3" fmla="*/ 160 h 160"/>
                  <a:gd name="T4" fmla="*/ 16 w 168"/>
                  <a:gd name="T5" fmla="*/ 160 h 160"/>
                  <a:gd name="T6" fmla="*/ 168 w 168"/>
                  <a:gd name="T7" fmla="*/ 7 h 160"/>
                  <a:gd name="T8" fmla="*/ 160 w 168"/>
                  <a:gd name="T9" fmla="*/ 0 h 160"/>
                </a:gdLst>
                <a:ahLst/>
                <a:cxnLst>
                  <a:cxn ang="0">
                    <a:pos x="T0" y="T1"/>
                  </a:cxn>
                  <a:cxn ang="0">
                    <a:pos x="T2" y="T3"/>
                  </a:cxn>
                  <a:cxn ang="0">
                    <a:pos x="T4" y="T5"/>
                  </a:cxn>
                  <a:cxn ang="0">
                    <a:pos x="T6" y="T7"/>
                  </a:cxn>
                  <a:cxn ang="0">
                    <a:pos x="T8" y="T9"/>
                  </a:cxn>
                </a:cxnLst>
                <a:rect l="0" t="0" r="r" b="b"/>
                <a:pathLst>
                  <a:path w="168" h="160">
                    <a:moveTo>
                      <a:pt x="160" y="0"/>
                    </a:moveTo>
                    <a:lnTo>
                      <a:pt x="0" y="160"/>
                    </a:lnTo>
                    <a:lnTo>
                      <a:pt x="16" y="160"/>
                    </a:lnTo>
                    <a:lnTo>
                      <a:pt x="168" y="7"/>
                    </a:lnTo>
                    <a:lnTo>
                      <a:pt x="160" y="0"/>
                    </a:lnTo>
                    <a:close/>
                  </a:path>
                </a:pathLst>
              </a:custGeom>
              <a:grpFill/>
              <a:ln w="28575">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32" name="Freeform 15"/>
              <p:cNvSpPr>
                <a:spLocks/>
              </p:cNvSpPr>
              <p:nvPr/>
            </p:nvSpPr>
            <p:spPr bwMode="auto">
              <a:xfrm>
                <a:off x="7323138" y="6480176"/>
                <a:ext cx="184150" cy="171450"/>
              </a:xfrm>
              <a:custGeom>
                <a:avLst/>
                <a:gdLst>
                  <a:gd name="T0" fmla="*/ 108 w 116"/>
                  <a:gd name="T1" fmla="*/ 0 h 108"/>
                  <a:gd name="T2" fmla="*/ 0 w 116"/>
                  <a:gd name="T3" fmla="*/ 108 h 108"/>
                  <a:gd name="T4" fmla="*/ 15 w 116"/>
                  <a:gd name="T5" fmla="*/ 108 h 108"/>
                  <a:gd name="T6" fmla="*/ 116 w 116"/>
                  <a:gd name="T7" fmla="*/ 7 h 108"/>
                  <a:gd name="T8" fmla="*/ 108 w 116"/>
                  <a:gd name="T9" fmla="*/ 0 h 108"/>
                </a:gdLst>
                <a:ahLst/>
                <a:cxnLst>
                  <a:cxn ang="0">
                    <a:pos x="T0" y="T1"/>
                  </a:cxn>
                  <a:cxn ang="0">
                    <a:pos x="T2" y="T3"/>
                  </a:cxn>
                  <a:cxn ang="0">
                    <a:pos x="T4" y="T5"/>
                  </a:cxn>
                  <a:cxn ang="0">
                    <a:pos x="T6" y="T7"/>
                  </a:cxn>
                  <a:cxn ang="0">
                    <a:pos x="T8" y="T9"/>
                  </a:cxn>
                </a:cxnLst>
                <a:rect l="0" t="0" r="r" b="b"/>
                <a:pathLst>
                  <a:path w="116" h="108">
                    <a:moveTo>
                      <a:pt x="108" y="0"/>
                    </a:moveTo>
                    <a:lnTo>
                      <a:pt x="0" y="108"/>
                    </a:lnTo>
                    <a:lnTo>
                      <a:pt x="15" y="108"/>
                    </a:lnTo>
                    <a:lnTo>
                      <a:pt x="116" y="7"/>
                    </a:lnTo>
                    <a:lnTo>
                      <a:pt x="108" y="0"/>
                    </a:lnTo>
                    <a:close/>
                  </a:path>
                </a:pathLst>
              </a:custGeom>
              <a:grpFill/>
              <a:ln w="28575">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sp>
            <p:nvSpPr>
              <p:cNvPr id="33" name="Freeform 16"/>
              <p:cNvSpPr>
                <a:spLocks/>
              </p:cNvSpPr>
              <p:nvPr/>
            </p:nvSpPr>
            <p:spPr bwMode="auto">
              <a:xfrm>
                <a:off x="7194551" y="6413501"/>
                <a:ext cx="296863" cy="238125"/>
              </a:xfrm>
              <a:custGeom>
                <a:avLst/>
                <a:gdLst>
                  <a:gd name="T0" fmla="*/ 148 w 187"/>
                  <a:gd name="T1" fmla="*/ 0 h 150"/>
                  <a:gd name="T2" fmla="*/ 0 w 187"/>
                  <a:gd name="T3" fmla="*/ 150 h 150"/>
                  <a:gd name="T4" fmla="*/ 73 w 187"/>
                  <a:gd name="T5" fmla="*/ 150 h 150"/>
                  <a:gd name="T6" fmla="*/ 187 w 187"/>
                  <a:gd name="T7" fmla="*/ 36 h 150"/>
                  <a:gd name="T8" fmla="*/ 148 w 187"/>
                  <a:gd name="T9" fmla="*/ 0 h 150"/>
                </a:gdLst>
                <a:ahLst/>
                <a:cxnLst>
                  <a:cxn ang="0">
                    <a:pos x="T0" y="T1"/>
                  </a:cxn>
                  <a:cxn ang="0">
                    <a:pos x="T2" y="T3"/>
                  </a:cxn>
                  <a:cxn ang="0">
                    <a:pos x="T4" y="T5"/>
                  </a:cxn>
                  <a:cxn ang="0">
                    <a:pos x="T6" y="T7"/>
                  </a:cxn>
                  <a:cxn ang="0">
                    <a:pos x="T8" y="T9"/>
                  </a:cxn>
                </a:cxnLst>
                <a:rect l="0" t="0" r="r" b="b"/>
                <a:pathLst>
                  <a:path w="187" h="150">
                    <a:moveTo>
                      <a:pt x="148" y="0"/>
                    </a:moveTo>
                    <a:lnTo>
                      <a:pt x="0" y="150"/>
                    </a:lnTo>
                    <a:lnTo>
                      <a:pt x="73" y="150"/>
                    </a:lnTo>
                    <a:lnTo>
                      <a:pt x="187" y="36"/>
                    </a:lnTo>
                    <a:lnTo>
                      <a:pt x="148" y="0"/>
                    </a:lnTo>
                    <a:close/>
                  </a:path>
                </a:pathLst>
              </a:custGeom>
              <a:solidFill>
                <a:schemeClr val="accent5"/>
              </a:solidFill>
              <a:ln w="25400">
                <a:solidFill>
                  <a:schemeClr val="bg1"/>
                </a:solidFill>
              </a:ln>
            </p:spPr>
            <p:txBody>
              <a:bodyPr vert="horz" wrap="square" lIns="80682" tIns="40341" rIns="80682" bIns="40341" numCol="1" anchor="t" anchorCtr="0" compatLnSpc="1">
                <a:prstTxWarp prst="textNoShape">
                  <a:avLst/>
                </a:prstTxWarp>
              </a:bodyPr>
              <a:lstStyle/>
              <a:p>
                <a:endParaRPr lang="en-US" sz="1588" dirty="0"/>
              </a:p>
            </p:txBody>
          </p:sp>
        </p:grpSp>
      </p:grpSp>
      <p:sp>
        <p:nvSpPr>
          <p:cNvPr id="34" name="Rectangle 33"/>
          <p:cNvSpPr>
            <a:spLocks/>
          </p:cNvSpPr>
          <p:nvPr/>
        </p:nvSpPr>
        <p:spPr bwMode="gray">
          <a:xfrm>
            <a:off x="2952009" y="6611890"/>
            <a:ext cx="4784620" cy="372617"/>
          </a:xfrm>
          <a:prstGeom prst="rect">
            <a:avLst/>
          </a:prstGeom>
          <a:solidFill>
            <a:schemeClr val="bg1"/>
          </a:solidFill>
          <a:ln w="19050" algn="ctr">
            <a:solidFill>
              <a:srgbClr val="012169"/>
            </a:solidFill>
            <a:miter lim="800000"/>
            <a:headEnd/>
            <a:tailEnd/>
          </a:ln>
        </p:spPr>
        <p:txBody>
          <a:bodyPr wrap="square" lIns="88900" tIns="88900" rIns="88900" bIns="88900" rtlCol="0" anchor="ctr"/>
          <a:lstStyle/>
          <a:p>
            <a:pPr algn="ctr">
              <a:lnSpc>
                <a:spcPct val="106000"/>
              </a:lnSpc>
              <a:buFont typeface="Wingdings 2" pitchFamily="18" charset="2"/>
              <a:buNone/>
            </a:pPr>
            <a:r>
              <a:rPr lang="en-GB" sz="1200" b="1" dirty="0"/>
              <a:t>We bring a unique combination of capabilities, expertise and accelerators. </a:t>
            </a:r>
          </a:p>
        </p:txBody>
      </p:sp>
      <p:grpSp>
        <p:nvGrpSpPr>
          <p:cNvPr id="35" name="Group 34"/>
          <p:cNvGrpSpPr/>
          <p:nvPr/>
        </p:nvGrpSpPr>
        <p:grpSpPr>
          <a:xfrm>
            <a:off x="1029581" y="1506297"/>
            <a:ext cx="1285476" cy="1285476"/>
            <a:chOff x="1868136" y="2093617"/>
            <a:chExt cx="1285476" cy="1285476"/>
          </a:xfrm>
        </p:grpSpPr>
        <p:sp>
          <p:nvSpPr>
            <p:cNvPr id="36" name="Oval 35"/>
            <p:cNvSpPr>
              <a:spLocks noChangeAspect="1"/>
            </p:cNvSpPr>
            <p:nvPr/>
          </p:nvSpPr>
          <p:spPr>
            <a:xfrm>
              <a:off x="1868136" y="2093617"/>
              <a:ext cx="1285476" cy="1285476"/>
            </a:xfrm>
            <a:prstGeom prst="ellipse">
              <a:avLst/>
            </a:prstGeom>
            <a:solidFill>
              <a:srgbClr val="046A38"/>
            </a:solid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88" dirty="0"/>
            </a:p>
          </p:txBody>
        </p:sp>
        <p:sp>
          <p:nvSpPr>
            <p:cNvPr id="37" name="Freeform 310"/>
            <p:cNvSpPr>
              <a:spLocks noChangeAspect="1" noEditPoints="1"/>
            </p:cNvSpPr>
            <p:nvPr/>
          </p:nvSpPr>
          <p:spPr bwMode="auto">
            <a:xfrm>
              <a:off x="2172263" y="2373905"/>
              <a:ext cx="685800" cy="682472"/>
            </a:xfrm>
            <a:custGeom>
              <a:avLst/>
              <a:gdLst>
                <a:gd name="T0" fmla="*/ 117 w 309"/>
                <a:gd name="T1" fmla="*/ 309 h 309"/>
                <a:gd name="T2" fmla="*/ 116 w 309"/>
                <a:gd name="T3" fmla="*/ 309 h 309"/>
                <a:gd name="T4" fmla="*/ 108 w 309"/>
                <a:gd name="T5" fmla="*/ 304 h 309"/>
                <a:gd name="T6" fmla="*/ 68 w 309"/>
                <a:gd name="T7" fmla="*/ 242 h 309"/>
                <a:gd name="T8" fmla="*/ 5 w 309"/>
                <a:gd name="T9" fmla="*/ 201 h 309"/>
                <a:gd name="T10" fmla="*/ 1 w 309"/>
                <a:gd name="T11" fmla="*/ 194 h 309"/>
                <a:gd name="T12" fmla="*/ 4 w 309"/>
                <a:gd name="T13" fmla="*/ 185 h 309"/>
                <a:gd name="T14" fmla="*/ 26 w 309"/>
                <a:gd name="T15" fmla="*/ 163 h 309"/>
                <a:gd name="T16" fmla="*/ 37 w 309"/>
                <a:gd name="T17" fmla="*/ 161 h 309"/>
                <a:gd name="T18" fmla="*/ 84 w 309"/>
                <a:gd name="T19" fmla="*/ 180 h 309"/>
                <a:gd name="T20" fmla="*/ 121 w 309"/>
                <a:gd name="T21" fmla="*/ 143 h 309"/>
                <a:gd name="T22" fmla="*/ 17 w 309"/>
                <a:gd name="T23" fmla="*/ 86 h 309"/>
                <a:gd name="T24" fmla="*/ 11 w 309"/>
                <a:gd name="T25" fmla="*/ 78 h 309"/>
                <a:gd name="T26" fmla="*/ 14 w 309"/>
                <a:gd name="T27" fmla="*/ 69 h 309"/>
                <a:gd name="T28" fmla="*/ 37 w 309"/>
                <a:gd name="T29" fmla="*/ 46 h 309"/>
                <a:gd name="T30" fmla="*/ 48 w 309"/>
                <a:gd name="T31" fmla="*/ 43 h 309"/>
                <a:gd name="T32" fmla="*/ 177 w 309"/>
                <a:gd name="T33" fmla="*/ 87 h 309"/>
                <a:gd name="T34" fmla="*/ 233 w 309"/>
                <a:gd name="T35" fmla="*/ 31 h 309"/>
                <a:gd name="T36" fmla="*/ 234 w 309"/>
                <a:gd name="T37" fmla="*/ 30 h 309"/>
                <a:gd name="T38" fmla="*/ 294 w 309"/>
                <a:gd name="T39" fmla="*/ 16 h 309"/>
                <a:gd name="T40" fmla="*/ 279 w 309"/>
                <a:gd name="T41" fmla="*/ 75 h 309"/>
                <a:gd name="T42" fmla="*/ 278 w 309"/>
                <a:gd name="T43" fmla="*/ 76 h 309"/>
                <a:gd name="T44" fmla="*/ 223 w 309"/>
                <a:gd name="T45" fmla="*/ 132 h 309"/>
                <a:gd name="T46" fmla="*/ 266 w 309"/>
                <a:gd name="T47" fmla="*/ 261 h 309"/>
                <a:gd name="T48" fmla="*/ 263 w 309"/>
                <a:gd name="T49" fmla="*/ 272 h 309"/>
                <a:gd name="T50" fmla="*/ 241 w 309"/>
                <a:gd name="T51" fmla="*/ 295 h 309"/>
                <a:gd name="T52" fmla="*/ 232 w 309"/>
                <a:gd name="T53" fmla="*/ 298 h 309"/>
                <a:gd name="T54" fmla="*/ 224 w 309"/>
                <a:gd name="T55" fmla="*/ 292 h 309"/>
                <a:gd name="T56" fmla="*/ 167 w 309"/>
                <a:gd name="T57" fmla="*/ 188 h 309"/>
                <a:gd name="T58" fmla="*/ 130 w 309"/>
                <a:gd name="T59" fmla="*/ 225 h 309"/>
                <a:gd name="T60" fmla="*/ 149 w 309"/>
                <a:gd name="T61" fmla="*/ 272 h 309"/>
                <a:gd name="T62" fmla="*/ 146 w 309"/>
                <a:gd name="T63" fmla="*/ 284 h 309"/>
                <a:gd name="T64" fmla="*/ 124 w 309"/>
                <a:gd name="T65" fmla="*/ 306 h 309"/>
                <a:gd name="T66" fmla="*/ 117 w 309"/>
                <a:gd name="T67" fmla="*/ 309 h 309"/>
                <a:gd name="T68" fmla="*/ 28 w 309"/>
                <a:gd name="T69" fmla="*/ 191 h 309"/>
                <a:gd name="T70" fmla="*/ 81 w 309"/>
                <a:gd name="T71" fmla="*/ 225 h 309"/>
                <a:gd name="T72" fmla="*/ 84 w 309"/>
                <a:gd name="T73" fmla="*/ 228 h 309"/>
                <a:gd name="T74" fmla="*/ 119 w 309"/>
                <a:gd name="T75" fmla="*/ 281 h 309"/>
                <a:gd name="T76" fmla="*/ 126 w 309"/>
                <a:gd name="T77" fmla="*/ 274 h 309"/>
                <a:gd name="T78" fmla="*/ 107 w 309"/>
                <a:gd name="T79" fmla="*/ 226 h 309"/>
                <a:gd name="T80" fmla="*/ 110 w 309"/>
                <a:gd name="T81" fmla="*/ 215 h 309"/>
                <a:gd name="T82" fmla="*/ 161 w 309"/>
                <a:gd name="T83" fmla="*/ 163 h 309"/>
                <a:gd name="T84" fmla="*/ 171 w 309"/>
                <a:gd name="T85" fmla="*/ 160 h 309"/>
                <a:gd name="T86" fmla="*/ 178 w 309"/>
                <a:gd name="T87" fmla="*/ 165 h 309"/>
                <a:gd name="T88" fmla="*/ 236 w 309"/>
                <a:gd name="T89" fmla="*/ 270 h 309"/>
                <a:gd name="T90" fmla="*/ 244 w 309"/>
                <a:gd name="T91" fmla="*/ 262 h 309"/>
                <a:gd name="T92" fmla="*/ 200 w 309"/>
                <a:gd name="T93" fmla="*/ 132 h 309"/>
                <a:gd name="T94" fmla="*/ 203 w 309"/>
                <a:gd name="T95" fmla="*/ 121 h 309"/>
                <a:gd name="T96" fmla="*/ 263 w 309"/>
                <a:gd name="T97" fmla="*/ 62 h 309"/>
                <a:gd name="T98" fmla="*/ 278 w 309"/>
                <a:gd name="T99" fmla="*/ 31 h 309"/>
                <a:gd name="T100" fmla="*/ 248 w 309"/>
                <a:gd name="T101" fmla="*/ 47 h 309"/>
                <a:gd name="T102" fmla="*/ 188 w 309"/>
                <a:gd name="T103" fmla="*/ 106 h 309"/>
                <a:gd name="T104" fmla="*/ 177 w 309"/>
                <a:gd name="T105" fmla="*/ 109 h 309"/>
                <a:gd name="T106" fmla="*/ 47 w 309"/>
                <a:gd name="T107" fmla="*/ 66 h 309"/>
                <a:gd name="T108" fmla="*/ 40 w 309"/>
                <a:gd name="T109" fmla="*/ 74 h 309"/>
                <a:gd name="T110" fmla="*/ 144 w 309"/>
                <a:gd name="T111" fmla="*/ 131 h 309"/>
                <a:gd name="T112" fmla="*/ 149 w 309"/>
                <a:gd name="T113" fmla="*/ 139 h 309"/>
                <a:gd name="T114" fmla="*/ 146 w 309"/>
                <a:gd name="T115" fmla="*/ 148 h 309"/>
                <a:gd name="T116" fmla="*/ 94 w 309"/>
                <a:gd name="T117" fmla="*/ 200 h 309"/>
                <a:gd name="T118" fmla="*/ 83 w 309"/>
                <a:gd name="T119" fmla="*/ 202 h 309"/>
                <a:gd name="T120" fmla="*/ 36 w 309"/>
                <a:gd name="T121" fmla="*/ 183 h 309"/>
                <a:gd name="T122" fmla="*/ 28 w 309"/>
                <a:gd name="T123" fmla="*/ 19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9" h="309">
                  <a:moveTo>
                    <a:pt x="117" y="309"/>
                  </a:moveTo>
                  <a:cubicBezTo>
                    <a:pt x="117" y="309"/>
                    <a:pt x="116" y="309"/>
                    <a:pt x="116" y="309"/>
                  </a:cubicBezTo>
                  <a:cubicBezTo>
                    <a:pt x="113" y="308"/>
                    <a:pt x="110" y="307"/>
                    <a:pt x="108" y="304"/>
                  </a:cubicBezTo>
                  <a:cubicBezTo>
                    <a:pt x="68" y="242"/>
                    <a:pt x="68" y="242"/>
                    <a:pt x="68" y="242"/>
                  </a:cubicBezTo>
                  <a:cubicBezTo>
                    <a:pt x="5" y="201"/>
                    <a:pt x="5" y="201"/>
                    <a:pt x="5" y="201"/>
                  </a:cubicBezTo>
                  <a:cubicBezTo>
                    <a:pt x="3" y="200"/>
                    <a:pt x="1" y="197"/>
                    <a:pt x="1" y="194"/>
                  </a:cubicBezTo>
                  <a:cubicBezTo>
                    <a:pt x="0" y="190"/>
                    <a:pt x="1" y="187"/>
                    <a:pt x="4" y="185"/>
                  </a:cubicBezTo>
                  <a:cubicBezTo>
                    <a:pt x="26" y="163"/>
                    <a:pt x="26" y="163"/>
                    <a:pt x="26" y="163"/>
                  </a:cubicBezTo>
                  <a:cubicBezTo>
                    <a:pt x="29" y="160"/>
                    <a:pt x="33" y="159"/>
                    <a:pt x="37" y="161"/>
                  </a:cubicBezTo>
                  <a:cubicBezTo>
                    <a:pt x="84" y="180"/>
                    <a:pt x="84" y="180"/>
                    <a:pt x="84" y="180"/>
                  </a:cubicBezTo>
                  <a:cubicBezTo>
                    <a:pt x="121" y="143"/>
                    <a:pt x="121" y="143"/>
                    <a:pt x="121" y="143"/>
                  </a:cubicBezTo>
                  <a:cubicBezTo>
                    <a:pt x="17" y="86"/>
                    <a:pt x="17" y="86"/>
                    <a:pt x="17" y="86"/>
                  </a:cubicBezTo>
                  <a:cubicBezTo>
                    <a:pt x="14" y="84"/>
                    <a:pt x="12" y="81"/>
                    <a:pt x="11" y="78"/>
                  </a:cubicBezTo>
                  <a:cubicBezTo>
                    <a:pt x="11" y="74"/>
                    <a:pt x="12" y="71"/>
                    <a:pt x="14" y="69"/>
                  </a:cubicBezTo>
                  <a:cubicBezTo>
                    <a:pt x="37" y="46"/>
                    <a:pt x="37" y="46"/>
                    <a:pt x="37" y="46"/>
                  </a:cubicBezTo>
                  <a:cubicBezTo>
                    <a:pt x="40" y="43"/>
                    <a:pt x="44" y="42"/>
                    <a:pt x="48" y="43"/>
                  </a:cubicBezTo>
                  <a:cubicBezTo>
                    <a:pt x="177" y="87"/>
                    <a:pt x="177" y="87"/>
                    <a:pt x="177" y="87"/>
                  </a:cubicBezTo>
                  <a:cubicBezTo>
                    <a:pt x="233" y="31"/>
                    <a:pt x="233" y="31"/>
                    <a:pt x="233" y="31"/>
                  </a:cubicBezTo>
                  <a:cubicBezTo>
                    <a:pt x="233" y="31"/>
                    <a:pt x="234" y="30"/>
                    <a:pt x="234" y="30"/>
                  </a:cubicBezTo>
                  <a:cubicBezTo>
                    <a:pt x="247" y="20"/>
                    <a:pt x="278" y="0"/>
                    <a:pt x="294" y="16"/>
                  </a:cubicBezTo>
                  <a:cubicBezTo>
                    <a:pt x="309" y="32"/>
                    <a:pt x="289" y="63"/>
                    <a:pt x="279" y="75"/>
                  </a:cubicBezTo>
                  <a:cubicBezTo>
                    <a:pt x="279" y="75"/>
                    <a:pt x="279" y="76"/>
                    <a:pt x="278" y="76"/>
                  </a:cubicBezTo>
                  <a:cubicBezTo>
                    <a:pt x="223" y="132"/>
                    <a:pt x="223" y="132"/>
                    <a:pt x="223" y="132"/>
                  </a:cubicBezTo>
                  <a:cubicBezTo>
                    <a:pt x="266" y="261"/>
                    <a:pt x="266" y="261"/>
                    <a:pt x="266" y="261"/>
                  </a:cubicBezTo>
                  <a:cubicBezTo>
                    <a:pt x="267" y="265"/>
                    <a:pt x="266" y="269"/>
                    <a:pt x="263" y="272"/>
                  </a:cubicBezTo>
                  <a:cubicBezTo>
                    <a:pt x="241" y="295"/>
                    <a:pt x="241" y="295"/>
                    <a:pt x="241" y="295"/>
                  </a:cubicBezTo>
                  <a:cubicBezTo>
                    <a:pt x="238" y="297"/>
                    <a:pt x="235" y="298"/>
                    <a:pt x="232" y="298"/>
                  </a:cubicBezTo>
                  <a:cubicBezTo>
                    <a:pt x="228" y="297"/>
                    <a:pt x="225" y="295"/>
                    <a:pt x="224" y="292"/>
                  </a:cubicBezTo>
                  <a:cubicBezTo>
                    <a:pt x="167" y="188"/>
                    <a:pt x="167" y="188"/>
                    <a:pt x="167" y="188"/>
                  </a:cubicBezTo>
                  <a:cubicBezTo>
                    <a:pt x="130" y="225"/>
                    <a:pt x="130" y="225"/>
                    <a:pt x="130" y="225"/>
                  </a:cubicBezTo>
                  <a:cubicBezTo>
                    <a:pt x="149" y="272"/>
                    <a:pt x="149" y="272"/>
                    <a:pt x="149" y="272"/>
                  </a:cubicBezTo>
                  <a:cubicBezTo>
                    <a:pt x="150" y="276"/>
                    <a:pt x="149" y="281"/>
                    <a:pt x="146" y="284"/>
                  </a:cubicBezTo>
                  <a:cubicBezTo>
                    <a:pt x="124" y="306"/>
                    <a:pt x="124" y="306"/>
                    <a:pt x="124" y="306"/>
                  </a:cubicBezTo>
                  <a:cubicBezTo>
                    <a:pt x="122" y="308"/>
                    <a:pt x="120" y="309"/>
                    <a:pt x="117" y="309"/>
                  </a:cubicBezTo>
                  <a:close/>
                  <a:moveTo>
                    <a:pt x="28" y="191"/>
                  </a:moveTo>
                  <a:cubicBezTo>
                    <a:pt x="81" y="225"/>
                    <a:pt x="81" y="225"/>
                    <a:pt x="81" y="225"/>
                  </a:cubicBezTo>
                  <a:cubicBezTo>
                    <a:pt x="82" y="226"/>
                    <a:pt x="84" y="227"/>
                    <a:pt x="84" y="228"/>
                  </a:cubicBezTo>
                  <a:cubicBezTo>
                    <a:pt x="119" y="281"/>
                    <a:pt x="119" y="281"/>
                    <a:pt x="119" y="281"/>
                  </a:cubicBezTo>
                  <a:cubicBezTo>
                    <a:pt x="126" y="274"/>
                    <a:pt x="126" y="274"/>
                    <a:pt x="126" y="274"/>
                  </a:cubicBezTo>
                  <a:cubicBezTo>
                    <a:pt x="107" y="226"/>
                    <a:pt x="107" y="226"/>
                    <a:pt x="107" y="226"/>
                  </a:cubicBezTo>
                  <a:cubicBezTo>
                    <a:pt x="106" y="222"/>
                    <a:pt x="107" y="218"/>
                    <a:pt x="110" y="215"/>
                  </a:cubicBezTo>
                  <a:cubicBezTo>
                    <a:pt x="161" y="163"/>
                    <a:pt x="161" y="163"/>
                    <a:pt x="161" y="163"/>
                  </a:cubicBezTo>
                  <a:cubicBezTo>
                    <a:pt x="164" y="161"/>
                    <a:pt x="167" y="159"/>
                    <a:pt x="171" y="160"/>
                  </a:cubicBezTo>
                  <a:cubicBezTo>
                    <a:pt x="174" y="160"/>
                    <a:pt x="177" y="162"/>
                    <a:pt x="178" y="165"/>
                  </a:cubicBezTo>
                  <a:cubicBezTo>
                    <a:pt x="236" y="270"/>
                    <a:pt x="236" y="270"/>
                    <a:pt x="236" y="270"/>
                  </a:cubicBezTo>
                  <a:cubicBezTo>
                    <a:pt x="244" y="262"/>
                    <a:pt x="244" y="262"/>
                    <a:pt x="244" y="262"/>
                  </a:cubicBezTo>
                  <a:cubicBezTo>
                    <a:pt x="200" y="132"/>
                    <a:pt x="200" y="132"/>
                    <a:pt x="200" y="132"/>
                  </a:cubicBezTo>
                  <a:cubicBezTo>
                    <a:pt x="199" y="129"/>
                    <a:pt x="200" y="124"/>
                    <a:pt x="203" y="121"/>
                  </a:cubicBezTo>
                  <a:cubicBezTo>
                    <a:pt x="263" y="62"/>
                    <a:pt x="263" y="62"/>
                    <a:pt x="263" y="62"/>
                  </a:cubicBezTo>
                  <a:cubicBezTo>
                    <a:pt x="271" y="50"/>
                    <a:pt x="278" y="37"/>
                    <a:pt x="278" y="31"/>
                  </a:cubicBezTo>
                  <a:cubicBezTo>
                    <a:pt x="273" y="31"/>
                    <a:pt x="259" y="38"/>
                    <a:pt x="248" y="47"/>
                  </a:cubicBezTo>
                  <a:cubicBezTo>
                    <a:pt x="188" y="106"/>
                    <a:pt x="188" y="106"/>
                    <a:pt x="188" y="106"/>
                  </a:cubicBezTo>
                  <a:cubicBezTo>
                    <a:pt x="185" y="109"/>
                    <a:pt x="181" y="110"/>
                    <a:pt x="177" y="109"/>
                  </a:cubicBezTo>
                  <a:cubicBezTo>
                    <a:pt x="47" y="66"/>
                    <a:pt x="47" y="66"/>
                    <a:pt x="47" y="66"/>
                  </a:cubicBezTo>
                  <a:cubicBezTo>
                    <a:pt x="40" y="74"/>
                    <a:pt x="40" y="74"/>
                    <a:pt x="40" y="74"/>
                  </a:cubicBezTo>
                  <a:cubicBezTo>
                    <a:pt x="144" y="131"/>
                    <a:pt x="144" y="131"/>
                    <a:pt x="144" y="131"/>
                  </a:cubicBezTo>
                  <a:cubicBezTo>
                    <a:pt x="147" y="133"/>
                    <a:pt x="149" y="135"/>
                    <a:pt x="149" y="139"/>
                  </a:cubicBezTo>
                  <a:cubicBezTo>
                    <a:pt x="150" y="142"/>
                    <a:pt x="149" y="145"/>
                    <a:pt x="146" y="148"/>
                  </a:cubicBezTo>
                  <a:cubicBezTo>
                    <a:pt x="94" y="200"/>
                    <a:pt x="94" y="200"/>
                    <a:pt x="94" y="200"/>
                  </a:cubicBezTo>
                  <a:cubicBezTo>
                    <a:pt x="91" y="203"/>
                    <a:pt x="87" y="204"/>
                    <a:pt x="83" y="202"/>
                  </a:cubicBezTo>
                  <a:cubicBezTo>
                    <a:pt x="36" y="183"/>
                    <a:pt x="36" y="183"/>
                    <a:pt x="36" y="183"/>
                  </a:cubicBezTo>
                  <a:lnTo>
                    <a:pt x="28" y="191"/>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cxnSp>
        <p:nvCxnSpPr>
          <p:cNvPr id="38" name="Straight Connector 37"/>
          <p:cNvCxnSpPr/>
          <p:nvPr/>
        </p:nvCxnSpPr>
        <p:spPr>
          <a:xfrm>
            <a:off x="2833140" y="2762562"/>
            <a:ext cx="0" cy="2848131"/>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321508" y="2762562"/>
            <a:ext cx="0" cy="2848131"/>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7809875" y="2762562"/>
            <a:ext cx="0" cy="2848131"/>
          </a:xfrm>
          <a:prstGeom prst="line">
            <a:avLst/>
          </a:prstGeom>
          <a:ln>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About Deloitte</a:t>
            </a:r>
          </a:p>
        </p:txBody>
      </p:sp>
      <p:cxnSp>
        <p:nvCxnSpPr>
          <p:cNvPr id="43" name="Straight Connector 42"/>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263396" y="331644"/>
            <a:ext cx="10103234" cy="425758"/>
          </a:xfrm>
          <a:prstGeom prst="rect">
            <a:avLst/>
          </a:prstGeom>
        </p:spPr>
        <p:txBody>
          <a:bodyPr wrap="square">
            <a:spAutoFit/>
          </a:bodyPr>
          <a:lstStyle/>
          <a:p>
            <a:pPr defTabSz="914253">
              <a:lnSpc>
                <a:spcPts val="2599"/>
              </a:lnSpc>
            </a:pPr>
            <a:r>
              <a:rPr lang="en-US" sz="2400" dirty="0">
                <a:latin typeface="Verdana" panose="020B0604030504040204" pitchFamily="34" charset="0"/>
                <a:ea typeface="Verdana" panose="020B0604030504040204" pitchFamily="34" charset="0"/>
                <a:cs typeface="Verdana" panose="020B0604030504040204" pitchFamily="34" charset="0"/>
              </a:rPr>
              <a:t>Why Bank On Us?</a:t>
            </a:r>
          </a:p>
        </p:txBody>
      </p:sp>
    </p:spTree>
    <p:extLst>
      <p:ext uri="{BB962C8B-B14F-4D97-AF65-F5344CB8AC3E}">
        <p14:creationId xmlns:p14="http://schemas.microsoft.com/office/powerpoint/2010/main" val="96393456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a:xfrm>
            <a:off x="2290627" y="57154"/>
            <a:ext cx="8149613" cy="307777"/>
          </a:xfrm>
          <a:prstGeom prst="rect">
            <a:avLst/>
          </a:prstGeom>
        </p:spPr>
        <p:txBody>
          <a:bodyPr wrap="square">
            <a:spAutoFit/>
          </a:bodyPr>
          <a:lstStyle/>
          <a:p>
            <a:pPr algn="r"/>
            <a:r>
              <a:rPr lang="en-US" sz="1400" dirty="0">
                <a:solidFill>
                  <a:schemeClr val="accent2"/>
                </a:solidFill>
                <a:latin typeface="Verdana" panose="020B0604030504040204" pitchFamily="34" charset="0"/>
                <a:ea typeface="Verdana" panose="020B0604030504040204" pitchFamily="34" charset="0"/>
                <a:cs typeface="Verdana" panose="020B0604030504040204" pitchFamily="34" charset="0"/>
              </a:rPr>
              <a:t>About Deloitte</a:t>
            </a:r>
          </a:p>
        </p:txBody>
      </p:sp>
      <p:sp>
        <p:nvSpPr>
          <p:cNvPr id="27" name="Rectangle 26"/>
          <p:cNvSpPr/>
          <p:nvPr/>
        </p:nvSpPr>
        <p:spPr>
          <a:xfrm>
            <a:off x="263396" y="331644"/>
            <a:ext cx="10103234" cy="425758"/>
          </a:xfrm>
          <a:prstGeom prst="rect">
            <a:avLst/>
          </a:prstGeom>
        </p:spPr>
        <p:txBody>
          <a:bodyPr wrap="square">
            <a:spAutoFit/>
          </a:bodyPr>
          <a:lstStyle/>
          <a:p>
            <a:pPr defTabSz="914253">
              <a:lnSpc>
                <a:spcPts val="2599"/>
              </a:lnSpc>
            </a:pPr>
            <a:r>
              <a:rPr lang="en-GB" sz="2400" dirty="0"/>
              <a:t>What makes us different?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28" name="Rectangle 27"/>
          <p:cNvSpPr/>
          <p:nvPr/>
        </p:nvSpPr>
        <p:spPr bwMode="gray">
          <a:xfrm>
            <a:off x="332894" y="1701800"/>
            <a:ext cx="10004907" cy="4902200"/>
          </a:xfrm>
          <a:prstGeom prst="rect">
            <a:avLst/>
          </a:prstGeom>
          <a:solidFill>
            <a:schemeClr val="bg1">
              <a:lumMod val="95000"/>
            </a:schemeClr>
          </a:solidFill>
          <a:ln w="19050" algn="ctr">
            <a:solidFill>
              <a:schemeClr val="bg1">
                <a:lumMod val="95000"/>
              </a:schemeClr>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endParaRPr>
          </a:p>
        </p:txBody>
      </p:sp>
      <p:pic>
        <p:nvPicPr>
          <p:cNvPr id="29" name="Content Placeholder 22"/>
          <p:cNvPicPr>
            <a:picLocks noChangeAspect="1"/>
          </p:cNvPicPr>
          <p:nvPr/>
        </p:nvPicPr>
        <p:blipFill>
          <a:blip r:embed="rId3"/>
          <a:stretch>
            <a:fillRect/>
          </a:stretch>
        </p:blipFill>
        <p:spPr>
          <a:xfrm>
            <a:off x="552585" y="3671834"/>
            <a:ext cx="1879567" cy="1201529"/>
          </a:xfrm>
          <a:prstGeom prst="rect">
            <a:avLst/>
          </a:prstGeom>
          <a:ln>
            <a:solidFill>
              <a:schemeClr val="accent4"/>
            </a:solidFill>
          </a:ln>
        </p:spPr>
      </p:pic>
      <p:graphicFrame>
        <p:nvGraphicFramePr>
          <p:cNvPr id="30" name="Content Placeholder 23"/>
          <p:cNvGraphicFramePr>
            <a:graphicFrameLocks/>
          </p:cNvGraphicFramePr>
          <p:nvPr/>
        </p:nvGraphicFramePr>
        <p:xfrm>
          <a:off x="552585" y="2124495"/>
          <a:ext cx="1935495" cy="1143000"/>
        </p:xfrm>
        <a:graphic>
          <a:graphicData uri="http://schemas.openxmlformats.org/drawingml/2006/table">
            <a:tbl>
              <a:tblPr>
                <a:tableStyleId>{1FECB4D8-DB02-4DC6-A0A2-4F2EBAE1DC90}</a:tableStyleId>
              </a:tblPr>
              <a:tblGrid>
                <a:gridCol w="1935495">
                  <a:extLst>
                    <a:ext uri="{9D8B030D-6E8A-4147-A177-3AD203B41FA5}">
                      <a16:colId xmlns:a16="http://schemas.microsoft.com/office/drawing/2014/main" val="2314432483"/>
                    </a:ext>
                  </a:extLst>
                </a:gridCol>
              </a:tblGrid>
              <a:tr h="182880">
                <a:tc>
                  <a:txBody>
                    <a:bodyPr/>
                    <a:lstStyle/>
                    <a:p>
                      <a:pPr algn="ctr" fontAlgn="b"/>
                      <a:r>
                        <a:rPr lang="en-IN" sz="1200" u="none" strike="noStrike" dirty="0">
                          <a:effectLst/>
                        </a:rPr>
                        <a:t>Target Screening</a:t>
                      </a:r>
                      <a:endParaRPr lang="en-IN" sz="1200" b="0" i="0" u="none" strike="noStrike" dirty="0">
                        <a:solidFill>
                          <a:srgbClr val="000000"/>
                        </a:solidFill>
                        <a:effectLst/>
                        <a:latin typeface="Verdana" panose="020B0604030504040204" pitchFamily="34" charset="0"/>
                      </a:endParaRPr>
                    </a:p>
                  </a:txBody>
                  <a:tcPr marL="7620" marR="7620" marT="7620" marB="0" anchor="b"/>
                </a:tc>
                <a:extLst>
                  <a:ext uri="{0D108BD9-81ED-4DB2-BD59-A6C34878D82A}">
                    <a16:rowId xmlns:a16="http://schemas.microsoft.com/office/drawing/2014/main" val="3851974948"/>
                  </a:ext>
                </a:extLst>
              </a:tr>
              <a:tr h="182880">
                <a:tc>
                  <a:txBody>
                    <a:bodyPr/>
                    <a:lstStyle/>
                    <a:p>
                      <a:pPr algn="ctr" fontAlgn="b"/>
                      <a:r>
                        <a:rPr lang="en-IN" sz="1200" u="none" strike="noStrike" dirty="0">
                          <a:effectLst/>
                        </a:rPr>
                        <a:t>Due Diligence</a:t>
                      </a:r>
                      <a:endParaRPr lang="en-IN" sz="1200" b="0" i="0" u="none" strike="noStrike" dirty="0">
                        <a:solidFill>
                          <a:srgbClr val="000000"/>
                        </a:solidFill>
                        <a:effectLst/>
                        <a:latin typeface="Verdana" panose="020B0604030504040204" pitchFamily="34" charset="0"/>
                      </a:endParaRPr>
                    </a:p>
                  </a:txBody>
                  <a:tcPr marL="7620" marR="7620" marT="7620" marB="0" anchor="b"/>
                </a:tc>
                <a:extLst>
                  <a:ext uri="{0D108BD9-81ED-4DB2-BD59-A6C34878D82A}">
                    <a16:rowId xmlns:a16="http://schemas.microsoft.com/office/drawing/2014/main" val="452405735"/>
                  </a:ext>
                </a:extLst>
              </a:tr>
              <a:tr h="182880">
                <a:tc>
                  <a:txBody>
                    <a:bodyPr/>
                    <a:lstStyle/>
                    <a:p>
                      <a:pPr algn="ctr" fontAlgn="b"/>
                      <a:r>
                        <a:rPr lang="en-IN" sz="1200" u="none" strike="noStrike" dirty="0">
                          <a:effectLst/>
                        </a:rPr>
                        <a:t>Transaction Execution</a:t>
                      </a:r>
                      <a:endParaRPr lang="en-IN" sz="1200" b="0" i="0" u="none" strike="noStrike" dirty="0">
                        <a:solidFill>
                          <a:srgbClr val="000000"/>
                        </a:solidFill>
                        <a:effectLst/>
                        <a:latin typeface="Verdana" panose="020B0604030504040204" pitchFamily="34" charset="0"/>
                      </a:endParaRPr>
                    </a:p>
                  </a:txBody>
                  <a:tcPr marL="7620" marR="7620" marT="7620" marB="0" anchor="b"/>
                </a:tc>
                <a:extLst>
                  <a:ext uri="{0D108BD9-81ED-4DB2-BD59-A6C34878D82A}">
                    <a16:rowId xmlns:a16="http://schemas.microsoft.com/office/drawing/2014/main" val="1041776489"/>
                  </a:ext>
                </a:extLst>
              </a:tr>
              <a:tr h="182880">
                <a:tc>
                  <a:txBody>
                    <a:bodyPr/>
                    <a:lstStyle/>
                    <a:p>
                      <a:pPr algn="ctr" fontAlgn="b"/>
                      <a:r>
                        <a:rPr lang="en-IN" sz="1200" u="none" strike="noStrike" dirty="0">
                          <a:effectLst/>
                        </a:rPr>
                        <a:t>M&amp;A Strategy</a:t>
                      </a:r>
                      <a:endParaRPr lang="en-IN" sz="1200" b="0" i="0" u="none" strike="noStrike" dirty="0">
                        <a:solidFill>
                          <a:srgbClr val="000000"/>
                        </a:solidFill>
                        <a:effectLst/>
                        <a:latin typeface="Verdana" panose="020B0604030504040204" pitchFamily="34" charset="0"/>
                      </a:endParaRPr>
                    </a:p>
                  </a:txBody>
                  <a:tcPr marL="7620" marR="7620" marT="7620" marB="0" anchor="b"/>
                </a:tc>
                <a:extLst>
                  <a:ext uri="{0D108BD9-81ED-4DB2-BD59-A6C34878D82A}">
                    <a16:rowId xmlns:a16="http://schemas.microsoft.com/office/drawing/2014/main" val="2347071023"/>
                  </a:ext>
                </a:extLst>
              </a:tr>
              <a:tr h="182880">
                <a:tc>
                  <a:txBody>
                    <a:bodyPr/>
                    <a:lstStyle/>
                    <a:p>
                      <a:pPr algn="ctr" fontAlgn="b"/>
                      <a:r>
                        <a:rPr lang="en-IN" sz="1200" u="none" strike="noStrike" dirty="0">
                          <a:effectLst/>
                        </a:rPr>
                        <a:t>Integration</a:t>
                      </a:r>
                      <a:endParaRPr lang="en-IN" sz="1200" b="0" i="0" u="none" strike="noStrike" dirty="0">
                        <a:solidFill>
                          <a:srgbClr val="000000"/>
                        </a:solidFill>
                        <a:effectLst/>
                        <a:latin typeface="Verdana" panose="020B0604030504040204" pitchFamily="34" charset="0"/>
                      </a:endParaRPr>
                    </a:p>
                  </a:txBody>
                  <a:tcPr marL="7620" marR="7620" marT="7620" marB="0" anchor="b"/>
                </a:tc>
                <a:extLst>
                  <a:ext uri="{0D108BD9-81ED-4DB2-BD59-A6C34878D82A}">
                    <a16:rowId xmlns:a16="http://schemas.microsoft.com/office/drawing/2014/main" val="2036080139"/>
                  </a:ext>
                </a:extLst>
              </a:tr>
              <a:tr h="182880">
                <a:tc>
                  <a:txBody>
                    <a:bodyPr/>
                    <a:lstStyle/>
                    <a:p>
                      <a:pPr algn="ctr" rtl="0" fontAlgn="ctr"/>
                      <a:r>
                        <a:rPr lang="en-IN" sz="1200" u="none" strike="noStrike" dirty="0">
                          <a:effectLst/>
                        </a:rPr>
                        <a:t>Divestiture</a:t>
                      </a:r>
                      <a:endParaRPr lang="en-IN" sz="1200" b="0" i="0" u="none" strike="noStrike" dirty="0">
                        <a:solidFill>
                          <a:srgbClr val="000000"/>
                        </a:solidFill>
                        <a:effectLst/>
                        <a:latin typeface="Verdana" panose="020B0604030504040204" pitchFamily="34" charset="0"/>
                      </a:endParaRPr>
                    </a:p>
                  </a:txBody>
                  <a:tcPr marL="7620" marR="7620" marT="7620" marB="0" anchor="ctr"/>
                </a:tc>
                <a:extLst>
                  <a:ext uri="{0D108BD9-81ED-4DB2-BD59-A6C34878D82A}">
                    <a16:rowId xmlns:a16="http://schemas.microsoft.com/office/drawing/2014/main" val="938523082"/>
                  </a:ext>
                </a:extLst>
              </a:tr>
            </a:tbl>
          </a:graphicData>
        </a:graphic>
      </p:graphicFrame>
      <p:sp>
        <p:nvSpPr>
          <p:cNvPr id="31" name="Rectangle 30"/>
          <p:cNvSpPr/>
          <p:nvPr/>
        </p:nvSpPr>
        <p:spPr>
          <a:xfrm>
            <a:off x="2589039" y="2181650"/>
            <a:ext cx="2915176" cy="1015663"/>
          </a:xfrm>
          <a:prstGeom prst="rect">
            <a:avLst/>
          </a:prstGeom>
        </p:spPr>
        <p:txBody>
          <a:bodyPr wrap="square">
            <a:spAutoFit/>
          </a:bodyPr>
          <a:lstStyle/>
          <a:p>
            <a:pPr algn="just"/>
            <a:r>
              <a:rPr lang="en-US" sz="1200" dirty="0">
                <a:latin typeface="+mj-lt"/>
              </a:rPr>
              <a:t>Deloitte's proven approach to managing successful mergers and acquisitions. The methodology guides our clients through the six phases of the life cycle.</a:t>
            </a:r>
            <a:endParaRPr lang="en-GB" sz="1200" dirty="0">
              <a:latin typeface="+mj-lt"/>
            </a:endParaRPr>
          </a:p>
        </p:txBody>
      </p:sp>
      <p:sp>
        <p:nvSpPr>
          <p:cNvPr id="32" name="Rectangle 31"/>
          <p:cNvSpPr/>
          <p:nvPr/>
        </p:nvSpPr>
        <p:spPr>
          <a:xfrm>
            <a:off x="2633073" y="5248267"/>
            <a:ext cx="2879409" cy="1015663"/>
          </a:xfrm>
          <a:prstGeom prst="rect">
            <a:avLst/>
          </a:prstGeom>
        </p:spPr>
        <p:txBody>
          <a:bodyPr wrap="square">
            <a:spAutoFit/>
          </a:bodyPr>
          <a:lstStyle/>
          <a:p>
            <a:pPr algn="just"/>
            <a:r>
              <a:rPr lang="en-GB" sz="1200" dirty="0"/>
              <a:t>Designed from a client’s </a:t>
            </a:r>
            <a:r>
              <a:rPr lang="en-US" sz="1200" dirty="0"/>
              <a:t>point of view, EVM is a </a:t>
            </a:r>
            <a:r>
              <a:rPr lang="en-GB" sz="1200" dirty="0"/>
              <a:t>management framework that shows relationships between shareholder value and business operations.</a:t>
            </a:r>
          </a:p>
        </p:txBody>
      </p:sp>
      <p:sp>
        <p:nvSpPr>
          <p:cNvPr id="33" name="Rectangle 32"/>
          <p:cNvSpPr/>
          <p:nvPr/>
        </p:nvSpPr>
        <p:spPr>
          <a:xfrm>
            <a:off x="2597306" y="3580100"/>
            <a:ext cx="2915178" cy="1384995"/>
          </a:xfrm>
          <a:prstGeom prst="rect">
            <a:avLst/>
          </a:prstGeom>
        </p:spPr>
        <p:txBody>
          <a:bodyPr wrap="square">
            <a:spAutoFit/>
          </a:bodyPr>
          <a:lstStyle/>
          <a:p>
            <a:pPr algn="just"/>
            <a:r>
              <a:rPr lang="en-GB" sz="1200" dirty="0">
                <a:latin typeface="+mj-lt"/>
              </a:rPr>
              <a:t>Helps build a conceptual framework for solving complex business issues. Includes assessment of skills, market trends, customer, industry and competitor to facilitate strategy transformation.</a:t>
            </a:r>
          </a:p>
        </p:txBody>
      </p:sp>
      <p:pic>
        <p:nvPicPr>
          <p:cNvPr id="3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46525" y="2175388"/>
            <a:ext cx="1395651" cy="2084832"/>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chemeClr val="accent1"/>
                </a:solidFill>
              </a14:hiddenFill>
            </a:ext>
          </a:extLst>
        </p:spPr>
      </p:pic>
      <p:pic>
        <p:nvPicPr>
          <p:cNvPr id="3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6730"/>
          <a:stretch/>
        </p:blipFill>
        <p:spPr bwMode="auto">
          <a:xfrm>
            <a:off x="5865097" y="2167645"/>
            <a:ext cx="1390520" cy="2084832"/>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chemeClr val="accent1"/>
                </a:solidFill>
              </a14:hiddenFill>
            </a:ext>
          </a:extLst>
        </p:spPr>
      </p:pic>
      <p:pic>
        <p:nvPicPr>
          <p:cNvPr id="36"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14164" y="2167645"/>
            <a:ext cx="1390520" cy="2084832"/>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chemeClr val="accent1"/>
                </a:solidFill>
              </a14:hiddenFill>
            </a:ext>
          </a:extLst>
        </p:spPr>
      </p:pic>
      <p:pic>
        <p:nvPicPr>
          <p:cNvPr id="37" name="Picture 10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86613" y="4419356"/>
            <a:ext cx="1371600" cy="1940743"/>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chemeClr val="accent1"/>
                </a:solidFill>
              </a14:hiddenFill>
            </a:ext>
          </a:extLst>
        </p:spPr>
      </p:pic>
      <p:pic>
        <p:nvPicPr>
          <p:cNvPr id="38" name="Picture 112"/>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t="1" b="-6498"/>
          <a:stretch/>
        </p:blipFill>
        <p:spPr bwMode="auto">
          <a:xfrm>
            <a:off x="5877060" y="4419356"/>
            <a:ext cx="1390520" cy="1940744"/>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chemeClr val="accent1"/>
                </a:solidFill>
              </a14:hiddenFill>
            </a:ext>
          </a:extLst>
        </p:spPr>
      </p:pic>
      <p:pic>
        <p:nvPicPr>
          <p:cNvPr id="39" name="Picture 11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877246" y="4419355"/>
            <a:ext cx="1371600" cy="1940743"/>
          </a:xfrm>
          <a:prstGeom prst="rect">
            <a:avLst/>
          </a:prstGeom>
          <a:noFill/>
          <a:ln w="9525">
            <a:solidFill>
              <a:sysClr val="windowText" lastClr="000000"/>
            </a:solidFill>
            <a:miter lim="800000"/>
            <a:headEnd/>
            <a:tailEnd/>
          </a:ln>
          <a:extLst>
            <a:ext uri="{909E8E84-426E-40DD-AFC4-6F175D3DCCD1}">
              <a14:hiddenFill xmlns:a14="http://schemas.microsoft.com/office/drawing/2010/main">
                <a:solidFill>
                  <a:schemeClr val="accent1"/>
                </a:solidFill>
              </a14:hiddenFill>
            </a:ext>
          </a:extLst>
        </p:spPr>
      </p:pic>
      <p:pic>
        <p:nvPicPr>
          <p:cNvPr id="40" name="Picture 39"/>
          <p:cNvPicPr>
            <a:picLocks noChangeAspect="1"/>
          </p:cNvPicPr>
          <p:nvPr/>
        </p:nvPicPr>
        <p:blipFill>
          <a:blip r:embed="rId10"/>
          <a:stretch>
            <a:fillRect/>
          </a:stretch>
        </p:blipFill>
        <p:spPr>
          <a:xfrm>
            <a:off x="552585" y="5275465"/>
            <a:ext cx="1879567" cy="983008"/>
          </a:xfrm>
          <a:prstGeom prst="rect">
            <a:avLst/>
          </a:prstGeom>
          <a:ln>
            <a:solidFill>
              <a:schemeClr val="accent4"/>
            </a:solidFill>
          </a:ln>
        </p:spPr>
      </p:pic>
      <p:sp>
        <p:nvSpPr>
          <p:cNvPr id="41" name="Rectangle 40"/>
          <p:cNvSpPr/>
          <p:nvPr/>
        </p:nvSpPr>
        <p:spPr>
          <a:xfrm>
            <a:off x="3143444" y="1926552"/>
            <a:ext cx="1630575" cy="261610"/>
          </a:xfrm>
          <a:prstGeom prst="rect">
            <a:avLst/>
          </a:prstGeom>
        </p:spPr>
        <p:txBody>
          <a:bodyPr wrap="none">
            <a:spAutoFit/>
          </a:bodyPr>
          <a:lstStyle/>
          <a:p>
            <a:r>
              <a:rPr lang="en-US" sz="1100" b="1" dirty="0"/>
              <a:t>M&amp;A methodology</a:t>
            </a:r>
            <a:endParaRPr lang="en-GB" sz="1100" b="1" dirty="0"/>
          </a:p>
        </p:txBody>
      </p:sp>
      <p:sp>
        <p:nvSpPr>
          <p:cNvPr id="60" name="Rectangle 59"/>
          <p:cNvSpPr/>
          <p:nvPr/>
        </p:nvSpPr>
        <p:spPr>
          <a:xfrm>
            <a:off x="2850162" y="3361464"/>
            <a:ext cx="2494594" cy="261610"/>
          </a:xfrm>
          <a:prstGeom prst="rect">
            <a:avLst/>
          </a:prstGeom>
        </p:spPr>
        <p:txBody>
          <a:bodyPr wrap="none">
            <a:spAutoFit/>
          </a:bodyPr>
          <a:lstStyle/>
          <a:p>
            <a:r>
              <a:rPr lang="en-US" sz="1100" b="1" dirty="0"/>
              <a:t>Competitive Strategy Method</a:t>
            </a:r>
            <a:endParaRPr lang="en-GB" sz="1100" b="1" dirty="0"/>
          </a:p>
        </p:txBody>
      </p:sp>
      <p:sp>
        <p:nvSpPr>
          <p:cNvPr id="61" name="Rectangle 60"/>
          <p:cNvSpPr/>
          <p:nvPr/>
        </p:nvSpPr>
        <p:spPr>
          <a:xfrm>
            <a:off x="2975688" y="4965095"/>
            <a:ext cx="1871025" cy="261610"/>
          </a:xfrm>
          <a:prstGeom prst="rect">
            <a:avLst/>
          </a:prstGeom>
        </p:spPr>
        <p:txBody>
          <a:bodyPr wrap="none">
            <a:spAutoFit/>
          </a:bodyPr>
          <a:lstStyle/>
          <a:p>
            <a:r>
              <a:rPr lang="en-US" sz="1100" b="1" dirty="0"/>
              <a:t>Enterprise Value Map</a:t>
            </a:r>
            <a:endParaRPr lang="en-GB" sz="1100" b="1" dirty="0"/>
          </a:p>
        </p:txBody>
      </p:sp>
      <p:sp>
        <p:nvSpPr>
          <p:cNvPr id="62" name="Rectangle 61"/>
          <p:cNvSpPr/>
          <p:nvPr/>
        </p:nvSpPr>
        <p:spPr>
          <a:xfrm>
            <a:off x="6848118" y="1873768"/>
            <a:ext cx="2661306" cy="261610"/>
          </a:xfrm>
          <a:prstGeom prst="rect">
            <a:avLst/>
          </a:prstGeom>
        </p:spPr>
        <p:txBody>
          <a:bodyPr wrap="none">
            <a:spAutoFit/>
          </a:bodyPr>
          <a:lstStyle/>
          <a:p>
            <a:r>
              <a:rPr lang="en-US" sz="1100" b="1" dirty="0"/>
              <a:t>Thought Leadership in Aviation</a:t>
            </a:r>
            <a:endParaRPr lang="en-GB" sz="1100" b="1" dirty="0"/>
          </a:p>
        </p:txBody>
      </p:sp>
      <p:sp>
        <p:nvSpPr>
          <p:cNvPr id="63" name="Rectangle 62"/>
          <p:cNvSpPr/>
          <p:nvPr/>
        </p:nvSpPr>
        <p:spPr>
          <a:xfrm>
            <a:off x="644483" y="1843442"/>
            <a:ext cx="1787669" cy="261610"/>
          </a:xfrm>
          <a:prstGeom prst="rect">
            <a:avLst/>
          </a:prstGeom>
        </p:spPr>
        <p:txBody>
          <a:bodyPr wrap="none">
            <a:spAutoFit/>
          </a:bodyPr>
          <a:lstStyle/>
          <a:p>
            <a:r>
              <a:rPr lang="en-US" sz="1100" b="1" dirty="0"/>
              <a:t>Tools / Accelerators</a:t>
            </a:r>
            <a:endParaRPr lang="en-GB" sz="1100" b="1" dirty="0"/>
          </a:p>
        </p:txBody>
      </p:sp>
      <p:sp>
        <p:nvSpPr>
          <p:cNvPr id="64" name="Text Placeholder 8"/>
          <p:cNvSpPr>
            <a:spLocks noGrp="1"/>
          </p:cNvSpPr>
          <p:nvPr>
            <p:ph type="body" sz="quarter" idx="18"/>
          </p:nvPr>
        </p:nvSpPr>
        <p:spPr>
          <a:xfrm>
            <a:off x="332895" y="756671"/>
            <a:ext cx="9892850" cy="835084"/>
          </a:xfrm>
        </p:spPr>
        <p:txBody>
          <a:bodyPr/>
          <a:lstStyle/>
          <a:p>
            <a:r>
              <a:rPr lang="en-US" sz="2000" b="0" dirty="0">
                <a:solidFill>
                  <a:srgbClr val="575757"/>
                </a:solidFill>
                <a:latin typeface="OpenSans-Light"/>
              </a:rPr>
              <a:t>We align thought leadership with market issues and access a diverse portfolio of methodologies and tools to deploy across all of our businesses for repeatable solutions</a:t>
            </a:r>
            <a:endParaRPr lang="en-GB" sz="2000" b="0" dirty="0">
              <a:solidFill>
                <a:srgbClr val="575757"/>
              </a:solidFill>
              <a:latin typeface="OpenSans-Light"/>
            </a:endParaRPr>
          </a:p>
        </p:txBody>
      </p:sp>
      <p:cxnSp>
        <p:nvCxnSpPr>
          <p:cNvPr id="65" name="Straight Connector 64"/>
          <p:cNvCxnSpPr/>
          <p:nvPr/>
        </p:nvCxnSpPr>
        <p:spPr>
          <a:xfrm flipV="1">
            <a:off x="332894" y="692712"/>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972668"/>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3"/>
          <p:cNvSpPr txBox="1">
            <a:spLocks/>
          </p:cNvSpPr>
          <p:nvPr/>
        </p:nvSpPr>
        <p:spPr>
          <a:xfrm>
            <a:off x="352350" y="1170000"/>
            <a:ext cx="10022596" cy="5220000"/>
          </a:xfrm>
          <a:prstGeom prst="rect">
            <a:avLst/>
          </a:prstGeom>
        </p:spPr>
        <p:txBody>
          <a:bodyPr/>
          <a:lstStyle>
            <a:lvl1pPr marL="0" indent="0" algn="l" defTabSz="1008400" rtl="0" eaLnBrk="1" latinLnBrk="0" hangingPunct="1">
              <a:spcBef>
                <a:spcPts val="0"/>
              </a:spcBef>
              <a:spcAft>
                <a:spcPts val="110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000"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pPr marL="228600" indent="-228600" algn="just">
              <a:spcAft>
                <a:spcPts val="1200"/>
              </a:spcAft>
              <a:buFont typeface="Arial"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rPr>
              <a:t>This document, which has been prepared by Deloitte Touche Tohmatsu India LLP (“DTTILLP”), has been prepared for the sole purpose of providing a proposal to EIL in order to evaluate the capabilities of DTTILLP.</a:t>
            </a:r>
          </a:p>
          <a:p>
            <a:pPr marL="228600" indent="-228600" algn="just">
              <a:spcAft>
                <a:spcPts val="1200"/>
              </a:spcAft>
              <a:buFont typeface="Arial"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rPr>
              <a:t>The information contained in this document has been compiled by DTTILLP based on limited information obtained from public sources. Except in the general context of evaluating the capabilities of DTTILLP, no reliance may be placed for any purposes whatsoever on the contents of this document or on its completeness. No representation or warranty, express or implied, is given and no responsibility or liability is or will be accepted by or on behalf of DTTILLP or by any of its directors, employees, agents or any other person as to the accuracy, completeness or correctness of the information contained in this document or any other oral information made available and any such liability is expressly disclaimed.</a:t>
            </a:r>
          </a:p>
          <a:p>
            <a:pPr marL="228600" indent="-228600" algn="just">
              <a:spcAft>
                <a:spcPts val="1200"/>
              </a:spcAft>
              <a:buFont typeface="Arial"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rPr>
              <a:t>This document and its contents are confidential and may not be reproduced, redistributed or passed on, directly or indirectly, to any other person in whole or in part without the prior written consent of DTTILLP.</a:t>
            </a:r>
          </a:p>
          <a:p>
            <a:pPr marL="228600" indent="-228600" algn="just">
              <a:spcAft>
                <a:spcPts val="1200"/>
              </a:spcAft>
              <a:buFont typeface="Arial" pitchFamily="34" charset="0"/>
              <a:buChar char="•"/>
            </a:pPr>
            <a:r>
              <a:rPr lang="en-US" sz="1400" dirty="0">
                <a:latin typeface="Verdana" panose="020B0604030504040204" pitchFamily="34" charset="0"/>
                <a:ea typeface="Verdana" panose="020B0604030504040204" pitchFamily="34" charset="0"/>
                <a:cs typeface="Verdana" panose="020B0604030504040204" pitchFamily="34" charset="0"/>
              </a:rPr>
              <a:t>This document does not constitute an offer or agreement between DTTILLP and the Consortium. Furthermore, changes in the Consortium’s definition of requirements will necessarily affect the proposal set forth herein. If, as we hope, we are successful with this proposal, subject to completing client acceptance procedures and checks for conflict of interest, we will send you a letter setting out the terms upon which we will offer our services to them. Neither the Consortium nor DTTILLP are subject to any binding agreement until the Consortium gives its written confirmation of acceptance of that offer.</a:t>
            </a:r>
          </a:p>
          <a:p>
            <a:pPr algn="just">
              <a:spcAft>
                <a:spcPts val="1200"/>
              </a:spcAft>
            </a:pPr>
            <a:endParaRPr lang="en-US" sz="1400" dirty="0">
              <a:latin typeface="Verdana" panose="020B0604030504040204" pitchFamily="34" charset="0"/>
              <a:ea typeface="Verdana" panose="020B0604030504040204" pitchFamily="34" charset="0"/>
              <a:cs typeface="Verdana" panose="020B0604030504040204" pitchFamily="34" charset="0"/>
            </a:endParaRPr>
          </a:p>
        </p:txBody>
      </p:sp>
      <p:cxnSp>
        <p:nvCxnSpPr>
          <p:cNvPr id="7" name="Straight Connector 6"/>
          <p:cNvCxnSpPr/>
          <p:nvPr/>
        </p:nvCxnSpPr>
        <p:spPr>
          <a:xfrm flipV="1">
            <a:off x="352350" y="770536"/>
            <a:ext cx="10014280" cy="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63396" y="331644"/>
            <a:ext cx="10103234" cy="461665"/>
          </a:xfrm>
          <a:prstGeom prst="rect">
            <a:avLst/>
          </a:prstGeom>
        </p:spPr>
        <p:txBody>
          <a:bodyPr wrap="square">
            <a:spAutoFit/>
          </a:bodyPr>
          <a:lstStyle/>
          <a:p>
            <a:pPr>
              <a:spcBef>
                <a:spcPct val="0"/>
              </a:spcBef>
            </a:pPr>
            <a:r>
              <a:rPr lang="en-US" sz="2400" dirty="0">
                <a:latin typeface="Verdana" panose="020B0604030504040204" pitchFamily="34" charset="0"/>
                <a:ea typeface="Verdana" panose="020B0604030504040204" pitchFamily="34" charset="0"/>
                <a:cs typeface="Verdana" panose="020B0604030504040204" pitchFamily="34" charset="0"/>
              </a:rPr>
              <a:t>Important Notice</a:t>
            </a:r>
          </a:p>
        </p:txBody>
      </p:sp>
    </p:spTree>
    <p:extLst>
      <p:ext uri="{BB962C8B-B14F-4D97-AF65-F5344CB8AC3E}">
        <p14:creationId xmlns:p14="http://schemas.microsoft.com/office/powerpoint/2010/main" val="265965970"/>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Autofit/>
          </a:bodyPr>
          <a:lstStyle/>
          <a:p>
            <a:pPr algn="just"/>
            <a:r>
              <a:rPr lang="en-US" dirty="0"/>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r>
              <a:rPr lang="en-US" dirty="0"/>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r>
              <a:rPr lang="en-US"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algn="just"/>
            <a:r>
              <a:rPr lang="en-US" dirty="0"/>
              <a:t>©2018 Deloitte Touche Tohmatsu India LLP. Member of Deloitte Touche Tohmatsu Limited</a:t>
            </a:r>
          </a:p>
          <a:p>
            <a:pPr algn="just"/>
            <a:r>
              <a:rPr lang="en-US" dirty="0"/>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extLst>
      <p:ext uri="{BB962C8B-B14F-4D97-AF65-F5344CB8AC3E}">
        <p14:creationId xmlns:p14="http://schemas.microsoft.com/office/powerpoint/2010/main" val="15531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EMPLAFYSLIDEID" val="636329839656562709"/>
</p:tagLst>
</file>

<file path=ppt/theme/theme1.xml><?xml version="1.0" encoding="utf-8"?>
<a:theme xmlns:a="http://schemas.openxmlformats.org/drawingml/2006/main" name="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B612C1-951F-42ED-836A-C565F9C62F34}">
  <ds:schemaRefs>
    <ds:schemaRef ds:uri="http://schemas.microsoft.com/sharepoint/events"/>
  </ds:schemaRefs>
</ds:datastoreItem>
</file>

<file path=customXml/itemProps2.xml><?xml version="1.0" encoding="utf-8"?>
<ds:datastoreItem xmlns:ds="http://schemas.openxmlformats.org/officeDocument/2006/customXml" ds:itemID="{16480B09-1A4A-48F4-943D-FFB9191893AE}">
  <ds:schemaRefs>
    <ds:schemaRef ds:uri="http://purl.org/dc/elements/1.1/"/>
    <ds:schemaRef ds:uri="87479fcf-3f44-4bca-a8f7-4cb71967a22e"/>
    <ds:schemaRef ds:uri="http://schemas.microsoft.com/office/infopath/2007/PartnerControls"/>
    <ds:schemaRef ds:uri="http://purl.org/dc/terms/"/>
    <ds:schemaRef ds:uri="2f57fe54-8a19-4d81-8f55-f7936b4302f3"/>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303B0C68-EB6E-4D36-84D0-C21C72A4D6FB}"/>
</file>

<file path=customXml/itemProps4.xml><?xml version="1.0" encoding="utf-8"?>
<ds:datastoreItem xmlns:ds="http://schemas.openxmlformats.org/officeDocument/2006/customXml" ds:itemID="{71EF4B66-D8CE-480E-BB60-B396CAAF040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Test</Template>
  <TotalTime>5546</TotalTime>
  <Words>20264</Words>
  <Application>Microsoft Office PowerPoint</Application>
  <PresentationFormat>Custom</PresentationFormat>
  <Paragraphs>1448</Paragraphs>
  <Slides>81</Slides>
  <Notes>38</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81</vt:i4>
      </vt:variant>
    </vt:vector>
  </HeadingPairs>
  <TitlesOfParts>
    <vt:vector size="96" baseType="lpstr">
      <vt:lpstr>Arial</vt:lpstr>
      <vt:lpstr>Calibri</vt:lpstr>
      <vt:lpstr>Calibri Light</vt:lpstr>
      <vt:lpstr>Cambria</vt:lpstr>
      <vt:lpstr>Courier New</vt:lpstr>
      <vt:lpstr>OpenSans-Light</vt:lpstr>
      <vt:lpstr>Symbol</vt:lpstr>
      <vt:lpstr>Times New Roman</vt:lpstr>
      <vt:lpstr>Verdana</vt:lpstr>
      <vt:lpstr>Wingdings</vt:lpstr>
      <vt:lpstr>Wingdings 2</vt:lpstr>
      <vt:lpstr>Deloitte 16_9 onscreen</vt:lpstr>
      <vt:lpstr>Deloitte_UK_Onscreen</vt:lpstr>
      <vt:lpstr>2_Office Theme</vt:lpstr>
      <vt:lpstr>think-cell Slide</vt:lpstr>
      <vt:lpstr>Headline Verdana Bold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Additional Services which can be provided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Arya, Gaurav (IN - Delhi)</dc:creator>
  <cp:lastModifiedBy>Mukherjee, Shouvik</cp:lastModifiedBy>
  <cp:revision>1005</cp:revision>
  <cp:lastPrinted>2014-06-25T02:16:22Z</cp:lastPrinted>
  <dcterms:created xsi:type="dcterms:W3CDTF">2016-06-13T07:02:02Z</dcterms:created>
  <dcterms:modified xsi:type="dcterms:W3CDTF">2022-09-24T15:04:45Z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_dlc_DocIdItemGuid">
    <vt:lpwstr>def87d3d-de0f-421d-9ace-48365349fca9</vt:lpwstr>
  </property>
  <property fmtid="{D5CDD505-2E9C-101B-9397-08002B2CF9AE}" pid="4" name="Keyword">
    <vt:lpwstr/>
  </property>
  <property fmtid="{D5CDD505-2E9C-101B-9397-08002B2CF9AE}" pid="5" name="SubCategory0">
    <vt:lpwstr>DTTILLP</vt:lpwstr>
  </property>
  <property fmtid="{D5CDD505-2E9C-101B-9397-08002B2CF9AE}" pid="6" name="WorkflowChangePath">
    <vt:lpwstr>fb20b6bb-47ef-4044-9143-28dcdb551029,4;fb20b6bb-47ef-4044-9143-28dcdb551029,6;fb20b6bb-47ef-4044-9143-28dcdb551029,9;fb20b6bb-47ef-4044-9143-28dcdb551029,11;fb20b6bb-47ef-4044-9143-28dcdb551029,13;fb20b6bb-47ef-4044-9143-28dcdb551029,23;fb20b6bb-47ef-4044</vt:lpwstr>
  </property>
  <property fmtid="{D5CDD505-2E9C-101B-9397-08002B2CF9AE}" pid="7" name="TaxCatchAll">
    <vt:lpwstr/>
  </property>
  <property fmtid="{D5CDD505-2E9C-101B-9397-08002B2CF9AE}" pid="8" name="Ctype">
    <vt:lpwstr>Basic Templates</vt:lpwstr>
  </property>
  <property fmtid="{D5CDD505-2E9C-101B-9397-08002B2CF9AE}" pid="9" name="n2fd22b3fdf84cefb7eb182e28c0be34">
    <vt:lpwstr/>
  </property>
  <property fmtid="{D5CDD505-2E9C-101B-9397-08002B2CF9AE}" pid="10" name="MSIP_Label_ea60d57e-af5b-4752-ac57-3e4f28ca11dc_Enabled">
    <vt:lpwstr>true</vt:lpwstr>
  </property>
  <property fmtid="{D5CDD505-2E9C-101B-9397-08002B2CF9AE}" pid="11" name="MSIP_Label_ea60d57e-af5b-4752-ac57-3e4f28ca11dc_SetDate">
    <vt:lpwstr>2022-09-24T15:04:35Z</vt:lpwstr>
  </property>
  <property fmtid="{D5CDD505-2E9C-101B-9397-08002B2CF9AE}" pid="12" name="MSIP_Label_ea60d57e-af5b-4752-ac57-3e4f28ca11dc_Method">
    <vt:lpwstr>Standard</vt:lpwstr>
  </property>
  <property fmtid="{D5CDD505-2E9C-101B-9397-08002B2CF9AE}" pid="13" name="MSIP_Label_ea60d57e-af5b-4752-ac57-3e4f28ca11dc_Name">
    <vt:lpwstr>ea60d57e-af5b-4752-ac57-3e4f28ca11dc</vt:lpwstr>
  </property>
  <property fmtid="{D5CDD505-2E9C-101B-9397-08002B2CF9AE}" pid="14" name="MSIP_Label_ea60d57e-af5b-4752-ac57-3e4f28ca11dc_SiteId">
    <vt:lpwstr>36da45f1-dd2c-4d1f-af13-5abe46b99921</vt:lpwstr>
  </property>
  <property fmtid="{D5CDD505-2E9C-101B-9397-08002B2CF9AE}" pid="15" name="MSIP_Label_ea60d57e-af5b-4752-ac57-3e4f28ca11dc_ActionId">
    <vt:lpwstr>e92a73a8-4a2d-47c3-9fe7-abe4acc2bb16</vt:lpwstr>
  </property>
  <property fmtid="{D5CDD505-2E9C-101B-9397-08002B2CF9AE}" pid="16" name="MSIP_Label_ea60d57e-af5b-4752-ac57-3e4f28ca11dc_ContentBits">
    <vt:lpwstr>0</vt:lpwstr>
  </property>
</Properties>
</file>