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ags/tag2.xml" ContentType="application/vnd.openxmlformats-officedocument.presentationml.tags+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3.xml" ContentType="application/vnd.openxmlformats-officedocument.drawingml.chartshapes+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1" r:id="rId5"/>
    <p:sldMasterId id="2147483842" r:id="rId6"/>
  </p:sldMasterIdLst>
  <p:notesMasterIdLst>
    <p:notesMasterId r:id="rId55"/>
  </p:notesMasterIdLst>
  <p:handoutMasterIdLst>
    <p:handoutMasterId r:id="rId56"/>
  </p:handoutMasterIdLst>
  <p:sldIdLst>
    <p:sldId id="256" r:id="rId7"/>
    <p:sldId id="257" r:id="rId8"/>
    <p:sldId id="490" r:id="rId9"/>
    <p:sldId id="491" r:id="rId10"/>
    <p:sldId id="260" r:id="rId11"/>
    <p:sldId id="712" r:id="rId12"/>
    <p:sldId id="263" r:id="rId13"/>
    <p:sldId id="264" r:id="rId14"/>
    <p:sldId id="265" r:id="rId15"/>
    <p:sldId id="704" r:id="rId16"/>
    <p:sldId id="398" r:id="rId17"/>
    <p:sldId id="703" r:id="rId18"/>
    <p:sldId id="408" r:id="rId19"/>
    <p:sldId id="699" r:id="rId20"/>
    <p:sldId id="713" r:id="rId21"/>
    <p:sldId id="706" r:id="rId22"/>
    <p:sldId id="284" r:id="rId23"/>
    <p:sldId id="285" r:id="rId24"/>
    <p:sldId id="286" r:id="rId25"/>
    <p:sldId id="287" r:id="rId26"/>
    <p:sldId id="288" r:id="rId27"/>
    <p:sldId id="289" r:id="rId28"/>
    <p:sldId id="277" r:id="rId29"/>
    <p:sldId id="494" r:id="rId30"/>
    <p:sldId id="717" r:id="rId31"/>
    <p:sldId id="711" r:id="rId32"/>
    <p:sldId id="715" r:id="rId33"/>
    <p:sldId id="533" r:id="rId34"/>
    <p:sldId id="534" r:id="rId35"/>
    <p:sldId id="503" r:id="rId36"/>
    <p:sldId id="504" r:id="rId37"/>
    <p:sldId id="530" r:id="rId38"/>
    <p:sldId id="531" r:id="rId39"/>
    <p:sldId id="532" r:id="rId40"/>
    <p:sldId id="535" r:id="rId41"/>
    <p:sldId id="536" r:id="rId42"/>
    <p:sldId id="401" r:id="rId43"/>
    <p:sldId id="402" r:id="rId44"/>
    <p:sldId id="708" r:id="rId45"/>
    <p:sldId id="709" r:id="rId46"/>
    <p:sldId id="407" r:id="rId47"/>
    <p:sldId id="396" r:id="rId48"/>
    <p:sldId id="714" r:id="rId49"/>
    <p:sldId id="707" r:id="rId50"/>
    <p:sldId id="541" r:id="rId51"/>
    <p:sldId id="403" r:id="rId52"/>
    <p:sldId id="404" r:id="rId53"/>
    <p:sldId id="405" r:id="rId54"/>
  </p:sldIdLst>
  <p:sldSz cx="10688638" cy="7562850"/>
  <p:notesSz cx="6797675" cy="9872663"/>
  <p:custDataLst>
    <p:tags r:id="rId57"/>
  </p:custDataLst>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382" userDrawn="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hatre, Shreyas (IN - Mumbai)" initials="MS(-M" lastIdx="7" clrIdx="0">
    <p:extLst>
      <p:ext uri="{19B8F6BF-5375-455C-9EA6-DF929625EA0E}">
        <p15:presenceInfo xmlns:p15="http://schemas.microsoft.com/office/powerpoint/2012/main" userId="S-1-5-21-776561741-1482476501-682003330-393219" providerId="AD"/>
      </p:ext>
    </p:extLst>
  </p:cmAuthor>
  <p:cmAuthor id="2" name="Bandyopadhyay, Anirban P (IN - Kolkata)" initials="BAP(-K" lastIdx="4" clrIdx="1">
    <p:extLst>
      <p:ext uri="{19B8F6BF-5375-455C-9EA6-DF929625EA0E}">
        <p15:presenceInfo xmlns:p15="http://schemas.microsoft.com/office/powerpoint/2012/main" userId="S-1-5-21-776561741-1482476501-682003330-717514" providerId="AD"/>
      </p:ext>
    </p:extLst>
  </p:cmAuthor>
  <p:cmAuthor id="3" name="Khiroria, Adit (IN - Kolkata)" initials="KA(-K" lastIdx="23" clrIdx="2">
    <p:extLst>
      <p:ext uri="{19B8F6BF-5375-455C-9EA6-DF929625EA0E}">
        <p15:presenceInfo xmlns:p15="http://schemas.microsoft.com/office/powerpoint/2012/main" userId="S-1-5-21-776561741-1482476501-682003330-970961" providerId="AD"/>
      </p:ext>
    </p:extLst>
  </p:cmAuthor>
  <p:cmAuthor id="4" name="Mani, Siddharth (IN - Kolkata)" initials="MS(-K" lastIdx="24" clrIdx="3">
    <p:extLst>
      <p:ext uri="{19B8F6BF-5375-455C-9EA6-DF929625EA0E}">
        <p15:presenceInfo xmlns:p15="http://schemas.microsoft.com/office/powerpoint/2012/main" userId="S-1-5-21-776561741-1482476501-682003330-605679" providerId="AD"/>
      </p:ext>
    </p:extLst>
  </p:cmAuthor>
  <p:cmAuthor id="5" name="Rungta, Ayush (IN - Mumbai)" initials="RA(-M" lastIdx="10" clrIdx="4">
    <p:extLst>
      <p:ext uri="{19B8F6BF-5375-455C-9EA6-DF929625EA0E}">
        <p15:presenceInfo xmlns:p15="http://schemas.microsoft.com/office/powerpoint/2012/main" userId="Rungta, Ayush (IN - Mumba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6A8"/>
    <a:srgbClr val="00B0F0"/>
    <a:srgbClr val="0F58FD"/>
    <a:srgbClr val="E8F6CF"/>
    <a:srgbClr val="D1ECA0"/>
    <a:srgbClr val="FFC000"/>
    <a:srgbClr val="A9BA89"/>
    <a:srgbClr val="92D050"/>
    <a:srgbClr val="86BC25"/>
    <a:srgbClr val="A0D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81149" autoAdjust="0"/>
  </p:normalViewPr>
  <p:slideViewPr>
    <p:cSldViewPr snapToGrid="0" showGuides="1">
      <p:cViewPr varScale="1">
        <p:scale>
          <a:sx n="52" d="100"/>
          <a:sy n="52" d="100"/>
        </p:scale>
        <p:origin x="1288" y="60"/>
      </p:cViewPr>
      <p:guideLst>
        <p:guide/>
        <p:guide orient="horz" pos="2382"/>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6734"/>
    </p:cViewPr>
  </p:sorterViewPr>
  <p:notesViewPr>
    <p:cSldViewPr snapToGrid="0" showGuides="1">
      <p:cViewPr varScale="1">
        <p:scale>
          <a:sx n="57" d="100"/>
          <a:sy n="57" d="100"/>
        </p:scale>
        <p:origin x="1992" y="90"/>
      </p:cViewPr>
      <p:guideLst>
        <p:guide orient="horz" pos="3110"/>
        <p:guide pos="214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notesMaster" Target="notesMasters/notesMaster1.xml"/><Relationship Id="rId63"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commentAuthors" Target="commentAuthors.xml"/><Relationship Id="rId5" Type="http://schemas.openxmlformats.org/officeDocument/2006/relationships/slideMaster" Target="slideMasters/slideMaster1.xml"/><Relationship Id="rId61" Type="http://schemas.openxmlformats.org/officeDocument/2006/relationships/theme" Target="theme/theme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ableStyles" Target="tableStyles.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ags" Target="tags/tag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iroria, Adit" userId="125b7d01-0557-4756-b3b5-aac8221948e3" providerId="ADAL" clId="{22770C87-EC38-4200-9AFD-33599F118923}"/>
    <pc:docChg chg="custSel modSld">
      <pc:chgData name="Khiroria, Adit" userId="125b7d01-0557-4756-b3b5-aac8221948e3" providerId="ADAL" clId="{22770C87-EC38-4200-9AFD-33599F118923}" dt="2024-12-04T05:49:01.966" v="4" actId="20577"/>
      <pc:docMkLst>
        <pc:docMk/>
      </pc:docMkLst>
      <pc:sldChg chg="modSp mod">
        <pc:chgData name="Khiroria, Adit" userId="125b7d01-0557-4756-b3b5-aac8221948e3" providerId="ADAL" clId="{22770C87-EC38-4200-9AFD-33599F118923}" dt="2024-12-04T05:49:01.966" v="4" actId="20577"/>
        <pc:sldMkLst>
          <pc:docMk/>
          <pc:sldMk cId="3658117323" sldId="264"/>
        </pc:sldMkLst>
        <pc:spChg chg="mod">
          <ac:chgData name="Khiroria, Adit" userId="125b7d01-0557-4756-b3b5-aac8221948e3" providerId="ADAL" clId="{22770C87-EC38-4200-9AFD-33599F118923}" dt="2024-12-04T05:49:01.966" v="1" actId="20577"/>
          <ac:spMkLst>
            <pc:docMk/>
            <pc:sldMk cId="3658117323" sldId="264"/>
            <ac:spMk id="9" creationId="{00000000-0000-0000-0000-000000000000}"/>
          </ac:spMkLst>
        </pc:spChg>
        <pc:spChg chg="mod">
          <ac:chgData name="Khiroria, Adit" userId="125b7d01-0557-4756-b3b5-aac8221948e3" providerId="ADAL" clId="{22770C87-EC38-4200-9AFD-33599F118923}" dt="2024-12-04T05:49:01.966" v="2" actId="20577"/>
          <ac:spMkLst>
            <pc:docMk/>
            <pc:sldMk cId="3658117323" sldId="264"/>
            <ac:spMk id="13" creationId="{00000000-0000-0000-0000-000000000000}"/>
          </ac:spMkLst>
        </pc:spChg>
        <pc:spChg chg="mod">
          <ac:chgData name="Khiroria, Adit" userId="125b7d01-0557-4756-b3b5-aac8221948e3" providerId="ADAL" clId="{22770C87-EC38-4200-9AFD-33599F118923}" dt="2024-12-04T05:49:01.966" v="0" actId="20577"/>
          <ac:spMkLst>
            <pc:docMk/>
            <pc:sldMk cId="3658117323" sldId="264"/>
            <ac:spMk id="18" creationId="{00000000-0000-0000-0000-000000000000}"/>
          </ac:spMkLst>
        </pc:spChg>
        <pc:spChg chg="mod">
          <ac:chgData name="Khiroria, Adit" userId="125b7d01-0557-4756-b3b5-aac8221948e3" providerId="ADAL" clId="{22770C87-EC38-4200-9AFD-33599F118923}" dt="2024-12-04T05:49:01.966" v="3" actId="20577"/>
          <ac:spMkLst>
            <pc:docMk/>
            <pc:sldMk cId="3658117323" sldId="264"/>
            <ac:spMk id="29" creationId="{00000000-0000-0000-0000-000000000000}"/>
          </ac:spMkLst>
        </pc:spChg>
        <pc:spChg chg="mod">
          <ac:chgData name="Khiroria, Adit" userId="125b7d01-0557-4756-b3b5-aac8221948e3" providerId="ADAL" clId="{22770C87-EC38-4200-9AFD-33599F118923}" dt="2024-12-04T05:49:01.966" v="4" actId="20577"/>
          <ac:spMkLst>
            <pc:docMk/>
            <pc:sldMk cId="3658117323" sldId="264"/>
            <ac:spMk id="30"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noFill/>
              <a:round/>
            </a:ln>
            <a:effectLst/>
          </c:spPr>
          <c:invertIfNegative val="0"/>
          <c:dPt>
            <c:idx val="1"/>
            <c:invertIfNegative val="0"/>
            <c:bubble3D val="0"/>
            <c:spPr>
              <a:noFill/>
              <a:ln w="9525" cap="flat" cmpd="sng" algn="ctr">
                <a:noFill/>
                <a:round/>
              </a:ln>
              <a:effectLst/>
            </c:spPr>
            <c:extLst>
              <c:ext xmlns:c16="http://schemas.microsoft.com/office/drawing/2014/chart" uri="{C3380CC4-5D6E-409C-BE32-E72D297353CC}">
                <c16:uniqueId val="{00000001-74FF-413D-89E4-40367C8FB245}"/>
              </c:ext>
            </c:extLst>
          </c:dPt>
          <c:dPt>
            <c:idx val="2"/>
            <c:invertIfNegative val="0"/>
            <c:bubble3D val="0"/>
            <c:spPr>
              <a:noFill/>
              <a:ln w="9525" cap="flat" cmpd="sng" algn="ctr">
                <a:noFill/>
                <a:round/>
              </a:ln>
              <a:effectLst/>
            </c:spPr>
            <c:extLst>
              <c:ext xmlns:c16="http://schemas.microsoft.com/office/drawing/2014/chart" uri="{C3380CC4-5D6E-409C-BE32-E72D297353CC}">
                <c16:uniqueId val="{00000003-74FF-413D-89E4-40367C8FB245}"/>
              </c:ext>
            </c:extLst>
          </c:dPt>
          <c:dPt>
            <c:idx val="3"/>
            <c:invertIfNegative val="0"/>
            <c:bubble3D val="0"/>
            <c:spPr>
              <a:noFill/>
              <a:ln w="9525" cap="flat" cmpd="sng" algn="ctr">
                <a:noFill/>
                <a:round/>
              </a:ln>
              <a:effectLst/>
            </c:spPr>
            <c:extLst>
              <c:ext xmlns:c16="http://schemas.microsoft.com/office/drawing/2014/chart" uri="{C3380CC4-5D6E-409C-BE32-E72D297353CC}">
                <c16:uniqueId val="{00000005-74FF-413D-89E4-40367C8FB245}"/>
              </c:ext>
            </c:extLst>
          </c:dPt>
          <c:dPt>
            <c:idx val="4"/>
            <c:invertIfNegative val="0"/>
            <c:bubble3D val="0"/>
            <c:spPr>
              <a:solidFill>
                <a:srgbClr val="00B0F0"/>
              </a:solidFill>
              <a:ln w="9525" cap="flat" cmpd="sng" algn="ctr">
                <a:noFill/>
                <a:round/>
              </a:ln>
              <a:effectLst/>
            </c:spPr>
            <c:extLst>
              <c:ext xmlns:c16="http://schemas.microsoft.com/office/drawing/2014/chart" uri="{C3380CC4-5D6E-409C-BE32-E72D297353CC}">
                <c16:uniqueId val="{00000007-74FF-413D-89E4-40367C8FB245}"/>
              </c:ext>
            </c:extLst>
          </c:dPt>
          <c:dPt>
            <c:idx val="5"/>
            <c:invertIfNegative val="0"/>
            <c:bubble3D val="0"/>
            <c:extLst>
              <c:ext xmlns:c16="http://schemas.microsoft.com/office/drawing/2014/chart" uri="{C3380CC4-5D6E-409C-BE32-E72D297353CC}">
                <c16:uniqueId val="{00000008-74FF-413D-89E4-40367C8FB245}"/>
              </c:ext>
            </c:extLst>
          </c:dPt>
          <c:dLbls>
            <c:dLbl>
              <c:idx val="4"/>
              <c:layout>
                <c:manualLayout>
                  <c:x val="-8.3596203350068485E-3"/>
                  <c:y val="-0.3311076087289919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4FF-413D-89E4-40367C8FB245}"/>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Budgetary support from Government to BPDB</c:v>
                </c:pt>
                <c:pt idx="1">
                  <c:v>Gap between BPDB's bulk supply billing &amp; collection</c:v>
                </c:pt>
                <c:pt idx="2">
                  <c:v>Gap between costs of generation of liquid fuel power plants of BPDB and IPP/RPP/QRPP</c:v>
                </c:pt>
                <c:pt idx="3">
                  <c:v>Gap between BPDB's retail sales billing &amp; collection</c:v>
                </c:pt>
                <c:pt idx="4">
                  <c:v>Total</c:v>
                </c:pt>
              </c:strCache>
            </c:strRef>
          </c:cat>
          <c:val>
            <c:numRef>
              <c:f>Sheet1!$B$2:$B$6</c:f>
              <c:numCache>
                <c:formatCode>0.0</c:formatCode>
                <c:ptCount val="5"/>
                <c:pt idx="0">
                  <c:v>0</c:v>
                </c:pt>
                <c:pt idx="1">
                  <c:v>37.895497822000003</c:v>
                </c:pt>
                <c:pt idx="2">
                  <c:v>61.257497822000005</c:v>
                </c:pt>
                <c:pt idx="3">
                  <c:v>68.854128991450011</c:v>
                </c:pt>
                <c:pt idx="4">
                  <c:v>71.70212899145001</c:v>
                </c:pt>
              </c:numCache>
            </c:numRef>
          </c:val>
          <c:extLst>
            <c:ext xmlns:c16="http://schemas.microsoft.com/office/drawing/2014/chart" uri="{C3380CC4-5D6E-409C-BE32-E72D297353CC}">
              <c16:uniqueId val="{00000009-74FF-413D-89E4-40367C8FB245}"/>
            </c:ext>
          </c:extLst>
        </c:ser>
        <c:ser>
          <c:idx val="1"/>
          <c:order val="1"/>
          <c:tx>
            <c:strRef>
              <c:f>Sheet1!$C$1</c:f>
              <c:strCache>
                <c:ptCount val="1"/>
                <c:pt idx="0">
                  <c:v>Series 2</c:v>
                </c:pt>
              </c:strCache>
            </c:strRef>
          </c:tx>
          <c:spPr>
            <a:solidFill>
              <a:schemeClr val="accent4"/>
            </a:solidFill>
            <a:ln w="9525" cap="flat" cmpd="sng" algn="ctr">
              <a:noFill/>
              <a:round/>
            </a:ln>
            <a:effectLst/>
          </c:spPr>
          <c:invertIfNegative val="0"/>
          <c:dLbls>
            <c:dLbl>
              <c:idx val="0"/>
              <c:layout>
                <c:manualLayout>
                  <c:x val="-2.0128591949438725E-17"/>
                  <c:y val="-0.2063492063492063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4FF-413D-89E4-40367C8FB245}"/>
                </c:ext>
              </c:extLst>
            </c:dLbl>
            <c:dLbl>
              <c:idx val="1"/>
              <c:layout>
                <c:manualLayout>
                  <c:x val="-4.0257183898877449E-17"/>
                  <c:y val="-0.1349206349206349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4FF-413D-89E4-40367C8FB245}"/>
                </c:ext>
              </c:extLst>
            </c:dLbl>
            <c:dLbl>
              <c:idx val="2"/>
              <c:layout>
                <c:manualLayout>
                  <c:x val="-8.0514367797754899E-17"/>
                  <c:y val="-6.349206349206347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4FF-413D-89E4-40367C8FB245}"/>
                </c:ext>
              </c:extLst>
            </c:dLbl>
            <c:dLbl>
              <c:idx val="3"/>
              <c:layout>
                <c:manualLayout>
                  <c:x val="2.5958629711388143E-3"/>
                  <c:y val="-3.97040042070468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4FF-413D-89E4-40367C8FB245}"/>
                </c:ext>
              </c:extLst>
            </c:dLbl>
            <c:dLbl>
              <c:idx val="4"/>
              <c:delete val="1"/>
              <c:extLst>
                <c:ext xmlns:c15="http://schemas.microsoft.com/office/drawing/2012/chart" uri="{CE6537A1-D6FC-4f65-9D91-7224C49458BB}"/>
                <c:ext xmlns:c16="http://schemas.microsoft.com/office/drawing/2014/chart" uri="{C3380CC4-5D6E-409C-BE32-E72D297353CC}">
                  <c16:uniqueId val="{0000000E-74FF-413D-89E4-40367C8FB245}"/>
                </c:ext>
              </c:extLst>
            </c:dLbl>
            <c:spPr>
              <a:noFill/>
              <a:ln>
                <a:noFill/>
              </a:ln>
              <a:effectLst/>
            </c:spPr>
            <c:txPr>
              <a:bodyPr rot="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Budgetary support from Government to BPDB</c:v>
                </c:pt>
                <c:pt idx="1">
                  <c:v>Gap between BPDB's bulk supply billing &amp; collection</c:v>
                </c:pt>
                <c:pt idx="2">
                  <c:v>Gap between costs of generation of liquid fuel power plants of BPDB and IPP/RPP/QRPP</c:v>
                </c:pt>
                <c:pt idx="3">
                  <c:v>Gap between BPDB's retail sales billing &amp; collection</c:v>
                </c:pt>
                <c:pt idx="4">
                  <c:v>Total</c:v>
                </c:pt>
              </c:strCache>
            </c:strRef>
          </c:cat>
          <c:val>
            <c:numRef>
              <c:f>Sheet1!$C$2:$C$6</c:f>
              <c:numCache>
                <c:formatCode>0.0</c:formatCode>
                <c:ptCount val="5"/>
                <c:pt idx="0">
                  <c:v>37.895497822000003</c:v>
                </c:pt>
                <c:pt idx="1">
                  <c:v>23.361999999999998</c:v>
                </c:pt>
                <c:pt idx="2">
                  <c:v>7.5966311694500019</c:v>
                </c:pt>
                <c:pt idx="3">
                  <c:v>2.8479999999999999</c:v>
                </c:pt>
                <c:pt idx="4" formatCode="General">
                  <c:v>0</c:v>
                </c:pt>
              </c:numCache>
            </c:numRef>
          </c:val>
          <c:extLst>
            <c:ext xmlns:c16="http://schemas.microsoft.com/office/drawing/2014/chart" uri="{C3380CC4-5D6E-409C-BE32-E72D297353CC}">
              <c16:uniqueId val="{0000000F-74FF-413D-89E4-40367C8FB245}"/>
            </c:ext>
          </c:extLst>
        </c:ser>
        <c:dLbls>
          <c:showLegendKey val="0"/>
          <c:showVal val="0"/>
          <c:showCatName val="0"/>
          <c:showSerName val="0"/>
          <c:showPercent val="0"/>
          <c:showBubbleSize val="0"/>
        </c:dLbls>
        <c:gapWidth val="150"/>
        <c:overlap val="100"/>
        <c:axId val="694690568"/>
        <c:axId val="694682336"/>
      </c:barChart>
      <c:catAx>
        <c:axId val="694690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crossAx val="694682336"/>
        <c:crosses val="autoZero"/>
        <c:auto val="1"/>
        <c:lblAlgn val="ctr"/>
        <c:lblOffset val="100"/>
        <c:noMultiLvlLbl val="0"/>
      </c:catAx>
      <c:valAx>
        <c:axId val="69468233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Calibri" panose="020F0502020204030204" pitchFamily="34" charset="0"/>
                <a:ea typeface="+mn-ea"/>
                <a:cs typeface="+mn-cs"/>
              </a:defRPr>
            </a:pPr>
            <a:endParaRPr lang="en-US"/>
          </a:p>
        </c:txPr>
        <c:crossAx val="694690568"/>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sz="1400">
          <a:solidFill>
            <a:schemeClr val="tx1">
              <a:lumMod val="95000"/>
              <a:lumOff val="5000"/>
            </a:schemeClr>
          </a:solidFill>
          <a:latin typeface="Calibri" panose="020F0502020204030204" pitchFamily="34" charset="0"/>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Required BST without value enablers (Tk/KWh)</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Sheet1!$B$2:$B$5</c:f>
              <c:numCache>
                <c:formatCode>0.00</c:formatCode>
                <c:ptCount val="4"/>
                <c:pt idx="0">
                  <c:v>5.64</c:v>
                </c:pt>
                <c:pt idx="1">
                  <c:v>5.74</c:v>
                </c:pt>
                <c:pt idx="2">
                  <c:v>5.81</c:v>
                </c:pt>
                <c:pt idx="3">
                  <c:v>6.03</c:v>
                </c:pt>
              </c:numCache>
            </c:numRef>
          </c:val>
          <c:extLst>
            <c:ext xmlns:c16="http://schemas.microsoft.com/office/drawing/2014/chart" uri="{C3380CC4-5D6E-409C-BE32-E72D297353CC}">
              <c16:uniqueId val="{00000000-236C-4AE5-A89A-4850BEBD0C8A}"/>
            </c:ext>
          </c:extLst>
        </c:ser>
        <c:ser>
          <c:idx val="1"/>
          <c:order val="1"/>
          <c:tx>
            <c:strRef>
              <c:f>Sheet1!$C$1</c:f>
              <c:strCache>
                <c:ptCount val="1"/>
                <c:pt idx="0">
                  <c:v>Required BST with value enablers (Tk/KWh)</c:v>
                </c:pt>
              </c:strCache>
            </c:strRef>
          </c:tx>
          <c:spPr>
            <a:solidFill>
              <a:srgbClr val="00B0F0"/>
            </a:solidFill>
            <a:ln>
              <a:noFill/>
              <a:prstDash val="sysDash"/>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Sheet1!$C$2:$C$5</c:f>
              <c:numCache>
                <c:formatCode>0.00</c:formatCode>
                <c:ptCount val="4"/>
                <c:pt idx="0">
                  <c:v>5.16</c:v>
                </c:pt>
                <c:pt idx="1">
                  <c:v>5.27</c:v>
                </c:pt>
                <c:pt idx="2">
                  <c:v>5.31</c:v>
                </c:pt>
                <c:pt idx="3">
                  <c:v>5.57</c:v>
                </c:pt>
              </c:numCache>
            </c:numRef>
          </c:val>
          <c:extLst>
            <c:ext xmlns:c16="http://schemas.microsoft.com/office/drawing/2014/chart" uri="{C3380CC4-5D6E-409C-BE32-E72D297353CC}">
              <c16:uniqueId val="{00000001-236C-4AE5-A89A-4850BEBD0C8A}"/>
            </c:ext>
          </c:extLst>
        </c:ser>
        <c:dLbls>
          <c:showLegendKey val="0"/>
          <c:showVal val="0"/>
          <c:showCatName val="0"/>
          <c:showSerName val="0"/>
          <c:showPercent val="0"/>
          <c:showBubbleSize val="0"/>
        </c:dLbls>
        <c:gapWidth val="150"/>
        <c:axId val="382769248"/>
        <c:axId val="382771600"/>
      </c:barChart>
      <c:lineChart>
        <c:grouping val="standard"/>
        <c:varyColors val="0"/>
        <c:ser>
          <c:idx val="2"/>
          <c:order val="2"/>
          <c:tx>
            <c:strRef>
              <c:f>Sheet1!$D$1</c:f>
              <c:strCache>
                <c:ptCount val="1"/>
                <c:pt idx="0">
                  <c:v>Avg. BST as on 30 June 2017 (Tk/KWh)</c:v>
                </c:pt>
              </c:strCache>
            </c:strRef>
          </c:tx>
          <c:spPr>
            <a:ln w="28575" cap="rnd">
              <a:solidFill>
                <a:srgbClr val="FF0000"/>
              </a:solidFill>
              <a:prstDash val="sysDash"/>
              <a:round/>
            </a:ln>
            <a:effectLst/>
          </c:spPr>
          <c:marker>
            <c:symbol val="none"/>
          </c:marker>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 17-18</c:v>
                </c:pt>
                <c:pt idx="1">
                  <c:v>FY 18-19</c:v>
                </c:pt>
                <c:pt idx="2">
                  <c:v>FY 19-20</c:v>
                </c:pt>
                <c:pt idx="3">
                  <c:v>FY 20-21</c:v>
                </c:pt>
              </c:strCache>
            </c:strRef>
          </c:cat>
          <c:val>
            <c:numRef>
              <c:f>Sheet1!$D$2:$D$5</c:f>
              <c:numCache>
                <c:formatCode>General</c:formatCode>
                <c:ptCount val="4"/>
                <c:pt idx="0">
                  <c:v>4.9000000000000004</c:v>
                </c:pt>
                <c:pt idx="1">
                  <c:v>4.9000000000000004</c:v>
                </c:pt>
                <c:pt idx="2">
                  <c:v>4.9000000000000004</c:v>
                </c:pt>
                <c:pt idx="3">
                  <c:v>4.9000000000000004</c:v>
                </c:pt>
              </c:numCache>
            </c:numRef>
          </c:val>
          <c:smooth val="0"/>
          <c:extLst>
            <c:ext xmlns:c16="http://schemas.microsoft.com/office/drawing/2014/chart" uri="{C3380CC4-5D6E-409C-BE32-E72D297353CC}">
              <c16:uniqueId val="{00000002-236C-4AE5-A89A-4850BEBD0C8A}"/>
            </c:ext>
          </c:extLst>
        </c:ser>
        <c:dLbls>
          <c:showLegendKey val="0"/>
          <c:showVal val="0"/>
          <c:showCatName val="0"/>
          <c:showSerName val="0"/>
          <c:showPercent val="0"/>
          <c:showBubbleSize val="0"/>
        </c:dLbls>
        <c:marker val="1"/>
        <c:smooth val="0"/>
        <c:axId val="382769248"/>
        <c:axId val="382771600"/>
      </c:lineChart>
      <c:catAx>
        <c:axId val="3827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382771600"/>
        <c:crosses val="autoZero"/>
        <c:auto val="1"/>
        <c:lblAlgn val="ctr"/>
        <c:lblOffset val="100"/>
        <c:noMultiLvlLbl val="0"/>
      </c:catAx>
      <c:valAx>
        <c:axId val="382771600"/>
        <c:scaling>
          <c:orientation val="minMax"/>
          <c:max val="6.2"/>
          <c:min val="4.7"/>
        </c:scaling>
        <c:delete val="1"/>
        <c:axPos val="l"/>
        <c:numFmt formatCode="0.00" sourceLinked="1"/>
        <c:majorTickMark val="none"/>
        <c:minorTickMark val="none"/>
        <c:tickLblPos val="nextTo"/>
        <c:crossAx val="382769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531201449674996E-2"/>
          <c:y val="5.2457276184471241E-2"/>
          <c:w val="0.9332479401378676"/>
          <c:h val="0.90397852399958345"/>
        </c:manualLayout>
      </c:layout>
      <c:barChart>
        <c:barDir val="col"/>
        <c:grouping val="stacked"/>
        <c:varyColors val="0"/>
        <c:ser>
          <c:idx val="0"/>
          <c:order val="0"/>
          <c:tx>
            <c:strRef>
              <c:f>Sheet1!$B$1</c:f>
              <c:strCache>
                <c:ptCount val="1"/>
                <c:pt idx="0">
                  <c:v>Invisible</c:v>
                </c:pt>
              </c:strCache>
            </c:strRef>
          </c:tx>
          <c:spPr>
            <a:noFill/>
            <a:ln>
              <a:noFill/>
            </a:ln>
            <a:effectLst/>
          </c:spPr>
          <c:invertIfNegative val="0"/>
          <c:cat>
            <c:numRef>
              <c:f>Sheet1!$A$2:$A$11</c:f>
              <c:numCache>
                <c:formatCode>General</c:formatCode>
                <c:ptCount val="10"/>
              </c:numCache>
            </c:numRef>
          </c:cat>
          <c:val>
            <c:numRef>
              <c:f>Sheet1!$B$2:$B$11</c:f>
              <c:numCache>
                <c:formatCode>General</c:formatCode>
                <c:ptCount val="10"/>
                <c:pt idx="0">
                  <c:v>0</c:v>
                </c:pt>
                <c:pt idx="1">
                  <c:v>4.9000000000000004</c:v>
                </c:pt>
                <c:pt idx="2">
                  <c:v>4.9650216488648677</c:v>
                </c:pt>
                <c:pt idx="3">
                  <c:v>5.5474937398255788</c:v>
                </c:pt>
                <c:pt idx="4">
                  <c:v>5.7902059302377049</c:v>
                </c:pt>
                <c:pt idx="5" formatCode="0.00">
                  <c:v>4.9000000000000004</c:v>
                </c:pt>
                <c:pt idx="6" formatCode="0.00">
                  <c:v>5.8839898987598565</c:v>
                </c:pt>
                <c:pt idx="7" formatCode="0.00">
                  <c:v>5.7331771464087122</c:v>
                </c:pt>
                <c:pt idx="8" formatCode="0.00">
                  <c:v>5.5025008464378002</c:v>
                </c:pt>
                <c:pt idx="9" formatCode="0.00">
                  <c:v>5.4749721664378006</c:v>
                </c:pt>
              </c:numCache>
            </c:numRef>
          </c:val>
          <c:extLst>
            <c:ext xmlns:c16="http://schemas.microsoft.com/office/drawing/2014/chart" uri="{C3380CC4-5D6E-409C-BE32-E72D297353CC}">
              <c16:uniqueId val="{00000000-ACE0-47A5-BB33-DD2847BFA946}"/>
            </c:ext>
          </c:extLst>
        </c:ser>
        <c:ser>
          <c:idx val="1"/>
          <c:order val="1"/>
          <c:tx>
            <c:strRef>
              <c:f>Sheet1!$C$1</c:f>
              <c:strCache>
                <c:ptCount val="1"/>
                <c:pt idx="0">
                  <c:v>Visible</c:v>
                </c:pt>
              </c:strCache>
            </c:strRef>
          </c:tx>
          <c:spPr>
            <a:solidFill>
              <a:srgbClr val="92D050"/>
            </a:solidFill>
            <a:ln>
              <a:noFill/>
            </a:ln>
            <a:effectLst/>
          </c:spPr>
          <c:invertIfNegative val="0"/>
          <c:dPt>
            <c:idx val="0"/>
            <c:invertIfNegative val="0"/>
            <c:bubble3D val="0"/>
            <c:spPr>
              <a:solidFill>
                <a:srgbClr val="00B0F0"/>
              </a:solidFill>
              <a:ln>
                <a:noFill/>
              </a:ln>
              <a:effectLst/>
            </c:spPr>
            <c:extLst>
              <c:ext xmlns:c16="http://schemas.microsoft.com/office/drawing/2014/chart" uri="{C3380CC4-5D6E-409C-BE32-E72D297353CC}">
                <c16:uniqueId val="{00000003-ACE0-47A5-BB33-DD2847BFA946}"/>
              </c:ext>
            </c:extLst>
          </c:dPt>
          <c:dPt>
            <c:idx val="5"/>
            <c:invertIfNegative val="0"/>
            <c:bubble3D val="0"/>
            <c:spPr>
              <a:solidFill>
                <a:srgbClr val="00B050"/>
              </a:solidFill>
              <a:ln>
                <a:noFill/>
              </a:ln>
              <a:effectLst/>
            </c:spPr>
            <c:extLst>
              <c:ext xmlns:c16="http://schemas.microsoft.com/office/drawing/2014/chart" uri="{C3380CC4-5D6E-409C-BE32-E72D297353CC}">
                <c16:uniqueId val="{0000000E-ACE0-47A5-BB33-DD2847BFA946}"/>
              </c:ext>
            </c:extLst>
          </c:dPt>
          <c:dPt>
            <c:idx val="6"/>
            <c:invertIfNegative val="0"/>
            <c:bubble3D val="0"/>
            <c:spPr>
              <a:solidFill>
                <a:srgbClr val="0076A8"/>
              </a:solidFill>
              <a:ln>
                <a:noFill/>
              </a:ln>
              <a:effectLst/>
            </c:spPr>
            <c:extLst>
              <c:ext xmlns:c16="http://schemas.microsoft.com/office/drawing/2014/chart" uri="{C3380CC4-5D6E-409C-BE32-E72D297353CC}">
                <c16:uniqueId val="{0000000F-ACE0-47A5-BB33-DD2847BFA946}"/>
              </c:ext>
            </c:extLst>
          </c:dPt>
          <c:dPt>
            <c:idx val="7"/>
            <c:invertIfNegative val="0"/>
            <c:bubble3D val="0"/>
            <c:spPr>
              <a:solidFill>
                <a:srgbClr val="0076A8"/>
              </a:solidFill>
              <a:ln>
                <a:noFill/>
              </a:ln>
              <a:effectLst/>
            </c:spPr>
            <c:extLst>
              <c:ext xmlns:c16="http://schemas.microsoft.com/office/drawing/2014/chart" uri="{C3380CC4-5D6E-409C-BE32-E72D297353CC}">
                <c16:uniqueId val="{00000010-ACE0-47A5-BB33-DD2847BFA946}"/>
              </c:ext>
            </c:extLst>
          </c:dPt>
          <c:dPt>
            <c:idx val="8"/>
            <c:invertIfNegative val="0"/>
            <c:bubble3D val="0"/>
            <c:spPr>
              <a:solidFill>
                <a:srgbClr val="0076A8"/>
              </a:solidFill>
              <a:ln>
                <a:noFill/>
              </a:ln>
              <a:effectLst/>
            </c:spPr>
            <c:extLst>
              <c:ext xmlns:c16="http://schemas.microsoft.com/office/drawing/2014/chart" uri="{C3380CC4-5D6E-409C-BE32-E72D297353CC}">
                <c16:uniqueId val="{00000011-ACE0-47A5-BB33-DD2847BFA946}"/>
              </c:ext>
            </c:extLst>
          </c:dPt>
          <c:dPt>
            <c:idx val="9"/>
            <c:invertIfNegative val="0"/>
            <c:bubble3D val="0"/>
            <c:spPr>
              <a:solidFill>
                <a:srgbClr val="0076A8"/>
              </a:solidFill>
              <a:ln>
                <a:noFill/>
              </a:ln>
              <a:effectLst/>
            </c:spPr>
            <c:extLst>
              <c:ext xmlns:c16="http://schemas.microsoft.com/office/drawing/2014/chart" uri="{C3380CC4-5D6E-409C-BE32-E72D297353CC}">
                <c16:uniqueId val="{00000004-ACE0-47A5-BB33-DD2847BFA946}"/>
              </c:ext>
            </c:extLst>
          </c:dPt>
          <c:dPt>
            <c:idx val="10"/>
            <c:invertIfNegative val="0"/>
            <c:bubble3D val="0"/>
            <c:spPr>
              <a:solidFill>
                <a:srgbClr val="00B050"/>
              </a:solidFill>
              <a:ln>
                <a:noFill/>
              </a:ln>
              <a:effectLst/>
            </c:spPr>
            <c:extLst>
              <c:ext xmlns:c16="http://schemas.microsoft.com/office/drawing/2014/chart" uri="{C3380CC4-5D6E-409C-BE32-E72D297353CC}">
                <c16:uniqueId val="{00000006-ACE0-47A5-BB33-DD2847BFA946}"/>
              </c:ext>
            </c:extLst>
          </c:dPt>
          <c:dPt>
            <c:idx val="11"/>
            <c:invertIfNegative val="0"/>
            <c:bubble3D val="0"/>
            <c:spPr>
              <a:solidFill>
                <a:srgbClr val="00B050"/>
              </a:solidFill>
              <a:ln>
                <a:noFill/>
              </a:ln>
              <a:effectLst/>
            </c:spPr>
            <c:extLst>
              <c:ext xmlns:c16="http://schemas.microsoft.com/office/drawing/2014/chart" uri="{C3380CC4-5D6E-409C-BE32-E72D297353CC}">
                <c16:uniqueId val="{00000007-ACE0-47A5-BB33-DD2847BFA946}"/>
              </c:ext>
            </c:extLst>
          </c:dPt>
          <c:dPt>
            <c:idx val="12"/>
            <c:invertIfNegative val="0"/>
            <c:bubble3D val="0"/>
            <c:spPr>
              <a:solidFill>
                <a:srgbClr val="002060"/>
              </a:solidFill>
              <a:ln>
                <a:noFill/>
              </a:ln>
              <a:effectLst/>
            </c:spPr>
            <c:extLst>
              <c:ext xmlns:c16="http://schemas.microsoft.com/office/drawing/2014/chart" uri="{C3380CC4-5D6E-409C-BE32-E72D297353CC}">
                <c16:uniqueId val="{00000008-ACE0-47A5-BB33-DD2847BFA946}"/>
              </c:ext>
            </c:extLst>
          </c:dPt>
          <c:dPt>
            <c:idx val="13"/>
            <c:invertIfNegative val="0"/>
            <c:bubble3D val="0"/>
            <c:spPr>
              <a:solidFill>
                <a:srgbClr val="00B050"/>
              </a:solidFill>
              <a:ln>
                <a:noFill/>
              </a:ln>
              <a:effectLst/>
            </c:spPr>
            <c:extLst>
              <c:ext xmlns:c16="http://schemas.microsoft.com/office/drawing/2014/chart" uri="{C3380CC4-5D6E-409C-BE32-E72D297353CC}">
                <c16:uniqueId val="{00000009-ACE0-47A5-BB33-DD2847BFA946}"/>
              </c:ext>
            </c:extLst>
          </c:dPt>
          <c:dPt>
            <c:idx val="14"/>
            <c:invertIfNegative val="0"/>
            <c:bubble3D val="0"/>
            <c:spPr>
              <a:solidFill>
                <a:srgbClr val="0070C0"/>
              </a:solidFill>
              <a:ln>
                <a:noFill/>
              </a:ln>
              <a:effectLst/>
            </c:spPr>
            <c:extLst>
              <c:ext xmlns:c16="http://schemas.microsoft.com/office/drawing/2014/chart" uri="{C3380CC4-5D6E-409C-BE32-E72D297353CC}">
                <c16:uniqueId val="{00000005-ACE0-47A5-BB33-DD2847BFA946}"/>
              </c:ext>
            </c:extLst>
          </c:dPt>
          <c:dLbls>
            <c:dLbl>
              <c:idx val="0"/>
              <c:layout>
                <c:manualLayout>
                  <c:x val="-1.1443534638826487E-3"/>
                  <c:y val="-0.153949449106778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CE0-47A5-BB33-DD2847BFA946}"/>
                </c:ext>
              </c:extLst>
            </c:dLbl>
            <c:dLbl>
              <c:idx val="1"/>
              <c:layout>
                <c:manualLayout>
                  <c:x val="-1.2977443614014315E-3"/>
                  <c:y val="-5.081284222865597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E0-47A5-BB33-DD2847BFA946}"/>
                </c:ext>
              </c:extLst>
            </c:dLbl>
            <c:dLbl>
              <c:idx val="2"/>
              <c:layout>
                <c:manualLayout>
                  <c:x val="-1.2748499115183894E-3"/>
                  <c:y val="-0.169967250532159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CE0-47A5-BB33-DD2847BFA946}"/>
                </c:ext>
              </c:extLst>
            </c:dLbl>
            <c:dLbl>
              <c:idx val="3"/>
              <c:layout>
                <c:manualLayout>
                  <c:x val="1.7507604178576091E-3"/>
                  <c:y val="-7.951074295246783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E0-47A5-BB33-DD2847BFA946}"/>
                </c:ext>
              </c:extLst>
            </c:dLbl>
            <c:dLbl>
              <c:idx val="4"/>
              <c:layout>
                <c:manualLayout>
                  <c:x val="-1.2748499115183894E-3"/>
                  <c:y val="-0.1007029636973849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CE0-47A5-BB33-DD2847BFA946}"/>
                </c:ext>
              </c:extLst>
            </c:dLbl>
            <c:dLbl>
              <c:idx val="5"/>
              <c:layout>
                <c:manualLayout>
                  <c:x val="-2.5725868923144319E-3"/>
                  <c:y val="-0.32485710499984011"/>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E0-47A5-BB33-DD2847BFA946}"/>
                </c:ext>
              </c:extLst>
            </c:dLbl>
            <c:dLbl>
              <c:idx val="6"/>
              <c:layout>
                <c:manualLayout>
                  <c:x val="-4.918712257039455E-5"/>
                  <c:y val="6.869214840265747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CE0-47A5-BB33-DD2847BFA946}"/>
                </c:ext>
              </c:extLst>
            </c:dLbl>
            <c:dLbl>
              <c:idx val="7"/>
              <c:layout>
                <c:manualLayout>
                  <c:x val="1.2519628422407365E-3"/>
                  <c:y val="7.648049068866277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CE0-47A5-BB33-DD2847BFA946}"/>
                </c:ext>
              </c:extLst>
            </c:dLbl>
            <c:dLbl>
              <c:idx val="8"/>
              <c:layout>
                <c:manualLayout>
                  <c:x val="-1.1673911059844968E-3"/>
                  <c:y val="4.6998100825310897E-2"/>
                </c:manualLayout>
              </c:layout>
              <c:spPr>
                <a:noFill/>
                <a:ln>
                  <a:noFill/>
                </a:ln>
                <a:effectLst/>
              </c:spPr>
              <c:txPr>
                <a:bodyPr rot="0" spcFirstLastPara="1" vertOverflow="ellipsis" vert="horz" wrap="square" lIns="38100" tIns="19050" rIns="38100" bIns="19050" anchor="ctr" anchorCtr="1">
                  <a:no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5.4309185159726672E-2"/>
                      <c:h val="4.1122509991503284E-2"/>
                    </c:manualLayout>
                  </c15:layout>
                </c:ext>
                <c:ext xmlns:c16="http://schemas.microsoft.com/office/drawing/2014/chart" uri="{C3380CC4-5D6E-409C-BE32-E72D297353CC}">
                  <c16:uniqueId val="{00000011-ACE0-47A5-BB33-DD2847BFA946}"/>
                </c:ext>
              </c:extLst>
            </c:dLbl>
            <c:dLbl>
              <c:idx val="9"/>
              <c:layout>
                <c:manualLayout>
                  <c:x val="-1.1903283662035482E-3"/>
                  <c:y val="6.07837433489542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E0-47A5-BB33-DD2847BFA946}"/>
                </c:ext>
              </c:extLst>
            </c:dLbl>
            <c:dLbl>
              <c:idx val="10"/>
              <c:layout>
                <c:manualLayout>
                  <c:x val="-2.5496998230367788E-3"/>
                  <c:y val="-3.100393594619707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E0-47A5-BB33-DD2847BFA946}"/>
                </c:ext>
              </c:extLst>
            </c:dLbl>
            <c:dLbl>
              <c:idx val="11"/>
              <c:layout>
                <c:manualLayout>
                  <c:x val="-9.5169347835021703E-17"/>
                  <c:y val="-3.676724121598840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CE0-47A5-BB33-DD2847BFA946}"/>
                </c:ext>
              </c:extLst>
            </c:dLbl>
            <c:dLbl>
              <c:idx val="12"/>
              <c:layout>
                <c:manualLayout>
                  <c:x val="-2.611936797344558E-3"/>
                  <c:y val="-0.222343391585912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E0-47A5-BB33-DD2847BFA946}"/>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Sheet1!$A$2:$A$11</c:f>
              <c:numCache>
                <c:formatCode>General</c:formatCode>
                <c:ptCount val="10"/>
              </c:numCache>
            </c:numRef>
          </c:cat>
          <c:val>
            <c:numRef>
              <c:f>Sheet1!$C$2:$C$11</c:f>
              <c:numCache>
                <c:formatCode>_(* #,##0.00_);_(* \(#,##0.00\);_(* "-"??_);_(@_)</c:formatCode>
                <c:ptCount val="10"/>
                <c:pt idx="0" formatCode="0.00">
                  <c:v>4.9000000000000004</c:v>
                </c:pt>
                <c:pt idx="1">
                  <c:v>6.5021648864867304E-2</c:v>
                </c:pt>
                <c:pt idx="2" formatCode="0.00">
                  <c:v>0.58247209096071073</c:v>
                </c:pt>
                <c:pt idx="3" formatCode="0.00">
                  <c:v>0.24271219041212586</c:v>
                </c:pt>
                <c:pt idx="4" formatCode="0.00">
                  <c:v>0.24459672087329687</c:v>
                </c:pt>
                <c:pt idx="5" formatCode="0.00">
                  <c:v>1.1348026511110008</c:v>
                </c:pt>
                <c:pt idx="6" formatCode="0.00">
                  <c:v>0.15081275235114452</c:v>
                </c:pt>
                <c:pt idx="7" formatCode="0.00">
                  <c:v>0.23067629997091205</c:v>
                </c:pt>
                <c:pt idx="8" formatCode="0.00">
                  <c:v>2.7528679999999989E-2</c:v>
                </c:pt>
                <c:pt idx="9" formatCode="0.00">
                  <c:v>6.4687273410920509E-2</c:v>
                </c:pt>
              </c:numCache>
            </c:numRef>
          </c:val>
          <c:extLst>
            <c:ext xmlns:c16="http://schemas.microsoft.com/office/drawing/2014/chart" uri="{C3380CC4-5D6E-409C-BE32-E72D297353CC}">
              <c16:uniqueId val="{00000001-ACE0-47A5-BB33-DD2847BFA946}"/>
            </c:ext>
          </c:extLst>
        </c:ser>
        <c:dLbls>
          <c:showLegendKey val="0"/>
          <c:showVal val="0"/>
          <c:showCatName val="0"/>
          <c:showSerName val="0"/>
          <c:showPercent val="0"/>
          <c:showBubbleSize val="0"/>
        </c:dLbls>
        <c:gapWidth val="150"/>
        <c:overlap val="100"/>
        <c:axId val="1265065680"/>
        <c:axId val="1265063056"/>
      </c:barChart>
      <c:catAx>
        <c:axId val="126506568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265063056"/>
        <c:crosses val="autoZero"/>
        <c:auto val="1"/>
        <c:lblAlgn val="ctr"/>
        <c:lblOffset val="100"/>
        <c:noMultiLvlLbl val="0"/>
      </c:catAx>
      <c:valAx>
        <c:axId val="1265063056"/>
        <c:scaling>
          <c:orientation val="minMax"/>
          <c:min val="4.5"/>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1265065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FY17</c:v>
                </c:pt>
                <c:pt idx="1">
                  <c:v>FY18(E)</c:v>
                </c:pt>
                <c:pt idx="2">
                  <c:v>FY19(E)</c:v>
                </c:pt>
                <c:pt idx="3">
                  <c:v>FY20(E)</c:v>
                </c:pt>
                <c:pt idx="4">
                  <c:v>FY21(E)</c:v>
                </c:pt>
              </c:strCache>
            </c:strRef>
          </c:cat>
          <c:val>
            <c:numRef>
              <c:f>Sheet1!$B$2:$B$6</c:f>
              <c:numCache>
                <c:formatCode>0.00%</c:formatCode>
                <c:ptCount val="5"/>
                <c:pt idx="0">
                  <c:v>0.90490000000000004</c:v>
                </c:pt>
                <c:pt idx="1">
                  <c:v>0.92742500000000005</c:v>
                </c:pt>
                <c:pt idx="2">
                  <c:v>0.94995000000000007</c:v>
                </c:pt>
                <c:pt idx="3">
                  <c:v>0.97247500000000009</c:v>
                </c:pt>
                <c:pt idx="4">
                  <c:v>0.995</c:v>
                </c:pt>
              </c:numCache>
            </c:numRef>
          </c:val>
          <c:smooth val="0"/>
          <c:extLst>
            <c:ext xmlns:c16="http://schemas.microsoft.com/office/drawing/2014/chart" uri="{C3380CC4-5D6E-409C-BE32-E72D297353CC}">
              <c16:uniqueId val="{00000000-7A10-4697-944A-EEE7C4A1BF04}"/>
            </c:ext>
          </c:extLst>
        </c:ser>
        <c:dLbls>
          <c:dLblPos val="t"/>
          <c:showLegendKey val="0"/>
          <c:showVal val="1"/>
          <c:showCatName val="0"/>
          <c:showSerName val="0"/>
          <c:showPercent val="0"/>
          <c:showBubbleSize val="0"/>
        </c:dLbls>
        <c:marker val="1"/>
        <c:smooth val="0"/>
        <c:axId val="1177128920"/>
        <c:axId val="1177131216"/>
      </c:line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FY17</c:v>
                </c:pt>
                <c:pt idx="1">
                  <c:v>FY18(E)</c:v>
                </c:pt>
                <c:pt idx="2">
                  <c:v>FY19(E)</c:v>
                </c:pt>
                <c:pt idx="3">
                  <c:v>FY20(E)</c:v>
                </c:pt>
                <c:pt idx="4">
                  <c:v>FY21(E)</c:v>
                </c:pt>
              </c:strCache>
            </c:strRef>
          </c:cat>
          <c:val>
            <c:numRef>
              <c:f>Sheet1!$B$2:$B$6</c:f>
              <c:numCache>
                <c:formatCode>0.00%</c:formatCode>
                <c:ptCount val="5"/>
                <c:pt idx="0">
                  <c:v>0.29545537939974076</c:v>
                </c:pt>
                <c:pt idx="1">
                  <c:v>0.30499999999999999</c:v>
                </c:pt>
                <c:pt idx="2">
                  <c:v>0.31</c:v>
                </c:pt>
                <c:pt idx="3">
                  <c:v>0.315</c:v>
                </c:pt>
                <c:pt idx="4">
                  <c:v>0.32</c:v>
                </c:pt>
              </c:numCache>
            </c:numRef>
          </c:val>
          <c:smooth val="0"/>
          <c:extLst>
            <c:ext xmlns:c16="http://schemas.microsoft.com/office/drawing/2014/chart" uri="{C3380CC4-5D6E-409C-BE32-E72D297353CC}">
              <c16:uniqueId val="{00000000-4B3D-4FDD-8B76-1BDD1717180E}"/>
            </c:ext>
          </c:extLst>
        </c:ser>
        <c:dLbls>
          <c:dLblPos val="t"/>
          <c:showLegendKey val="0"/>
          <c:showVal val="1"/>
          <c:showCatName val="0"/>
          <c:showSerName val="0"/>
          <c:showPercent val="0"/>
          <c:showBubbleSize val="0"/>
        </c:dLbls>
        <c:marker val="1"/>
        <c:smooth val="0"/>
        <c:axId val="1177128920"/>
        <c:axId val="1177131216"/>
      </c:line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FY18(E)</c:v>
                </c:pt>
                <c:pt idx="1">
                  <c:v>FY19(E)</c:v>
                </c:pt>
                <c:pt idx="2">
                  <c:v>FY20(E)</c:v>
                </c:pt>
                <c:pt idx="3">
                  <c:v>FY21(E)</c:v>
                </c:pt>
              </c:strCache>
            </c:strRef>
          </c:cat>
          <c:val>
            <c:numRef>
              <c:f>Sheet1!$B$2:$B$5</c:f>
              <c:numCache>
                <c:formatCode>0.00</c:formatCode>
                <c:ptCount val="4"/>
                <c:pt idx="0">
                  <c:v>8114.8599019672338</c:v>
                </c:pt>
                <c:pt idx="1">
                  <c:v>17784.714085272568</c:v>
                </c:pt>
                <c:pt idx="2">
                  <c:v>29437.454941084707</c:v>
                </c:pt>
                <c:pt idx="3">
                  <c:v>44836.744973281398</c:v>
                </c:pt>
              </c:numCache>
            </c:numRef>
          </c:val>
          <c:extLst>
            <c:ext xmlns:c16="http://schemas.microsoft.com/office/drawing/2014/chart" uri="{C3380CC4-5D6E-409C-BE32-E72D297353CC}">
              <c16:uniqueId val="{00000000-E7B3-453C-AED3-64E5851ADD0A}"/>
            </c:ext>
          </c:extLst>
        </c:ser>
        <c:dLbls>
          <c:showLegendKey val="0"/>
          <c:showVal val="1"/>
          <c:showCatName val="0"/>
          <c:showSerName val="0"/>
          <c:showPercent val="0"/>
          <c:showBubbleSize val="0"/>
        </c:dLbls>
        <c:gapWidth val="150"/>
        <c:axId val="1177128920"/>
        <c:axId val="1177131216"/>
      </c:bar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FY18(E)</c:v>
                </c:pt>
                <c:pt idx="1">
                  <c:v>FY19(E)</c:v>
                </c:pt>
                <c:pt idx="2">
                  <c:v>FY20(E)</c:v>
                </c:pt>
                <c:pt idx="3">
                  <c:v>FY21(E)</c:v>
                </c:pt>
              </c:strCache>
            </c:strRef>
          </c:cat>
          <c:val>
            <c:numRef>
              <c:f>Sheet1!$B$2:$B$5</c:f>
              <c:numCache>
                <c:formatCode>0.00</c:formatCode>
                <c:ptCount val="4"/>
                <c:pt idx="0">
                  <c:v>2684.3573599816154</c:v>
                </c:pt>
                <c:pt idx="1">
                  <c:v>4688.9924920565982</c:v>
                </c:pt>
                <c:pt idx="2">
                  <c:v>6913.4688244956969</c:v>
                </c:pt>
                <c:pt idx="3">
                  <c:v>9781.7357485231933</c:v>
                </c:pt>
              </c:numCache>
            </c:numRef>
          </c:val>
          <c:extLst>
            <c:ext xmlns:c16="http://schemas.microsoft.com/office/drawing/2014/chart" uri="{C3380CC4-5D6E-409C-BE32-E72D297353CC}">
              <c16:uniqueId val="{00000000-0B3B-4241-81A3-B141CB6A39D4}"/>
            </c:ext>
          </c:extLst>
        </c:ser>
        <c:dLbls>
          <c:showLegendKey val="0"/>
          <c:showVal val="1"/>
          <c:showCatName val="0"/>
          <c:showSerName val="0"/>
          <c:showPercent val="0"/>
          <c:showBubbleSize val="0"/>
        </c:dLbls>
        <c:gapWidth val="150"/>
        <c:axId val="1177128920"/>
        <c:axId val="1177131216"/>
      </c:bar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FY17</c:v>
                </c:pt>
                <c:pt idx="1">
                  <c:v>FY18(E)</c:v>
                </c:pt>
                <c:pt idx="2">
                  <c:v>FY19(E)</c:v>
                </c:pt>
                <c:pt idx="3">
                  <c:v>FY20(E)</c:v>
                </c:pt>
                <c:pt idx="4">
                  <c:v>FY21(E)</c:v>
                </c:pt>
              </c:strCache>
            </c:strRef>
          </c:cat>
          <c:val>
            <c:numRef>
              <c:f>Sheet1!$B$2:$B$6</c:f>
              <c:numCache>
                <c:formatCode>0.00%</c:formatCode>
                <c:ptCount val="5"/>
                <c:pt idx="0">
                  <c:v>0.1101</c:v>
                </c:pt>
                <c:pt idx="1">
                  <c:v>0.107325</c:v>
                </c:pt>
                <c:pt idx="2">
                  <c:v>0.10455</c:v>
                </c:pt>
                <c:pt idx="3">
                  <c:v>0.101775</c:v>
                </c:pt>
                <c:pt idx="4">
                  <c:v>9.9000000000000005E-2</c:v>
                </c:pt>
              </c:numCache>
            </c:numRef>
          </c:val>
          <c:smooth val="0"/>
          <c:extLst>
            <c:ext xmlns:c16="http://schemas.microsoft.com/office/drawing/2014/chart" uri="{C3380CC4-5D6E-409C-BE32-E72D297353CC}">
              <c16:uniqueId val="{00000000-7A10-4697-944A-EEE7C4A1BF04}"/>
            </c:ext>
          </c:extLst>
        </c:ser>
        <c:dLbls>
          <c:dLblPos val="t"/>
          <c:showLegendKey val="0"/>
          <c:showVal val="1"/>
          <c:showCatName val="0"/>
          <c:showSerName val="0"/>
          <c:showPercent val="0"/>
          <c:showBubbleSize val="0"/>
        </c:dLbls>
        <c:marker val="1"/>
        <c:smooth val="0"/>
        <c:axId val="1177128920"/>
        <c:axId val="1177131216"/>
      </c:line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FY17</c:v>
                </c:pt>
                <c:pt idx="1">
                  <c:v>FY18(E)</c:v>
                </c:pt>
                <c:pt idx="2">
                  <c:v>FY19(E)</c:v>
                </c:pt>
                <c:pt idx="3">
                  <c:v>FY20(E)</c:v>
                </c:pt>
                <c:pt idx="4">
                  <c:v>FY21(E)</c:v>
                </c:pt>
              </c:strCache>
            </c:strRef>
          </c:cat>
          <c:val>
            <c:numRef>
              <c:f>Sheet1!$B$2:$B$6</c:f>
              <c:numCache>
                <c:formatCode>0.00%</c:formatCode>
                <c:ptCount val="5"/>
                <c:pt idx="0">
                  <c:v>0.95899999999999996</c:v>
                </c:pt>
                <c:pt idx="1">
                  <c:v>0.96799999999999997</c:v>
                </c:pt>
                <c:pt idx="2">
                  <c:v>0.97699999999999998</c:v>
                </c:pt>
                <c:pt idx="3">
                  <c:v>0.98599999999999999</c:v>
                </c:pt>
                <c:pt idx="4">
                  <c:v>0.995</c:v>
                </c:pt>
              </c:numCache>
            </c:numRef>
          </c:val>
          <c:smooth val="0"/>
          <c:extLst>
            <c:ext xmlns:c16="http://schemas.microsoft.com/office/drawing/2014/chart" uri="{C3380CC4-5D6E-409C-BE32-E72D297353CC}">
              <c16:uniqueId val="{00000000-4B3D-4FDD-8B76-1BDD1717180E}"/>
            </c:ext>
          </c:extLst>
        </c:ser>
        <c:dLbls>
          <c:dLblPos val="t"/>
          <c:showLegendKey val="0"/>
          <c:showVal val="1"/>
          <c:showCatName val="0"/>
          <c:showSerName val="0"/>
          <c:showPercent val="0"/>
          <c:showBubbleSize val="0"/>
        </c:dLbls>
        <c:marker val="1"/>
        <c:smooth val="0"/>
        <c:axId val="1177128920"/>
        <c:axId val="1177131216"/>
      </c:line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FY18(E)</c:v>
                </c:pt>
                <c:pt idx="1">
                  <c:v>FY19(E)</c:v>
                </c:pt>
                <c:pt idx="2">
                  <c:v>FY20(E)</c:v>
                </c:pt>
                <c:pt idx="3">
                  <c:v>FY21(E)</c:v>
                </c:pt>
              </c:strCache>
            </c:strRef>
          </c:cat>
          <c:val>
            <c:numRef>
              <c:f>Sheet1!$B$2:$B$5</c:f>
              <c:numCache>
                <c:formatCode>0</c:formatCode>
                <c:ptCount val="4"/>
                <c:pt idx="0">
                  <c:v>261.60383913149423</c:v>
                </c:pt>
                <c:pt idx="1">
                  <c:v>582.80310927825485</c:v>
                </c:pt>
                <c:pt idx="2">
                  <c:v>984.65655118804148</c:v>
                </c:pt>
                <c:pt idx="3">
                  <c:v>1491.1452937318809</c:v>
                </c:pt>
              </c:numCache>
            </c:numRef>
          </c:val>
          <c:extLst>
            <c:ext xmlns:c16="http://schemas.microsoft.com/office/drawing/2014/chart" uri="{C3380CC4-5D6E-409C-BE32-E72D297353CC}">
              <c16:uniqueId val="{00000000-E7B3-453C-AED3-64E5851ADD0A}"/>
            </c:ext>
          </c:extLst>
        </c:ser>
        <c:dLbls>
          <c:showLegendKey val="0"/>
          <c:showVal val="1"/>
          <c:showCatName val="0"/>
          <c:showSerName val="0"/>
          <c:showPercent val="0"/>
          <c:showBubbleSize val="0"/>
        </c:dLbls>
        <c:gapWidth val="150"/>
        <c:axId val="1177128920"/>
        <c:axId val="1177131216"/>
      </c:bar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FY18(E)</c:v>
                </c:pt>
                <c:pt idx="1">
                  <c:v>FY19(E)</c:v>
                </c:pt>
                <c:pt idx="2">
                  <c:v>FY20(E)</c:v>
                </c:pt>
                <c:pt idx="3">
                  <c:v>FY21(E)</c:v>
                </c:pt>
              </c:strCache>
            </c:strRef>
          </c:cat>
          <c:val>
            <c:numRef>
              <c:f>Sheet1!$B$2:$B$5</c:f>
              <c:numCache>
                <c:formatCode>0.00</c:formatCode>
                <c:ptCount val="4"/>
                <c:pt idx="0">
                  <c:v>866.61044026242132</c:v>
                </c:pt>
                <c:pt idx="1">
                  <c:v>1920.9853942348593</c:v>
                </c:pt>
                <c:pt idx="2">
                  <c:v>3230.9245876521832</c:v>
                </c:pt>
                <c:pt idx="3">
                  <c:v>4873.0287848027801</c:v>
                </c:pt>
              </c:numCache>
            </c:numRef>
          </c:val>
          <c:extLst>
            <c:ext xmlns:c16="http://schemas.microsoft.com/office/drawing/2014/chart" uri="{C3380CC4-5D6E-409C-BE32-E72D297353CC}">
              <c16:uniqueId val="{00000000-0B3B-4241-81A3-B141CB6A39D4}"/>
            </c:ext>
          </c:extLst>
        </c:ser>
        <c:dLbls>
          <c:showLegendKey val="0"/>
          <c:showVal val="1"/>
          <c:showCatName val="0"/>
          <c:showSerName val="0"/>
          <c:showPercent val="0"/>
          <c:showBubbleSize val="0"/>
        </c:dLbls>
        <c:gapWidth val="150"/>
        <c:axId val="1177128920"/>
        <c:axId val="1177131216"/>
      </c:barChart>
      <c:catAx>
        <c:axId val="1177128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177131216"/>
        <c:crosses val="autoZero"/>
        <c:auto val="1"/>
        <c:lblAlgn val="ctr"/>
        <c:lblOffset val="100"/>
        <c:noMultiLvlLbl val="0"/>
      </c:catAx>
      <c:valAx>
        <c:axId val="1177131216"/>
        <c:scaling>
          <c:orientation val="minMax"/>
        </c:scaling>
        <c:delete val="1"/>
        <c:axPos val="l"/>
        <c:numFmt formatCode="0.00" sourceLinked="1"/>
        <c:majorTickMark val="none"/>
        <c:minorTickMark val="none"/>
        <c:tickLblPos val="nextTo"/>
        <c:crossAx val="1177128920"/>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chemeClr val="tx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385544295752269"/>
          <c:y val="0.17357502187226592"/>
          <c:w val="0.7083728211103657"/>
          <c:h val="0.82274551618547687"/>
        </c:manualLayout>
      </c:layout>
      <c:pieChart>
        <c:varyColors val="1"/>
        <c:ser>
          <c:idx val="0"/>
          <c:order val="0"/>
          <c:tx>
            <c:strRef>
              <c:f>Sheet1!$B$1</c:f>
              <c:strCache>
                <c:ptCount val="1"/>
                <c:pt idx="0">
                  <c:v>Number of Employees</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482B-474B-B7FB-2C6E934EC1A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482B-474B-B7FB-2C6E934EC1A9}"/>
              </c:ext>
            </c:extLst>
          </c:dPt>
          <c:dPt>
            <c:idx val="2"/>
            <c:bubble3D val="0"/>
            <c:spPr>
              <a:solidFill>
                <a:srgbClr val="00B0F0"/>
              </a:solidFill>
              <a:ln w="19050">
                <a:solidFill>
                  <a:schemeClr val="lt1"/>
                </a:solidFill>
              </a:ln>
              <a:effectLst/>
            </c:spPr>
            <c:extLst>
              <c:ext xmlns:c16="http://schemas.microsoft.com/office/drawing/2014/chart" uri="{C3380CC4-5D6E-409C-BE32-E72D297353CC}">
                <c16:uniqueId val="{00000005-482B-474B-B7FB-2C6E934EC1A9}"/>
              </c:ext>
            </c:extLst>
          </c:dPt>
          <c:dPt>
            <c:idx val="3"/>
            <c:bubble3D val="0"/>
            <c:spPr>
              <a:solidFill>
                <a:srgbClr val="A0DCFF"/>
              </a:solidFill>
              <a:ln w="19050">
                <a:solidFill>
                  <a:schemeClr val="lt1"/>
                </a:solidFill>
              </a:ln>
              <a:effectLst/>
            </c:spPr>
            <c:extLst>
              <c:ext xmlns:c16="http://schemas.microsoft.com/office/drawing/2014/chart" uri="{C3380CC4-5D6E-409C-BE32-E72D297353CC}">
                <c16:uniqueId val="{00000007-482B-474B-B7FB-2C6E934EC1A9}"/>
              </c:ext>
            </c:extLst>
          </c:dPt>
          <c:dLbls>
            <c:dLbl>
              <c:idx val="0"/>
              <c:layout>
                <c:manualLayout>
                  <c:x val="-0.11294281039982115"/>
                  <c:y val="1.736111111111111E-3"/>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30218236173393126"/>
                      <c:h val="0.24875"/>
                    </c:manualLayout>
                  </c15:layout>
                </c:ext>
                <c:ext xmlns:c16="http://schemas.microsoft.com/office/drawing/2014/chart" uri="{C3380CC4-5D6E-409C-BE32-E72D297353CC}">
                  <c16:uniqueId val="{00000001-482B-474B-B7FB-2C6E934EC1A9}"/>
                </c:ext>
              </c:extLst>
            </c:dLbl>
            <c:dLbl>
              <c:idx val="1"/>
              <c:layout>
                <c:manualLayout>
                  <c:x val="-3.6505773101232292E-2"/>
                  <c:y val="0.10308508311461068"/>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9022421524663677"/>
                      <c:h val="0.24875"/>
                    </c:manualLayout>
                  </c15:layout>
                </c:ext>
                <c:ext xmlns:c16="http://schemas.microsoft.com/office/drawing/2014/chart" uri="{C3380CC4-5D6E-409C-BE32-E72D297353CC}">
                  <c16:uniqueId val="{00000003-482B-474B-B7FB-2C6E934EC1A9}"/>
                </c:ext>
              </c:extLst>
            </c:dLbl>
            <c:dLbl>
              <c:idx val="2"/>
              <c:layout>
                <c:manualLayout>
                  <c:x val="-0.17339312406576982"/>
                  <c:y val="-0.14583333333333334"/>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43946188340807174"/>
                      <c:h val="0.24479166666666666"/>
                    </c:manualLayout>
                  </c15:layout>
                </c:ext>
                <c:ext xmlns:c16="http://schemas.microsoft.com/office/drawing/2014/chart" uri="{C3380CC4-5D6E-409C-BE32-E72D297353CC}">
                  <c16:uniqueId val="{00000005-482B-474B-B7FB-2C6E934EC1A9}"/>
                </c:ext>
              </c:extLst>
            </c:dLbl>
            <c:dLbl>
              <c:idx val="3"/>
              <c:layout>
                <c:manualLayout>
                  <c:x val="0.10762331838565023"/>
                  <c:y val="0.20953630796150483"/>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33931240657698059"/>
                      <c:h val="0.24479166666666666"/>
                    </c:manualLayout>
                  </c15:layout>
                </c:ext>
                <c:ext xmlns:c16="http://schemas.microsoft.com/office/drawing/2014/chart" uri="{C3380CC4-5D6E-409C-BE32-E72D297353CC}">
                  <c16:uniqueId val="{00000007-482B-474B-B7FB-2C6E934EC1A9}"/>
                </c:ext>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Class - I</c:v>
                </c:pt>
                <c:pt idx="1">
                  <c:v>Class - II</c:v>
                </c:pt>
                <c:pt idx="2">
                  <c:v>Class - III</c:v>
                </c:pt>
                <c:pt idx="3">
                  <c:v>Class - IV</c:v>
                </c:pt>
              </c:strCache>
            </c:strRef>
          </c:cat>
          <c:val>
            <c:numRef>
              <c:f>Sheet1!$B$2:$B$5</c:f>
              <c:numCache>
                <c:formatCode>General</c:formatCode>
                <c:ptCount val="4"/>
                <c:pt idx="0">
                  <c:v>1800</c:v>
                </c:pt>
                <c:pt idx="1">
                  <c:v>1280</c:v>
                </c:pt>
                <c:pt idx="2">
                  <c:v>11792</c:v>
                </c:pt>
                <c:pt idx="3">
                  <c:v>7189</c:v>
                </c:pt>
              </c:numCache>
            </c:numRef>
          </c:val>
          <c:extLst>
            <c:ext xmlns:c16="http://schemas.microsoft.com/office/drawing/2014/chart" uri="{C3380CC4-5D6E-409C-BE32-E72D297353CC}">
              <c16:uniqueId val="{00000008-482B-474B-B7FB-2C6E934EC1A9}"/>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20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924120007021962E-2"/>
          <c:y val="0.18206157965194109"/>
          <c:w val="0.90214983322843212"/>
          <c:h val="0.52880487267335863"/>
        </c:manualLayout>
      </c:layout>
      <c:barChart>
        <c:barDir val="col"/>
        <c:grouping val="percentStacked"/>
        <c:varyColors val="0"/>
        <c:ser>
          <c:idx val="0"/>
          <c:order val="0"/>
          <c:tx>
            <c:strRef>
              <c:f>Sheet1!$B$1</c:f>
              <c:strCache>
                <c:ptCount val="1"/>
                <c:pt idx="0">
                  <c:v>Class IV</c:v>
                </c:pt>
              </c:strCache>
            </c:strRef>
          </c:tx>
          <c:spPr>
            <a:solidFill>
              <a:srgbClr val="A0DCFF"/>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Sheet1!$B$2:$B$7</c:f>
              <c:numCache>
                <c:formatCode>0%</c:formatCode>
                <c:ptCount val="6"/>
                <c:pt idx="0">
                  <c:v>0.35532994923857869</c:v>
                </c:pt>
                <c:pt idx="1">
                  <c:v>8.2166199813258636E-2</c:v>
                </c:pt>
                <c:pt idx="2">
                  <c:v>0.35883280757097791</c:v>
                </c:pt>
                <c:pt idx="3">
                  <c:v>0.28550794415021669</c:v>
                </c:pt>
                <c:pt idx="4">
                  <c:v>0.37872941176470587</c:v>
                </c:pt>
                <c:pt idx="5">
                  <c:v>0.15094339622641509</c:v>
                </c:pt>
              </c:numCache>
            </c:numRef>
          </c:val>
          <c:extLst>
            <c:ext xmlns:c16="http://schemas.microsoft.com/office/drawing/2014/chart" uri="{C3380CC4-5D6E-409C-BE32-E72D297353CC}">
              <c16:uniqueId val="{00000000-693C-4B9C-B8B7-515F624A7FC9}"/>
            </c:ext>
          </c:extLst>
        </c:ser>
        <c:ser>
          <c:idx val="1"/>
          <c:order val="1"/>
          <c:tx>
            <c:strRef>
              <c:f>Sheet1!$C$1</c:f>
              <c:strCache>
                <c:ptCount val="1"/>
                <c:pt idx="0">
                  <c:v>Class III</c:v>
                </c:pt>
              </c:strCache>
            </c:strRef>
          </c:tx>
          <c:spPr>
            <a:solidFill>
              <a:srgbClr val="00B0F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Sheet1!$C$2:$C$7</c:f>
              <c:numCache>
                <c:formatCode>0%</c:formatCode>
                <c:ptCount val="6"/>
                <c:pt idx="0">
                  <c:v>0.45516074450084604</c:v>
                </c:pt>
                <c:pt idx="1">
                  <c:v>0.64145658263305327</c:v>
                </c:pt>
                <c:pt idx="2">
                  <c:v>0.47634069400630913</c:v>
                </c:pt>
                <c:pt idx="3">
                  <c:v>0.55163697640828113</c:v>
                </c:pt>
                <c:pt idx="4">
                  <c:v>0.52159999999999995</c:v>
                </c:pt>
                <c:pt idx="5">
                  <c:v>0.32075471698113206</c:v>
                </c:pt>
              </c:numCache>
            </c:numRef>
          </c:val>
          <c:extLst>
            <c:ext xmlns:c16="http://schemas.microsoft.com/office/drawing/2014/chart" uri="{C3380CC4-5D6E-409C-BE32-E72D297353CC}">
              <c16:uniqueId val="{00000001-693C-4B9C-B8B7-515F624A7FC9}"/>
            </c:ext>
          </c:extLst>
        </c:ser>
        <c:ser>
          <c:idx val="2"/>
          <c:order val="2"/>
          <c:tx>
            <c:strRef>
              <c:f>Sheet1!$D$1</c:f>
              <c:strCache>
                <c:ptCount val="1"/>
                <c:pt idx="0">
                  <c:v>Class II</c:v>
                </c:pt>
              </c:strCache>
            </c:strRef>
          </c:tx>
          <c:spPr>
            <a:solidFill>
              <a:srgbClr val="7DB022"/>
            </a:solidFill>
            <a:ln>
              <a:noFill/>
            </a:ln>
            <a:effectLst/>
          </c:spPr>
          <c:invertIfNegative val="0"/>
          <c:dLbls>
            <c:dLbl>
              <c:idx val="4"/>
              <c:layout>
                <c:manualLayout>
                  <c:x val="-5.1788898662175438E-3"/>
                  <c:y val="2.3855015601555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D1A-40C7-B417-5BFE3EAD180D}"/>
                </c:ext>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Sheet1!$D$2:$D$7</c:f>
              <c:numCache>
                <c:formatCode>0%</c:formatCode>
                <c:ptCount val="6"/>
                <c:pt idx="0">
                  <c:v>3.553299492385787E-2</c:v>
                </c:pt>
                <c:pt idx="1">
                  <c:v>0.12138188608776844</c:v>
                </c:pt>
                <c:pt idx="2">
                  <c:v>3.0757097791798107E-2</c:v>
                </c:pt>
                <c:pt idx="3">
                  <c:v>6.259027443428021E-2</c:v>
                </c:pt>
                <c:pt idx="4">
                  <c:v>5.3364705882352939E-2</c:v>
                </c:pt>
                <c:pt idx="5">
                  <c:v>1.8867924528301886E-2</c:v>
                </c:pt>
              </c:numCache>
            </c:numRef>
          </c:val>
          <c:extLst>
            <c:ext xmlns:c16="http://schemas.microsoft.com/office/drawing/2014/chart" uri="{C3380CC4-5D6E-409C-BE32-E72D297353CC}">
              <c16:uniqueId val="{00000002-693C-4B9C-B8B7-515F624A7FC9}"/>
            </c:ext>
          </c:extLst>
        </c:ser>
        <c:ser>
          <c:idx val="3"/>
          <c:order val="3"/>
          <c:tx>
            <c:strRef>
              <c:f>Sheet1!$E$1</c:f>
              <c:strCache>
                <c:ptCount val="1"/>
                <c:pt idx="0">
                  <c:v>Class I</c:v>
                </c:pt>
              </c:strCache>
            </c:strRef>
          </c:tx>
          <c:spPr>
            <a:solidFill>
              <a:srgbClr val="68931B"/>
            </a:solidFill>
            <a:ln>
              <a:noFill/>
            </a:ln>
            <a:effectLst/>
          </c:spPr>
          <c:invertIfNegative val="0"/>
          <c:dLbls>
            <c:dLbl>
              <c:idx val="4"/>
              <c:layout>
                <c:manualLayout>
                  <c:x val="2.5894449331086296E-3"/>
                  <c:y val="-4.771003120311174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93C-4B9C-B8B7-515F624A7FC9}"/>
                </c:ext>
              </c:extLst>
            </c:dLbl>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Administration</c:v>
                </c:pt>
                <c:pt idx="1">
                  <c:v>Finance</c:v>
                </c:pt>
                <c:pt idx="2">
                  <c:v>Planning &amp; Department</c:v>
                </c:pt>
                <c:pt idx="3">
                  <c:v>Generation</c:v>
                </c:pt>
                <c:pt idx="4">
                  <c:v>Distribution</c:v>
                </c:pt>
                <c:pt idx="5">
                  <c:v>Company Affairs</c:v>
                </c:pt>
              </c:strCache>
            </c:strRef>
          </c:cat>
          <c:val>
            <c:numRef>
              <c:f>Sheet1!$E$2:$E$7</c:f>
              <c:numCache>
                <c:formatCode>0%</c:formatCode>
                <c:ptCount val="6"/>
                <c:pt idx="0">
                  <c:v>0.15397631133671744</c:v>
                </c:pt>
                <c:pt idx="1">
                  <c:v>0.15499533146591971</c:v>
                </c:pt>
                <c:pt idx="2">
                  <c:v>0.13406940063091483</c:v>
                </c:pt>
                <c:pt idx="3">
                  <c:v>0.10026480500722196</c:v>
                </c:pt>
                <c:pt idx="4">
                  <c:v>4.6305882352941176E-2</c:v>
                </c:pt>
                <c:pt idx="5">
                  <c:v>0.50943396226415094</c:v>
                </c:pt>
              </c:numCache>
            </c:numRef>
          </c:val>
          <c:extLst>
            <c:ext xmlns:c16="http://schemas.microsoft.com/office/drawing/2014/chart" uri="{C3380CC4-5D6E-409C-BE32-E72D297353CC}">
              <c16:uniqueId val="{00000004-693C-4B9C-B8B7-515F624A7FC9}"/>
            </c:ext>
          </c:extLst>
        </c:ser>
        <c:dLbls>
          <c:dLblPos val="ctr"/>
          <c:showLegendKey val="0"/>
          <c:showVal val="1"/>
          <c:showCatName val="0"/>
          <c:showSerName val="0"/>
          <c:showPercent val="0"/>
          <c:showBubbleSize val="0"/>
        </c:dLbls>
        <c:gapWidth val="150"/>
        <c:overlap val="100"/>
        <c:axId val="916102176"/>
        <c:axId val="916149608"/>
      </c:barChart>
      <c:catAx>
        <c:axId val="9161021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149608"/>
        <c:crosses val="autoZero"/>
        <c:auto val="1"/>
        <c:lblAlgn val="ctr"/>
        <c:lblOffset val="100"/>
        <c:noMultiLvlLbl val="0"/>
      </c:catAx>
      <c:valAx>
        <c:axId val="916149608"/>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916102176"/>
        <c:crosses val="autoZero"/>
        <c:crossBetween val="between"/>
        <c:majorUnit val="0.2"/>
      </c:valAx>
      <c:spPr>
        <a:noFill/>
        <a:ln>
          <a:noFill/>
        </a:ln>
        <a:effectLst/>
      </c:spPr>
    </c:plotArea>
    <c:legend>
      <c:legendPos val="b"/>
      <c:layout>
        <c:manualLayout>
          <c:xMode val="edge"/>
          <c:yMode val="edge"/>
          <c:x val="0.2665455806604925"/>
          <c:y val="0.89399210594858847"/>
          <c:w val="0.46690866741167958"/>
          <c:h val="8.5651659954719392E-2"/>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showDLblsOverMax val="0"/>
  </c:chart>
  <c:spPr>
    <a:solidFill>
      <a:schemeClr val="bg1"/>
    </a:solidFill>
    <a:ln w="9525" cap="flat" cmpd="sng" algn="ctr">
      <a:noFill/>
      <a:round/>
    </a:ln>
    <a:effectLst/>
  </c:spPr>
  <c:txPr>
    <a:bodyPr/>
    <a:lstStyle/>
    <a:p>
      <a:pPr>
        <a:defRPr sz="1200" b="0">
          <a:solidFill>
            <a:sysClr val="windowText" lastClr="000000"/>
          </a:solidFill>
          <a:latin typeface="Verdana" panose="020B0604030504040204" pitchFamily="34" charset="0"/>
          <a:ea typeface="Verdana" panose="020B0604030504040204" pitchFamily="34" charset="0"/>
          <a:cs typeface="Verdana" panose="020B0604030504040204" pitchFamily="34" charset="0"/>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withinLinear" id="14">
  <a:schemeClr val="accent1"/>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1">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88612D-9786-4E1E-9080-CDD6B3CA1D35}"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DAD32B63-8F54-429E-BCD0-7A097C5CF506}">
      <dgm:prSet phldrT="[Text]" custT="1"/>
      <dgm:spPr>
        <a:xfrm>
          <a:off x="289179" y="177059"/>
          <a:ext cx="4048506" cy="295200"/>
        </a:xfrm>
      </dgm:spPr>
      <dgm:t>
        <a:bodyPr/>
        <a:lstStyle/>
        <a:p>
          <a:r>
            <a:rPr lang="en-US" sz="1400">
              <a:latin typeface="+mj-lt"/>
              <a:ea typeface="+mn-ea"/>
              <a:cs typeface="+mn-cs"/>
            </a:rPr>
            <a:t>FRRP-support from the Government of Bangladesh</a:t>
          </a:r>
        </a:p>
      </dgm:t>
    </dgm:pt>
    <dgm:pt modelId="{3C6B63CD-D8C5-46FB-9795-167F6F64B838}" type="parTrans" cxnId="{26D353D4-C09F-416C-AB9B-67124F36CA17}">
      <dgm:prSet/>
      <dgm:spPr/>
      <dgm:t>
        <a:bodyPr/>
        <a:lstStyle/>
        <a:p>
          <a:endParaRPr lang="en-US" sz="2000">
            <a:solidFill>
              <a:sysClr val="windowText" lastClr="000000"/>
            </a:solidFill>
            <a:latin typeface="+mj-lt"/>
            <a:cs typeface="Calibri" panose="020F0502020204030204" pitchFamily="34" charset="0"/>
          </a:endParaRPr>
        </a:p>
      </dgm:t>
    </dgm:pt>
    <dgm:pt modelId="{8ABD913E-4E89-408F-BF4F-90BA9399F571}" type="sibTrans" cxnId="{26D353D4-C09F-416C-AB9B-67124F36CA17}">
      <dgm:prSet/>
      <dgm:spPr/>
      <dgm:t>
        <a:bodyPr/>
        <a:lstStyle/>
        <a:p>
          <a:endParaRPr lang="en-US" sz="2000">
            <a:solidFill>
              <a:sysClr val="windowText" lastClr="000000"/>
            </a:solidFill>
            <a:latin typeface="+mj-lt"/>
            <a:cs typeface="Calibri" panose="020F0502020204030204" pitchFamily="34" charset="0"/>
          </a:endParaRPr>
        </a:p>
      </dgm:t>
    </dgm:pt>
    <dgm:pt modelId="{47050036-DC00-48D5-AF51-95A43F600C86}">
      <dgm:prSet phldrT="[Text]" custT="1"/>
      <dgm:spPr>
        <a:xfrm>
          <a:off x="0" y="324659"/>
          <a:ext cx="5783580" cy="582750"/>
        </a:xfrm>
      </dgm:spPr>
      <dgm:t>
        <a:bodyPr/>
        <a:lstStyle/>
        <a:p>
          <a:r>
            <a:rPr lang="en-US" sz="1400" dirty="0">
              <a:latin typeface="+mj-lt"/>
              <a:ea typeface="+mn-ea"/>
              <a:cs typeface="+mn-cs"/>
            </a:rPr>
            <a:t>Conversion of budgetary support loans and DSL to reserves</a:t>
          </a:r>
        </a:p>
      </dgm:t>
    </dgm:pt>
    <dgm:pt modelId="{DAAAF076-9A4B-4233-A4EB-94093EDD79D2}" type="parTrans" cxnId="{7532E4B9-9C8D-4D1C-8A89-8D7A50A550A6}">
      <dgm:prSet/>
      <dgm:spPr/>
      <dgm:t>
        <a:bodyPr/>
        <a:lstStyle/>
        <a:p>
          <a:endParaRPr lang="en-US" sz="2000">
            <a:solidFill>
              <a:sysClr val="windowText" lastClr="000000"/>
            </a:solidFill>
            <a:latin typeface="+mj-lt"/>
            <a:cs typeface="Calibri" panose="020F0502020204030204" pitchFamily="34" charset="0"/>
          </a:endParaRPr>
        </a:p>
      </dgm:t>
    </dgm:pt>
    <dgm:pt modelId="{79D7A383-37F2-4A94-8637-32050239C8BD}" type="sibTrans" cxnId="{7532E4B9-9C8D-4D1C-8A89-8D7A50A550A6}">
      <dgm:prSet/>
      <dgm:spPr/>
      <dgm:t>
        <a:bodyPr/>
        <a:lstStyle/>
        <a:p>
          <a:endParaRPr lang="en-US" sz="2000">
            <a:solidFill>
              <a:sysClr val="windowText" lastClr="000000"/>
            </a:solidFill>
            <a:latin typeface="+mj-lt"/>
            <a:cs typeface="Calibri" panose="020F0502020204030204" pitchFamily="34" charset="0"/>
          </a:endParaRPr>
        </a:p>
      </dgm:t>
    </dgm:pt>
    <dgm:pt modelId="{D5F9D874-F094-4F7D-B6C7-2A076B92758F}">
      <dgm:prSet phldrT="[Text]" custT="1"/>
      <dgm:spPr>
        <a:xfrm>
          <a:off x="289179" y="961409"/>
          <a:ext cx="4048506" cy="295200"/>
        </a:xfrm>
      </dgm:spPr>
      <dgm:t>
        <a:bodyPr/>
        <a:lstStyle/>
        <a:p>
          <a:r>
            <a:rPr lang="en-US" sz="1400">
              <a:latin typeface="+mj-lt"/>
              <a:ea typeface="+mn-ea"/>
              <a:cs typeface="+mn-cs"/>
            </a:rPr>
            <a:t>Implementation of high-level strategic value enablers</a:t>
          </a:r>
        </a:p>
      </dgm:t>
    </dgm:pt>
    <dgm:pt modelId="{86C93F2B-6929-4231-A354-447D78A93223}" type="parTrans" cxnId="{767B7036-4B06-45D9-AD65-9F96D34571D7}">
      <dgm:prSet/>
      <dgm:spPr/>
      <dgm:t>
        <a:bodyPr/>
        <a:lstStyle/>
        <a:p>
          <a:endParaRPr lang="en-US" sz="2000">
            <a:solidFill>
              <a:sysClr val="windowText" lastClr="000000"/>
            </a:solidFill>
            <a:latin typeface="+mj-lt"/>
            <a:cs typeface="Calibri" panose="020F0502020204030204" pitchFamily="34" charset="0"/>
          </a:endParaRPr>
        </a:p>
      </dgm:t>
    </dgm:pt>
    <dgm:pt modelId="{9ABF69DE-5BD2-4BD0-BBBD-69B99E167CD5}" type="sibTrans" cxnId="{767B7036-4B06-45D9-AD65-9F96D34571D7}">
      <dgm:prSet/>
      <dgm:spPr/>
      <dgm:t>
        <a:bodyPr/>
        <a:lstStyle/>
        <a:p>
          <a:endParaRPr lang="en-US" sz="2000">
            <a:solidFill>
              <a:sysClr val="windowText" lastClr="000000"/>
            </a:solidFill>
            <a:latin typeface="+mj-lt"/>
            <a:cs typeface="Calibri" panose="020F0502020204030204" pitchFamily="34" charset="0"/>
          </a:endParaRPr>
        </a:p>
      </dgm:t>
    </dgm:pt>
    <dgm:pt modelId="{68B0F397-4467-4D42-BBF2-41AF516829BD}">
      <dgm:prSet phldrT="[Text]" custT="1"/>
      <dgm:spPr>
        <a:xfrm>
          <a:off x="0" y="4265310"/>
          <a:ext cx="5783580" cy="708750"/>
        </a:xfrm>
      </dgm:spPr>
      <dgm:t>
        <a:bodyPr/>
        <a:lstStyle/>
        <a:p>
          <a:r>
            <a:rPr lang="en-US" sz="1400">
              <a:latin typeface="+mj-lt"/>
              <a:ea typeface="+mn-ea"/>
              <a:cs typeface="+mn-cs"/>
            </a:rPr>
            <a:t>Strengthening of existing business processes like Generation, Distribution, Commercial, Regulatory, Planning, HR, F&amp;A, Board Governance in line with the proposed functions of the holding company and statutory requirements</a:t>
          </a:r>
        </a:p>
      </dgm:t>
    </dgm:pt>
    <dgm:pt modelId="{09AA09D2-4256-487F-974C-84D04A3568D1}" type="parTrans" cxnId="{3EA6E3B7-86C7-4921-86C9-70C5F44482F7}">
      <dgm:prSet/>
      <dgm:spPr/>
      <dgm:t>
        <a:bodyPr/>
        <a:lstStyle/>
        <a:p>
          <a:endParaRPr lang="en-US" sz="2000">
            <a:solidFill>
              <a:sysClr val="windowText" lastClr="000000"/>
            </a:solidFill>
            <a:latin typeface="+mj-lt"/>
            <a:cs typeface="Calibri" panose="020F0502020204030204" pitchFamily="34" charset="0"/>
          </a:endParaRPr>
        </a:p>
      </dgm:t>
    </dgm:pt>
    <dgm:pt modelId="{178B29C9-3D88-4F85-938E-7356ABBD75C4}" type="sibTrans" cxnId="{3EA6E3B7-86C7-4921-86C9-70C5F44482F7}">
      <dgm:prSet/>
      <dgm:spPr/>
      <dgm:t>
        <a:bodyPr/>
        <a:lstStyle/>
        <a:p>
          <a:endParaRPr lang="en-US" sz="2000">
            <a:solidFill>
              <a:sysClr val="windowText" lastClr="000000"/>
            </a:solidFill>
            <a:latin typeface="+mj-lt"/>
            <a:cs typeface="Calibri" panose="020F0502020204030204" pitchFamily="34" charset="0"/>
          </a:endParaRPr>
        </a:p>
      </dgm:t>
    </dgm:pt>
    <dgm:pt modelId="{FB11879A-910E-4D68-9420-A3BE2D23A3F1}">
      <dgm:prSet phldrT="[Text]" custT="1"/>
      <dgm:spPr>
        <a:xfrm>
          <a:off x="0" y="1109009"/>
          <a:ext cx="5783580" cy="567000"/>
        </a:xfrm>
      </dgm:spPr>
      <dgm:t>
        <a:bodyPr/>
        <a:lstStyle/>
        <a:p>
          <a:r>
            <a:rPr lang="en-US" sz="1400">
              <a:latin typeface="+mj-lt"/>
              <a:ea typeface="+mn-ea"/>
              <a:cs typeface="+mn-cs"/>
            </a:rPr>
            <a:t>Target-driven value enablers to reduce distribution loss, improve distribution and bulk supply collection/billing ratio, power plant efficiency improvement</a:t>
          </a:r>
        </a:p>
      </dgm:t>
    </dgm:pt>
    <dgm:pt modelId="{DB54B90F-CB20-4678-BDDA-C6DB8FB54B39}" type="parTrans" cxnId="{1D5AF2CD-F383-4C4A-8579-353510D75114}">
      <dgm:prSet/>
      <dgm:spPr/>
      <dgm:t>
        <a:bodyPr/>
        <a:lstStyle/>
        <a:p>
          <a:endParaRPr lang="en-US" sz="2000">
            <a:solidFill>
              <a:sysClr val="windowText" lastClr="000000"/>
            </a:solidFill>
            <a:latin typeface="+mj-lt"/>
            <a:cs typeface="Calibri" panose="020F0502020204030204" pitchFamily="34" charset="0"/>
          </a:endParaRPr>
        </a:p>
      </dgm:t>
    </dgm:pt>
    <dgm:pt modelId="{EDA73D05-DF61-4A95-964A-4D9EBFD57B58}" type="sibTrans" cxnId="{1D5AF2CD-F383-4C4A-8579-353510D75114}">
      <dgm:prSet/>
      <dgm:spPr/>
      <dgm:t>
        <a:bodyPr/>
        <a:lstStyle/>
        <a:p>
          <a:endParaRPr lang="en-US" sz="2000">
            <a:solidFill>
              <a:sysClr val="windowText" lastClr="000000"/>
            </a:solidFill>
            <a:latin typeface="+mj-lt"/>
            <a:cs typeface="Calibri" panose="020F0502020204030204" pitchFamily="34" charset="0"/>
          </a:endParaRPr>
        </a:p>
      </dgm:t>
    </dgm:pt>
    <dgm:pt modelId="{80E6384A-E374-4D34-9135-892773B53743}">
      <dgm:prSet phldrT="[Text]" custT="1"/>
      <dgm:spPr>
        <a:xfrm>
          <a:off x="289179" y="1730009"/>
          <a:ext cx="4048506" cy="295200"/>
        </a:xfrm>
      </dgm:spPr>
      <dgm:t>
        <a:bodyPr/>
        <a:lstStyle/>
        <a:p>
          <a:r>
            <a:rPr lang="en-US" sz="1400">
              <a:latin typeface="+mj-lt"/>
              <a:ea typeface="+mn-ea"/>
              <a:cs typeface="+mn-cs"/>
            </a:rPr>
            <a:t>Operationalization of the holding company</a:t>
          </a:r>
        </a:p>
      </dgm:t>
    </dgm:pt>
    <dgm:pt modelId="{4CD3AB73-7DCA-4BDD-9F55-9495F797F36B}" type="parTrans" cxnId="{79846607-B31E-4E30-9B16-F5C817DF7431}">
      <dgm:prSet/>
      <dgm:spPr/>
      <dgm:t>
        <a:bodyPr/>
        <a:lstStyle/>
        <a:p>
          <a:endParaRPr lang="en-US" sz="2000">
            <a:solidFill>
              <a:sysClr val="windowText" lastClr="000000"/>
            </a:solidFill>
            <a:latin typeface="+mj-lt"/>
            <a:cs typeface="Calibri" panose="020F0502020204030204" pitchFamily="34" charset="0"/>
          </a:endParaRPr>
        </a:p>
      </dgm:t>
    </dgm:pt>
    <dgm:pt modelId="{0A782009-A2E0-4C1C-BA3C-90E44FDB11A7}" type="sibTrans" cxnId="{79846607-B31E-4E30-9B16-F5C817DF7431}">
      <dgm:prSet/>
      <dgm:spPr/>
      <dgm:t>
        <a:bodyPr/>
        <a:lstStyle/>
        <a:p>
          <a:endParaRPr lang="en-US" sz="2000">
            <a:solidFill>
              <a:sysClr val="windowText" lastClr="000000"/>
            </a:solidFill>
            <a:latin typeface="+mj-lt"/>
            <a:cs typeface="Calibri" panose="020F0502020204030204" pitchFamily="34" charset="0"/>
          </a:endParaRPr>
        </a:p>
      </dgm:t>
    </dgm:pt>
    <dgm:pt modelId="{0DA93ACC-433E-4ABF-A79D-005AC681A727}">
      <dgm:prSet phldrT="[Text]" custT="1"/>
      <dgm:spPr>
        <a:xfrm>
          <a:off x="0" y="1877609"/>
          <a:ext cx="5783580" cy="1071000"/>
        </a:xfrm>
      </dgm:spPr>
      <dgm:t>
        <a:bodyPr/>
        <a:lstStyle/>
        <a:p>
          <a:r>
            <a:rPr lang="en-US" sz="1400">
              <a:latin typeface="+mj-lt"/>
              <a:ea typeface="+mn-ea"/>
              <a:cs typeface="+mn-cs"/>
            </a:rPr>
            <a:t>Finalization of industry structure</a:t>
          </a:r>
        </a:p>
      </dgm:t>
    </dgm:pt>
    <dgm:pt modelId="{EE668AF4-55A5-475C-8B72-2212658675FC}" type="parTrans" cxnId="{C4E28918-F45B-4C13-AEE6-A685551D6DDA}">
      <dgm:prSet/>
      <dgm:spPr/>
      <dgm:t>
        <a:bodyPr/>
        <a:lstStyle/>
        <a:p>
          <a:endParaRPr lang="en-US" sz="2000">
            <a:solidFill>
              <a:sysClr val="windowText" lastClr="000000"/>
            </a:solidFill>
            <a:latin typeface="+mj-lt"/>
            <a:cs typeface="Calibri" panose="020F0502020204030204" pitchFamily="34" charset="0"/>
          </a:endParaRPr>
        </a:p>
      </dgm:t>
    </dgm:pt>
    <dgm:pt modelId="{2F710626-F0BE-4B57-AF25-6CF090AF0A8D}" type="sibTrans" cxnId="{C4E28918-F45B-4C13-AEE6-A685551D6DDA}">
      <dgm:prSet/>
      <dgm:spPr/>
      <dgm:t>
        <a:bodyPr/>
        <a:lstStyle/>
        <a:p>
          <a:endParaRPr lang="en-US" sz="2000">
            <a:solidFill>
              <a:sysClr val="windowText" lastClr="000000"/>
            </a:solidFill>
            <a:latin typeface="+mj-lt"/>
            <a:cs typeface="Calibri" panose="020F0502020204030204" pitchFamily="34" charset="0"/>
          </a:endParaRPr>
        </a:p>
      </dgm:t>
    </dgm:pt>
    <dgm:pt modelId="{372B2960-BD13-48EE-AE92-ADDE03CC0CAB}">
      <dgm:prSet phldrT="[Text]" custT="1"/>
      <dgm:spPr>
        <a:xfrm>
          <a:off x="289179" y="3002610"/>
          <a:ext cx="4048506" cy="295200"/>
        </a:xfrm>
      </dgm:spPr>
      <dgm:t>
        <a:bodyPr/>
        <a:lstStyle/>
        <a:p>
          <a:r>
            <a:rPr lang="en-US" sz="1400">
              <a:latin typeface="+mj-lt"/>
              <a:ea typeface="+mn-ea"/>
              <a:cs typeface="+mn-cs"/>
            </a:rPr>
            <a:t>Detailed manpower assessment of holding company</a:t>
          </a:r>
        </a:p>
      </dgm:t>
    </dgm:pt>
    <dgm:pt modelId="{A105B220-A73B-4281-83AA-14C9DA3929C5}" type="parTrans" cxnId="{ABD06349-BFDC-4059-8773-A8E33418E230}">
      <dgm:prSet/>
      <dgm:spPr/>
      <dgm:t>
        <a:bodyPr/>
        <a:lstStyle/>
        <a:p>
          <a:endParaRPr lang="en-US" sz="2000">
            <a:solidFill>
              <a:sysClr val="windowText" lastClr="000000"/>
            </a:solidFill>
            <a:latin typeface="+mj-lt"/>
            <a:cs typeface="Calibri" panose="020F0502020204030204" pitchFamily="34" charset="0"/>
          </a:endParaRPr>
        </a:p>
      </dgm:t>
    </dgm:pt>
    <dgm:pt modelId="{DE34E600-1DE8-4782-A63E-4AE9917D91AB}" type="sibTrans" cxnId="{ABD06349-BFDC-4059-8773-A8E33418E230}">
      <dgm:prSet/>
      <dgm:spPr/>
      <dgm:t>
        <a:bodyPr/>
        <a:lstStyle/>
        <a:p>
          <a:endParaRPr lang="en-US" sz="2000">
            <a:solidFill>
              <a:sysClr val="windowText" lastClr="000000"/>
            </a:solidFill>
            <a:latin typeface="+mj-lt"/>
            <a:cs typeface="Calibri" panose="020F0502020204030204" pitchFamily="34" charset="0"/>
          </a:endParaRPr>
        </a:p>
      </dgm:t>
    </dgm:pt>
    <dgm:pt modelId="{9E91818B-8013-4A12-AE35-6FBBBDCEAB47}">
      <dgm:prSet phldrT="[Text]" custT="1"/>
      <dgm:spPr>
        <a:xfrm>
          <a:off x="0" y="3150210"/>
          <a:ext cx="5783580" cy="913500"/>
        </a:xfrm>
      </dgm:spPr>
      <dgm:t>
        <a:bodyPr/>
        <a:lstStyle/>
        <a:p>
          <a:r>
            <a:rPr lang="en-US" sz="1400">
              <a:latin typeface="+mj-lt"/>
              <a:ea typeface="+mn-ea"/>
              <a:cs typeface="+mn-cs"/>
            </a:rPr>
            <a:t>Preparation of BPR plan, To-Be organogram and functions of holding company</a:t>
          </a:r>
        </a:p>
      </dgm:t>
    </dgm:pt>
    <dgm:pt modelId="{BEED0678-E7F2-4D4C-9217-4B2A0A4A74C5}" type="parTrans" cxnId="{4B99B4C9-1F56-4382-9BF5-BCBFF8673C57}">
      <dgm:prSet/>
      <dgm:spPr/>
      <dgm:t>
        <a:bodyPr/>
        <a:lstStyle/>
        <a:p>
          <a:endParaRPr lang="en-US" sz="2000">
            <a:solidFill>
              <a:sysClr val="windowText" lastClr="000000"/>
            </a:solidFill>
            <a:latin typeface="+mj-lt"/>
            <a:cs typeface="Calibri" panose="020F0502020204030204" pitchFamily="34" charset="0"/>
          </a:endParaRPr>
        </a:p>
      </dgm:t>
    </dgm:pt>
    <dgm:pt modelId="{98593499-DEA5-4056-8B0D-AF80BC1A2B51}" type="sibTrans" cxnId="{4B99B4C9-1F56-4382-9BF5-BCBFF8673C57}">
      <dgm:prSet/>
      <dgm:spPr/>
      <dgm:t>
        <a:bodyPr/>
        <a:lstStyle/>
        <a:p>
          <a:endParaRPr lang="en-US" sz="2000">
            <a:solidFill>
              <a:sysClr val="windowText" lastClr="000000"/>
            </a:solidFill>
            <a:latin typeface="+mj-lt"/>
            <a:cs typeface="Calibri" panose="020F0502020204030204" pitchFamily="34" charset="0"/>
          </a:endParaRPr>
        </a:p>
      </dgm:t>
    </dgm:pt>
    <dgm:pt modelId="{869DBDB0-1814-4D88-8A52-DB7513C3C834}">
      <dgm:prSet phldrT="[Text]" custT="1"/>
      <dgm:spPr>
        <a:xfrm>
          <a:off x="289179" y="4117710"/>
          <a:ext cx="4048506" cy="295200"/>
        </a:xfrm>
      </dgm:spPr>
      <dgm:t>
        <a:bodyPr/>
        <a:lstStyle/>
        <a:p>
          <a:r>
            <a:rPr lang="en-US" sz="1400">
              <a:latin typeface="+mj-lt"/>
              <a:ea typeface="+mn-ea"/>
              <a:cs typeface="+mn-cs"/>
            </a:rPr>
            <a:t>Business process reengineering</a:t>
          </a:r>
        </a:p>
      </dgm:t>
    </dgm:pt>
    <dgm:pt modelId="{0FEE54CB-D2A4-4BE0-AA43-E488858CF5F2}" type="parTrans" cxnId="{3C934F25-0B18-4431-8198-74D593F43DBB}">
      <dgm:prSet/>
      <dgm:spPr/>
      <dgm:t>
        <a:bodyPr/>
        <a:lstStyle/>
        <a:p>
          <a:endParaRPr lang="en-US" sz="2000">
            <a:solidFill>
              <a:sysClr val="windowText" lastClr="000000"/>
            </a:solidFill>
            <a:latin typeface="+mj-lt"/>
            <a:cs typeface="Calibri" panose="020F0502020204030204" pitchFamily="34" charset="0"/>
          </a:endParaRPr>
        </a:p>
      </dgm:t>
    </dgm:pt>
    <dgm:pt modelId="{3B806060-650D-4534-9E29-A5B3E2E583BE}" type="sibTrans" cxnId="{3C934F25-0B18-4431-8198-74D593F43DBB}">
      <dgm:prSet/>
      <dgm:spPr/>
      <dgm:t>
        <a:bodyPr/>
        <a:lstStyle/>
        <a:p>
          <a:endParaRPr lang="en-US" sz="2000">
            <a:solidFill>
              <a:sysClr val="windowText" lastClr="000000"/>
            </a:solidFill>
            <a:latin typeface="+mj-lt"/>
            <a:cs typeface="Calibri" panose="020F0502020204030204" pitchFamily="34" charset="0"/>
          </a:endParaRPr>
        </a:p>
      </dgm:t>
    </dgm:pt>
    <dgm:pt modelId="{12BDC68F-AA1B-4172-A716-CFCC4B4E4E77}">
      <dgm:prSet phldrT="[Text]" custT="1"/>
      <dgm:spPr>
        <a:xfrm>
          <a:off x="0" y="324659"/>
          <a:ext cx="5783580" cy="582750"/>
        </a:xfrm>
      </dgm:spPr>
      <dgm:t>
        <a:bodyPr/>
        <a:lstStyle/>
        <a:p>
          <a:r>
            <a:rPr lang="en-US" sz="1400">
              <a:latin typeface="+mj-lt"/>
              <a:ea typeface="+mn-ea"/>
              <a:cs typeface="+mn-cs"/>
            </a:rPr>
            <a:t>Direct subsidy support to holding company instead of loans</a:t>
          </a:r>
        </a:p>
      </dgm:t>
    </dgm:pt>
    <dgm:pt modelId="{0F098927-5A66-4252-8946-DDD46E5A81DF}" type="parTrans" cxnId="{2FA25A11-3BCB-4A7B-9618-14429498A317}">
      <dgm:prSet/>
      <dgm:spPr/>
      <dgm:t>
        <a:bodyPr/>
        <a:lstStyle/>
        <a:p>
          <a:endParaRPr lang="en-US" sz="2000">
            <a:solidFill>
              <a:sysClr val="windowText" lastClr="000000"/>
            </a:solidFill>
            <a:latin typeface="+mj-lt"/>
            <a:cs typeface="Calibri" panose="020F0502020204030204" pitchFamily="34" charset="0"/>
          </a:endParaRPr>
        </a:p>
      </dgm:t>
    </dgm:pt>
    <dgm:pt modelId="{3B65A589-685F-4B36-9B92-890395792A47}" type="sibTrans" cxnId="{2FA25A11-3BCB-4A7B-9618-14429498A317}">
      <dgm:prSet/>
      <dgm:spPr/>
      <dgm:t>
        <a:bodyPr/>
        <a:lstStyle/>
        <a:p>
          <a:endParaRPr lang="en-US" sz="2000">
            <a:solidFill>
              <a:sysClr val="windowText" lastClr="000000"/>
            </a:solidFill>
            <a:latin typeface="+mj-lt"/>
            <a:cs typeface="Calibri" panose="020F0502020204030204" pitchFamily="34" charset="0"/>
          </a:endParaRPr>
        </a:p>
      </dgm:t>
    </dgm:pt>
    <dgm:pt modelId="{33D56874-8B2C-4926-81C0-58B0602A2D1C}">
      <dgm:prSet phldrT="[Text]" custT="1"/>
      <dgm:spPr>
        <a:xfrm>
          <a:off x="0" y="1877609"/>
          <a:ext cx="5783580" cy="1071000"/>
        </a:xfrm>
      </dgm:spPr>
      <dgm:t>
        <a:bodyPr/>
        <a:lstStyle/>
        <a:p>
          <a:r>
            <a:rPr lang="en-US" sz="1400">
              <a:latin typeface="+mj-lt"/>
              <a:ea typeface="+mn-ea"/>
              <a:cs typeface="+mn-cs"/>
            </a:rPr>
            <a:t>Finalization and approval of AoA and MoA of holding company</a:t>
          </a:r>
        </a:p>
      </dgm:t>
    </dgm:pt>
    <dgm:pt modelId="{E07224BC-7D65-4BA4-8B5E-16B62264070E}" type="parTrans" cxnId="{6EAE5EF3-FA01-41D2-99C5-B0A4604237CE}">
      <dgm:prSet/>
      <dgm:spPr/>
      <dgm:t>
        <a:bodyPr/>
        <a:lstStyle/>
        <a:p>
          <a:endParaRPr lang="en-US" sz="2000">
            <a:solidFill>
              <a:sysClr val="windowText" lastClr="000000"/>
            </a:solidFill>
            <a:latin typeface="+mj-lt"/>
            <a:cs typeface="Calibri" panose="020F0502020204030204" pitchFamily="34" charset="0"/>
          </a:endParaRPr>
        </a:p>
      </dgm:t>
    </dgm:pt>
    <dgm:pt modelId="{3E7749A6-ACE7-4F27-9FD9-60F6FD819283}" type="sibTrans" cxnId="{6EAE5EF3-FA01-41D2-99C5-B0A4604237CE}">
      <dgm:prSet/>
      <dgm:spPr/>
      <dgm:t>
        <a:bodyPr/>
        <a:lstStyle/>
        <a:p>
          <a:endParaRPr lang="en-US" sz="2000">
            <a:solidFill>
              <a:sysClr val="windowText" lastClr="000000"/>
            </a:solidFill>
            <a:latin typeface="+mj-lt"/>
            <a:cs typeface="Calibri" panose="020F0502020204030204" pitchFamily="34" charset="0"/>
          </a:endParaRPr>
        </a:p>
      </dgm:t>
    </dgm:pt>
    <dgm:pt modelId="{A949233C-0D0C-4330-9E28-CA50DDE4CD17}">
      <dgm:prSet phldrT="[Text]" custT="1"/>
      <dgm:spPr>
        <a:xfrm>
          <a:off x="0" y="1877609"/>
          <a:ext cx="5783580" cy="1071000"/>
        </a:xfrm>
      </dgm:spPr>
      <dgm:t>
        <a:bodyPr/>
        <a:lstStyle/>
        <a:p>
          <a:r>
            <a:rPr lang="en-US" sz="1400">
              <a:latin typeface="+mj-lt"/>
              <a:ea typeface="+mn-ea"/>
              <a:cs typeface="+mn-cs"/>
            </a:rPr>
            <a:t>Registration and incorporation of holding company</a:t>
          </a:r>
        </a:p>
      </dgm:t>
    </dgm:pt>
    <dgm:pt modelId="{E66BA405-F60D-4ADE-B9D0-FD02EB50C770}" type="parTrans" cxnId="{7E57A740-7FE9-49A8-AE35-47718462CCA3}">
      <dgm:prSet/>
      <dgm:spPr/>
      <dgm:t>
        <a:bodyPr/>
        <a:lstStyle/>
        <a:p>
          <a:endParaRPr lang="en-US" sz="2000">
            <a:solidFill>
              <a:sysClr val="windowText" lastClr="000000"/>
            </a:solidFill>
            <a:latin typeface="+mj-lt"/>
            <a:cs typeface="Calibri" panose="020F0502020204030204" pitchFamily="34" charset="0"/>
          </a:endParaRPr>
        </a:p>
      </dgm:t>
    </dgm:pt>
    <dgm:pt modelId="{6D474F72-F3D5-4946-A790-FE006D8F9A97}" type="sibTrans" cxnId="{7E57A740-7FE9-49A8-AE35-47718462CCA3}">
      <dgm:prSet/>
      <dgm:spPr/>
      <dgm:t>
        <a:bodyPr/>
        <a:lstStyle/>
        <a:p>
          <a:endParaRPr lang="en-US" sz="2000">
            <a:solidFill>
              <a:sysClr val="windowText" lastClr="000000"/>
            </a:solidFill>
            <a:latin typeface="+mj-lt"/>
            <a:cs typeface="Calibri" panose="020F0502020204030204" pitchFamily="34" charset="0"/>
          </a:endParaRPr>
        </a:p>
      </dgm:t>
    </dgm:pt>
    <dgm:pt modelId="{1A536065-82C9-48CB-BCB3-BD53908E2625}">
      <dgm:prSet phldrT="[Text]" custT="1"/>
      <dgm:spPr>
        <a:xfrm>
          <a:off x="0" y="1877609"/>
          <a:ext cx="5783580" cy="1071000"/>
        </a:xfrm>
      </dgm:spPr>
      <dgm:t>
        <a:bodyPr/>
        <a:lstStyle/>
        <a:p>
          <a:r>
            <a:rPr lang="en-US" sz="1400">
              <a:latin typeface="+mj-lt"/>
              <a:ea typeface="+mn-ea"/>
              <a:cs typeface="+mn-cs"/>
            </a:rPr>
            <a:t>Board arrangement, management arrangement and commercial arrangement of holding company</a:t>
          </a:r>
        </a:p>
      </dgm:t>
    </dgm:pt>
    <dgm:pt modelId="{E8A0FBF0-7C5B-4E42-940C-C12A32CC6D25}" type="parTrans" cxnId="{94F94692-159B-415B-BBBD-91E0B62F08A0}">
      <dgm:prSet/>
      <dgm:spPr/>
      <dgm:t>
        <a:bodyPr/>
        <a:lstStyle/>
        <a:p>
          <a:endParaRPr lang="en-US" sz="2000">
            <a:solidFill>
              <a:sysClr val="windowText" lastClr="000000"/>
            </a:solidFill>
            <a:latin typeface="+mj-lt"/>
            <a:cs typeface="Calibri" panose="020F0502020204030204" pitchFamily="34" charset="0"/>
          </a:endParaRPr>
        </a:p>
      </dgm:t>
    </dgm:pt>
    <dgm:pt modelId="{6E147487-7F76-4511-86F9-CCAC6996B57C}" type="sibTrans" cxnId="{94F94692-159B-415B-BBBD-91E0B62F08A0}">
      <dgm:prSet/>
      <dgm:spPr/>
      <dgm:t>
        <a:bodyPr/>
        <a:lstStyle/>
        <a:p>
          <a:endParaRPr lang="en-US" sz="2000">
            <a:solidFill>
              <a:sysClr val="windowText" lastClr="000000"/>
            </a:solidFill>
            <a:latin typeface="+mj-lt"/>
            <a:cs typeface="Calibri" panose="020F0502020204030204" pitchFamily="34" charset="0"/>
          </a:endParaRPr>
        </a:p>
      </dgm:t>
    </dgm:pt>
    <dgm:pt modelId="{BD878A1D-A2EB-41E1-9F68-05E833CE4BC0}">
      <dgm:prSet phldrT="[Text]" custT="1"/>
      <dgm:spPr>
        <a:xfrm>
          <a:off x="0" y="3150210"/>
          <a:ext cx="5783580" cy="913500"/>
        </a:xfrm>
      </dgm:spPr>
      <dgm:t>
        <a:bodyPr/>
        <a:lstStyle/>
        <a:p>
          <a:r>
            <a:rPr lang="en-US" sz="1400">
              <a:latin typeface="+mj-lt"/>
              <a:ea typeface="+mn-ea"/>
              <a:cs typeface="+mn-cs"/>
            </a:rPr>
            <a:t>Competency mapping with respect to existing manpower</a:t>
          </a:r>
        </a:p>
      </dgm:t>
    </dgm:pt>
    <dgm:pt modelId="{9CB256E9-638E-4D86-8347-767872C4C9BE}" type="parTrans" cxnId="{E1EFB522-92C1-4384-8CA7-BDBABCE7C820}">
      <dgm:prSet/>
      <dgm:spPr/>
      <dgm:t>
        <a:bodyPr/>
        <a:lstStyle/>
        <a:p>
          <a:endParaRPr lang="en-US" sz="2000">
            <a:solidFill>
              <a:sysClr val="windowText" lastClr="000000"/>
            </a:solidFill>
            <a:latin typeface="+mj-lt"/>
            <a:cs typeface="Calibri" panose="020F0502020204030204" pitchFamily="34" charset="0"/>
          </a:endParaRPr>
        </a:p>
      </dgm:t>
    </dgm:pt>
    <dgm:pt modelId="{2321CE03-6119-4CEE-8945-6863A2982A6C}" type="sibTrans" cxnId="{E1EFB522-92C1-4384-8CA7-BDBABCE7C820}">
      <dgm:prSet/>
      <dgm:spPr/>
      <dgm:t>
        <a:bodyPr/>
        <a:lstStyle/>
        <a:p>
          <a:endParaRPr lang="en-US" sz="2000">
            <a:solidFill>
              <a:sysClr val="windowText" lastClr="000000"/>
            </a:solidFill>
            <a:latin typeface="+mj-lt"/>
            <a:cs typeface="Calibri" panose="020F0502020204030204" pitchFamily="34" charset="0"/>
          </a:endParaRPr>
        </a:p>
      </dgm:t>
    </dgm:pt>
    <dgm:pt modelId="{82095ACE-9A21-445B-AAAD-623BB4B3DDCE}">
      <dgm:prSet phldrT="[Text]" custT="1"/>
      <dgm:spPr>
        <a:xfrm>
          <a:off x="0" y="3150210"/>
          <a:ext cx="5783580" cy="913500"/>
        </a:xfrm>
      </dgm:spPr>
      <dgm:t>
        <a:bodyPr/>
        <a:lstStyle/>
        <a:p>
          <a:r>
            <a:rPr lang="en-US" sz="1400">
              <a:latin typeface="+mj-lt"/>
              <a:ea typeface="+mn-ea"/>
              <a:cs typeface="+mn-cs"/>
            </a:rPr>
            <a:t>Preparation of strategy for manpower re-skilling and new manpower recruitment</a:t>
          </a:r>
        </a:p>
      </dgm:t>
    </dgm:pt>
    <dgm:pt modelId="{8DF6D11D-72F0-4D81-A32D-949FF6077810}" type="parTrans" cxnId="{4EF33EC2-7394-400D-AAE5-A7A42C6E77A7}">
      <dgm:prSet/>
      <dgm:spPr/>
      <dgm:t>
        <a:bodyPr/>
        <a:lstStyle/>
        <a:p>
          <a:endParaRPr lang="en-US" sz="2000">
            <a:solidFill>
              <a:sysClr val="windowText" lastClr="000000"/>
            </a:solidFill>
            <a:latin typeface="+mj-lt"/>
            <a:cs typeface="Calibri" panose="020F0502020204030204" pitchFamily="34" charset="0"/>
          </a:endParaRPr>
        </a:p>
      </dgm:t>
    </dgm:pt>
    <dgm:pt modelId="{3ADBC2CF-5C41-47CE-ACD7-EA3623323A12}" type="sibTrans" cxnId="{4EF33EC2-7394-400D-AAE5-A7A42C6E77A7}">
      <dgm:prSet/>
      <dgm:spPr/>
      <dgm:t>
        <a:bodyPr/>
        <a:lstStyle/>
        <a:p>
          <a:endParaRPr lang="en-US" sz="2000">
            <a:solidFill>
              <a:sysClr val="windowText" lastClr="000000"/>
            </a:solidFill>
            <a:latin typeface="+mj-lt"/>
            <a:cs typeface="Calibri" panose="020F0502020204030204" pitchFamily="34" charset="0"/>
          </a:endParaRPr>
        </a:p>
      </dgm:t>
    </dgm:pt>
    <dgm:pt modelId="{48AB6B96-AEAE-446A-8C19-F2DEFCEE7D59}">
      <dgm:prSet phldrT="[Text]" custT="1"/>
      <dgm:spPr>
        <a:xfrm>
          <a:off x="0" y="3150210"/>
          <a:ext cx="5783580" cy="913500"/>
        </a:xfrm>
      </dgm:spPr>
      <dgm:t>
        <a:bodyPr/>
        <a:lstStyle/>
        <a:p>
          <a:r>
            <a:rPr lang="en-US" sz="1400">
              <a:latin typeface="+mj-lt"/>
              <a:ea typeface="+mn-ea"/>
              <a:cs typeface="+mn-cs"/>
            </a:rPr>
            <a:t>Preparation of workflow automation and IT-enablement plan</a:t>
          </a:r>
        </a:p>
      </dgm:t>
    </dgm:pt>
    <dgm:pt modelId="{20948501-3F46-428D-8F3B-8B01CFDCCCFF}" type="parTrans" cxnId="{FAEEFE0F-90B0-4648-87DA-6DF467A43D16}">
      <dgm:prSet/>
      <dgm:spPr/>
      <dgm:t>
        <a:bodyPr/>
        <a:lstStyle/>
        <a:p>
          <a:endParaRPr lang="en-US" sz="2000">
            <a:solidFill>
              <a:sysClr val="windowText" lastClr="000000"/>
            </a:solidFill>
            <a:latin typeface="+mj-lt"/>
            <a:cs typeface="Calibri" panose="020F0502020204030204" pitchFamily="34" charset="0"/>
          </a:endParaRPr>
        </a:p>
      </dgm:t>
    </dgm:pt>
    <dgm:pt modelId="{7FBC144B-E4F8-444B-80CC-93A6E05A894F}" type="sibTrans" cxnId="{FAEEFE0F-90B0-4648-87DA-6DF467A43D16}">
      <dgm:prSet/>
      <dgm:spPr/>
      <dgm:t>
        <a:bodyPr/>
        <a:lstStyle/>
        <a:p>
          <a:endParaRPr lang="en-US" sz="2000">
            <a:solidFill>
              <a:sysClr val="windowText" lastClr="000000"/>
            </a:solidFill>
            <a:latin typeface="+mj-lt"/>
            <a:cs typeface="Calibri" panose="020F0502020204030204" pitchFamily="34" charset="0"/>
          </a:endParaRPr>
        </a:p>
      </dgm:t>
    </dgm:pt>
    <dgm:pt modelId="{C249F667-80AC-4A85-A181-48B6760C5E0D}" type="pres">
      <dgm:prSet presAssocID="{4588612D-9786-4E1E-9080-CDD6B3CA1D35}" presName="linear" presStyleCnt="0">
        <dgm:presLayoutVars>
          <dgm:dir/>
          <dgm:animLvl val="lvl"/>
          <dgm:resizeHandles val="exact"/>
        </dgm:presLayoutVars>
      </dgm:prSet>
      <dgm:spPr/>
    </dgm:pt>
    <dgm:pt modelId="{D0EC507D-572C-4BF5-B8BD-608A54475CF1}" type="pres">
      <dgm:prSet presAssocID="{DAD32B63-8F54-429E-BCD0-7A097C5CF506}" presName="parentLin" presStyleCnt="0"/>
      <dgm:spPr/>
    </dgm:pt>
    <dgm:pt modelId="{9068615F-BE76-4188-B428-099E1CF7F4A5}" type="pres">
      <dgm:prSet presAssocID="{DAD32B63-8F54-429E-BCD0-7A097C5CF506}" presName="parentLeftMargin" presStyleLbl="node1" presStyleIdx="0" presStyleCnt="5"/>
      <dgm:spPr/>
    </dgm:pt>
    <dgm:pt modelId="{1CEDABA7-BCFC-41DB-BC4E-A693E059C8C9}" type="pres">
      <dgm:prSet presAssocID="{DAD32B63-8F54-429E-BCD0-7A097C5CF506}" presName="parentText" presStyleLbl="node1" presStyleIdx="0" presStyleCnt="5">
        <dgm:presLayoutVars>
          <dgm:chMax val="0"/>
          <dgm:bulletEnabled val="1"/>
        </dgm:presLayoutVars>
      </dgm:prSet>
      <dgm:spPr/>
    </dgm:pt>
    <dgm:pt modelId="{F5D971D7-DCCB-4224-A0B1-A34BDFEFDCF5}" type="pres">
      <dgm:prSet presAssocID="{DAD32B63-8F54-429E-BCD0-7A097C5CF506}" presName="negativeSpace" presStyleCnt="0"/>
      <dgm:spPr/>
    </dgm:pt>
    <dgm:pt modelId="{16B3A770-4929-4455-8466-137E60437025}" type="pres">
      <dgm:prSet presAssocID="{DAD32B63-8F54-429E-BCD0-7A097C5CF506}" presName="childText" presStyleLbl="conFgAcc1" presStyleIdx="0" presStyleCnt="5">
        <dgm:presLayoutVars>
          <dgm:bulletEnabled val="1"/>
        </dgm:presLayoutVars>
      </dgm:prSet>
      <dgm:spPr/>
    </dgm:pt>
    <dgm:pt modelId="{A74BE861-D61B-4CE5-8028-E826ECD9EAA4}" type="pres">
      <dgm:prSet presAssocID="{8ABD913E-4E89-408F-BF4F-90BA9399F571}" presName="spaceBetweenRectangles" presStyleCnt="0"/>
      <dgm:spPr/>
    </dgm:pt>
    <dgm:pt modelId="{6E0B34A4-7F86-4DB5-B152-6B6817754594}" type="pres">
      <dgm:prSet presAssocID="{D5F9D874-F094-4F7D-B6C7-2A076B92758F}" presName="parentLin" presStyleCnt="0"/>
      <dgm:spPr/>
    </dgm:pt>
    <dgm:pt modelId="{59E8B80C-7A46-43DD-9B27-5FD96FE09DAB}" type="pres">
      <dgm:prSet presAssocID="{D5F9D874-F094-4F7D-B6C7-2A076B92758F}" presName="parentLeftMargin" presStyleLbl="node1" presStyleIdx="0" presStyleCnt="5"/>
      <dgm:spPr/>
    </dgm:pt>
    <dgm:pt modelId="{B292DCE2-7FA3-4E21-945A-375838D1BA6F}" type="pres">
      <dgm:prSet presAssocID="{D5F9D874-F094-4F7D-B6C7-2A076B92758F}" presName="parentText" presStyleLbl="node1" presStyleIdx="1" presStyleCnt="5">
        <dgm:presLayoutVars>
          <dgm:chMax val="0"/>
          <dgm:bulletEnabled val="1"/>
        </dgm:presLayoutVars>
      </dgm:prSet>
      <dgm:spPr/>
    </dgm:pt>
    <dgm:pt modelId="{A5830400-589F-4686-BD23-FACD6D20E8D3}" type="pres">
      <dgm:prSet presAssocID="{D5F9D874-F094-4F7D-B6C7-2A076B92758F}" presName="negativeSpace" presStyleCnt="0"/>
      <dgm:spPr/>
    </dgm:pt>
    <dgm:pt modelId="{E9E99FFA-493A-4EAA-B4D8-09B355602FB0}" type="pres">
      <dgm:prSet presAssocID="{D5F9D874-F094-4F7D-B6C7-2A076B92758F}" presName="childText" presStyleLbl="conFgAcc1" presStyleIdx="1" presStyleCnt="5">
        <dgm:presLayoutVars>
          <dgm:bulletEnabled val="1"/>
        </dgm:presLayoutVars>
      </dgm:prSet>
      <dgm:spPr/>
    </dgm:pt>
    <dgm:pt modelId="{F337F067-CE3B-408B-AA33-9AA6CA1F186D}" type="pres">
      <dgm:prSet presAssocID="{9ABF69DE-5BD2-4BD0-BBBD-69B99E167CD5}" presName="spaceBetweenRectangles" presStyleCnt="0"/>
      <dgm:spPr/>
    </dgm:pt>
    <dgm:pt modelId="{41C4EC79-DD73-4963-B5B5-6C5796D8CC88}" type="pres">
      <dgm:prSet presAssocID="{80E6384A-E374-4D34-9135-892773B53743}" presName="parentLin" presStyleCnt="0"/>
      <dgm:spPr/>
    </dgm:pt>
    <dgm:pt modelId="{425B4C80-6E66-4DB6-BD26-154E67549EFD}" type="pres">
      <dgm:prSet presAssocID="{80E6384A-E374-4D34-9135-892773B53743}" presName="parentLeftMargin" presStyleLbl="node1" presStyleIdx="1" presStyleCnt="5"/>
      <dgm:spPr/>
    </dgm:pt>
    <dgm:pt modelId="{E3EFF9A9-9F3E-420B-BB82-1CA2AB03CC53}" type="pres">
      <dgm:prSet presAssocID="{80E6384A-E374-4D34-9135-892773B53743}" presName="parentText" presStyleLbl="node1" presStyleIdx="2" presStyleCnt="5">
        <dgm:presLayoutVars>
          <dgm:chMax val="0"/>
          <dgm:bulletEnabled val="1"/>
        </dgm:presLayoutVars>
      </dgm:prSet>
      <dgm:spPr/>
    </dgm:pt>
    <dgm:pt modelId="{55ADBF9D-0785-4E92-B569-964E301250EA}" type="pres">
      <dgm:prSet presAssocID="{80E6384A-E374-4D34-9135-892773B53743}" presName="negativeSpace" presStyleCnt="0"/>
      <dgm:spPr/>
    </dgm:pt>
    <dgm:pt modelId="{6163065A-DEC5-4405-BC09-FD7F2AD717EC}" type="pres">
      <dgm:prSet presAssocID="{80E6384A-E374-4D34-9135-892773B53743}" presName="childText" presStyleLbl="conFgAcc1" presStyleIdx="2" presStyleCnt="5">
        <dgm:presLayoutVars>
          <dgm:bulletEnabled val="1"/>
        </dgm:presLayoutVars>
      </dgm:prSet>
      <dgm:spPr/>
    </dgm:pt>
    <dgm:pt modelId="{2308CB6E-C1F4-4DC1-B7C6-DB1AA5764B54}" type="pres">
      <dgm:prSet presAssocID="{0A782009-A2E0-4C1C-BA3C-90E44FDB11A7}" presName="spaceBetweenRectangles" presStyleCnt="0"/>
      <dgm:spPr/>
    </dgm:pt>
    <dgm:pt modelId="{594E203B-BE46-44BC-85DB-79CCD7BB8E4D}" type="pres">
      <dgm:prSet presAssocID="{372B2960-BD13-48EE-AE92-ADDE03CC0CAB}" presName="parentLin" presStyleCnt="0"/>
      <dgm:spPr/>
    </dgm:pt>
    <dgm:pt modelId="{1B81B5D5-6AF3-4825-8CE0-9C73F88A5F14}" type="pres">
      <dgm:prSet presAssocID="{372B2960-BD13-48EE-AE92-ADDE03CC0CAB}" presName="parentLeftMargin" presStyleLbl="node1" presStyleIdx="2" presStyleCnt="5"/>
      <dgm:spPr/>
    </dgm:pt>
    <dgm:pt modelId="{0EEC4FF0-F2DE-419A-B0D9-98B7C103C66F}" type="pres">
      <dgm:prSet presAssocID="{372B2960-BD13-48EE-AE92-ADDE03CC0CAB}" presName="parentText" presStyleLbl="node1" presStyleIdx="3" presStyleCnt="5">
        <dgm:presLayoutVars>
          <dgm:chMax val="0"/>
          <dgm:bulletEnabled val="1"/>
        </dgm:presLayoutVars>
      </dgm:prSet>
      <dgm:spPr/>
    </dgm:pt>
    <dgm:pt modelId="{BA89B6B5-993D-4969-A5B9-015CDB14EE66}" type="pres">
      <dgm:prSet presAssocID="{372B2960-BD13-48EE-AE92-ADDE03CC0CAB}" presName="negativeSpace" presStyleCnt="0"/>
      <dgm:spPr/>
    </dgm:pt>
    <dgm:pt modelId="{AADF0C89-3D97-47F1-87C2-2833945D5659}" type="pres">
      <dgm:prSet presAssocID="{372B2960-BD13-48EE-AE92-ADDE03CC0CAB}" presName="childText" presStyleLbl="conFgAcc1" presStyleIdx="3" presStyleCnt="5">
        <dgm:presLayoutVars>
          <dgm:bulletEnabled val="1"/>
        </dgm:presLayoutVars>
      </dgm:prSet>
      <dgm:spPr/>
    </dgm:pt>
    <dgm:pt modelId="{31386CCB-FB5E-4C97-822D-B897A46F108F}" type="pres">
      <dgm:prSet presAssocID="{DE34E600-1DE8-4782-A63E-4AE9917D91AB}" presName="spaceBetweenRectangles" presStyleCnt="0"/>
      <dgm:spPr/>
    </dgm:pt>
    <dgm:pt modelId="{BA217F3D-2D89-400A-86DE-F0739BCCE364}" type="pres">
      <dgm:prSet presAssocID="{869DBDB0-1814-4D88-8A52-DB7513C3C834}" presName="parentLin" presStyleCnt="0"/>
      <dgm:spPr/>
    </dgm:pt>
    <dgm:pt modelId="{18D6CE53-FBC8-4E3B-B47C-092DDFA8FBB5}" type="pres">
      <dgm:prSet presAssocID="{869DBDB0-1814-4D88-8A52-DB7513C3C834}" presName="parentLeftMargin" presStyleLbl="node1" presStyleIdx="3" presStyleCnt="5"/>
      <dgm:spPr/>
    </dgm:pt>
    <dgm:pt modelId="{1B9DB7B9-C627-415E-BBEF-9E2B828219B2}" type="pres">
      <dgm:prSet presAssocID="{869DBDB0-1814-4D88-8A52-DB7513C3C834}" presName="parentText" presStyleLbl="node1" presStyleIdx="4" presStyleCnt="5">
        <dgm:presLayoutVars>
          <dgm:chMax val="0"/>
          <dgm:bulletEnabled val="1"/>
        </dgm:presLayoutVars>
      </dgm:prSet>
      <dgm:spPr/>
    </dgm:pt>
    <dgm:pt modelId="{CD181856-AEE5-48CA-9A6C-57513BC02DE3}" type="pres">
      <dgm:prSet presAssocID="{869DBDB0-1814-4D88-8A52-DB7513C3C834}" presName="negativeSpace" presStyleCnt="0"/>
      <dgm:spPr/>
    </dgm:pt>
    <dgm:pt modelId="{E5FA9F0C-F95E-4258-B5E3-CF9AE2698A62}" type="pres">
      <dgm:prSet presAssocID="{869DBDB0-1814-4D88-8A52-DB7513C3C834}" presName="childText" presStyleLbl="conFgAcc1" presStyleIdx="4" presStyleCnt="5">
        <dgm:presLayoutVars>
          <dgm:bulletEnabled val="1"/>
        </dgm:presLayoutVars>
      </dgm:prSet>
      <dgm:spPr/>
    </dgm:pt>
  </dgm:ptLst>
  <dgm:cxnLst>
    <dgm:cxn modelId="{79846607-B31E-4E30-9B16-F5C817DF7431}" srcId="{4588612D-9786-4E1E-9080-CDD6B3CA1D35}" destId="{80E6384A-E374-4D34-9135-892773B53743}" srcOrd="2" destOrd="0" parTransId="{4CD3AB73-7DCA-4BDD-9F55-9495F797F36B}" sibTransId="{0A782009-A2E0-4C1C-BA3C-90E44FDB11A7}"/>
    <dgm:cxn modelId="{FAEEFE0F-90B0-4648-87DA-6DF467A43D16}" srcId="{372B2960-BD13-48EE-AE92-ADDE03CC0CAB}" destId="{48AB6B96-AEAE-446A-8C19-F2DEFCEE7D59}" srcOrd="1" destOrd="0" parTransId="{20948501-3F46-428D-8F3B-8B01CFDCCCFF}" sibTransId="{7FBC144B-E4F8-444B-80CC-93A6E05A894F}"/>
    <dgm:cxn modelId="{2FA25A11-3BCB-4A7B-9618-14429498A317}" srcId="{DAD32B63-8F54-429E-BCD0-7A097C5CF506}" destId="{12BDC68F-AA1B-4172-A716-CFCC4B4E4E77}" srcOrd="1" destOrd="0" parTransId="{0F098927-5A66-4252-8946-DDD46E5A81DF}" sibTransId="{3B65A589-685F-4B36-9B92-890395792A47}"/>
    <dgm:cxn modelId="{C4E28918-F45B-4C13-AEE6-A685551D6DDA}" srcId="{80E6384A-E374-4D34-9135-892773B53743}" destId="{0DA93ACC-433E-4ABF-A79D-005AC681A727}" srcOrd="0" destOrd="0" parTransId="{EE668AF4-55A5-475C-8B72-2212658675FC}" sibTransId="{2F710626-F0BE-4B57-AF25-6CF090AF0A8D}"/>
    <dgm:cxn modelId="{E1EFB522-92C1-4384-8CA7-BDBABCE7C820}" srcId="{372B2960-BD13-48EE-AE92-ADDE03CC0CAB}" destId="{BD878A1D-A2EB-41E1-9F68-05E833CE4BC0}" srcOrd="2" destOrd="0" parTransId="{9CB256E9-638E-4D86-8347-767872C4C9BE}" sibTransId="{2321CE03-6119-4CEE-8945-6863A2982A6C}"/>
    <dgm:cxn modelId="{3C934F25-0B18-4431-8198-74D593F43DBB}" srcId="{4588612D-9786-4E1E-9080-CDD6B3CA1D35}" destId="{869DBDB0-1814-4D88-8A52-DB7513C3C834}" srcOrd="4" destOrd="0" parTransId="{0FEE54CB-D2A4-4BE0-AA43-E488858CF5F2}" sibTransId="{3B806060-650D-4534-9E29-A5B3E2E583BE}"/>
    <dgm:cxn modelId="{767B7036-4B06-45D9-AD65-9F96D34571D7}" srcId="{4588612D-9786-4E1E-9080-CDD6B3CA1D35}" destId="{D5F9D874-F094-4F7D-B6C7-2A076B92758F}" srcOrd="1" destOrd="0" parTransId="{86C93F2B-6929-4231-A354-447D78A93223}" sibTransId="{9ABF69DE-5BD2-4BD0-BBBD-69B99E167CD5}"/>
    <dgm:cxn modelId="{F77FE63B-10BB-4FA3-B08C-98319D657AA8}" type="presOf" srcId="{4588612D-9786-4E1E-9080-CDD6B3CA1D35}" destId="{C249F667-80AC-4A85-A181-48B6760C5E0D}" srcOrd="0" destOrd="0" presId="urn:microsoft.com/office/officeart/2005/8/layout/list1"/>
    <dgm:cxn modelId="{7E57A740-7FE9-49A8-AE35-47718462CCA3}" srcId="{80E6384A-E374-4D34-9135-892773B53743}" destId="{A949233C-0D0C-4330-9E28-CA50DDE4CD17}" srcOrd="2" destOrd="0" parTransId="{E66BA405-F60D-4ADE-B9D0-FD02EB50C770}" sibTransId="{6D474F72-F3D5-4946-A790-FE006D8F9A97}"/>
    <dgm:cxn modelId="{C978EB40-7E00-4AF4-9F2D-2AC81927D4BD}" type="presOf" srcId="{1A536065-82C9-48CB-BCB3-BD53908E2625}" destId="{6163065A-DEC5-4405-BC09-FD7F2AD717EC}" srcOrd="0" destOrd="3" presId="urn:microsoft.com/office/officeart/2005/8/layout/list1"/>
    <dgm:cxn modelId="{D1CCD641-7198-4BC9-99AB-C8C0BFF3DAB1}" type="presOf" srcId="{82095ACE-9A21-445B-AAAD-623BB4B3DDCE}" destId="{AADF0C89-3D97-47F1-87C2-2833945D5659}" srcOrd="0" destOrd="3" presId="urn:microsoft.com/office/officeart/2005/8/layout/list1"/>
    <dgm:cxn modelId="{9B20AD43-96BF-4EE6-9AD7-3C3E20AFD992}" type="presOf" srcId="{9E91818B-8013-4A12-AE35-6FBBBDCEAB47}" destId="{AADF0C89-3D97-47F1-87C2-2833945D5659}" srcOrd="0" destOrd="0" presId="urn:microsoft.com/office/officeart/2005/8/layout/list1"/>
    <dgm:cxn modelId="{ABD06349-BFDC-4059-8773-A8E33418E230}" srcId="{4588612D-9786-4E1E-9080-CDD6B3CA1D35}" destId="{372B2960-BD13-48EE-AE92-ADDE03CC0CAB}" srcOrd="3" destOrd="0" parTransId="{A105B220-A73B-4281-83AA-14C9DA3929C5}" sibTransId="{DE34E600-1DE8-4782-A63E-4AE9917D91AB}"/>
    <dgm:cxn modelId="{B8E42D4B-80AB-4AAA-8C19-B5FF47BE8E08}" type="presOf" srcId="{48AB6B96-AEAE-446A-8C19-F2DEFCEE7D59}" destId="{AADF0C89-3D97-47F1-87C2-2833945D5659}" srcOrd="0" destOrd="1" presId="urn:microsoft.com/office/officeart/2005/8/layout/list1"/>
    <dgm:cxn modelId="{96135B70-F4F3-4BEE-BC1A-FBAD2368BE8D}" type="presOf" srcId="{DAD32B63-8F54-429E-BCD0-7A097C5CF506}" destId="{9068615F-BE76-4188-B428-099E1CF7F4A5}" srcOrd="0" destOrd="0" presId="urn:microsoft.com/office/officeart/2005/8/layout/list1"/>
    <dgm:cxn modelId="{D22CA072-8F10-4ED8-B771-4EE51BF9C0F0}" type="presOf" srcId="{DAD32B63-8F54-429E-BCD0-7A097C5CF506}" destId="{1CEDABA7-BCFC-41DB-BC4E-A693E059C8C9}" srcOrd="1" destOrd="0" presId="urn:microsoft.com/office/officeart/2005/8/layout/list1"/>
    <dgm:cxn modelId="{06CF4F74-D6E8-4988-8A7E-022A46E1DA29}" type="presOf" srcId="{D5F9D874-F094-4F7D-B6C7-2A076B92758F}" destId="{B292DCE2-7FA3-4E21-945A-375838D1BA6F}" srcOrd="1" destOrd="0" presId="urn:microsoft.com/office/officeart/2005/8/layout/list1"/>
    <dgm:cxn modelId="{857E8880-C187-4E60-9130-5CF1B40AB8BA}" type="presOf" srcId="{47050036-DC00-48D5-AF51-95A43F600C86}" destId="{16B3A770-4929-4455-8466-137E60437025}" srcOrd="0" destOrd="0" presId="urn:microsoft.com/office/officeart/2005/8/layout/list1"/>
    <dgm:cxn modelId="{DBA68886-5032-4513-B401-EB8019E30708}" type="presOf" srcId="{372B2960-BD13-48EE-AE92-ADDE03CC0CAB}" destId="{0EEC4FF0-F2DE-419A-B0D9-98B7C103C66F}" srcOrd="1" destOrd="0" presId="urn:microsoft.com/office/officeart/2005/8/layout/list1"/>
    <dgm:cxn modelId="{94F94692-159B-415B-BBBD-91E0B62F08A0}" srcId="{80E6384A-E374-4D34-9135-892773B53743}" destId="{1A536065-82C9-48CB-BCB3-BD53908E2625}" srcOrd="3" destOrd="0" parTransId="{E8A0FBF0-7C5B-4E42-940C-C12A32CC6D25}" sibTransId="{6E147487-7F76-4511-86F9-CCAC6996B57C}"/>
    <dgm:cxn modelId="{E4682F9E-286F-4D1C-BBBE-2C8FEE68293C}" type="presOf" srcId="{372B2960-BD13-48EE-AE92-ADDE03CC0CAB}" destId="{1B81B5D5-6AF3-4825-8CE0-9C73F88A5F14}" srcOrd="0" destOrd="0" presId="urn:microsoft.com/office/officeart/2005/8/layout/list1"/>
    <dgm:cxn modelId="{EC17CD9E-79C8-4DDF-B934-F4A7EBAEA6F4}" type="presOf" srcId="{BD878A1D-A2EB-41E1-9F68-05E833CE4BC0}" destId="{AADF0C89-3D97-47F1-87C2-2833945D5659}" srcOrd="0" destOrd="2" presId="urn:microsoft.com/office/officeart/2005/8/layout/list1"/>
    <dgm:cxn modelId="{255209B1-AE42-463B-A009-826E07F767CF}" type="presOf" srcId="{0DA93ACC-433E-4ABF-A79D-005AC681A727}" destId="{6163065A-DEC5-4405-BC09-FD7F2AD717EC}" srcOrd="0" destOrd="0" presId="urn:microsoft.com/office/officeart/2005/8/layout/list1"/>
    <dgm:cxn modelId="{4B2849B3-7FC9-4931-8C48-3AAD0F6796C6}" type="presOf" srcId="{A949233C-0D0C-4330-9E28-CA50DDE4CD17}" destId="{6163065A-DEC5-4405-BC09-FD7F2AD717EC}" srcOrd="0" destOrd="2" presId="urn:microsoft.com/office/officeart/2005/8/layout/list1"/>
    <dgm:cxn modelId="{3EA6E3B7-86C7-4921-86C9-70C5F44482F7}" srcId="{869DBDB0-1814-4D88-8A52-DB7513C3C834}" destId="{68B0F397-4467-4D42-BBF2-41AF516829BD}" srcOrd="0" destOrd="0" parTransId="{09AA09D2-4256-487F-974C-84D04A3568D1}" sibTransId="{178B29C9-3D88-4F85-938E-7356ABBD75C4}"/>
    <dgm:cxn modelId="{7532E4B9-9C8D-4D1C-8A89-8D7A50A550A6}" srcId="{DAD32B63-8F54-429E-BCD0-7A097C5CF506}" destId="{47050036-DC00-48D5-AF51-95A43F600C86}" srcOrd="0" destOrd="0" parTransId="{DAAAF076-9A4B-4233-A4EB-94093EDD79D2}" sibTransId="{79D7A383-37F2-4A94-8637-32050239C8BD}"/>
    <dgm:cxn modelId="{4EBB99C1-A8CE-4358-9232-24D1FC7B9220}" type="presOf" srcId="{FB11879A-910E-4D68-9420-A3BE2D23A3F1}" destId="{E9E99FFA-493A-4EAA-B4D8-09B355602FB0}" srcOrd="0" destOrd="0" presId="urn:microsoft.com/office/officeart/2005/8/layout/list1"/>
    <dgm:cxn modelId="{4EF33EC2-7394-400D-AAE5-A7A42C6E77A7}" srcId="{372B2960-BD13-48EE-AE92-ADDE03CC0CAB}" destId="{82095ACE-9A21-445B-AAAD-623BB4B3DDCE}" srcOrd="3" destOrd="0" parTransId="{8DF6D11D-72F0-4D81-A32D-949FF6077810}" sibTransId="{3ADBC2CF-5C41-47CE-ACD7-EA3623323A12}"/>
    <dgm:cxn modelId="{4B99B4C9-1F56-4382-9BF5-BCBFF8673C57}" srcId="{372B2960-BD13-48EE-AE92-ADDE03CC0CAB}" destId="{9E91818B-8013-4A12-AE35-6FBBBDCEAB47}" srcOrd="0" destOrd="0" parTransId="{BEED0678-E7F2-4D4C-9217-4B2A0A4A74C5}" sibTransId="{98593499-DEA5-4056-8B0D-AF80BC1A2B51}"/>
    <dgm:cxn modelId="{A46D44CB-BC7B-40E4-ACF2-36088ABA5810}" type="presOf" srcId="{D5F9D874-F094-4F7D-B6C7-2A076B92758F}" destId="{59E8B80C-7A46-43DD-9B27-5FD96FE09DAB}" srcOrd="0" destOrd="0" presId="urn:microsoft.com/office/officeart/2005/8/layout/list1"/>
    <dgm:cxn modelId="{1D5AF2CD-F383-4C4A-8579-353510D75114}" srcId="{D5F9D874-F094-4F7D-B6C7-2A076B92758F}" destId="{FB11879A-910E-4D68-9420-A3BE2D23A3F1}" srcOrd="0" destOrd="0" parTransId="{DB54B90F-CB20-4678-BDDA-C6DB8FB54B39}" sibTransId="{EDA73D05-DF61-4A95-964A-4D9EBFD57B58}"/>
    <dgm:cxn modelId="{7EC268D2-AE70-4EF8-AEF7-FBF0F870AE81}" type="presOf" srcId="{869DBDB0-1814-4D88-8A52-DB7513C3C834}" destId="{18D6CE53-FBC8-4E3B-B47C-092DDFA8FBB5}" srcOrd="0" destOrd="0" presId="urn:microsoft.com/office/officeart/2005/8/layout/list1"/>
    <dgm:cxn modelId="{26D353D4-C09F-416C-AB9B-67124F36CA17}" srcId="{4588612D-9786-4E1E-9080-CDD6B3CA1D35}" destId="{DAD32B63-8F54-429E-BCD0-7A097C5CF506}" srcOrd="0" destOrd="0" parTransId="{3C6B63CD-D8C5-46FB-9795-167F6F64B838}" sibTransId="{8ABD913E-4E89-408F-BF4F-90BA9399F571}"/>
    <dgm:cxn modelId="{6C5913DE-F6BD-442E-9E1B-3F1A832A8071}" type="presOf" srcId="{869DBDB0-1814-4D88-8A52-DB7513C3C834}" destId="{1B9DB7B9-C627-415E-BBEF-9E2B828219B2}" srcOrd="1" destOrd="0" presId="urn:microsoft.com/office/officeart/2005/8/layout/list1"/>
    <dgm:cxn modelId="{3BD873EF-DA68-445D-8A80-24916E59392A}" type="presOf" srcId="{80E6384A-E374-4D34-9135-892773B53743}" destId="{425B4C80-6E66-4DB6-BD26-154E67549EFD}" srcOrd="0" destOrd="0" presId="urn:microsoft.com/office/officeart/2005/8/layout/list1"/>
    <dgm:cxn modelId="{FFF3DDEF-9E0E-42F8-924D-01FBE62BFC09}" type="presOf" srcId="{68B0F397-4467-4D42-BBF2-41AF516829BD}" destId="{E5FA9F0C-F95E-4258-B5E3-CF9AE2698A62}" srcOrd="0" destOrd="0" presId="urn:microsoft.com/office/officeart/2005/8/layout/list1"/>
    <dgm:cxn modelId="{6EAE5EF3-FA01-41D2-99C5-B0A4604237CE}" srcId="{80E6384A-E374-4D34-9135-892773B53743}" destId="{33D56874-8B2C-4926-81C0-58B0602A2D1C}" srcOrd="1" destOrd="0" parTransId="{E07224BC-7D65-4BA4-8B5E-16B62264070E}" sibTransId="{3E7749A6-ACE7-4F27-9FD9-60F6FD819283}"/>
    <dgm:cxn modelId="{B2FE82F7-D580-4343-9943-12C7CD52032A}" type="presOf" srcId="{80E6384A-E374-4D34-9135-892773B53743}" destId="{E3EFF9A9-9F3E-420B-BB82-1CA2AB03CC53}" srcOrd="1" destOrd="0" presId="urn:microsoft.com/office/officeart/2005/8/layout/list1"/>
    <dgm:cxn modelId="{99A21BF9-1317-4E4D-87A9-8CBF30CBF07B}" type="presOf" srcId="{12BDC68F-AA1B-4172-A716-CFCC4B4E4E77}" destId="{16B3A770-4929-4455-8466-137E60437025}" srcOrd="0" destOrd="1" presId="urn:microsoft.com/office/officeart/2005/8/layout/list1"/>
    <dgm:cxn modelId="{751AD0FF-D672-462A-ABA7-E2622D128F98}" type="presOf" srcId="{33D56874-8B2C-4926-81C0-58B0602A2D1C}" destId="{6163065A-DEC5-4405-BC09-FD7F2AD717EC}" srcOrd="0" destOrd="1" presId="urn:microsoft.com/office/officeart/2005/8/layout/list1"/>
    <dgm:cxn modelId="{3EE330C8-9C7F-4899-88E1-AF0A710D8E4E}" type="presParOf" srcId="{C249F667-80AC-4A85-A181-48B6760C5E0D}" destId="{D0EC507D-572C-4BF5-B8BD-608A54475CF1}" srcOrd="0" destOrd="0" presId="urn:microsoft.com/office/officeart/2005/8/layout/list1"/>
    <dgm:cxn modelId="{72B8FE1C-198A-4692-849F-38B51AF4C6DF}" type="presParOf" srcId="{D0EC507D-572C-4BF5-B8BD-608A54475CF1}" destId="{9068615F-BE76-4188-B428-099E1CF7F4A5}" srcOrd="0" destOrd="0" presId="urn:microsoft.com/office/officeart/2005/8/layout/list1"/>
    <dgm:cxn modelId="{F5B736EB-952D-4088-9828-B1579441CA67}" type="presParOf" srcId="{D0EC507D-572C-4BF5-B8BD-608A54475CF1}" destId="{1CEDABA7-BCFC-41DB-BC4E-A693E059C8C9}" srcOrd="1" destOrd="0" presId="urn:microsoft.com/office/officeart/2005/8/layout/list1"/>
    <dgm:cxn modelId="{D7C558E4-775D-411D-9D00-CFAA6ECB949D}" type="presParOf" srcId="{C249F667-80AC-4A85-A181-48B6760C5E0D}" destId="{F5D971D7-DCCB-4224-A0B1-A34BDFEFDCF5}" srcOrd="1" destOrd="0" presId="urn:microsoft.com/office/officeart/2005/8/layout/list1"/>
    <dgm:cxn modelId="{683DF96E-29A0-4F78-89C3-3ED3F35ABE09}" type="presParOf" srcId="{C249F667-80AC-4A85-A181-48B6760C5E0D}" destId="{16B3A770-4929-4455-8466-137E60437025}" srcOrd="2" destOrd="0" presId="urn:microsoft.com/office/officeart/2005/8/layout/list1"/>
    <dgm:cxn modelId="{EC41BCDE-4B66-4542-B703-73525A5EF5F7}" type="presParOf" srcId="{C249F667-80AC-4A85-A181-48B6760C5E0D}" destId="{A74BE861-D61B-4CE5-8028-E826ECD9EAA4}" srcOrd="3" destOrd="0" presId="urn:microsoft.com/office/officeart/2005/8/layout/list1"/>
    <dgm:cxn modelId="{9AC58865-094B-4C4B-AA58-7A3DE6FB5085}" type="presParOf" srcId="{C249F667-80AC-4A85-A181-48B6760C5E0D}" destId="{6E0B34A4-7F86-4DB5-B152-6B6817754594}" srcOrd="4" destOrd="0" presId="urn:microsoft.com/office/officeart/2005/8/layout/list1"/>
    <dgm:cxn modelId="{16237C70-04D6-48DA-8C2C-3AE2A1E8C3A4}" type="presParOf" srcId="{6E0B34A4-7F86-4DB5-B152-6B6817754594}" destId="{59E8B80C-7A46-43DD-9B27-5FD96FE09DAB}" srcOrd="0" destOrd="0" presId="urn:microsoft.com/office/officeart/2005/8/layout/list1"/>
    <dgm:cxn modelId="{3782F631-93F2-407D-9F43-E2F41B7E3D6D}" type="presParOf" srcId="{6E0B34A4-7F86-4DB5-B152-6B6817754594}" destId="{B292DCE2-7FA3-4E21-945A-375838D1BA6F}" srcOrd="1" destOrd="0" presId="urn:microsoft.com/office/officeart/2005/8/layout/list1"/>
    <dgm:cxn modelId="{EB71F901-C5E5-41C0-8FCB-42421575FBA8}" type="presParOf" srcId="{C249F667-80AC-4A85-A181-48B6760C5E0D}" destId="{A5830400-589F-4686-BD23-FACD6D20E8D3}" srcOrd="5" destOrd="0" presId="urn:microsoft.com/office/officeart/2005/8/layout/list1"/>
    <dgm:cxn modelId="{F2D055EA-CB53-4FFF-BB33-6308978D07E6}" type="presParOf" srcId="{C249F667-80AC-4A85-A181-48B6760C5E0D}" destId="{E9E99FFA-493A-4EAA-B4D8-09B355602FB0}" srcOrd="6" destOrd="0" presId="urn:microsoft.com/office/officeart/2005/8/layout/list1"/>
    <dgm:cxn modelId="{9A0EB9B5-19E8-407D-A88F-9734A6C1F3C8}" type="presParOf" srcId="{C249F667-80AC-4A85-A181-48B6760C5E0D}" destId="{F337F067-CE3B-408B-AA33-9AA6CA1F186D}" srcOrd="7" destOrd="0" presId="urn:microsoft.com/office/officeart/2005/8/layout/list1"/>
    <dgm:cxn modelId="{EA063563-8219-461A-ACBC-376F80DAEDAB}" type="presParOf" srcId="{C249F667-80AC-4A85-A181-48B6760C5E0D}" destId="{41C4EC79-DD73-4963-B5B5-6C5796D8CC88}" srcOrd="8" destOrd="0" presId="urn:microsoft.com/office/officeart/2005/8/layout/list1"/>
    <dgm:cxn modelId="{3DBB772F-61FE-40B4-B214-20478C873352}" type="presParOf" srcId="{41C4EC79-DD73-4963-B5B5-6C5796D8CC88}" destId="{425B4C80-6E66-4DB6-BD26-154E67549EFD}" srcOrd="0" destOrd="0" presId="urn:microsoft.com/office/officeart/2005/8/layout/list1"/>
    <dgm:cxn modelId="{8913EEBB-B061-490E-994B-E546A50F8894}" type="presParOf" srcId="{41C4EC79-DD73-4963-B5B5-6C5796D8CC88}" destId="{E3EFF9A9-9F3E-420B-BB82-1CA2AB03CC53}" srcOrd="1" destOrd="0" presId="urn:microsoft.com/office/officeart/2005/8/layout/list1"/>
    <dgm:cxn modelId="{46A3B30F-4F3E-4D5D-AC8E-198D1E859715}" type="presParOf" srcId="{C249F667-80AC-4A85-A181-48B6760C5E0D}" destId="{55ADBF9D-0785-4E92-B569-964E301250EA}" srcOrd="9" destOrd="0" presId="urn:microsoft.com/office/officeart/2005/8/layout/list1"/>
    <dgm:cxn modelId="{FD398018-9EE6-4750-AB25-227E8AC3B315}" type="presParOf" srcId="{C249F667-80AC-4A85-A181-48B6760C5E0D}" destId="{6163065A-DEC5-4405-BC09-FD7F2AD717EC}" srcOrd="10" destOrd="0" presId="urn:microsoft.com/office/officeart/2005/8/layout/list1"/>
    <dgm:cxn modelId="{A2782CB7-313C-4B3C-9FD9-756B542AB6BE}" type="presParOf" srcId="{C249F667-80AC-4A85-A181-48B6760C5E0D}" destId="{2308CB6E-C1F4-4DC1-B7C6-DB1AA5764B54}" srcOrd="11" destOrd="0" presId="urn:microsoft.com/office/officeart/2005/8/layout/list1"/>
    <dgm:cxn modelId="{8D85317F-748D-4DAF-BC3B-3ED541F30CA2}" type="presParOf" srcId="{C249F667-80AC-4A85-A181-48B6760C5E0D}" destId="{594E203B-BE46-44BC-85DB-79CCD7BB8E4D}" srcOrd="12" destOrd="0" presId="urn:microsoft.com/office/officeart/2005/8/layout/list1"/>
    <dgm:cxn modelId="{A5AE4180-8596-4E15-B0E2-4B724B412C8E}" type="presParOf" srcId="{594E203B-BE46-44BC-85DB-79CCD7BB8E4D}" destId="{1B81B5D5-6AF3-4825-8CE0-9C73F88A5F14}" srcOrd="0" destOrd="0" presId="urn:microsoft.com/office/officeart/2005/8/layout/list1"/>
    <dgm:cxn modelId="{B310C9FF-63E5-4B01-9430-2394676EBAC6}" type="presParOf" srcId="{594E203B-BE46-44BC-85DB-79CCD7BB8E4D}" destId="{0EEC4FF0-F2DE-419A-B0D9-98B7C103C66F}" srcOrd="1" destOrd="0" presId="urn:microsoft.com/office/officeart/2005/8/layout/list1"/>
    <dgm:cxn modelId="{380D2E6B-F55B-45BD-8F21-98DB3DB6FC4B}" type="presParOf" srcId="{C249F667-80AC-4A85-A181-48B6760C5E0D}" destId="{BA89B6B5-993D-4969-A5B9-015CDB14EE66}" srcOrd="13" destOrd="0" presId="urn:microsoft.com/office/officeart/2005/8/layout/list1"/>
    <dgm:cxn modelId="{6DBBD5B0-11D4-4543-966B-06E3F106963F}" type="presParOf" srcId="{C249F667-80AC-4A85-A181-48B6760C5E0D}" destId="{AADF0C89-3D97-47F1-87C2-2833945D5659}" srcOrd="14" destOrd="0" presId="urn:microsoft.com/office/officeart/2005/8/layout/list1"/>
    <dgm:cxn modelId="{9C41F8D3-A4D8-41E6-9C10-1AEE2B9D20C3}" type="presParOf" srcId="{C249F667-80AC-4A85-A181-48B6760C5E0D}" destId="{31386CCB-FB5E-4C97-822D-B897A46F108F}" srcOrd="15" destOrd="0" presId="urn:microsoft.com/office/officeart/2005/8/layout/list1"/>
    <dgm:cxn modelId="{158092F9-9B43-4BDE-A0E1-D17417061AB4}" type="presParOf" srcId="{C249F667-80AC-4A85-A181-48B6760C5E0D}" destId="{BA217F3D-2D89-400A-86DE-F0739BCCE364}" srcOrd="16" destOrd="0" presId="urn:microsoft.com/office/officeart/2005/8/layout/list1"/>
    <dgm:cxn modelId="{2C233481-EF25-494C-96FF-D19FF371438E}" type="presParOf" srcId="{BA217F3D-2D89-400A-86DE-F0739BCCE364}" destId="{18D6CE53-FBC8-4E3B-B47C-092DDFA8FBB5}" srcOrd="0" destOrd="0" presId="urn:microsoft.com/office/officeart/2005/8/layout/list1"/>
    <dgm:cxn modelId="{992C9FEA-BD9B-48E2-8255-12A5F227D8DA}" type="presParOf" srcId="{BA217F3D-2D89-400A-86DE-F0739BCCE364}" destId="{1B9DB7B9-C627-415E-BBEF-9E2B828219B2}" srcOrd="1" destOrd="0" presId="urn:microsoft.com/office/officeart/2005/8/layout/list1"/>
    <dgm:cxn modelId="{AADAA8E4-6DEA-4131-BB77-61835F16C245}" type="presParOf" srcId="{C249F667-80AC-4A85-A181-48B6760C5E0D}" destId="{CD181856-AEE5-48CA-9A6C-57513BC02DE3}" srcOrd="17" destOrd="0" presId="urn:microsoft.com/office/officeart/2005/8/layout/list1"/>
    <dgm:cxn modelId="{EF706BA8-DA65-4B04-8070-B0F3F98F4EE8}" type="presParOf" srcId="{C249F667-80AC-4A85-A181-48B6760C5E0D}" destId="{E5FA9F0C-F95E-4258-B5E3-CF9AE2698A62}"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1A9400-9A5F-4E72-9E91-C40C877CA6CC}" type="doc">
      <dgm:prSet loTypeId="urn:microsoft.com/office/officeart/2005/8/layout/process2" loCatId="process" qsTypeId="urn:microsoft.com/office/officeart/2005/8/quickstyle/simple1" qsCatId="simple" csTypeId="urn:microsoft.com/office/officeart/2005/8/colors/accent2_2" csCatId="accent2" phldr="1"/>
      <dgm:spPr/>
    </dgm:pt>
    <dgm:pt modelId="{2462F222-51DE-47FC-8339-00D207E41AB9}">
      <dgm:prSet phldrT="[Text]" custT="1"/>
      <dgm:spPr/>
      <dgm:t>
        <a:bodyPr/>
        <a:lstStyle/>
        <a:p>
          <a:r>
            <a:rPr lang="en-US" sz="1400" dirty="0"/>
            <a:t>Industry structure finalization</a:t>
          </a:r>
        </a:p>
      </dgm:t>
    </dgm:pt>
    <dgm:pt modelId="{1330837A-819C-481C-AA37-10113BE4D53F}" type="parTrans" cxnId="{402EBA49-25D9-4C78-A47E-8618976583DB}">
      <dgm:prSet/>
      <dgm:spPr/>
      <dgm:t>
        <a:bodyPr/>
        <a:lstStyle/>
        <a:p>
          <a:endParaRPr lang="en-US" sz="1400"/>
        </a:p>
      </dgm:t>
    </dgm:pt>
    <dgm:pt modelId="{3E124ED5-48D1-44B7-B89E-64451BD46D54}" type="sibTrans" cxnId="{402EBA49-25D9-4C78-A47E-8618976583DB}">
      <dgm:prSet custT="1"/>
      <dgm:spPr/>
      <dgm:t>
        <a:bodyPr/>
        <a:lstStyle/>
        <a:p>
          <a:endParaRPr lang="en-US" sz="1400"/>
        </a:p>
      </dgm:t>
    </dgm:pt>
    <dgm:pt modelId="{6A36997A-F180-480E-82F8-E4027652BEA2}">
      <dgm:prSet phldrT="[Text]" custT="1"/>
      <dgm:spPr/>
      <dgm:t>
        <a:bodyPr/>
        <a:lstStyle/>
        <a:p>
          <a:r>
            <a:rPr lang="en-US" sz="1400" dirty="0"/>
            <a:t>Holding company formation</a:t>
          </a:r>
        </a:p>
      </dgm:t>
    </dgm:pt>
    <dgm:pt modelId="{246FE3F9-13C9-4D6F-9E84-C4BC9DA6DC07}" type="parTrans" cxnId="{4746EF0C-62DE-422E-8995-A0E2D1DEE838}">
      <dgm:prSet/>
      <dgm:spPr/>
      <dgm:t>
        <a:bodyPr/>
        <a:lstStyle/>
        <a:p>
          <a:endParaRPr lang="en-US" sz="1400"/>
        </a:p>
      </dgm:t>
    </dgm:pt>
    <dgm:pt modelId="{26CF553D-E81D-4F57-9A22-5FCBC1C6AC9C}" type="sibTrans" cxnId="{4746EF0C-62DE-422E-8995-A0E2D1DEE838}">
      <dgm:prSet custT="1"/>
      <dgm:spPr/>
      <dgm:t>
        <a:bodyPr/>
        <a:lstStyle/>
        <a:p>
          <a:endParaRPr lang="en-US" sz="1400"/>
        </a:p>
      </dgm:t>
    </dgm:pt>
    <dgm:pt modelId="{5B6CF267-50BE-4CCE-B49C-B587EB849E9C}">
      <dgm:prSet phldrT="[Text]" custT="1"/>
      <dgm:spPr/>
      <dgm:t>
        <a:bodyPr/>
        <a:lstStyle/>
        <a:p>
          <a:r>
            <a:rPr lang="en-US" sz="1400" dirty="0"/>
            <a:t>Transfer scheme preparation</a:t>
          </a:r>
        </a:p>
      </dgm:t>
    </dgm:pt>
    <dgm:pt modelId="{75BB40F9-1DE6-4679-81BD-8734F3EAE504}" type="parTrans" cxnId="{496E1260-44B2-4ECC-AD81-6BC63BD408D9}">
      <dgm:prSet/>
      <dgm:spPr/>
      <dgm:t>
        <a:bodyPr/>
        <a:lstStyle/>
        <a:p>
          <a:endParaRPr lang="en-US" sz="1400"/>
        </a:p>
      </dgm:t>
    </dgm:pt>
    <dgm:pt modelId="{9D2FA81A-C8B8-4F22-85A3-43930E42E941}" type="sibTrans" cxnId="{496E1260-44B2-4ECC-AD81-6BC63BD408D9}">
      <dgm:prSet custT="1"/>
      <dgm:spPr/>
      <dgm:t>
        <a:bodyPr/>
        <a:lstStyle/>
        <a:p>
          <a:endParaRPr lang="en-US" sz="1400"/>
        </a:p>
      </dgm:t>
    </dgm:pt>
    <dgm:pt modelId="{C1843363-4464-46B2-B5AA-82FD1FB37302}">
      <dgm:prSet phldrT="[Text]" custT="1"/>
      <dgm:spPr/>
      <dgm:t>
        <a:bodyPr/>
        <a:lstStyle/>
        <a:p>
          <a:r>
            <a:rPr lang="en-US" sz="1400" dirty="0"/>
            <a:t>Board arrangement of holding company</a:t>
          </a:r>
        </a:p>
      </dgm:t>
    </dgm:pt>
    <dgm:pt modelId="{5615DE45-D757-492D-90E3-F0A092972332}" type="parTrans" cxnId="{9B812433-1FFD-472E-8FFB-05D601DCA889}">
      <dgm:prSet/>
      <dgm:spPr/>
      <dgm:t>
        <a:bodyPr/>
        <a:lstStyle/>
        <a:p>
          <a:endParaRPr lang="en-US" sz="1400"/>
        </a:p>
      </dgm:t>
    </dgm:pt>
    <dgm:pt modelId="{C80A4504-AF50-4516-9F66-E5B1FB8DB1A8}" type="sibTrans" cxnId="{9B812433-1FFD-472E-8FFB-05D601DCA889}">
      <dgm:prSet custT="1"/>
      <dgm:spPr/>
      <dgm:t>
        <a:bodyPr/>
        <a:lstStyle/>
        <a:p>
          <a:endParaRPr lang="en-US" sz="1400"/>
        </a:p>
      </dgm:t>
    </dgm:pt>
    <dgm:pt modelId="{9CE0701D-8450-48F8-8BFF-995D2F24CCB0}">
      <dgm:prSet phldrT="[Text]" custT="1"/>
      <dgm:spPr/>
      <dgm:t>
        <a:bodyPr/>
        <a:lstStyle/>
        <a:p>
          <a:r>
            <a:rPr lang="en-US" sz="1400" dirty="0"/>
            <a:t>Coordination arrangement for reform activities</a:t>
          </a:r>
        </a:p>
      </dgm:t>
    </dgm:pt>
    <dgm:pt modelId="{9F8A6767-83D2-4B0D-BDC6-F1CC688CC8F6}" type="parTrans" cxnId="{D86CAF51-850A-438D-A4EF-2475808BF2F3}">
      <dgm:prSet/>
      <dgm:spPr/>
      <dgm:t>
        <a:bodyPr/>
        <a:lstStyle/>
        <a:p>
          <a:endParaRPr lang="en-US" sz="1400"/>
        </a:p>
      </dgm:t>
    </dgm:pt>
    <dgm:pt modelId="{76EC83B7-2E2D-43E8-9EF3-241CD824E314}" type="sibTrans" cxnId="{D86CAF51-850A-438D-A4EF-2475808BF2F3}">
      <dgm:prSet custT="1"/>
      <dgm:spPr/>
      <dgm:t>
        <a:bodyPr/>
        <a:lstStyle/>
        <a:p>
          <a:endParaRPr lang="en-US" sz="1400"/>
        </a:p>
      </dgm:t>
    </dgm:pt>
    <dgm:pt modelId="{D324712F-E8A3-4AF8-8401-9FD19C766737}">
      <dgm:prSet phldrT="[Text]" custT="1"/>
      <dgm:spPr/>
      <dgm:t>
        <a:bodyPr/>
        <a:lstStyle/>
        <a:p>
          <a:r>
            <a:rPr lang="en-US" sz="1400" dirty="0"/>
            <a:t>Commercial arrangement of holding company</a:t>
          </a:r>
        </a:p>
      </dgm:t>
    </dgm:pt>
    <dgm:pt modelId="{4A861939-85DF-45EE-BF5E-F4E44DB2B2EB}" type="parTrans" cxnId="{A255A321-0465-4C44-A439-4729A8F5DE1F}">
      <dgm:prSet/>
      <dgm:spPr/>
      <dgm:t>
        <a:bodyPr/>
        <a:lstStyle/>
        <a:p>
          <a:endParaRPr lang="en-US" sz="1400"/>
        </a:p>
      </dgm:t>
    </dgm:pt>
    <dgm:pt modelId="{9A094B47-835A-46E9-BBEA-8EBCEFE7BAAF}" type="sibTrans" cxnId="{A255A321-0465-4C44-A439-4729A8F5DE1F}">
      <dgm:prSet custT="1"/>
      <dgm:spPr/>
      <dgm:t>
        <a:bodyPr/>
        <a:lstStyle/>
        <a:p>
          <a:endParaRPr lang="en-US" sz="1400"/>
        </a:p>
      </dgm:t>
    </dgm:pt>
    <dgm:pt modelId="{C880A7B8-F6FE-4806-9A35-D551D3E63066}">
      <dgm:prSet phldrT="[Text]" custT="1"/>
      <dgm:spPr/>
      <dgm:t>
        <a:bodyPr/>
        <a:lstStyle/>
        <a:p>
          <a:r>
            <a:rPr lang="en-US" sz="1400" dirty="0"/>
            <a:t>Business process optimization and capacity building</a:t>
          </a:r>
        </a:p>
      </dgm:t>
    </dgm:pt>
    <dgm:pt modelId="{2B524EB4-A1EB-4CCC-9A10-59CC15E7E754}" type="parTrans" cxnId="{63D7E71C-3598-49C1-A6BB-7BDF3F989752}">
      <dgm:prSet/>
      <dgm:spPr/>
      <dgm:t>
        <a:bodyPr/>
        <a:lstStyle/>
        <a:p>
          <a:endParaRPr lang="en-US" sz="1400"/>
        </a:p>
      </dgm:t>
    </dgm:pt>
    <dgm:pt modelId="{9355BB92-6D32-41FC-B931-40BA151C58EC}" type="sibTrans" cxnId="{63D7E71C-3598-49C1-A6BB-7BDF3F989752}">
      <dgm:prSet/>
      <dgm:spPr/>
      <dgm:t>
        <a:bodyPr/>
        <a:lstStyle/>
        <a:p>
          <a:endParaRPr lang="en-US" sz="1400"/>
        </a:p>
      </dgm:t>
    </dgm:pt>
    <dgm:pt modelId="{48A0995F-C022-4653-AAD7-72A010DE5643}" type="pres">
      <dgm:prSet presAssocID="{E41A9400-9A5F-4E72-9E91-C40C877CA6CC}" presName="linearFlow" presStyleCnt="0">
        <dgm:presLayoutVars>
          <dgm:resizeHandles val="exact"/>
        </dgm:presLayoutVars>
      </dgm:prSet>
      <dgm:spPr/>
    </dgm:pt>
    <dgm:pt modelId="{1F18D26E-4F8E-4874-A1A2-F33BB45EDC51}" type="pres">
      <dgm:prSet presAssocID="{2462F222-51DE-47FC-8339-00D207E41AB9}" presName="node" presStyleLbl="node1" presStyleIdx="0" presStyleCnt="7">
        <dgm:presLayoutVars>
          <dgm:bulletEnabled val="1"/>
        </dgm:presLayoutVars>
      </dgm:prSet>
      <dgm:spPr/>
    </dgm:pt>
    <dgm:pt modelId="{A56AC259-8D51-4774-89F6-E63587B731C0}" type="pres">
      <dgm:prSet presAssocID="{3E124ED5-48D1-44B7-B89E-64451BD46D54}" presName="sibTrans" presStyleLbl="sibTrans2D1" presStyleIdx="0" presStyleCnt="6"/>
      <dgm:spPr/>
    </dgm:pt>
    <dgm:pt modelId="{D6E0F046-0EEF-43E9-B7D0-291E23BB4843}" type="pres">
      <dgm:prSet presAssocID="{3E124ED5-48D1-44B7-B89E-64451BD46D54}" presName="connectorText" presStyleLbl="sibTrans2D1" presStyleIdx="0" presStyleCnt="6"/>
      <dgm:spPr/>
    </dgm:pt>
    <dgm:pt modelId="{C773A12A-A109-469A-8BCB-9DE959E1F137}" type="pres">
      <dgm:prSet presAssocID="{6A36997A-F180-480E-82F8-E4027652BEA2}" presName="node" presStyleLbl="node1" presStyleIdx="1" presStyleCnt="7">
        <dgm:presLayoutVars>
          <dgm:bulletEnabled val="1"/>
        </dgm:presLayoutVars>
      </dgm:prSet>
      <dgm:spPr/>
    </dgm:pt>
    <dgm:pt modelId="{4E15359A-F8E3-4B59-87A7-5D7794C3EAF0}" type="pres">
      <dgm:prSet presAssocID="{26CF553D-E81D-4F57-9A22-5FCBC1C6AC9C}" presName="sibTrans" presStyleLbl="sibTrans2D1" presStyleIdx="1" presStyleCnt="6"/>
      <dgm:spPr/>
    </dgm:pt>
    <dgm:pt modelId="{0C48B3AA-DE84-4DD2-8ACA-7A0F5FDA423F}" type="pres">
      <dgm:prSet presAssocID="{26CF553D-E81D-4F57-9A22-5FCBC1C6AC9C}" presName="connectorText" presStyleLbl="sibTrans2D1" presStyleIdx="1" presStyleCnt="6"/>
      <dgm:spPr/>
    </dgm:pt>
    <dgm:pt modelId="{321D0089-5FB8-4330-BEFE-E003B7AA3599}" type="pres">
      <dgm:prSet presAssocID="{5B6CF267-50BE-4CCE-B49C-B587EB849E9C}" presName="node" presStyleLbl="node1" presStyleIdx="2" presStyleCnt="7">
        <dgm:presLayoutVars>
          <dgm:bulletEnabled val="1"/>
        </dgm:presLayoutVars>
      </dgm:prSet>
      <dgm:spPr/>
    </dgm:pt>
    <dgm:pt modelId="{A9E95CF8-F0B0-4D4A-9581-1E41A80A7C4F}" type="pres">
      <dgm:prSet presAssocID="{9D2FA81A-C8B8-4F22-85A3-43930E42E941}" presName="sibTrans" presStyleLbl="sibTrans2D1" presStyleIdx="2" presStyleCnt="6"/>
      <dgm:spPr/>
    </dgm:pt>
    <dgm:pt modelId="{B237CECC-81B2-4805-A7F0-B139144CDF72}" type="pres">
      <dgm:prSet presAssocID="{9D2FA81A-C8B8-4F22-85A3-43930E42E941}" presName="connectorText" presStyleLbl="sibTrans2D1" presStyleIdx="2" presStyleCnt="6"/>
      <dgm:spPr/>
    </dgm:pt>
    <dgm:pt modelId="{438BFC95-E7DA-45D0-8E96-FBD89878DDBF}" type="pres">
      <dgm:prSet presAssocID="{C1843363-4464-46B2-B5AA-82FD1FB37302}" presName="node" presStyleLbl="node1" presStyleIdx="3" presStyleCnt="7">
        <dgm:presLayoutVars>
          <dgm:bulletEnabled val="1"/>
        </dgm:presLayoutVars>
      </dgm:prSet>
      <dgm:spPr/>
    </dgm:pt>
    <dgm:pt modelId="{5727E7EE-0012-4C2D-8515-AA168E627A0E}" type="pres">
      <dgm:prSet presAssocID="{C80A4504-AF50-4516-9F66-E5B1FB8DB1A8}" presName="sibTrans" presStyleLbl="sibTrans2D1" presStyleIdx="3" presStyleCnt="6"/>
      <dgm:spPr/>
    </dgm:pt>
    <dgm:pt modelId="{11C9E189-4157-4011-A774-360A14252555}" type="pres">
      <dgm:prSet presAssocID="{C80A4504-AF50-4516-9F66-E5B1FB8DB1A8}" presName="connectorText" presStyleLbl="sibTrans2D1" presStyleIdx="3" presStyleCnt="6"/>
      <dgm:spPr/>
    </dgm:pt>
    <dgm:pt modelId="{5641FE4E-B32E-4D91-A3D0-48C8E54951C6}" type="pres">
      <dgm:prSet presAssocID="{9CE0701D-8450-48F8-8BFF-995D2F24CCB0}" presName="node" presStyleLbl="node1" presStyleIdx="4" presStyleCnt="7">
        <dgm:presLayoutVars>
          <dgm:bulletEnabled val="1"/>
        </dgm:presLayoutVars>
      </dgm:prSet>
      <dgm:spPr/>
    </dgm:pt>
    <dgm:pt modelId="{CAFEFA20-6084-41D5-9105-3176DC227F94}" type="pres">
      <dgm:prSet presAssocID="{76EC83B7-2E2D-43E8-9EF3-241CD824E314}" presName="sibTrans" presStyleLbl="sibTrans2D1" presStyleIdx="4" presStyleCnt="6"/>
      <dgm:spPr/>
    </dgm:pt>
    <dgm:pt modelId="{EF607DBE-C13D-4178-9049-5F9E7E2246FF}" type="pres">
      <dgm:prSet presAssocID="{76EC83B7-2E2D-43E8-9EF3-241CD824E314}" presName="connectorText" presStyleLbl="sibTrans2D1" presStyleIdx="4" presStyleCnt="6"/>
      <dgm:spPr/>
    </dgm:pt>
    <dgm:pt modelId="{3ED9235C-8AD0-43F2-B8C6-4C9AE1BDDE7C}" type="pres">
      <dgm:prSet presAssocID="{D324712F-E8A3-4AF8-8401-9FD19C766737}" presName="node" presStyleLbl="node1" presStyleIdx="5" presStyleCnt="7">
        <dgm:presLayoutVars>
          <dgm:bulletEnabled val="1"/>
        </dgm:presLayoutVars>
      </dgm:prSet>
      <dgm:spPr/>
    </dgm:pt>
    <dgm:pt modelId="{D83B1AB3-D20F-4233-A989-DCAAA619A9C1}" type="pres">
      <dgm:prSet presAssocID="{9A094B47-835A-46E9-BBEA-8EBCEFE7BAAF}" presName="sibTrans" presStyleLbl="sibTrans2D1" presStyleIdx="5" presStyleCnt="6"/>
      <dgm:spPr/>
    </dgm:pt>
    <dgm:pt modelId="{AB8D4F91-D915-43B3-8240-2CD3D48D05F9}" type="pres">
      <dgm:prSet presAssocID="{9A094B47-835A-46E9-BBEA-8EBCEFE7BAAF}" presName="connectorText" presStyleLbl="sibTrans2D1" presStyleIdx="5" presStyleCnt="6"/>
      <dgm:spPr/>
    </dgm:pt>
    <dgm:pt modelId="{A729A8AA-915C-4E26-98F2-0F72DF7183F7}" type="pres">
      <dgm:prSet presAssocID="{C880A7B8-F6FE-4806-9A35-D551D3E63066}" presName="node" presStyleLbl="node1" presStyleIdx="6" presStyleCnt="7">
        <dgm:presLayoutVars>
          <dgm:bulletEnabled val="1"/>
        </dgm:presLayoutVars>
      </dgm:prSet>
      <dgm:spPr/>
    </dgm:pt>
  </dgm:ptLst>
  <dgm:cxnLst>
    <dgm:cxn modelId="{4746EF0C-62DE-422E-8995-A0E2D1DEE838}" srcId="{E41A9400-9A5F-4E72-9E91-C40C877CA6CC}" destId="{6A36997A-F180-480E-82F8-E4027652BEA2}" srcOrd="1" destOrd="0" parTransId="{246FE3F9-13C9-4D6F-9E84-C4BC9DA6DC07}" sibTransId="{26CF553D-E81D-4F57-9A22-5FCBC1C6AC9C}"/>
    <dgm:cxn modelId="{966DFB0E-585A-4568-88FA-0B1DB1B5468C}" type="presOf" srcId="{3E124ED5-48D1-44B7-B89E-64451BD46D54}" destId="{A56AC259-8D51-4774-89F6-E63587B731C0}" srcOrd="0" destOrd="0" presId="urn:microsoft.com/office/officeart/2005/8/layout/process2"/>
    <dgm:cxn modelId="{63D7E71C-3598-49C1-A6BB-7BDF3F989752}" srcId="{E41A9400-9A5F-4E72-9E91-C40C877CA6CC}" destId="{C880A7B8-F6FE-4806-9A35-D551D3E63066}" srcOrd="6" destOrd="0" parTransId="{2B524EB4-A1EB-4CCC-9A10-59CC15E7E754}" sibTransId="{9355BB92-6D32-41FC-B931-40BA151C58EC}"/>
    <dgm:cxn modelId="{A0D6961D-A869-4006-B12C-BD783DD44FE7}" type="presOf" srcId="{9A094B47-835A-46E9-BBEA-8EBCEFE7BAAF}" destId="{D83B1AB3-D20F-4233-A989-DCAAA619A9C1}" srcOrd="0" destOrd="0" presId="urn:microsoft.com/office/officeart/2005/8/layout/process2"/>
    <dgm:cxn modelId="{A255A321-0465-4C44-A439-4729A8F5DE1F}" srcId="{E41A9400-9A5F-4E72-9E91-C40C877CA6CC}" destId="{D324712F-E8A3-4AF8-8401-9FD19C766737}" srcOrd="5" destOrd="0" parTransId="{4A861939-85DF-45EE-BF5E-F4E44DB2B2EB}" sibTransId="{9A094B47-835A-46E9-BBEA-8EBCEFE7BAAF}"/>
    <dgm:cxn modelId="{9B812433-1FFD-472E-8FFB-05D601DCA889}" srcId="{E41A9400-9A5F-4E72-9E91-C40C877CA6CC}" destId="{C1843363-4464-46B2-B5AA-82FD1FB37302}" srcOrd="3" destOrd="0" parTransId="{5615DE45-D757-492D-90E3-F0A092972332}" sibTransId="{C80A4504-AF50-4516-9F66-E5B1FB8DB1A8}"/>
    <dgm:cxn modelId="{CD41E038-A079-48BB-8056-95C35F7176B9}" type="presOf" srcId="{3E124ED5-48D1-44B7-B89E-64451BD46D54}" destId="{D6E0F046-0EEF-43E9-B7D0-291E23BB4843}" srcOrd="1" destOrd="0" presId="urn:microsoft.com/office/officeart/2005/8/layout/process2"/>
    <dgm:cxn modelId="{AA05533B-09DD-4AEF-8C3F-75570D9AE0AC}" type="presOf" srcId="{C80A4504-AF50-4516-9F66-E5B1FB8DB1A8}" destId="{11C9E189-4157-4011-A774-360A14252555}" srcOrd="1" destOrd="0" presId="urn:microsoft.com/office/officeart/2005/8/layout/process2"/>
    <dgm:cxn modelId="{496E1260-44B2-4ECC-AD81-6BC63BD408D9}" srcId="{E41A9400-9A5F-4E72-9E91-C40C877CA6CC}" destId="{5B6CF267-50BE-4CCE-B49C-B587EB849E9C}" srcOrd="2" destOrd="0" parTransId="{75BB40F9-1DE6-4679-81BD-8734F3EAE504}" sibTransId="{9D2FA81A-C8B8-4F22-85A3-43930E42E941}"/>
    <dgm:cxn modelId="{8FBBD844-5F29-46E9-9A33-92DA650A8224}" type="presOf" srcId="{76EC83B7-2E2D-43E8-9EF3-241CD824E314}" destId="{EF607DBE-C13D-4178-9049-5F9E7E2246FF}" srcOrd="1" destOrd="0" presId="urn:microsoft.com/office/officeart/2005/8/layout/process2"/>
    <dgm:cxn modelId="{402EBA49-25D9-4C78-A47E-8618976583DB}" srcId="{E41A9400-9A5F-4E72-9E91-C40C877CA6CC}" destId="{2462F222-51DE-47FC-8339-00D207E41AB9}" srcOrd="0" destOrd="0" parTransId="{1330837A-819C-481C-AA37-10113BE4D53F}" sibTransId="{3E124ED5-48D1-44B7-B89E-64451BD46D54}"/>
    <dgm:cxn modelId="{6BFF0F71-1552-4EBB-8083-67C3D95C5713}" type="presOf" srcId="{2462F222-51DE-47FC-8339-00D207E41AB9}" destId="{1F18D26E-4F8E-4874-A1A2-F33BB45EDC51}" srcOrd="0" destOrd="0" presId="urn:microsoft.com/office/officeart/2005/8/layout/process2"/>
    <dgm:cxn modelId="{D86CAF51-850A-438D-A4EF-2475808BF2F3}" srcId="{E41A9400-9A5F-4E72-9E91-C40C877CA6CC}" destId="{9CE0701D-8450-48F8-8BFF-995D2F24CCB0}" srcOrd="4" destOrd="0" parTransId="{9F8A6767-83D2-4B0D-BDC6-F1CC688CC8F6}" sibTransId="{76EC83B7-2E2D-43E8-9EF3-241CD824E314}"/>
    <dgm:cxn modelId="{B1BBDB52-B7F2-428B-A8DB-2543F219E58F}" type="presOf" srcId="{9D2FA81A-C8B8-4F22-85A3-43930E42E941}" destId="{B237CECC-81B2-4805-A7F0-B139144CDF72}" srcOrd="1" destOrd="0" presId="urn:microsoft.com/office/officeart/2005/8/layout/process2"/>
    <dgm:cxn modelId="{8A8AD473-C034-4C89-BFF7-19786E8465DB}" type="presOf" srcId="{26CF553D-E81D-4F57-9A22-5FCBC1C6AC9C}" destId="{0C48B3AA-DE84-4DD2-8ACA-7A0F5FDA423F}" srcOrd="1" destOrd="0" presId="urn:microsoft.com/office/officeart/2005/8/layout/process2"/>
    <dgm:cxn modelId="{18AEB988-74D3-46B4-AFF5-07FDF0B275FD}" type="presOf" srcId="{6A36997A-F180-480E-82F8-E4027652BEA2}" destId="{C773A12A-A109-469A-8BCB-9DE959E1F137}" srcOrd="0" destOrd="0" presId="urn:microsoft.com/office/officeart/2005/8/layout/process2"/>
    <dgm:cxn modelId="{EE2B429B-1C83-4685-A66F-285C3AE2E252}" type="presOf" srcId="{76EC83B7-2E2D-43E8-9EF3-241CD824E314}" destId="{CAFEFA20-6084-41D5-9105-3176DC227F94}" srcOrd="0" destOrd="0" presId="urn:microsoft.com/office/officeart/2005/8/layout/process2"/>
    <dgm:cxn modelId="{E44F3CB6-E4D6-4B23-88BD-DFD4DBCA11E2}" type="presOf" srcId="{C880A7B8-F6FE-4806-9A35-D551D3E63066}" destId="{A729A8AA-915C-4E26-98F2-0F72DF7183F7}" srcOrd="0" destOrd="0" presId="urn:microsoft.com/office/officeart/2005/8/layout/process2"/>
    <dgm:cxn modelId="{58ED5EBD-6366-417B-8D0E-991A712C00B0}" type="presOf" srcId="{5B6CF267-50BE-4CCE-B49C-B587EB849E9C}" destId="{321D0089-5FB8-4330-BEFE-E003B7AA3599}" srcOrd="0" destOrd="0" presId="urn:microsoft.com/office/officeart/2005/8/layout/process2"/>
    <dgm:cxn modelId="{570921C7-3281-4CA4-AA0C-AE53EFEFB903}" type="presOf" srcId="{9A094B47-835A-46E9-BBEA-8EBCEFE7BAAF}" destId="{AB8D4F91-D915-43B3-8240-2CD3D48D05F9}" srcOrd="1" destOrd="0" presId="urn:microsoft.com/office/officeart/2005/8/layout/process2"/>
    <dgm:cxn modelId="{B657D0D0-A14D-4268-AE29-5F32EF2D244F}" type="presOf" srcId="{9CE0701D-8450-48F8-8BFF-995D2F24CCB0}" destId="{5641FE4E-B32E-4D91-A3D0-48C8E54951C6}" srcOrd="0" destOrd="0" presId="urn:microsoft.com/office/officeart/2005/8/layout/process2"/>
    <dgm:cxn modelId="{4A5EE8D7-92DE-4177-AB3D-C9B756542397}" type="presOf" srcId="{D324712F-E8A3-4AF8-8401-9FD19C766737}" destId="{3ED9235C-8AD0-43F2-B8C6-4C9AE1BDDE7C}" srcOrd="0" destOrd="0" presId="urn:microsoft.com/office/officeart/2005/8/layout/process2"/>
    <dgm:cxn modelId="{540931DC-3FE3-40CA-917A-67591E480094}" type="presOf" srcId="{C80A4504-AF50-4516-9F66-E5B1FB8DB1A8}" destId="{5727E7EE-0012-4C2D-8515-AA168E627A0E}" srcOrd="0" destOrd="0" presId="urn:microsoft.com/office/officeart/2005/8/layout/process2"/>
    <dgm:cxn modelId="{568B2AE3-FF3A-44D7-BB08-8C5B4CBF7E29}" type="presOf" srcId="{9D2FA81A-C8B8-4F22-85A3-43930E42E941}" destId="{A9E95CF8-F0B0-4D4A-9581-1E41A80A7C4F}" srcOrd="0" destOrd="0" presId="urn:microsoft.com/office/officeart/2005/8/layout/process2"/>
    <dgm:cxn modelId="{61A6D7EA-92F1-4252-B251-37F8C8C94CD5}" type="presOf" srcId="{C1843363-4464-46B2-B5AA-82FD1FB37302}" destId="{438BFC95-E7DA-45D0-8E96-FBD89878DDBF}" srcOrd="0" destOrd="0" presId="urn:microsoft.com/office/officeart/2005/8/layout/process2"/>
    <dgm:cxn modelId="{6236B3EC-B952-48DC-A420-A3F1399F217F}" type="presOf" srcId="{26CF553D-E81D-4F57-9A22-5FCBC1C6AC9C}" destId="{4E15359A-F8E3-4B59-87A7-5D7794C3EAF0}" srcOrd="0" destOrd="0" presId="urn:microsoft.com/office/officeart/2005/8/layout/process2"/>
    <dgm:cxn modelId="{5DFDA2F2-F047-482C-AD47-147DD7681B76}" type="presOf" srcId="{E41A9400-9A5F-4E72-9E91-C40C877CA6CC}" destId="{48A0995F-C022-4653-AAD7-72A010DE5643}" srcOrd="0" destOrd="0" presId="urn:microsoft.com/office/officeart/2005/8/layout/process2"/>
    <dgm:cxn modelId="{A948782E-FFF2-4516-8D85-B0FD8692368F}" type="presParOf" srcId="{48A0995F-C022-4653-AAD7-72A010DE5643}" destId="{1F18D26E-4F8E-4874-A1A2-F33BB45EDC51}" srcOrd="0" destOrd="0" presId="urn:microsoft.com/office/officeart/2005/8/layout/process2"/>
    <dgm:cxn modelId="{7BE845DF-3F15-405B-B05A-9E6071B24BB6}" type="presParOf" srcId="{48A0995F-C022-4653-AAD7-72A010DE5643}" destId="{A56AC259-8D51-4774-89F6-E63587B731C0}" srcOrd="1" destOrd="0" presId="urn:microsoft.com/office/officeart/2005/8/layout/process2"/>
    <dgm:cxn modelId="{84CD884F-D3DB-421C-B6A5-10938B2A6682}" type="presParOf" srcId="{A56AC259-8D51-4774-89F6-E63587B731C0}" destId="{D6E0F046-0EEF-43E9-B7D0-291E23BB4843}" srcOrd="0" destOrd="0" presId="urn:microsoft.com/office/officeart/2005/8/layout/process2"/>
    <dgm:cxn modelId="{CD87D108-2073-4D1E-95C8-3D991E8887FC}" type="presParOf" srcId="{48A0995F-C022-4653-AAD7-72A010DE5643}" destId="{C773A12A-A109-469A-8BCB-9DE959E1F137}" srcOrd="2" destOrd="0" presId="urn:microsoft.com/office/officeart/2005/8/layout/process2"/>
    <dgm:cxn modelId="{4B6FF6DF-3BB9-418C-94E7-D8D5D1997116}" type="presParOf" srcId="{48A0995F-C022-4653-AAD7-72A010DE5643}" destId="{4E15359A-F8E3-4B59-87A7-5D7794C3EAF0}" srcOrd="3" destOrd="0" presId="urn:microsoft.com/office/officeart/2005/8/layout/process2"/>
    <dgm:cxn modelId="{B68EB157-B5E4-4BFA-AB00-076CCFCF9D1C}" type="presParOf" srcId="{4E15359A-F8E3-4B59-87A7-5D7794C3EAF0}" destId="{0C48B3AA-DE84-4DD2-8ACA-7A0F5FDA423F}" srcOrd="0" destOrd="0" presId="urn:microsoft.com/office/officeart/2005/8/layout/process2"/>
    <dgm:cxn modelId="{D75E5D31-43EC-41F0-9476-DF74FDA87009}" type="presParOf" srcId="{48A0995F-C022-4653-AAD7-72A010DE5643}" destId="{321D0089-5FB8-4330-BEFE-E003B7AA3599}" srcOrd="4" destOrd="0" presId="urn:microsoft.com/office/officeart/2005/8/layout/process2"/>
    <dgm:cxn modelId="{833DB249-EEDA-4580-B1CD-87D940C95CE3}" type="presParOf" srcId="{48A0995F-C022-4653-AAD7-72A010DE5643}" destId="{A9E95CF8-F0B0-4D4A-9581-1E41A80A7C4F}" srcOrd="5" destOrd="0" presId="urn:microsoft.com/office/officeart/2005/8/layout/process2"/>
    <dgm:cxn modelId="{A07B01E7-CA96-4E9E-85B3-DC7E5C9FDB3B}" type="presParOf" srcId="{A9E95CF8-F0B0-4D4A-9581-1E41A80A7C4F}" destId="{B237CECC-81B2-4805-A7F0-B139144CDF72}" srcOrd="0" destOrd="0" presId="urn:microsoft.com/office/officeart/2005/8/layout/process2"/>
    <dgm:cxn modelId="{63E57C1E-D591-4B0F-A51E-55BE55C21CB3}" type="presParOf" srcId="{48A0995F-C022-4653-AAD7-72A010DE5643}" destId="{438BFC95-E7DA-45D0-8E96-FBD89878DDBF}" srcOrd="6" destOrd="0" presId="urn:microsoft.com/office/officeart/2005/8/layout/process2"/>
    <dgm:cxn modelId="{AC6C7FA9-5379-4C1C-A2F0-EA4C8AC83123}" type="presParOf" srcId="{48A0995F-C022-4653-AAD7-72A010DE5643}" destId="{5727E7EE-0012-4C2D-8515-AA168E627A0E}" srcOrd="7" destOrd="0" presId="urn:microsoft.com/office/officeart/2005/8/layout/process2"/>
    <dgm:cxn modelId="{55865921-A620-42EF-988C-1A1441553FB4}" type="presParOf" srcId="{5727E7EE-0012-4C2D-8515-AA168E627A0E}" destId="{11C9E189-4157-4011-A774-360A14252555}" srcOrd="0" destOrd="0" presId="urn:microsoft.com/office/officeart/2005/8/layout/process2"/>
    <dgm:cxn modelId="{98B4756D-B709-455D-8574-D3626BAAE6BA}" type="presParOf" srcId="{48A0995F-C022-4653-AAD7-72A010DE5643}" destId="{5641FE4E-B32E-4D91-A3D0-48C8E54951C6}" srcOrd="8" destOrd="0" presId="urn:microsoft.com/office/officeart/2005/8/layout/process2"/>
    <dgm:cxn modelId="{8978E47F-62E3-43EC-92A2-F97FB9A5261B}" type="presParOf" srcId="{48A0995F-C022-4653-AAD7-72A010DE5643}" destId="{CAFEFA20-6084-41D5-9105-3176DC227F94}" srcOrd="9" destOrd="0" presId="urn:microsoft.com/office/officeart/2005/8/layout/process2"/>
    <dgm:cxn modelId="{C01F5BAC-CB12-4745-9495-FADC980711F2}" type="presParOf" srcId="{CAFEFA20-6084-41D5-9105-3176DC227F94}" destId="{EF607DBE-C13D-4178-9049-5F9E7E2246FF}" srcOrd="0" destOrd="0" presId="urn:microsoft.com/office/officeart/2005/8/layout/process2"/>
    <dgm:cxn modelId="{6F36F394-481B-4876-9501-4C38BC282FD0}" type="presParOf" srcId="{48A0995F-C022-4653-AAD7-72A010DE5643}" destId="{3ED9235C-8AD0-43F2-B8C6-4C9AE1BDDE7C}" srcOrd="10" destOrd="0" presId="urn:microsoft.com/office/officeart/2005/8/layout/process2"/>
    <dgm:cxn modelId="{157ABBCB-CEE5-444D-9590-E2DBF5546542}" type="presParOf" srcId="{48A0995F-C022-4653-AAD7-72A010DE5643}" destId="{D83B1AB3-D20F-4233-A989-DCAAA619A9C1}" srcOrd="11" destOrd="0" presId="urn:microsoft.com/office/officeart/2005/8/layout/process2"/>
    <dgm:cxn modelId="{9B4B03AE-ED29-48C0-ADC9-CF8EFB5CA2FE}" type="presParOf" srcId="{D83B1AB3-D20F-4233-A989-DCAAA619A9C1}" destId="{AB8D4F91-D915-43B3-8240-2CD3D48D05F9}" srcOrd="0" destOrd="0" presId="urn:microsoft.com/office/officeart/2005/8/layout/process2"/>
    <dgm:cxn modelId="{E02222A7-7A62-4152-914D-630B67E5AA35}" type="presParOf" srcId="{48A0995F-C022-4653-AAD7-72A010DE5643}" destId="{A729A8AA-915C-4E26-98F2-0F72DF7183F7}" srcOrd="12"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AF2A24-1859-4F47-9708-93FA5684084C}" type="doc">
      <dgm:prSet loTypeId="urn:microsoft.com/office/officeart/2005/8/layout/default" loCatId="list" qsTypeId="urn:microsoft.com/office/officeart/2005/8/quickstyle/simple1" qsCatId="simple" csTypeId="urn:microsoft.com/office/officeart/2005/8/colors/accent3_2" csCatId="accent3" phldr="1"/>
      <dgm:spPr/>
      <dgm:t>
        <a:bodyPr/>
        <a:lstStyle/>
        <a:p>
          <a:endParaRPr lang="en-US"/>
        </a:p>
      </dgm:t>
    </dgm:pt>
    <dgm:pt modelId="{AB1A42D3-236E-4732-9C71-1CABD9B95E46}">
      <dgm:prSet phldrT="[Text]" custT="1"/>
      <dgm:spPr/>
      <dgm:t>
        <a:bodyPr/>
        <a:lstStyle/>
        <a:p>
          <a:r>
            <a:rPr lang="en-US" sz="1300">
              <a:solidFill>
                <a:schemeClr val="tx1"/>
              </a:solidFill>
            </a:rPr>
            <a:t>Board governance strengthening</a:t>
          </a:r>
        </a:p>
      </dgm:t>
    </dgm:pt>
    <dgm:pt modelId="{5ABEEBF7-D845-48FE-9E29-CDDFB07EF089}" type="parTrans" cxnId="{C120204B-E77E-40A9-9954-E78CAF199916}">
      <dgm:prSet/>
      <dgm:spPr/>
      <dgm:t>
        <a:bodyPr/>
        <a:lstStyle/>
        <a:p>
          <a:endParaRPr lang="en-US" sz="1300">
            <a:solidFill>
              <a:schemeClr val="tx1"/>
            </a:solidFill>
          </a:endParaRPr>
        </a:p>
      </dgm:t>
    </dgm:pt>
    <dgm:pt modelId="{D15C42E6-113F-464E-BD7D-BA9884C5DC13}" type="sibTrans" cxnId="{C120204B-E77E-40A9-9954-E78CAF199916}">
      <dgm:prSet/>
      <dgm:spPr/>
      <dgm:t>
        <a:bodyPr/>
        <a:lstStyle/>
        <a:p>
          <a:endParaRPr lang="en-US" sz="1300">
            <a:solidFill>
              <a:schemeClr val="tx1"/>
            </a:solidFill>
          </a:endParaRPr>
        </a:p>
      </dgm:t>
    </dgm:pt>
    <dgm:pt modelId="{C732E65B-1846-43D0-8822-F99A8C362789}">
      <dgm:prSet phldrT="[Text]" custT="1"/>
      <dgm:spPr/>
      <dgm:t>
        <a:bodyPr/>
        <a:lstStyle/>
        <a:p>
          <a:r>
            <a:rPr lang="en-US" sz="1300">
              <a:solidFill>
                <a:schemeClr val="tx1"/>
              </a:solidFill>
            </a:rPr>
            <a:t>Human Resources management</a:t>
          </a:r>
        </a:p>
      </dgm:t>
    </dgm:pt>
    <dgm:pt modelId="{8A774A13-B69C-4C1D-A065-69FBFC26433B}" type="parTrans" cxnId="{3AB8A224-4AE9-48D7-8904-DD17741981F2}">
      <dgm:prSet/>
      <dgm:spPr/>
      <dgm:t>
        <a:bodyPr/>
        <a:lstStyle/>
        <a:p>
          <a:endParaRPr lang="en-US" sz="1300">
            <a:solidFill>
              <a:schemeClr val="tx1"/>
            </a:solidFill>
          </a:endParaRPr>
        </a:p>
      </dgm:t>
    </dgm:pt>
    <dgm:pt modelId="{A68D22DE-E201-40E6-9A9E-6C42E56D1BA9}" type="sibTrans" cxnId="{3AB8A224-4AE9-48D7-8904-DD17741981F2}">
      <dgm:prSet/>
      <dgm:spPr/>
      <dgm:t>
        <a:bodyPr/>
        <a:lstStyle/>
        <a:p>
          <a:endParaRPr lang="en-US" sz="1300">
            <a:solidFill>
              <a:schemeClr val="tx1"/>
            </a:solidFill>
          </a:endParaRPr>
        </a:p>
      </dgm:t>
    </dgm:pt>
    <dgm:pt modelId="{6662520A-4424-4980-BEEF-2A28F3D21CDE}">
      <dgm:prSet phldrT="[Text]" custT="1"/>
      <dgm:spPr/>
      <dgm:t>
        <a:bodyPr/>
        <a:lstStyle/>
        <a:p>
          <a:r>
            <a:rPr lang="en-US" sz="1300">
              <a:solidFill>
                <a:schemeClr val="tx1"/>
              </a:solidFill>
            </a:rPr>
            <a:t>Financial management</a:t>
          </a:r>
        </a:p>
      </dgm:t>
    </dgm:pt>
    <dgm:pt modelId="{7C8B8108-13FE-4C2A-926A-9912AF742150}" type="parTrans" cxnId="{9544B147-E754-4D54-A0CA-6ED3CEC280DD}">
      <dgm:prSet/>
      <dgm:spPr/>
      <dgm:t>
        <a:bodyPr/>
        <a:lstStyle/>
        <a:p>
          <a:endParaRPr lang="en-US" sz="1300">
            <a:solidFill>
              <a:schemeClr val="tx1"/>
            </a:solidFill>
          </a:endParaRPr>
        </a:p>
      </dgm:t>
    </dgm:pt>
    <dgm:pt modelId="{D33A818B-2576-4787-8F8B-4849A44F6F31}" type="sibTrans" cxnId="{9544B147-E754-4D54-A0CA-6ED3CEC280DD}">
      <dgm:prSet/>
      <dgm:spPr/>
      <dgm:t>
        <a:bodyPr/>
        <a:lstStyle/>
        <a:p>
          <a:endParaRPr lang="en-US" sz="1300">
            <a:solidFill>
              <a:schemeClr val="tx1"/>
            </a:solidFill>
          </a:endParaRPr>
        </a:p>
      </dgm:t>
    </dgm:pt>
    <dgm:pt modelId="{276C79EE-648E-4B77-9A7B-8537CCD9530D}">
      <dgm:prSet phldrT="[Text]" custT="1"/>
      <dgm:spPr/>
      <dgm:t>
        <a:bodyPr/>
        <a:lstStyle/>
        <a:p>
          <a:r>
            <a:rPr lang="en-US" sz="1300" dirty="0">
              <a:solidFill>
                <a:schemeClr val="tx1"/>
              </a:solidFill>
            </a:rPr>
            <a:t>Procurement and inventory management</a:t>
          </a:r>
        </a:p>
      </dgm:t>
    </dgm:pt>
    <dgm:pt modelId="{ADCB46B2-5862-4674-BA51-57AD2957D1B1}" type="parTrans" cxnId="{BC92A149-AB63-442C-9147-8AA30F7C5C2D}">
      <dgm:prSet/>
      <dgm:spPr/>
      <dgm:t>
        <a:bodyPr/>
        <a:lstStyle/>
        <a:p>
          <a:endParaRPr lang="en-US" sz="1300">
            <a:solidFill>
              <a:schemeClr val="tx1"/>
            </a:solidFill>
          </a:endParaRPr>
        </a:p>
      </dgm:t>
    </dgm:pt>
    <dgm:pt modelId="{BD73AA4A-B839-40F7-908A-71B0645B5AD9}" type="sibTrans" cxnId="{BC92A149-AB63-442C-9147-8AA30F7C5C2D}">
      <dgm:prSet/>
      <dgm:spPr/>
      <dgm:t>
        <a:bodyPr/>
        <a:lstStyle/>
        <a:p>
          <a:endParaRPr lang="en-US" sz="1300">
            <a:solidFill>
              <a:schemeClr val="tx1"/>
            </a:solidFill>
          </a:endParaRPr>
        </a:p>
      </dgm:t>
    </dgm:pt>
    <dgm:pt modelId="{4DE6C107-0D98-4407-8F42-8FAFBE1C9ADE}">
      <dgm:prSet phldrT="[Text]" custT="1"/>
      <dgm:spPr/>
      <dgm:t>
        <a:bodyPr/>
        <a:lstStyle/>
        <a:p>
          <a:r>
            <a:rPr lang="en-US" sz="1300">
              <a:solidFill>
                <a:schemeClr val="tx1"/>
              </a:solidFill>
            </a:rPr>
            <a:t>Regulatory and commercial affairs, single buyer activities</a:t>
          </a:r>
        </a:p>
      </dgm:t>
    </dgm:pt>
    <dgm:pt modelId="{5EBD799A-8893-4016-8AD1-3A5DD12615FC}" type="parTrans" cxnId="{03BB9317-3095-4D27-B394-9DAD3DAAAEB4}">
      <dgm:prSet/>
      <dgm:spPr/>
      <dgm:t>
        <a:bodyPr/>
        <a:lstStyle/>
        <a:p>
          <a:endParaRPr lang="en-US" sz="1300">
            <a:solidFill>
              <a:schemeClr val="tx1"/>
            </a:solidFill>
          </a:endParaRPr>
        </a:p>
      </dgm:t>
    </dgm:pt>
    <dgm:pt modelId="{AEE8A802-B9AA-491A-91CD-D791A0F9E5C2}" type="sibTrans" cxnId="{03BB9317-3095-4D27-B394-9DAD3DAAAEB4}">
      <dgm:prSet/>
      <dgm:spPr/>
      <dgm:t>
        <a:bodyPr/>
        <a:lstStyle/>
        <a:p>
          <a:endParaRPr lang="en-US" sz="1300">
            <a:solidFill>
              <a:schemeClr val="tx1"/>
            </a:solidFill>
          </a:endParaRPr>
        </a:p>
      </dgm:t>
    </dgm:pt>
    <dgm:pt modelId="{773BC39F-6CC3-420B-9EB4-0A9CC5C278B0}">
      <dgm:prSet phldrT="[Text]" custT="1"/>
      <dgm:spPr/>
      <dgm:t>
        <a:bodyPr/>
        <a:lstStyle/>
        <a:p>
          <a:r>
            <a:rPr lang="en-US" sz="1300">
              <a:solidFill>
                <a:schemeClr val="tx1"/>
              </a:solidFill>
            </a:rPr>
            <a:t>ICT strategy and implementation</a:t>
          </a:r>
        </a:p>
      </dgm:t>
    </dgm:pt>
    <dgm:pt modelId="{56ACA1B1-7A34-4930-A0EF-C4CEB4684173}" type="parTrans" cxnId="{68D5279E-CB4B-42B2-9BEF-C9E655AA3A28}">
      <dgm:prSet/>
      <dgm:spPr/>
      <dgm:t>
        <a:bodyPr/>
        <a:lstStyle/>
        <a:p>
          <a:endParaRPr lang="en-US" sz="1300">
            <a:solidFill>
              <a:schemeClr val="tx1"/>
            </a:solidFill>
          </a:endParaRPr>
        </a:p>
      </dgm:t>
    </dgm:pt>
    <dgm:pt modelId="{F33509CD-B30D-4EA3-8F71-51A3CA69965B}" type="sibTrans" cxnId="{68D5279E-CB4B-42B2-9BEF-C9E655AA3A28}">
      <dgm:prSet/>
      <dgm:spPr/>
      <dgm:t>
        <a:bodyPr/>
        <a:lstStyle/>
        <a:p>
          <a:endParaRPr lang="en-US" sz="1300">
            <a:solidFill>
              <a:schemeClr val="tx1"/>
            </a:solidFill>
          </a:endParaRPr>
        </a:p>
      </dgm:t>
    </dgm:pt>
    <dgm:pt modelId="{CC61E34A-36EA-4A37-8FB6-5D33D3E97B36}">
      <dgm:prSet phldrT="[Text]" custT="1"/>
      <dgm:spPr/>
      <dgm:t>
        <a:bodyPr/>
        <a:lstStyle/>
        <a:p>
          <a:r>
            <a:rPr lang="en-US" sz="1300" dirty="0">
              <a:solidFill>
                <a:schemeClr val="tx1"/>
              </a:solidFill>
            </a:rPr>
            <a:t>Generation strengthening and Power plant asset management (O&amp;M Service Company)</a:t>
          </a:r>
        </a:p>
      </dgm:t>
    </dgm:pt>
    <dgm:pt modelId="{C8DC4B55-DDC8-4AD6-96B0-5934E06C0E96}" type="parTrans" cxnId="{ECE45EA9-AEA7-40D5-9EC2-79FFEF9EE48D}">
      <dgm:prSet/>
      <dgm:spPr/>
      <dgm:t>
        <a:bodyPr/>
        <a:lstStyle/>
        <a:p>
          <a:endParaRPr lang="en-US" sz="1300">
            <a:solidFill>
              <a:schemeClr val="tx1"/>
            </a:solidFill>
          </a:endParaRPr>
        </a:p>
      </dgm:t>
    </dgm:pt>
    <dgm:pt modelId="{C182EFD8-302F-4785-8B5F-3AEC35180F42}" type="sibTrans" cxnId="{ECE45EA9-AEA7-40D5-9EC2-79FFEF9EE48D}">
      <dgm:prSet/>
      <dgm:spPr/>
      <dgm:t>
        <a:bodyPr/>
        <a:lstStyle/>
        <a:p>
          <a:endParaRPr lang="en-US" sz="1300">
            <a:solidFill>
              <a:schemeClr val="tx1"/>
            </a:solidFill>
          </a:endParaRPr>
        </a:p>
      </dgm:t>
    </dgm:pt>
    <dgm:pt modelId="{15549452-D982-4085-B1CC-6DC9893CB1D8}">
      <dgm:prSet phldrT="[Text]" custT="1"/>
      <dgm:spPr/>
      <dgm:t>
        <a:bodyPr/>
        <a:lstStyle/>
        <a:p>
          <a:r>
            <a:rPr lang="en-US" sz="1300">
              <a:solidFill>
                <a:schemeClr val="tx1"/>
              </a:solidFill>
            </a:rPr>
            <a:t>Performance monitoring, review and management</a:t>
          </a:r>
        </a:p>
      </dgm:t>
    </dgm:pt>
    <dgm:pt modelId="{1D5AEDB9-9A81-4AA9-85ED-ABF81C7FA53A}" type="parTrans" cxnId="{23AAF5F2-1DC9-4E17-9F4E-CF55A26F3A73}">
      <dgm:prSet/>
      <dgm:spPr/>
      <dgm:t>
        <a:bodyPr/>
        <a:lstStyle/>
        <a:p>
          <a:endParaRPr lang="en-US" sz="1300">
            <a:solidFill>
              <a:schemeClr val="tx1"/>
            </a:solidFill>
          </a:endParaRPr>
        </a:p>
      </dgm:t>
    </dgm:pt>
    <dgm:pt modelId="{00888160-2E4C-4391-8E0A-BA1EB0371636}" type="sibTrans" cxnId="{23AAF5F2-1DC9-4E17-9F4E-CF55A26F3A73}">
      <dgm:prSet/>
      <dgm:spPr/>
      <dgm:t>
        <a:bodyPr/>
        <a:lstStyle/>
        <a:p>
          <a:endParaRPr lang="en-US" sz="1300">
            <a:solidFill>
              <a:schemeClr val="tx1"/>
            </a:solidFill>
          </a:endParaRPr>
        </a:p>
      </dgm:t>
    </dgm:pt>
    <dgm:pt modelId="{9708FFE9-4EA9-4F62-8B65-09EA5244DA2D}">
      <dgm:prSet phldrT="[Text]" custT="1"/>
      <dgm:spPr/>
      <dgm:t>
        <a:bodyPr/>
        <a:lstStyle/>
        <a:p>
          <a:r>
            <a:rPr lang="en-US" sz="1300">
              <a:solidFill>
                <a:schemeClr val="tx1"/>
              </a:solidFill>
            </a:rPr>
            <a:t>Risk management</a:t>
          </a:r>
        </a:p>
      </dgm:t>
    </dgm:pt>
    <dgm:pt modelId="{B78DAC13-9C8E-4160-8A79-0345EB39973C}" type="parTrans" cxnId="{9207961B-435B-4471-9FE2-F31C4DC53AC8}">
      <dgm:prSet/>
      <dgm:spPr/>
      <dgm:t>
        <a:bodyPr/>
        <a:lstStyle/>
        <a:p>
          <a:endParaRPr lang="en-US" sz="1300">
            <a:solidFill>
              <a:schemeClr val="tx1"/>
            </a:solidFill>
          </a:endParaRPr>
        </a:p>
      </dgm:t>
    </dgm:pt>
    <dgm:pt modelId="{31A8831B-C64E-44E3-9FC8-7B97CD6ACBCE}" type="sibTrans" cxnId="{9207961B-435B-4471-9FE2-F31C4DC53AC8}">
      <dgm:prSet/>
      <dgm:spPr/>
      <dgm:t>
        <a:bodyPr/>
        <a:lstStyle/>
        <a:p>
          <a:endParaRPr lang="en-US" sz="1300">
            <a:solidFill>
              <a:schemeClr val="tx1"/>
            </a:solidFill>
          </a:endParaRPr>
        </a:p>
      </dgm:t>
    </dgm:pt>
    <dgm:pt modelId="{59D50389-ABD6-4180-9E42-D220EF7B70F0}">
      <dgm:prSet phldrT="[Text]" custT="1"/>
      <dgm:spPr/>
      <dgm:t>
        <a:bodyPr/>
        <a:lstStyle/>
        <a:p>
          <a:r>
            <a:rPr lang="en-US" sz="1300">
              <a:solidFill>
                <a:schemeClr val="tx1"/>
              </a:solidFill>
            </a:rPr>
            <a:t>Communication strategy</a:t>
          </a:r>
        </a:p>
      </dgm:t>
    </dgm:pt>
    <dgm:pt modelId="{16254677-6F54-4F8B-98D5-81A297B48A0E}" type="parTrans" cxnId="{279A418F-F8F6-4553-B003-1193B4BF2A42}">
      <dgm:prSet/>
      <dgm:spPr/>
      <dgm:t>
        <a:bodyPr/>
        <a:lstStyle/>
        <a:p>
          <a:endParaRPr lang="en-US" sz="1300">
            <a:solidFill>
              <a:schemeClr val="tx1"/>
            </a:solidFill>
          </a:endParaRPr>
        </a:p>
      </dgm:t>
    </dgm:pt>
    <dgm:pt modelId="{6A539DFC-EB7F-478A-9726-86287BFBD18F}" type="sibTrans" cxnId="{279A418F-F8F6-4553-B003-1193B4BF2A42}">
      <dgm:prSet/>
      <dgm:spPr/>
      <dgm:t>
        <a:bodyPr/>
        <a:lstStyle/>
        <a:p>
          <a:endParaRPr lang="en-US" sz="1300">
            <a:solidFill>
              <a:schemeClr val="tx1"/>
            </a:solidFill>
          </a:endParaRPr>
        </a:p>
      </dgm:t>
    </dgm:pt>
    <dgm:pt modelId="{64413531-4C72-4D47-A7D3-6BFC48DAC977}">
      <dgm:prSet phldrT="[Text]" custT="1"/>
      <dgm:spPr/>
      <dgm:t>
        <a:bodyPr/>
        <a:lstStyle/>
        <a:p>
          <a:r>
            <a:rPr lang="en-US" sz="1300" dirty="0">
              <a:solidFill>
                <a:schemeClr val="tx1"/>
              </a:solidFill>
            </a:rPr>
            <a:t>Corporate planning &amp; strategy, System planning, Project planning and management</a:t>
          </a:r>
        </a:p>
      </dgm:t>
    </dgm:pt>
    <dgm:pt modelId="{59198870-29BC-440B-9D93-EA93C60B7581}" type="parTrans" cxnId="{E42C8850-1EC8-49E9-A514-2D948170E887}">
      <dgm:prSet/>
      <dgm:spPr/>
      <dgm:t>
        <a:bodyPr/>
        <a:lstStyle/>
        <a:p>
          <a:endParaRPr lang="en-US" sz="1300">
            <a:solidFill>
              <a:schemeClr val="tx1"/>
            </a:solidFill>
          </a:endParaRPr>
        </a:p>
      </dgm:t>
    </dgm:pt>
    <dgm:pt modelId="{DD232A09-2ED7-4890-8314-B935F29E1843}" type="sibTrans" cxnId="{E42C8850-1EC8-49E9-A514-2D948170E887}">
      <dgm:prSet/>
      <dgm:spPr/>
      <dgm:t>
        <a:bodyPr/>
        <a:lstStyle/>
        <a:p>
          <a:endParaRPr lang="en-US" sz="1300">
            <a:solidFill>
              <a:schemeClr val="tx1"/>
            </a:solidFill>
          </a:endParaRPr>
        </a:p>
      </dgm:t>
    </dgm:pt>
    <dgm:pt modelId="{C38990F9-E07C-47B8-BB6F-FC5AA0C1B80A}">
      <dgm:prSet phldrT="[Text]" custT="1"/>
      <dgm:spPr/>
      <dgm:t>
        <a:bodyPr/>
        <a:lstStyle/>
        <a:p>
          <a:r>
            <a:rPr lang="en-US" sz="1300" dirty="0">
              <a:solidFill>
                <a:schemeClr val="tx1"/>
              </a:solidFill>
            </a:rPr>
            <a:t>Distribution strengthening</a:t>
          </a:r>
        </a:p>
      </dgm:t>
    </dgm:pt>
    <dgm:pt modelId="{D22A119A-3413-4FAA-BBAA-D9A37CE62A41}" type="parTrans" cxnId="{1CE24BCF-8E26-474D-90B0-826D852DB163}">
      <dgm:prSet/>
      <dgm:spPr/>
      <dgm:t>
        <a:bodyPr/>
        <a:lstStyle/>
        <a:p>
          <a:endParaRPr lang="en-US"/>
        </a:p>
      </dgm:t>
    </dgm:pt>
    <dgm:pt modelId="{216E04C4-F513-4361-9505-433412AD65DC}" type="sibTrans" cxnId="{1CE24BCF-8E26-474D-90B0-826D852DB163}">
      <dgm:prSet/>
      <dgm:spPr/>
      <dgm:t>
        <a:bodyPr/>
        <a:lstStyle/>
        <a:p>
          <a:endParaRPr lang="en-US"/>
        </a:p>
      </dgm:t>
    </dgm:pt>
    <dgm:pt modelId="{63847764-AE21-4987-842D-E75317703830}" type="pres">
      <dgm:prSet presAssocID="{CCAF2A24-1859-4F47-9708-93FA5684084C}" presName="diagram" presStyleCnt="0">
        <dgm:presLayoutVars>
          <dgm:dir/>
          <dgm:resizeHandles val="exact"/>
        </dgm:presLayoutVars>
      </dgm:prSet>
      <dgm:spPr/>
    </dgm:pt>
    <dgm:pt modelId="{23BA1B08-5E0D-4A9B-9DF2-A351D1BB6F79}" type="pres">
      <dgm:prSet presAssocID="{AB1A42D3-236E-4732-9C71-1CABD9B95E46}" presName="node" presStyleLbl="node1" presStyleIdx="0" presStyleCnt="12">
        <dgm:presLayoutVars>
          <dgm:bulletEnabled val="1"/>
        </dgm:presLayoutVars>
      </dgm:prSet>
      <dgm:spPr/>
    </dgm:pt>
    <dgm:pt modelId="{0A612F82-4C33-44AD-AC44-92E529B1FD68}" type="pres">
      <dgm:prSet presAssocID="{D15C42E6-113F-464E-BD7D-BA9884C5DC13}" presName="sibTrans" presStyleCnt="0"/>
      <dgm:spPr/>
    </dgm:pt>
    <dgm:pt modelId="{7F969569-AD5E-4D2E-B106-A28C8BB98309}" type="pres">
      <dgm:prSet presAssocID="{C732E65B-1846-43D0-8822-F99A8C362789}" presName="node" presStyleLbl="node1" presStyleIdx="1" presStyleCnt="12">
        <dgm:presLayoutVars>
          <dgm:bulletEnabled val="1"/>
        </dgm:presLayoutVars>
      </dgm:prSet>
      <dgm:spPr/>
    </dgm:pt>
    <dgm:pt modelId="{5CE6EF33-4CE4-4C0D-ACB4-6F3A50FC1777}" type="pres">
      <dgm:prSet presAssocID="{A68D22DE-E201-40E6-9A9E-6C42E56D1BA9}" presName="sibTrans" presStyleCnt="0"/>
      <dgm:spPr/>
    </dgm:pt>
    <dgm:pt modelId="{462AFA1F-7BB1-463A-8D73-864833296565}" type="pres">
      <dgm:prSet presAssocID="{6662520A-4424-4980-BEEF-2A28F3D21CDE}" presName="node" presStyleLbl="node1" presStyleIdx="2" presStyleCnt="12">
        <dgm:presLayoutVars>
          <dgm:bulletEnabled val="1"/>
        </dgm:presLayoutVars>
      </dgm:prSet>
      <dgm:spPr/>
    </dgm:pt>
    <dgm:pt modelId="{588515A9-6BCA-4447-899C-DDAEF2389218}" type="pres">
      <dgm:prSet presAssocID="{D33A818B-2576-4787-8F8B-4849A44F6F31}" presName="sibTrans" presStyleCnt="0"/>
      <dgm:spPr/>
    </dgm:pt>
    <dgm:pt modelId="{BEB89499-165E-4178-B139-2BA4BDCEA5BB}" type="pres">
      <dgm:prSet presAssocID="{64413531-4C72-4D47-A7D3-6BFC48DAC977}" presName="node" presStyleLbl="node1" presStyleIdx="3" presStyleCnt="12">
        <dgm:presLayoutVars>
          <dgm:bulletEnabled val="1"/>
        </dgm:presLayoutVars>
      </dgm:prSet>
      <dgm:spPr/>
    </dgm:pt>
    <dgm:pt modelId="{EF25C2CE-B9A0-45E0-9B7D-9F30F2A6919F}" type="pres">
      <dgm:prSet presAssocID="{DD232A09-2ED7-4890-8314-B935F29E1843}" presName="sibTrans" presStyleCnt="0"/>
      <dgm:spPr/>
    </dgm:pt>
    <dgm:pt modelId="{3DA23E8E-C207-480E-996B-433732568463}" type="pres">
      <dgm:prSet presAssocID="{276C79EE-648E-4B77-9A7B-8537CCD9530D}" presName="node" presStyleLbl="node1" presStyleIdx="4" presStyleCnt="12">
        <dgm:presLayoutVars>
          <dgm:bulletEnabled val="1"/>
        </dgm:presLayoutVars>
      </dgm:prSet>
      <dgm:spPr/>
    </dgm:pt>
    <dgm:pt modelId="{6EAE1C4F-87B9-4FEA-BA42-77BAAD691E20}" type="pres">
      <dgm:prSet presAssocID="{BD73AA4A-B839-40F7-908A-71B0645B5AD9}" presName="sibTrans" presStyleCnt="0"/>
      <dgm:spPr/>
    </dgm:pt>
    <dgm:pt modelId="{957026A7-FB1D-4472-A6A4-4B3424FC3664}" type="pres">
      <dgm:prSet presAssocID="{4DE6C107-0D98-4407-8F42-8FAFBE1C9ADE}" presName="node" presStyleLbl="node1" presStyleIdx="5" presStyleCnt="12">
        <dgm:presLayoutVars>
          <dgm:bulletEnabled val="1"/>
        </dgm:presLayoutVars>
      </dgm:prSet>
      <dgm:spPr/>
    </dgm:pt>
    <dgm:pt modelId="{6DEDEA90-9D7A-4CEE-8F4F-483C9093E4DE}" type="pres">
      <dgm:prSet presAssocID="{AEE8A802-B9AA-491A-91CD-D791A0F9E5C2}" presName="sibTrans" presStyleCnt="0"/>
      <dgm:spPr/>
    </dgm:pt>
    <dgm:pt modelId="{D2E1B05A-444D-4687-983F-1BBA60B822A9}" type="pres">
      <dgm:prSet presAssocID="{773BC39F-6CC3-420B-9EB4-0A9CC5C278B0}" presName="node" presStyleLbl="node1" presStyleIdx="6" presStyleCnt="12">
        <dgm:presLayoutVars>
          <dgm:bulletEnabled val="1"/>
        </dgm:presLayoutVars>
      </dgm:prSet>
      <dgm:spPr/>
    </dgm:pt>
    <dgm:pt modelId="{0F374B88-E944-4E0D-BC12-FBBF63EAE671}" type="pres">
      <dgm:prSet presAssocID="{F33509CD-B30D-4EA3-8F71-51A3CA69965B}" presName="sibTrans" presStyleCnt="0"/>
      <dgm:spPr/>
    </dgm:pt>
    <dgm:pt modelId="{DAECE9FB-03EC-42A8-B156-374BA5FA8B5C}" type="pres">
      <dgm:prSet presAssocID="{CC61E34A-36EA-4A37-8FB6-5D33D3E97B36}" presName="node" presStyleLbl="node1" presStyleIdx="7" presStyleCnt="12">
        <dgm:presLayoutVars>
          <dgm:bulletEnabled val="1"/>
        </dgm:presLayoutVars>
      </dgm:prSet>
      <dgm:spPr/>
    </dgm:pt>
    <dgm:pt modelId="{03ABA1BC-00BC-4423-9CCB-0CA6B289D23D}" type="pres">
      <dgm:prSet presAssocID="{C182EFD8-302F-4785-8B5F-3AEC35180F42}" presName="sibTrans" presStyleCnt="0"/>
      <dgm:spPr/>
    </dgm:pt>
    <dgm:pt modelId="{624F4F8B-B7F1-44FB-B442-29256FFD58EE}" type="pres">
      <dgm:prSet presAssocID="{C38990F9-E07C-47B8-BB6F-FC5AA0C1B80A}" presName="node" presStyleLbl="node1" presStyleIdx="8" presStyleCnt="12">
        <dgm:presLayoutVars>
          <dgm:bulletEnabled val="1"/>
        </dgm:presLayoutVars>
      </dgm:prSet>
      <dgm:spPr/>
    </dgm:pt>
    <dgm:pt modelId="{9077F333-EB27-4DF6-89DC-D97C5C90F345}" type="pres">
      <dgm:prSet presAssocID="{216E04C4-F513-4361-9505-433412AD65DC}" presName="sibTrans" presStyleCnt="0"/>
      <dgm:spPr/>
    </dgm:pt>
    <dgm:pt modelId="{DA5117DF-7D77-4F35-8832-1849EBDF0B73}" type="pres">
      <dgm:prSet presAssocID="{15549452-D982-4085-B1CC-6DC9893CB1D8}" presName="node" presStyleLbl="node1" presStyleIdx="9" presStyleCnt="12">
        <dgm:presLayoutVars>
          <dgm:bulletEnabled val="1"/>
        </dgm:presLayoutVars>
      </dgm:prSet>
      <dgm:spPr/>
    </dgm:pt>
    <dgm:pt modelId="{5CEAEF12-28C4-4372-8E1B-6D06077C8509}" type="pres">
      <dgm:prSet presAssocID="{00888160-2E4C-4391-8E0A-BA1EB0371636}" presName="sibTrans" presStyleCnt="0"/>
      <dgm:spPr/>
    </dgm:pt>
    <dgm:pt modelId="{1791DDD2-6636-439A-A6C4-D6763B23BDFE}" type="pres">
      <dgm:prSet presAssocID="{9708FFE9-4EA9-4F62-8B65-09EA5244DA2D}" presName="node" presStyleLbl="node1" presStyleIdx="10" presStyleCnt="12">
        <dgm:presLayoutVars>
          <dgm:bulletEnabled val="1"/>
        </dgm:presLayoutVars>
      </dgm:prSet>
      <dgm:spPr/>
    </dgm:pt>
    <dgm:pt modelId="{9A4A824F-BE71-458A-A3D5-30387A81FD16}" type="pres">
      <dgm:prSet presAssocID="{31A8831B-C64E-44E3-9FC8-7B97CD6ACBCE}" presName="sibTrans" presStyleCnt="0"/>
      <dgm:spPr/>
    </dgm:pt>
    <dgm:pt modelId="{5D492A6D-1FFA-4715-84F5-0EB247D7EBE5}" type="pres">
      <dgm:prSet presAssocID="{59D50389-ABD6-4180-9E42-D220EF7B70F0}" presName="node" presStyleLbl="node1" presStyleIdx="11" presStyleCnt="12">
        <dgm:presLayoutVars>
          <dgm:bulletEnabled val="1"/>
        </dgm:presLayoutVars>
      </dgm:prSet>
      <dgm:spPr/>
    </dgm:pt>
  </dgm:ptLst>
  <dgm:cxnLst>
    <dgm:cxn modelId="{03BB9317-3095-4D27-B394-9DAD3DAAAEB4}" srcId="{CCAF2A24-1859-4F47-9708-93FA5684084C}" destId="{4DE6C107-0D98-4407-8F42-8FAFBE1C9ADE}" srcOrd="5" destOrd="0" parTransId="{5EBD799A-8893-4016-8AD1-3A5DD12615FC}" sibTransId="{AEE8A802-B9AA-491A-91CD-D791A0F9E5C2}"/>
    <dgm:cxn modelId="{9207961B-435B-4471-9FE2-F31C4DC53AC8}" srcId="{CCAF2A24-1859-4F47-9708-93FA5684084C}" destId="{9708FFE9-4EA9-4F62-8B65-09EA5244DA2D}" srcOrd="10" destOrd="0" parTransId="{B78DAC13-9C8E-4160-8A79-0345EB39973C}" sibTransId="{31A8831B-C64E-44E3-9FC8-7B97CD6ACBCE}"/>
    <dgm:cxn modelId="{3AB8A224-4AE9-48D7-8904-DD17741981F2}" srcId="{CCAF2A24-1859-4F47-9708-93FA5684084C}" destId="{C732E65B-1846-43D0-8822-F99A8C362789}" srcOrd="1" destOrd="0" parTransId="{8A774A13-B69C-4C1D-A065-69FBFC26433B}" sibTransId="{A68D22DE-E201-40E6-9A9E-6C42E56D1BA9}"/>
    <dgm:cxn modelId="{F5C54829-9DDA-4175-8CA8-B4A9D28E5DF1}" type="presOf" srcId="{CCAF2A24-1859-4F47-9708-93FA5684084C}" destId="{63847764-AE21-4987-842D-E75317703830}" srcOrd="0" destOrd="0" presId="urn:microsoft.com/office/officeart/2005/8/layout/default"/>
    <dgm:cxn modelId="{92004D39-E1EA-430F-9C86-6E73005AFB88}" type="presOf" srcId="{59D50389-ABD6-4180-9E42-D220EF7B70F0}" destId="{5D492A6D-1FFA-4715-84F5-0EB247D7EBE5}" srcOrd="0" destOrd="0" presId="urn:microsoft.com/office/officeart/2005/8/layout/default"/>
    <dgm:cxn modelId="{9544B147-E754-4D54-A0CA-6ED3CEC280DD}" srcId="{CCAF2A24-1859-4F47-9708-93FA5684084C}" destId="{6662520A-4424-4980-BEEF-2A28F3D21CDE}" srcOrd="2" destOrd="0" parTransId="{7C8B8108-13FE-4C2A-926A-9912AF742150}" sibTransId="{D33A818B-2576-4787-8F8B-4849A44F6F31}"/>
    <dgm:cxn modelId="{30CD4968-91C8-4321-A0FC-4660AA1BA08F}" type="presOf" srcId="{276C79EE-648E-4B77-9A7B-8537CCD9530D}" destId="{3DA23E8E-C207-480E-996B-433732568463}" srcOrd="0" destOrd="0" presId="urn:microsoft.com/office/officeart/2005/8/layout/default"/>
    <dgm:cxn modelId="{BC92A149-AB63-442C-9147-8AA30F7C5C2D}" srcId="{CCAF2A24-1859-4F47-9708-93FA5684084C}" destId="{276C79EE-648E-4B77-9A7B-8537CCD9530D}" srcOrd="4" destOrd="0" parTransId="{ADCB46B2-5862-4674-BA51-57AD2957D1B1}" sibTransId="{BD73AA4A-B839-40F7-908A-71B0645B5AD9}"/>
    <dgm:cxn modelId="{C120204B-E77E-40A9-9954-E78CAF199916}" srcId="{CCAF2A24-1859-4F47-9708-93FA5684084C}" destId="{AB1A42D3-236E-4732-9C71-1CABD9B95E46}" srcOrd="0" destOrd="0" parTransId="{5ABEEBF7-D845-48FE-9E29-CDDFB07EF089}" sibTransId="{D15C42E6-113F-464E-BD7D-BA9884C5DC13}"/>
    <dgm:cxn modelId="{E42C8850-1EC8-49E9-A514-2D948170E887}" srcId="{CCAF2A24-1859-4F47-9708-93FA5684084C}" destId="{64413531-4C72-4D47-A7D3-6BFC48DAC977}" srcOrd="3" destOrd="0" parTransId="{59198870-29BC-440B-9D93-EA93C60B7581}" sibTransId="{DD232A09-2ED7-4890-8314-B935F29E1843}"/>
    <dgm:cxn modelId="{8B719979-8AE6-4914-A836-77129682E864}" type="presOf" srcId="{AB1A42D3-236E-4732-9C71-1CABD9B95E46}" destId="{23BA1B08-5E0D-4A9B-9DF2-A351D1BB6F79}" srcOrd="0" destOrd="0" presId="urn:microsoft.com/office/officeart/2005/8/layout/default"/>
    <dgm:cxn modelId="{30428F82-894D-4439-A7D1-AD2816D56BC8}" type="presOf" srcId="{6662520A-4424-4980-BEEF-2A28F3D21CDE}" destId="{462AFA1F-7BB1-463A-8D73-864833296565}" srcOrd="0" destOrd="0" presId="urn:microsoft.com/office/officeart/2005/8/layout/default"/>
    <dgm:cxn modelId="{A914B188-2D37-465C-8DCB-80F3408B946F}" type="presOf" srcId="{9708FFE9-4EA9-4F62-8B65-09EA5244DA2D}" destId="{1791DDD2-6636-439A-A6C4-D6763B23BDFE}" srcOrd="0" destOrd="0" presId="urn:microsoft.com/office/officeart/2005/8/layout/default"/>
    <dgm:cxn modelId="{FFA21E8D-AB19-440A-BFA7-93C8C850A70C}" type="presOf" srcId="{C732E65B-1846-43D0-8822-F99A8C362789}" destId="{7F969569-AD5E-4D2E-B106-A28C8BB98309}" srcOrd="0" destOrd="0" presId="urn:microsoft.com/office/officeart/2005/8/layout/default"/>
    <dgm:cxn modelId="{279A418F-F8F6-4553-B003-1193B4BF2A42}" srcId="{CCAF2A24-1859-4F47-9708-93FA5684084C}" destId="{59D50389-ABD6-4180-9E42-D220EF7B70F0}" srcOrd="11" destOrd="0" parTransId="{16254677-6F54-4F8B-98D5-81A297B48A0E}" sibTransId="{6A539DFC-EB7F-478A-9726-86287BFBD18F}"/>
    <dgm:cxn modelId="{68D5279E-CB4B-42B2-9BEF-C9E655AA3A28}" srcId="{CCAF2A24-1859-4F47-9708-93FA5684084C}" destId="{773BC39F-6CC3-420B-9EB4-0A9CC5C278B0}" srcOrd="6" destOrd="0" parTransId="{56ACA1B1-7A34-4930-A0EF-C4CEB4684173}" sibTransId="{F33509CD-B30D-4EA3-8F71-51A3CA69965B}"/>
    <dgm:cxn modelId="{0DC0129F-1DFD-4933-9DAE-5B67CEEEE5EB}" type="presOf" srcId="{64413531-4C72-4D47-A7D3-6BFC48DAC977}" destId="{BEB89499-165E-4178-B139-2BA4BDCEA5BB}" srcOrd="0" destOrd="0" presId="urn:microsoft.com/office/officeart/2005/8/layout/default"/>
    <dgm:cxn modelId="{ECE45EA9-AEA7-40D5-9EC2-79FFEF9EE48D}" srcId="{CCAF2A24-1859-4F47-9708-93FA5684084C}" destId="{CC61E34A-36EA-4A37-8FB6-5D33D3E97B36}" srcOrd="7" destOrd="0" parTransId="{C8DC4B55-DDC8-4AD6-96B0-5934E06C0E96}" sibTransId="{C182EFD8-302F-4785-8B5F-3AEC35180F42}"/>
    <dgm:cxn modelId="{77A1E9C0-A2C2-4836-AED7-B806193E04E0}" type="presOf" srcId="{15549452-D982-4085-B1CC-6DC9893CB1D8}" destId="{DA5117DF-7D77-4F35-8832-1849EBDF0B73}" srcOrd="0" destOrd="0" presId="urn:microsoft.com/office/officeart/2005/8/layout/default"/>
    <dgm:cxn modelId="{9D5EBAC7-AC32-4AA4-88A4-2426036485E1}" type="presOf" srcId="{CC61E34A-36EA-4A37-8FB6-5D33D3E97B36}" destId="{DAECE9FB-03EC-42A8-B156-374BA5FA8B5C}" srcOrd="0" destOrd="0" presId="urn:microsoft.com/office/officeart/2005/8/layout/default"/>
    <dgm:cxn modelId="{773F49CA-7D1D-4713-A690-6B09B1712B35}" type="presOf" srcId="{C38990F9-E07C-47B8-BB6F-FC5AA0C1B80A}" destId="{624F4F8B-B7F1-44FB-B442-29256FFD58EE}" srcOrd="0" destOrd="0" presId="urn:microsoft.com/office/officeart/2005/8/layout/default"/>
    <dgm:cxn modelId="{1CE24BCF-8E26-474D-90B0-826D852DB163}" srcId="{CCAF2A24-1859-4F47-9708-93FA5684084C}" destId="{C38990F9-E07C-47B8-BB6F-FC5AA0C1B80A}" srcOrd="8" destOrd="0" parTransId="{D22A119A-3413-4FAA-BBAA-D9A37CE62A41}" sibTransId="{216E04C4-F513-4361-9505-433412AD65DC}"/>
    <dgm:cxn modelId="{0E50D5D1-F3D2-4F47-918F-43355B5E97DE}" type="presOf" srcId="{773BC39F-6CC3-420B-9EB4-0A9CC5C278B0}" destId="{D2E1B05A-444D-4687-983F-1BBA60B822A9}" srcOrd="0" destOrd="0" presId="urn:microsoft.com/office/officeart/2005/8/layout/default"/>
    <dgm:cxn modelId="{AA9712F2-D8AB-4259-9A43-C6F7AFFA180D}" type="presOf" srcId="{4DE6C107-0D98-4407-8F42-8FAFBE1C9ADE}" destId="{957026A7-FB1D-4472-A6A4-4B3424FC3664}" srcOrd="0" destOrd="0" presId="urn:microsoft.com/office/officeart/2005/8/layout/default"/>
    <dgm:cxn modelId="{23AAF5F2-1DC9-4E17-9F4E-CF55A26F3A73}" srcId="{CCAF2A24-1859-4F47-9708-93FA5684084C}" destId="{15549452-D982-4085-B1CC-6DC9893CB1D8}" srcOrd="9" destOrd="0" parTransId="{1D5AEDB9-9A81-4AA9-85ED-ABF81C7FA53A}" sibTransId="{00888160-2E4C-4391-8E0A-BA1EB0371636}"/>
    <dgm:cxn modelId="{A8B39946-4BF7-47B2-8971-D61DD89FB53E}" type="presParOf" srcId="{63847764-AE21-4987-842D-E75317703830}" destId="{23BA1B08-5E0D-4A9B-9DF2-A351D1BB6F79}" srcOrd="0" destOrd="0" presId="urn:microsoft.com/office/officeart/2005/8/layout/default"/>
    <dgm:cxn modelId="{8B4F3B8D-E241-4E0C-8493-25669E4E4A87}" type="presParOf" srcId="{63847764-AE21-4987-842D-E75317703830}" destId="{0A612F82-4C33-44AD-AC44-92E529B1FD68}" srcOrd="1" destOrd="0" presId="urn:microsoft.com/office/officeart/2005/8/layout/default"/>
    <dgm:cxn modelId="{7A0DA9FE-9A1C-4766-AC97-206B32B6E204}" type="presParOf" srcId="{63847764-AE21-4987-842D-E75317703830}" destId="{7F969569-AD5E-4D2E-B106-A28C8BB98309}" srcOrd="2" destOrd="0" presId="urn:microsoft.com/office/officeart/2005/8/layout/default"/>
    <dgm:cxn modelId="{07D8E8A2-1750-4672-9FC5-59D05808AF44}" type="presParOf" srcId="{63847764-AE21-4987-842D-E75317703830}" destId="{5CE6EF33-4CE4-4C0D-ACB4-6F3A50FC1777}" srcOrd="3" destOrd="0" presId="urn:microsoft.com/office/officeart/2005/8/layout/default"/>
    <dgm:cxn modelId="{588F9993-EC1E-466C-8258-FB5D66F7722E}" type="presParOf" srcId="{63847764-AE21-4987-842D-E75317703830}" destId="{462AFA1F-7BB1-463A-8D73-864833296565}" srcOrd="4" destOrd="0" presId="urn:microsoft.com/office/officeart/2005/8/layout/default"/>
    <dgm:cxn modelId="{E54FEB44-E172-41F9-A802-C5865C3AF9DC}" type="presParOf" srcId="{63847764-AE21-4987-842D-E75317703830}" destId="{588515A9-6BCA-4447-899C-DDAEF2389218}" srcOrd="5" destOrd="0" presId="urn:microsoft.com/office/officeart/2005/8/layout/default"/>
    <dgm:cxn modelId="{C72BC332-94F7-465B-9947-F8CC9CBDC93F}" type="presParOf" srcId="{63847764-AE21-4987-842D-E75317703830}" destId="{BEB89499-165E-4178-B139-2BA4BDCEA5BB}" srcOrd="6" destOrd="0" presId="urn:microsoft.com/office/officeart/2005/8/layout/default"/>
    <dgm:cxn modelId="{53016DDE-B48F-49C9-BA62-B17DCC789842}" type="presParOf" srcId="{63847764-AE21-4987-842D-E75317703830}" destId="{EF25C2CE-B9A0-45E0-9B7D-9F30F2A6919F}" srcOrd="7" destOrd="0" presId="urn:microsoft.com/office/officeart/2005/8/layout/default"/>
    <dgm:cxn modelId="{CB89E17F-F111-43F8-A7F6-40EB23CA9BDD}" type="presParOf" srcId="{63847764-AE21-4987-842D-E75317703830}" destId="{3DA23E8E-C207-480E-996B-433732568463}" srcOrd="8" destOrd="0" presId="urn:microsoft.com/office/officeart/2005/8/layout/default"/>
    <dgm:cxn modelId="{90E7FAD8-A18B-4D37-B74D-0DB5FA56266C}" type="presParOf" srcId="{63847764-AE21-4987-842D-E75317703830}" destId="{6EAE1C4F-87B9-4FEA-BA42-77BAAD691E20}" srcOrd="9" destOrd="0" presId="urn:microsoft.com/office/officeart/2005/8/layout/default"/>
    <dgm:cxn modelId="{1D70716B-6333-400B-ADDB-D162383C7F13}" type="presParOf" srcId="{63847764-AE21-4987-842D-E75317703830}" destId="{957026A7-FB1D-4472-A6A4-4B3424FC3664}" srcOrd="10" destOrd="0" presId="urn:microsoft.com/office/officeart/2005/8/layout/default"/>
    <dgm:cxn modelId="{64622AF5-1ABB-470F-A313-BC5D7661ABAC}" type="presParOf" srcId="{63847764-AE21-4987-842D-E75317703830}" destId="{6DEDEA90-9D7A-4CEE-8F4F-483C9093E4DE}" srcOrd="11" destOrd="0" presId="urn:microsoft.com/office/officeart/2005/8/layout/default"/>
    <dgm:cxn modelId="{B0C0B5C4-49D1-4B36-A282-CC38FFE1B63B}" type="presParOf" srcId="{63847764-AE21-4987-842D-E75317703830}" destId="{D2E1B05A-444D-4687-983F-1BBA60B822A9}" srcOrd="12" destOrd="0" presId="urn:microsoft.com/office/officeart/2005/8/layout/default"/>
    <dgm:cxn modelId="{12AFB060-CDA4-4B4F-9BCD-8DB2F0E546D9}" type="presParOf" srcId="{63847764-AE21-4987-842D-E75317703830}" destId="{0F374B88-E944-4E0D-BC12-FBBF63EAE671}" srcOrd="13" destOrd="0" presId="urn:microsoft.com/office/officeart/2005/8/layout/default"/>
    <dgm:cxn modelId="{3D58D254-B92A-4441-B01A-E7CE3BB8AF2D}" type="presParOf" srcId="{63847764-AE21-4987-842D-E75317703830}" destId="{DAECE9FB-03EC-42A8-B156-374BA5FA8B5C}" srcOrd="14" destOrd="0" presId="urn:microsoft.com/office/officeart/2005/8/layout/default"/>
    <dgm:cxn modelId="{C59244D5-053F-4B5E-8A12-3F298109ECB4}" type="presParOf" srcId="{63847764-AE21-4987-842D-E75317703830}" destId="{03ABA1BC-00BC-4423-9CCB-0CA6B289D23D}" srcOrd="15" destOrd="0" presId="urn:microsoft.com/office/officeart/2005/8/layout/default"/>
    <dgm:cxn modelId="{2C9A540B-61B1-45F2-863B-3244FA13769B}" type="presParOf" srcId="{63847764-AE21-4987-842D-E75317703830}" destId="{624F4F8B-B7F1-44FB-B442-29256FFD58EE}" srcOrd="16" destOrd="0" presId="urn:microsoft.com/office/officeart/2005/8/layout/default"/>
    <dgm:cxn modelId="{EC8A4CC3-694E-402D-94D8-16650659FE81}" type="presParOf" srcId="{63847764-AE21-4987-842D-E75317703830}" destId="{9077F333-EB27-4DF6-89DC-D97C5C90F345}" srcOrd="17" destOrd="0" presId="urn:microsoft.com/office/officeart/2005/8/layout/default"/>
    <dgm:cxn modelId="{66A7B77A-CAB6-420B-AD91-C36A707682D1}" type="presParOf" srcId="{63847764-AE21-4987-842D-E75317703830}" destId="{DA5117DF-7D77-4F35-8832-1849EBDF0B73}" srcOrd="18" destOrd="0" presId="urn:microsoft.com/office/officeart/2005/8/layout/default"/>
    <dgm:cxn modelId="{62B22044-D2BE-41CF-9100-DA4DAEFCB00A}" type="presParOf" srcId="{63847764-AE21-4987-842D-E75317703830}" destId="{5CEAEF12-28C4-4372-8E1B-6D06077C8509}" srcOrd="19" destOrd="0" presId="urn:microsoft.com/office/officeart/2005/8/layout/default"/>
    <dgm:cxn modelId="{CEC3C6FB-8B51-42DC-9EC8-760E25977FFD}" type="presParOf" srcId="{63847764-AE21-4987-842D-E75317703830}" destId="{1791DDD2-6636-439A-A6C4-D6763B23BDFE}" srcOrd="20" destOrd="0" presId="urn:microsoft.com/office/officeart/2005/8/layout/default"/>
    <dgm:cxn modelId="{23A92453-79F2-439E-A15F-32C3B8E17E00}" type="presParOf" srcId="{63847764-AE21-4987-842D-E75317703830}" destId="{9A4A824F-BE71-458A-A3D5-30387A81FD16}" srcOrd="21" destOrd="0" presId="urn:microsoft.com/office/officeart/2005/8/layout/default"/>
    <dgm:cxn modelId="{9D986EBF-4D67-4E9A-B507-5B13C7B75C51}" type="presParOf" srcId="{63847764-AE21-4987-842D-E75317703830}" destId="{5D492A6D-1FFA-4715-84F5-0EB247D7EBE5}" srcOrd="22"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3A770-4929-4455-8466-137E60437025}">
      <dsp:nvSpPr>
        <dsp:cNvPr id="0" name=""/>
        <dsp:cNvSpPr/>
      </dsp:nvSpPr>
      <dsp:spPr>
        <a:xfrm>
          <a:off x="0" y="200864"/>
          <a:ext cx="9809051" cy="76230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1291" tIns="229108" rIns="76129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mj-lt"/>
              <a:ea typeface="+mn-ea"/>
              <a:cs typeface="+mn-cs"/>
            </a:rPr>
            <a:t>Conversion of budgetary support loans and DSL to reserves</a:t>
          </a:r>
        </a:p>
        <a:p>
          <a:pPr marL="114300" lvl="1" indent="-114300" algn="l" defTabSz="622300">
            <a:lnSpc>
              <a:spcPct val="90000"/>
            </a:lnSpc>
            <a:spcBef>
              <a:spcPct val="0"/>
            </a:spcBef>
            <a:spcAft>
              <a:spcPct val="15000"/>
            </a:spcAft>
            <a:buChar char="•"/>
          </a:pPr>
          <a:r>
            <a:rPr lang="en-US" sz="1400" kern="1200">
              <a:latin typeface="+mj-lt"/>
              <a:ea typeface="+mn-ea"/>
              <a:cs typeface="+mn-cs"/>
            </a:rPr>
            <a:t>Direct subsidy support to holding company instead of loans</a:t>
          </a:r>
        </a:p>
      </dsp:txBody>
      <dsp:txXfrm>
        <a:off x="0" y="200864"/>
        <a:ext cx="9809051" cy="762300"/>
      </dsp:txXfrm>
    </dsp:sp>
    <dsp:sp modelId="{1CEDABA7-BCFC-41DB-BC4E-A693E059C8C9}">
      <dsp:nvSpPr>
        <dsp:cNvPr id="0" name=""/>
        <dsp:cNvSpPr/>
      </dsp:nvSpPr>
      <dsp:spPr>
        <a:xfrm>
          <a:off x="490452" y="38504"/>
          <a:ext cx="6866336" cy="3247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531" tIns="0" rIns="259531" bIns="0" numCol="1" spcCol="1270" anchor="ctr" anchorCtr="0">
          <a:noAutofit/>
        </a:bodyPr>
        <a:lstStyle/>
        <a:p>
          <a:pPr marL="0" lvl="0" indent="0" algn="l" defTabSz="622300">
            <a:lnSpc>
              <a:spcPct val="90000"/>
            </a:lnSpc>
            <a:spcBef>
              <a:spcPct val="0"/>
            </a:spcBef>
            <a:spcAft>
              <a:spcPct val="35000"/>
            </a:spcAft>
            <a:buNone/>
          </a:pPr>
          <a:r>
            <a:rPr lang="en-US" sz="1400" kern="1200">
              <a:latin typeface="+mj-lt"/>
              <a:ea typeface="+mn-ea"/>
              <a:cs typeface="+mn-cs"/>
            </a:rPr>
            <a:t>FRRP-support from the Government of Bangladesh</a:t>
          </a:r>
        </a:p>
      </dsp:txBody>
      <dsp:txXfrm>
        <a:off x="506304" y="54356"/>
        <a:ext cx="6834632" cy="293016"/>
      </dsp:txXfrm>
    </dsp:sp>
    <dsp:sp modelId="{E9E99FFA-493A-4EAA-B4D8-09B355602FB0}">
      <dsp:nvSpPr>
        <dsp:cNvPr id="0" name=""/>
        <dsp:cNvSpPr/>
      </dsp:nvSpPr>
      <dsp:spPr>
        <a:xfrm>
          <a:off x="0" y="1184924"/>
          <a:ext cx="9809051" cy="72765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1291" tIns="229108" rIns="76129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latin typeface="+mj-lt"/>
              <a:ea typeface="+mn-ea"/>
              <a:cs typeface="+mn-cs"/>
            </a:rPr>
            <a:t>Target-driven value enablers to reduce distribution loss, improve distribution and bulk supply collection/billing ratio, power plant efficiency improvement</a:t>
          </a:r>
        </a:p>
      </dsp:txBody>
      <dsp:txXfrm>
        <a:off x="0" y="1184924"/>
        <a:ext cx="9809051" cy="727650"/>
      </dsp:txXfrm>
    </dsp:sp>
    <dsp:sp modelId="{B292DCE2-7FA3-4E21-945A-375838D1BA6F}">
      <dsp:nvSpPr>
        <dsp:cNvPr id="0" name=""/>
        <dsp:cNvSpPr/>
      </dsp:nvSpPr>
      <dsp:spPr>
        <a:xfrm>
          <a:off x="490452" y="1022564"/>
          <a:ext cx="6866336" cy="3247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531" tIns="0" rIns="259531" bIns="0" numCol="1" spcCol="1270" anchor="ctr" anchorCtr="0">
          <a:noAutofit/>
        </a:bodyPr>
        <a:lstStyle/>
        <a:p>
          <a:pPr marL="0" lvl="0" indent="0" algn="l" defTabSz="622300">
            <a:lnSpc>
              <a:spcPct val="90000"/>
            </a:lnSpc>
            <a:spcBef>
              <a:spcPct val="0"/>
            </a:spcBef>
            <a:spcAft>
              <a:spcPct val="35000"/>
            </a:spcAft>
            <a:buNone/>
          </a:pPr>
          <a:r>
            <a:rPr lang="en-US" sz="1400" kern="1200">
              <a:latin typeface="+mj-lt"/>
              <a:ea typeface="+mn-ea"/>
              <a:cs typeface="+mn-cs"/>
            </a:rPr>
            <a:t>Implementation of high-level strategic value enablers</a:t>
          </a:r>
        </a:p>
      </dsp:txBody>
      <dsp:txXfrm>
        <a:off x="506304" y="1038416"/>
        <a:ext cx="6834632" cy="293016"/>
      </dsp:txXfrm>
    </dsp:sp>
    <dsp:sp modelId="{6163065A-DEC5-4405-BC09-FD7F2AD717EC}">
      <dsp:nvSpPr>
        <dsp:cNvPr id="0" name=""/>
        <dsp:cNvSpPr/>
      </dsp:nvSpPr>
      <dsp:spPr>
        <a:xfrm>
          <a:off x="0" y="2134334"/>
          <a:ext cx="9809051" cy="142065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1291" tIns="229108" rIns="76129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latin typeface="+mj-lt"/>
              <a:ea typeface="+mn-ea"/>
              <a:cs typeface="+mn-cs"/>
            </a:rPr>
            <a:t>Finalization of industry structure</a:t>
          </a:r>
        </a:p>
        <a:p>
          <a:pPr marL="114300" lvl="1" indent="-114300" algn="l" defTabSz="622300">
            <a:lnSpc>
              <a:spcPct val="90000"/>
            </a:lnSpc>
            <a:spcBef>
              <a:spcPct val="0"/>
            </a:spcBef>
            <a:spcAft>
              <a:spcPct val="15000"/>
            </a:spcAft>
            <a:buChar char="•"/>
          </a:pPr>
          <a:r>
            <a:rPr lang="en-US" sz="1400" kern="1200">
              <a:latin typeface="+mj-lt"/>
              <a:ea typeface="+mn-ea"/>
              <a:cs typeface="+mn-cs"/>
            </a:rPr>
            <a:t>Finalization and approval of AoA and MoA of holding company</a:t>
          </a:r>
        </a:p>
        <a:p>
          <a:pPr marL="114300" lvl="1" indent="-114300" algn="l" defTabSz="622300">
            <a:lnSpc>
              <a:spcPct val="90000"/>
            </a:lnSpc>
            <a:spcBef>
              <a:spcPct val="0"/>
            </a:spcBef>
            <a:spcAft>
              <a:spcPct val="15000"/>
            </a:spcAft>
            <a:buChar char="•"/>
          </a:pPr>
          <a:r>
            <a:rPr lang="en-US" sz="1400" kern="1200">
              <a:latin typeface="+mj-lt"/>
              <a:ea typeface="+mn-ea"/>
              <a:cs typeface="+mn-cs"/>
            </a:rPr>
            <a:t>Registration and incorporation of holding company</a:t>
          </a:r>
        </a:p>
        <a:p>
          <a:pPr marL="114300" lvl="1" indent="-114300" algn="l" defTabSz="622300">
            <a:lnSpc>
              <a:spcPct val="90000"/>
            </a:lnSpc>
            <a:spcBef>
              <a:spcPct val="0"/>
            </a:spcBef>
            <a:spcAft>
              <a:spcPct val="15000"/>
            </a:spcAft>
            <a:buChar char="•"/>
          </a:pPr>
          <a:r>
            <a:rPr lang="en-US" sz="1400" kern="1200">
              <a:latin typeface="+mj-lt"/>
              <a:ea typeface="+mn-ea"/>
              <a:cs typeface="+mn-cs"/>
            </a:rPr>
            <a:t>Board arrangement, management arrangement and commercial arrangement of holding company</a:t>
          </a:r>
        </a:p>
      </dsp:txBody>
      <dsp:txXfrm>
        <a:off x="0" y="2134334"/>
        <a:ext cx="9809051" cy="1420650"/>
      </dsp:txXfrm>
    </dsp:sp>
    <dsp:sp modelId="{E3EFF9A9-9F3E-420B-BB82-1CA2AB03CC53}">
      <dsp:nvSpPr>
        <dsp:cNvPr id="0" name=""/>
        <dsp:cNvSpPr/>
      </dsp:nvSpPr>
      <dsp:spPr>
        <a:xfrm>
          <a:off x="490452" y="1971974"/>
          <a:ext cx="6866336" cy="3247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531" tIns="0" rIns="259531" bIns="0" numCol="1" spcCol="1270" anchor="ctr" anchorCtr="0">
          <a:noAutofit/>
        </a:bodyPr>
        <a:lstStyle/>
        <a:p>
          <a:pPr marL="0" lvl="0" indent="0" algn="l" defTabSz="622300">
            <a:lnSpc>
              <a:spcPct val="90000"/>
            </a:lnSpc>
            <a:spcBef>
              <a:spcPct val="0"/>
            </a:spcBef>
            <a:spcAft>
              <a:spcPct val="35000"/>
            </a:spcAft>
            <a:buNone/>
          </a:pPr>
          <a:r>
            <a:rPr lang="en-US" sz="1400" kern="1200">
              <a:latin typeface="+mj-lt"/>
              <a:ea typeface="+mn-ea"/>
              <a:cs typeface="+mn-cs"/>
            </a:rPr>
            <a:t>Operationalization of the holding company</a:t>
          </a:r>
        </a:p>
      </dsp:txBody>
      <dsp:txXfrm>
        <a:off x="506304" y="1987826"/>
        <a:ext cx="6834632" cy="293016"/>
      </dsp:txXfrm>
    </dsp:sp>
    <dsp:sp modelId="{AADF0C89-3D97-47F1-87C2-2833945D5659}">
      <dsp:nvSpPr>
        <dsp:cNvPr id="0" name=""/>
        <dsp:cNvSpPr/>
      </dsp:nvSpPr>
      <dsp:spPr>
        <a:xfrm>
          <a:off x="0" y="3776744"/>
          <a:ext cx="9809051" cy="121275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1291" tIns="229108" rIns="76129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latin typeface="+mj-lt"/>
              <a:ea typeface="+mn-ea"/>
              <a:cs typeface="+mn-cs"/>
            </a:rPr>
            <a:t>Preparation of BPR plan, To-Be organogram and functions of holding company</a:t>
          </a:r>
        </a:p>
        <a:p>
          <a:pPr marL="114300" lvl="1" indent="-114300" algn="l" defTabSz="622300">
            <a:lnSpc>
              <a:spcPct val="90000"/>
            </a:lnSpc>
            <a:spcBef>
              <a:spcPct val="0"/>
            </a:spcBef>
            <a:spcAft>
              <a:spcPct val="15000"/>
            </a:spcAft>
            <a:buChar char="•"/>
          </a:pPr>
          <a:r>
            <a:rPr lang="en-US" sz="1400" kern="1200">
              <a:latin typeface="+mj-lt"/>
              <a:ea typeface="+mn-ea"/>
              <a:cs typeface="+mn-cs"/>
            </a:rPr>
            <a:t>Preparation of workflow automation and IT-enablement plan</a:t>
          </a:r>
        </a:p>
        <a:p>
          <a:pPr marL="114300" lvl="1" indent="-114300" algn="l" defTabSz="622300">
            <a:lnSpc>
              <a:spcPct val="90000"/>
            </a:lnSpc>
            <a:spcBef>
              <a:spcPct val="0"/>
            </a:spcBef>
            <a:spcAft>
              <a:spcPct val="15000"/>
            </a:spcAft>
            <a:buChar char="•"/>
          </a:pPr>
          <a:r>
            <a:rPr lang="en-US" sz="1400" kern="1200">
              <a:latin typeface="+mj-lt"/>
              <a:ea typeface="+mn-ea"/>
              <a:cs typeface="+mn-cs"/>
            </a:rPr>
            <a:t>Competency mapping with respect to existing manpower</a:t>
          </a:r>
        </a:p>
        <a:p>
          <a:pPr marL="114300" lvl="1" indent="-114300" algn="l" defTabSz="622300">
            <a:lnSpc>
              <a:spcPct val="90000"/>
            </a:lnSpc>
            <a:spcBef>
              <a:spcPct val="0"/>
            </a:spcBef>
            <a:spcAft>
              <a:spcPct val="15000"/>
            </a:spcAft>
            <a:buChar char="•"/>
          </a:pPr>
          <a:r>
            <a:rPr lang="en-US" sz="1400" kern="1200">
              <a:latin typeface="+mj-lt"/>
              <a:ea typeface="+mn-ea"/>
              <a:cs typeface="+mn-cs"/>
            </a:rPr>
            <a:t>Preparation of strategy for manpower re-skilling and new manpower recruitment</a:t>
          </a:r>
        </a:p>
      </dsp:txBody>
      <dsp:txXfrm>
        <a:off x="0" y="3776744"/>
        <a:ext cx="9809051" cy="1212750"/>
      </dsp:txXfrm>
    </dsp:sp>
    <dsp:sp modelId="{0EEC4FF0-F2DE-419A-B0D9-98B7C103C66F}">
      <dsp:nvSpPr>
        <dsp:cNvPr id="0" name=""/>
        <dsp:cNvSpPr/>
      </dsp:nvSpPr>
      <dsp:spPr>
        <a:xfrm>
          <a:off x="490452" y="3614384"/>
          <a:ext cx="6866336" cy="3247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531" tIns="0" rIns="259531" bIns="0" numCol="1" spcCol="1270" anchor="ctr" anchorCtr="0">
          <a:noAutofit/>
        </a:bodyPr>
        <a:lstStyle/>
        <a:p>
          <a:pPr marL="0" lvl="0" indent="0" algn="l" defTabSz="622300">
            <a:lnSpc>
              <a:spcPct val="90000"/>
            </a:lnSpc>
            <a:spcBef>
              <a:spcPct val="0"/>
            </a:spcBef>
            <a:spcAft>
              <a:spcPct val="35000"/>
            </a:spcAft>
            <a:buNone/>
          </a:pPr>
          <a:r>
            <a:rPr lang="en-US" sz="1400" kern="1200">
              <a:latin typeface="+mj-lt"/>
              <a:ea typeface="+mn-ea"/>
              <a:cs typeface="+mn-cs"/>
            </a:rPr>
            <a:t>Detailed manpower assessment of holding company</a:t>
          </a:r>
        </a:p>
      </dsp:txBody>
      <dsp:txXfrm>
        <a:off x="506304" y="3630236"/>
        <a:ext cx="6834632" cy="293016"/>
      </dsp:txXfrm>
    </dsp:sp>
    <dsp:sp modelId="{E5FA9F0C-F95E-4258-B5E3-CF9AE2698A62}">
      <dsp:nvSpPr>
        <dsp:cNvPr id="0" name=""/>
        <dsp:cNvSpPr/>
      </dsp:nvSpPr>
      <dsp:spPr>
        <a:xfrm>
          <a:off x="0" y="5211254"/>
          <a:ext cx="9809051" cy="918225"/>
        </a:xfrm>
        <a:prstGeom prst="rect">
          <a:avLst/>
        </a:prstGeom>
        <a:solidFill>
          <a:schemeClr val="lt1">
            <a:alpha val="9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1291" tIns="229108" rIns="76129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latin typeface="+mj-lt"/>
              <a:ea typeface="+mn-ea"/>
              <a:cs typeface="+mn-cs"/>
            </a:rPr>
            <a:t>Strengthening of existing business processes like Generation, Distribution, Commercial, Regulatory, Planning, HR, F&amp;A, Board Governance in line with the proposed functions of the holding company and statutory requirements</a:t>
          </a:r>
        </a:p>
      </dsp:txBody>
      <dsp:txXfrm>
        <a:off x="0" y="5211254"/>
        <a:ext cx="9809051" cy="918225"/>
      </dsp:txXfrm>
    </dsp:sp>
    <dsp:sp modelId="{1B9DB7B9-C627-415E-BBEF-9E2B828219B2}">
      <dsp:nvSpPr>
        <dsp:cNvPr id="0" name=""/>
        <dsp:cNvSpPr/>
      </dsp:nvSpPr>
      <dsp:spPr>
        <a:xfrm>
          <a:off x="490452" y="5048894"/>
          <a:ext cx="6866336" cy="32472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9531" tIns="0" rIns="259531" bIns="0" numCol="1" spcCol="1270" anchor="ctr" anchorCtr="0">
          <a:noAutofit/>
        </a:bodyPr>
        <a:lstStyle/>
        <a:p>
          <a:pPr marL="0" lvl="0" indent="0" algn="l" defTabSz="622300">
            <a:lnSpc>
              <a:spcPct val="90000"/>
            </a:lnSpc>
            <a:spcBef>
              <a:spcPct val="0"/>
            </a:spcBef>
            <a:spcAft>
              <a:spcPct val="35000"/>
            </a:spcAft>
            <a:buNone/>
          </a:pPr>
          <a:r>
            <a:rPr lang="en-US" sz="1400" kern="1200">
              <a:latin typeface="+mj-lt"/>
              <a:ea typeface="+mn-ea"/>
              <a:cs typeface="+mn-cs"/>
            </a:rPr>
            <a:t>Business process reengineering</a:t>
          </a:r>
        </a:p>
      </dsp:txBody>
      <dsp:txXfrm>
        <a:off x="506304" y="5064746"/>
        <a:ext cx="6834632" cy="293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8D26E-4F8E-4874-A1A2-F33BB45EDC51}">
      <dsp:nvSpPr>
        <dsp:cNvPr id="0" name=""/>
        <dsp:cNvSpPr/>
      </dsp:nvSpPr>
      <dsp:spPr>
        <a:xfrm>
          <a:off x="55917" y="3737"/>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Industry structure finalization</a:t>
          </a:r>
        </a:p>
      </dsp:txBody>
      <dsp:txXfrm>
        <a:off x="73833" y="21653"/>
        <a:ext cx="2410919" cy="575855"/>
      </dsp:txXfrm>
    </dsp:sp>
    <dsp:sp modelId="{A56AC259-8D51-4774-89F6-E63587B731C0}">
      <dsp:nvSpPr>
        <dsp:cNvPr id="0" name=""/>
        <dsp:cNvSpPr/>
      </dsp:nvSpPr>
      <dsp:spPr>
        <a:xfrm rot="5400000">
          <a:off x="1164602" y="630717"/>
          <a:ext cx="229382" cy="2752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196716" y="653656"/>
        <a:ext cx="165155" cy="160567"/>
      </dsp:txXfrm>
    </dsp:sp>
    <dsp:sp modelId="{C773A12A-A109-469A-8BCB-9DE959E1F137}">
      <dsp:nvSpPr>
        <dsp:cNvPr id="0" name=""/>
        <dsp:cNvSpPr/>
      </dsp:nvSpPr>
      <dsp:spPr>
        <a:xfrm>
          <a:off x="55917" y="921269"/>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Holding company formation</a:t>
          </a:r>
        </a:p>
      </dsp:txBody>
      <dsp:txXfrm>
        <a:off x="73833" y="939185"/>
        <a:ext cx="2410919" cy="575855"/>
      </dsp:txXfrm>
    </dsp:sp>
    <dsp:sp modelId="{4E15359A-F8E3-4B59-87A7-5D7794C3EAF0}">
      <dsp:nvSpPr>
        <dsp:cNvPr id="0" name=""/>
        <dsp:cNvSpPr/>
      </dsp:nvSpPr>
      <dsp:spPr>
        <a:xfrm rot="5400000">
          <a:off x="1164602" y="1548249"/>
          <a:ext cx="229382" cy="2752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196716" y="1571188"/>
        <a:ext cx="165155" cy="160567"/>
      </dsp:txXfrm>
    </dsp:sp>
    <dsp:sp modelId="{321D0089-5FB8-4330-BEFE-E003B7AA3599}">
      <dsp:nvSpPr>
        <dsp:cNvPr id="0" name=""/>
        <dsp:cNvSpPr/>
      </dsp:nvSpPr>
      <dsp:spPr>
        <a:xfrm>
          <a:off x="55917" y="1838801"/>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Transfer scheme preparation</a:t>
          </a:r>
        </a:p>
      </dsp:txBody>
      <dsp:txXfrm>
        <a:off x="73833" y="1856717"/>
        <a:ext cx="2410919" cy="575855"/>
      </dsp:txXfrm>
    </dsp:sp>
    <dsp:sp modelId="{A9E95CF8-F0B0-4D4A-9581-1E41A80A7C4F}">
      <dsp:nvSpPr>
        <dsp:cNvPr id="0" name=""/>
        <dsp:cNvSpPr/>
      </dsp:nvSpPr>
      <dsp:spPr>
        <a:xfrm rot="5400000">
          <a:off x="1164602" y="2465781"/>
          <a:ext cx="229382" cy="2752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196716" y="2488720"/>
        <a:ext cx="165155" cy="160567"/>
      </dsp:txXfrm>
    </dsp:sp>
    <dsp:sp modelId="{438BFC95-E7DA-45D0-8E96-FBD89878DDBF}">
      <dsp:nvSpPr>
        <dsp:cNvPr id="0" name=""/>
        <dsp:cNvSpPr/>
      </dsp:nvSpPr>
      <dsp:spPr>
        <a:xfrm>
          <a:off x="55917" y="2756333"/>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Board arrangement of holding company</a:t>
          </a:r>
        </a:p>
      </dsp:txBody>
      <dsp:txXfrm>
        <a:off x="73833" y="2774249"/>
        <a:ext cx="2410919" cy="575855"/>
      </dsp:txXfrm>
    </dsp:sp>
    <dsp:sp modelId="{5727E7EE-0012-4C2D-8515-AA168E627A0E}">
      <dsp:nvSpPr>
        <dsp:cNvPr id="0" name=""/>
        <dsp:cNvSpPr/>
      </dsp:nvSpPr>
      <dsp:spPr>
        <a:xfrm rot="5400000">
          <a:off x="1164602" y="3383313"/>
          <a:ext cx="229382" cy="2752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196716" y="3406252"/>
        <a:ext cx="165155" cy="160567"/>
      </dsp:txXfrm>
    </dsp:sp>
    <dsp:sp modelId="{5641FE4E-B32E-4D91-A3D0-48C8E54951C6}">
      <dsp:nvSpPr>
        <dsp:cNvPr id="0" name=""/>
        <dsp:cNvSpPr/>
      </dsp:nvSpPr>
      <dsp:spPr>
        <a:xfrm>
          <a:off x="55917" y="3673864"/>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Coordination arrangement for reform activities</a:t>
          </a:r>
        </a:p>
      </dsp:txBody>
      <dsp:txXfrm>
        <a:off x="73833" y="3691780"/>
        <a:ext cx="2410919" cy="575855"/>
      </dsp:txXfrm>
    </dsp:sp>
    <dsp:sp modelId="{CAFEFA20-6084-41D5-9105-3176DC227F94}">
      <dsp:nvSpPr>
        <dsp:cNvPr id="0" name=""/>
        <dsp:cNvSpPr/>
      </dsp:nvSpPr>
      <dsp:spPr>
        <a:xfrm rot="5400000">
          <a:off x="1164602" y="4300845"/>
          <a:ext cx="229382" cy="2752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196716" y="4323784"/>
        <a:ext cx="165155" cy="160567"/>
      </dsp:txXfrm>
    </dsp:sp>
    <dsp:sp modelId="{3ED9235C-8AD0-43F2-B8C6-4C9AE1BDDE7C}">
      <dsp:nvSpPr>
        <dsp:cNvPr id="0" name=""/>
        <dsp:cNvSpPr/>
      </dsp:nvSpPr>
      <dsp:spPr>
        <a:xfrm>
          <a:off x="55917" y="4591396"/>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Commercial arrangement of holding company</a:t>
          </a:r>
        </a:p>
      </dsp:txBody>
      <dsp:txXfrm>
        <a:off x="73833" y="4609312"/>
        <a:ext cx="2410919" cy="575855"/>
      </dsp:txXfrm>
    </dsp:sp>
    <dsp:sp modelId="{D83B1AB3-D20F-4233-A989-DCAAA619A9C1}">
      <dsp:nvSpPr>
        <dsp:cNvPr id="0" name=""/>
        <dsp:cNvSpPr/>
      </dsp:nvSpPr>
      <dsp:spPr>
        <a:xfrm rot="5400000">
          <a:off x="1164602" y="5218377"/>
          <a:ext cx="229382" cy="27525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196716" y="5241316"/>
        <a:ext cx="165155" cy="160567"/>
      </dsp:txXfrm>
    </dsp:sp>
    <dsp:sp modelId="{A729A8AA-915C-4E26-98F2-0F72DF7183F7}">
      <dsp:nvSpPr>
        <dsp:cNvPr id="0" name=""/>
        <dsp:cNvSpPr/>
      </dsp:nvSpPr>
      <dsp:spPr>
        <a:xfrm>
          <a:off x="55917" y="5508928"/>
          <a:ext cx="2446751" cy="61168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Business process optimization and capacity building</a:t>
          </a:r>
        </a:p>
      </dsp:txBody>
      <dsp:txXfrm>
        <a:off x="73833" y="5526844"/>
        <a:ext cx="2410919" cy="5758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BA1B08-5E0D-4A9B-9DF2-A351D1BB6F79}">
      <dsp:nvSpPr>
        <dsp:cNvPr id="0" name=""/>
        <dsp:cNvSpPr/>
      </dsp:nvSpPr>
      <dsp:spPr>
        <a:xfrm>
          <a:off x="0" y="83961"/>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Board governance strengthening</a:t>
          </a:r>
        </a:p>
      </dsp:txBody>
      <dsp:txXfrm>
        <a:off x="0" y="83961"/>
        <a:ext cx="1843790" cy="1106274"/>
      </dsp:txXfrm>
    </dsp:sp>
    <dsp:sp modelId="{7F969569-AD5E-4D2E-B106-A28C8BB98309}">
      <dsp:nvSpPr>
        <dsp:cNvPr id="0" name=""/>
        <dsp:cNvSpPr/>
      </dsp:nvSpPr>
      <dsp:spPr>
        <a:xfrm>
          <a:off x="2028169" y="83961"/>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Human Resources management</a:t>
          </a:r>
        </a:p>
      </dsp:txBody>
      <dsp:txXfrm>
        <a:off x="2028169" y="83961"/>
        <a:ext cx="1843790" cy="1106274"/>
      </dsp:txXfrm>
    </dsp:sp>
    <dsp:sp modelId="{462AFA1F-7BB1-463A-8D73-864833296565}">
      <dsp:nvSpPr>
        <dsp:cNvPr id="0" name=""/>
        <dsp:cNvSpPr/>
      </dsp:nvSpPr>
      <dsp:spPr>
        <a:xfrm>
          <a:off x="4056339" y="83961"/>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Financial management</a:t>
          </a:r>
        </a:p>
      </dsp:txBody>
      <dsp:txXfrm>
        <a:off x="4056339" y="83961"/>
        <a:ext cx="1843790" cy="1106274"/>
      </dsp:txXfrm>
    </dsp:sp>
    <dsp:sp modelId="{BEB89499-165E-4178-B139-2BA4BDCEA5BB}">
      <dsp:nvSpPr>
        <dsp:cNvPr id="0" name=""/>
        <dsp:cNvSpPr/>
      </dsp:nvSpPr>
      <dsp:spPr>
        <a:xfrm>
          <a:off x="0" y="1374615"/>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Corporate planning &amp; strategy, System planning, Project planning and management</a:t>
          </a:r>
        </a:p>
      </dsp:txBody>
      <dsp:txXfrm>
        <a:off x="0" y="1374615"/>
        <a:ext cx="1843790" cy="1106274"/>
      </dsp:txXfrm>
    </dsp:sp>
    <dsp:sp modelId="{3DA23E8E-C207-480E-996B-433732568463}">
      <dsp:nvSpPr>
        <dsp:cNvPr id="0" name=""/>
        <dsp:cNvSpPr/>
      </dsp:nvSpPr>
      <dsp:spPr>
        <a:xfrm>
          <a:off x="2028169" y="1374615"/>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Procurement and inventory management</a:t>
          </a:r>
        </a:p>
      </dsp:txBody>
      <dsp:txXfrm>
        <a:off x="2028169" y="1374615"/>
        <a:ext cx="1843790" cy="1106274"/>
      </dsp:txXfrm>
    </dsp:sp>
    <dsp:sp modelId="{957026A7-FB1D-4472-A6A4-4B3424FC3664}">
      <dsp:nvSpPr>
        <dsp:cNvPr id="0" name=""/>
        <dsp:cNvSpPr/>
      </dsp:nvSpPr>
      <dsp:spPr>
        <a:xfrm>
          <a:off x="4056339" y="1374615"/>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Regulatory and commercial affairs, single buyer activities</a:t>
          </a:r>
        </a:p>
      </dsp:txBody>
      <dsp:txXfrm>
        <a:off x="4056339" y="1374615"/>
        <a:ext cx="1843790" cy="1106274"/>
      </dsp:txXfrm>
    </dsp:sp>
    <dsp:sp modelId="{D2E1B05A-444D-4687-983F-1BBA60B822A9}">
      <dsp:nvSpPr>
        <dsp:cNvPr id="0" name=""/>
        <dsp:cNvSpPr/>
      </dsp:nvSpPr>
      <dsp:spPr>
        <a:xfrm>
          <a:off x="0" y="2665268"/>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ICT strategy and implementation</a:t>
          </a:r>
        </a:p>
      </dsp:txBody>
      <dsp:txXfrm>
        <a:off x="0" y="2665268"/>
        <a:ext cx="1843790" cy="1106274"/>
      </dsp:txXfrm>
    </dsp:sp>
    <dsp:sp modelId="{DAECE9FB-03EC-42A8-B156-374BA5FA8B5C}">
      <dsp:nvSpPr>
        <dsp:cNvPr id="0" name=""/>
        <dsp:cNvSpPr/>
      </dsp:nvSpPr>
      <dsp:spPr>
        <a:xfrm>
          <a:off x="2028169" y="2665268"/>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Generation strengthening and Power plant asset management (O&amp;M Service Company)</a:t>
          </a:r>
        </a:p>
      </dsp:txBody>
      <dsp:txXfrm>
        <a:off x="2028169" y="2665268"/>
        <a:ext cx="1843790" cy="1106274"/>
      </dsp:txXfrm>
    </dsp:sp>
    <dsp:sp modelId="{624F4F8B-B7F1-44FB-B442-29256FFD58EE}">
      <dsp:nvSpPr>
        <dsp:cNvPr id="0" name=""/>
        <dsp:cNvSpPr/>
      </dsp:nvSpPr>
      <dsp:spPr>
        <a:xfrm>
          <a:off x="4056339" y="2665268"/>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Distribution strengthening</a:t>
          </a:r>
        </a:p>
      </dsp:txBody>
      <dsp:txXfrm>
        <a:off x="4056339" y="2665268"/>
        <a:ext cx="1843790" cy="1106274"/>
      </dsp:txXfrm>
    </dsp:sp>
    <dsp:sp modelId="{DA5117DF-7D77-4F35-8832-1849EBDF0B73}">
      <dsp:nvSpPr>
        <dsp:cNvPr id="0" name=""/>
        <dsp:cNvSpPr/>
      </dsp:nvSpPr>
      <dsp:spPr>
        <a:xfrm>
          <a:off x="0" y="3955921"/>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Performance monitoring, review and management</a:t>
          </a:r>
        </a:p>
      </dsp:txBody>
      <dsp:txXfrm>
        <a:off x="0" y="3955921"/>
        <a:ext cx="1843790" cy="1106274"/>
      </dsp:txXfrm>
    </dsp:sp>
    <dsp:sp modelId="{1791DDD2-6636-439A-A6C4-D6763B23BDFE}">
      <dsp:nvSpPr>
        <dsp:cNvPr id="0" name=""/>
        <dsp:cNvSpPr/>
      </dsp:nvSpPr>
      <dsp:spPr>
        <a:xfrm>
          <a:off x="2028169" y="3955921"/>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Risk management</a:t>
          </a:r>
        </a:p>
      </dsp:txBody>
      <dsp:txXfrm>
        <a:off x="2028169" y="3955921"/>
        <a:ext cx="1843790" cy="1106274"/>
      </dsp:txXfrm>
    </dsp:sp>
    <dsp:sp modelId="{5D492A6D-1FFA-4715-84F5-0EB247D7EBE5}">
      <dsp:nvSpPr>
        <dsp:cNvPr id="0" name=""/>
        <dsp:cNvSpPr/>
      </dsp:nvSpPr>
      <dsp:spPr>
        <a:xfrm>
          <a:off x="4056339" y="3955921"/>
          <a:ext cx="1843790" cy="110627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Communication strategy</a:t>
          </a:r>
        </a:p>
      </dsp:txBody>
      <dsp:txXfrm>
        <a:off x="4056339" y="3955921"/>
        <a:ext cx="1843790" cy="110627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0.58463</cdr:x>
      <cdr:y>0.02773</cdr:y>
    </cdr:from>
    <cdr:to>
      <cdr:x>0.7511</cdr:x>
      <cdr:y>0.02841</cdr:y>
    </cdr:to>
    <cdr:cxnSp macro="">
      <cdr:nvCxnSpPr>
        <cdr:cNvPr id="17" name="Straight Arrow Connector 16">
          <a:extLst xmlns:a="http://schemas.openxmlformats.org/drawingml/2006/main">
            <a:ext uri="{FF2B5EF4-FFF2-40B4-BE49-F238E27FC236}">
              <a16:creationId xmlns:a16="http://schemas.microsoft.com/office/drawing/2014/main" id="{ED2A5953-81DC-8B07-7271-1CDB371BAA85}"/>
            </a:ext>
          </a:extLst>
        </cdr:cNvPr>
        <cdr:cNvCxnSpPr/>
      </cdr:nvCxnSpPr>
      <cdr:spPr>
        <a:xfrm xmlns:a="http://schemas.openxmlformats.org/drawingml/2006/main">
          <a:off x="3552707" y="155503"/>
          <a:ext cx="1011614" cy="3809"/>
        </a:xfrm>
        <a:prstGeom xmlns:a="http://schemas.openxmlformats.org/drawingml/2006/main" prst="straightConnector1">
          <a:avLst/>
        </a:prstGeom>
        <a:ln xmlns:a="http://schemas.openxmlformats.org/drawingml/2006/main">
          <a:solidFill>
            <a:schemeClr val="tx2"/>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0.60551</cdr:x>
      <cdr:y>0.00786</cdr:y>
    </cdr:from>
    <cdr:to>
      <cdr:x>0.73114</cdr:x>
      <cdr:y>0.04637</cdr:y>
    </cdr:to>
    <cdr:sp macro="" textlink="">
      <cdr:nvSpPr>
        <cdr:cNvPr id="20" name="Text Box 28"/>
        <cdr:cNvSpPr txBox="1"/>
      </cdr:nvSpPr>
      <cdr:spPr>
        <a:xfrm xmlns:a="http://schemas.openxmlformats.org/drawingml/2006/main">
          <a:off x="3679607" y="44049"/>
          <a:ext cx="763428" cy="216000"/>
        </a:xfrm>
        <a:prstGeom xmlns:a="http://schemas.openxmlformats.org/drawingml/2006/main" prst="rect">
          <a:avLst/>
        </a:prstGeom>
        <a:solidFill xmlns:a="http://schemas.openxmlformats.org/drawingml/2006/main">
          <a:schemeClr val="bg1"/>
        </a:solidFill>
        <a:ln xmlns:a="http://schemas.openxmlformats.org/drawingml/2006/main" w="6350">
          <a:noFill/>
        </a:ln>
        <a:effectLst xmlns:a="http://schemas.openxmlformats.org/drawingml/2006/main"/>
      </cdr:spPr>
      <cdr:style>
        <a:lnRef xmlns:a="http://schemas.openxmlformats.org/drawingml/2006/main" idx="0">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dk1"/>
        </a:fontRef>
      </cdr:style>
      <cdr:txBody>
        <a:bodyPr xmlns:a="http://schemas.openxmlformats.org/drawingml/2006/main" rot="0" spcFirstLastPara="0" vert="horz" wrap="square" lIns="0" tIns="0" rIns="0" bIns="0" numCol="1" spcCol="0" rtlCol="0" fromWordArt="0" anchor="ctr" anchorCtr="0" forceAA="0" compatLnSpc="1">
          <a:prstTxWarp prst="textNoShape">
            <a:avLst/>
          </a:prstTxWarp>
          <a:noAutofit/>
        </a:bodyPr>
        <a:lstStyle xmlns:a="http://schemas.openxmlformats.org/drawingml/2006/main">
          <a:defPPr>
            <a:defRPr lang="en-US"/>
          </a:defPPr>
          <a:lvl1pPr marL="0" algn="l" defTabSz="1042873" rtl="0" eaLnBrk="1" latinLnBrk="0" hangingPunct="1">
            <a:defRPr sz="2053" kern="1200">
              <a:solidFill>
                <a:schemeClr val="dk1"/>
              </a:solidFill>
              <a:latin typeface="+mn-lt"/>
              <a:ea typeface="+mn-ea"/>
              <a:cs typeface="+mn-cs"/>
            </a:defRPr>
          </a:lvl1pPr>
          <a:lvl2pPr marL="521437" algn="l" defTabSz="1042873" rtl="0" eaLnBrk="1" latinLnBrk="0" hangingPunct="1">
            <a:defRPr sz="2053" kern="1200">
              <a:solidFill>
                <a:schemeClr val="dk1"/>
              </a:solidFill>
              <a:latin typeface="+mn-lt"/>
              <a:ea typeface="+mn-ea"/>
              <a:cs typeface="+mn-cs"/>
            </a:defRPr>
          </a:lvl2pPr>
          <a:lvl3pPr marL="1042873" algn="l" defTabSz="1042873" rtl="0" eaLnBrk="1" latinLnBrk="0" hangingPunct="1">
            <a:defRPr sz="2053" kern="1200">
              <a:solidFill>
                <a:schemeClr val="dk1"/>
              </a:solidFill>
              <a:latin typeface="+mn-lt"/>
              <a:ea typeface="+mn-ea"/>
              <a:cs typeface="+mn-cs"/>
            </a:defRPr>
          </a:lvl3pPr>
          <a:lvl4pPr marL="1564310" algn="l" defTabSz="1042873" rtl="0" eaLnBrk="1" latinLnBrk="0" hangingPunct="1">
            <a:defRPr sz="2053" kern="1200">
              <a:solidFill>
                <a:schemeClr val="dk1"/>
              </a:solidFill>
              <a:latin typeface="+mn-lt"/>
              <a:ea typeface="+mn-ea"/>
              <a:cs typeface="+mn-cs"/>
            </a:defRPr>
          </a:lvl4pPr>
          <a:lvl5pPr marL="2085746" algn="l" defTabSz="1042873" rtl="0" eaLnBrk="1" latinLnBrk="0" hangingPunct="1">
            <a:defRPr sz="2053" kern="1200">
              <a:solidFill>
                <a:schemeClr val="dk1"/>
              </a:solidFill>
              <a:latin typeface="+mn-lt"/>
              <a:ea typeface="+mn-ea"/>
              <a:cs typeface="+mn-cs"/>
            </a:defRPr>
          </a:lvl5pPr>
          <a:lvl6pPr marL="2607183" algn="l" defTabSz="1042873" rtl="0" eaLnBrk="1" latinLnBrk="0" hangingPunct="1">
            <a:defRPr sz="2053" kern="1200">
              <a:solidFill>
                <a:schemeClr val="dk1"/>
              </a:solidFill>
              <a:latin typeface="+mn-lt"/>
              <a:ea typeface="+mn-ea"/>
              <a:cs typeface="+mn-cs"/>
            </a:defRPr>
          </a:lvl6pPr>
          <a:lvl7pPr marL="3128620" algn="l" defTabSz="1042873" rtl="0" eaLnBrk="1" latinLnBrk="0" hangingPunct="1">
            <a:defRPr sz="2053" kern="1200">
              <a:solidFill>
                <a:schemeClr val="dk1"/>
              </a:solidFill>
              <a:latin typeface="+mn-lt"/>
              <a:ea typeface="+mn-ea"/>
              <a:cs typeface="+mn-cs"/>
            </a:defRPr>
          </a:lvl7pPr>
          <a:lvl8pPr marL="3650056" algn="l" defTabSz="1042873" rtl="0" eaLnBrk="1" latinLnBrk="0" hangingPunct="1">
            <a:defRPr sz="2053" kern="1200">
              <a:solidFill>
                <a:schemeClr val="dk1"/>
              </a:solidFill>
              <a:latin typeface="+mn-lt"/>
              <a:ea typeface="+mn-ea"/>
              <a:cs typeface="+mn-cs"/>
            </a:defRPr>
          </a:lvl8pPr>
          <a:lvl9pPr marL="4171493" algn="l" defTabSz="1042873" rtl="0" eaLnBrk="1" latinLnBrk="0" hangingPunct="1">
            <a:defRPr sz="2053" kern="1200">
              <a:solidFill>
                <a:schemeClr val="dk1"/>
              </a:solidFill>
              <a:latin typeface="+mn-lt"/>
              <a:ea typeface="+mn-ea"/>
              <a:cs typeface="+mn-cs"/>
            </a:defRPr>
          </a:lvl9pPr>
        </a:lstStyle>
        <a:p xmlns:a="http://schemas.openxmlformats.org/drawingml/2006/main">
          <a:pPr algn="ctr"/>
          <a:r>
            <a:rPr lang="en-US" sz="1200" dirty="0">
              <a:solidFill>
                <a:srgbClr val="000000"/>
              </a:solidFill>
              <a:latin typeface="Calibri" panose="020F0502020204030204" pitchFamily="34" charset="0"/>
              <a:ea typeface="Times" panose="02020603050405020304" pitchFamily="18" charset="0"/>
              <a:cs typeface="Arial" panose="020B0604020202020204" pitchFamily="34" charset="0"/>
            </a:rPr>
            <a:t>Distribution</a:t>
          </a:r>
          <a:endParaRPr lang="en-IN" sz="1200" dirty="0">
            <a:solidFill>
              <a:prstClr val="black"/>
            </a:solidFill>
            <a:latin typeface="Calibri" panose="020F0502020204030204" pitchFamily="34" charset="0"/>
            <a:ea typeface="Times" panose="02020603050405020304" pitchFamily="18" charset="0"/>
            <a:cs typeface="Arial" panose="020B0604020202020204" pitchFamily="34" charset="0"/>
          </a:endParaRPr>
        </a:p>
      </cdr:txBody>
    </cdr:sp>
  </cdr:relSizeAnchor>
  <cdr:relSizeAnchor xmlns:cdr="http://schemas.openxmlformats.org/drawingml/2006/chartDrawing">
    <cdr:from>
      <cdr:x>0.076</cdr:x>
      <cdr:y>0.00252</cdr:y>
    </cdr:from>
    <cdr:to>
      <cdr:x>0.076</cdr:x>
      <cdr:y>0.05342</cdr:y>
    </cdr:to>
    <cdr:cxnSp macro="">
      <cdr:nvCxnSpPr>
        <cdr:cNvPr id="12" name="Straight Connector 11">
          <a:extLst xmlns:a="http://schemas.openxmlformats.org/drawingml/2006/main">
            <a:ext uri="{FF2B5EF4-FFF2-40B4-BE49-F238E27FC236}">
              <a16:creationId xmlns:a16="http://schemas.microsoft.com/office/drawing/2014/main" id="{BEF803F8-DFC6-AEEE-1501-C91B0BA57A99}"/>
            </a:ext>
          </a:extLst>
        </cdr:cNvPr>
        <cdr:cNvCxnSpPr/>
      </cdr:nvCxnSpPr>
      <cdr:spPr>
        <a:xfrm xmlns:a="http://schemas.openxmlformats.org/drawingml/2006/main">
          <a:off x="743620" y="13739"/>
          <a:ext cx="0" cy="277292"/>
        </a:xfrm>
        <a:prstGeom xmlns:a="http://schemas.openxmlformats.org/drawingml/2006/main" prst="line">
          <a:avLst/>
        </a:prstGeom>
        <a:ln xmlns:a="http://schemas.openxmlformats.org/drawingml/2006/main">
          <a:solidFill>
            <a:schemeClr val="tx2"/>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0.39411</cdr:x>
      <cdr:y>0.00647</cdr:y>
    </cdr:from>
    <cdr:to>
      <cdr:x>0.39411</cdr:x>
      <cdr:y>0.05737</cdr:y>
    </cdr:to>
    <cdr:cxnSp macro="">
      <cdr:nvCxnSpPr>
        <cdr:cNvPr id="13" name="Straight Connector 12">
          <a:extLst xmlns:a="http://schemas.openxmlformats.org/drawingml/2006/main">
            <a:ext uri="{FF2B5EF4-FFF2-40B4-BE49-F238E27FC236}">
              <a16:creationId xmlns:a16="http://schemas.microsoft.com/office/drawing/2014/main" id="{A9A44832-7B9C-1496-E9CF-CD2E85790233}"/>
            </a:ext>
          </a:extLst>
        </cdr:cNvPr>
        <cdr:cNvCxnSpPr/>
      </cdr:nvCxnSpPr>
      <cdr:spPr>
        <a:xfrm xmlns:a="http://schemas.openxmlformats.org/drawingml/2006/main">
          <a:off x="3856317" y="35255"/>
          <a:ext cx="0" cy="277292"/>
        </a:xfrm>
        <a:prstGeom xmlns:a="http://schemas.openxmlformats.org/drawingml/2006/main" prst="line">
          <a:avLst/>
        </a:prstGeom>
        <a:ln xmlns:a="http://schemas.openxmlformats.org/drawingml/2006/main">
          <a:solidFill>
            <a:schemeClr val="tx2"/>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0.75103</cdr:x>
      <cdr:y>0.0035</cdr:y>
    </cdr:from>
    <cdr:to>
      <cdr:x>0.75103</cdr:x>
      <cdr:y>0.04947</cdr:y>
    </cdr:to>
    <cdr:cxnSp macro="">
      <cdr:nvCxnSpPr>
        <cdr:cNvPr id="14" name="Straight Connector 13">
          <a:extLst xmlns:a="http://schemas.openxmlformats.org/drawingml/2006/main">
            <a:ext uri="{FF2B5EF4-FFF2-40B4-BE49-F238E27FC236}">
              <a16:creationId xmlns:a16="http://schemas.microsoft.com/office/drawing/2014/main" id="{4280214D-B05A-4B95-A557-544D60AC942E}"/>
            </a:ext>
          </a:extLst>
        </cdr:cNvPr>
        <cdr:cNvCxnSpPr/>
      </cdr:nvCxnSpPr>
      <cdr:spPr>
        <a:xfrm xmlns:a="http://schemas.openxmlformats.org/drawingml/2006/main">
          <a:off x="4563897" y="19612"/>
          <a:ext cx="0" cy="257810"/>
        </a:xfrm>
        <a:prstGeom xmlns:a="http://schemas.openxmlformats.org/drawingml/2006/main" prst="line">
          <a:avLst/>
        </a:prstGeom>
        <a:ln xmlns:a="http://schemas.openxmlformats.org/drawingml/2006/main">
          <a:solidFill>
            <a:schemeClr val="tx2"/>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0.076</cdr:x>
      <cdr:y>0.02797</cdr:y>
    </cdr:from>
    <cdr:to>
      <cdr:x>0.39366</cdr:x>
      <cdr:y>0.02797</cdr:y>
    </cdr:to>
    <cdr:cxnSp macro="">
      <cdr:nvCxnSpPr>
        <cdr:cNvPr id="15" name="Straight Arrow Connector 14">
          <a:extLst xmlns:a="http://schemas.openxmlformats.org/drawingml/2006/main">
            <a:ext uri="{FF2B5EF4-FFF2-40B4-BE49-F238E27FC236}">
              <a16:creationId xmlns:a16="http://schemas.microsoft.com/office/drawing/2014/main" id="{258D00F0-97E7-27CB-060B-FBDFBE4E25BF}"/>
            </a:ext>
          </a:extLst>
        </cdr:cNvPr>
        <cdr:cNvCxnSpPr/>
      </cdr:nvCxnSpPr>
      <cdr:spPr>
        <a:xfrm xmlns:a="http://schemas.openxmlformats.org/drawingml/2006/main">
          <a:off x="743620" y="152385"/>
          <a:ext cx="3108229" cy="0"/>
        </a:xfrm>
        <a:prstGeom xmlns:a="http://schemas.openxmlformats.org/drawingml/2006/main" prst="straightConnector1">
          <a:avLst/>
        </a:prstGeom>
        <a:ln xmlns:a="http://schemas.openxmlformats.org/drawingml/2006/main">
          <a:solidFill>
            <a:schemeClr val="tx2"/>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0.39366</cdr:x>
      <cdr:y>0.02797</cdr:y>
    </cdr:from>
    <cdr:to>
      <cdr:x>0.58394</cdr:x>
      <cdr:y>0.02797</cdr:y>
    </cdr:to>
    <cdr:cxnSp macro="">
      <cdr:nvCxnSpPr>
        <cdr:cNvPr id="16" name="Straight Arrow Connector 15">
          <a:extLst xmlns:a="http://schemas.openxmlformats.org/drawingml/2006/main">
            <a:ext uri="{FF2B5EF4-FFF2-40B4-BE49-F238E27FC236}">
              <a16:creationId xmlns:a16="http://schemas.microsoft.com/office/drawing/2014/main" id="{E469838A-724D-EFA0-F70F-E2C2CCEAFA02}"/>
            </a:ext>
          </a:extLst>
        </cdr:cNvPr>
        <cdr:cNvCxnSpPr/>
      </cdr:nvCxnSpPr>
      <cdr:spPr>
        <a:xfrm xmlns:a="http://schemas.openxmlformats.org/drawingml/2006/main">
          <a:off x="3851849" y="152385"/>
          <a:ext cx="1861850" cy="0"/>
        </a:xfrm>
        <a:prstGeom xmlns:a="http://schemas.openxmlformats.org/drawingml/2006/main" prst="straightConnector1">
          <a:avLst/>
        </a:prstGeom>
        <a:ln xmlns:a="http://schemas.openxmlformats.org/drawingml/2006/main">
          <a:solidFill>
            <a:schemeClr val="tx2"/>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0.14585</cdr:x>
      <cdr:y>0.0022</cdr:y>
    </cdr:from>
    <cdr:to>
      <cdr:x>0.32601</cdr:x>
      <cdr:y>0.05203</cdr:y>
    </cdr:to>
    <cdr:sp macro="" textlink="">
      <cdr:nvSpPr>
        <cdr:cNvPr id="18" name="Text Box 25"/>
        <cdr:cNvSpPr txBox="1"/>
      </cdr:nvSpPr>
      <cdr:spPr>
        <a:xfrm xmlns:a="http://schemas.openxmlformats.org/drawingml/2006/main">
          <a:off x="886282" y="12351"/>
          <a:ext cx="1094800" cy="279396"/>
        </a:xfrm>
        <a:prstGeom xmlns:a="http://schemas.openxmlformats.org/drawingml/2006/main" prst="rect">
          <a:avLst/>
        </a:prstGeom>
        <a:solidFill xmlns:a="http://schemas.openxmlformats.org/drawingml/2006/main">
          <a:schemeClr val="bg1"/>
        </a:solidFill>
        <a:ln xmlns:a="http://schemas.openxmlformats.org/drawingml/2006/main" w="6350">
          <a:noFill/>
        </a:ln>
        <a:effectLst xmlns:a="http://schemas.openxmlformats.org/drawingml/2006/main"/>
      </cdr:spPr>
      <cdr:style>
        <a:lnRef xmlns:a="http://schemas.openxmlformats.org/drawingml/2006/main" idx="0">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dk1"/>
        </a:fontRef>
      </cdr:style>
      <cdr:txBody>
        <a:bodyPr xmlns:a="http://schemas.openxmlformats.org/drawingml/2006/main" rot="0" spcFirstLastPara="0" vert="horz" wrap="square" lIns="0" tIns="0" rIns="0" bIns="0" numCol="1" spcCol="0" rtlCol="0" fromWordArt="0" anchor="ctr" anchorCtr="0" forceAA="0" compatLnSpc="1">
          <a:prstTxWarp prst="textNoShape">
            <a:avLst/>
          </a:prstTxWarp>
          <a:noAutofit/>
        </a:bodyPr>
        <a:lstStyle xmlns:a="http://schemas.openxmlformats.org/drawingml/2006/main">
          <a:defPPr>
            <a:defRPr lang="en-US"/>
          </a:defPPr>
          <a:lvl1pPr marL="0" algn="l" defTabSz="1042873" rtl="0" eaLnBrk="1" latinLnBrk="0" hangingPunct="1">
            <a:defRPr sz="2053" kern="1200">
              <a:solidFill>
                <a:schemeClr val="dk1"/>
              </a:solidFill>
              <a:latin typeface="+mn-lt"/>
              <a:ea typeface="+mn-ea"/>
              <a:cs typeface="+mn-cs"/>
            </a:defRPr>
          </a:lvl1pPr>
          <a:lvl2pPr marL="521437" algn="l" defTabSz="1042873" rtl="0" eaLnBrk="1" latinLnBrk="0" hangingPunct="1">
            <a:defRPr sz="2053" kern="1200">
              <a:solidFill>
                <a:schemeClr val="dk1"/>
              </a:solidFill>
              <a:latin typeface="+mn-lt"/>
              <a:ea typeface="+mn-ea"/>
              <a:cs typeface="+mn-cs"/>
            </a:defRPr>
          </a:lvl2pPr>
          <a:lvl3pPr marL="1042873" algn="l" defTabSz="1042873" rtl="0" eaLnBrk="1" latinLnBrk="0" hangingPunct="1">
            <a:defRPr sz="2053" kern="1200">
              <a:solidFill>
                <a:schemeClr val="dk1"/>
              </a:solidFill>
              <a:latin typeface="+mn-lt"/>
              <a:ea typeface="+mn-ea"/>
              <a:cs typeface="+mn-cs"/>
            </a:defRPr>
          </a:lvl3pPr>
          <a:lvl4pPr marL="1564310" algn="l" defTabSz="1042873" rtl="0" eaLnBrk="1" latinLnBrk="0" hangingPunct="1">
            <a:defRPr sz="2053" kern="1200">
              <a:solidFill>
                <a:schemeClr val="dk1"/>
              </a:solidFill>
              <a:latin typeface="+mn-lt"/>
              <a:ea typeface="+mn-ea"/>
              <a:cs typeface="+mn-cs"/>
            </a:defRPr>
          </a:lvl4pPr>
          <a:lvl5pPr marL="2085746" algn="l" defTabSz="1042873" rtl="0" eaLnBrk="1" latinLnBrk="0" hangingPunct="1">
            <a:defRPr sz="2053" kern="1200">
              <a:solidFill>
                <a:schemeClr val="dk1"/>
              </a:solidFill>
              <a:latin typeface="+mn-lt"/>
              <a:ea typeface="+mn-ea"/>
              <a:cs typeface="+mn-cs"/>
            </a:defRPr>
          </a:lvl5pPr>
          <a:lvl6pPr marL="2607183" algn="l" defTabSz="1042873" rtl="0" eaLnBrk="1" latinLnBrk="0" hangingPunct="1">
            <a:defRPr sz="2053" kern="1200">
              <a:solidFill>
                <a:schemeClr val="dk1"/>
              </a:solidFill>
              <a:latin typeface="+mn-lt"/>
              <a:ea typeface="+mn-ea"/>
              <a:cs typeface="+mn-cs"/>
            </a:defRPr>
          </a:lvl6pPr>
          <a:lvl7pPr marL="3128620" algn="l" defTabSz="1042873" rtl="0" eaLnBrk="1" latinLnBrk="0" hangingPunct="1">
            <a:defRPr sz="2053" kern="1200">
              <a:solidFill>
                <a:schemeClr val="dk1"/>
              </a:solidFill>
              <a:latin typeface="+mn-lt"/>
              <a:ea typeface="+mn-ea"/>
              <a:cs typeface="+mn-cs"/>
            </a:defRPr>
          </a:lvl7pPr>
          <a:lvl8pPr marL="3650056" algn="l" defTabSz="1042873" rtl="0" eaLnBrk="1" latinLnBrk="0" hangingPunct="1">
            <a:defRPr sz="2053" kern="1200">
              <a:solidFill>
                <a:schemeClr val="dk1"/>
              </a:solidFill>
              <a:latin typeface="+mn-lt"/>
              <a:ea typeface="+mn-ea"/>
              <a:cs typeface="+mn-cs"/>
            </a:defRPr>
          </a:lvl8pPr>
          <a:lvl9pPr marL="4171493" algn="l" defTabSz="1042873" rtl="0" eaLnBrk="1" latinLnBrk="0" hangingPunct="1">
            <a:defRPr sz="2053" kern="1200">
              <a:solidFill>
                <a:schemeClr val="dk1"/>
              </a:solidFill>
              <a:latin typeface="+mn-lt"/>
              <a:ea typeface="+mn-ea"/>
              <a:cs typeface="+mn-cs"/>
            </a:defRPr>
          </a:lvl9pPr>
        </a:lstStyle>
        <a:p xmlns:a="http://schemas.openxmlformats.org/drawingml/2006/main">
          <a:pPr algn="ctr"/>
          <a:r>
            <a:rPr lang="en-US" sz="1200" dirty="0">
              <a:solidFill>
                <a:srgbClr val="000000"/>
              </a:solidFill>
              <a:latin typeface="Calibri" panose="020F0502020204030204" pitchFamily="34" charset="0"/>
              <a:ea typeface="Times" panose="02020603050405020304" pitchFamily="18" charset="0"/>
              <a:cs typeface="Arial" panose="020B0604020202020204" pitchFamily="34" charset="0"/>
            </a:rPr>
            <a:t>Bulk supply</a:t>
          </a:r>
          <a:endParaRPr lang="en-IN" sz="1200" dirty="0">
            <a:solidFill>
              <a:prstClr val="black"/>
            </a:solidFill>
            <a:latin typeface="Calibri" panose="020F0502020204030204" pitchFamily="34" charset="0"/>
            <a:ea typeface="Times" panose="02020603050405020304" pitchFamily="18" charset="0"/>
            <a:cs typeface="Arial" panose="020B0604020202020204" pitchFamily="34" charset="0"/>
          </a:endParaRPr>
        </a:p>
      </cdr:txBody>
    </cdr:sp>
  </cdr:relSizeAnchor>
  <cdr:relSizeAnchor xmlns:cdr="http://schemas.openxmlformats.org/drawingml/2006/chartDrawing">
    <cdr:from>
      <cdr:x>0.42639</cdr:x>
      <cdr:y>0.00871</cdr:y>
    </cdr:from>
    <cdr:to>
      <cdr:x>0.54506</cdr:x>
      <cdr:y>0.04552</cdr:y>
    </cdr:to>
    <cdr:sp macro="" textlink="">
      <cdr:nvSpPr>
        <cdr:cNvPr id="19" name="Text Box 27"/>
        <cdr:cNvSpPr txBox="1"/>
      </cdr:nvSpPr>
      <cdr:spPr>
        <a:xfrm xmlns:a="http://schemas.openxmlformats.org/drawingml/2006/main">
          <a:off x="2591079" y="48826"/>
          <a:ext cx="721188" cy="206445"/>
        </a:xfrm>
        <a:prstGeom xmlns:a="http://schemas.openxmlformats.org/drawingml/2006/main" prst="rect">
          <a:avLst/>
        </a:prstGeom>
        <a:solidFill xmlns:a="http://schemas.openxmlformats.org/drawingml/2006/main">
          <a:schemeClr val="bg1"/>
        </a:solidFill>
        <a:ln xmlns:a="http://schemas.openxmlformats.org/drawingml/2006/main" w="6350">
          <a:noFill/>
        </a:ln>
        <a:effectLst xmlns:a="http://schemas.openxmlformats.org/drawingml/2006/main"/>
      </cdr:spPr>
      <cdr:style>
        <a:lnRef xmlns:a="http://schemas.openxmlformats.org/drawingml/2006/main" idx="0">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dk1"/>
        </a:fontRef>
      </cdr:style>
      <cdr:txBody>
        <a:bodyPr xmlns:a="http://schemas.openxmlformats.org/drawingml/2006/main" rot="0" spcFirstLastPara="0" vert="horz" wrap="square" lIns="0" tIns="0" rIns="0" bIns="0" numCol="1" spcCol="0" rtlCol="0" fromWordArt="0" anchor="ctr" anchorCtr="0" forceAA="0" compatLnSpc="1">
          <a:prstTxWarp prst="textNoShape">
            <a:avLst/>
          </a:prstTxWarp>
          <a:noAutofit/>
        </a:bodyPr>
        <a:lstStyle xmlns:a="http://schemas.openxmlformats.org/drawingml/2006/main">
          <a:defPPr>
            <a:defRPr lang="en-US"/>
          </a:defPPr>
          <a:lvl1pPr marL="0" algn="l" defTabSz="1042873" rtl="0" eaLnBrk="1" latinLnBrk="0" hangingPunct="1">
            <a:defRPr sz="2053" kern="1200">
              <a:solidFill>
                <a:schemeClr val="dk1"/>
              </a:solidFill>
              <a:latin typeface="+mn-lt"/>
              <a:ea typeface="+mn-ea"/>
              <a:cs typeface="+mn-cs"/>
            </a:defRPr>
          </a:lvl1pPr>
          <a:lvl2pPr marL="521437" algn="l" defTabSz="1042873" rtl="0" eaLnBrk="1" latinLnBrk="0" hangingPunct="1">
            <a:defRPr sz="2053" kern="1200">
              <a:solidFill>
                <a:schemeClr val="dk1"/>
              </a:solidFill>
              <a:latin typeface="+mn-lt"/>
              <a:ea typeface="+mn-ea"/>
              <a:cs typeface="+mn-cs"/>
            </a:defRPr>
          </a:lvl2pPr>
          <a:lvl3pPr marL="1042873" algn="l" defTabSz="1042873" rtl="0" eaLnBrk="1" latinLnBrk="0" hangingPunct="1">
            <a:defRPr sz="2053" kern="1200">
              <a:solidFill>
                <a:schemeClr val="dk1"/>
              </a:solidFill>
              <a:latin typeface="+mn-lt"/>
              <a:ea typeface="+mn-ea"/>
              <a:cs typeface="+mn-cs"/>
            </a:defRPr>
          </a:lvl3pPr>
          <a:lvl4pPr marL="1564310" algn="l" defTabSz="1042873" rtl="0" eaLnBrk="1" latinLnBrk="0" hangingPunct="1">
            <a:defRPr sz="2053" kern="1200">
              <a:solidFill>
                <a:schemeClr val="dk1"/>
              </a:solidFill>
              <a:latin typeface="+mn-lt"/>
              <a:ea typeface="+mn-ea"/>
              <a:cs typeface="+mn-cs"/>
            </a:defRPr>
          </a:lvl4pPr>
          <a:lvl5pPr marL="2085746" algn="l" defTabSz="1042873" rtl="0" eaLnBrk="1" latinLnBrk="0" hangingPunct="1">
            <a:defRPr sz="2053" kern="1200">
              <a:solidFill>
                <a:schemeClr val="dk1"/>
              </a:solidFill>
              <a:latin typeface="+mn-lt"/>
              <a:ea typeface="+mn-ea"/>
              <a:cs typeface="+mn-cs"/>
            </a:defRPr>
          </a:lvl5pPr>
          <a:lvl6pPr marL="2607183" algn="l" defTabSz="1042873" rtl="0" eaLnBrk="1" latinLnBrk="0" hangingPunct="1">
            <a:defRPr sz="2053" kern="1200">
              <a:solidFill>
                <a:schemeClr val="dk1"/>
              </a:solidFill>
              <a:latin typeface="+mn-lt"/>
              <a:ea typeface="+mn-ea"/>
              <a:cs typeface="+mn-cs"/>
            </a:defRPr>
          </a:lvl6pPr>
          <a:lvl7pPr marL="3128620" algn="l" defTabSz="1042873" rtl="0" eaLnBrk="1" latinLnBrk="0" hangingPunct="1">
            <a:defRPr sz="2053" kern="1200">
              <a:solidFill>
                <a:schemeClr val="dk1"/>
              </a:solidFill>
              <a:latin typeface="+mn-lt"/>
              <a:ea typeface="+mn-ea"/>
              <a:cs typeface="+mn-cs"/>
            </a:defRPr>
          </a:lvl7pPr>
          <a:lvl8pPr marL="3650056" algn="l" defTabSz="1042873" rtl="0" eaLnBrk="1" latinLnBrk="0" hangingPunct="1">
            <a:defRPr sz="2053" kern="1200">
              <a:solidFill>
                <a:schemeClr val="dk1"/>
              </a:solidFill>
              <a:latin typeface="+mn-lt"/>
              <a:ea typeface="+mn-ea"/>
              <a:cs typeface="+mn-cs"/>
            </a:defRPr>
          </a:lvl8pPr>
          <a:lvl9pPr marL="4171493" algn="l" defTabSz="1042873" rtl="0" eaLnBrk="1" latinLnBrk="0" hangingPunct="1">
            <a:defRPr sz="2053" kern="1200">
              <a:solidFill>
                <a:schemeClr val="dk1"/>
              </a:solidFill>
              <a:latin typeface="+mn-lt"/>
              <a:ea typeface="+mn-ea"/>
              <a:cs typeface="+mn-cs"/>
            </a:defRPr>
          </a:lvl9pPr>
        </a:lstStyle>
        <a:p xmlns:a="http://schemas.openxmlformats.org/drawingml/2006/main">
          <a:pPr algn="ctr"/>
          <a:r>
            <a:rPr lang="en-US" sz="1200" dirty="0">
              <a:solidFill>
                <a:srgbClr val="000000"/>
              </a:solidFill>
              <a:latin typeface="Calibri" panose="020F0502020204030204" pitchFamily="34" charset="0"/>
              <a:ea typeface="Times" panose="02020603050405020304" pitchFamily="18" charset="0"/>
              <a:cs typeface="Arial" panose="020B0604020202020204" pitchFamily="34" charset="0"/>
            </a:rPr>
            <a:t>Generation</a:t>
          </a:r>
          <a:endParaRPr lang="en-IN" sz="1200" dirty="0">
            <a:solidFill>
              <a:prstClr val="black"/>
            </a:solidFill>
            <a:latin typeface="Calibri" panose="020F0502020204030204" pitchFamily="34" charset="0"/>
            <a:ea typeface="Times" panose="02020603050405020304" pitchFamily="18" charset="0"/>
            <a:cs typeface="Arial" panose="020B0604020202020204" pitchFamily="34" charset="0"/>
          </a:endParaRPr>
        </a:p>
      </cdr:txBody>
    </cdr:sp>
  </cdr:relSizeAnchor>
  <cdr:relSizeAnchor xmlns:cdr="http://schemas.openxmlformats.org/drawingml/2006/chartDrawing">
    <cdr:from>
      <cdr:x>0.58394</cdr:x>
      <cdr:y>0.00365</cdr:y>
    </cdr:from>
    <cdr:to>
      <cdr:x>0.58394</cdr:x>
      <cdr:y>0.05454</cdr:y>
    </cdr:to>
    <cdr:cxnSp macro="">
      <cdr:nvCxnSpPr>
        <cdr:cNvPr id="21" name="Straight Connector 20">
          <a:extLst xmlns:a="http://schemas.openxmlformats.org/drawingml/2006/main">
            <a:ext uri="{FF2B5EF4-FFF2-40B4-BE49-F238E27FC236}">
              <a16:creationId xmlns:a16="http://schemas.microsoft.com/office/drawing/2014/main" id="{336778DD-3FB2-3113-284A-DBF6D9ED1E81}"/>
            </a:ext>
          </a:extLst>
        </cdr:cNvPr>
        <cdr:cNvCxnSpPr/>
      </cdr:nvCxnSpPr>
      <cdr:spPr>
        <a:xfrm xmlns:a="http://schemas.openxmlformats.org/drawingml/2006/main">
          <a:off x="5713699" y="19859"/>
          <a:ext cx="0" cy="277292"/>
        </a:xfrm>
        <a:prstGeom xmlns:a="http://schemas.openxmlformats.org/drawingml/2006/main" prst="line">
          <a:avLst/>
        </a:prstGeom>
        <a:ln xmlns:a="http://schemas.openxmlformats.org/drawingml/2006/main">
          <a:solidFill>
            <a:schemeClr val="tx2"/>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0.10883</cdr:x>
      <cdr:y>0.1101</cdr:y>
    </cdr:from>
    <cdr:to>
      <cdr:x>0.42405</cdr:x>
      <cdr:y>0.65941</cdr:y>
    </cdr:to>
    <cdr:sp macro="" textlink="">
      <cdr:nvSpPr>
        <cdr:cNvPr id="22" name="Rounded Rectangle 21"/>
        <cdr:cNvSpPr/>
      </cdr:nvSpPr>
      <cdr:spPr bwMode="gray">
        <a:xfrm xmlns:a="http://schemas.openxmlformats.org/drawingml/2006/main">
          <a:off x="661364" y="529754"/>
          <a:ext cx="1915511" cy="2643078"/>
        </a:xfrm>
        <a:prstGeom xmlns:a="http://schemas.openxmlformats.org/drawingml/2006/main" prst="roundRect">
          <a:avLst/>
        </a:prstGeom>
        <a:solidFill xmlns:a="http://schemas.openxmlformats.org/drawingml/2006/main">
          <a:schemeClr val="accent3">
            <a:alpha val="26000"/>
          </a:schemeClr>
        </a:solidFill>
        <a:ln xmlns:a="http://schemas.openxmlformats.org/drawingml/2006/main" w="19050" algn="ctr">
          <a:solidFill>
            <a:schemeClr val="tx1"/>
          </a:solidFill>
          <a:prstDash val="dash"/>
          <a:miter lim="800000"/>
          <a:headEnd/>
          <a:tailEnd/>
        </a:ln>
      </cdr:spPr>
      <cdr:txBody>
        <a:bodyPr xmlns:a="http://schemas.openxmlformats.org/drawingml/2006/main" wrap="square" lIns="88900" tIns="88900" rIns="88900" bIns="88900" rtlCol="0" anchor="ctr"/>
        <a:lstStyle xmlns:a="http://schemas.openxmlformats.org/drawingml/2006/main">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xmlns:a="http://schemas.openxmlformats.org/drawingml/2006/main">
          <a:pPr algn="ctr">
            <a:lnSpc>
              <a:spcPct val="106000"/>
            </a:lnSpc>
            <a:buFont typeface="Wingdings 2" pitchFamily="18" charset="2"/>
            <a:buNone/>
          </a:pPr>
          <a:endParaRPr lang="en-US" sz="1600" b="1" dirty="0">
            <a:solidFill>
              <a:prstClr val="white"/>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0.07043</cdr:x>
      <cdr:y>0.75423</cdr:y>
    </cdr:from>
    <cdr:to>
      <cdr:x>0.54123</cdr:x>
      <cdr:y>0.75423</cdr:y>
    </cdr:to>
    <cdr:cxnSp macro="">
      <cdr:nvCxnSpPr>
        <cdr:cNvPr id="8" name="Straight Connector 7">
          <a:extLst xmlns:a="http://schemas.openxmlformats.org/drawingml/2006/main">
            <a:ext uri="{FF2B5EF4-FFF2-40B4-BE49-F238E27FC236}">
              <a16:creationId xmlns:a16="http://schemas.microsoft.com/office/drawing/2014/main" id="{D3A4D8DA-42AC-D7FE-F4A9-EFE8DDE06BE2}"/>
            </a:ext>
          </a:extLst>
        </cdr:cNvPr>
        <cdr:cNvCxnSpPr/>
      </cdr:nvCxnSpPr>
      <cdr:spPr>
        <a:xfrm xmlns:a="http://schemas.openxmlformats.org/drawingml/2006/main">
          <a:off x="701573" y="2971385"/>
          <a:ext cx="4690179" cy="0"/>
        </a:xfrm>
        <a:prstGeom xmlns:a="http://schemas.openxmlformats.org/drawingml/2006/main" prst="line">
          <a:avLst/>
        </a:prstGeom>
        <a:ln xmlns:a="http://schemas.openxmlformats.org/drawingml/2006/main" w="25400">
          <a:solidFill>
            <a:srgbClr val="00B0F0"/>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0.04929</cdr:x>
      <cdr:y>0.18111</cdr:y>
    </cdr:from>
    <cdr:to>
      <cdr:x>0.64019</cdr:x>
      <cdr:y>0.18615</cdr:y>
    </cdr:to>
    <cdr:cxnSp macro="">
      <cdr:nvCxnSpPr>
        <cdr:cNvPr id="12" name="Straight Connector 11">
          <a:extLst xmlns:a="http://schemas.openxmlformats.org/drawingml/2006/main">
            <a:ext uri="{FF2B5EF4-FFF2-40B4-BE49-F238E27FC236}">
              <a16:creationId xmlns:a16="http://schemas.microsoft.com/office/drawing/2014/main" id="{7FF52F2C-4104-3C2D-8444-EC657E8313B1}"/>
            </a:ext>
          </a:extLst>
        </cdr:cNvPr>
        <cdr:cNvCxnSpPr/>
      </cdr:nvCxnSpPr>
      <cdr:spPr>
        <a:xfrm xmlns:a="http://schemas.openxmlformats.org/drawingml/2006/main" flipV="1">
          <a:off x="491071" y="713515"/>
          <a:ext cx="5886511" cy="19830"/>
        </a:xfrm>
        <a:prstGeom xmlns:a="http://schemas.openxmlformats.org/drawingml/2006/main" prst="line">
          <a:avLst/>
        </a:prstGeom>
        <a:ln xmlns:a="http://schemas.openxmlformats.org/drawingml/2006/main" w="25400">
          <a:solidFill>
            <a:schemeClr val="accent4">
              <a:lumMod val="60000"/>
              <a:lumOff val="40000"/>
            </a:schemeClr>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0.57555</cdr:x>
      <cdr:y>0.46708</cdr:y>
    </cdr:from>
    <cdr:to>
      <cdr:x>0.94652</cdr:x>
      <cdr:y>0.46708</cdr:y>
    </cdr:to>
    <cdr:cxnSp macro="">
      <cdr:nvCxnSpPr>
        <cdr:cNvPr id="16" name="Straight Connector 15">
          <a:extLst xmlns:a="http://schemas.openxmlformats.org/drawingml/2006/main">
            <a:ext uri="{FF2B5EF4-FFF2-40B4-BE49-F238E27FC236}">
              <a16:creationId xmlns:a16="http://schemas.microsoft.com/office/drawing/2014/main" id="{4C896892-0F33-91B4-536C-6F14124B04A0}"/>
            </a:ext>
          </a:extLst>
        </cdr:cNvPr>
        <cdr:cNvCxnSpPr/>
      </cdr:nvCxnSpPr>
      <cdr:spPr>
        <a:xfrm xmlns:a="http://schemas.openxmlformats.org/drawingml/2006/main">
          <a:off x="5733582" y="1840105"/>
          <a:ext cx="3695580" cy="0"/>
        </a:xfrm>
        <a:prstGeom xmlns:a="http://schemas.openxmlformats.org/drawingml/2006/main" prst="line">
          <a:avLst/>
        </a:prstGeom>
        <a:ln xmlns:a="http://schemas.openxmlformats.org/drawingml/2006/main" w="25400">
          <a:solidFill>
            <a:srgbClr val="002060"/>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0.57555</cdr:x>
      <cdr:y>0.48059</cdr:y>
    </cdr:from>
    <cdr:to>
      <cdr:x>0.80598</cdr:x>
      <cdr:y>0.59777</cdr:y>
    </cdr:to>
    <cdr:sp macro="" textlink="">
      <cdr:nvSpPr>
        <cdr:cNvPr id="22" name="TextBox 1"/>
        <cdr:cNvSpPr txBox="1"/>
      </cdr:nvSpPr>
      <cdr:spPr>
        <a:xfrm xmlns:a="http://schemas.openxmlformats.org/drawingml/2006/main">
          <a:off x="5733582" y="1893319"/>
          <a:ext cx="2295525" cy="461665"/>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xmlns:a="http://schemas.openxmlformats.org/drawingml/2006/main">
          <a:pPr algn="ctr">
            <a:spcBef>
              <a:spcPts val="600"/>
            </a:spcBef>
            <a:buSzPct val="100000"/>
          </a:pPr>
          <a:r>
            <a:rPr lang="en-US" sz="1000" b="1" dirty="0">
              <a:solidFill>
                <a:srgbClr val="002060"/>
              </a:solidFill>
            </a:rPr>
            <a:t>Average projected BST in FY21 (with value enablers) – BDT 5.57 / kwh</a:t>
          </a:r>
          <a:endParaRPr lang="en-IN" sz="1000" b="1" dirty="0">
            <a:solidFill>
              <a:srgbClr val="002060"/>
            </a:solidFill>
          </a:endParaRPr>
        </a:p>
      </cdr:txBody>
    </cdr:sp>
  </cdr:relSizeAnchor>
  <cdr:relSizeAnchor xmlns:cdr="http://schemas.openxmlformats.org/drawingml/2006/chartDrawing">
    <cdr:from>
      <cdr:x>0.0607</cdr:x>
      <cdr:y>0.08524</cdr:y>
    </cdr:from>
    <cdr:to>
      <cdr:x>0.44318</cdr:x>
      <cdr:y>0.16336</cdr:y>
    </cdr:to>
    <cdr:sp macro="" textlink="">
      <cdr:nvSpPr>
        <cdr:cNvPr id="24" name="TextBox 1"/>
        <cdr:cNvSpPr txBox="1"/>
      </cdr:nvSpPr>
      <cdr:spPr>
        <a:xfrm xmlns:a="http://schemas.openxmlformats.org/drawingml/2006/main">
          <a:off x="604716" y="335806"/>
          <a:ext cx="3810246" cy="307777"/>
        </a:xfrm>
        <a:prstGeom xmlns:a="http://schemas.openxmlformats.org/drawingml/2006/main" prst="rect">
          <a:avLst/>
        </a:prstGeom>
        <a:noFill xmlns:a="http://schemas.openxmlformats.org/drawingml/2006/main"/>
        <a:scene3d xmlns:a="http://schemas.openxmlformats.org/drawingml/2006/main">
          <a:camera prst="orthographicFront">
            <a:rot lat="0" lon="0" rev="0"/>
          </a:camera>
          <a:lightRig rig="threePt" dir="t"/>
        </a:scene3d>
      </cdr:spPr>
      <cdr:txBody>
        <a:bodyPr xmlns:a="http://schemas.openxmlformats.org/drawingml/2006/main" wrap="square" lIns="0" tIns="0" rIns="0" bIns="0" rtlCol="0">
          <a:spAutoFit/>
        </a:bodyPr>
        <a:lstStyle xmlns:a="http://schemas.openxmlformats.org/drawingml/2006/main">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xmlns:a="http://schemas.openxmlformats.org/drawingml/2006/main">
          <a:pPr algn="ctr">
            <a:spcBef>
              <a:spcPts val="600"/>
            </a:spcBef>
            <a:buSzPct val="100000"/>
          </a:pPr>
          <a:r>
            <a:rPr lang="en-US" sz="1000" b="1" dirty="0">
              <a:solidFill>
                <a:srgbClr val="0F58FD"/>
              </a:solidFill>
            </a:rPr>
            <a:t>Average projected BST in FY21 (without value enablers) – BDT 6.03 / kwh</a:t>
          </a:r>
          <a:endParaRPr lang="en-IN" sz="1000" b="1" dirty="0">
            <a:solidFill>
              <a:srgbClr val="0F58FD"/>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0.10821</cdr:x>
      <cdr:y>0.07401</cdr:y>
    </cdr:from>
    <cdr:to>
      <cdr:x>0.18597</cdr:x>
      <cdr:y>0.15835</cdr:y>
    </cdr:to>
    <cdr:sp macro="" textlink="">
      <cdr:nvSpPr>
        <cdr:cNvPr id="2" name="Text Box 2"/>
        <cdr:cNvSpPr txBox="1">
          <a:spLocks xmlns:a="http://schemas.openxmlformats.org/drawingml/2006/main" noChangeArrowheads="1"/>
        </cdr:cNvSpPr>
      </cdr:nvSpPr>
      <cdr:spPr bwMode="auto">
        <a:xfrm xmlns:a="http://schemas.openxmlformats.org/drawingml/2006/main">
          <a:off x="631825" y="175532"/>
          <a:ext cx="454025" cy="2000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591</a:t>
          </a:r>
        </a:p>
      </cdr:txBody>
    </cdr:sp>
  </cdr:relSizeAnchor>
  <cdr:relSizeAnchor xmlns:cdr="http://schemas.openxmlformats.org/drawingml/2006/chartDrawing">
    <cdr:from>
      <cdr:x>0.24905</cdr:x>
      <cdr:y>0.07551</cdr:y>
    </cdr:from>
    <cdr:to>
      <cdr:x>0.34095</cdr:x>
      <cdr:y>0.1545</cdr:y>
    </cdr:to>
    <cdr:sp macro="" textlink="">
      <cdr:nvSpPr>
        <cdr:cNvPr id="3" name="Text Box 2"/>
        <cdr:cNvSpPr txBox="1">
          <a:spLocks xmlns:a="http://schemas.openxmlformats.org/drawingml/2006/main" noChangeArrowheads="1"/>
        </cdr:cNvSpPr>
      </cdr:nvSpPr>
      <cdr:spPr bwMode="auto">
        <a:xfrm xmlns:a="http://schemas.openxmlformats.org/drawingml/2006/main">
          <a:off x="1454150" y="179095"/>
          <a:ext cx="536575" cy="187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1071</a:t>
          </a:r>
        </a:p>
      </cdr:txBody>
    </cdr:sp>
  </cdr:relSizeAnchor>
  <cdr:relSizeAnchor xmlns:cdr="http://schemas.openxmlformats.org/drawingml/2006/chartDrawing">
    <cdr:from>
      <cdr:x>0.40131</cdr:x>
      <cdr:y>0.07669</cdr:y>
    </cdr:from>
    <cdr:to>
      <cdr:x>0.4932</cdr:x>
      <cdr:y>0.15567</cdr:y>
    </cdr:to>
    <cdr:sp macro="" textlink="">
      <cdr:nvSpPr>
        <cdr:cNvPr id="4" name="Text Box 1"/>
        <cdr:cNvSpPr txBox="1">
          <a:spLocks xmlns:a="http://schemas.openxmlformats.org/drawingml/2006/main" noChangeArrowheads="1"/>
        </cdr:cNvSpPr>
      </cdr:nvSpPr>
      <cdr:spPr bwMode="auto">
        <a:xfrm xmlns:a="http://schemas.openxmlformats.org/drawingml/2006/main">
          <a:off x="2343150" y="181882"/>
          <a:ext cx="536575" cy="187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1268</a:t>
          </a:r>
        </a:p>
      </cdr:txBody>
    </cdr:sp>
  </cdr:relSizeAnchor>
  <cdr:relSizeAnchor xmlns:cdr="http://schemas.openxmlformats.org/drawingml/2006/chartDrawing">
    <cdr:from>
      <cdr:x>0.5487</cdr:x>
      <cdr:y>0.07641</cdr:y>
    </cdr:from>
    <cdr:to>
      <cdr:x>0.6406</cdr:x>
      <cdr:y>0.1554</cdr:y>
    </cdr:to>
    <cdr:sp macro="" textlink="">
      <cdr:nvSpPr>
        <cdr:cNvPr id="5" name="Text Box 1"/>
        <cdr:cNvSpPr txBox="1">
          <a:spLocks xmlns:a="http://schemas.openxmlformats.org/drawingml/2006/main" noChangeArrowheads="1"/>
        </cdr:cNvSpPr>
      </cdr:nvSpPr>
      <cdr:spPr bwMode="auto">
        <a:xfrm xmlns:a="http://schemas.openxmlformats.org/drawingml/2006/main">
          <a:off x="3203769" y="181234"/>
          <a:ext cx="536575" cy="187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8308</a:t>
          </a:r>
        </a:p>
      </cdr:txBody>
    </cdr:sp>
  </cdr:relSizeAnchor>
  <cdr:relSizeAnchor xmlns:cdr="http://schemas.openxmlformats.org/drawingml/2006/chartDrawing">
    <cdr:from>
      <cdr:x>0.70013</cdr:x>
      <cdr:y>0.06355</cdr:y>
    </cdr:from>
    <cdr:to>
      <cdr:x>0.79692</cdr:x>
      <cdr:y>0.15458</cdr:y>
    </cdr:to>
    <cdr:sp macro="" textlink="">
      <cdr:nvSpPr>
        <cdr:cNvPr id="6" name="Text Box 1"/>
        <cdr:cNvSpPr txBox="1">
          <a:spLocks xmlns:a="http://schemas.openxmlformats.org/drawingml/2006/main" noChangeArrowheads="1"/>
        </cdr:cNvSpPr>
      </cdr:nvSpPr>
      <cdr:spPr bwMode="auto">
        <a:xfrm xmlns:a="http://schemas.openxmlformats.org/drawingml/2006/main">
          <a:off x="4087910" y="150715"/>
          <a:ext cx="565150" cy="215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10625</a:t>
          </a:r>
        </a:p>
      </cdr:txBody>
    </cdr:sp>
  </cdr:relSizeAnchor>
  <cdr:relSizeAnchor xmlns:cdr="http://schemas.openxmlformats.org/drawingml/2006/chartDrawing">
    <cdr:from>
      <cdr:x>0.84648</cdr:x>
      <cdr:y>0.06489</cdr:y>
    </cdr:from>
    <cdr:to>
      <cdr:x>0.94327</cdr:x>
      <cdr:y>0.15592</cdr:y>
    </cdr:to>
    <cdr:sp macro="" textlink="">
      <cdr:nvSpPr>
        <cdr:cNvPr id="7" name="Text Box 1"/>
        <cdr:cNvSpPr txBox="1">
          <a:spLocks xmlns:a="http://schemas.openxmlformats.org/drawingml/2006/main" noChangeArrowheads="1"/>
        </cdr:cNvSpPr>
      </cdr:nvSpPr>
      <cdr:spPr bwMode="auto">
        <a:xfrm xmlns:a="http://schemas.openxmlformats.org/drawingml/2006/main">
          <a:off x="4942438" y="153890"/>
          <a:ext cx="565150" cy="215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miter lim="800000"/>
          <a:headEnd/>
          <a:tailEnd/>
        </a:ln>
      </cdr:spPr>
      <cdr:txBody>
        <a:bodyPr xmlns:a="http://schemas.openxmlformats.org/drawingml/2006/main" rot="0" vert="horz" wrap="square" lIns="91440" tIns="45720" rIns="91440" bIns="45720" anchor="t" anchorCtr="0">
          <a:noAutofit/>
        </a:bodyPr>
        <a:lstStyle xmlns:a="http://schemas.openxmlformats.org/drawingml/2006/main"/>
        <a:p xmlns:a="http://schemas.openxmlformats.org/drawingml/2006/main">
          <a:pPr algn="ctr"/>
          <a:r>
            <a:rPr lang="en-IN" sz="1200">
              <a:latin typeface="Verdana" panose="020B0604030504040204" pitchFamily="34" charset="0"/>
              <a:ea typeface="Verdana" panose="020B0604030504040204" pitchFamily="34" charset="0"/>
              <a:cs typeface="Verdana" panose="020B0604030504040204" pitchFamily="34" charset="0"/>
            </a:rPr>
            <a:t>53</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2945862" cy="493097"/>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50294" y="4"/>
            <a:ext cx="2945862" cy="493097"/>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04-Dec-24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5" y="9378037"/>
            <a:ext cx="2945862" cy="493097"/>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50294" y="9378037"/>
            <a:ext cx="2945862" cy="493097"/>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945659" cy="493633"/>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50446" y="2"/>
            <a:ext cx="2945659" cy="493633"/>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04-Dec-24</a:t>
            </a:fld>
            <a:endParaRPr lang="en-US" dirty="0"/>
          </a:p>
        </p:txBody>
      </p:sp>
      <p:sp>
        <p:nvSpPr>
          <p:cNvPr id="4" name="Slide Image Placeholder 3"/>
          <p:cNvSpPr>
            <a:spLocks noGrp="1" noRot="1" noChangeAspect="1"/>
          </p:cNvSpPr>
          <p:nvPr>
            <p:ph type="sldImg" idx="2"/>
          </p:nvPr>
        </p:nvSpPr>
        <p:spPr>
          <a:xfrm>
            <a:off x="782638" y="739775"/>
            <a:ext cx="5232400" cy="3702050"/>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679768" y="4689516"/>
            <a:ext cx="5438140" cy="4442698"/>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2" y="9377318"/>
            <a:ext cx="2945659" cy="493633"/>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50446" y="9377318"/>
            <a:ext cx="2945659" cy="493633"/>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042873" rtl="0" eaLnBrk="1" latinLnBrk="0" hangingPunct="1">
      <a:defRPr sz="1369" kern="1200">
        <a:solidFill>
          <a:schemeClr val="tx1"/>
        </a:solidFill>
        <a:latin typeface="Arial" panose="020B0604020202020204" pitchFamily="34" charset="0"/>
        <a:ea typeface="+mn-ea"/>
        <a:cs typeface="+mn-cs"/>
      </a:defRPr>
    </a:lvl1pPr>
    <a:lvl2pPr marL="521437" algn="l" defTabSz="1042873" rtl="0" eaLnBrk="1" latinLnBrk="0" hangingPunct="1">
      <a:defRPr sz="1369" kern="1200">
        <a:solidFill>
          <a:schemeClr val="tx1"/>
        </a:solidFill>
        <a:latin typeface="Arial" panose="020B0604020202020204" pitchFamily="34" charset="0"/>
        <a:ea typeface="+mn-ea"/>
        <a:cs typeface="+mn-cs"/>
      </a:defRPr>
    </a:lvl2pPr>
    <a:lvl3pPr marL="1042873" algn="l" defTabSz="1042873" rtl="0" eaLnBrk="1" latinLnBrk="0" hangingPunct="1">
      <a:defRPr sz="1369" kern="1200">
        <a:solidFill>
          <a:schemeClr val="tx1"/>
        </a:solidFill>
        <a:latin typeface="Arial" panose="020B0604020202020204" pitchFamily="34" charset="0"/>
        <a:ea typeface="+mn-ea"/>
        <a:cs typeface="+mn-cs"/>
      </a:defRPr>
    </a:lvl3pPr>
    <a:lvl4pPr marL="1564310" algn="l" defTabSz="1042873" rtl="0" eaLnBrk="1" latinLnBrk="0" hangingPunct="1">
      <a:defRPr sz="1369" kern="1200">
        <a:solidFill>
          <a:schemeClr val="tx1"/>
        </a:solidFill>
        <a:latin typeface="Arial" panose="020B0604020202020204" pitchFamily="34" charset="0"/>
        <a:ea typeface="+mn-ea"/>
        <a:cs typeface="+mn-cs"/>
      </a:defRPr>
    </a:lvl4pPr>
    <a:lvl5pPr marL="2085746" algn="l" defTabSz="1042873" rtl="0" eaLnBrk="1" latinLnBrk="0" hangingPunct="1">
      <a:defRPr sz="1369" kern="1200">
        <a:solidFill>
          <a:schemeClr val="tx1"/>
        </a:solidFill>
        <a:latin typeface="Arial" panose="020B0604020202020204" pitchFamily="34" charset="0"/>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2638" y="739775"/>
            <a:ext cx="5232400"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4074371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967289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2101720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918397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911550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solidFill>
                  <a:prstClr val="black"/>
                </a:solidFill>
              </a:rPr>
              <a:pPr/>
              <a:t>42</a:t>
            </a:fld>
            <a:endParaRPr lang="en-GB" dirty="0">
              <a:solidFill>
                <a:prstClr val="black"/>
              </a:solidFill>
            </a:endParaRPr>
          </a:p>
        </p:txBody>
      </p:sp>
    </p:spTree>
    <p:extLst>
      <p:ext uri="{BB962C8B-B14F-4D97-AF65-F5344CB8AC3E}">
        <p14:creationId xmlns:p14="http://schemas.microsoft.com/office/powerpoint/2010/main" val="8582061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deloitte.com/about" TargetMode="External"/><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96866" y="801940"/>
            <a:ext cx="6312188" cy="5955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bg1"/>
                </a:solidFill>
              </a:defRPr>
            </a:lvl1pPr>
            <a:lvl2pPr marL="0" marR="0" indent="0" algn="l" defTabSz="1008400" rtl="0" eaLnBrk="1" fontAlgn="auto" latinLnBrk="0" hangingPunct="1">
              <a:lnSpc>
                <a:spcPct val="100000"/>
              </a:lnSpc>
              <a:spcBef>
                <a:spcPts val="0"/>
              </a:spcBef>
              <a:spcAft>
                <a:spcPts val="0"/>
              </a:spcAft>
              <a:buClrTx/>
              <a:buSzPct val="100000"/>
              <a:buFont typeface="Arial"/>
              <a:buNone/>
              <a:tabLst/>
              <a:defRPr sz="1764" b="0">
                <a:solidFill>
                  <a:schemeClr val="bg1"/>
                </a:solidFill>
              </a:defRPr>
            </a:lvl2pPr>
            <a:lvl3pPr marL="0" indent="0" algn="l">
              <a:spcAft>
                <a:spcPts val="0"/>
              </a:spcAft>
              <a:buNone/>
              <a:defRPr sz="1764">
                <a:solidFill>
                  <a:schemeClr val="bg1"/>
                </a:solidFill>
              </a:defRPr>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marL="0" marR="0" lvl="1" indent="0" algn="l" defTabSz="1008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255975527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289402741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bg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377051653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dirty="0">
                <a:solidFill>
                  <a:prstClr val="white"/>
                </a:solidFill>
              </a:endParaRPr>
            </a:p>
          </p:txBody>
        </p:sp>
      </p:grpSp>
    </p:spTree>
    <p:extLst>
      <p:ext uri="{BB962C8B-B14F-4D97-AF65-F5344CB8AC3E}">
        <p14:creationId xmlns:p14="http://schemas.microsoft.com/office/powerpoint/2010/main" val="1188364578"/>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7" name="TextBox 6"/>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8" name="TextBox 7"/>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113228638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3" y="3781425"/>
            <a:ext cx="9243907"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328516292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01124301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8362208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46146260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13899404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4" y="1796176"/>
            <a:ext cx="8023816"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9425519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4440"/>
            <a:ext cx="8133385" cy="5248763"/>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395057627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12144992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7667795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33903502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01019421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a:t>Click icon to add picture</a:t>
            </a:r>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9816014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17446130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7105" y="1261256"/>
            <a:ext cx="9788639"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136120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488327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5" y="1836444"/>
            <a:ext cx="9809051" cy="4324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39794" y="6750118"/>
            <a:ext cx="980905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95662615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439792" y="6750118"/>
            <a:ext cx="978864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88429214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1"/>
            <a:ext cx="982129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5116937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439793"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49754886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57582969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1000"/>
            </a:lvl1pPr>
          </a:lstStyle>
          <a:p>
            <a:pPr lvl="0"/>
            <a:r>
              <a:rPr lang="en-US" noProof="0"/>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noProof="0" dirty="0"/>
              <a:t>Click icon to add chart</a:t>
            </a:r>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a:t>Click to edit Master text styles</a:t>
            </a:r>
          </a:p>
        </p:txBody>
      </p:sp>
    </p:spTree>
    <p:extLst>
      <p:ext uri="{BB962C8B-B14F-4D97-AF65-F5344CB8AC3E}">
        <p14:creationId xmlns:p14="http://schemas.microsoft.com/office/powerpoint/2010/main" val="140471631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1"/>
            <a:ext cx="9809051"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5967509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Autofit/>
          </a:bodyPr>
          <a:lstStyle>
            <a:lvl1pPr>
              <a:tabLst>
                <a:tab pos="5546202" algn="r"/>
              </a:tabLst>
              <a:defRPr sz="2647">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5576917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25790486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Rectangle 3"/>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5" name="Rectangle 4"/>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6" name="Rectangle 5"/>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7" name="Rectangle 6"/>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9176688"/>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a:t>Click icon to add picture</a:t>
            </a:r>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a:t>Click icon to add picture</a:t>
            </a:r>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a:t>Click icon to add picture</a:t>
            </a:r>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9873346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13623250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6842591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13" name="Rectangle 12"/>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dirty="0">
              <a:solidFill>
                <a:prstClr val="white"/>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Tree>
    <p:extLst>
      <p:ext uri="{BB962C8B-B14F-4D97-AF65-F5344CB8AC3E}">
        <p14:creationId xmlns:p14="http://schemas.microsoft.com/office/powerpoint/2010/main" val="78900189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5" name="Rectangle 4"/>
          <p:cNvSpPr/>
          <p:nvPr userDrawn="1"/>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6" name="Rectangle 5"/>
          <p:cNvSpPr/>
          <p:nvPr userDrawn="1"/>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dirty="0">
              <a:solidFill>
                <a:prstClr val="white"/>
              </a:solidFill>
            </a:endParaRPr>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0016054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5071467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793" y="350132"/>
            <a:ext cx="9809053" cy="408241"/>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797856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2954090"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6326"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439793" y="758374"/>
            <a:ext cx="9809053" cy="835084"/>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algn="r">
              <a:buSzPct val="100000"/>
              <a:buFont typeface="Arial"/>
              <a:buNone/>
            </a:pPr>
            <a:r>
              <a:rPr lang="en-US" sz="717" dirty="0">
                <a:solidFill>
                  <a:prstClr val="white"/>
                </a:solidFill>
              </a:rPr>
              <a:t>Presentation title</a:t>
            </a:r>
            <a:br>
              <a:rPr lang="en-US" sz="717" dirty="0">
                <a:solidFill>
                  <a:prstClr val="white"/>
                </a:solidFill>
              </a:rPr>
            </a:br>
            <a:r>
              <a:rPr lang="en-US" sz="717" dirty="0">
                <a:solidFill>
                  <a:prstClr val="white"/>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a:spcBef>
                <a:spcPts val="662"/>
              </a:spcBef>
              <a:buSzPct val="100000"/>
              <a:buFont typeface="Arial"/>
              <a:buNone/>
            </a:pPr>
            <a:r>
              <a:rPr lang="fr-FR" sz="717" dirty="0">
                <a:solidFill>
                  <a:prstClr val="white"/>
                </a:solidFill>
              </a:rPr>
              <a:t>© 2017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algn="r">
              <a:spcBef>
                <a:spcPts val="662"/>
              </a:spcBef>
              <a:buSzPct val="100000"/>
              <a:buFont typeface="Arial"/>
              <a:buNone/>
            </a:pPr>
            <a:fld id="{C58DF478-B544-4ED8-9ED4-6A2648E2D233}" type="slidenum">
              <a:rPr lang="en-US" sz="717" smtClean="0">
                <a:solidFill>
                  <a:prstClr val="white"/>
                </a:solidFill>
              </a:rPr>
              <a:pPr algn="r">
                <a:spcBef>
                  <a:spcPts val="662"/>
                </a:spcBef>
                <a:buSzPct val="100000"/>
                <a:buFont typeface="Arial"/>
                <a:buNone/>
              </a:pPr>
              <a:t>‹#›</a:t>
            </a:fld>
            <a:endParaRPr lang="en-US" sz="717" dirty="0">
              <a:solidFill>
                <a:prstClr val="white"/>
              </a:solidFill>
            </a:endParaRPr>
          </a:p>
        </p:txBody>
      </p:sp>
    </p:spTree>
    <p:extLst>
      <p:ext uri="{BB962C8B-B14F-4D97-AF65-F5344CB8AC3E}">
        <p14:creationId xmlns:p14="http://schemas.microsoft.com/office/powerpoint/2010/main" val="291113859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0801419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307775092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090801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96866" y="801940"/>
            <a:ext cx="6312188" cy="5955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bg1"/>
                </a:solidFill>
              </a:defRPr>
            </a:lvl1pPr>
            <a:lvl2pPr marL="0" marR="0" indent="0" algn="l" defTabSz="1008400" rtl="0" eaLnBrk="1" fontAlgn="auto" latinLnBrk="0" hangingPunct="1">
              <a:lnSpc>
                <a:spcPct val="100000"/>
              </a:lnSpc>
              <a:spcBef>
                <a:spcPts val="0"/>
              </a:spcBef>
              <a:spcAft>
                <a:spcPts val="0"/>
              </a:spcAft>
              <a:buClrTx/>
              <a:buSzPct val="100000"/>
              <a:buFont typeface="Arial"/>
              <a:buNone/>
              <a:tabLst/>
              <a:defRPr sz="1764" b="0">
                <a:solidFill>
                  <a:schemeClr val="bg1"/>
                </a:solidFill>
              </a:defRPr>
            </a:lvl2pPr>
            <a:lvl3pPr marL="0" indent="0" algn="l">
              <a:spcAft>
                <a:spcPts val="0"/>
              </a:spcAft>
              <a:buNone/>
              <a:defRPr sz="1764">
                <a:solidFill>
                  <a:schemeClr val="bg1"/>
                </a:solidFill>
              </a:defRPr>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marL="0" marR="0" lvl="1" indent="0" algn="l" defTabSz="1008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bg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7" name="TextBox 6"/>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8" name="TextBox 7"/>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3" y="3781425"/>
            <a:ext cx="9243907"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4" y="1796176"/>
            <a:ext cx="8023816"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4440"/>
            <a:ext cx="8133385" cy="5248763"/>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a:t>Click icon to add picture</a:t>
            </a:r>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7105" y="1261256"/>
            <a:ext cx="9788639"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5" y="1836444"/>
            <a:ext cx="9809051" cy="4324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39794" y="6750118"/>
            <a:ext cx="980905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439792" y="6750118"/>
            <a:ext cx="978864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1"/>
            <a:ext cx="982129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439793"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1000"/>
            </a:lvl1pPr>
          </a:lstStyle>
          <a:p>
            <a:pPr lvl="0"/>
            <a:r>
              <a:rPr lang="en-US" noProof="0"/>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noProof="0" dirty="0"/>
              <a:t>Click icon to add chart</a:t>
            </a:r>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a:t>Click to edit Master text styles</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1"/>
            <a:ext cx="9809051"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Autofit/>
          </a:bodyPr>
          <a:lstStyle>
            <a:lvl1pPr>
              <a:tabLst>
                <a:tab pos="5546202" algn="r"/>
              </a:tabLst>
              <a:defRPr sz="2647">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Rectangle 3"/>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Rectangle 6"/>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a:t>Click icon to add picture</a:t>
            </a:r>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a:t>Click icon to add picture</a:t>
            </a:r>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a:t>Click icon to add picture</a:t>
            </a:r>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3" name="Rectangle 12"/>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3787313" y="1881304"/>
            <a:ext cx="311762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441853" y="1874958"/>
            <a:ext cx="3121026"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7114625" y="1881304"/>
            <a:ext cx="31419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793" y="350132"/>
            <a:ext cx="9809053" cy="408241"/>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797856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2954090"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6326"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439793" y="758374"/>
            <a:ext cx="9809053" cy="835084"/>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2017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550"/>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a:defRPr sz="1488"/>
            </a:lvl1pPr>
            <a:lvl2pPr>
              <a:defRPr sz="1488"/>
            </a:lvl2pPr>
            <a:lvl3pPr>
              <a:defRPr sz="1488"/>
            </a:lvl3pPr>
            <a:lvl4pPr>
              <a:defRPr sz="1488"/>
            </a:lvl4pPr>
            <a:lvl5pPr>
              <a:defRPr sz="1488"/>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1793389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2061" y="4644850"/>
            <a:ext cx="7454990" cy="2392803"/>
          </a:xfrm>
        </p:spPr>
        <p:txBody>
          <a:bodyPr anchor="b" anchorCtr="0"/>
          <a:lstStyle>
            <a:lvl1pPr>
              <a:lnSpc>
                <a:spcPct val="100000"/>
              </a:lnSpc>
              <a:spcAft>
                <a:spcPts val="662"/>
              </a:spcAft>
              <a:defRPr sz="993"/>
            </a:lvl1pPr>
          </a:lstStyle>
          <a:p>
            <a:pPr lvl="0"/>
            <a:r>
              <a:rPr lang="en-US"/>
              <a:t>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2062" y="446419"/>
            <a:ext cx="1956778" cy="345339"/>
          </a:xfrm>
          <a:prstGeom prst="rect">
            <a:avLst/>
          </a:prstGeom>
        </p:spPr>
      </p:pic>
      <p:sp>
        <p:nvSpPr>
          <p:cNvPr id="3" name="Picture Placeholder 2"/>
          <p:cNvSpPr>
            <a:spLocks noGrp="1"/>
          </p:cNvSpPr>
          <p:nvPr>
            <p:ph type="pic" sz="quarter" idx="14" hasCustomPrompt="1"/>
          </p:nvPr>
        </p:nvSpPr>
        <p:spPr>
          <a:xfrm>
            <a:off x="8215354" y="5002095"/>
            <a:ext cx="1764654" cy="1545541"/>
          </a:xfrm>
        </p:spPr>
        <p:txBody>
          <a:bodyPr anchor="ctr" anchorCtr="0"/>
          <a:lstStyle>
            <a:lvl1pPr algn="ctr">
              <a:defRPr sz="993"/>
            </a:lvl1pPr>
          </a:lstStyle>
          <a:p>
            <a:r>
              <a:rPr lang="en-GB" sz="993" dirty="0"/>
              <a:t>Insert sponsorship mark here</a:t>
            </a:r>
            <a:endParaRPr lang="en-GB" dirty="0"/>
          </a:p>
        </p:txBody>
      </p:sp>
      <p:sp>
        <p:nvSpPr>
          <p:cNvPr id="8" name="Text Placeholder 7"/>
          <p:cNvSpPr>
            <a:spLocks noGrp="1"/>
          </p:cNvSpPr>
          <p:nvPr>
            <p:ph type="body" sz="quarter" idx="15"/>
          </p:nvPr>
        </p:nvSpPr>
        <p:spPr>
          <a:xfrm>
            <a:off x="8215356" y="6636547"/>
            <a:ext cx="1764653" cy="401105"/>
          </a:xfrm>
        </p:spPr>
        <p:txBody>
          <a:bodyPr anchor="b" anchorCtr="0"/>
          <a:lstStyle>
            <a:lvl1pPr>
              <a:lnSpc>
                <a:spcPct val="100000"/>
              </a:lnSpc>
              <a:defRPr sz="1048"/>
            </a:lvl1pPr>
          </a:lstStyle>
          <a:p>
            <a:pPr lvl="0"/>
            <a:r>
              <a:rPr lang="en-US"/>
              <a:t>Edit Master text styles</a:t>
            </a:r>
          </a:p>
        </p:txBody>
      </p:sp>
    </p:spTree>
    <p:extLst>
      <p:ext uri="{BB962C8B-B14F-4D97-AF65-F5344CB8AC3E}">
        <p14:creationId xmlns:p14="http://schemas.microsoft.com/office/powerpoint/2010/main" val="16488314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0813" y="2977501"/>
            <a:ext cx="9847013" cy="526085"/>
          </a:xfrm>
        </p:spPr>
        <p:txBody>
          <a:bodyPr lIns="0" tIns="0" rIns="0" bIns="0" anchor="t" anchorCtr="0">
            <a:spAutoFit/>
          </a:bodyPr>
          <a:lstStyle>
            <a:lvl1pPr algn="l">
              <a:defRPr sz="3294" b="0">
                <a:solidFill>
                  <a:schemeClr val="accent1"/>
                </a:solidFill>
                <a:latin typeface="+mj-lt"/>
              </a:defRPr>
            </a:lvl1pPr>
          </a:lstStyle>
          <a:p>
            <a:r>
              <a:rPr lang="en-US"/>
              <a:t>Click to edit Master title style</a:t>
            </a:r>
            <a:endParaRPr lang="en-GB" dirty="0"/>
          </a:p>
        </p:txBody>
      </p:sp>
      <p:sp>
        <p:nvSpPr>
          <p:cNvPr id="3" name="Subtitle 2"/>
          <p:cNvSpPr>
            <a:spLocks noGrp="1"/>
          </p:cNvSpPr>
          <p:nvPr>
            <p:ph type="subTitle" idx="1"/>
          </p:nvPr>
        </p:nvSpPr>
        <p:spPr>
          <a:xfrm>
            <a:off x="420812" y="5955001"/>
            <a:ext cx="6312188" cy="339410"/>
          </a:xfrm>
        </p:spPr>
        <p:txBody>
          <a:bodyPr lIns="0" tIns="0" rIns="0" bIns="0">
            <a:spAutoFit/>
          </a:bodyPr>
          <a:lstStyle>
            <a:lvl1pPr marL="0" indent="0" algn="l">
              <a:buNone/>
              <a:defRPr sz="2125">
                <a:solidFill>
                  <a:schemeClr val="accent1"/>
                </a:solidFill>
              </a:defRPr>
            </a:lvl1pPr>
            <a:lvl2pPr marL="541352" indent="0" algn="ctr">
              <a:buNone/>
              <a:defRPr>
                <a:solidFill>
                  <a:schemeClr val="tx1">
                    <a:tint val="75000"/>
                  </a:schemeClr>
                </a:solidFill>
              </a:defRPr>
            </a:lvl2pPr>
            <a:lvl3pPr marL="1082704" indent="0" algn="ctr">
              <a:buNone/>
              <a:defRPr>
                <a:solidFill>
                  <a:schemeClr val="tx1">
                    <a:tint val="75000"/>
                  </a:schemeClr>
                </a:solidFill>
              </a:defRPr>
            </a:lvl3pPr>
            <a:lvl4pPr marL="1624057" indent="0" algn="ctr">
              <a:buNone/>
              <a:defRPr>
                <a:solidFill>
                  <a:schemeClr val="tx1">
                    <a:tint val="75000"/>
                  </a:schemeClr>
                </a:solidFill>
              </a:defRPr>
            </a:lvl4pPr>
            <a:lvl5pPr marL="2165410" indent="0" algn="ctr">
              <a:buNone/>
              <a:defRPr>
                <a:solidFill>
                  <a:schemeClr val="tx1">
                    <a:tint val="75000"/>
                  </a:schemeClr>
                </a:solidFill>
              </a:defRPr>
            </a:lvl5pPr>
            <a:lvl6pPr marL="2706762" indent="0" algn="ctr">
              <a:buNone/>
              <a:defRPr>
                <a:solidFill>
                  <a:schemeClr val="tx1">
                    <a:tint val="75000"/>
                  </a:schemeClr>
                </a:solidFill>
              </a:defRPr>
            </a:lvl6pPr>
            <a:lvl7pPr marL="3248114" indent="0" algn="ctr">
              <a:buNone/>
              <a:defRPr>
                <a:solidFill>
                  <a:schemeClr val="tx1">
                    <a:tint val="75000"/>
                  </a:schemeClr>
                </a:solidFill>
              </a:defRPr>
            </a:lvl7pPr>
            <a:lvl8pPr marL="3789467" indent="0" algn="ctr">
              <a:buNone/>
              <a:defRPr>
                <a:solidFill>
                  <a:schemeClr val="tx1">
                    <a:tint val="75000"/>
                  </a:schemeClr>
                </a:solidFill>
              </a:defRPr>
            </a:lvl8pPr>
            <a:lvl9pPr marL="4330819" indent="0" algn="ctr">
              <a:buNone/>
              <a:defRPr>
                <a:solidFill>
                  <a:schemeClr val="tx1">
                    <a:tint val="75000"/>
                  </a:schemeClr>
                </a:solidFill>
              </a:defRPr>
            </a:lvl9pPr>
          </a:lstStyle>
          <a:p>
            <a:r>
              <a:rPr lang="en-US"/>
              <a:t>Click to edit Master subtitle style</a:t>
            </a:r>
            <a:endParaRPr lang="en-GB" dirty="0"/>
          </a:p>
        </p:txBody>
      </p:sp>
      <p:pic>
        <p:nvPicPr>
          <p:cNvPr id="7" name="Picture 4" descr="DEL_COL"/>
          <p:cNvPicPr preferRelativeResize="0">
            <a:picLocks noChangeAspect="1" noChangeArrowheads="1"/>
          </p:cNvPicPr>
          <p:nvPr userDrawn="1"/>
        </p:nvPicPr>
        <p:blipFill>
          <a:blip r:embed="rId2" cstate="print"/>
          <a:stretch>
            <a:fillRect/>
          </a:stretch>
        </p:blipFill>
        <p:spPr bwMode="auto">
          <a:xfrm>
            <a:off x="419382" y="395650"/>
            <a:ext cx="2009738" cy="417122"/>
          </a:xfrm>
          <a:prstGeom prst="rect">
            <a:avLst/>
          </a:prstGeom>
          <a:noFill/>
          <a:ln>
            <a:noFill/>
          </a:ln>
        </p:spPr>
      </p:pic>
    </p:spTree>
    <p:extLst>
      <p:ext uri="{BB962C8B-B14F-4D97-AF65-F5344CB8AC3E}">
        <p14:creationId xmlns:p14="http://schemas.microsoft.com/office/powerpoint/2010/main" val="321992563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976" b="0">
                <a:latin typeface="+mj-lt"/>
              </a:defRPr>
            </a:lvl1pPr>
          </a:lstStyle>
          <a:p>
            <a:r>
              <a:rPr lang="en-US" dirty="0"/>
              <a:t>Click to edit Master title style</a:t>
            </a:r>
            <a:endParaRPr lang="en-GB" dirty="0"/>
          </a:p>
        </p:txBody>
      </p:sp>
    </p:spTree>
    <p:extLst>
      <p:ext uri="{BB962C8B-B14F-4D97-AF65-F5344CB8AC3E}">
        <p14:creationId xmlns:p14="http://schemas.microsoft.com/office/powerpoint/2010/main" val="42267008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550"/>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a:defRPr sz="1488"/>
            </a:lvl1pPr>
            <a:lvl2pPr>
              <a:defRPr sz="1488"/>
            </a:lvl2pPr>
            <a:lvl3pPr>
              <a:defRPr sz="1488"/>
            </a:lvl3pPr>
            <a:lvl4pPr>
              <a:defRPr sz="1488"/>
            </a:lvl4pPr>
            <a:lvl5pPr>
              <a:defRPr sz="1488"/>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8702061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430514" y="3475957"/>
            <a:ext cx="8922044" cy="678818"/>
          </a:xfrm>
        </p:spPr>
        <p:txBody>
          <a:bodyPr vert="horz" wrap="square" lIns="0" tIns="0" rIns="0" bIns="0" rtlCol="0" anchor="t" anchorCtr="0">
            <a:spAutoFit/>
          </a:bodyPr>
          <a:lstStyle>
            <a:lvl1pPr algn="l" defTabSz="1082704" rtl="0" eaLnBrk="1" latinLnBrk="0" hangingPunct="1">
              <a:lnSpc>
                <a:spcPct val="100000"/>
              </a:lnSpc>
              <a:spcBef>
                <a:spcPct val="0"/>
              </a:spcBef>
              <a:buNone/>
              <a:defRPr lang="en-GB" sz="4251" b="0" kern="1200" dirty="0" smtClean="0">
                <a:solidFill>
                  <a:schemeClr val="tx2"/>
                </a:solidFill>
                <a:latin typeface="+mj-lt"/>
                <a:ea typeface="+mj-ea"/>
                <a:cs typeface="+mj-cs"/>
              </a:defRPr>
            </a:lvl1pPr>
          </a:lstStyle>
          <a:p>
            <a:r>
              <a:rPr lang="en-US" dirty="0"/>
              <a:t>Click to edit Master title style</a:t>
            </a:r>
            <a:endParaRPr lang="en-GB" dirty="0"/>
          </a:p>
        </p:txBody>
      </p:sp>
    </p:spTree>
    <p:extLst>
      <p:ext uri="{BB962C8B-B14F-4D97-AF65-F5344CB8AC3E}">
        <p14:creationId xmlns:p14="http://schemas.microsoft.com/office/powerpoint/2010/main" val="24779809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3"/>
          <p:cNvSpPr>
            <a:spLocks noChangeArrowheads="1"/>
          </p:cNvSpPr>
          <p:nvPr userDrawn="1"/>
        </p:nvSpPr>
        <p:spPr bwMode="auto">
          <a:xfrm>
            <a:off x="430177" y="5847291"/>
            <a:ext cx="9853588" cy="1323824"/>
          </a:xfrm>
          <a:prstGeom prst="rect">
            <a:avLst/>
          </a:prstGeom>
          <a:noFill/>
          <a:ln w="9525">
            <a:noFill/>
            <a:miter lim="800000"/>
            <a:headEnd/>
            <a:tailEnd/>
          </a:ln>
        </p:spPr>
        <p:txBody>
          <a:bodyPr wrap="square" lIns="0" tIns="0" rIns="0" bIns="0">
            <a:spAutoFit/>
          </a:bodyPr>
          <a:lstStyle/>
          <a:p>
            <a:pPr algn="just" defTabSz="1082704"/>
            <a:r>
              <a:rPr lang="en-US" sz="956" dirty="0">
                <a:solidFill>
                  <a:srgbClr val="000000"/>
                </a:solidFill>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a:t>
            </a:r>
            <a:r>
              <a:rPr lang="en-US" sz="956" dirty="0">
                <a:solidFill>
                  <a:srgbClr val="000000"/>
                </a:solidFill>
                <a:hlinkClick r:id="rId2"/>
              </a:rPr>
              <a:t>www.deloitte.com/about</a:t>
            </a:r>
            <a:r>
              <a:rPr lang="en-US" sz="956" dirty="0">
                <a:solidFill>
                  <a:srgbClr val="000000"/>
                </a:solidFill>
              </a:rPr>
              <a:t> for a more detailed description of DTTL and its member firms.</a:t>
            </a:r>
          </a:p>
          <a:p>
            <a:pPr algn="just" defTabSz="1082704"/>
            <a:endParaRPr lang="en-US" sz="956" dirty="0">
              <a:solidFill>
                <a:srgbClr val="000000"/>
              </a:solidFill>
            </a:endParaRPr>
          </a:p>
          <a:p>
            <a:pPr algn="just" defTabSz="1082704"/>
            <a:r>
              <a:rPr lang="en-US" sz="956" dirty="0">
                <a:solidFill>
                  <a:srgbClr val="000000"/>
                </a:solidFill>
              </a:rPr>
              <a:t>This material has been prepared by Deloitte Touche Tohmatsu India Private Limited (“DTTIPL”), a member of Deloitte Touche Tohmatsu Limited,  on a specific request from you and contains confidential and proprietary information. The information contained in this material is intended solely for you thereby, any disclosure, copy or further distribution of this material or the contents thereof is strictly prohibited. No entity in the Deloitte Network shall be responsible for any loss whatsoever sustained by any person who relies on this material. </a:t>
            </a:r>
          </a:p>
          <a:p>
            <a:pPr algn="just" defTabSz="1082704"/>
            <a:endParaRPr lang="en-US" sz="956" dirty="0">
              <a:solidFill>
                <a:srgbClr val="000000"/>
              </a:solidFill>
            </a:endParaRPr>
          </a:p>
          <a:p>
            <a:pPr algn="just" defTabSz="1082704"/>
            <a:r>
              <a:rPr lang="en-US" sz="956" dirty="0">
                <a:solidFill>
                  <a:srgbClr val="000000"/>
                </a:solidFill>
              </a:rPr>
              <a:t>©2015 Deloitte Touche Tohmatsu India Private Limited. Member of Deloitte Touche Tohmatsu Limited</a:t>
            </a:r>
          </a:p>
        </p:txBody>
      </p:sp>
      <p:pic>
        <p:nvPicPr>
          <p:cNvPr id="3" name="Picture 4" descr="DEL_COL"/>
          <p:cNvPicPr preferRelativeResize="0">
            <a:picLocks noChangeAspect="1" noChangeArrowheads="1"/>
          </p:cNvPicPr>
          <p:nvPr userDrawn="1"/>
        </p:nvPicPr>
        <p:blipFill>
          <a:blip r:embed="rId3" cstate="print"/>
          <a:stretch>
            <a:fillRect/>
          </a:stretch>
        </p:blipFill>
        <p:spPr bwMode="auto">
          <a:xfrm>
            <a:off x="419380" y="3109172"/>
            <a:ext cx="3629231" cy="753249"/>
          </a:xfrm>
          <a:prstGeom prst="rect">
            <a:avLst/>
          </a:prstGeom>
          <a:noFill/>
          <a:ln>
            <a:noFill/>
          </a:ln>
        </p:spPr>
      </p:pic>
    </p:spTree>
    <p:extLst>
      <p:ext uri="{BB962C8B-B14F-4D97-AF65-F5344CB8AC3E}">
        <p14:creationId xmlns:p14="http://schemas.microsoft.com/office/powerpoint/2010/main" val="231118044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32633" y="326073"/>
            <a:ext cx="9804932" cy="1091945"/>
          </a:xfrm>
          <a:prstGeom prst="rect">
            <a:avLst/>
          </a:prstGeom>
        </p:spPr>
        <p:txBody>
          <a:bodyPr vert="horz" lIns="0" tIns="0" rIns="0" bIns="0" rtlCol="0" anchor="t" anchorCtr="0">
            <a:noAutofit/>
          </a:bodyPr>
          <a:lstStyle/>
          <a:p>
            <a:r>
              <a:rPr lang="en-US"/>
              <a:t>Click to edit Master title style</a:t>
            </a:r>
            <a:endParaRPr lang="en-GB" dirty="0"/>
          </a:p>
        </p:txBody>
      </p:sp>
      <p:sp>
        <p:nvSpPr>
          <p:cNvPr id="20" name="Text Placeholder 19"/>
          <p:cNvSpPr>
            <a:spLocks noGrp="1"/>
          </p:cNvSpPr>
          <p:nvPr>
            <p:ph type="body" sz="quarter" idx="14"/>
          </p:nvPr>
        </p:nvSpPr>
        <p:spPr>
          <a:xfrm>
            <a:off x="433437" y="1496690"/>
            <a:ext cx="9804932" cy="5514725"/>
          </a:xfrm>
        </p:spPr>
        <p:txBody>
          <a:bodyPr/>
          <a:lstStyle>
            <a:lvl1pPr marL="0" indent="0" algn="l">
              <a:buNone/>
              <a:defRPr/>
            </a:lvl1pPr>
            <a:lvl2pPr marL="288484" indent="-288484">
              <a:buFont typeface="Arial"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432634" y="7066418"/>
            <a:ext cx="8836447" cy="277900"/>
          </a:xfrm>
          <a:prstGeom prst="rect">
            <a:avLst/>
          </a:prstGeom>
        </p:spPr>
        <p:txBody>
          <a:bodyPr vert="horz" lIns="0" tIns="0" rIns="0" bIns="0" rtlCol="0" anchor="ctr" anchorCtr="0"/>
          <a:lstStyle>
            <a:lvl1pPr algn="l">
              <a:defRPr sz="850" b="0">
                <a:solidFill>
                  <a:srgbClr val="8C8C8C"/>
                </a:solidFill>
              </a:defRPr>
            </a:lvl1pPr>
          </a:lstStyle>
          <a:p>
            <a:pPr defTabSz="1082704"/>
            <a:endParaRPr lang="en-US" dirty="0"/>
          </a:p>
        </p:txBody>
      </p:sp>
      <p:sp>
        <p:nvSpPr>
          <p:cNvPr id="6" name="Slide Number Placeholder 7"/>
          <p:cNvSpPr>
            <a:spLocks noGrp="1"/>
          </p:cNvSpPr>
          <p:nvPr>
            <p:ph type="sldNum" sz="quarter" idx="4"/>
          </p:nvPr>
        </p:nvSpPr>
        <p:spPr>
          <a:xfrm>
            <a:off x="9318656" y="7066418"/>
            <a:ext cx="925891" cy="277900"/>
          </a:xfrm>
          <a:prstGeom prst="rect">
            <a:avLst/>
          </a:prstGeom>
        </p:spPr>
        <p:txBody>
          <a:bodyPr vert="horz" lIns="0" tIns="0" rIns="0" bIns="0" rtlCol="0" anchor="ctr" anchorCtr="0"/>
          <a:lstStyle>
            <a:lvl1pPr algn="r">
              <a:defRPr sz="850"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395194279"/>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dirty="0"/>
              <a:t>Click to edit Master title style</a:t>
            </a:r>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9952221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ags" Target="../tags/tag2.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5.xml"/><Relationship Id="rId7" Type="http://schemas.openxmlformats.org/officeDocument/2006/relationships/slideLayout" Target="../slideLayouts/slideLayout89.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5" Type="http://schemas.openxmlformats.org/officeDocument/2006/relationships/slideLayout" Target="../slideLayouts/slideLayout87.xml"/><Relationship Id="rId4"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4"/>
            </p:custDataLst>
          </p:nvPr>
        </p:nvGraphicFramePr>
        <p:xfrm>
          <a:off x="1857" y="1752"/>
          <a:ext cx="1855" cy="1750"/>
        </p:xfrm>
        <a:graphic>
          <a:graphicData uri="http://schemas.openxmlformats.org/presentationml/2006/ole">
            <mc:AlternateContent xmlns:mc="http://schemas.openxmlformats.org/markup-compatibility/2006">
              <mc:Choice xmlns:v="urn:schemas-microsoft-com:vml" Requires="v">
                <p:oleObj name="think-cell Slide" r:id="rId85" imgW="270" imgH="270" progId="TCLayout.ActiveDocument.1">
                  <p:embed/>
                </p:oleObj>
              </mc:Choice>
              <mc:Fallback>
                <p:oleObj name="think-cell Slide" r:id="rId85" imgW="270" imgH="270" progId="TCLayout.ActiveDocument.1">
                  <p:embed/>
                  <p:pic>
                    <p:nvPicPr>
                      <p:cNvPr id="4" name="Object 3" hidden="1"/>
                      <p:cNvPicPr/>
                      <p:nvPr/>
                    </p:nvPicPr>
                    <p:blipFill>
                      <a:blip r:embed="rId86"/>
                      <a:stretch>
                        <a:fillRect/>
                      </a:stretch>
                    </p:blipFill>
                    <p:spPr>
                      <a:xfrm>
                        <a:off x="1857" y="1752"/>
                        <a:ext cx="1855" cy="1750"/>
                      </a:xfrm>
                      <a:prstGeom prst="rect">
                        <a:avLst/>
                      </a:prstGeom>
                    </p:spPr>
                  </p:pic>
                </p:oleObj>
              </mc:Fallback>
            </mc:AlternateContent>
          </a:graphicData>
        </a:graphic>
      </p:graphicFrame>
      <p:sp>
        <p:nvSpPr>
          <p:cNvPr id="2" name="Title Placeholder 1"/>
          <p:cNvSpPr>
            <a:spLocks noGrp="1"/>
          </p:cNvSpPr>
          <p:nvPr>
            <p:ph type="title"/>
          </p:nvPr>
        </p:nvSpPr>
        <p:spPr bwMode="gray">
          <a:xfrm>
            <a:off x="439794" y="350133"/>
            <a:ext cx="9809052" cy="763288"/>
          </a:xfrm>
          <a:prstGeom prst="rect">
            <a:avLst/>
          </a:prstGeom>
        </p:spPr>
        <p:txBody>
          <a:bodyPr vert="horz" lIns="0" tIns="0" rIns="0" bIns="0" rtlCol="0" anchor="t" anchorCtr="0">
            <a:noAutofit/>
          </a:bodyPr>
          <a:lstStyle/>
          <a:p>
            <a:r>
              <a:rPr lang="en-US" noProof="0" dirty="0"/>
              <a:t>Click to edit Master title style</a:t>
            </a:r>
          </a:p>
        </p:txBody>
      </p:sp>
      <p:sp>
        <p:nvSpPr>
          <p:cNvPr id="18" name="TextBox 17"/>
          <p:cNvSpPr txBox="1"/>
          <p:nvPr userDrawn="1"/>
        </p:nvSpPr>
        <p:spPr>
          <a:xfrm>
            <a:off x="248067" y="7340905"/>
            <a:ext cx="4694837" cy="221945"/>
          </a:xfrm>
          <a:prstGeom prst="rect">
            <a:avLst/>
          </a:prstGeom>
          <a:noFill/>
        </p:spPr>
        <p:txBody>
          <a:bodyPr wrap="square" lIns="0" tIns="0" rIns="0" bIns="0" rtlCol="0">
            <a:noAutofit/>
          </a:bodyPr>
          <a:lstStyle/>
          <a:p>
            <a:pPr>
              <a:spcBef>
                <a:spcPts val="662"/>
              </a:spcBef>
              <a:buSzPct val="100000"/>
              <a:buFont typeface="Arial"/>
              <a:buNone/>
            </a:pPr>
            <a:r>
              <a:rPr lang="fr-FR" sz="700" dirty="0">
                <a:solidFill>
                  <a:prstClr val="black"/>
                </a:solidFill>
              </a:rPr>
              <a:t>© 2017 Deloitte Touche Tohmatsu India LLP</a:t>
            </a:r>
          </a:p>
        </p:txBody>
      </p:sp>
      <p:sp>
        <p:nvSpPr>
          <p:cNvPr id="19" name="Text Placeholder 18"/>
          <p:cNvSpPr>
            <a:spLocks noGrp="1"/>
          </p:cNvSpPr>
          <p:nvPr>
            <p:ph type="body" idx="1"/>
          </p:nvPr>
        </p:nvSpPr>
        <p:spPr>
          <a:xfrm>
            <a:off x="439793" y="1836444"/>
            <a:ext cx="9809052" cy="5201209"/>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userDrawn="1"/>
        </p:nvSpPr>
        <p:spPr>
          <a:xfrm>
            <a:off x="10185318" y="7341569"/>
            <a:ext cx="269999" cy="110308"/>
          </a:xfrm>
          <a:prstGeom prst="rect">
            <a:avLst/>
          </a:prstGeom>
          <a:noFill/>
        </p:spPr>
        <p:txBody>
          <a:bodyPr wrap="square" lIns="0" tIns="0" rIns="0" bIns="0" rtlCol="0">
            <a:noAutofit/>
          </a:bodyPr>
          <a:lstStyle/>
          <a:p>
            <a:pPr algn="r">
              <a:spcBef>
                <a:spcPts val="662"/>
              </a:spcBef>
              <a:buSzPct val="100000"/>
              <a:buFont typeface="Arial"/>
              <a:buNone/>
            </a:pPr>
            <a:fld id="{C58DF478-B544-4ED8-9ED4-6A2648E2D233}" type="slidenum">
              <a:rPr lang="en-US" sz="700" smtClean="0">
                <a:solidFill>
                  <a:prstClr val="black"/>
                </a:solidFill>
              </a:rPr>
              <a:pPr algn="r">
                <a:spcBef>
                  <a:spcPts val="662"/>
                </a:spcBef>
                <a:buSzPct val="100000"/>
                <a:buFont typeface="Arial"/>
                <a:buNone/>
              </a:pPr>
              <a:t>‹#›</a:t>
            </a:fld>
            <a:endParaRPr lang="en-US" sz="700" dirty="0">
              <a:solidFill>
                <a:prstClr val="black"/>
              </a:solidFill>
            </a:endParaRPr>
          </a:p>
        </p:txBody>
      </p:sp>
    </p:spTree>
    <p:extLst>
      <p:ext uri="{BB962C8B-B14F-4D97-AF65-F5344CB8AC3E}">
        <p14:creationId xmlns:p14="http://schemas.microsoft.com/office/powerpoint/2010/main" val="413317841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 id="2147483820" r:id="rId19"/>
    <p:sldLayoutId id="2147483821" r:id="rId20"/>
    <p:sldLayoutId id="2147483822" r:id="rId21"/>
    <p:sldLayoutId id="2147483823" r:id="rId22"/>
    <p:sldLayoutId id="2147483824" r:id="rId23"/>
    <p:sldLayoutId id="2147483825" r:id="rId24"/>
    <p:sldLayoutId id="2147483826" r:id="rId25"/>
    <p:sldLayoutId id="2147483827" r:id="rId26"/>
    <p:sldLayoutId id="2147483828" r:id="rId27"/>
    <p:sldLayoutId id="2147483829" r:id="rId28"/>
    <p:sldLayoutId id="2147483830" r:id="rId29"/>
    <p:sldLayoutId id="2147483831" r:id="rId30"/>
    <p:sldLayoutId id="2147483832" r:id="rId31"/>
    <p:sldLayoutId id="2147483833" r:id="rId32"/>
    <p:sldLayoutId id="2147483834" r:id="rId33"/>
    <p:sldLayoutId id="2147483835" r:id="rId34"/>
    <p:sldLayoutId id="2147483836" r:id="rId35"/>
    <p:sldLayoutId id="2147483837" r:id="rId36"/>
    <p:sldLayoutId id="2147483838" r:id="rId37"/>
    <p:sldLayoutId id="2147483839" r:id="rId38"/>
    <p:sldLayoutId id="2147483840" r:id="rId39"/>
    <p:sldLayoutId id="2147483841" r:id="rId40"/>
    <p:sldLayoutId id="2147483701" r:id="rId41"/>
    <p:sldLayoutId id="2147483702" r:id="rId42"/>
    <p:sldLayoutId id="2147483756" r:id="rId43"/>
    <p:sldLayoutId id="2147483755" r:id="rId44"/>
    <p:sldLayoutId id="2147483703" r:id="rId45"/>
    <p:sldLayoutId id="2147483704" r:id="rId46"/>
    <p:sldLayoutId id="2147483705" r:id="rId47"/>
    <p:sldLayoutId id="2147483706" r:id="rId48"/>
    <p:sldLayoutId id="2147483707" r:id="rId49"/>
    <p:sldLayoutId id="2147483713" r:id="rId50"/>
    <p:sldLayoutId id="2147483708" r:id="rId51"/>
    <p:sldLayoutId id="2147483710" r:id="rId52"/>
    <p:sldLayoutId id="2147483754" r:id="rId53"/>
    <p:sldLayoutId id="2147483711" r:id="rId54"/>
    <p:sldLayoutId id="2147483753" r:id="rId55"/>
    <p:sldLayoutId id="2147483679" r:id="rId56"/>
    <p:sldLayoutId id="2147483712" r:id="rId57"/>
    <p:sldLayoutId id="2147483678" r:id="rId58"/>
    <p:sldLayoutId id="2147483681" r:id="rId59"/>
    <p:sldLayoutId id="2147483735" r:id="rId60"/>
    <p:sldLayoutId id="2147483699" r:id="rId61"/>
    <p:sldLayoutId id="2147483714" r:id="rId62"/>
    <p:sldLayoutId id="2147483697" r:id="rId63"/>
    <p:sldLayoutId id="2147483715" r:id="rId64"/>
    <p:sldLayoutId id="2147483716" r:id="rId65"/>
    <p:sldLayoutId id="2147483717" r:id="rId66"/>
    <p:sldLayoutId id="2147483718" r:id="rId67"/>
    <p:sldLayoutId id="2147483728" r:id="rId68"/>
    <p:sldLayoutId id="2147483720" r:id="rId69"/>
    <p:sldLayoutId id="2147483721" r:id="rId70"/>
    <p:sldLayoutId id="2147483722" r:id="rId71"/>
    <p:sldLayoutId id="2147483695" r:id="rId72"/>
    <p:sldLayoutId id="2147483751" r:id="rId73"/>
    <p:sldLayoutId id="2147483724" r:id="rId74"/>
    <p:sldLayoutId id="2147483725" r:id="rId75"/>
    <p:sldLayoutId id="2147483726" r:id="rId76"/>
    <p:sldLayoutId id="2147483727" r:id="rId77"/>
    <p:sldLayoutId id="2147483698" r:id="rId78"/>
    <p:sldLayoutId id="2147483752" r:id="rId79"/>
    <p:sldLayoutId id="2147483696" r:id="rId80"/>
    <p:sldLayoutId id="2147483850" r:id="rId81"/>
    <p:sldLayoutId id="2147483851" r:id="rId82"/>
  </p:sldLayoutIdLst>
  <p:transition>
    <p:fade/>
  </p:transition>
  <p:hf hdr="0" dt="0"/>
  <p:txStyles>
    <p:titleStyle>
      <a:lvl1pPr algn="l" defTabSz="1008400" rtl="0" eaLnBrk="1" latinLnBrk="0" hangingPunct="1">
        <a:spcBef>
          <a:spcPct val="0"/>
        </a:spcBef>
        <a:buNone/>
        <a:defRPr sz="2000" kern="1200">
          <a:solidFill>
            <a:schemeClr val="tx1"/>
          </a:solidFill>
          <a:latin typeface="+mj-lt"/>
          <a:ea typeface="+mj-ea"/>
          <a:cs typeface="+mj-cs"/>
        </a:defRPr>
      </a:lvl1pPr>
    </p:titleStyle>
    <p:bodyStyle>
      <a:lvl1pPr marL="0" indent="0" algn="l" defTabSz="1008400" rtl="0" eaLnBrk="1" latinLnBrk="0" hangingPunct="1">
        <a:spcBef>
          <a:spcPts val="0"/>
        </a:spcBef>
        <a:spcAft>
          <a:spcPts val="110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000"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277">
          <p15:clr>
            <a:srgbClr val="F26B43"/>
          </p15:clr>
        </p15:guide>
        <p15:guide id="3" pos="6464">
          <p15:clr>
            <a:srgbClr val="F26B43"/>
          </p15:clr>
        </p15:guide>
        <p15:guide id="4" orient="horz" pos="219">
          <p15:clr>
            <a:srgbClr val="F26B43"/>
          </p15:clr>
        </p15:guide>
        <p15:guide id="5" orient="horz" pos="11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0813" y="397000"/>
            <a:ext cx="9847013" cy="69475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420813" y="1290250"/>
            <a:ext cx="9847013" cy="57565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Box 4"/>
          <p:cNvSpPr txBox="1"/>
          <p:nvPr userDrawn="1"/>
        </p:nvSpPr>
        <p:spPr>
          <a:xfrm>
            <a:off x="248067" y="7340905"/>
            <a:ext cx="4694837" cy="221945"/>
          </a:xfrm>
          <a:prstGeom prst="rect">
            <a:avLst/>
          </a:prstGeom>
          <a:noFill/>
        </p:spPr>
        <p:txBody>
          <a:bodyPr wrap="square" lIns="0" tIns="0" rIns="0" bIns="0" rtlCol="0">
            <a:noAutofit/>
          </a:bodyPr>
          <a:lstStyle/>
          <a:p>
            <a:pPr>
              <a:spcBef>
                <a:spcPts val="662"/>
              </a:spcBef>
              <a:buSzPct val="100000"/>
              <a:buFont typeface="Arial"/>
              <a:buNone/>
            </a:pPr>
            <a:r>
              <a:rPr lang="fr-FR" sz="700" dirty="0">
                <a:solidFill>
                  <a:prstClr val="black"/>
                </a:solidFill>
              </a:rPr>
              <a:t>© 2017 Deloitte Touche Tohmatsu India LLP</a:t>
            </a:r>
          </a:p>
        </p:txBody>
      </p:sp>
      <p:sp>
        <p:nvSpPr>
          <p:cNvPr id="7" name="TextBox 6"/>
          <p:cNvSpPr txBox="1"/>
          <p:nvPr userDrawn="1"/>
        </p:nvSpPr>
        <p:spPr>
          <a:xfrm>
            <a:off x="10185318" y="7341569"/>
            <a:ext cx="269999" cy="110308"/>
          </a:xfrm>
          <a:prstGeom prst="rect">
            <a:avLst/>
          </a:prstGeom>
          <a:noFill/>
        </p:spPr>
        <p:txBody>
          <a:bodyPr wrap="square" lIns="0" tIns="0" rIns="0" bIns="0" rtlCol="0">
            <a:noAutofit/>
          </a:bodyPr>
          <a:lstStyle/>
          <a:p>
            <a:pPr algn="r">
              <a:spcBef>
                <a:spcPts val="662"/>
              </a:spcBef>
              <a:buSzPct val="100000"/>
              <a:buFont typeface="Arial"/>
              <a:buNone/>
            </a:pPr>
            <a:fld id="{C58DF478-B544-4ED8-9ED4-6A2648E2D233}" type="slidenum">
              <a:rPr lang="en-US" sz="700" smtClean="0">
                <a:solidFill>
                  <a:prstClr val="black"/>
                </a:solidFill>
              </a:rPr>
              <a:pPr algn="r">
                <a:spcBef>
                  <a:spcPts val="662"/>
                </a:spcBef>
                <a:buSzPct val="100000"/>
                <a:buFont typeface="Arial"/>
                <a:buNone/>
              </a:pPr>
              <a:t>‹#›</a:t>
            </a:fld>
            <a:endParaRPr lang="en-US" sz="700" dirty="0">
              <a:solidFill>
                <a:prstClr val="black"/>
              </a:solidFill>
            </a:endParaRPr>
          </a:p>
        </p:txBody>
      </p:sp>
    </p:spTree>
    <p:extLst>
      <p:ext uri="{BB962C8B-B14F-4D97-AF65-F5344CB8AC3E}">
        <p14:creationId xmlns:p14="http://schemas.microsoft.com/office/powerpoint/2010/main" val="4086077189"/>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Lst>
  <p:hf hdr="0" ftr="0" dt="0"/>
  <p:txStyles>
    <p:titleStyle>
      <a:lvl1pPr algn="l" defTabSz="1082704" rtl="0" eaLnBrk="1" latinLnBrk="0" hangingPunct="1">
        <a:spcBef>
          <a:spcPct val="0"/>
        </a:spcBef>
        <a:buNone/>
        <a:defRPr sz="2869" b="1" kern="1200">
          <a:solidFill>
            <a:schemeClr val="accent1"/>
          </a:solidFill>
          <a:latin typeface="+mn-lt"/>
          <a:ea typeface="+mj-ea"/>
          <a:cs typeface="+mj-cs"/>
        </a:defRPr>
      </a:lvl1pPr>
    </p:titleStyle>
    <p:bodyStyle>
      <a:lvl1pPr marL="0" indent="0" algn="l" defTabSz="1082704" rtl="0" eaLnBrk="1" latinLnBrk="0" hangingPunct="1">
        <a:spcBef>
          <a:spcPts val="0"/>
        </a:spcBef>
        <a:spcAft>
          <a:spcPts val="355"/>
        </a:spcAft>
        <a:buFont typeface="Arial" pitchFamily="34" charset="0"/>
        <a:buNone/>
        <a:defRPr lang="en-US" sz="1488" kern="1200" dirty="0" smtClean="0">
          <a:solidFill>
            <a:schemeClr val="accent1"/>
          </a:solidFill>
          <a:latin typeface="+mn-lt"/>
          <a:ea typeface="+mj-ea"/>
          <a:cs typeface="+mj-cs"/>
        </a:defRPr>
      </a:lvl1pPr>
      <a:lvl2pPr marL="216166" indent="-216166" algn="l" defTabSz="1082704" rtl="0" eaLnBrk="1" latinLnBrk="0" hangingPunct="1">
        <a:spcBef>
          <a:spcPts val="0"/>
        </a:spcBef>
        <a:spcAft>
          <a:spcPts val="355"/>
        </a:spcAft>
        <a:buFont typeface="Arial" pitchFamily="34" charset="0"/>
        <a:buChar char="•"/>
        <a:defRPr lang="en-US" sz="1488" kern="1200" dirty="0" smtClean="0">
          <a:solidFill>
            <a:schemeClr val="accent1"/>
          </a:solidFill>
          <a:latin typeface="+mn-lt"/>
          <a:ea typeface="+mj-ea"/>
          <a:cs typeface="+mj-cs"/>
        </a:defRPr>
      </a:lvl2pPr>
      <a:lvl3pPr marL="422932" indent="-206766" algn="l" defTabSz="1082704" rtl="0" eaLnBrk="1" latinLnBrk="0" hangingPunct="1">
        <a:spcBef>
          <a:spcPts val="0"/>
        </a:spcBef>
        <a:spcAft>
          <a:spcPts val="355"/>
        </a:spcAft>
        <a:buFont typeface="Arial" pitchFamily="34" charset="0"/>
        <a:buChar char="‒"/>
        <a:defRPr lang="en-US" sz="1488" kern="1200" dirty="0" smtClean="0">
          <a:solidFill>
            <a:schemeClr val="accent1"/>
          </a:solidFill>
          <a:latin typeface="+mn-lt"/>
          <a:ea typeface="+mj-ea"/>
          <a:cs typeface="+mj-cs"/>
        </a:defRPr>
      </a:lvl3pPr>
      <a:lvl4pPr marL="639096" indent="-216166" algn="l" defTabSz="1082704" rtl="0" eaLnBrk="1" latinLnBrk="0" hangingPunct="1">
        <a:spcBef>
          <a:spcPts val="0"/>
        </a:spcBef>
        <a:spcAft>
          <a:spcPts val="355"/>
        </a:spcAft>
        <a:buFont typeface="Arial" pitchFamily="34" charset="0"/>
        <a:buChar char="•"/>
        <a:defRPr lang="en-US" sz="1488" kern="1200" dirty="0" smtClean="0">
          <a:solidFill>
            <a:schemeClr val="accent1"/>
          </a:solidFill>
          <a:latin typeface="+mn-lt"/>
          <a:ea typeface="+mj-ea"/>
          <a:cs typeface="+mj-cs"/>
        </a:defRPr>
      </a:lvl4pPr>
      <a:lvl5pPr marL="843984" indent="-204887" algn="l" defTabSz="1082704" rtl="0" eaLnBrk="1" latinLnBrk="0" hangingPunct="1">
        <a:spcBef>
          <a:spcPts val="0"/>
        </a:spcBef>
        <a:spcAft>
          <a:spcPts val="355"/>
        </a:spcAft>
        <a:buFont typeface="Arial" pitchFamily="34" charset="0"/>
        <a:buChar char="‒"/>
        <a:defRPr lang="en-GB" sz="1488" kern="1200" baseline="0" dirty="0" smtClean="0">
          <a:solidFill>
            <a:schemeClr val="accent1"/>
          </a:solidFill>
          <a:latin typeface="+mn-lt"/>
          <a:ea typeface="+mj-ea"/>
          <a:cs typeface="+mj-cs"/>
        </a:defRPr>
      </a:lvl5pPr>
      <a:lvl6pPr marL="1060148" indent="-216166" algn="l" defTabSz="1082704" rtl="0" eaLnBrk="1" latinLnBrk="0" hangingPunct="1">
        <a:spcBef>
          <a:spcPts val="0"/>
        </a:spcBef>
        <a:spcAft>
          <a:spcPts val="355"/>
        </a:spcAft>
        <a:buFont typeface="Arial" pitchFamily="34" charset="0"/>
        <a:buChar char="•"/>
        <a:defRPr sz="1913" kern="1200" baseline="0">
          <a:solidFill>
            <a:schemeClr val="accent1"/>
          </a:solidFill>
          <a:latin typeface="+mn-lt"/>
          <a:ea typeface="+mn-ea"/>
          <a:cs typeface="+mn-cs"/>
        </a:defRPr>
      </a:lvl6pPr>
      <a:lvl7pPr marL="1278193" indent="-218045" algn="l" defTabSz="1082704" rtl="0" eaLnBrk="1" latinLnBrk="0" hangingPunct="1">
        <a:spcBef>
          <a:spcPts val="0"/>
        </a:spcBef>
        <a:spcAft>
          <a:spcPts val="355"/>
        </a:spcAft>
        <a:buFont typeface="Arial" pitchFamily="34" charset="0"/>
        <a:buChar char="‒"/>
        <a:defRPr sz="1700" kern="1200">
          <a:solidFill>
            <a:schemeClr val="accent1"/>
          </a:solidFill>
          <a:latin typeface="+mn-lt"/>
          <a:ea typeface="+mn-ea"/>
          <a:cs typeface="+mn-cs"/>
        </a:defRPr>
      </a:lvl7pPr>
      <a:lvl8pPr marL="1483081" indent="-204887" algn="l" defTabSz="1082704" rtl="0" eaLnBrk="1" latinLnBrk="0" hangingPunct="1">
        <a:spcBef>
          <a:spcPts val="0"/>
        </a:spcBef>
        <a:spcAft>
          <a:spcPts val="355"/>
        </a:spcAft>
        <a:buFont typeface="Arial" pitchFamily="34" charset="0"/>
        <a:buChar char="•"/>
        <a:defRPr sz="1700" kern="1200">
          <a:solidFill>
            <a:schemeClr val="accent1"/>
          </a:solidFill>
          <a:latin typeface="+mn-lt"/>
          <a:ea typeface="+mn-ea"/>
          <a:cs typeface="+mn-cs"/>
        </a:defRPr>
      </a:lvl8pPr>
      <a:lvl9pPr marL="1699245" indent="-216166" algn="l" defTabSz="1082704" rtl="0" eaLnBrk="1" latinLnBrk="0" hangingPunct="1">
        <a:spcBef>
          <a:spcPts val="0"/>
        </a:spcBef>
        <a:spcAft>
          <a:spcPts val="355"/>
        </a:spcAft>
        <a:buFont typeface="Arial" pitchFamily="34" charset="0"/>
        <a:buChar char="‒"/>
        <a:defRPr sz="1700" kern="1200">
          <a:solidFill>
            <a:schemeClr val="accent1"/>
          </a:solidFill>
          <a:latin typeface="+mn-lt"/>
          <a:ea typeface="+mn-ea"/>
          <a:cs typeface="+mn-cs"/>
        </a:defRPr>
      </a:lvl9pPr>
    </p:bodyStyle>
    <p:otherStyle>
      <a:defPPr>
        <a:defRPr lang="en-US"/>
      </a:defPPr>
      <a:lvl1pPr marL="0" algn="l" defTabSz="1082704" rtl="0" eaLnBrk="1" latinLnBrk="0" hangingPunct="1">
        <a:defRPr sz="2125" kern="1200">
          <a:solidFill>
            <a:schemeClr val="tx1"/>
          </a:solidFill>
          <a:latin typeface="+mn-lt"/>
          <a:ea typeface="+mn-ea"/>
          <a:cs typeface="+mn-cs"/>
        </a:defRPr>
      </a:lvl1pPr>
      <a:lvl2pPr marL="541352" algn="l" defTabSz="1082704" rtl="0" eaLnBrk="1" latinLnBrk="0" hangingPunct="1">
        <a:defRPr sz="2125" kern="1200">
          <a:solidFill>
            <a:schemeClr val="tx1"/>
          </a:solidFill>
          <a:latin typeface="+mn-lt"/>
          <a:ea typeface="+mn-ea"/>
          <a:cs typeface="+mn-cs"/>
        </a:defRPr>
      </a:lvl2pPr>
      <a:lvl3pPr marL="1082704" algn="l" defTabSz="1082704" rtl="0" eaLnBrk="1" latinLnBrk="0" hangingPunct="1">
        <a:defRPr sz="2125" kern="1200">
          <a:solidFill>
            <a:schemeClr val="tx1"/>
          </a:solidFill>
          <a:latin typeface="+mn-lt"/>
          <a:ea typeface="+mn-ea"/>
          <a:cs typeface="+mn-cs"/>
        </a:defRPr>
      </a:lvl3pPr>
      <a:lvl4pPr marL="1624057" algn="l" defTabSz="1082704" rtl="0" eaLnBrk="1" latinLnBrk="0" hangingPunct="1">
        <a:defRPr sz="2125" kern="1200">
          <a:solidFill>
            <a:schemeClr val="tx1"/>
          </a:solidFill>
          <a:latin typeface="+mn-lt"/>
          <a:ea typeface="+mn-ea"/>
          <a:cs typeface="+mn-cs"/>
        </a:defRPr>
      </a:lvl4pPr>
      <a:lvl5pPr marL="2165410" algn="l" defTabSz="1082704" rtl="0" eaLnBrk="1" latinLnBrk="0" hangingPunct="1">
        <a:defRPr sz="2125" kern="1200">
          <a:solidFill>
            <a:schemeClr val="tx1"/>
          </a:solidFill>
          <a:latin typeface="+mn-lt"/>
          <a:ea typeface="+mn-ea"/>
          <a:cs typeface="+mn-cs"/>
        </a:defRPr>
      </a:lvl5pPr>
      <a:lvl6pPr marL="2706762" algn="l" defTabSz="1082704" rtl="0" eaLnBrk="1" latinLnBrk="0" hangingPunct="1">
        <a:defRPr sz="2125" kern="1200">
          <a:solidFill>
            <a:schemeClr val="tx1"/>
          </a:solidFill>
          <a:latin typeface="+mn-lt"/>
          <a:ea typeface="+mn-ea"/>
          <a:cs typeface="+mn-cs"/>
        </a:defRPr>
      </a:lvl6pPr>
      <a:lvl7pPr marL="3248114" algn="l" defTabSz="1082704" rtl="0" eaLnBrk="1" latinLnBrk="0" hangingPunct="1">
        <a:defRPr sz="2125" kern="1200">
          <a:solidFill>
            <a:schemeClr val="tx1"/>
          </a:solidFill>
          <a:latin typeface="+mn-lt"/>
          <a:ea typeface="+mn-ea"/>
          <a:cs typeface="+mn-cs"/>
        </a:defRPr>
      </a:lvl7pPr>
      <a:lvl8pPr marL="3789467" algn="l" defTabSz="1082704" rtl="0" eaLnBrk="1" latinLnBrk="0" hangingPunct="1">
        <a:defRPr sz="2125" kern="1200">
          <a:solidFill>
            <a:schemeClr val="tx1"/>
          </a:solidFill>
          <a:latin typeface="+mn-lt"/>
          <a:ea typeface="+mn-ea"/>
          <a:cs typeface="+mn-cs"/>
        </a:defRPr>
      </a:lvl8pPr>
      <a:lvl9pPr marL="4330819" algn="l" defTabSz="1082704" rtl="0" eaLnBrk="1" latinLnBrk="0" hangingPunct="1">
        <a:defRPr sz="2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9.xml"/><Relationship Id="rId5" Type="http://schemas.openxmlformats.org/officeDocument/2006/relationships/chart" Target="../charts/chart7.xml"/><Relationship Id="rId4" Type="http://schemas.openxmlformats.org/officeDocument/2006/relationships/chart" Target="../charts/chart6.xml"/></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9.xml"/><Relationship Id="rId5" Type="http://schemas.openxmlformats.org/officeDocument/2006/relationships/chart" Target="../charts/chart11.xml"/><Relationship Id="rId4" Type="http://schemas.openxmlformats.org/officeDocument/2006/relationships/chart" Target="../charts/char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81.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39794" y="6210242"/>
            <a:ext cx="7385770" cy="557614"/>
          </a:xfrm>
        </p:spPr>
        <p:txBody>
          <a:bodyPr/>
          <a:lstStyle/>
          <a:p>
            <a:r>
              <a:rPr lang="en-US" dirty="0"/>
              <a:t>The Reform of BPDB as a Holding Company in line with Desired Goal</a:t>
            </a:r>
            <a:endParaRPr lang="en-IN" dirty="0"/>
          </a:p>
        </p:txBody>
      </p:sp>
      <p:sp>
        <p:nvSpPr>
          <p:cNvPr id="5" name="Text Placeholder 4"/>
          <p:cNvSpPr>
            <a:spLocks noGrp="1"/>
          </p:cNvSpPr>
          <p:nvPr>
            <p:ph type="body" sz="quarter" idx="10"/>
          </p:nvPr>
        </p:nvSpPr>
        <p:spPr/>
        <p:txBody>
          <a:bodyPr/>
          <a:lstStyle/>
          <a:p>
            <a:r>
              <a:rPr lang="en-US" sz="1100" noProof="0" dirty="0">
                <a:latin typeface="Arial" panose="020B0604020202020204" pitchFamily="34" charset="0"/>
                <a:cs typeface="Arial" panose="020B0604020202020204" pitchFamily="34" charset="0"/>
              </a:rPr>
              <a:t>December 2017</a:t>
            </a: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bwMode="auto">
          <a:xfrm>
            <a:off x="2533210" y="1004342"/>
            <a:ext cx="5622218" cy="4348397"/>
          </a:xfrm>
          <a:prstGeom prst="rect">
            <a:avLst/>
          </a:prstGeom>
          <a:noFill/>
          <a:ln>
            <a:noFill/>
          </a:ln>
        </p:spPr>
      </p:pic>
      <p:sp>
        <p:nvSpPr>
          <p:cNvPr id="6" name="Subtitle 1"/>
          <p:cNvSpPr txBox="1">
            <a:spLocks/>
          </p:cNvSpPr>
          <p:nvPr/>
        </p:nvSpPr>
        <p:spPr bwMode="gray">
          <a:xfrm>
            <a:off x="439792" y="5622534"/>
            <a:ext cx="2968425" cy="369499"/>
          </a:xfrm>
          <a:prstGeom prst="rect">
            <a:avLst/>
          </a:prstGeom>
        </p:spPr>
        <p:txBody>
          <a:bodyPr vert="horz" lIns="0" tIns="0" rIns="0" bIns="0" rtlCol="0" anchor="b" anchorCtr="0">
            <a:noAutofit/>
          </a:bodyPr>
          <a:lstStyle>
            <a:lvl1pPr marL="0" indent="0" algn="l" defTabSz="1008400" rtl="0" eaLnBrk="1" latinLnBrk="0" hangingPunct="1">
              <a:lnSpc>
                <a:spcPct val="100000"/>
              </a:lnSpc>
              <a:spcBef>
                <a:spcPts val="0"/>
              </a:spcBef>
              <a:spcAft>
                <a:spcPts val="0"/>
              </a:spcAft>
              <a:buSzPct val="100000"/>
              <a:buFont typeface="Arial" panose="020B0604020202020204" pitchFamily="34" charset="0"/>
              <a:buNone/>
              <a:defRPr sz="1985" b="1"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764" b="0" kern="1200">
                <a:solidFill>
                  <a:schemeClr val="tx1"/>
                </a:solidFill>
                <a:latin typeface="+mn-lt"/>
                <a:ea typeface="+mn-ea"/>
                <a:cs typeface="+mn-cs"/>
              </a:defRPr>
            </a:lvl2pPr>
            <a:lvl3pPr marL="1008400" indent="0" algn="ctr" defTabSz="1008400" rtl="0" eaLnBrk="1" latinLnBrk="0" hangingPunct="1">
              <a:spcBef>
                <a:spcPts val="0"/>
              </a:spcBef>
              <a:spcAft>
                <a:spcPts val="1103"/>
              </a:spcAft>
              <a:buClrTx/>
              <a:buSzPct val="100000"/>
              <a:buFont typeface="Arial" panose="020B0604020202020204" pitchFamily="34" charset="0"/>
              <a:buNone/>
              <a:defRPr lang="en-US" sz="1985" kern="1200">
                <a:solidFill>
                  <a:schemeClr val="tx1"/>
                </a:solidFill>
                <a:latin typeface="+mn-lt"/>
                <a:ea typeface="+mn-ea"/>
                <a:cs typeface="+mn-cs"/>
              </a:defRPr>
            </a:lvl3pPr>
            <a:lvl4pPr marL="1512600" indent="0" algn="ctr" defTabSz="1008400" rtl="0" eaLnBrk="1" latinLnBrk="0" hangingPunct="1">
              <a:spcBef>
                <a:spcPts val="0"/>
              </a:spcBef>
              <a:spcAft>
                <a:spcPts val="1103"/>
              </a:spcAft>
              <a:buClrTx/>
              <a:buSzPct val="100000"/>
              <a:buFont typeface="Verdana" panose="020B0604030504040204" pitchFamily="34" charset="0"/>
              <a:buNone/>
              <a:defRPr lang="en-US" sz="1764" kern="1200" baseline="0">
                <a:solidFill>
                  <a:schemeClr val="tx1"/>
                </a:solidFill>
                <a:latin typeface="+mn-lt"/>
                <a:ea typeface="+mn-ea"/>
                <a:cs typeface="+mn-cs"/>
              </a:defRPr>
            </a:lvl4pPr>
            <a:lvl5pPr marL="2016801" indent="0" algn="ctr" defTabSz="880600" rtl="0" eaLnBrk="1" latinLnBrk="0" hangingPunct="1">
              <a:spcBef>
                <a:spcPts val="0"/>
              </a:spcBef>
              <a:spcAft>
                <a:spcPts val="1103"/>
              </a:spcAft>
              <a:buClrTx/>
              <a:buSzPct val="100000"/>
              <a:buFont typeface="Verdana" panose="020B0604030504040204" pitchFamily="34" charset="0"/>
              <a:buNone/>
              <a:tabLst/>
              <a:defRPr lang="en-US" sz="1764" kern="1200" baseline="0">
                <a:solidFill>
                  <a:schemeClr val="tx1"/>
                </a:solidFill>
                <a:latin typeface="+mn-lt"/>
                <a:ea typeface="+mn-ea"/>
                <a:cs typeface="+mn-cs"/>
              </a:defRPr>
            </a:lvl5pPr>
            <a:lvl6pPr marL="2521001" indent="0" algn="ctr" defTabSz="1008400" rtl="0" eaLnBrk="1" latinLnBrk="0" hangingPunct="1">
              <a:spcBef>
                <a:spcPts val="0"/>
              </a:spcBef>
              <a:spcAft>
                <a:spcPts val="1103"/>
              </a:spcAft>
              <a:buFont typeface="Verdana" panose="020B0604030504040204" pitchFamily="34" charset="0"/>
              <a:buNone/>
              <a:defRPr sz="1764" kern="1200" baseline="0">
                <a:solidFill>
                  <a:schemeClr val="tx1"/>
                </a:solidFill>
                <a:latin typeface="+mn-lt"/>
                <a:ea typeface="+mn-ea"/>
                <a:cs typeface="+mn-cs"/>
              </a:defRPr>
            </a:lvl6pPr>
            <a:lvl7pPr marL="3025201" indent="0" algn="ctr" defTabSz="1008400" rtl="0" eaLnBrk="1" latinLnBrk="0" hangingPunct="1">
              <a:spcBef>
                <a:spcPts val="0"/>
              </a:spcBef>
              <a:spcAft>
                <a:spcPts val="1103"/>
              </a:spcAft>
              <a:buFont typeface="Verdana" panose="020B0604030504040204" pitchFamily="34" charset="0"/>
              <a:buNone/>
              <a:defRPr sz="1764" kern="1200">
                <a:solidFill>
                  <a:schemeClr val="tx1"/>
                </a:solidFill>
                <a:latin typeface="+mn-lt"/>
                <a:ea typeface="+mn-ea"/>
                <a:cs typeface="+mn-cs"/>
              </a:defRPr>
            </a:lvl7pPr>
            <a:lvl8pPr marL="3529401" indent="0" algn="ctr" defTabSz="1008400" rtl="0" eaLnBrk="1" latinLnBrk="0" hangingPunct="1">
              <a:spcBef>
                <a:spcPts val="0"/>
              </a:spcBef>
              <a:spcAft>
                <a:spcPts val="1103"/>
              </a:spcAft>
              <a:buFont typeface="Verdana" panose="020B0604030504040204" pitchFamily="34" charset="0"/>
              <a:buNone/>
              <a:defRPr sz="1764" kern="1200" baseline="0">
                <a:solidFill>
                  <a:schemeClr val="tx1"/>
                </a:solidFill>
                <a:latin typeface="+mn-lt"/>
                <a:ea typeface="+mn-ea"/>
                <a:cs typeface="+mn-cs"/>
              </a:defRPr>
            </a:lvl8pPr>
            <a:lvl9pPr marL="4033601" indent="0" algn="ctr" defTabSz="1008400" rtl="0" eaLnBrk="1" latinLnBrk="0" hangingPunct="1">
              <a:spcBef>
                <a:spcPts val="0"/>
              </a:spcBef>
              <a:spcAft>
                <a:spcPts val="1103"/>
              </a:spcAft>
              <a:buFont typeface="Verdana" panose="020B0604030504040204" pitchFamily="34" charset="0"/>
              <a:buNone/>
              <a:defRPr sz="1764" kern="1200" baseline="0">
                <a:solidFill>
                  <a:schemeClr val="tx1"/>
                </a:solidFill>
                <a:latin typeface="+mn-lt"/>
                <a:ea typeface="+mn-ea"/>
                <a:cs typeface="+mn-cs"/>
              </a:defRPr>
            </a:lvl9pPr>
          </a:lstStyle>
          <a:p>
            <a:r>
              <a:rPr lang="en-US" sz="1400" dirty="0">
                <a:solidFill>
                  <a:srgbClr val="00B0F0"/>
                </a:solidFill>
              </a:rPr>
              <a:t>Presentation on Final Report</a:t>
            </a:r>
            <a:endParaRPr lang="en-IN" sz="1400" dirty="0">
              <a:solidFill>
                <a:srgbClr val="00B0F0"/>
              </a:solidFill>
            </a:endParaRPr>
          </a:p>
        </p:txBody>
      </p:sp>
    </p:spTree>
    <p:extLst>
      <p:ext uri="{BB962C8B-B14F-4D97-AF65-F5344CB8AC3E}">
        <p14:creationId xmlns:p14="http://schemas.microsoft.com/office/powerpoint/2010/main" val="68342148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5"/>
          <p:cNvSpPr>
            <a:spLocks noGrp="1"/>
          </p:cNvSpPr>
          <p:nvPr>
            <p:ph type="title"/>
          </p:nvPr>
        </p:nvSpPr>
        <p:spPr>
          <a:xfrm>
            <a:off x="488396" y="422374"/>
            <a:ext cx="9737348" cy="354317"/>
          </a:xfrm>
        </p:spPr>
        <p:txBody>
          <a:bodyPr/>
          <a:lstStyle/>
          <a:p>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Table of contents</a:t>
            </a:r>
          </a:p>
        </p:txBody>
      </p:sp>
      <p:graphicFrame>
        <p:nvGraphicFramePr>
          <p:cNvPr id="4" name="Table 3"/>
          <p:cNvGraphicFramePr>
            <a:graphicFrameLocks noGrp="1"/>
          </p:cNvGraphicFramePr>
          <p:nvPr>
            <p:extLst>
              <p:ext uri="{D42A27DB-BD31-4B8C-83A1-F6EECF244321}">
                <p14:modId xmlns:p14="http://schemas.microsoft.com/office/powerpoint/2010/main" val="3209485885"/>
              </p:ext>
            </p:extLst>
          </p:nvPr>
        </p:nvGraphicFramePr>
        <p:xfrm>
          <a:off x="439793" y="1373363"/>
          <a:ext cx="9785951" cy="5724121"/>
        </p:xfrm>
        <a:graphic>
          <a:graphicData uri="http://schemas.openxmlformats.org/drawingml/2006/table">
            <a:tbl>
              <a:tblPr firstRow="1" bandRow="1">
                <a:tableStyleId>{5C22544A-7EE6-4342-B048-85BDC9FD1C3A}</a:tableStyleId>
              </a:tblPr>
              <a:tblGrid>
                <a:gridCol w="1330446">
                  <a:extLst>
                    <a:ext uri="{9D8B030D-6E8A-4147-A177-3AD203B41FA5}">
                      <a16:colId xmlns:a16="http://schemas.microsoft.com/office/drawing/2014/main" val="20000"/>
                    </a:ext>
                  </a:extLst>
                </a:gridCol>
                <a:gridCol w="8455505">
                  <a:extLst>
                    <a:ext uri="{9D8B030D-6E8A-4147-A177-3AD203B41FA5}">
                      <a16:colId xmlns:a16="http://schemas.microsoft.com/office/drawing/2014/main" val="20001"/>
                    </a:ext>
                  </a:extLst>
                </a:gridCol>
              </a:tblGrid>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S. No</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Topic</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Our Scope of Work</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Key Challenges faced by</a:t>
                      </a:r>
                      <a:r>
                        <a:rPr lang="en-US" sz="14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BPDB</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III.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Drivers for Reform</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IV.</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Proposed</a:t>
                      </a:r>
                      <a:r>
                        <a:rPr lang="en-US" sz="14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Reform Model for BPDB</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V.</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Proposed</a:t>
                      </a:r>
                      <a:r>
                        <a:rPr lang="en-US" sz="14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High Level Functional / Departmental Organogram of Holding Company</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VI.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Proposed Touchpoints</a:t>
                      </a:r>
                      <a:r>
                        <a:rPr lang="en-US" sz="14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of Holding Company with Subsidiaries</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VII.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Key Drivers of Sustainability</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VIII.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Immediate Steps &amp; Priority</a:t>
                      </a:r>
                      <a:r>
                        <a:rPr lang="en-US" sz="14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Areas</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IX.</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High</a:t>
                      </a:r>
                      <a:r>
                        <a:rPr lang="en-US" sz="14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Level Implementation Plan</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X.</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Manpower Assessment &amp; Guidelines for Holding Company</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XI.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Recommendation on Compensation Benchmarking</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440317">
                <a:tc>
                  <a:txBody>
                    <a:bodyPr/>
                    <a:lstStyle/>
                    <a:p>
                      <a:pPr algn="l"/>
                      <a:r>
                        <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rPr>
                        <a:t>XII.</a:t>
                      </a:r>
                      <a:endParaRPr lang="en-IN"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algn="l" defTabSz="1082704" rtl="0" eaLnBrk="1" latinLnBrk="0" hangingPunct="1"/>
                      <a:r>
                        <a:rPr lang="en-IN" sz="1400" kern="1200" dirty="0">
                          <a:solidFill>
                            <a:schemeClr val="tx1"/>
                          </a:solidFill>
                          <a:latin typeface="Verdana" panose="020B0604030504040204" pitchFamily="34" charset="0"/>
                          <a:ea typeface="Verdana" panose="020B0604030504040204" pitchFamily="34" charset="0"/>
                          <a:cs typeface="Verdana" panose="020B0604030504040204" pitchFamily="34" charset="0"/>
                        </a:rPr>
                        <a:t>Proposed Board Governance Model of Holding Company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334089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Our Scope of Work</a:t>
            </a:r>
          </a:p>
        </p:txBody>
      </p:sp>
    </p:spTree>
    <p:extLst>
      <p:ext uri="{BB962C8B-B14F-4D97-AF65-F5344CB8AC3E}">
        <p14:creationId xmlns:p14="http://schemas.microsoft.com/office/powerpoint/2010/main" val="1435747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r>
              <a:rPr lang="en-US" sz="2000" b="1" dirty="0"/>
              <a:t>Scope of work</a:t>
            </a:r>
            <a:endParaRPr lang="en-IN" sz="2000" b="1" dirty="0"/>
          </a:p>
        </p:txBody>
      </p:sp>
      <p:sp>
        <p:nvSpPr>
          <p:cNvPr id="5" name="Content Placeholder 3"/>
          <p:cNvSpPr>
            <a:spLocks noGrp="1"/>
          </p:cNvSpPr>
          <p:nvPr>
            <p:ph idx="1"/>
          </p:nvPr>
        </p:nvSpPr>
        <p:spPr>
          <a:xfrm>
            <a:off x="439793" y="899411"/>
            <a:ext cx="9912521" cy="5891134"/>
          </a:xfrm>
          <a:ln>
            <a:solidFill>
              <a:schemeClr val="tx1"/>
            </a:solidFill>
          </a:ln>
        </p:spPr>
        <p:txBody>
          <a:bodyPr lIns="72000" tIns="72000" rIns="72000" bIns="72000"/>
          <a:lstStyle/>
          <a:p>
            <a:pPr algn="just">
              <a:lnSpc>
                <a:spcPct val="150000"/>
              </a:lnSpc>
              <a:spcAft>
                <a:spcPts val="600"/>
              </a:spcAft>
            </a:pPr>
            <a:r>
              <a:rPr lang="en-US" sz="1400" dirty="0"/>
              <a:t>Formulation of Strategy for reform of BPDB and establishment of Holding Company and development of high level Implementation plan for the same. Detailed activities will involve:</a:t>
            </a:r>
          </a:p>
          <a:p>
            <a:pPr marL="228600" indent="-228600" algn="just">
              <a:lnSpc>
                <a:spcPct val="150000"/>
              </a:lnSpc>
              <a:spcAft>
                <a:spcPts val="600"/>
              </a:spcAft>
              <a:buFont typeface="+mj-lt"/>
              <a:buAutoNum type="alphaLcParenR"/>
            </a:pPr>
            <a:r>
              <a:rPr lang="en-US" sz="1400" dirty="0"/>
              <a:t>As-is assessment of BPDB covering Institutional, financial, legal, MIS and IT aspects</a:t>
            </a:r>
          </a:p>
          <a:p>
            <a:pPr marL="228600" indent="-228600" algn="just">
              <a:lnSpc>
                <a:spcPct val="150000"/>
              </a:lnSpc>
              <a:spcAft>
                <a:spcPts val="600"/>
              </a:spcAft>
              <a:buFont typeface="+mj-lt"/>
              <a:buAutoNum type="alphaLcParenR"/>
            </a:pPr>
            <a:r>
              <a:rPr lang="en-US" sz="1400" dirty="0"/>
              <a:t>Recommendation of strategy for formulation of holding company and the corresponding implementation plan covering the following:</a:t>
            </a:r>
            <a:endParaRPr lang="en-IN" sz="1400" dirty="0"/>
          </a:p>
          <a:p>
            <a:pPr marL="480284" lvl="2" indent="-285750" algn="just">
              <a:lnSpc>
                <a:spcPct val="150000"/>
              </a:lnSpc>
              <a:spcAft>
                <a:spcPts val="600"/>
              </a:spcAft>
              <a:buFont typeface="+mj-lt"/>
              <a:buAutoNum type="romanLcPeriod"/>
            </a:pPr>
            <a:r>
              <a:rPr lang="en-US" sz="1400" dirty="0"/>
              <a:t>Recommend on the proposed structural model for reform of BPDB as a holding company</a:t>
            </a:r>
            <a:endParaRPr lang="en-IN" sz="1400" dirty="0"/>
          </a:p>
          <a:p>
            <a:pPr marL="480284" lvl="2" indent="-285750" algn="just">
              <a:lnSpc>
                <a:spcPct val="150000"/>
              </a:lnSpc>
              <a:spcAft>
                <a:spcPts val="600"/>
              </a:spcAft>
              <a:buFont typeface="+mj-lt"/>
              <a:buAutoNum type="romanLcPeriod"/>
            </a:pPr>
            <a:r>
              <a:rPr lang="en-IN" sz="1400" dirty="0"/>
              <a:t>Determine the functions of the proposed Holding company </a:t>
            </a:r>
          </a:p>
          <a:p>
            <a:pPr marL="480284" lvl="2" indent="-285750" algn="just">
              <a:lnSpc>
                <a:spcPct val="150000"/>
              </a:lnSpc>
              <a:spcAft>
                <a:spcPts val="600"/>
              </a:spcAft>
              <a:buFont typeface="+mj-lt"/>
              <a:buAutoNum type="romanLcPeriod"/>
            </a:pPr>
            <a:r>
              <a:rPr lang="en-IN" sz="1400" dirty="0"/>
              <a:t>Recommend on high level legal considerations for creation of the proposed Holding company</a:t>
            </a:r>
          </a:p>
          <a:p>
            <a:pPr marL="480284" lvl="2" indent="-285750" algn="just">
              <a:lnSpc>
                <a:spcPct val="150000"/>
              </a:lnSpc>
              <a:spcAft>
                <a:spcPts val="600"/>
              </a:spcAft>
              <a:buFont typeface="+mj-lt"/>
              <a:buAutoNum type="romanLcPeriod"/>
            </a:pPr>
            <a:r>
              <a:rPr lang="en-IN" sz="1400" dirty="0"/>
              <a:t>Suggest a high level functional organogram of the proposed Holding company </a:t>
            </a:r>
          </a:p>
          <a:p>
            <a:pPr marL="480284" lvl="2" indent="-285750" algn="just">
              <a:lnSpc>
                <a:spcPct val="150000"/>
              </a:lnSpc>
              <a:spcAft>
                <a:spcPts val="600"/>
              </a:spcAft>
              <a:buFont typeface="+mj-lt"/>
              <a:buAutoNum type="romanLcPeriod"/>
            </a:pPr>
            <a:r>
              <a:rPr lang="en-US" sz="1400" dirty="0"/>
              <a:t>Recommend on the high level Board Governance Framework</a:t>
            </a:r>
            <a:endParaRPr lang="en-IN" sz="1400" dirty="0"/>
          </a:p>
          <a:p>
            <a:pPr marL="480284" lvl="2" indent="-285750" algn="just">
              <a:lnSpc>
                <a:spcPct val="150000"/>
              </a:lnSpc>
              <a:spcAft>
                <a:spcPts val="600"/>
              </a:spcAft>
              <a:buFont typeface="+mj-lt"/>
              <a:buAutoNum type="romanLcPeriod"/>
            </a:pPr>
            <a:r>
              <a:rPr lang="en-IN" sz="1400" dirty="0"/>
              <a:t>Determine high level relationship of the Holding Company with the subsidiaries </a:t>
            </a:r>
          </a:p>
          <a:p>
            <a:pPr marL="480284" lvl="2" indent="-285750" algn="just">
              <a:lnSpc>
                <a:spcPct val="150000"/>
              </a:lnSpc>
              <a:spcAft>
                <a:spcPts val="600"/>
              </a:spcAft>
              <a:buFont typeface="+mj-lt"/>
              <a:buAutoNum type="romanLcPeriod"/>
            </a:pPr>
            <a:r>
              <a:rPr lang="en-IN" sz="1400" dirty="0"/>
              <a:t>Suggest MIS and communication system of Holding company with the subsidiary companies</a:t>
            </a:r>
          </a:p>
          <a:p>
            <a:pPr marL="480284" lvl="2" indent="-285750" algn="just">
              <a:lnSpc>
                <a:spcPct val="150000"/>
              </a:lnSpc>
              <a:spcAft>
                <a:spcPts val="600"/>
              </a:spcAft>
              <a:buFont typeface="+mj-lt"/>
              <a:buAutoNum type="romanLcPeriod"/>
            </a:pPr>
            <a:r>
              <a:rPr lang="en-US" sz="1400" dirty="0"/>
              <a:t>High level recommendation on manpower arrangement and compensation benchmarking of holding company</a:t>
            </a:r>
          </a:p>
          <a:p>
            <a:pPr marL="480284" lvl="2" indent="-285750" algn="just">
              <a:lnSpc>
                <a:spcPct val="150000"/>
              </a:lnSpc>
              <a:spcAft>
                <a:spcPts val="600"/>
              </a:spcAft>
              <a:buFont typeface="+mj-lt"/>
              <a:buAutoNum type="romanLcPeriod"/>
            </a:pPr>
            <a:r>
              <a:rPr lang="en-US" sz="1400" dirty="0"/>
              <a:t>Formulation of high level time bound implementation plan for reform of BPDB as holding company</a:t>
            </a:r>
            <a:endParaRPr lang="en-IN" sz="1400" dirty="0"/>
          </a:p>
        </p:txBody>
      </p:sp>
    </p:spTree>
    <p:extLst>
      <p:ext uri="{BB962C8B-B14F-4D97-AF65-F5344CB8AC3E}">
        <p14:creationId xmlns:p14="http://schemas.microsoft.com/office/powerpoint/2010/main" val="1322968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Key Challenges faced by BPDB</a:t>
            </a:r>
          </a:p>
        </p:txBody>
      </p:sp>
    </p:spTree>
    <p:extLst>
      <p:ext uri="{BB962C8B-B14F-4D97-AF65-F5344CB8AC3E}">
        <p14:creationId xmlns:p14="http://schemas.microsoft.com/office/powerpoint/2010/main" val="815072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p:nvPr>
            <p:extLst>
              <p:ext uri="{D42A27DB-BD31-4B8C-83A1-F6EECF244321}">
                <p14:modId xmlns:p14="http://schemas.microsoft.com/office/powerpoint/2010/main" val="2980174145"/>
              </p:ext>
            </p:extLst>
          </p:nvPr>
        </p:nvGraphicFramePr>
        <p:xfrm>
          <a:off x="4228200" y="1761119"/>
          <a:ext cx="6076831" cy="4811625"/>
        </p:xfrm>
        <a:graphic>
          <a:graphicData uri="http://schemas.openxmlformats.org/drawingml/2006/chart">
            <c:chart xmlns:c="http://schemas.openxmlformats.org/drawingml/2006/chart" xmlns:r="http://schemas.openxmlformats.org/officeDocument/2006/relationships" r:id="rId2"/>
          </a:graphicData>
        </a:graphic>
      </p:graphicFrame>
      <p:cxnSp>
        <p:nvCxnSpPr>
          <p:cNvPr id="4" name="Straight Connector 3"/>
          <p:cNvCxnSpPr/>
          <p:nvPr/>
        </p:nvCxnSpPr>
        <p:spPr>
          <a:xfrm>
            <a:off x="4228200" y="1330233"/>
            <a:ext cx="6076831"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4779633" y="1114789"/>
            <a:ext cx="5069217" cy="430887"/>
          </a:xfrm>
          <a:prstGeom prst="rect">
            <a:avLst/>
          </a:prstGeom>
          <a:solidFill>
            <a:schemeClr val="bg1"/>
          </a:solidFill>
        </p:spPr>
        <p:txBody>
          <a:bodyPr wrap="square" lIns="0" tIns="0" rIns="0" bIns="0" rtlCol="0">
            <a:spAutoFit/>
          </a:bodyPr>
          <a:lstStyle/>
          <a:p>
            <a:pPr algn="ctr">
              <a:buSzPct val="100000"/>
            </a:pPr>
            <a:r>
              <a:rPr lang="en-US" sz="1400" b="1" dirty="0">
                <a:solidFill>
                  <a:prstClr val="black"/>
                </a:solidFill>
              </a:rPr>
              <a:t>Financial implications of identified strategic concerns and challenges on BPDB (in Bn. Taka)</a:t>
            </a:r>
          </a:p>
        </p:txBody>
      </p:sp>
      <p:sp>
        <p:nvSpPr>
          <p:cNvPr id="17" name="TextBox 16"/>
          <p:cNvSpPr txBox="1"/>
          <p:nvPr/>
        </p:nvSpPr>
        <p:spPr>
          <a:xfrm>
            <a:off x="4901547" y="7332398"/>
            <a:ext cx="4947303" cy="184666"/>
          </a:xfrm>
          <a:prstGeom prst="rect">
            <a:avLst/>
          </a:prstGeom>
          <a:noFill/>
        </p:spPr>
        <p:txBody>
          <a:bodyPr wrap="square" lIns="0" tIns="0" rIns="0" bIns="0" rtlCol="0">
            <a:spAutoFit/>
          </a:bodyPr>
          <a:lstStyle/>
          <a:p>
            <a:pPr algn="r">
              <a:spcBef>
                <a:spcPts val="600"/>
              </a:spcBef>
              <a:buSzPct val="100000"/>
            </a:pPr>
            <a:r>
              <a:rPr lang="en-US" sz="1200" i="1" dirty="0">
                <a:solidFill>
                  <a:srgbClr val="313131"/>
                </a:solidFill>
              </a:rPr>
              <a:t>(assessment is made based on financial figures of FY 2015-16)</a:t>
            </a:r>
            <a:endParaRPr lang="en-IN" sz="1200" i="1" dirty="0">
              <a:solidFill>
                <a:srgbClr val="313131"/>
              </a:solidFill>
            </a:endParaRPr>
          </a:p>
        </p:txBody>
      </p:sp>
      <p:cxnSp>
        <p:nvCxnSpPr>
          <p:cNvPr id="24" name="Straight Connector 23"/>
          <p:cNvCxnSpPr/>
          <p:nvPr/>
        </p:nvCxnSpPr>
        <p:spPr>
          <a:xfrm>
            <a:off x="320605" y="1348505"/>
            <a:ext cx="36413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76299" y="1222511"/>
            <a:ext cx="2750465" cy="215444"/>
          </a:xfrm>
          <a:prstGeom prst="rect">
            <a:avLst/>
          </a:prstGeom>
          <a:solidFill>
            <a:schemeClr val="bg1"/>
          </a:solidFill>
        </p:spPr>
        <p:txBody>
          <a:bodyPr wrap="square" lIns="0" tIns="0" rIns="0" bIns="0" rtlCol="0">
            <a:spAutoFit/>
          </a:bodyPr>
          <a:lstStyle/>
          <a:p>
            <a:pPr algn="ctr">
              <a:spcBef>
                <a:spcPts val="600"/>
              </a:spcBef>
              <a:buSzPct val="100000"/>
            </a:pPr>
            <a:r>
              <a:rPr lang="en-US" sz="1400" b="1" dirty="0">
                <a:solidFill>
                  <a:prstClr val="black"/>
                </a:solidFill>
              </a:rPr>
              <a:t>Core Challenge Areas</a:t>
            </a:r>
          </a:p>
        </p:txBody>
      </p:sp>
      <p:sp>
        <p:nvSpPr>
          <p:cNvPr id="28" name="Title 2"/>
          <p:cNvSpPr>
            <a:spLocks noGrp="1"/>
          </p:cNvSpPr>
          <p:nvPr>
            <p:ph type="title"/>
          </p:nvPr>
        </p:nvSpPr>
        <p:spPr>
          <a:xfrm>
            <a:off x="439793" y="350131"/>
            <a:ext cx="9785951" cy="368439"/>
          </a:xfrm>
        </p:spPr>
        <p:txBody>
          <a:bodyPr/>
          <a:lstStyle/>
          <a:p>
            <a:pPr algn="just"/>
            <a:r>
              <a:rPr lang="en-US" sz="2000" b="1" dirty="0"/>
              <a:t>Govt. Loans, lower bulk supply collection ratio and non-integrated sector planning has affected the performance of </a:t>
            </a:r>
            <a:r>
              <a:rPr lang="en-US" sz="2000" b="1" dirty="0" err="1"/>
              <a:t>BPDB</a:t>
            </a:r>
            <a:endParaRPr lang="en-IN" sz="2000" b="1" dirty="0"/>
          </a:p>
        </p:txBody>
      </p:sp>
      <p:grpSp>
        <p:nvGrpSpPr>
          <p:cNvPr id="45" name="Group 44"/>
          <p:cNvGrpSpPr/>
          <p:nvPr/>
        </p:nvGrpSpPr>
        <p:grpSpPr>
          <a:xfrm>
            <a:off x="213774" y="1761119"/>
            <a:ext cx="3748212" cy="738664"/>
            <a:chOff x="213774" y="1761119"/>
            <a:chExt cx="3748212" cy="738664"/>
          </a:xfrm>
        </p:grpSpPr>
        <p:sp>
          <p:nvSpPr>
            <p:cNvPr id="31" name="TextBox 30"/>
            <p:cNvSpPr txBox="1"/>
            <p:nvPr/>
          </p:nvSpPr>
          <p:spPr>
            <a:xfrm>
              <a:off x="537681" y="1761119"/>
              <a:ext cx="3424305"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dirty="0">
                  <a:solidFill>
                    <a:prstClr val="black"/>
                  </a:solidFill>
                  <a:ea typeface="Arial" panose="020B0604020202020204" pitchFamily="34" charset="0"/>
                  <a:cs typeface="Arial" panose="020B0604020202020204" pitchFamily="34" charset="0"/>
                </a:rPr>
                <a:t>BPDB receives </a:t>
              </a:r>
              <a:r>
                <a:rPr lang="en-US" sz="1200" b="1" dirty="0">
                  <a:solidFill>
                    <a:prstClr val="black"/>
                  </a:solidFill>
                  <a:ea typeface="Arial" panose="020B0604020202020204" pitchFamily="34" charset="0"/>
                  <a:cs typeface="Arial" panose="020B0604020202020204" pitchFamily="34" charset="0"/>
                </a:rPr>
                <a:t>budgetary support in the form of loans </a:t>
              </a:r>
              <a:r>
                <a:rPr lang="en-US" sz="1200" dirty="0">
                  <a:solidFill>
                    <a:prstClr val="black"/>
                  </a:solidFill>
                  <a:ea typeface="Arial" panose="020B0604020202020204" pitchFamily="34" charset="0"/>
                  <a:cs typeface="Arial" panose="020B0604020202020204" pitchFamily="34" charset="0"/>
                </a:rPr>
                <a:t>which creates </a:t>
              </a:r>
              <a:r>
                <a:rPr lang="en-US" sz="1200" b="1" dirty="0">
                  <a:solidFill>
                    <a:prstClr val="black"/>
                  </a:solidFill>
                  <a:ea typeface="Arial" panose="020B0604020202020204" pitchFamily="34" charset="0"/>
                  <a:cs typeface="Arial" panose="020B0604020202020204" pitchFamily="34" charset="0"/>
                </a:rPr>
                <a:t>debt service burden on the organization</a:t>
              </a:r>
            </a:p>
          </p:txBody>
        </p:sp>
        <p:sp>
          <p:nvSpPr>
            <p:cNvPr id="32" name="Oval 31"/>
            <p:cNvSpPr/>
            <p:nvPr/>
          </p:nvSpPr>
          <p:spPr bwMode="gray">
            <a:xfrm>
              <a:off x="213774" y="1940537"/>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1</a:t>
              </a:r>
            </a:p>
          </p:txBody>
        </p:sp>
      </p:grpSp>
      <p:grpSp>
        <p:nvGrpSpPr>
          <p:cNvPr id="44" name="Group 43"/>
          <p:cNvGrpSpPr/>
          <p:nvPr/>
        </p:nvGrpSpPr>
        <p:grpSpPr>
          <a:xfrm>
            <a:off x="213774" y="2742199"/>
            <a:ext cx="3748212" cy="1184940"/>
            <a:chOff x="213774" y="2742199"/>
            <a:chExt cx="3748212" cy="1184940"/>
          </a:xfrm>
        </p:grpSpPr>
        <p:sp>
          <p:nvSpPr>
            <p:cNvPr id="33" name="TextBox 32"/>
            <p:cNvSpPr txBox="1"/>
            <p:nvPr/>
          </p:nvSpPr>
          <p:spPr>
            <a:xfrm>
              <a:off x="537681" y="2742199"/>
              <a:ext cx="3424305" cy="118494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Avg. bulk supply tariff is 4.9 </a:t>
              </a:r>
              <a:r>
                <a:rPr lang="en-US" sz="1200" b="1" dirty="0" err="1">
                  <a:solidFill>
                    <a:prstClr val="black"/>
                  </a:solidFill>
                  <a:ea typeface="Arial" panose="020B0604020202020204" pitchFamily="34" charset="0"/>
                  <a:cs typeface="Arial" panose="020B0604020202020204" pitchFamily="34" charset="0"/>
                </a:rPr>
                <a:t>Tk</a:t>
              </a:r>
              <a:r>
                <a:rPr lang="en-US" sz="1200" b="1" dirty="0">
                  <a:solidFill>
                    <a:prstClr val="black"/>
                  </a:solidFill>
                  <a:ea typeface="Arial" panose="020B0604020202020204" pitchFamily="34" charset="0"/>
                  <a:cs typeface="Arial" panose="020B0604020202020204" pitchFamily="34" charset="0"/>
                </a:rPr>
                <a:t>/unit whereas cost of supply is 5.55 </a:t>
              </a:r>
              <a:r>
                <a:rPr lang="en-US" sz="1200" b="1" dirty="0" err="1">
                  <a:solidFill>
                    <a:prstClr val="black"/>
                  </a:solidFill>
                  <a:ea typeface="Arial" panose="020B0604020202020204" pitchFamily="34" charset="0"/>
                  <a:cs typeface="Arial" panose="020B0604020202020204" pitchFamily="34" charset="0"/>
                </a:rPr>
                <a:t>Tk</a:t>
              </a:r>
              <a:r>
                <a:rPr lang="en-US" sz="1200" b="1" dirty="0">
                  <a:solidFill>
                    <a:prstClr val="black"/>
                  </a:solidFill>
                  <a:ea typeface="Arial" panose="020B0604020202020204" pitchFamily="34" charset="0"/>
                  <a:cs typeface="Arial" panose="020B0604020202020204" pitchFamily="34" charset="0"/>
                </a:rPr>
                <a:t>/unit.</a:t>
              </a:r>
            </a:p>
            <a:p>
              <a:pPr algn="just">
                <a:spcBef>
                  <a:spcPts val="600"/>
                </a:spcBef>
                <a:buSzPct val="100000"/>
              </a:pPr>
              <a:r>
                <a:rPr lang="en-US" sz="1200" dirty="0">
                  <a:solidFill>
                    <a:prstClr val="black"/>
                  </a:solidFill>
                  <a:ea typeface="Arial" panose="020B0604020202020204" pitchFamily="34" charset="0"/>
                  <a:cs typeface="Arial" panose="020B0604020202020204" pitchFamily="34" charset="0"/>
                </a:rPr>
                <a:t>BPDB’s </a:t>
              </a:r>
              <a:r>
                <a:rPr lang="en-US" sz="1200" b="1" dirty="0">
                  <a:solidFill>
                    <a:prstClr val="black"/>
                  </a:solidFill>
                  <a:ea typeface="Arial" panose="020B0604020202020204" pitchFamily="34" charset="0"/>
                  <a:cs typeface="Arial" panose="020B0604020202020204" pitchFamily="34" charset="0"/>
                </a:rPr>
                <a:t>billing collection ratio for bulk supply is ~90%</a:t>
              </a:r>
            </a:p>
          </p:txBody>
        </p:sp>
        <p:sp>
          <p:nvSpPr>
            <p:cNvPr id="34" name="Oval 33"/>
            <p:cNvSpPr/>
            <p:nvPr/>
          </p:nvSpPr>
          <p:spPr bwMode="gray">
            <a:xfrm>
              <a:off x="213774" y="3144755"/>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2</a:t>
              </a:r>
            </a:p>
          </p:txBody>
        </p:sp>
      </p:grpSp>
      <p:grpSp>
        <p:nvGrpSpPr>
          <p:cNvPr id="43" name="Group 42"/>
          <p:cNvGrpSpPr/>
          <p:nvPr/>
        </p:nvGrpSpPr>
        <p:grpSpPr>
          <a:xfrm>
            <a:off x="213774" y="4169555"/>
            <a:ext cx="3748212" cy="1000274"/>
            <a:chOff x="213774" y="4169555"/>
            <a:chExt cx="3748212" cy="1000274"/>
          </a:xfrm>
        </p:grpSpPr>
        <p:sp>
          <p:nvSpPr>
            <p:cNvPr id="35" name="TextBox 34"/>
            <p:cNvSpPr txBox="1"/>
            <p:nvPr/>
          </p:nvSpPr>
          <p:spPr>
            <a:xfrm>
              <a:off x="537681" y="4169555"/>
              <a:ext cx="3424305" cy="100027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dirty="0">
                  <a:solidFill>
                    <a:prstClr val="black"/>
                  </a:solidFill>
                  <a:ea typeface="Arial" panose="020B0604020202020204" pitchFamily="34" charset="0"/>
                  <a:cs typeface="Arial" panose="020B0604020202020204" pitchFamily="34" charset="0"/>
                </a:rPr>
                <a:t>Different power sector entities undertake their own planning exercise.</a:t>
              </a:r>
            </a:p>
            <a:p>
              <a:pPr algn="just">
                <a:spcBef>
                  <a:spcPts val="600"/>
                </a:spcBef>
                <a:buSzPct val="100000"/>
              </a:pPr>
              <a:r>
                <a:rPr lang="en-US" sz="1200" dirty="0">
                  <a:solidFill>
                    <a:srgbClr val="313131"/>
                  </a:solidFill>
                </a:rPr>
                <a:t>This leads to </a:t>
              </a:r>
              <a:r>
                <a:rPr lang="en-US" sz="1200" b="1" dirty="0">
                  <a:solidFill>
                    <a:srgbClr val="313131"/>
                  </a:solidFill>
                </a:rPr>
                <a:t>risk of limited synergy across the sector</a:t>
              </a:r>
            </a:p>
          </p:txBody>
        </p:sp>
        <p:sp>
          <p:nvSpPr>
            <p:cNvPr id="36" name="Oval 35"/>
            <p:cNvSpPr/>
            <p:nvPr/>
          </p:nvSpPr>
          <p:spPr bwMode="gray">
            <a:xfrm>
              <a:off x="213774" y="4479778"/>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3</a:t>
              </a:r>
            </a:p>
          </p:txBody>
        </p:sp>
      </p:grpSp>
      <p:grpSp>
        <p:nvGrpSpPr>
          <p:cNvPr id="42" name="Group 41"/>
          <p:cNvGrpSpPr/>
          <p:nvPr/>
        </p:nvGrpSpPr>
        <p:grpSpPr>
          <a:xfrm>
            <a:off x="213773" y="5412245"/>
            <a:ext cx="3748212" cy="738664"/>
            <a:chOff x="213773" y="5412245"/>
            <a:chExt cx="3748212" cy="738664"/>
          </a:xfrm>
        </p:grpSpPr>
        <p:sp>
          <p:nvSpPr>
            <p:cNvPr id="37" name="TextBox 36"/>
            <p:cNvSpPr txBox="1"/>
            <p:nvPr/>
          </p:nvSpPr>
          <p:spPr>
            <a:xfrm>
              <a:off x="537680" y="5412245"/>
              <a:ext cx="3424305"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Higher generation cost from BPDB’s HFO &amp; diesel power plants </a:t>
              </a:r>
              <a:r>
                <a:rPr lang="en-US" sz="1200" dirty="0">
                  <a:solidFill>
                    <a:prstClr val="black"/>
                  </a:solidFill>
                  <a:ea typeface="Arial" panose="020B0604020202020204" pitchFamily="34" charset="0"/>
                  <a:cs typeface="Arial" panose="020B0604020202020204" pitchFamily="34" charset="0"/>
                </a:rPr>
                <a:t>compared to IPPs/Rental/QRs</a:t>
              </a:r>
            </a:p>
          </p:txBody>
        </p:sp>
        <p:sp>
          <p:nvSpPr>
            <p:cNvPr id="38" name="Oval 37"/>
            <p:cNvSpPr/>
            <p:nvPr/>
          </p:nvSpPr>
          <p:spPr bwMode="gray">
            <a:xfrm>
              <a:off x="213773" y="5622266"/>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4</a:t>
              </a:r>
            </a:p>
          </p:txBody>
        </p:sp>
      </p:grpSp>
      <p:grpSp>
        <p:nvGrpSpPr>
          <p:cNvPr id="41" name="Group 40"/>
          <p:cNvGrpSpPr/>
          <p:nvPr/>
        </p:nvGrpSpPr>
        <p:grpSpPr>
          <a:xfrm>
            <a:off x="209013" y="6393325"/>
            <a:ext cx="3752972" cy="738664"/>
            <a:chOff x="209013" y="6393325"/>
            <a:chExt cx="3752972" cy="738664"/>
          </a:xfrm>
        </p:grpSpPr>
        <p:sp>
          <p:nvSpPr>
            <p:cNvPr id="39" name="TextBox 38"/>
            <p:cNvSpPr txBox="1"/>
            <p:nvPr/>
          </p:nvSpPr>
          <p:spPr>
            <a:xfrm>
              <a:off x="537680" y="6393325"/>
              <a:ext cx="3424305"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dirty="0">
                  <a:solidFill>
                    <a:prstClr val="black"/>
                  </a:solidFill>
                  <a:ea typeface="Arial" panose="020B0604020202020204" pitchFamily="34" charset="0"/>
                  <a:cs typeface="Arial" panose="020B0604020202020204" pitchFamily="34" charset="0"/>
                </a:rPr>
                <a:t>BPDB’s </a:t>
              </a:r>
              <a:r>
                <a:rPr lang="en-US" sz="1200" b="1" dirty="0">
                  <a:solidFill>
                    <a:prstClr val="black"/>
                  </a:solidFill>
                  <a:ea typeface="Arial" panose="020B0604020202020204" pitchFamily="34" charset="0"/>
                  <a:cs typeface="Arial" panose="020B0604020202020204" pitchFamily="34" charset="0"/>
                </a:rPr>
                <a:t>retail and billing collection ratios is lower for </a:t>
              </a:r>
              <a:r>
                <a:rPr lang="en-US" sz="1200" b="1" dirty="0" err="1">
                  <a:solidFill>
                    <a:prstClr val="black"/>
                  </a:solidFill>
                  <a:ea typeface="Arial" panose="020B0604020202020204" pitchFamily="34" charset="0"/>
                  <a:cs typeface="Arial" panose="020B0604020202020204" pitchFamily="34" charset="0"/>
                </a:rPr>
                <a:t>Mymensingh</a:t>
              </a:r>
              <a:r>
                <a:rPr lang="en-US" sz="1200" b="1" dirty="0">
                  <a:solidFill>
                    <a:prstClr val="black"/>
                  </a:solidFill>
                  <a:ea typeface="Arial" panose="020B0604020202020204" pitchFamily="34" charset="0"/>
                  <a:cs typeface="Arial" panose="020B0604020202020204" pitchFamily="34" charset="0"/>
                </a:rPr>
                <a:t>, Sylhet and Rangpur</a:t>
              </a:r>
            </a:p>
          </p:txBody>
        </p:sp>
        <p:sp>
          <p:nvSpPr>
            <p:cNvPr id="40" name="Oval 39"/>
            <p:cNvSpPr/>
            <p:nvPr/>
          </p:nvSpPr>
          <p:spPr bwMode="gray">
            <a:xfrm>
              <a:off x="209013" y="6565740"/>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5</a:t>
              </a:r>
            </a:p>
          </p:txBody>
        </p:sp>
      </p:grpSp>
      <p:sp>
        <p:nvSpPr>
          <p:cNvPr id="46" name="TextBox 45"/>
          <p:cNvSpPr txBox="1"/>
          <p:nvPr/>
        </p:nvSpPr>
        <p:spPr>
          <a:xfrm>
            <a:off x="4228200" y="6708042"/>
            <a:ext cx="6076831" cy="489058"/>
          </a:xfrm>
          <a:prstGeom prst="rect">
            <a:avLst/>
          </a:prstGeom>
          <a:solidFill>
            <a:srgbClr val="00B0F0"/>
          </a:solidFill>
          <a:ln>
            <a:solidFill>
              <a:srgbClr val="00B0F0"/>
            </a:solidFill>
          </a:ln>
        </p:spPr>
        <p:txBody>
          <a:bodyPr wrap="square" lIns="36000" tIns="0" rIns="36000" bIns="0" rtlCol="0" anchor="ctr">
            <a:noAutofit/>
          </a:bodyPr>
          <a:lstStyle/>
          <a:p>
            <a:pPr algn="ctr">
              <a:spcBef>
                <a:spcPts val="600"/>
              </a:spcBef>
              <a:buSzPct val="100000"/>
            </a:pPr>
            <a:r>
              <a:rPr lang="en-US" sz="1400" b="1" dirty="0">
                <a:solidFill>
                  <a:schemeClr val="bg1"/>
                </a:solidFill>
              </a:rPr>
              <a:t>Bulk Supply business contributes to ~85% of the total financial impact attributed to various strategic concerns</a:t>
            </a:r>
            <a:endParaRPr lang="en-IN" sz="1400" b="1" dirty="0">
              <a:solidFill>
                <a:schemeClr val="bg1"/>
              </a:solidFill>
            </a:endParaRPr>
          </a:p>
        </p:txBody>
      </p:sp>
    </p:spTree>
    <p:extLst>
      <p:ext uri="{BB962C8B-B14F-4D97-AF65-F5344CB8AC3E}">
        <p14:creationId xmlns:p14="http://schemas.microsoft.com/office/powerpoint/2010/main" val="826659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Drivers for Reform</a:t>
            </a:r>
          </a:p>
        </p:txBody>
      </p:sp>
    </p:spTree>
    <p:extLst>
      <p:ext uri="{BB962C8B-B14F-4D97-AF65-F5344CB8AC3E}">
        <p14:creationId xmlns:p14="http://schemas.microsoft.com/office/powerpoint/2010/main" val="242602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435360" y="1324303"/>
            <a:ext cx="97903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Left Arrow 17"/>
          <p:cNvSpPr/>
          <p:nvPr/>
        </p:nvSpPr>
        <p:spPr>
          <a:xfrm rot="8700000" flipH="1">
            <a:off x="7683923" y="3189914"/>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9" name="Left Arrow 8"/>
          <p:cNvSpPr/>
          <p:nvPr/>
        </p:nvSpPr>
        <p:spPr>
          <a:xfrm rot="16200000">
            <a:off x="5722309" y="3018928"/>
            <a:ext cx="450655"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3" name="Left Arrow 12"/>
          <p:cNvSpPr/>
          <p:nvPr/>
        </p:nvSpPr>
        <p:spPr>
          <a:xfrm rot="12900000">
            <a:off x="3782331" y="3182895"/>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grpSp>
        <p:nvGrpSpPr>
          <p:cNvPr id="6" name="Group 5"/>
          <p:cNvGrpSpPr/>
          <p:nvPr/>
        </p:nvGrpSpPr>
        <p:grpSpPr>
          <a:xfrm>
            <a:off x="5010284" y="1942981"/>
            <a:ext cx="1874704" cy="1107972"/>
            <a:chOff x="4200492" y="514"/>
            <a:chExt cx="1384965" cy="1107972"/>
          </a:xfrm>
        </p:grpSpPr>
        <p:sp>
          <p:nvSpPr>
            <p:cNvPr id="7" name="Rounded Rectangle 6"/>
            <p:cNvSpPr/>
            <p:nvPr/>
          </p:nvSpPr>
          <p:spPr>
            <a:xfrm>
              <a:off x="4200492" y="514"/>
              <a:ext cx="1384965" cy="110797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ounded Rectangle 4"/>
            <p:cNvSpPr/>
            <p:nvPr/>
          </p:nvSpPr>
          <p:spPr>
            <a:xfrm>
              <a:off x="4232943" y="32965"/>
              <a:ext cx="1320063" cy="1043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algn="ctr" defTabSz="577850">
                <a:lnSpc>
                  <a:spcPct val="90000"/>
                </a:lnSpc>
                <a:spcBef>
                  <a:spcPct val="0"/>
                </a:spcBef>
                <a:spcAft>
                  <a:spcPct val="35000"/>
                </a:spcAft>
              </a:pPr>
              <a:r>
                <a:rPr lang="en-US" sz="1400" dirty="0">
                  <a:solidFill>
                    <a:prstClr val="white"/>
                  </a:solidFill>
                </a:rPr>
                <a:t>Bangladesh’s Potential Offshore Investments</a:t>
              </a:r>
              <a:endParaRPr lang="en-IN" sz="1400" dirty="0">
                <a:solidFill>
                  <a:prstClr val="white"/>
                </a:solidFill>
              </a:endParaRPr>
            </a:p>
          </p:txBody>
        </p:sp>
      </p:grpSp>
      <p:grpSp>
        <p:nvGrpSpPr>
          <p:cNvPr id="10" name="Group 9"/>
          <p:cNvGrpSpPr/>
          <p:nvPr/>
        </p:nvGrpSpPr>
        <p:grpSpPr>
          <a:xfrm>
            <a:off x="2033767" y="2243744"/>
            <a:ext cx="1874704" cy="1107972"/>
            <a:chOff x="2634770" y="815577"/>
            <a:chExt cx="1384965" cy="1107972"/>
          </a:xfrm>
        </p:grpSpPr>
        <p:sp>
          <p:nvSpPr>
            <p:cNvPr id="11" name="Rounded Rectangle 10"/>
            <p:cNvSpPr/>
            <p:nvPr/>
          </p:nvSpPr>
          <p:spPr>
            <a:xfrm>
              <a:off x="2634770" y="815577"/>
              <a:ext cx="1384965" cy="110797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ounded Rectangle 4"/>
            <p:cNvSpPr/>
            <p:nvPr/>
          </p:nvSpPr>
          <p:spPr>
            <a:xfrm>
              <a:off x="2667221" y="848028"/>
              <a:ext cx="1320063" cy="1043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algn="ctr" defTabSz="577850">
                <a:lnSpc>
                  <a:spcPct val="90000"/>
                </a:lnSpc>
                <a:spcBef>
                  <a:spcPct val="0"/>
                </a:spcBef>
                <a:spcAft>
                  <a:spcPct val="35000"/>
                </a:spcAft>
              </a:pPr>
              <a:r>
                <a:rPr lang="en-US" sz="1400" dirty="0">
                  <a:solidFill>
                    <a:prstClr val="white"/>
                  </a:solidFill>
                </a:rPr>
                <a:t>Increase in Cross Border Trade</a:t>
              </a:r>
              <a:endParaRPr lang="en-IN" sz="1400" dirty="0">
                <a:solidFill>
                  <a:prstClr val="white"/>
                </a:solidFill>
              </a:endParaRPr>
            </a:p>
          </p:txBody>
        </p:sp>
      </p:grpSp>
      <p:grpSp>
        <p:nvGrpSpPr>
          <p:cNvPr id="14" name="Group 13"/>
          <p:cNvGrpSpPr/>
          <p:nvPr/>
        </p:nvGrpSpPr>
        <p:grpSpPr>
          <a:xfrm>
            <a:off x="7986802" y="2243744"/>
            <a:ext cx="1874704" cy="1107972"/>
            <a:chOff x="5766214" y="815577"/>
            <a:chExt cx="1384965" cy="1107972"/>
          </a:xfrm>
        </p:grpSpPr>
        <p:sp>
          <p:nvSpPr>
            <p:cNvPr id="15" name="Rounded Rectangle 14"/>
            <p:cNvSpPr/>
            <p:nvPr/>
          </p:nvSpPr>
          <p:spPr>
            <a:xfrm>
              <a:off x="5766214" y="815577"/>
              <a:ext cx="1384965" cy="110797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4"/>
            <p:cNvSpPr/>
            <p:nvPr/>
          </p:nvSpPr>
          <p:spPr>
            <a:xfrm>
              <a:off x="5798665" y="848028"/>
              <a:ext cx="1320063" cy="104307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algn="ctr" defTabSz="577850">
                <a:lnSpc>
                  <a:spcPct val="90000"/>
                </a:lnSpc>
                <a:spcBef>
                  <a:spcPct val="0"/>
                </a:spcBef>
                <a:spcAft>
                  <a:spcPct val="35000"/>
                </a:spcAft>
              </a:pPr>
              <a:r>
                <a:rPr lang="en-US" sz="1400" dirty="0">
                  <a:solidFill>
                    <a:prstClr val="white"/>
                  </a:solidFill>
                </a:rPr>
                <a:t>Imported Coal, LNG &amp; Renewable based Capacity Addition</a:t>
              </a:r>
              <a:endParaRPr lang="en-IN" sz="1400" dirty="0">
                <a:solidFill>
                  <a:prstClr val="white"/>
                </a:solidFill>
              </a:endParaRPr>
            </a:p>
          </p:txBody>
        </p:sp>
      </p:grpSp>
      <p:grpSp>
        <p:nvGrpSpPr>
          <p:cNvPr id="19" name="Group 18"/>
          <p:cNvGrpSpPr/>
          <p:nvPr/>
        </p:nvGrpSpPr>
        <p:grpSpPr>
          <a:xfrm>
            <a:off x="1951077" y="3791191"/>
            <a:ext cx="8056179" cy="1107972"/>
            <a:chOff x="4200492" y="514"/>
            <a:chExt cx="1384965" cy="1107972"/>
          </a:xfrm>
          <a:solidFill>
            <a:srgbClr val="00B0F0"/>
          </a:solidFill>
        </p:grpSpPr>
        <p:sp>
          <p:nvSpPr>
            <p:cNvPr id="20" name="Rounded Rectangle 19"/>
            <p:cNvSpPr/>
            <p:nvPr/>
          </p:nvSpPr>
          <p:spPr>
            <a:xfrm>
              <a:off x="4200492" y="514"/>
              <a:ext cx="1384965" cy="1107972"/>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Rounded Rectangle 4"/>
            <p:cNvSpPr/>
            <p:nvPr/>
          </p:nvSpPr>
          <p:spPr>
            <a:xfrm>
              <a:off x="4232943" y="32965"/>
              <a:ext cx="1320063" cy="104307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4765" tIns="24765" rIns="24765" bIns="24765" numCol="1" spcCol="1270" anchor="ctr" anchorCtr="0">
              <a:noAutofit/>
            </a:bodyPr>
            <a:lstStyle/>
            <a:p>
              <a:pPr marL="171450" indent="-171450">
                <a:lnSpc>
                  <a:spcPct val="106000"/>
                </a:lnSpc>
                <a:buFont typeface="Arial" panose="020B0604020202020204" pitchFamily="34" charset="0"/>
                <a:buChar char="•"/>
              </a:pPr>
              <a:r>
                <a:rPr lang="en-US" sz="1400" b="1" dirty="0">
                  <a:solidFill>
                    <a:prstClr val="white"/>
                  </a:solidFill>
                </a:rPr>
                <a:t>Financial Sustainability of Single Buyer due to shift in power supply – mix</a:t>
              </a:r>
            </a:p>
            <a:p>
              <a:pPr marL="171450" indent="-171450">
                <a:lnSpc>
                  <a:spcPct val="106000"/>
                </a:lnSpc>
                <a:buFont typeface="Arial" panose="020B0604020202020204" pitchFamily="34" charset="0"/>
                <a:buChar char="•"/>
              </a:pPr>
              <a:r>
                <a:rPr lang="en-IN" sz="1400" b="1" dirty="0">
                  <a:solidFill>
                    <a:prstClr val="white"/>
                  </a:solidFill>
                </a:rPr>
                <a:t>Need for integrated planning and nodal management to ensure coordinated development</a:t>
              </a:r>
            </a:p>
          </p:txBody>
        </p:sp>
      </p:grpSp>
      <p:sp>
        <p:nvSpPr>
          <p:cNvPr id="24" name="Oval 23"/>
          <p:cNvSpPr/>
          <p:nvPr/>
        </p:nvSpPr>
        <p:spPr bwMode="gray">
          <a:xfrm>
            <a:off x="2494231" y="5447619"/>
            <a:ext cx="2866058" cy="1072705"/>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Bangladesh Vision Statement, 2000</a:t>
            </a:r>
            <a:endParaRPr lang="en-IN" sz="1400" b="1" dirty="0">
              <a:solidFill>
                <a:prstClr val="white"/>
              </a:solidFill>
            </a:endParaRPr>
          </a:p>
        </p:txBody>
      </p:sp>
      <p:sp>
        <p:nvSpPr>
          <p:cNvPr id="25" name="Oval 24"/>
          <p:cNvSpPr/>
          <p:nvPr/>
        </p:nvSpPr>
        <p:spPr bwMode="gray">
          <a:xfrm>
            <a:off x="6333387" y="5447618"/>
            <a:ext cx="2866058" cy="1072705"/>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National Energy Policy 2004</a:t>
            </a:r>
            <a:endParaRPr lang="en-IN" sz="1400" b="1" dirty="0">
              <a:solidFill>
                <a:prstClr val="white"/>
              </a:solidFill>
            </a:endParaRPr>
          </a:p>
        </p:txBody>
      </p:sp>
      <p:sp>
        <p:nvSpPr>
          <p:cNvPr id="29" name="Left Arrow 28"/>
          <p:cNvSpPr/>
          <p:nvPr/>
        </p:nvSpPr>
        <p:spPr>
          <a:xfrm rot="8700000" flipV="1">
            <a:off x="5046342" y="5132427"/>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30" name="Left Arrow 29"/>
          <p:cNvSpPr/>
          <p:nvPr/>
        </p:nvSpPr>
        <p:spPr>
          <a:xfrm rot="12900000" flipH="1" flipV="1">
            <a:off x="6190391" y="5130894"/>
            <a:ext cx="450000" cy="415489"/>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32" name="Title 2"/>
          <p:cNvSpPr>
            <a:spLocks noGrp="1"/>
          </p:cNvSpPr>
          <p:nvPr>
            <p:ph type="title"/>
          </p:nvPr>
        </p:nvSpPr>
        <p:spPr>
          <a:xfrm>
            <a:off x="439793" y="350131"/>
            <a:ext cx="9785951" cy="368439"/>
          </a:xfrm>
        </p:spPr>
        <p:txBody>
          <a:bodyPr/>
          <a:lstStyle/>
          <a:p>
            <a:pPr algn="just">
              <a:spcBef>
                <a:spcPts val="600"/>
              </a:spcBef>
              <a:buSzPct val="100000"/>
            </a:pPr>
            <a:r>
              <a:rPr lang="en-US" sz="2000" b="1" dirty="0">
                <a:solidFill>
                  <a:srgbClr val="313131"/>
                </a:solidFill>
              </a:rPr>
              <a:t>The sector trends aided by the policies require financial sustainability and integrated planning &amp; nodal management</a:t>
            </a:r>
            <a:endParaRPr lang="en-IN" sz="2000" b="1" dirty="0">
              <a:solidFill>
                <a:srgbClr val="313131"/>
              </a:solidFill>
            </a:endParaRPr>
          </a:p>
        </p:txBody>
      </p:sp>
      <p:sp>
        <p:nvSpPr>
          <p:cNvPr id="34" name="Pentagon 33"/>
          <p:cNvSpPr/>
          <p:nvPr/>
        </p:nvSpPr>
        <p:spPr bwMode="gray">
          <a:xfrm>
            <a:off x="441439" y="2207757"/>
            <a:ext cx="1210088" cy="1208256"/>
          </a:xfrm>
          <a:prstGeom prst="homePlate">
            <a:avLst/>
          </a:prstGeom>
          <a:solidFill>
            <a:srgbClr val="86BC25"/>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200" b="1" dirty="0">
                <a:solidFill>
                  <a:prstClr val="white"/>
                </a:solidFill>
              </a:rPr>
              <a:t>Key Emerging Trends</a:t>
            </a:r>
            <a:endParaRPr lang="en-IN" sz="1200" b="1" dirty="0">
              <a:solidFill>
                <a:prstClr val="white"/>
              </a:solidFill>
            </a:endParaRPr>
          </a:p>
        </p:txBody>
      </p:sp>
      <p:sp>
        <p:nvSpPr>
          <p:cNvPr id="35" name="Pentagon 34"/>
          <p:cNvSpPr/>
          <p:nvPr/>
        </p:nvSpPr>
        <p:spPr bwMode="gray">
          <a:xfrm>
            <a:off x="435360" y="3791191"/>
            <a:ext cx="1210088" cy="1075521"/>
          </a:xfrm>
          <a:prstGeom prst="homePlate">
            <a:avLst/>
          </a:prstGeom>
          <a:solidFill>
            <a:srgbClr val="00B0F0"/>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200" b="1" dirty="0">
                <a:solidFill>
                  <a:prstClr val="white"/>
                </a:solidFill>
              </a:rPr>
              <a:t>Drivers for Reforms</a:t>
            </a:r>
            <a:endParaRPr lang="en-IN" sz="1200" b="1" dirty="0">
              <a:solidFill>
                <a:prstClr val="white"/>
              </a:solidFill>
            </a:endParaRPr>
          </a:p>
        </p:txBody>
      </p:sp>
      <p:sp>
        <p:nvSpPr>
          <p:cNvPr id="36" name="Pentagon 35"/>
          <p:cNvSpPr/>
          <p:nvPr/>
        </p:nvSpPr>
        <p:spPr bwMode="gray">
          <a:xfrm>
            <a:off x="435360" y="5374625"/>
            <a:ext cx="1210088" cy="1208256"/>
          </a:xfrm>
          <a:prstGeom prst="homePlate">
            <a:avLst/>
          </a:prstGeom>
          <a:solidFill>
            <a:srgbClr val="86BC25"/>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200" b="1" dirty="0">
                <a:solidFill>
                  <a:prstClr val="white"/>
                </a:solidFill>
              </a:rPr>
              <a:t>Sector Policies</a:t>
            </a:r>
            <a:endParaRPr lang="en-IN" sz="1200" b="1" dirty="0">
              <a:solidFill>
                <a:prstClr val="white"/>
              </a:solidFill>
            </a:endParaRPr>
          </a:p>
        </p:txBody>
      </p:sp>
      <p:sp>
        <p:nvSpPr>
          <p:cNvPr id="37" name="TextBox 36"/>
          <p:cNvSpPr txBox="1"/>
          <p:nvPr/>
        </p:nvSpPr>
        <p:spPr>
          <a:xfrm>
            <a:off x="435360" y="6765228"/>
            <a:ext cx="9790384" cy="489058"/>
          </a:xfrm>
          <a:prstGeom prst="rect">
            <a:avLst/>
          </a:prstGeom>
          <a:solidFill>
            <a:schemeClr val="accent1"/>
          </a:solidFill>
          <a:ln>
            <a:solidFill>
              <a:srgbClr val="92D050"/>
            </a:solidFill>
          </a:ln>
        </p:spPr>
        <p:txBody>
          <a:bodyPr wrap="square" lIns="36000" tIns="0" rIns="36000" bIns="0" rtlCol="0" anchor="ctr">
            <a:noAutofit/>
          </a:bodyPr>
          <a:lstStyle/>
          <a:p>
            <a:pPr algn="ctr">
              <a:spcBef>
                <a:spcPts val="600"/>
              </a:spcBef>
              <a:buSzPct val="100000"/>
            </a:pPr>
            <a:r>
              <a:rPr lang="en-US" sz="1400" b="1" dirty="0">
                <a:solidFill>
                  <a:srgbClr val="313131"/>
                </a:solidFill>
              </a:rPr>
              <a:t>The reform drivers act as the guiding principles for the structural options for reforms</a:t>
            </a:r>
            <a:endParaRPr lang="en-IN" sz="1400" b="1" dirty="0">
              <a:solidFill>
                <a:srgbClr val="313131"/>
              </a:solidFill>
            </a:endParaRPr>
          </a:p>
        </p:txBody>
      </p:sp>
      <p:sp>
        <p:nvSpPr>
          <p:cNvPr id="40" name="Rectangle 39"/>
          <p:cNvSpPr/>
          <p:nvPr/>
        </p:nvSpPr>
        <p:spPr bwMode="gray">
          <a:xfrm>
            <a:off x="3695347" y="1116265"/>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prstClr val="black"/>
                </a:solidFill>
              </a:rPr>
              <a:t>Drivers for Reforms</a:t>
            </a:r>
            <a:endParaRPr lang="en-IN" sz="1600" b="1" dirty="0">
              <a:solidFill>
                <a:prstClr val="black"/>
              </a:solidFill>
            </a:endParaRPr>
          </a:p>
        </p:txBody>
      </p:sp>
    </p:spTree>
    <p:extLst>
      <p:ext uri="{BB962C8B-B14F-4D97-AF65-F5344CB8AC3E}">
        <p14:creationId xmlns:p14="http://schemas.microsoft.com/office/powerpoint/2010/main" val="3658117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Proposed Reform Model for BPDB</a:t>
            </a:r>
          </a:p>
        </p:txBody>
      </p:sp>
    </p:spTree>
    <p:extLst>
      <p:ext uri="{BB962C8B-B14F-4D97-AF65-F5344CB8AC3E}">
        <p14:creationId xmlns:p14="http://schemas.microsoft.com/office/powerpoint/2010/main" val="4239413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pPr algn="just">
              <a:spcBef>
                <a:spcPts val="600"/>
              </a:spcBef>
              <a:buSzPct val="100000"/>
            </a:pPr>
            <a:r>
              <a:rPr lang="en-US" sz="2000" b="1" dirty="0">
                <a:solidFill>
                  <a:srgbClr val="313131"/>
                </a:solidFill>
              </a:rPr>
              <a:t>Proposed structural options &amp; evaluation summary for holding company</a:t>
            </a:r>
            <a:endParaRPr lang="en-IN" sz="2000" b="1" dirty="0">
              <a:solidFill>
                <a:srgbClr val="313131"/>
              </a:solidFill>
            </a:endParaRPr>
          </a:p>
        </p:txBody>
      </p:sp>
      <p:graphicFrame>
        <p:nvGraphicFramePr>
          <p:cNvPr id="15" name="Group 8"/>
          <p:cNvGraphicFramePr>
            <a:graphicFrameLocks noGrp="1"/>
          </p:cNvGraphicFramePr>
          <p:nvPr>
            <p:extLst>
              <p:ext uri="{D42A27DB-BD31-4B8C-83A1-F6EECF244321}">
                <p14:modId xmlns:p14="http://schemas.microsoft.com/office/powerpoint/2010/main" val="873559977"/>
              </p:ext>
            </p:extLst>
          </p:nvPr>
        </p:nvGraphicFramePr>
        <p:xfrm>
          <a:off x="439793" y="1260559"/>
          <a:ext cx="9785955" cy="2042720"/>
        </p:xfrm>
        <a:graphic>
          <a:graphicData uri="http://schemas.openxmlformats.org/drawingml/2006/table">
            <a:tbl>
              <a:tblPr firstRow="1"/>
              <a:tblGrid>
                <a:gridCol w="4932307">
                  <a:extLst>
                    <a:ext uri="{9D8B030D-6E8A-4147-A177-3AD203B41FA5}">
                      <a16:colId xmlns:a16="http://schemas.microsoft.com/office/drawing/2014/main" val="20000"/>
                    </a:ext>
                  </a:extLst>
                </a:gridCol>
                <a:gridCol w="1213412">
                  <a:extLst>
                    <a:ext uri="{9D8B030D-6E8A-4147-A177-3AD203B41FA5}">
                      <a16:colId xmlns:a16="http://schemas.microsoft.com/office/drawing/2014/main" val="20001"/>
                    </a:ext>
                  </a:extLst>
                </a:gridCol>
                <a:gridCol w="1213412">
                  <a:extLst>
                    <a:ext uri="{9D8B030D-6E8A-4147-A177-3AD203B41FA5}">
                      <a16:colId xmlns:a16="http://schemas.microsoft.com/office/drawing/2014/main" val="20002"/>
                    </a:ext>
                  </a:extLst>
                </a:gridCol>
                <a:gridCol w="1213412">
                  <a:extLst>
                    <a:ext uri="{9D8B030D-6E8A-4147-A177-3AD203B41FA5}">
                      <a16:colId xmlns:a16="http://schemas.microsoft.com/office/drawing/2014/main" val="20003"/>
                    </a:ext>
                  </a:extLst>
                </a:gridCol>
                <a:gridCol w="1213412">
                  <a:extLst>
                    <a:ext uri="{9D8B030D-6E8A-4147-A177-3AD203B41FA5}">
                      <a16:colId xmlns:a16="http://schemas.microsoft.com/office/drawing/2014/main" val="20004"/>
                    </a:ext>
                  </a:extLst>
                </a:gridCol>
              </a:tblGrid>
              <a:tr h="487839">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Proposed Functions</a:t>
                      </a:r>
                    </a:p>
                  </a:txBody>
                  <a:tcPr marL="36000" marR="36000" marT="36000" marB="36000" anchor="ctr" horzOverflow="overflow">
                    <a:lnL cap="flat">
                      <a:noFill/>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a:t>
                      </a:r>
                    </a:p>
                  </a:txBody>
                  <a:tcPr marL="36000" marR="36000" marT="36000" marB="36000" anchor="ctr" horzOverflow="overflow">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II</a:t>
                      </a:r>
                    </a:p>
                  </a:txBody>
                  <a:tcPr marL="36000" marR="36000" marT="36000" marB="36000" anchor="ctr" horzOverflow="overflow">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III</a:t>
                      </a:r>
                    </a:p>
                  </a:txBody>
                  <a:tcPr marL="36000" marR="36000" marT="36000" marB="36000" anchor="ctr" horzOverflow="overflow">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IV</a:t>
                      </a:r>
                    </a:p>
                  </a:txBody>
                  <a:tcPr marL="36000" marR="36000" marT="36000" marB="36000" anchor="ctr" horzOverflow="overflow">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r h="340179">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200" b="1" i="0" u="none" strike="noStrike" kern="1200" cap="none" normalizeH="0" baseline="0" dirty="0">
                          <a:ln>
                            <a:noFill/>
                          </a:ln>
                          <a:solidFill>
                            <a:schemeClr val="tx1"/>
                          </a:solidFill>
                          <a:effectLst/>
                          <a:latin typeface="Verdana"/>
                          <a:ea typeface="+mn-ea"/>
                          <a:cs typeface="+mn-cs"/>
                        </a:rPr>
                        <a:t>Generation SBU / SBUs</a:t>
                      </a:r>
                    </a:p>
                  </a:txBody>
                  <a:tcPr marL="36000" marR="36000" marT="36000" marB="36000" anchor="ctr" horzOverflow="overflow">
                    <a:lnL cap="flat">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w="7620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E8F6CF"/>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400" b="1" i="0" u="none" strike="noStrike" kern="1200" cap="none" normalizeH="0" baseline="0" dirty="0">
                        <a:ln>
                          <a:noFill/>
                        </a:ln>
                        <a:solidFill>
                          <a:schemeClr val="tx1"/>
                        </a:solidFill>
                        <a:effectLst/>
                        <a:latin typeface="+mn-lt"/>
                        <a:ea typeface="+mn-ea"/>
                        <a:cs typeface="+mn-cs"/>
                      </a:endParaRPr>
                    </a:p>
                  </a:txBody>
                  <a:tcPr marL="36000" marR="36000" marT="36000" marB="3600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endParaRPr kumimoji="0" lang="en-US" sz="1400" b="1" i="0" u="none" strike="noStrike" kern="1200" cap="none" normalizeH="0" baseline="0" dirty="0">
                        <a:ln>
                          <a:noFill/>
                        </a:ln>
                        <a:solidFill>
                          <a:schemeClr val="tx1"/>
                        </a:solidFill>
                        <a:effectLst/>
                        <a:latin typeface="+mn-lt"/>
                        <a:ea typeface="+mn-ea"/>
                        <a:cs typeface="+mn-cs"/>
                      </a:endParaRPr>
                    </a:p>
                  </a:txBody>
                  <a:tcPr marL="36000" marR="36000" marT="36000" marB="3600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40179">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200" b="1" i="0" u="none" strike="noStrike" kern="1200" cap="none" normalizeH="0" baseline="0" dirty="0">
                          <a:ln>
                            <a:noFill/>
                          </a:ln>
                          <a:solidFill>
                            <a:schemeClr val="tx1"/>
                          </a:solidFill>
                          <a:effectLst/>
                          <a:latin typeface="Verdana"/>
                          <a:ea typeface="+mn-ea"/>
                          <a:cs typeface="+mn-cs"/>
                        </a:rPr>
                        <a:t>Single Buyer</a:t>
                      </a:r>
                    </a:p>
                  </a:txBody>
                  <a:tcPr marL="36000" marR="36000" marT="36000" marB="3600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E8F6CF"/>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endParaRPr kumimoji="0" lang="en-US" sz="1400" b="1" i="0" u="none" strike="noStrike" kern="1200" cap="none" normalizeH="0" baseline="0" dirty="0">
                        <a:ln>
                          <a:noFill/>
                        </a:ln>
                        <a:solidFill>
                          <a:schemeClr val="tx1"/>
                        </a:solidFill>
                        <a:effectLst/>
                        <a:latin typeface="+mn-lt"/>
                        <a:ea typeface="+mn-ea"/>
                        <a:cs typeface="+mn-cs"/>
                      </a:endParaRP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27684">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200" b="1" i="0" u="none" strike="noStrike" kern="1200" cap="none" normalizeH="0" baseline="0" dirty="0">
                          <a:ln>
                            <a:noFill/>
                          </a:ln>
                          <a:solidFill>
                            <a:schemeClr val="tx1"/>
                          </a:solidFill>
                          <a:effectLst/>
                          <a:latin typeface="Verdana"/>
                          <a:ea typeface="+mn-ea"/>
                          <a:cs typeface="+mn-cs"/>
                        </a:rPr>
                        <a:t>System Operation </a:t>
                      </a:r>
                    </a:p>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200" b="1" i="0" u="none" strike="noStrike" kern="1200" cap="none" normalizeH="0" baseline="0" dirty="0">
                          <a:ln>
                            <a:noFill/>
                          </a:ln>
                          <a:solidFill>
                            <a:schemeClr val="tx1"/>
                          </a:solidFill>
                          <a:effectLst/>
                          <a:latin typeface="Verdana"/>
                          <a:ea typeface="+mn-ea"/>
                          <a:cs typeface="+mn-cs"/>
                        </a:rPr>
                        <a:t>(Economic Merit Order </a:t>
                      </a:r>
                      <a:r>
                        <a:rPr kumimoji="0" lang="en-US" sz="1200" b="1" i="0" u="none" strike="noStrike" kern="1200" cap="none" normalizeH="0" baseline="0" dirty="0" err="1">
                          <a:ln>
                            <a:noFill/>
                          </a:ln>
                          <a:solidFill>
                            <a:schemeClr val="tx1"/>
                          </a:solidFill>
                          <a:effectLst/>
                          <a:latin typeface="Verdana"/>
                          <a:ea typeface="+mn-ea"/>
                          <a:cs typeface="+mn-cs"/>
                        </a:rPr>
                        <a:t>Despatch</a:t>
                      </a:r>
                      <a:r>
                        <a:rPr kumimoji="0" lang="en-US" sz="12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400" b="1" i="0" u="none" strike="noStrike" cap="none" normalizeH="0" baseline="0" dirty="0">
                        <a:ln>
                          <a:noFill/>
                        </a:ln>
                        <a:solidFill>
                          <a:schemeClr val="tx1"/>
                        </a:solidFill>
                        <a:effectLst/>
                        <a:latin typeface="+mn-lt"/>
                      </a:endParaRPr>
                    </a:p>
                  </a:txBody>
                  <a:tcPr marL="36000" marR="36000" marT="36000" marB="3600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E8F6CF"/>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endParaRPr kumimoji="0" lang="en-US" sz="1400" b="1" i="0" u="none" strike="noStrike" kern="1200" cap="none" normalizeH="0" baseline="0" dirty="0">
                        <a:ln>
                          <a:noFill/>
                        </a:ln>
                        <a:solidFill>
                          <a:schemeClr val="tx1"/>
                        </a:solidFill>
                        <a:effectLst/>
                        <a:latin typeface="+mn-lt"/>
                        <a:ea typeface="+mn-ea"/>
                        <a:cs typeface="+mn-cs"/>
                      </a:endParaRP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40179">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200" b="1" i="0" u="none" strike="noStrike" kern="1200" cap="none" normalizeH="0" baseline="0" dirty="0">
                          <a:ln>
                            <a:noFill/>
                          </a:ln>
                          <a:solidFill>
                            <a:schemeClr val="tx1"/>
                          </a:solidFill>
                          <a:effectLst/>
                          <a:latin typeface="Verdana"/>
                          <a:ea typeface="+mn-ea"/>
                          <a:cs typeface="+mn-cs"/>
                        </a:rPr>
                        <a:t>Support Services</a:t>
                      </a:r>
                    </a:p>
                  </a:txBody>
                  <a:tcPr marL="36000" marR="36000" marT="36000" marB="3600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E8F6CF"/>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tc>
                  <a:txBody>
                    <a:bodyPr/>
                    <a:lstStyle>
                      <a:lvl1pPr marL="0" algn="l" defTabSz="1008400" rtl="0" eaLnBrk="1" latinLnBrk="0" hangingPunct="1">
                        <a:defRPr sz="1985" kern="1200">
                          <a:solidFill>
                            <a:schemeClr val="tx1"/>
                          </a:solidFill>
                          <a:latin typeface="Verdana"/>
                        </a:defRPr>
                      </a:lvl1pPr>
                      <a:lvl2pPr marL="504200" algn="l" defTabSz="1008400" rtl="0" eaLnBrk="1" latinLnBrk="0" hangingPunct="1">
                        <a:defRPr sz="1985" kern="1200">
                          <a:solidFill>
                            <a:schemeClr val="tx1"/>
                          </a:solidFill>
                          <a:latin typeface="Verdana"/>
                        </a:defRPr>
                      </a:lvl2pPr>
                      <a:lvl3pPr marL="1008400" algn="l" defTabSz="1008400" rtl="0" eaLnBrk="1" latinLnBrk="0" hangingPunct="1">
                        <a:defRPr sz="1985" kern="1200">
                          <a:solidFill>
                            <a:schemeClr val="tx1"/>
                          </a:solidFill>
                          <a:latin typeface="Verdana"/>
                        </a:defRPr>
                      </a:lvl3pPr>
                      <a:lvl4pPr marL="1512600" algn="l" defTabSz="1008400" rtl="0" eaLnBrk="1" latinLnBrk="0" hangingPunct="1">
                        <a:defRPr sz="1985" kern="1200">
                          <a:solidFill>
                            <a:schemeClr val="tx1"/>
                          </a:solidFill>
                          <a:latin typeface="Verdana"/>
                        </a:defRPr>
                      </a:lvl4pPr>
                      <a:lvl5pPr marL="2016801" algn="l" defTabSz="1008400" rtl="0" eaLnBrk="1" latinLnBrk="0" hangingPunct="1">
                        <a:defRPr sz="1985" kern="1200">
                          <a:solidFill>
                            <a:schemeClr val="tx1"/>
                          </a:solidFill>
                          <a:latin typeface="Verdana"/>
                        </a:defRPr>
                      </a:lvl5pPr>
                      <a:lvl6pPr marL="2521001" algn="l" defTabSz="1008400" rtl="0" eaLnBrk="1" latinLnBrk="0" hangingPunct="1">
                        <a:defRPr sz="1985" kern="1200">
                          <a:solidFill>
                            <a:schemeClr val="tx1"/>
                          </a:solidFill>
                          <a:latin typeface="Verdana"/>
                        </a:defRPr>
                      </a:lvl6pPr>
                      <a:lvl7pPr marL="3025201" algn="l" defTabSz="1008400" rtl="0" eaLnBrk="1" latinLnBrk="0" hangingPunct="1">
                        <a:defRPr sz="1985" kern="1200">
                          <a:solidFill>
                            <a:schemeClr val="tx1"/>
                          </a:solidFill>
                          <a:latin typeface="Verdana"/>
                        </a:defRPr>
                      </a:lvl7pPr>
                      <a:lvl8pPr marL="3529401" algn="l" defTabSz="1008400" rtl="0" eaLnBrk="1" latinLnBrk="0" hangingPunct="1">
                        <a:defRPr sz="1985" kern="1200">
                          <a:solidFill>
                            <a:schemeClr val="tx1"/>
                          </a:solidFill>
                          <a:latin typeface="Verdana"/>
                        </a:defRPr>
                      </a:lvl8pPr>
                      <a:lvl9pPr marL="4033601" algn="l" defTabSz="1008400" rtl="0" eaLnBrk="1" latinLnBrk="0" hangingPunct="1">
                        <a:defRPr sz="1985" kern="1200">
                          <a:solidFill>
                            <a:schemeClr val="tx1"/>
                          </a:solidFill>
                          <a:latin typeface="Verdana"/>
                        </a:defRPr>
                      </a:lvl9pPr>
                    </a:lstStyle>
                    <a:p>
                      <a:pPr marL="0" marR="0" lvl="0" indent="0" algn="ct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400" b="1" i="0" u="none" strike="noStrike" kern="1200" cap="none" normalizeH="0" baseline="0" dirty="0">
                          <a:ln>
                            <a:noFill/>
                          </a:ln>
                          <a:solidFill>
                            <a:schemeClr val="tx1"/>
                          </a:solidFill>
                          <a:effectLst/>
                          <a:latin typeface="Verdana"/>
                          <a:ea typeface="+mn-ea"/>
                          <a:cs typeface="+mn-cs"/>
                        </a:rPr>
                        <a:t>√</a:t>
                      </a:r>
                    </a:p>
                  </a:txBody>
                  <a:tcPr marL="36000" marR="36000" marT="36000" marB="3600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cxnSp>
        <p:nvCxnSpPr>
          <p:cNvPr id="28" name="Straight Connector 27"/>
          <p:cNvCxnSpPr/>
          <p:nvPr/>
        </p:nvCxnSpPr>
        <p:spPr>
          <a:xfrm>
            <a:off x="439793" y="1036150"/>
            <a:ext cx="973592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090041" y="928160"/>
            <a:ext cx="6485453" cy="216000"/>
          </a:xfrm>
          <a:prstGeom prst="rect">
            <a:avLst/>
          </a:prstGeom>
          <a:solidFill>
            <a:schemeClr val="bg1"/>
          </a:solidFill>
        </p:spPr>
        <p:txBody>
          <a:bodyPr wrap="square" lIns="0" tIns="0" rIns="0" bIns="0" rtlCol="0">
            <a:spAutoFit/>
          </a:bodyPr>
          <a:lstStyle/>
          <a:p>
            <a:pPr algn="ctr">
              <a:spcBef>
                <a:spcPts val="600"/>
              </a:spcBef>
              <a:buSzPct val="100000"/>
            </a:pPr>
            <a:r>
              <a:rPr lang="en-US" sz="1200" b="1" dirty="0">
                <a:solidFill>
                  <a:prstClr val="black"/>
                </a:solidFill>
              </a:rPr>
              <a:t>Functions performed by holding company under various Options</a:t>
            </a:r>
          </a:p>
        </p:txBody>
      </p:sp>
      <p:cxnSp>
        <p:nvCxnSpPr>
          <p:cNvPr id="32" name="Straight Connector 31"/>
          <p:cNvCxnSpPr/>
          <p:nvPr/>
        </p:nvCxnSpPr>
        <p:spPr>
          <a:xfrm>
            <a:off x="439793" y="3607062"/>
            <a:ext cx="973592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090041" y="3508322"/>
            <a:ext cx="6485453" cy="184666"/>
          </a:xfrm>
          <a:prstGeom prst="rect">
            <a:avLst/>
          </a:prstGeom>
          <a:solidFill>
            <a:schemeClr val="bg1"/>
          </a:solidFill>
        </p:spPr>
        <p:txBody>
          <a:bodyPr wrap="square" lIns="0" tIns="0" rIns="0" bIns="0" rtlCol="0">
            <a:spAutoFit/>
          </a:bodyPr>
          <a:lstStyle/>
          <a:p>
            <a:pPr algn="ctr">
              <a:spcBef>
                <a:spcPts val="600"/>
              </a:spcBef>
              <a:buSzPct val="100000"/>
            </a:pPr>
            <a:r>
              <a:rPr lang="en-US" sz="1200" b="1" dirty="0">
                <a:solidFill>
                  <a:prstClr val="black"/>
                </a:solidFill>
              </a:rPr>
              <a:t>Evaluation Parameters and Summary Assessment of each option</a:t>
            </a:r>
          </a:p>
        </p:txBody>
      </p:sp>
      <p:graphicFrame>
        <p:nvGraphicFramePr>
          <p:cNvPr id="36" name="Group 8"/>
          <p:cNvGraphicFramePr>
            <a:graphicFrameLocks noGrp="1"/>
          </p:cNvGraphicFramePr>
          <p:nvPr>
            <p:extLst>
              <p:ext uri="{D42A27DB-BD31-4B8C-83A1-F6EECF244321}">
                <p14:modId xmlns:p14="http://schemas.microsoft.com/office/powerpoint/2010/main" val="14192394"/>
              </p:ext>
            </p:extLst>
          </p:nvPr>
        </p:nvGraphicFramePr>
        <p:xfrm>
          <a:off x="439793" y="3791728"/>
          <a:ext cx="9785954" cy="2757039"/>
        </p:xfrm>
        <a:graphic>
          <a:graphicData uri="http://schemas.openxmlformats.org/drawingml/2006/table">
            <a:tbl>
              <a:tblPr/>
              <a:tblGrid>
                <a:gridCol w="969907">
                  <a:extLst>
                    <a:ext uri="{9D8B030D-6E8A-4147-A177-3AD203B41FA5}">
                      <a16:colId xmlns:a16="http://schemas.microsoft.com/office/drawing/2014/main" val="1117088530"/>
                    </a:ext>
                  </a:extLst>
                </a:gridCol>
                <a:gridCol w="3952875">
                  <a:extLst>
                    <a:ext uri="{9D8B030D-6E8A-4147-A177-3AD203B41FA5}">
                      <a16:colId xmlns:a16="http://schemas.microsoft.com/office/drawing/2014/main" val="20000"/>
                    </a:ext>
                  </a:extLst>
                </a:gridCol>
                <a:gridCol w="1215793">
                  <a:extLst>
                    <a:ext uri="{9D8B030D-6E8A-4147-A177-3AD203B41FA5}">
                      <a16:colId xmlns:a16="http://schemas.microsoft.com/office/drawing/2014/main" val="20001"/>
                    </a:ext>
                  </a:extLst>
                </a:gridCol>
                <a:gridCol w="1215793">
                  <a:extLst>
                    <a:ext uri="{9D8B030D-6E8A-4147-A177-3AD203B41FA5}">
                      <a16:colId xmlns:a16="http://schemas.microsoft.com/office/drawing/2014/main" val="20002"/>
                    </a:ext>
                  </a:extLst>
                </a:gridCol>
                <a:gridCol w="1215793">
                  <a:extLst>
                    <a:ext uri="{9D8B030D-6E8A-4147-A177-3AD203B41FA5}">
                      <a16:colId xmlns:a16="http://schemas.microsoft.com/office/drawing/2014/main" val="20003"/>
                    </a:ext>
                  </a:extLst>
                </a:gridCol>
                <a:gridCol w="1215793">
                  <a:extLst>
                    <a:ext uri="{9D8B030D-6E8A-4147-A177-3AD203B41FA5}">
                      <a16:colId xmlns:a16="http://schemas.microsoft.com/office/drawing/2014/main" val="20004"/>
                    </a:ext>
                  </a:extLst>
                </a:gridCol>
              </a:tblGrid>
              <a:tr h="278599">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Aspect</a:t>
                      </a:r>
                    </a:p>
                  </a:txBody>
                  <a:tcPr marT="91440" marB="91440" anchor="ctr" horzOverflow="overflow">
                    <a:lnL cap="flat">
                      <a:noFill/>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Evaluation Criteria</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II</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III</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mn-lt"/>
                        </a:rPr>
                        <a:t>Option - IV</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0"/>
                  </a:ext>
                </a:extLst>
              </a:tr>
              <a:tr h="266605">
                <a:tc rowSpan="3">
                  <a:txBody>
                    <a:bodyPr/>
                    <a:lstStyle/>
                    <a:p>
                      <a:pPr marL="0" marR="0" algn="just">
                        <a:spcBef>
                          <a:spcPts val="0"/>
                        </a:spcBef>
                        <a:spcAft>
                          <a:spcPts val="0"/>
                        </a:spcAft>
                      </a:pPr>
                      <a:r>
                        <a:rPr lang="en-US" sz="1050" b="1" dirty="0">
                          <a:effectLst/>
                          <a:latin typeface="+mn-lt"/>
                          <a:ea typeface="Times" panose="02020603050405020304" pitchFamily="18" charset="0"/>
                          <a:cs typeface="Arial" panose="020B0604020202020204" pitchFamily="34" charset="0"/>
                        </a:rPr>
                        <a:t>Financial</a:t>
                      </a:r>
                    </a:p>
                  </a:txBody>
                  <a:tcPr marL="68580" marR="68580" marT="0" marB="0" anchor="ctr">
                    <a:lnL cap="flat">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D1ECA0"/>
                    </a:solidFill>
                  </a:tcPr>
                </a:tc>
                <a:tc>
                  <a:txBody>
                    <a:bodyPr/>
                    <a:lstStyle/>
                    <a:p>
                      <a:pPr marL="0" marR="0" algn="just">
                        <a:spcBef>
                          <a:spcPts val="0"/>
                        </a:spcBef>
                        <a:spcAft>
                          <a:spcPts val="0"/>
                        </a:spcAft>
                      </a:pPr>
                      <a:r>
                        <a:rPr lang="en-US" sz="1100" b="0" dirty="0">
                          <a:effectLst/>
                        </a:rPr>
                        <a:t>Profitability</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605">
                <a:tc vMerge="1">
                  <a:txBody>
                    <a:bodyPr/>
                    <a:lstStyle/>
                    <a:p>
                      <a:pPr marL="0" marR="0" algn="just">
                        <a:spcBef>
                          <a:spcPts val="0"/>
                        </a:spcBef>
                        <a:spcAft>
                          <a:spcPts val="0"/>
                        </a:spcAft>
                      </a:pPr>
                      <a:endParaRPr lang="en-US"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algn="just">
                        <a:spcBef>
                          <a:spcPts val="0"/>
                        </a:spcBef>
                        <a:spcAft>
                          <a:spcPts val="0"/>
                        </a:spcAft>
                      </a:pPr>
                      <a:r>
                        <a:rPr lang="en-US" sz="1100" b="0" dirty="0">
                          <a:effectLst/>
                        </a:rPr>
                        <a:t>Impact on tariff</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6605">
                <a:tc vMerge="1">
                  <a:txBody>
                    <a:bodyPr/>
                    <a:lstStyle/>
                    <a:p>
                      <a:pPr marL="0" marR="0" algn="just">
                        <a:spcBef>
                          <a:spcPts val="0"/>
                        </a:spcBef>
                        <a:spcAft>
                          <a:spcPts val="0"/>
                        </a:spcAft>
                      </a:pPr>
                      <a:endParaRPr lang="en-US"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algn="just">
                        <a:spcBef>
                          <a:spcPts val="0"/>
                        </a:spcBef>
                        <a:spcAft>
                          <a:spcPts val="0"/>
                        </a:spcAft>
                      </a:pPr>
                      <a:r>
                        <a:rPr lang="en-US" sz="1100" b="0" dirty="0">
                          <a:effectLst/>
                        </a:rPr>
                        <a:t>Subsidy requirement</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4681">
                <a:tc rowSpan="2">
                  <a:txBody>
                    <a:bodyPr/>
                    <a:lstStyle/>
                    <a:p>
                      <a:pPr marL="0" marR="0" algn="just">
                        <a:spcBef>
                          <a:spcPts val="0"/>
                        </a:spcBef>
                        <a:spcAft>
                          <a:spcPts val="0"/>
                        </a:spcAft>
                      </a:pPr>
                      <a:r>
                        <a:rPr lang="en-US" sz="1050" b="1" dirty="0">
                          <a:effectLst/>
                          <a:latin typeface="+mn-lt"/>
                          <a:ea typeface="Times" panose="02020603050405020304" pitchFamily="18" charset="0"/>
                          <a:cs typeface="Arial" panose="020B0604020202020204" pitchFamily="34" charset="0"/>
                        </a:rPr>
                        <a:t>Regulatory</a:t>
                      </a: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D1ECA0"/>
                    </a:solidFill>
                  </a:tcPr>
                </a:tc>
                <a:tc>
                  <a:txBody>
                    <a:bodyPr/>
                    <a:lstStyle/>
                    <a:p>
                      <a:pPr marL="0" marR="0" algn="just">
                        <a:spcBef>
                          <a:spcPts val="0"/>
                        </a:spcBef>
                        <a:spcAft>
                          <a:spcPts val="0"/>
                        </a:spcAft>
                      </a:pPr>
                      <a:r>
                        <a:rPr lang="en-US" sz="1100" b="0" dirty="0">
                          <a:effectLst/>
                        </a:rPr>
                        <a:t>Need for regulatory amendments to recognize holding company status and new licensed functions</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3121">
                <a:tc vMerge="1">
                  <a:txBody>
                    <a:bodyPr/>
                    <a:lstStyle/>
                    <a:p>
                      <a:pPr marL="0" marR="0" algn="just">
                        <a:spcBef>
                          <a:spcPts val="0"/>
                        </a:spcBef>
                        <a:spcAft>
                          <a:spcPts val="0"/>
                        </a:spcAft>
                      </a:pPr>
                      <a:endParaRPr lang="en-US"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algn="just">
                        <a:spcBef>
                          <a:spcPts val="0"/>
                        </a:spcBef>
                        <a:spcAft>
                          <a:spcPts val="0"/>
                        </a:spcAft>
                      </a:pPr>
                      <a:r>
                        <a:rPr lang="en-US" sz="1100" b="0" dirty="0">
                          <a:effectLst/>
                        </a:rPr>
                        <a:t>Need for introduction of new regulations for revenue determination</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605">
                <a:tc rowSpan="2">
                  <a:txBody>
                    <a:bodyPr/>
                    <a:lstStyle/>
                    <a:p>
                      <a:pPr marL="0" marR="0" algn="just">
                        <a:spcBef>
                          <a:spcPts val="0"/>
                        </a:spcBef>
                        <a:spcAft>
                          <a:spcPts val="0"/>
                        </a:spcAft>
                      </a:pPr>
                      <a:r>
                        <a:rPr lang="en-US" sz="1050" b="1" dirty="0">
                          <a:effectLst/>
                          <a:latin typeface="+mn-lt"/>
                          <a:ea typeface="Times" panose="02020603050405020304" pitchFamily="18" charset="0"/>
                          <a:cs typeface="Arial" panose="020B0604020202020204" pitchFamily="34" charset="0"/>
                        </a:rPr>
                        <a:t>Manpower Transition</a:t>
                      </a: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D1ECA0"/>
                    </a:solidFill>
                  </a:tcPr>
                </a:tc>
                <a:tc>
                  <a:txBody>
                    <a:bodyPr/>
                    <a:lstStyle/>
                    <a:p>
                      <a:pPr marL="0" marR="0" algn="just">
                        <a:spcBef>
                          <a:spcPts val="0"/>
                        </a:spcBef>
                        <a:spcAft>
                          <a:spcPts val="0"/>
                        </a:spcAft>
                      </a:pPr>
                      <a:r>
                        <a:rPr lang="en-US" sz="1100" b="0" dirty="0">
                          <a:effectLst/>
                        </a:rPr>
                        <a:t>Extent and ease of manpower transition</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88349631"/>
                  </a:ext>
                </a:extLst>
              </a:tr>
              <a:tr h="266605">
                <a:tc vMerge="1">
                  <a:txBody>
                    <a:bodyPr/>
                    <a:lstStyle/>
                    <a:p>
                      <a:pPr marL="0" marR="0" algn="just">
                        <a:spcBef>
                          <a:spcPts val="0"/>
                        </a:spcBef>
                        <a:spcAft>
                          <a:spcPts val="0"/>
                        </a:spcAft>
                      </a:pPr>
                      <a:endParaRPr lang="en-US" sz="1200" b="1"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algn="just">
                        <a:spcBef>
                          <a:spcPts val="0"/>
                        </a:spcBef>
                        <a:spcAft>
                          <a:spcPts val="0"/>
                        </a:spcAft>
                      </a:pPr>
                      <a:r>
                        <a:rPr lang="en-US" sz="1100" b="0" dirty="0">
                          <a:effectLst/>
                        </a:rPr>
                        <a:t>Possibility of duplication of roles</a:t>
                      </a:r>
                      <a:endParaRPr lang="en-US" sz="1100" b="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pPr>
                      <a:endParaRPr kumimoji="0" lang="en-US" sz="1000" b="0" i="0" u="none" strike="noStrike" cap="none" normalizeH="0" baseline="0" dirty="0">
                        <a:ln>
                          <a:noFill/>
                        </a:ln>
                        <a:solidFill>
                          <a:schemeClr val="tx1"/>
                        </a:solidFill>
                        <a:effectLst/>
                        <a:latin typeface="+mn-lt"/>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5156192"/>
                  </a:ext>
                </a:extLst>
              </a:tr>
            </a:tbl>
          </a:graphicData>
        </a:graphic>
      </p:graphicFrame>
      <p:sp>
        <p:nvSpPr>
          <p:cNvPr id="37" name="Oval 36"/>
          <p:cNvSpPr>
            <a:spLocks noChangeArrowheads="1"/>
          </p:cNvSpPr>
          <p:nvPr/>
        </p:nvSpPr>
        <p:spPr bwMode="auto">
          <a:xfrm>
            <a:off x="5922270" y="6369670"/>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38" name="Oval 37"/>
          <p:cNvSpPr>
            <a:spLocks noChangeArrowheads="1"/>
          </p:cNvSpPr>
          <p:nvPr/>
        </p:nvSpPr>
        <p:spPr bwMode="auto">
          <a:xfrm>
            <a:off x="5922270" y="6023651"/>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39" name="Oval 38"/>
          <p:cNvSpPr>
            <a:spLocks noChangeArrowheads="1"/>
          </p:cNvSpPr>
          <p:nvPr/>
        </p:nvSpPr>
        <p:spPr bwMode="auto">
          <a:xfrm>
            <a:off x="5922270" y="5677632"/>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40" name="Oval 39"/>
          <p:cNvSpPr>
            <a:spLocks noChangeArrowheads="1"/>
          </p:cNvSpPr>
          <p:nvPr/>
        </p:nvSpPr>
        <p:spPr bwMode="auto">
          <a:xfrm>
            <a:off x="5922270" y="5309332"/>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41" name="Oval 40"/>
          <p:cNvSpPr>
            <a:spLocks noChangeArrowheads="1"/>
          </p:cNvSpPr>
          <p:nvPr/>
        </p:nvSpPr>
        <p:spPr bwMode="auto">
          <a:xfrm>
            <a:off x="5922270" y="4901418"/>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42" name="Oval 41"/>
          <p:cNvSpPr>
            <a:spLocks noChangeArrowheads="1"/>
          </p:cNvSpPr>
          <p:nvPr/>
        </p:nvSpPr>
        <p:spPr bwMode="auto">
          <a:xfrm>
            <a:off x="5922270" y="4555759"/>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43" name="Oval 42"/>
          <p:cNvSpPr>
            <a:spLocks noChangeArrowheads="1"/>
          </p:cNvSpPr>
          <p:nvPr/>
        </p:nvSpPr>
        <p:spPr bwMode="auto">
          <a:xfrm>
            <a:off x="5922270" y="4212480"/>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44" name="Oval 43"/>
          <p:cNvSpPr>
            <a:spLocks noChangeArrowheads="1"/>
          </p:cNvSpPr>
          <p:nvPr/>
        </p:nvSpPr>
        <p:spPr bwMode="auto">
          <a:xfrm>
            <a:off x="7077783" y="6369670"/>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45" name="Oval 44"/>
          <p:cNvSpPr>
            <a:spLocks noChangeArrowheads="1"/>
          </p:cNvSpPr>
          <p:nvPr/>
        </p:nvSpPr>
        <p:spPr bwMode="auto">
          <a:xfrm>
            <a:off x="7077783" y="6021572"/>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46" name="Oval 45"/>
          <p:cNvSpPr>
            <a:spLocks noChangeArrowheads="1"/>
          </p:cNvSpPr>
          <p:nvPr/>
        </p:nvSpPr>
        <p:spPr bwMode="auto">
          <a:xfrm>
            <a:off x="7077783" y="5677632"/>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47" name="Oval 46"/>
          <p:cNvSpPr>
            <a:spLocks noChangeArrowheads="1"/>
          </p:cNvSpPr>
          <p:nvPr/>
        </p:nvSpPr>
        <p:spPr bwMode="auto">
          <a:xfrm>
            <a:off x="7077783" y="5309332"/>
            <a:ext cx="216000" cy="216000"/>
          </a:xfrm>
          <a:prstGeom prst="ellipse">
            <a:avLst/>
          </a:prstGeom>
          <a:solidFill>
            <a:srgbClr val="009A44"/>
          </a:solidFill>
          <a:ln w="6350">
            <a:noFill/>
            <a:round/>
            <a:headEnd/>
            <a:tailEnd/>
          </a:ln>
        </p:spPr>
        <p:txBody>
          <a:bodyPr wrap="none" anchor="ctr"/>
          <a:lstStyle/>
          <a:p>
            <a:pPr algn="ctr">
              <a:defRPr/>
            </a:pPr>
            <a:endParaRPr lang="en-US" sz="1000" dirty="0"/>
          </a:p>
        </p:txBody>
      </p:sp>
      <p:sp>
        <p:nvSpPr>
          <p:cNvPr id="48" name="Oval 47"/>
          <p:cNvSpPr>
            <a:spLocks noChangeArrowheads="1"/>
          </p:cNvSpPr>
          <p:nvPr/>
        </p:nvSpPr>
        <p:spPr bwMode="auto">
          <a:xfrm>
            <a:off x="7077783" y="4899177"/>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49" name="Oval 48"/>
          <p:cNvSpPr>
            <a:spLocks noChangeArrowheads="1"/>
          </p:cNvSpPr>
          <p:nvPr/>
        </p:nvSpPr>
        <p:spPr bwMode="auto">
          <a:xfrm>
            <a:off x="7077783" y="4550920"/>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50" name="Oval 49"/>
          <p:cNvSpPr>
            <a:spLocks noChangeArrowheads="1"/>
          </p:cNvSpPr>
          <p:nvPr/>
        </p:nvSpPr>
        <p:spPr bwMode="auto">
          <a:xfrm>
            <a:off x="7077783" y="4212480"/>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51" name="Oval 50"/>
          <p:cNvSpPr>
            <a:spLocks noChangeArrowheads="1"/>
          </p:cNvSpPr>
          <p:nvPr/>
        </p:nvSpPr>
        <p:spPr bwMode="auto">
          <a:xfrm>
            <a:off x="8342575" y="6369670"/>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52" name="Oval 51"/>
          <p:cNvSpPr>
            <a:spLocks noChangeArrowheads="1"/>
          </p:cNvSpPr>
          <p:nvPr/>
        </p:nvSpPr>
        <p:spPr bwMode="auto">
          <a:xfrm>
            <a:off x="8347044" y="6017304"/>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53" name="Oval 52"/>
          <p:cNvSpPr>
            <a:spLocks noChangeArrowheads="1"/>
          </p:cNvSpPr>
          <p:nvPr/>
        </p:nvSpPr>
        <p:spPr bwMode="auto">
          <a:xfrm>
            <a:off x="8345735" y="5672184"/>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54" name="Oval 53"/>
          <p:cNvSpPr>
            <a:spLocks noChangeArrowheads="1"/>
          </p:cNvSpPr>
          <p:nvPr/>
        </p:nvSpPr>
        <p:spPr bwMode="auto">
          <a:xfrm>
            <a:off x="8342575" y="5306196"/>
            <a:ext cx="216000" cy="216000"/>
          </a:xfrm>
          <a:prstGeom prst="ellipse">
            <a:avLst/>
          </a:prstGeom>
          <a:solidFill>
            <a:srgbClr val="FFC000"/>
          </a:solidFill>
          <a:ln w="6350">
            <a:noFill/>
            <a:round/>
            <a:headEnd/>
            <a:tailEnd/>
          </a:ln>
        </p:spPr>
        <p:txBody>
          <a:bodyPr wrap="none" anchor="ctr"/>
          <a:lstStyle/>
          <a:p>
            <a:pPr algn="ctr">
              <a:defRPr/>
            </a:pPr>
            <a:endParaRPr lang="en-US" sz="1000" dirty="0"/>
          </a:p>
        </p:txBody>
      </p:sp>
      <p:sp>
        <p:nvSpPr>
          <p:cNvPr id="55" name="Oval 54"/>
          <p:cNvSpPr>
            <a:spLocks noChangeArrowheads="1"/>
          </p:cNvSpPr>
          <p:nvPr/>
        </p:nvSpPr>
        <p:spPr bwMode="auto">
          <a:xfrm>
            <a:off x="8342575" y="4904982"/>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56" name="Oval 55"/>
          <p:cNvSpPr>
            <a:spLocks noChangeArrowheads="1"/>
          </p:cNvSpPr>
          <p:nvPr/>
        </p:nvSpPr>
        <p:spPr bwMode="auto">
          <a:xfrm>
            <a:off x="8343899" y="4561368"/>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57" name="Oval 56"/>
          <p:cNvSpPr>
            <a:spLocks noChangeArrowheads="1"/>
          </p:cNvSpPr>
          <p:nvPr/>
        </p:nvSpPr>
        <p:spPr bwMode="auto">
          <a:xfrm>
            <a:off x="8342575" y="4206253"/>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58" name="Oval 57"/>
          <p:cNvSpPr>
            <a:spLocks noChangeArrowheads="1"/>
          </p:cNvSpPr>
          <p:nvPr/>
        </p:nvSpPr>
        <p:spPr bwMode="auto">
          <a:xfrm>
            <a:off x="9537769" y="6368633"/>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59" name="Oval 58"/>
          <p:cNvSpPr>
            <a:spLocks noChangeArrowheads="1"/>
          </p:cNvSpPr>
          <p:nvPr/>
        </p:nvSpPr>
        <p:spPr bwMode="auto">
          <a:xfrm>
            <a:off x="9531167" y="6017304"/>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60" name="Oval 59"/>
          <p:cNvSpPr>
            <a:spLocks noChangeArrowheads="1"/>
          </p:cNvSpPr>
          <p:nvPr/>
        </p:nvSpPr>
        <p:spPr bwMode="auto">
          <a:xfrm>
            <a:off x="9537769" y="5677632"/>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61" name="Oval 60"/>
          <p:cNvSpPr>
            <a:spLocks noChangeArrowheads="1"/>
          </p:cNvSpPr>
          <p:nvPr/>
        </p:nvSpPr>
        <p:spPr bwMode="auto">
          <a:xfrm>
            <a:off x="9531167" y="5314675"/>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62" name="Oval 61"/>
          <p:cNvSpPr>
            <a:spLocks noChangeArrowheads="1"/>
          </p:cNvSpPr>
          <p:nvPr/>
        </p:nvSpPr>
        <p:spPr bwMode="auto">
          <a:xfrm>
            <a:off x="9537769" y="4910845"/>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63" name="Oval 62"/>
          <p:cNvSpPr>
            <a:spLocks noChangeArrowheads="1"/>
          </p:cNvSpPr>
          <p:nvPr/>
        </p:nvSpPr>
        <p:spPr bwMode="auto">
          <a:xfrm>
            <a:off x="9533815" y="4557680"/>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64" name="Oval 63"/>
          <p:cNvSpPr>
            <a:spLocks noChangeArrowheads="1"/>
          </p:cNvSpPr>
          <p:nvPr/>
        </p:nvSpPr>
        <p:spPr bwMode="auto">
          <a:xfrm>
            <a:off x="9537769" y="4206253"/>
            <a:ext cx="216000" cy="216000"/>
          </a:xfrm>
          <a:prstGeom prst="ellipse">
            <a:avLst/>
          </a:prstGeom>
          <a:solidFill>
            <a:srgbClr val="DA291C"/>
          </a:solidFill>
          <a:ln w="6350">
            <a:noFill/>
            <a:round/>
            <a:headEnd/>
            <a:tailEnd/>
          </a:ln>
        </p:spPr>
        <p:txBody>
          <a:bodyPr wrap="none" anchor="ctr"/>
          <a:lstStyle/>
          <a:p>
            <a:pPr algn="ctr">
              <a:defRPr/>
            </a:pPr>
            <a:endParaRPr lang="en-US" sz="1000" dirty="0"/>
          </a:p>
        </p:txBody>
      </p:sp>
      <p:sp>
        <p:nvSpPr>
          <p:cNvPr id="75" name="Rectangle 74"/>
          <p:cNvSpPr/>
          <p:nvPr/>
        </p:nvSpPr>
        <p:spPr bwMode="gray">
          <a:xfrm>
            <a:off x="389762" y="6919297"/>
            <a:ext cx="9835982" cy="424477"/>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Option – II has been chosen as the preferred model for reform based on consultations with BPDB management and considering the key strategic, commercial, economic, regulatory and manpower perspectives</a:t>
            </a:r>
          </a:p>
        </p:txBody>
      </p:sp>
      <p:grpSp>
        <p:nvGrpSpPr>
          <p:cNvPr id="76" name="Group 75"/>
          <p:cNvGrpSpPr/>
          <p:nvPr/>
        </p:nvGrpSpPr>
        <p:grpSpPr>
          <a:xfrm>
            <a:off x="3093641" y="6684633"/>
            <a:ext cx="5331265" cy="182808"/>
            <a:chOff x="2381182" y="5737078"/>
            <a:chExt cx="8620767" cy="295603"/>
          </a:xfrm>
        </p:grpSpPr>
        <p:grpSp>
          <p:nvGrpSpPr>
            <p:cNvPr id="77" name="Group 76"/>
            <p:cNvGrpSpPr/>
            <p:nvPr/>
          </p:nvGrpSpPr>
          <p:grpSpPr>
            <a:xfrm>
              <a:off x="5699391" y="5744681"/>
              <a:ext cx="1041027" cy="288000"/>
              <a:chOff x="5694063" y="5634953"/>
              <a:chExt cx="1041027" cy="288000"/>
            </a:xfrm>
          </p:grpSpPr>
          <p:sp>
            <p:nvSpPr>
              <p:cNvPr id="84" name="Text Box 32"/>
              <p:cNvSpPr txBox="1">
                <a:spLocks noChangeArrowheads="1"/>
              </p:cNvSpPr>
              <p:nvPr/>
            </p:nvSpPr>
            <p:spPr bwMode="auto">
              <a:xfrm>
                <a:off x="6068921" y="5654532"/>
                <a:ext cx="666169" cy="248839"/>
              </a:xfrm>
              <a:prstGeom prst="rect">
                <a:avLst/>
              </a:prstGeom>
              <a:noFill/>
              <a:ln w="9525">
                <a:noFill/>
                <a:miter lim="800000"/>
                <a:headEnd type="none" w="sm" len="sm"/>
                <a:tailEnd type="none" w="sm" len="sm"/>
              </a:ln>
            </p:spPr>
            <p:txBody>
              <a:bodyPr wrap="none" lIns="0" tIns="0" rIns="0" bIns="0" anchor="ctr">
                <a:spAutoFit/>
              </a:bodyPr>
              <a:lstStyle/>
              <a:p>
                <a:r>
                  <a:rPr lang="en-US" altLang="ja-JP" sz="1000" dirty="0">
                    <a:solidFill>
                      <a:srgbClr val="313131"/>
                    </a:solidFill>
                    <a:ea typeface="ＭＳ Ｐゴシック" charset="-128"/>
                  </a:rPr>
                  <a:t>Neutral</a:t>
                </a:r>
              </a:p>
            </p:txBody>
          </p:sp>
          <p:sp>
            <p:nvSpPr>
              <p:cNvPr id="85" name="Oval 84"/>
              <p:cNvSpPr>
                <a:spLocks noChangeArrowheads="1"/>
              </p:cNvSpPr>
              <p:nvPr/>
            </p:nvSpPr>
            <p:spPr bwMode="auto">
              <a:xfrm>
                <a:off x="5694063" y="5634953"/>
                <a:ext cx="287998" cy="288000"/>
              </a:xfrm>
              <a:prstGeom prst="ellipse">
                <a:avLst/>
              </a:prstGeom>
              <a:solidFill>
                <a:srgbClr val="FFC000"/>
              </a:solidFill>
              <a:ln w="6350">
                <a:noFill/>
                <a:round/>
                <a:headEnd/>
                <a:tailEnd/>
              </a:ln>
            </p:spPr>
            <p:txBody>
              <a:bodyPr wrap="none" anchor="ctr"/>
              <a:lstStyle/>
              <a:p>
                <a:pPr algn="ctr">
                  <a:defRPr/>
                </a:pPr>
                <a:endParaRPr lang="en-US" sz="1000" dirty="0"/>
              </a:p>
            </p:txBody>
          </p:sp>
        </p:grpSp>
        <p:grpSp>
          <p:nvGrpSpPr>
            <p:cNvPr id="78" name="Group 77"/>
            <p:cNvGrpSpPr/>
            <p:nvPr/>
          </p:nvGrpSpPr>
          <p:grpSpPr>
            <a:xfrm>
              <a:off x="9017596" y="5737078"/>
              <a:ext cx="1984353" cy="288001"/>
              <a:chOff x="9011935" y="5627350"/>
              <a:chExt cx="1984353" cy="288001"/>
            </a:xfrm>
          </p:grpSpPr>
          <p:sp>
            <p:nvSpPr>
              <p:cNvPr id="82" name="Text Box 34"/>
              <p:cNvSpPr txBox="1">
                <a:spLocks noChangeArrowheads="1"/>
              </p:cNvSpPr>
              <p:nvPr/>
            </p:nvSpPr>
            <p:spPr bwMode="auto">
              <a:xfrm>
                <a:off x="9350311" y="5655142"/>
                <a:ext cx="1645977" cy="248839"/>
              </a:xfrm>
              <a:prstGeom prst="rect">
                <a:avLst/>
              </a:prstGeom>
              <a:noFill/>
              <a:ln w="9525">
                <a:noFill/>
                <a:miter lim="800000"/>
                <a:headEnd type="none" w="sm" len="sm"/>
                <a:tailEnd type="none" w="sm" len="sm"/>
              </a:ln>
            </p:spPr>
            <p:txBody>
              <a:bodyPr wrap="none" lIns="0" tIns="0" rIns="0" bIns="0" anchor="ctr">
                <a:spAutoFit/>
              </a:bodyPr>
              <a:lstStyle/>
              <a:p>
                <a:r>
                  <a:rPr lang="en-US" altLang="ja-JP" sz="1000" dirty="0">
                    <a:solidFill>
                      <a:srgbClr val="313131"/>
                    </a:solidFill>
                    <a:ea typeface="ＭＳ Ｐゴシック" charset="-128"/>
                  </a:rPr>
                  <a:t>Least Favorable</a:t>
                </a:r>
              </a:p>
            </p:txBody>
          </p:sp>
          <p:sp>
            <p:nvSpPr>
              <p:cNvPr id="83" name="Oval 82"/>
              <p:cNvSpPr>
                <a:spLocks noChangeArrowheads="1"/>
              </p:cNvSpPr>
              <p:nvPr/>
            </p:nvSpPr>
            <p:spPr bwMode="auto">
              <a:xfrm>
                <a:off x="9011935" y="5627350"/>
                <a:ext cx="287998" cy="288001"/>
              </a:xfrm>
              <a:prstGeom prst="ellipse">
                <a:avLst/>
              </a:prstGeom>
              <a:solidFill>
                <a:srgbClr val="C00000"/>
              </a:solidFill>
              <a:ln w="6350">
                <a:noFill/>
                <a:round/>
                <a:headEnd/>
                <a:tailEnd/>
              </a:ln>
            </p:spPr>
            <p:txBody>
              <a:bodyPr wrap="none" anchor="ctr"/>
              <a:lstStyle/>
              <a:p>
                <a:pPr algn="ctr">
                  <a:defRPr/>
                </a:pPr>
                <a:endParaRPr lang="en-US" sz="1000" dirty="0"/>
              </a:p>
            </p:txBody>
          </p:sp>
        </p:grpSp>
        <p:grpSp>
          <p:nvGrpSpPr>
            <p:cNvPr id="79" name="Group 78"/>
            <p:cNvGrpSpPr/>
            <p:nvPr/>
          </p:nvGrpSpPr>
          <p:grpSpPr>
            <a:xfrm>
              <a:off x="2381182" y="5744680"/>
              <a:ext cx="1329030" cy="288000"/>
              <a:chOff x="2376187" y="5634952"/>
              <a:chExt cx="1329030" cy="288000"/>
            </a:xfrm>
          </p:grpSpPr>
          <p:sp>
            <p:nvSpPr>
              <p:cNvPr id="80" name="Text Box 32"/>
              <p:cNvSpPr txBox="1">
                <a:spLocks noChangeArrowheads="1"/>
              </p:cNvSpPr>
              <p:nvPr/>
            </p:nvSpPr>
            <p:spPr bwMode="auto">
              <a:xfrm>
                <a:off x="2689118" y="5655144"/>
                <a:ext cx="1016099" cy="248839"/>
              </a:xfrm>
              <a:prstGeom prst="rect">
                <a:avLst/>
              </a:prstGeom>
              <a:noFill/>
              <a:ln w="9525">
                <a:noFill/>
                <a:miter lim="800000"/>
                <a:headEnd type="none" w="sm" len="sm"/>
                <a:tailEnd type="none" w="sm" len="sm"/>
              </a:ln>
            </p:spPr>
            <p:txBody>
              <a:bodyPr wrap="none" lIns="0" tIns="0" rIns="0" bIns="0" anchor="ctr">
                <a:spAutoFit/>
              </a:bodyPr>
              <a:lstStyle/>
              <a:p>
                <a:r>
                  <a:rPr lang="en-US" altLang="ja-JP" sz="1000" dirty="0">
                    <a:solidFill>
                      <a:srgbClr val="313131"/>
                    </a:solidFill>
                    <a:ea typeface="ＭＳ Ｐゴシック" charset="-128"/>
                  </a:rPr>
                  <a:t>Favorable</a:t>
                </a:r>
              </a:p>
            </p:txBody>
          </p:sp>
          <p:sp>
            <p:nvSpPr>
              <p:cNvPr id="81" name="Oval 80"/>
              <p:cNvSpPr>
                <a:spLocks noChangeArrowheads="1"/>
              </p:cNvSpPr>
              <p:nvPr/>
            </p:nvSpPr>
            <p:spPr bwMode="auto">
              <a:xfrm>
                <a:off x="2376187" y="5634952"/>
                <a:ext cx="288000" cy="288000"/>
              </a:xfrm>
              <a:prstGeom prst="ellipse">
                <a:avLst/>
              </a:prstGeom>
              <a:solidFill>
                <a:srgbClr val="009A44"/>
              </a:solidFill>
              <a:ln w="6350">
                <a:noFill/>
                <a:round/>
                <a:headEnd/>
                <a:tailEnd/>
              </a:ln>
            </p:spPr>
            <p:txBody>
              <a:bodyPr wrap="none" anchor="ctr"/>
              <a:lstStyle/>
              <a:p>
                <a:pPr algn="ctr">
                  <a:defRPr/>
                </a:pPr>
                <a:endParaRPr lang="en-US" sz="1000" dirty="0"/>
              </a:p>
            </p:txBody>
          </p:sp>
        </p:grpSp>
      </p:grpSp>
    </p:spTree>
    <p:extLst>
      <p:ext uri="{BB962C8B-B14F-4D97-AF65-F5344CB8AC3E}">
        <p14:creationId xmlns:p14="http://schemas.microsoft.com/office/powerpoint/2010/main" val="2043143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725" y="266631"/>
            <a:ext cx="10248844" cy="368439"/>
          </a:xfrm>
        </p:spPr>
        <p:txBody>
          <a:bodyPr/>
          <a:lstStyle/>
          <a:p>
            <a:r>
              <a:rPr lang="en-US" b="1" dirty="0"/>
              <a:t>Selected Structural option for establishing BPDB as a Holding Company</a:t>
            </a:r>
            <a:endParaRPr lang="en-IN" b="1" dirty="0">
              <a:solidFill>
                <a:schemeClr val="accent1">
                  <a:lumMod val="75000"/>
                </a:schemeClr>
              </a:solidFill>
            </a:endParaRPr>
          </a:p>
        </p:txBody>
      </p:sp>
      <p:sp>
        <p:nvSpPr>
          <p:cNvPr id="11" name="Rounded Rectangle 10"/>
          <p:cNvSpPr/>
          <p:nvPr/>
        </p:nvSpPr>
        <p:spPr bwMode="gray">
          <a:xfrm>
            <a:off x="457598" y="5609040"/>
            <a:ext cx="9796708" cy="1603228"/>
          </a:xfrm>
          <a:prstGeom prst="round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prstClr val="white"/>
              </a:solidFill>
            </a:endParaRPr>
          </a:p>
        </p:txBody>
      </p:sp>
      <p:cxnSp>
        <p:nvCxnSpPr>
          <p:cNvPr id="12" name="Straight Connector 11"/>
          <p:cNvCxnSpPr/>
          <p:nvPr/>
        </p:nvCxnSpPr>
        <p:spPr>
          <a:xfrm>
            <a:off x="532637" y="5499840"/>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04217" y="5381047"/>
            <a:ext cx="3328062" cy="184666"/>
          </a:xfrm>
          <a:prstGeom prst="rect">
            <a:avLst/>
          </a:prstGeom>
          <a:solidFill>
            <a:schemeClr val="bg1"/>
          </a:solidFill>
        </p:spPr>
        <p:txBody>
          <a:bodyPr wrap="square" lIns="0" tIns="0" rIns="0" bIns="0" rtlCol="0">
            <a:spAutoFit/>
          </a:bodyPr>
          <a:lstStyle/>
          <a:p>
            <a:pPr algn="ctr">
              <a:spcBef>
                <a:spcPts val="600"/>
              </a:spcBef>
              <a:buSzPct val="100000"/>
            </a:pPr>
            <a:r>
              <a:rPr lang="en-US" sz="1200" b="1" dirty="0">
                <a:solidFill>
                  <a:prstClr val="black"/>
                </a:solidFill>
              </a:rPr>
              <a:t>Functions of Holding Company</a:t>
            </a:r>
          </a:p>
        </p:txBody>
      </p:sp>
      <p:sp>
        <p:nvSpPr>
          <p:cNvPr id="14" name="Rounded Rectangle 13"/>
          <p:cNvSpPr/>
          <p:nvPr/>
        </p:nvSpPr>
        <p:spPr bwMode="gray">
          <a:xfrm>
            <a:off x="580929" y="5625384"/>
            <a:ext cx="4759330" cy="1519431"/>
          </a:xfrm>
          <a:prstGeom prst="roundRect">
            <a:avLst/>
          </a:prstGeom>
          <a:noFill/>
          <a:ln w="19050" algn="ctr">
            <a:noFill/>
            <a:miter lim="800000"/>
            <a:headEnd/>
            <a:tailEnd/>
          </a:ln>
        </p:spPr>
        <p:txBody>
          <a:bodyPr wrap="square" lIns="88900" tIns="88900" rIns="88900" bIns="88900" rtlCol="0" anchor="ctr"/>
          <a:lstStyle/>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Power generation including power plant O&amp;M</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Single buyer, including cross-border power trade</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Economic merit order dispatch and System Operator (NLDC)  coordination</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PPA management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System planning and transmission planning coordination</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Generation projects development</a:t>
            </a:r>
          </a:p>
        </p:txBody>
      </p:sp>
      <p:sp>
        <p:nvSpPr>
          <p:cNvPr id="15" name="Rounded Rectangle 14"/>
          <p:cNvSpPr/>
          <p:nvPr/>
        </p:nvSpPr>
        <p:spPr bwMode="gray">
          <a:xfrm>
            <a:off x="5343526" y="5573885"/>
            <a:ext cx="4892975" cy="1603715"/>
          </a:xfrm>
          <a:prstGeom prst="roundRect">
            <a:avLst/>
          </a:prstGeom>
          <a:noFill/>
          <a:ln w="19050" algn="ctr">
            <a:noFill/>
            <a:miter lim="800000"/>
            <a:headEnd/>
            <a:tailEnd/>
          </a:ln>
        </p:spPr>
        <p:txBody>
          <a:bodyPr wrap="square" lIns="88900" tIns="88900" rIns="88900" bIns="88900" rtlCol="0" anchor="ctr"/>
          <a:lstStyle/>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Regulatory Affairs</a:t>
            </a: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Financial management and human resource management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High Value procurement, Fuel procurement and management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Overall management and co-ordination among subsidiaries</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O&amp;M Services &amp; Asset Management Unit</a:t>
            </a:r>
            <a:endParaRPr lang="en-IN" sz="1100" dirty="0">
              <a:solidFill>
                <a:prstClr val="black"/>
              </a:solidFill>
              <a:ea typeface="Times" panose="02020603050405020304" pitchFamily="18" charset="0"/>
              <a:cs typeface="Arial" panose="020B0604020202020204" pitchFamily="34" charset="0"/>
            </a:endParaRPr>
          </a:p>
          <a:p>
            <a:pPr marL="182880" indent="-182880" algn="just">
              <a:spcBef>
                <a:spcPts val="300"/>
              </a:spcBef>
              <a:spcAft>
                <a:spcPts val="300"/>
              </a:spcAft>
              <a:buFont typeface="Symbol" panose="05050102010706020507" pitchFamily="18" charset="2"/>
              <a:buChar char=""/>
            </a:pPr>
            <a:r>
              <a:rPr lang="en-US" sz="1100" dirty="0">
                <a:solidFill>
                  <a:prstClr val="black"/>
                </a:solidFill>
                <a:ea typeface="Times" panose="02020603050405020304" pitchFamily="18" charset="0"/>
                <a:cs typeface="Arial" panose="020B0604020202020204" pitchFamily="34" charset="0"/>
              </a:rPr>
              <a:t>Strategic investment unit for management of the JVs &amp; partnerships like RPCL, BIFPCL and other future entities</a:t>
            </a:r>
            <a:endParaRPr lang="en-IN" sz="1100" dirty="0">
              <a:solidFill>
                <a:prstClr val="black"/>
              </a:solidFill>
              <a:ea typeface="Times" panose="02020603050405020304" pitchFamily="18" charset="0"/>
              <a:cs typeface="Arial" panose="020B0604020202020204" pitchFamily="34" charset="0"/>
            </a:endParaRPr>
          </a:p>
        </p:txBody>
      </p:sp>
      <p:sp>
        <p:nvSpPr>
          <p:cNvPr id="17" name="Rectangle 16"/>
          <p:cNvSpPr/>
          <p:nvPr/>
        </p:nvSpPr>
        <p:spPr bwMode="gray">
          <a:xfrm>
            <a:off x="2737028" y="1013258"/>
            <a:ext cx="1621941" cy="752217"/>
          </a:xfrm>
          <a:prstGeom prst="rect">
            <a:avLst/>
          </a:prstGeom>
          <a:solidFill>
            <a:srgbClr val="009A44"/>
          </a:solidFill>
          <a:ln w="19050" algn="ctr">
            <a:noFill/>
            <a:miter lim="800000"/>
            <a:headEnd/>
            <a:tailEnd/>
          </a:ln>
        </p:spPr>
        <p:txBody>
          <a:bodyPr wrap="square" lIns="76053" tIns="76053" rIns="76053" bIns="76053" rtlCol="0" anchor="ctr"/>
          <a:lstStyle/>
          <a:p>
            <a:pPr algn="ctr" defTabSz="914400">
              <a:lnSpc>
                <a:spcPct val="106000"/>
              </a:lnSpc>
              <a:buFont typeface="Wingdings 2" pitchFamily="18" charset="2"/>
              <a:buNone/>
            </a:pPr>
            <a:r>
              <a:rPr lang="en-US" sz="1200" b="1" dirty="0">
                <a:solidFill>
                  <a:prstClr val="white"/>
                </a:solidFill>
                <a:ea typeface="Verdana" panose="020B0604030504040204" pitchFamily="34" charset="0"/>
                <a:cs typeface="Verdana" panose="020B0604030504040204" pitchFamily="34" charset="0"/>
              </a:rPr>
              <a:t>Holding Company</a:t>
            </a:r>
            <a:endParaRPr lang="en-IN" sz="1200" b="1" dirty="0">
              <a:solidFill>
                <a:prstClr val="white"/>
              </a:solidFill>
              <a:ea typeface="Verdana" panose="020B0604030504040204" pitchFamily="34" charset="0"/>
              <a:cs typeface="Verdana" panose="020B0604030504040204" pitchFamily="34" charset="0"/>
            </a:endParaRPr>
          </a:p>
        </p:txBody>
      </p:sp>
      <p:sp>
        <p:nvSpPr>
          <p:cNvPr id="18" name="TextBox 17"/>
          <p:cNvSpPr txBox="1"/>
          <p:nvPr/>
        </p:nvSpPr>
        <p:spPr>
          <a:xfrm>
            <a:off x="5565183" y="774802"/>
            <a:ext cx="3020345" cy="1247137"/>
          </a:xfrm>
          <a:prstGeom prst="rect">
            <a:avLst/>
          </a:prstGeom>
          <a:noFill/>
          <a:ln>
            <a:solidFill>
              <a:sysClr val="windowText" lastClr="000000"/>
            </a:solidFill>
          </a:ln>
        </p:spPr>
        <p:txBody>
          <a:bodyPr wrap="square" lIns="30798" tIns="30798" rIns="30798" bIns="30798" rtlCol="0">
            <a:spAutoFit/>
          </a:bodyPr>
          <a:lstStyle/>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Single Buyer function</a:t>
            </a:r>
          </a:p>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Generation SBU / SBUs</a:t>
            </a:r>
          </a:p>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System Operation </a:t>
            </a:r>
            <a:r>
              <a:rPr lang="en-US" sz="1100" b="1" kern="0" dirty="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a:t>
            </a:r>
          </a:p>
          <a:p>
            <a:pPr algn="ctr" defTabSz="914400">
              <a:buSzPct val="100000"/>
              <a:defRPr/>
            </a:pPr>
            <a:r>
              <a:rPr lang="en-US" sz="1100" kern="0" dirty="0">
                <a:solidFill>
                  <a:srgbClr val="313131"/>
                </a:solidFill>
                <a:ea typeface="Verdana" panose="020B0604030504040204" pitchFamily="34" charset="0"/>
                <a:cs typeface="Verdana" panose="020B0604030504040204" pitchFamily="34" charset="0"/>
              </a:rPr>
              <a:t>Other support services (refer box below)</a:t>
            </a:r>
            <a:endParaRPr lang="en-IN" sz="1100" kern="0" dirty="0">
              <a:solidFill>
                <a:srgbClr val="313131"/>
              </a:solidFill>
              <a:ea typeface="Verdana" panose="020B0604030504040204" pitchFamily="34" charset="0"/>
              <a:cs typeface="Verdana" panose="020B0604030504040204" pitchFamily="34" charset="0"/>
            </a:endParaRPr>
          </a:p>
        </p:txBody>
      </p:sp>
      <p:sp>
        <p:nvSpPr>
          <p:cNvPr id="19" name="Rectangle 18"/>
          <p:cNvSpPr/>
          <p:nvPr/>
        </p:nvSpPr>
        <p:spPr bwMode="gray">
          <a:xfrm>
            <a:off x="5887964" y="2841466"/>
            <a:ext cx="2304000" cy="531530"/>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Newly Created Distribution Company/Companies, if any in future</a:t>
            </a:r>
            <a:endParaRPr lang="en-IN" sz="1100" b="1" dirty="0">
              <a:solidFill>
                <a:prstClr val="black"/>
              </a:solidFill>
              <a:ea typeface="Verdana" panose="020B0604030504040204" pitchFamily="34" charset="0"/>
              <a:cs typeface="Verdana" panose="020B0604030504040204" pitchFamily="34" charset="0"/>
            </a:endParaRPr>
          </a:p>
        </p:txBody>
      </p:sp>
      <p:cxnSp>
        <p:nvCxnSpPr>
          <p:cNvPr id="20" name="Elbow Connector 19"/>
          <p:cNvCxnSpPr>
            <a:endCxn id="19" idx="1"/>
          </p:cNvCxnSpPr>
          <p:nvPr/>
        </p:nvCxnSpPr>
        <p:spPr>
          <a:xfrm rot="16200000" flipH="1">
            <a:off x="5303982" y="2523249"/>
            <a:ext cx="946280" cy="221684"/>
          </a:xfrm>
          <a:prstGeom prst="bentConnector2">
            <a:avLst/>
          </a:prstGeom>
          <a:noFill/>
          <a:ln w="6350" cap="flat" cmpd="sng" algn="ctr">
            <a:solidFill>
              <a:srgbClr val="44546A"/>
            </a:solidFill>
            <a:prstDash val="solid"/>
            <a:miter lim="800000"/>
            <a:tailEnd type="triangle"/>
          </a:ln>
          <a:effectLst/>
        </p:spPr>
      </p:cxnSp>
      <p:sp>
        <p:nvSpPr>
          <p:cNvPr id="21" name="Rectangle 20"/>
          <p:cNvSpPr/>
          <p:nvPr/>
        </p:nvSpPr>
        <p:spPr bwMode="gray">
          <a:xfrm>
            <a:off x="710464" y="2321785"/>
            <a:ext cx="2027427" cy="356127"/>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EGCB</a:t>
            </a:r>
            <a:endParaRPr lang="en-IN" sz="1100" b="1" dirty="0">
              <a:solidFill>
                <a:prstClr val="black"/>
              </a:solidFill>
              <a:ea typeface="Verdana" panose="020B0604030504040204" pitchFamily="34" charset="0"/>
              <a:cs typeface="Verdana" panose="020B0604030504040204" pitchFamily="34" charset="0"/>
            </a:endParaRPr>
          </a:p>
        </p:txBody>
      </p:sp>
      <p:sp>
        <p:nvSpPr>
          <p:cNvPr id="22" name="Rectangle 21"/>
          <p:cNvSpPr/>
          <p:nvPr/>
        </p:nvSpPr>
        <p:spPr bwMode="gray">
          <a:xfrm>
            <a:off x="704260" y="3541352"/>
            <a:ext cx="2027427" cy="356127"/>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NWPGCL</a:t>
            </a:r>
            <a:endParaRPr lang="en-IN" sz="1100" b="1" dirty="0">
              <a:solidFill>
                <a:prstClr val="black"/>
              </a:solidFill>
              <a:ea typeface="Verdana" panose="020B0604030504040204" pitchFamily="34" charset="0"/>
              <a:cs typeface="Verdana" panose="020B0604030504040204" pitchFamily="34" charset="0"/>
            </a:endParaRPr>
          </a:p>
        </p:txBody>
      </p:sp>
      <p:sp>
        <p:nvSpPr>
          <p:cNvPr id="23" name="Rectangle 22"/>
          <p:cNvSpPr/>
          <p:nvPr/>
        </p:nvSpPr>
        <p:spPr bwMode="gray">
          <a:xfrm>
            <a:off x="704260" y="2929167"/>
            <a:ext cx="2027427" cy="356127"/>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APSCL</a:t>
            </a:r>
            <a:endParaRPr lang="en-IN" sz="1100" b="1" dirty="0">
              <a:solidFill>
                <a:prstClr val="black"/>
              </a:solidFill>
              <a:ea typeface="Verdana" panose="020B0604030504040204" pitchFamily="34" charset="0"/>
              <a:cs typeface="Verdana" panose="020B0604030504040204" pitchFamily="34" charset="0"/>
            </a:endParaRPr>
          </a:p>
        </p:txBody>
      </p:sp>
      <p:cxnSp>
        <p:nvCxnSpPr>
          <p:cNvPr id="24" name="Elbow Connector 23"/>
          <p:cNvCxnSpPr>
            <a:endCxn id="23" idx="1"/>
          </p:cNvCxnSpPr>
          <p:nvPr/>
        </p:nvCxnSpPr>
        <p:spPr>
          <a:xfrm rot="16200000" flipH="1">
            <a:off x="71066" y="2474037"/>
            <a:ext cx="1019726" cy="246662"/>
          </a:xfrm>
          <a:prstGeom prst="bentConnector2">
            <a:avLst/>
          </a:prstGeom>
          <a:noFill/>
          <a:ln w="6350" cap="flat" cmpd="sng" algn="ctr">
            <a:solidFill>
              <a:srgbClr val="44546A"/>
            </a:solidFill>
            <a:prstDash val="solid"/>
            <a:miter lim="800000"/>
            <a:tailEnd type="triangle"/>
          </a:ln>
          <a:effectLst/>
        </p:spPr>
      </p:cxnSp>
      <p:cxnSp>
        <p:nvCxnSpPr>
          <p:cNvPr id="25" name="Elbow Connector 24"/>
          <p:cNvCxnSpPr>
            <a:endCxn id="22" idx="1"/>
          </p:cNvCxnSpPr>
          <p:nvPr/>
        </p:nvCxnSpPr>
        <p:spPr>
          <a:xfrm rot="16200000" flipH="1">
            <a:off x="-235026" y="2780130"/>
            <a:ext cx="1631912" cy="246660"/>
          </a:xfrm>
          <a:prstGeom prst="bentConnector2">
            <a:avLst/>
          </a:prstGeom>
          <a:noFill/>
          <a:ln w="6350" cap="flat" cmpd="sng" algn="ctr">
            <a:solidFill>
              <a:srgbClr val="44546A"/>
            </a:solidFill>
            <a:prstDash val="solid"/>
            <a:miter lim="800000"/>
            <a:tailEnd type="triangle"/>
          </a:ln>
          <a:effectLst/>
        </p:spPr>
      </p:cxnSp>
      <p:cxnSp>
        <p:nvCxnSpPr>
          <p:cNvPr id="26" name="Elbow Connector 25"/>
          <p:cNvCxnSpPr>
            <a:endCxn id="21" idx="1"/>
          </p:cNvCxnSpPr>
          <p:nvPr/>
        </p:nvCxnSpPr>
        <p:spPr>
          <a:xfrm rot="16200000" flipH="1">
            <a:off x="377859" y="2167244"/>
            <a:ext cx="412344" cy="252866"/>
          </a:xfrm>
          <a:prstGeom prst="bentConnector2">
            <a:avLst/>
          </a:prstGeom>
          <a:noFill/>
          <a:ln w="6350" cap="flat" cmpd="sng" algn="ctr">
            <a:solidFill>
              <a:srgbClr val="44546A"/>
            </a:solidFill>
            <a:prstDash val="solid"/>
            <a:miter lim="800000"/>
            <a:tailEnd type="triangle"/>
          </a:ln>
          <a:effectLst/>
        </p:spPr>
      </p:cxnSp>
      <p:cxnSp>
        <p:nvCxnSpPr>
          <p:cNvPr id="27" name="Elbow Connector 26"/>
          <p:cNvCxnSpPr>
            <a:endCxn id="31" idx="1"/>
          </p:cNvCxnSpPr>
          <p:nvPr/>
        </p:nvCxnSpPr>
        <p:spPr>
          <a:xfrm rot="16200000" flipH="1">
            <a:off x="2844346" y="2166279"/>
            <a:ext cx="413430" cy="253710"/>
          </a:xfrm>
          <a:prstGeom prst="bentConnector2">
            <a:avLst/>
          </a:prstGeom>
          <a:noFill/>
          <a:ln w="6350" cap="flat" cmpd="sng" algn="ctr">
            <a:solidFill>
              <a:srgbClr val="44546A"/>
            </a:solidFill>
            <a:prstDash val="solid"/>
            <a:miter lim="800000"/>
            <a:tailEnd type="triangle"/>
          </a:ln>
          <a:effectLst/>
        </p:spPr>
      </p:cxnSp>
      <p:cxnSp>
        <p:nvCxnSpPr>
          <p:cNvPr id="28" name="Elbow Connector 27"/>
          <p:cNvCxnSpPr>
            <a:endCxn id="32" idx="1"/>
          </p:cNvCxnSpPr>
          <p:nvPr/>
        </p:nvCxnSpPr>
        <p:spPr>
          <a:xfrm rot="16200000" flipH="1">
            <a:off x="5570409" y="2182293"/>
            <a:ext cx="413430" cy="221682"/>
          </a:xfrm>
          <a:prstGeom prst="bentConnector2">
            <a:avLst/>
          </a:prstGeom>
          <a:noFill/>
          <a:ln w="6350" cap="flat" cmpd="sng" algn="ctr">
            <a:solidFill>
              <a:srgbClr val="44546A"/>
            </a:solidFill>
            <a:prstDash val="solid"/>
            <a:miter lim="800000"/>
            <a:tailEnd type="triangle"/>
          </a:ln>
          <a:effectLst/>
        </p:spPr>
      </p:cxnSp>
      <p:cxnSp>
        <p:nvCxnSpPr>
          <p:cNvPr id="29" name="Straight Connector 28"/>
          <p:cNvCxnSpPr>
            <a:stCxn id="17" idx="3"/>
            <a:endCxn id="18" idx="1"/>
          </p:cNvCxnSpPr>
          <p:nvPr/>
        </p:nvCxnSpPr>
        <p:spPr>
          <a:xfrm>
            <a:off x="4358969" y="1389367"/>
            <a:ext cx="1206214" cy="9004"/>
          </a:xfrm>
          <a:prstGeom prst="line">
            <a:avLst/>
          </a:prstGeom>
          <a:noFill/>
          <a:ln w="34925" cap="flat" cmpd="sng" algn="ctr">
            <a:solidFill>
              <a:srgbClr val="44546A"/>
            </a:solidFill>
            <a:prstDash val="sysDash"/>
            <a:miter lim="800000"/>
          </a:ln>
          <a:effectLst/>
        </p:spPr>
      </p:cxnSp>
      <p:sp>
        <p:nvSpPr>
          <p:cNvPr id="31" name="Rectangle 30"/>
          <p:cNvSpPr/>
          <p:nvPr/>
        </p:nvSpPr>
        <p:spPr bwMode="gray">
          <a:xfrm>
            <a:off x="3177916" y="2321785"/>
            <a:ext cx="2027427" cy="356127"/>
          </a:xfrm>
          <a:prstGeom prst="rect">
            <a:avLst/>
          </a:prstGeom>
          <a:solidFill>
            <a:srgbClr val="70AD47">
              <a:lumMod val="60000"/>
              <a:lumOff val="40000"/>
            </a:srgbClr>
          </a:solidFill>
          <a:ln w="19050" algn="ctr">
            <a:noFill/>
            <a:miter lim="800000"/>
            <a:headEnd/>
            <a:tailEnd/>
          </a:ln>
        </p:spPr>
        <p:txBody>
          <a:bodyPr wrap="square" lIns="76053" tIns="76053" rIns="76053" bIns="76053" rtlCol="0" anchor="ctr"/>
          <a:lstStyle/>
          <a:p>
            <a:pPr algn="ctr" defTabSz="914400">
              <a:defRPr/>
            </a:pPr>
            <a:r>
              <a:rPr lang="en-US" sz="1100" b="1" kern="0" dirty="0">
                <a:solidFill>
                  <a:prstClr val="black"/>
                </a:solidFill>
                <a:ea typeface="Verdana" panose="020B0604030504040204" pitchFamily="34" charset="0"/>
                <a:cs typeface="Verdana" panose="020B0604030504040204" pitchFamily="34" charset="0"/>
              </a:rPr>
              <a:t>PGCB</a:t>
            </a:r>
            <a:endParaRPr lang="en-IN" sz="1100" b="1" kern="0" dirty="0">
              <a:solidFill>
                <a:prstClr val="black"/>
              </a:solidFill>
              <a:ea typeface="Verdana" panose="020B0604030504040204" pitchFamily="34" charset="0"/>
              <a:cs typeface="Verdana" panose="020B0604030504040204" pitchFamily="34" charset="0"/>
            </a:endParaRPr>
          </a:p>
        </p:txBody>
      </p:sp>
      <p:sp>
        <p:nvSpPr>
          <p:cNvPr id="32" name="Rectangle 31"/>
          <p:cNvSpPr/>
          <p:nvPr/>
        </p:nvSpPr>
        <p:spPr bwMode="gray">
          <a:xfrm>
            <a:off x="5887965" y="2321785"/>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WZPDCL</a:t>
            </a:r>
            <a:endParaRPr lang="en-IN" sz="1100" b="1" dirty="0">
              <a:solidFill>
                <a:prstClr val="black"/>
              </a:solidFill>
              <a:ea typeface="Verdana" panose="020B0604030504040204" pitchFamily="34" charset="0"/>
              <a:cs typeface="Verdana" panose="020B0604030504040204" pitchFamily="34" charset="0"/>
            </a:endParaRPr>
          </a:p>
        </p:txBody>
      </p:sp>
      <p:sp>
        <p:nvSpPr>
          <p:cNvPr id="33" name="Rectangle 32"/>
          <p:cNvSpPr/>
          <p:nvPr/>
        </p:nvSpPr>
        <p:spPr bwMode="gray">
          <a:xfrm>
            <a:off x="5887964" y="4008752"/>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DPDC</a:t>
            </a:r>
            <a:endParaRPr lang="en-IN" sz="1100" b="1" dirty="0">
              <a:solidFill>
                <a:prstClr val="black"/>
              </a:solidFill>
              <a:ea typeface="Verdana" panose="020B0604030504040204" pitchFamily="34" charset="0"/>
              <a:cs typeface="Verdana" panose="020B0604030504040204" pitchFamily="34" charset="0"/>
            </a:endParaRPr>
          </a:p>
        </p:txBody>
      </p:sp>
      <p:sp>
        <p:nvSpPr>
          <p:cNvPr id="34" name="Rectangle 33"/>
          <p:cNvSpPr/>
          <p:nvPr/>
        </p:nvSpPr>
        <p:spPr bwMode="gray">
          <a:xfrm>
            <a:off x="5887964" y="4510979"/>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dirty="0">
                <a:solidFill>
                  <a:prstClr val="black"/>
                </a:solidFill>
                <a:ea typeface="Verdana" panose="020B0604030504040204" pitchFamily="34" charset="0"/>
                <a:cs typeface="Verdana" panose="020B0604030504040204" pitchFamily="34" charset="0"/>
              </a:rPr>
              <a:t>DESCO</a:t>
            </a:r>
            <a:endParaRPr lang="en-IN" sz="1100" b="1" dirty="0">
              <a:solidFill>
                <a:prstClr val="black"/>
              </a:solidFill>
              <a:ea typeface="Verdana" panose="020B0604030504040204" pitchFamily="34" charset="0"/>
              <a:cs typeface="Verdana" panose="020B0604030504040204" pitchFamily="34" charset="0"/>
            </a:endParaRPr>
          </a:p>
        </p:txBody>
      </p:sp>
      <p:cxnSp>
        <p:nvCxnSpPr>
          <p:cNvPr id="35" name="Elbow Connector 34"/>
          <p:cNvCxnSpPr>
            <a:endCxn id="33" idx="1"/>
          </p:cNvCxnSpPr>
          <p:nvPr/>
        </p:nvCxnSpPr>
        <p:spPr>
          <a:xfrm rot="16200000" flipH="1">
            <a:off x="5511823" y="3810675"/>
            <a:ext cx="539712" cy="212570"/>
          </a:xfrm>
          <a:prstGeom prst="bentConnector2">
            <a:avLst/>
          </a:prstGeom>
          <a:noFill/>
          <a:ln w="6350" cap="flat" cmpd="sng" algn="ctr">
            <a:solidFill>
              <a:srgbClr val="44546A"/>
            </a:solidFill>
            <a:prstDash val="dash"/>
            <a:miter lim="800000"/>
            <a:tailEnd type="triangle"/>
          </a:ln>
          <a:effectLst/>
        </p:spPr>
      </p:cxnSp>
      <p:cxnSp>
        <p:nvCxnSpPr>
          <p:cNvPr id="36" name="Elbow Connector 35"/>
          <p:cNvCxnSpPr>
            <a:endCxn id="34" idx="1"/>
          </p:cNvCxnSpPr>
          <p:nvPr/>
        </p:nvCxnSpPr>
        <p:spPr>
          <a:xfrm rot="16200000" flipH="1">
            <a:off x="5507881" y="4308960"/>
            <a:ext cx="547596" cy="212570"/>
          </a:xfrm>
          <a:prstGeom prst="bentConnector2">
            <a:avLst/>
          </a:prstGeom>
          <a:noFill/>
          <a:ln w="6350" cap="flat" cmpd="sng" algn="ctr">
            <a:solidFill>
              <a:srgbClr val="44546A"/>
            </a:solidFill>
            <a:prstDash val="dash"/>
            <a:miter lim="800000"/>
            <a:tailEnd type="triangle"/>
          </a:ln>
          <a:effectLst/>
        </p:spPr>
      </p:cxnSp>
      <p:cxnSp>
        <p:nvCxnSpPr>
          <p:cNvPr id="37" name="Straight Connector 36"/>
          <p:cNvCxnSpPr/>
          <p:nvPr/>
        </p:nvCxnSpPr>
        <p:spPr>
          <a:xfrm>
            <a:off x="457598" y="2091199"/>
            <a:ext cx="5208683" cy="0"/>
          </a:xfrm>
          <a:prstGeom prst="line">
            <a:avLst/>
          </a:prstGeom>
          <a:noFill/>
          <a:ln w="6350" cap="flat" cmpd="sng" algn="ctr">
            <a:solidFill>
              <a:sysClr val="windowText" lastClr="000000"/>
            </a:solidFill>
            <a:prstDash val="solid"/>
            <a:miter lim="800000"/>
          </a:ln>
          <a:effectLst/>
        </p:spPr>
      </p:cxnSp>
      <p:cxnSp>
        <p:nvCxnSpPr>
          <p:cNvPr id="38" name="Straight Connector 37"/>
          <p:cNvCxnSpPr>
            <a:stCxn id="17" idx="2"/>
          </p:cNvCxnSpPr>
          <p:nvPr/>
        </p:nvCxnSpPr>
        <p:spPr>
          <a:xfrm>
            <a:off x="3547999" y="1765475"/>
            <a:ext cx="0" cy="324798"/>
          </a:xfrm>
          <a:prstGeom prst="line">
            <a:avLst/>
          </a:prstGeom>
          <a:noFill/>
          <a:ln w="6350" cap="flat" cmpd="sng" algn="ctr">
            <a:solidFill>
              <a:sysClr val="windowText" lastClr="000000"/>
            </a:solidFill>
            <a:prstDash val="solid"/>
            <a:miter lim="800000"/>
          </a:ln>
          <a:effectLst/>
        </p:spPr>
      </p:cxnSp>
      <p:sp>
        <p:nvSpPr>
          <p:cNvPr id="39" name="Rectangle 38"/>
          <p:cNvSpPr/>
          <p:nvPr/>
        </p:nvSpPr>
        <p:spPr bwMode="gray">
          <a:xfrm>
            <a:off x="8154397" y="3941030"/>
            <a:ext cx="1800000" cy="516435"/>
          </a:xfrm>
          <a:prstGeom prst="rect">
            <a:avLst/>
          </a:prstGeom>
          <a:noFill/>
          <a:ln w="19050" algn="ctr">
            <a:noFill/>
            <a:miter lim="800000"/>
            <a:headEnd/>
            <a:tailEnd/>
          </a:ln>
        </p:spPr>
        <p:txBody>
          <a:bodyPr wrap="square" lIns="76053" tIns="76053" rIns="76053" bIns="76053" rtlCol="0" anchor="ctr"/>
          <a:lstStyle/>
          <a:p>
            <a:pPr defTabSz="914400"/>
            <a:r>
              <a:rPr lang="en-US" sz="1200" dirty="0">
                <a:solidFill>
                  <a:prstClr val="black"/>
                </a:solidFill>
                <a:ea typeface="Verdana" panose="020B0604030504040204" pitchFamily="34" charset="0"/>
                <a:cs typeface="Verdana" panose="020B0604030504040204" pitchFamily="34" charset="0"/>
              </a:rPr>
              <a:t>(under ownership of Govt. of Bangladesh)</a:t>
            </a:r>
            <a:endParaRPr lang="en-IN" sz="1200" dirty="0">
              <a:solidFill>
                <a:prstClr val="black"/>
              </a:solidFill>
              <a:ea typeface="Verdana" panose="020B0604030504040204" pitchFamily="34" charset="0"/>
              <a:cs typeface="Verdana" panose="020B0604030504040204" pitchFamily="34" charset="0"/>
            </a:endParaRPr>
          </a:p>
        </p:txBody>
      </p:sp>
      <p:sp>
        <p:nvSpPr>
          <p:cNvPr id="40" name="Rectangle 39"/>
          <p:cNvSpPr/>
          <p:nvPr/>
        </p:nvSpPr>
        <p:spPr bwMode="gray">
          <a:xfrm>
            <a:off x="8154397" y="4430962"/>
            <a:ext cx="1800000" cy="516435"/>
          </a:xfrm>
          <a:prstGeom prst="rect">
            <a:avLst/>
          </a:prstGeom>
          <a:noFill/>
          <a:ln w="19050" algn="ctr">
            <a:noFill/>
            <a:miter lim="800000"/>
            <a:headEnd/>
            <a:tailEnd/>
          </a:ln>
        </p:spPr>
        <p:txBody>
          <a:bodyPr wrap="square" lIns="76053" tIns="76053" rIns="76053" bIns="76053" rtlCol="0" anchor="ctr"/>
          <a:lstStyle/>
          <a:p>
            <a:pPr defTabSz="914400"/>
            <a:r>
              <a:rPr lang="en-US" sz="1200" dirty="0">
                <a:solidFill>
                  <a:prstClr val="black"/>
                </a:solidFill>
                <a:ea typeface="Verdana" panose="020B0604030504040204" pitchFamily="34" charset="0"/>
                <a:cs typeface="Verdana" panose="020B0604030504040204" pitchFamily="34" charset="0"/>
              </a:rPr>
              <a:t>(under ownership of Govt. of Bangladesh)</a:t>
            </a:r>
            <a:endParaRPr lang="en-IN" sz="1200" dirty="0">
              <a:solidFill>
                <a:prstClr val="black"/>
              </a:solidFill>
              <a:ea typeface="Verdana" panose="020B0604030504040204" pitchFamily="34" charset="0"/>
              <a:cs typeface="Verdana" panose="020B0604030504040204" pitchFamily="34" charset="0"/>
            </a:endParaRPr>
          </a:p>
        </p:txBody>
      </p:sp>
      <p:sp>
        <p:nvSpPr>
          <p:cNvPr id="41" name="Rectangle 40"/>
          <p:cNvSpPr/>
          <p:nvPr/>
        </p:nvSpPr>
        <p:spPr bwMode="gray">
          <a:xfrm>
            <a:off x="5887964" y="3509397"/>
            <a:ext cx="2304000" cy="356127"/>
          </a:xfrm>
          <a:prstGeom prst="rect">
            <a:avLst/>
          </a:prstGeom>
          <a:solidFill>
            <a:srgbClr val="C4D600"/>
          </a:solidFill>
          <a:ln w="19050" algn="ctr">
            <a:noFill/>
            <a:miter lim="800000"/>
            <a:headEnd/>
            <a:tailEnd/>
          </a:ln>
        </p:spPr>
        <p:txBody>
          <a:bodyPr wrap="square" lIns="76053" tIns="76053" rIns="76053" bIns="76053" rtlCol="0" anchor="ctr"/>
          <a:lstStyle/>
          <a:p>
            <a:pPr algn="ctr" defTabSz="914400"/>
            <a:r>
              <a:rPr lang="en-US" sz="1100" b="1">
                <a:solidFill>
                  <a:prstClr val="black"/>
                </a:solidFill>
                <a:ea typeface="Verdana" panose="020B0604030504040204" pitchFamily="34" charset="0"/>
                <a:cs typeface="Verdana" panose="020B0604030504040204" pitchFamily="34" charset="0"/>
              </a:rPr>
              <a:t>NESCO</a:t>
            </a:r>
            <a:endParaRPr lang="en-IN" sz="1100" b="1" dirty="0">
              <a:solidFill>
                <a:prstClr val="black"/>
              </a:solidFill>
              <a:ea typeface="Verdana" panose="020B0604030504040204" pitchFamily="34" charset="0"/>
              <a:cs typeface="Verdana" panose="020B0604030504040204" pitchFamily="34" charset="0"/>
            </a:endParaRPr>
          </a:p>
        </p:txBody>
      </p:sp>
      <p:sp>
        <p:nvSpPr>
          <p:cNvPr id="42" name="Rectangle 41"/>
          <p:cNvSpPr/>
          <p:nvPr/>
        </p:nvSpPr>
        <p:spPr bwMode="gray">
          <a:xfrm>
            <a:off x="3177915" y="2929226"/>
            <a:ext cx="2027427" cy="748800"/>
          </a:xfrm>
          <a:prstGeom prst="rect">
            <a:avLst/>
          </a:prstGeom>
          <a:solidFill>
            <a:srgbClr val="70AD47">
              <a:lumMod val="60000"/>
              <a:lumOff val="40000"/>
            </a:srgbClr>
          </a:solidFill>
          <a:ln w="19050" algn="ctr">
            <a:noFill/>
            <a:miter lim="800000"/>
            <a:headEnd/>
            <a:tailEnd/>
          </a:ln>
        </p:spPr>
        <p:txBody>
          <a:bodyPr wrap="square" lIns="76053" tIns="76053" rIns="76053" bIns="76053" rtlCol="0" anchor="ctr"/>
          <a:lstStyle/>
          <a:p>
            <a:pPr algn="ctr" defTabSz="914400">
              <a:defRPr/>
            </a:pPr>
            <a:r>
              <a:rPr lang="en-US" sz="1100" b="1" kern="0" dirty="0">
                <a:solidFill>
                  <a:prstClr val="black"/>
                </a:solidFill>
                <a:ea typeface="Verdana" panose="020B0604030504040204" pitchFamily="34" charset="0"/>
                <a:cs typeface="Verdana" panose="020B0604030504040204" pitchFamily="34" charset="0"/>
              </a:rPr>
              <a:t>Newly Created Transmission Company / Companies, if any in future</a:t>
            </a:r>
            <a:endParaRPr lang="en-IN" sz="1100" b="1" kern="0" dirty="0">
              <a:solidFill>
                <a:prstClr val="black"/>
              </a:solidFill>
              <a:ea typeface="Verdana" panose="020B0604030504040204" pitchFamily="34" charset="0"/>
              <a:cs typeface="Verdana" panose="020B0604030504040204" pitchFamily="34" charset="0"/>
            </a:endParaRPr>
          </a:p>
        </p:txBody>
      </p:sp>
      <p:cxnSp>
        <p:nvCxnSpPr>
          <p:cNvPr id="43" name="Elbow Connector 42"/>
          <p:cNvCxnSpPr>
            <a:endCxn id="42" idx="1"/>
          </p:cNvCxnSpPr>
          <p:nvPr/>
        </p:nvCxnSpPr>
        <p:spPr>
          <a:xfrm rot="16200000" flipH="1">
            <a:off x="2456949" y="2582660"/>
            <a:ext cx="1188224" cy="253708"/>
          </a:xfrm>
          <a:prstGeom prst="bentConnector2">
            <a:avLst/>
          </a:prstGeom>
          <a:noFill/>
          <a:ln w="6350" cap="flat" cmpd="sng" algn="ctr">
            <a:solidFill>
              <a:srgbClr val="44546A"/>
            </a:solidFill>
            <a:prstDash val="solid"/>
            <a:miter lim="800000"/>
            <a:tailEnd type="triangle"/>
          </a:ln>
          <a:effectLst/>
        </p:spPr>
      </p:cxnSp>
      <p:cxnSp>
        <p:nvCxnSpPr>
          <p:cNvPr id="44" name="Elbow Connector 43"/>
          <p:cNvCxnSpPr>
            <a:endCxn id="41" idx="1"/>
          </p:cNvCxnSpPr>
          <p:nvPr/>
        </p:nvCxnSpPr>
        <p:spPr>
          <a:xfrm rot="16200000" flipH="1">
            <a:off x="5037780" y="2837277"/>
            <a:ext cx="1478686" cy="221682"/>
          </a:xfrm>
          <a:prstGeom prst="bentConnector2">
            <a:avLst/>
          </a:prstGeom>
          <a:noFill/>
          <a:ln w="6350" cap="flat" cmpd="sng" algn="ctr">
            <a:solidFill>
              <a:srgbClr val="44546A"/>
            </a:solidFill>
            <a:prstDash val="solid"/>
            <a:miter lim="800000"/>
            <a:tailEnd type="triangle"/>
          </a:ln>
          <a:effectLst/>
        </p:spPr>
      </p:cxnSp>
      <p:sp>
        <p:nvSpPr>
          <p:cNvPr id="45" name="Rectangle 44"/>
          <p:cNvSpPr/>
          <p:nvPr/>
        </p:nvSpPr>
        <p:spPr bwMode="gray">
          <a:xfrm>
            <a:off x="704259" y="4136636"/>
            <a:ext cx="2027427" cy="748122"/>
          </a:xfrm>
          <a:prstGeom prst="rect">
            <a:avLst/>
          </a:prstGeom>
          <a:solidFill>
            <a:srgbClr val="9BD1EF"/>
          </a:solidFill>
          <a:ln w="19050" algn="ctr">
            <a:noFill/>
            <a:miter lim="800000"/>
            <a:headEnd/>
            <a:tailEnd/>
          </a:ln>
        </p:spPr>
        <p:txBody>
          <a:bodyPr wrap="square" lIns="76053" tIns="76053" rIns="76053" bIns="76053" rtlCol="0" anchor="ctr"/>
          <a:lstStyle/>
          <a:p>
            <a:pPr algn="ctr" defTabSz="914400">
              <a:defRPr/>
            </a:pPr>
            <a:r>
              <a:rPr lang="en-US" sz="1100" b="1" kern="0" dirty="0">
                <a:solidFill>
                  <a:prstClr val="black"/>
                </a:solidFill>
                <a:ea typeface="Verdana" panose="020B0604030504040204" pitchFamily="34" charset="0"/>
                <a:cs typeface="Verdana" panose="020B0604030504040204" pitchFamily="34" charset="0"/>
              </a:rPr>
              <a:t>Newly Created Generation Company/ Companies if any in future</a:t>
            </a:r>
            <a:endParaRPr lang="en-IN" sz="1100" b="1" kern="0" dirty="0">
              <a:solidFill>
                <a:prstClr val="black"/>
              </a:solidFill>
              <a:ea typeface="Verdana" panose="020B0604030504040204" pitchFamily="34" charset="0"/>
              <a:cs typeface="Verdana" panose="020B0604030504040204" pitchFamily="34" charset="0"/>
            </a:endParaRPr>
          </a:p>
        </p:txBody>
      </p:sp>
      <p:cxnSp>
        <p:nvCxnSpPr>
          <p:cNvPr id="46" name="Elbow Connector 45"/>
          <p:cNvCxnSpPr>
            <a:endCxn id="45" idx="1"/>
          </p:cNvCxnSpPr>
          <p:nvPr/>
        </p:nvCxnSpPr>
        <p:spPr>
          <a:xfrm rot="16200000" flipH="1">
            <a:off x="-631115" y="3175323"/>
            <a:ext cx="2424088" cy="246659"/>
          </a:xfrm>
          <a:prstGeom prst="bentConnector2">
            <a:avLst/>
          </a:prstGeom>
          <a:noFill/>
          <a:ln w="6350" cap="flat" cmpd="sng" algn="ctr">
            <a:solidFill>
              <a:srgbClr val="44546A"/>
            </a:solidFill>
            <a:prstDash val="solid"/>
            <a:miter lim="800000"/>
            <a:tailEnd type="triangle"/>
          </a:ln>
          <a:effectLst/>
        </p:spPr>
      </p:cxnSp>
      <p:sp>
        <p:nvSpPr>
          <p:cNvPr id="4" name="Rectangle 3"/>
          <p:cNvSpPr/>
          <p:nvPr/>
        </p:nvSpPr>
        <p:spPr>
          <a:xfrm>
            <a:off x="532637" y="4919228"/>
            <a:ext cx="9785952" cy="577081"/>
          </a:xfrm>
          <a:prstGeom prst="rect">
            <a:avLst/>
          </a:prstGeom>
          <a:ln>
            <a:noFill/>
          </a:ln>
        </p:spPr>
        <p:txBody>
          <a:bodyPr wrap="square">
            <a:spAutoFit/>
          </a:bodyPr>
          <a:lstStyle/>
          <a:p>
            <a:r>
              <a:rPr lang="en-US" sz="1050" dirty="0">
                <a:solidFill>
                  <a:srgbClr val="000000"/>
                </a:solidFill>
              </a:rPr>
              <a:t>*The holding company will undertake the economic merit order dispatch function. The technical system operation along with ensuring the system security will be undertaken by the existing System Operator (NLDC). The holding company while undertaking the economic merit order dispatch will coordinate with NLDC. </a:t>
            </a:r>
            <a:endParaRPr lang="en-IN" sz="1050" dirty="0"/>
          </a:p>
        </p:txBody>
      </p:sp>
    </p:spTree>
    <p:extLst>
      <p:ext uri="{BB962C8B-B14F-4D97-AF65-F5344CB8AC3E}">
        <p14:creationId xmlns:p14="http://schemas.microsoft.com/office/powerpoint/2010/main" val="199962335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8367" y="2468963"/>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p:txBody>
          <a:bodyPr/>
          <a:lstStyle/>
          <a:p>
            <a:r>
              <a:rPr lang="en-US" b="1" dirty="0"/>
              <a:t>Financial assessment of selected reform model and opportunity to unlock value for the holding company</a:t>
            </a:r>
            <a:endParaRPr lang="en-IN" b="1" dirty="0"/>
          </a:p>
        </p:txBody>
      </p:sp>
      <p:sp>
        <p:nvSpPr>
          <p:cNvPr id="28" name="Text Box 272"/>
          <p:cNvSpPr txBox="1"/>
          <p:nvPr/>
        </p:nvSpPr>
        <p:spPr>
          <a:xfrm>
            <a:off x="1177676" y="2329936"/>
            <a:ext cx="8367332" cy="236157"/>
          </a:xfrm>
          <a:prstGeom prst="rect">
            <a:avLst/>
          </a:prstGeom>
          <a:solidFill>
            <a:schemeClr val="bg1"/>
          </a:solidFill>
          <a:ln>
            <a:noFill/>
          </a:ln>
          <a:effectLst/>
        </p:spPr>
        <p:txBody>
          <a:bodyPr rot="0" spcFirstLastPara="0" vert="horz" wrap="square" lIns="0" tIns="0" rIns="0" bIns="0" numCol="1" spcCol="0" rtlCol="0" fromWordArt="0" anchor="t" anchorCtr="0" forceAA="0" compatLnSpc="1">
            <a:prstTxWarp prst="textNoShape">
              <a:avLst/>
            </a:prstTxWarp>
            <a:noAutofit/>
          </a:bodyPr>
          <a:lstStyle/>
          <a:p>
            <a:pPr marL="0" marR="0" lvl="0" indent="0" algn="ctr" defTabSz="1042873" rtl="0" eaLnBrk="1" fontAlgn="auto" latinLnBrk="0" hangingPunct="1">
              <a:lnSpc>
                <a:spcPct val="100000"/>
              </a:lnSpc>
              <a:spcBef>
                <a:spcPts val="0"/>
              </a:spcBef>
              <a:spcAft>
                <a:spcPts val="1000"/>
              </a:spcAft>
              <a:buClrTx/>
              <a:buSzTx/>
              <a:buFontTx/>
              <a:buNone/>
              <a:tabLst/>
              <a:defRPr/>
            </a:pPr>
            <a:r>
              <a:rPr kumimoji="0" lang="en-US" sz="1200" b="1" u="none" strike="noStrike" kern="1200" cap="none" spc="0" normalizeH="0" baseline="0" noProof="0" dirty="0">
                <a:ln>
                  <a:noFill/>
                </a:ln>
                <a:effectLst/>
                <a:uLnTx/>
                <a:uFillTx/>
                <a:latin typeface="Verdana"/>
                <a:ea typeface="Times" panose="02020603050405020304" pitchFamily="18" charset="0"/>
                <a:cs typeface="Arial" panose="020B0604020202020204" pitchFamily="34" charset="0"/>
              </a:rPr>
              <a:t>Estimated BST (</a:t>
            </a:r>
            <a:r>
              <a:rPr kumimoji="0" lang="en-US" sz="1200" b="1" u="none" strike="noStrike" kern="1200" cap="none" spc="0" normalizeH="0" baseline="0" noProof="0" dirty="0" err="1">
                <a:ln>
                  <a:noFill/>
                </a:ln>
                <a:effectLst/>
                <a:uLnTx/>
                <a:uFillTx/>
                <a:latin typeface="Verdana"/>
                <a:ea typeface="Times" panose="02020603050405020304" pitchFamily="18" charset="0"/>
                <a:cs typeface="Arial" panose="020B0604020202020204" pitchFamily="34" charset="0"/>
              </a:rPr>
              <a:t>Tk</a:t>
            </a:r>
            <a:r>
              <a:rPr kumimoji="0" lang="en-US" sz="1200" b="1" u="none" strike="noStrike" kern="1200" cap="none" spc="0" normalizeH="0" baseline="0" noProof="0" dirty="0">
                <a:ln>
                  <a:noFill/>
                </a:ln>
                <a:effectLst/>
                <a:uLnTx/>
                <a:uFillTx/>
                <a:latin typeface="Verdana"/>
                <a:ea typeface="Times" panose="02020603050405020304" pitchFamily="18" charset="0"/>
                <a:cs typeface="Arial" panose="020B0604020202020204" pitchFamily="34" charset="0"/>
              </a:rPr>
              <a:t>/KWh) required to achieve financial break-even of the holding company with and without value enablers</a:t>
            </a:r>
            <a:endParaRPr kumimoji="0" lang="en-IN" sz="1100" b="1" u="none" strike="noStrike" kern="1200" cap="none" spc="0" normalizeH="0" baseline="0" noProof="0" dirty="0">
              <a:ln>
                <a:noFill/>
              </a:ln>
              <a:effectLst/>
              <a:uLnTx/>
              <a:uFillTx/>
              <a:latin typeface="Verdana"/>
              <a:ea typeface="Times" panose="02020603050405020304" pitchFamily="18" charset="0"/>
              <a:cs typeface="Arial" panose="020B0604020202020204" pitchFamily="34" charset="0"/>
            </a:endParaRPr>
          </a:p>
        </p:txBody>
      </p:sp>
      <p:graphicFrame>
        <p:nvGraphicFramePr>
          <p:cNvPr id="9" name="Chart 8"/>
          <p:cNvGraphicFramePr/>
          <p:nvPr>
            <p:extLst>
              <p:ext uri="{D42A27DB-BD31-4B8C-83A1-F6EECF244321}">
                <p14:modId xmlns:p14="http://schemas.microsoft.com/office/powerpoint/2010/main" val="1602570074"/>
              </p:ext>
            </p:extLst>
          </p:nvPr>
        </p:nvGraphicFramePr>
        <p:xfrm>
          <a:off x="450549" y="2819269"/>
          <a:ext cx="9785951" cy="3737682"/>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p:cNvSpPr txBox="1"/>
          <p:nvPr/>
        </p:nvSpPr>
        <p:spPr>
          <a:xfrm>
            <a:off x="439793" y="1215474"/>
            <a:ext cx="9796707" cy="832731"/>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defPPr>
              <a:defRPr lang="en-US"/>
            </a:defPPr>
            <a:lvl1pPr algn="ctr">
              <a:lnSpc>
                <a:spcPct val="106000"/>
              </a:lnSpc>
              <a:buFont typeface="Wingdings 2" pitchFamily="18" charset="2"/>
              <a:buNone/>
              <a:defRPr sz="1200" b="1">
                <a:solidFill>
                  <a:prstClr val="white"/>
                </a:solidFill>
              </a:defRPr>
            </a:lvl1pPr>
          </a:lstStyle>
          <a:p>
            <a:pPr marL="171450" indent="-171450" algn="l">
              <a:spcBef>
                <a:spcPts val="600"/>
              </a:spcBef>
              <a:buFont typeface="Arial" panose="020B0604020202020204" pitchFamily="34" charset="0"/>
              <a:buChar char="•"/>
            </a:pPr>
            <a:r>
              <a:rPr lang="en-US" dirty="0">
                <a:solidFill>
                  <a:schemeClr val="tx1"/>
                </a:solidFill>
              </a:rPr>
              <a:t>We have proposed some Strategic Value Enablers for the holding company which will enable it to reduce the need for incremental tariff revisions from Government of Bangladesh.</a:t>
            </a:r>
          </a:p>
          <a:p>
            <a:pPr marL="171450" indent="-171450" algn="l">
              <a:spcBef>
                <a:spcPts val="600"/>
              </a:spcBef>
              <a:buFont typeface="Arial" panose="020B0604020202020204" pitchFamily="34" charset="0"/>
              <a:buChar char="•"/>
            </a:pPr>
            <a:r>
              <a:rPr lang="en-US" dirty="0">
                <a:solidFill>
                  <a:schemeClr val="tx1"/>
                </a:solidFill>
              </a:rPr>
              <a:t>The details of the proposed value enablers have been outlined in subsequent sections.</a:t>
            </a:r>
            <a:endParaRPr lang="en-IN" dirty="0">
              <a:solidFill>
                <a:schemeClr val="tx1"/>
              </a:solidFill>
            </a:endParaRPr>
          </a:p>
        </p:txBody>
      </p:sp>
      <p:sp>
        <p:nvSpPr>
          <p:cNvPr id="8" name="Rectangle 7"/>
          <p:cNvSpPr/>
          <p:nvPr/>
        </p:nvSpPr>
        <p:spPr bwMode="gray">
          <a:xfrm>
            <a:off x="389762" y="6695017"/>
            <a:ext cx="9835982" cy="424477"/>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The total subsidy requirement for the holding company during FY17-18 to FY20-21 is expected to be BDT 110 Billion which may be reduced to BDT 57 Billion upon implementation of the proposed value enablers</a:t>
            </a:r>
          </a:p>
        </p:txBody>
      </p:sp>
    </p:spTree>
    <p:extLst>
      <p:ext uri="{BB962C8B-B14F-4D97-AF65-F5344CB8AC3E}">
        <p14:creationId xmlns:p14="http://schemas.microsoft.com/office/powerpoint/2010/main" val="402226757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Proposed High Level Functional / Departmental Organogram of Holding Company</a:t>
            </a:r>
          </a:p>
        </p:txBody>
      </p:sp>
    </p:spTree>
    <p:extLst>
      <p:ext uri="{BB962C8B-B14F-4D97-AF65-F5344CB8AC3E}">
        <p14:creationId xmlns:p14="http://schemas.microsoft.com/office/powerpoint/2010/main" val="3001718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2"/>
          <p:cNvSpPr>
            <a:spLocks noChangeArrowheads="1"/>
          </p:cNvSpPr>
          <p:nvPr/>
        </p:nvSpPr>
        <p:spPr bwMode="auto">
          <a:xfrm>
            <a:off x="6590895" y="2330463"/>
            <a:ext cx="1874420" cy="460521"/>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Verdana"/>
                <a:ea typeface="+mn-ea"/>
                <a:cs typeface="Arial" pitchFamily="34" charset="0"/>
              </a:rPr>
              <a:t>Company Secretarial Services</a:t>
            </a:r>
          </a:p>
        </p:txBody>
      </p:sp>
      <p:sp>
        <p:nvSpPr>
          <p:cNvPr id="4" name="Title 2"/>
          <p:cNvSpPr>
            <a:spLocks noGrp="1"/>
          </p:cNvSpPr>
          <p:nvPr>
            <p:ph type="title"/>
          </p:nvPr>
        </p:nvSpPr>
        <p:spPr>
          <a:xfrm>
            <a:off x="439793" y="350131"/>
            <a:ext cx="9785951" cy="368439"/>
          </a:xfrm>
        </p:spPr>
        <p:txBody>
          <a:bodyPr/>
          <a:lstStyle/>
          <a:p>
            <a:pPr algn="just"/>
            <a:r>
              <a:rPr lang="en-US" sz="2000" b="1" dirty="0"/>
              <a:t>Proposed High-Level Functional / Departmental Organogram of Holding Company</a:t>
            </a:r>
            <a:endParaRPr lang="en-IN" sz="2000" b="1" dirty="0">
              <a:solidFill>
                <a:schemeClr val="accent1">
                  <a:lumMod val="75000"/>
                </a:schemeClr>
              </a:solidFill>
            </a:endParaRPr>
          </a:p>
        </p:txBody>
      </p:sp>
      <p:sp>
        <p:nvSpPr>
          <p:cNvPr id="5" name="Rectangle 2"/>
          <p:cNvSpPr>
            <a:spLocks noChangeArrowheads="1"/>
          </p:cNvSpPr>
          <p:nvPr/>
        </p:nvSpPr>
        <p:spPr bwMode="auto">
          <a:xfrm>
            <a:off x="4704818" y="1302575"/>
            <a:ext cx="1371599" cy="59504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Verdana"/>
                <a:ea typeface="+mn-ea"/>
                <a:cs typeface="Arial" pitchFamily="34" charset="0"/>
              </a:rPr>
              <a:t>Chairman</a:t>
            </a:r>
          </a:p>
        </p:txBody>
      </p:sp>
      <p:sp>
        <p:nvSpPr>
          <p:cNvPr id="6" name="Rectangle 2"/>
          <p:cNvSpPr>
            <a:spLocks noChangeArrowheads="1"/>
          </p:cNvSpPr>
          <p:nvPr/>
        </p:nvSpPr>
        <p:spPr bwMode="auto">
          <a:xfrm>
            <a:off x="439792" y="2335244"/>
            <a:ext cx="1659635" cy="460521"/>
          </a:xfrm>
          <a:prstGeom prst="rect">
            <a:avLst/>
          </a:prstGeom>
          <a:solidFill>
            <a:srgbClr val="C4D600"/>
          </a:solidFill>
          <a:ln w="9525" cap="flat" cmpd="sng" algn="ctr">
            <a:noFill/>
            <a:prstDash val="solid"/>
            <a:headEnd/>
            <a:tailEnd/>
          </a:ln>
          <a:effectLst/>
        </p:spPr>
        <p:txBody>
          <a:bodyPr vert="horz" wrap="square" lIns="91439" tIns="91439" rIns="91439" bIns="91439"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Verdana"/>
                <a:ea typeface="+mn-ea"/>
                <a:cs typeface="Arial" pitchFamily="34" charset="0"/>
              </a:rPr>
              <a:t>Public Relations</a:t>
            </a:r>
          </a:p>
        </p:txBody>
      </p:sp>
      <p:sp>
        <p:nvSpPr>
          <p:cNvPr id="7" name="Rectangle 2"/>
          <p:cNvSpPr>
            <a:spLocks noChangeArrowheads="1"/>
          </p:cNvSpPr>
          <p:nvPr/>
        </p:nvSpPr>
        <p:spPr bwMode="auto">
          <a:xfrm>
            <a:off x="2298572" y="2335243"/>
            <a:ext cx="1659635" cy="460521"/>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Verdana"/>
                <a:ea typeface="+mn-ea"/>
                <a:cs typeface="Arial" pitchFamily="34" charset="0"/>
              </a:rPr>
              <a:t>Legal Affairs</a:t>
            </a:r>
          </a:p>
        </p:txBody>
      </p:sp>
      <p:sp>
        <p:nvSpPr>
          <p:cNvPr id="8" name="Rectangle 2"/>
          <p:cNvSpPr>
            <a:spLocks noChangeArrowheads="1"/>
          </p:cNvSpPr>
          <p:nvPr/>
        </p:nvSpPr>
        <p:spPr bwMode="auto">
          <a:xfrm>
            <a:off x="8566144" y="2330463"/>
            <a:ext cx="1659600" cy="460521"/>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200" b="1" i="0" u="none" strike="noStrike" kern="0" cap="none" spc="0" normalizeH="0" baseline="0" noProof="0" dirty="0">
                <a:ln>
                  <a:noFill/>
                </a:ln>
                <a:solidFill>
                  <a:sysClr val="windowText" lastClr="000000"/>
                </a:solidFill>
                <a:effectLst/>
                <a:uLnTx/>
                <a:uFillTx/>
                <a:latin typeface="Verdana"/>
                <a:ea typeface="+mn-ea"/>
                <a:cs typeface="Arial" pitchFamily="34" charset="0"/>
              </a:rPr>
              <a:t>Performance Monitoring &amp; MIS</a:t>
            </a:r>
          </a:p>
        </p:txBody>
      </p:sp>
      <p:cxnSp>
        <p:nvCxnSpPr>
          <p:cNvPr id="10" name="Elbow Connector 9"/>
          <p:cNvCxnSpPr>
            <a:stCxn id="5" idx="2"/>
            <a:endCxn id="6" idx="0"/>
          </p:cNvCxnSpPr>
          <p:nvPr/>
        </p:nvCxnSpPr>
        <p:spPr>
          <a:xfrm rot="5400000">
            <a:off x="3111300" y="55926"/>
            <a:ext cx="437628" cy="4121008"/>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 name="Elbow Connector 11"/>
          <p:cNvCxnSpPr>
            <a:stCxn id="5" idx="2"/>
            <a:endCxn id="7" idx="0"/>
          </p:cNvCxnSpPr>
          <p:nvPr/>
        </p:nvCxnSpPr>
        <p:spPr>
          <a:xfrm rot="5400000">
            <a:off x="4040691" y="985315"/>
            <a:ext cx="437627" cy="2262228"/>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Elbow Connector 13"/>
          <p:cNvCxnSpPr>
            <a:stCxn id="5" idx="2"/>
            <a:endCxn id="8" idx="0"/>
          </p:cNvCxnSpPr>
          <p:nvPr/>
        </p:nvCxnSpPr>
        <p:spPr>
          <a:xfrm rot="16200000" flipH="1">
            <a:off x="7176858" y="111376"/>
            <a:ext cx="432847" cy="4005326"/>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grpSp>
        <p:nvGrpSpPr>
          <p:cNvPr id="2" name="Group 1"/>
          <p:cNvGrpSpPr/>
          <p:nvPr/>
        </p:nvGrpSpPr>
        <p:grpSpPr>
          <a:xfrm>
            <a:off x="7918532" y="6742617"/>
            <a:ext cx="2307212" cy="609946"/>
            <a:chOff x="6074788" y="6383191"/>
            <a:chExt cx="2307212" cy="609946"/>
          </a:xfrm>
        </p:grpSpPr>
        <p:sp>
          <p:nvSpPr>
            <p:cNvPr id="32" name="Rectangle 31"/>
            <p:cNvSpPr/>
            <p:nvPr/>
          </p:nvSpPr>
          <p:spPr>
            <a:xfrm>
              <a:off x="6074788" y="6764537"/>
              <a:ext cx="990600" cy="228600"/>
            </a:xfrm>
            <a:prstGeom prst="rect">
              <a:avLst/>
            </a:prstGeom>
            <a:solidFill>
              <a:srgbClr val="E3F3C5"/>
            </a:solidFill>
            <a:ln w="12700" cap="flat" cmpd="sng" algn="ctr">
              <a:solidFill>
                <a:srgbClr val="D1ECA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2"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extBox 33"/>
            <p:cNvSpPr txBox="1"/>
            <p:nvPr/>
          </p:nvSpPr>
          <p:spPr>
            <a:xfrm>
              <a:off x="7141589" y="6688337"/>
              <a:ext cx="124041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New Function</a:t>
              </a:r>
            </a:p>
          </p:txBody>
        </p:sp>
        <p:sp>
          <p:nvSpPr>
            <p:cNvPr id="36" name="Rectangle 35"/>
            <p:cNvSpPr/>
            <p:nvPr/>
          </p:nvSpPr>
          <p:spPr>
            <a:xfrm>
              <a:off x="6074788" y="6459391"/>
              <a:ext cx="990600" cy="228600"/>
            </a:xfrm>
            <a:prstGeom prst="rect">
              <a:avLst/>
            </a:prstGeom>
            <a:solidFill>
              <a:srgbClr val="C4D600"/>
            </a:solidFill>
            <a:ln w="12700" cap="flat" cmpd="sng" algn="ctr">
              <a:solidFill>
                <a:srgbClr val="C4D6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2"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TextBox 36"/>
            <p:cNvSpPr txBox="1"/>
            <p:nvPr/>
          </p:nvSpPr>
          <p:spPr>
            <a:xfrm>
              <a:off x="7141589" y="6383191"/>
              <a:ext cx="124041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Existing Function</a:t>
              </a:r>
            </a:p>
          </p:txBody>
        </p:sp>
      </p:grpSp>
      <p:cxnSp>
        <p:nvCxnSpPr>
          <p:cNvPr id="39" name="Elbow Connector 38"/>
          <p:cNvCxnSpPr>
            <a:stCxn id="5" idx="2"/>
            <a:endCxn id="26" idx="0"/>
          </p:cNvCxnSpPr>
          <p:nvPr/>
        </p:nvCxnSpPr>
        <p:spPr>
          <a:xfrm rot="5400000">
            <a:off x="3582725" y="1371595"/>
            <a:ext cx="1281873" cy="2333915"/>
          </a:xfrm>
          <a:prstGeom prst="bentConnector3">
            <a:avLst>
              <a:gd name="adj1" fmla="val 8270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2" name="Elbow Connector 41"/>
          <p:cNvCxnSpPr>
            <a:stCxn id="5" idx="2"/>
            <a:endCxn id="27" idx="0"/>
          </p:cNvCxnSpPr>
          <p:nvPr/>
        </p:nvCxnSpPr>
        <p:spPr>
          <a:xfrm rot="5400000">
            <a:off x="4163440" y="1957838"/>
            <a:ext cx="1287401" cy="1166956"/>
          </a:xfrm>
          <a:prstGeom prst="bentConnector3">
            <a:avLst>
              <a:gd name="adj1" fmla="val 82067"/>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4" name="Elbow Connector 43"/>
          <p:cNvCxnSpPr>
            <a:stCxn id="5" idx="2"/>
            <a:endCxn id="28" idx="0"/>
          </p:cNvCxnSpPr>
          <p:nvPr/>
        </p:nvCxnSpPr>
        <p:spPr>
          <a:xfrm rot="16200000" flipH="1">
            <a:off x="5328674" y="1959560"/>
            <a:ext cx="1290848" cy="1166960"/>
          </a:xfrm>
          <a:prstGeom prst="bentConnector3">
            <a:avLst>
              <a:gd name="adj1" fmla="val 81885"/>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6" name="Elbow Connector 45"/>
          <p:cNvCxnSpPr>
            <a:stCxn id="5" idx="2"/>
            <a:endCxn id="29" idx="0"/>
          </p:cNvCxnSpPr>
          <p:nvPr/>
        </p:nvCxnSpPr>
        <p:spPr>
          <a:xfrm rot="16200000" flipH="1">
            <a:off x="5915583" y="1372650"/>
            <a:ext cx="1283987" cy="2333917"/>
          </a:xfrm>
          <a:prstGeom prst="bentConnector3">
            <a:avLst>
              <a:gd name="adj1" fmla="val 82117"/>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9" name="Elbow Connector 48"/>
          <p:cNvCxnSpPr>
            <a:stCxn id="5" idx="2"/>
            <a:endCxn id="30" idx="0"/>
          </p:cNvCxnSpPr>
          <p:nvPr/>
        </p:nvCxnSpPr>
        <p:spPr>
          <a:xfrm rot="16200000" flipH="1">
            <a:off x="6493879" y="794355"/>
            <a:ext cx="1294352" cy="3500874"/>
          </a:xfrm>
          <a:prstGeom prst="bentConnector3">
            <a:avLst>
              <a:gd name="adj1" fmla="val 8158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1" name="Elbow Connector 50"/>
          <p:cNvCxnSpPr>
            <a:stCxn id="5" idx="2"/>
            <a:endCxn id="31" idx="0"/>
          </p:cNvCxnSpPr>
          <p:nvPr/>
        </p:nvCxnSpPr>
        <p:spPr>
          <a:xfrm rot="16200000" flipH="1">
            <a:off x="7081677" y="206556"/>
            <a:ext cx="1285712" cy="4667831"/>
          </a:xfrm>
          <a:prstGeom prst="bentConnector3">
            <a:avLst>
              <a:gd name="adj1" fmla="val 82074"/>
            </a:avLst>
          </a:prstGeom>
          <a:ln>
            <a:tailEnd type="triangle"/>
          </a:ln>
        </p:spPr>
        <p:style>
          <a:lnRef idx="1">
            <a:schemeClr val="accent3"/>
          </a:lnRef>
          <a:fillRef idx="0">
            <a:schemeClr val="accent3"/>
          </a:fillRef>
          <a:effectRef idx="0">
            <a:schemeClr val="accent3"/>
          </a:effectRef>
          <a:fontRef idx="minor">
            <a:schemeClr val="tx1"/>
          </a:fontRef>
        </p:style>
      </p:cxnSp>
      <p:sp>
        <p:nvSpPr>
          <p:cNvPr id="26" name="Rectangle 2"/>
          <p:cNvSpPr>
            <a:spLocks noChangeArrowheads="1"/>
          </p:cNvSpPr>
          <p:nvPr/>
        </p:nvSpPr>
        <p:spPr bwMode="auto">
          <a:xfrm>
            <a:off x="2517819" y="3179489"/>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Human Capital</a:t>
            </a:r>
          </a:p>
        </p:txBody>
      </p:sp>
      <p:sp>
        <p:nvSpPr>
          <p:cNvPr id="27" name="Rectangle 2"/>
          <p:cNvSpPr>
            <a:spLocks noChangeArrowheads="1"/>
          </p:cNvSpPr>
          <p:nvPr/>
        </p:nvSpPr>
        <p:spPr bwMode="auto">
          <a:xfrm>
            <a:off x="3684778" y="3185017"/>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Finance &amp; Accounts</a:t>
            </a:r>
          </a:p>
        </p:txBody>
      </p:sp>
      <p:sp>
        <p:nvSpPr>
          <p:cNvPr id="28" name="Rectangle 2"/>
          <p:cNvSpPr>
            <a:spLocks noChangeArrowheads="1"/>
          </p:cNvSpPr>
          <p:nvPr/>
        </p:nvSpPr>
        <p:spPr bwMode="auto">
          <a:xfrm>
            <a:off x="6018694" y="3188464"/>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Commercial, Regulatory &amp; Bulk Supply</a:t>
            </a:r>
          </a:p>
        </p:txBody>
      </p:sp>
      <p:sp>
        <p:nvSpPr>
          <p:cNvPr id="29" name="Rectangle 2"/>
          <p:cNvSpPr>
            <a:spLocks noChangeArrowheads="1"/>
          </p:cNvSpPr>
          <p:nvPr/>
        </p:nvSpPr>
        <p:spPr bwMode="auto">
          <a:xfrm>
            <a:off x="7185651" y="3181603"/>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Planning &amp; Project Management</a:t>
            </a:r>
          </a:p>
        </p:txBody>
      </p:sp>
      <p:sp>
        <p:nvSpPr>
          <p:cNvPr id="30" name="Rectangle 2"/>
          <p:cNvSpPr>
            <a:spLocks noChangeArrowheads="1"/>
          </p:cNvSpPr>
          <p:nvPr/>
        </p:nvSpPr>
        <p:spPr bwMode="auto">
          <a:xfrm>
            <a:off x="8352608" y="3191968"/>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Power Procurement</a:t>
            </a:r>
          </a:p>
        </p:txBody>
      </p:sp>
      <p:sp>
        <p:nvSpPr>
          <p:cNvPr id="31" name="Rectangle 2"/>
          <p:cNvSpPr>
            <a:spLocks noChangeArrowheads="1"/>
          </p:cNvSpPr>
          <p:nvPr/>
        </p:nvSpPr>
        <p:spPr bwMode="auto">
          <a:xfrm>
            <a:off x="9519565" y="3183328"/>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Generation</a:t>
            </a:r>
          </a:p>
        </p:txBody>
      </p:sp>
      <p:sp>
        <p:nvSpPr>
          <p:cNvPr id="38" name="Rectangle 2"/>
          <p:cNvSpPr>
            <a:spLocks noChangeArrowheads="1"/>
          </p:cNvSpPr>
          <p:nvPr/>
        </p:nvSpPr>
        <p:spPr bwMode="auto">
          <a:xfrm>
            <a:off x="4851735" y="3186739"/>
            <a:ext cx="1077767" cy="720000"/>
          </a:xfrm>
          <a:prstGeom prst="rect">
            <a:avLst/>
          </a:prstGeom>
          <a:solidFill>
            <a:srgbClr val="C4D600"/>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Electricity Retail Supply</a:t>
            </a:r>
          </a:p>
        </p:txBody>
      </p:sp>
      <p:cxnSp>
        <p:nvCxnSpPr>
          <p:cNvPr id="40" name="Elbow Connector 39"/>
          <p:cNvCxnSpPr>
            <a:stCxn id="5" idx="2"/>
            <a:endCxn id="38" idx="0"/>
          </p:cNvCxnSpPr>
          <p:nvPr/>
        </p:nvCxnSpPr>
        <p:spPr>
          <a:xfrm rot="16200000" flipH="1">
            <a:off x="4746057" y="2542176"/>
            <a:ext cx="1289123" cy="1"/>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5" name="Elbow Connector 44"/>
          <p:cNvCxnSpPr>
            <a:stCxn id="5" idx="2"/>
            <a:endCxn id="43" idx="0"/>
          </p:cNvCxnSpPr>
          <p:nvPr/>
        </p:nvCxnSpPr>
        <p:spPr>
          <a:xfrm rot="16200000" flipH="1">
            <a:off x="6242938" y="1045295"/>
            <a:ext cx="432847" cy="2137487"/>
          </a:xfrm>
          <a:prstGeom prst="bentConnector3">
            <a:avLst>
              <a:gd name="adj1" fmla="val 50000"/>
            </a:avLst>
          </a:prstGeom>
          <a:ln>
            <a:tailEnd type="triangle"/>
          </a:ln>
        </p:spPr>
        <p:style>
          <a:lnRef idx="1">
            <a:schemeClr val="accent3"/>
          </a:lnRef>
          <a:fillRef idx="0">
            <a:schemeClr val="accent3"/>
          </a:fillRef>
          <a:effectRef idx="0">
            <a:schemeClr val="accent3"/>
          </a:effectRef>
          <a:fontRef idx="minor">
            <a:schemeClr val="tx1"/>
          </a:fontRef>
        </p:style>
      </p:cxnSp>
      <p:sp>
        <p:nvSpPr>
          <p:cNvPr id="47" name="Rectangle 2"/>
          <p:cNvSpPr>
            <a:spLocks noChangeArrowheads="1"/>
          </p:cNvSpPr>
          <p:nvPr/>
        </p:nvSpPr>
        <p:spPr bwMode="auto">
          <a:xfrm>
            <a:off x="183902" y="3176491"/>
            <a:ext cx="1077767" cy="7200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O&amp;M Asset Management</a:t>
            </a:r>
          </a:p>
        </p:txBody>
      </p:sp>
      <p:sp>
        <p:nvSpPr>
          <p:cNvPr id="48" name="Rectangle 2"/>
          <p:cNvSpPr>
            <a:spLocks noChangeArrowheads="1"/>
          </p:cNvSpPr>
          <p:nvPr/>
        </p:nvSpPr>
        <p:spPr bwMode="auto">
          <a:xfrm>
            <a:off x="1350862" y="3178123"/>
            <a:ext cx="1077767" cy="720000"/>
          </a:xfrm>
          <a:prstGeom prst="rect">
            <a:avLst/>
          </a:prstGeom>
          <a:solidFill>
            <a:srgbClr val="E3F3C5"/>
          </a:solidFill>
          <a:ln w="9525" cap="flat" cmpd="sng" algn="ctr">
            <a:noFill/>
            <a:prstDash val="solid"/>
            <a:headEnd/>
            <a:tailEnd/>
          </a:ln>
          <a:effectLst/>
        </p:spPr>
        <p:txBody>
          <a:bodyPr vert="horz"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Verdana"/>
                <a:ea typeface="+mn-ea"/>
                <a:cs typeface="Arial" pitchFamily="34" charset="0"/>
              </a:rPr>
              <a:t>Technical Services</a:t>
            </a:r>
          </a:p>
        </p:txBody>
      </p:sp>
      <p:cxnSp>
        <p:nvCxnSpPr>
          <p:cNvPr id="52" name="Elbow Connector 51"/>
          <p:cNvCxnSpPr>
            <a:stCxn id="5" idx="2"/>
            <a:endCxn id="47" idx="0"/>
          </p:cNvCxnSpPr>
          <p:nvPr/>
        </p:nvCxnSpPr>
        <p:spPr>
          <a:xfrm rot="5400000">
            <a:off x="2417265" y="203137"/>
            <a:ext cx="1278875" cy="4667832"/>
          </a:xfrm>
          <a:prstGeom prst="bentConnector3">
            <a:avLst>
              <a:gd name="adj1" fmla="val 8276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3" name="Elbow Connector 52"/>
          <p:cNvCxnSpPr>
            <a:stCxn id="5" idx="2"/>
            <a:endCxn id="48" idx="0"/>
          </p:cNvCxnSpPr>
          <p:nvPr/>
        </p:nvCxnSpPr>
        <p:spPr>
          <a:xfrm rot="5400000">
            <a:off x="2999929" y="787433"/>
            <a:ext cx="1280507" cy="3500872"/>
          </a:xfrm>
          <a:prstGeom prst="bentConnector3">
            <a:avLst>
              <a:gd name="adj1" fmla="val 82554"/>
            </a:avLst>
          </a:prstGeom>
          <a:ln>
            <a:tailEnd type="triangle"/>
          </a:ln>
        </p:spPr>
        <p:style>
          <a:lnRef idx="1">
            <a:schemeClr val="accent3"/>
          </a:lnRef>
          <a:fillRef idx="0">
            <a:schemeClr val="accent3"/>
          </a:fillRef>
          <a:effectRef idx="0">
            <a:schemeClr val="accent3"/>
          </a:effectRef>
          <a:fontRef idx="minor">
            <a:schemeClr val="tx1"/>
          </a:fontRef>
        </p:style>
      </p:cxnSp>
      <p:sp>
        <p:nvSpPr>
          <p:cNvPr id="97" name="TextBox 96"/>
          <p:cNvSpPr txBox="1"/>
          <p:nvPr/>
        </p:nvSpPr>
        <p:spPr>
          <a:xfrm>
            <a:off x="183902" y="4461207"/>
            <a:ext cx="10413430" cy="1566546"/>
          </a:xfrm>
          <a:prstGeom prst="rect">
            <a:avLst/>
          </a:prstGeom>
          <a:solidFill>
            <a:schemeClr val="accent1">
              <a:lumMod val="20000"/>
              <a:lumOff val="80000"/>
            </a:schemeClr>
          </a:solidFill>
        </p:spPr>
        <p:txBody>
          <a:bodyPr wrap="square" lIns="72000" tIns="72000" rIns="72000" bIns="72000" rtlCol="0" anchor="ctr">
            <a:noAutofit/>
          </a:bodyPr>
          <a:lstStyle/>
          <a:p>
            <a:pPr marL="144000" indent="-144000">
              <a:spcBef>
                <a:spcPts val="600"/>
              </a:spcBef>
              <a:buSzPct val="100000"/>
              <a:buFont typeface="Arial" panose="020B0604020202020204" pitchFamily="34" charset="0"/>
              <a:buChar char="•"/>
            </a:pPr>
            <a:r>
              <a:rPr lang="en-US" sz="1200" dirty="0">
                <a:solidFill>
                  <a:srgbClr val="313131"/>
                </a:solidFill>
              </a:rPr>
              <a:t>The holding company will </a:t>
            </a:r>
            <a:r>
              <a:rPr lang="en-US" sz="1200" b="1" dirty="0">
                <a:solidFill>
                  <a:srgbClr val="313131"/>
                </a:solidFill>
              </a:rPr>
              <a:t>continue to execute all the functions of BPDB. </a:t>
            </a:r>
          </a:p>
          <a:p>
            <a:pPr marL="144000" indent="-144000">
              <a:spcBef>
                <a:spcPts val="600"/>
              </a:spcBef>
              <a:buSzPct val="100000"/>
              <a:buFont typeface="Arial" panose="020B0604020202020204" pitchFamily="34" charset="0"/>
              <a:buChar char="•"/>
            </a:pPr>
            <a:r>
              <a:rPr lang="en-US" sz="1200" dirty="0">
                <a:solidFill>
                  <a:srgbClr val="313131"/>
                </a:solidFill>
              </a:rPr>
              <a:t>To ensure financial sustainability &amp; compliance to corporate laws, it will have to </a:t>
            </a:r>
            <a:r>
              <a:rPr lang="en-US" sz="1200" b="1" dirty="0">
                <a:solidFill>
                  <a:srgbClr val="313131"/>
                </a:solidFill>
              </a:rPr>
              <a:t>strengthen some of its existing functions. </a:t>
            </a:r>
          </a:p>
          <a:p>
            <a:pPr marL="144000" indent="-144000">
              <a:spcBef>
                <a:spcPts val="600"/>
              </a:spcBef>
              <a:buSzPct val="100000"/>
              <a:buFont typeface="Arial" panose="020B0604020202020204" pitchFamily="34" charset="0"/>
              <a:buChar char="•"/>
            </a:pPr>
            <a:r>
              <a:rPr lang="en-US" sz="1200" dirty="0">
                <a:solidFill>
                  <a:srgbClr val="313131"/>
                </a:solidFill>
              </a:rPr>
              <a:t>The holding company will also </a:t>
            </a:r>
            <a:r>
              <a:rPr lang="en-US" sz="1200" b="1" dirty="0">
                <a:solidFill>
                  <a:srgbClr val="313131"/>
                </a:solidFill>
              </a:rPr>
              <a:t>undertake some new functions </a:t>
            </a:r>
            <a:r>
              <a:rPr lang="en-US" sz="1200" dirty="0">
                <a:solidFill>
                  <a:srgbClr val="313131"/>
                </a:solidFill>
              </a:rPr>
              <a:t>as it evolves into a corporatized entity with subsidiaries under its fold.</a:t>
            </a:r>
          </a:p>
          <a:p>
            <a:pPr marL="144000" indent="-144000">
              <a:spcBef>
                <a:spcPts val="600"/>
              </a:spcBef>
              <a:buSzPct val="100000"/>
              <a:buFont typeface="Arial" panose="020B0604020202020204" pitchFamily="34" charset="0"/>
              <a:buChar char="•"/>
            </a:pPr>
            <a:r>
              <a:rPr lang="en-US" sz="1200" dirty="0">
                <a:solidFill>
                  <a:srgbClr val="313131"/>
                </a:solidFill>
              </a:rPr>
              <a:t>The details of the existing functional strengthening and introduction of new functional areas have been provided in the subsequent slides</a:t>
            </a:r>
            <a:endParaRPr lang="en-IN" sz="1200" dirty="0">
              <a:solidFill>
                <a:srgbClr val="313131"/>
              </a:solidFill>
            </a:endParaRPr>
          </a:p>
        </p:txBody>
      </p:sp>
    </p:spTree>
    <p:extLst>
      <p:ext uri="{BB962C8B-B14F-4D97-AF65-F5344CB8AC3E}">
        <p14:creationId xmlns:p14="http://schemas.microsoft.com/office/powerpoint/2010/main" val="1351139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pPr algn="just"/>
            <a:r>
              <a:rPr lang="en-US" sz="2000" b="1" dirty="0"/>
              <a:t>Proposed strengthening of functional areas</a:t>
            </a:r>
            <a:endParaRPr lang="en-IN" sz="2000" b="1" dirty="0">
              <a:solidFill>
                <a:schemeClr val="accent1">
                  <a:lumMod val="75000"/>
                </a:schemeClr>
              </a:solidFill>
            </a:endParaRPr>
          </a:p>
        </p:txBody>
      </p:sp>
      <p:cxnSp>
        <p:nvCxnSpPr>
          <p:cNvPr id="5" name="Straight Connector 4"/>
          <p:cNvCxnSpPr/>
          <p:nvPr/>
        </p:nvCxnSpPr>
        <p:spPr>
          <a:xfrm>
            <a:off x="462630" y="980631"/>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113113" y="883402"/>
            <a:ext cx="6485454" cy="184666"/>
          </a:xfrm>
          <a:prstGeom prst="rect">
            <a:avLst/>
          </a:prstGeom>
          <a:solidFill>
            <a:schemeClr val="bg1"/>
          </a:solidFill>
        </p:spPr>
        <p:txBody>
          <a:bodyPr wrap="square" lIns="0" tIns="0" rIns="0" bIns="0" rtlCol="0">
            <a:spAutoFit/>
          </a:bodyPr>
          <a:lstStyle/>
          <a:p>
            <a:pPr algn="ctr">
              <a:spcAft>
                <a:spcPts val="1000"/>
              </a:spcAft>
            </a:pPr>
            <a:r>
              <a:rPr lang="en-US" sz="1200" b="1" dirty="0">
                <a:solidFill>
                  <a:prstClr val="black"/>
                </a:solidFill>
              </a:rPr>
              <a:t>Proposed functional areas which require strengthening</a:t>
            </a:r>
            <a:endParaRPr lang="en-IN" sz="1200" b="1" dirty="0">
              <a:solidFill>
                <a:prstClr val="black"/>
              </a:solidFill>
            </a:endParaRPr>
          </a:p>
        </p:txBody>
      </p:sp>
      <p:sp>
        <p:nvSpPr>
          <p:cNvPr id="7" name="Freeform 6"/>
          <p:cNvSpPr/>
          <p:nvPr/>
        </p:nvSpPr>
        <p:spPr>
          <a:xfrm>
            <a:off x="435201" y="3853551"/>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Planning &amp; Project Management</a:t>
            </a:r>
            <a:endParaRPr lang="en-IN" sz="1200" b="1" dirty="0">
              <a:solidFill>
                <a:schemeClr val="tx1"/>
              </a:solidFill>
            </a:endParaRPr>
          </a:p>
        </p:txBody>
      </p:sp>
      <p:sp>
        <p:nvSpPr>
          <p:cNvPr id="8" name="Rectangle 7"/>
          <p:cNvSpPr/>
          <p:nvPr/>
        </p:nvSpPr>
        <p:spPr>
          <a:xfrm>
            <a:off x="433891" y="4403894"/>
            <a:ext cx="2674216" cy="2014544"/>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System Planning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R&amp;D</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Project Planning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Project Coordination &amp; Monitoring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Contract Management</a:t>
            </a:r>
          </a:p>
          <a:p>
            <a:pPr>
              <a:spcBef>
                <a:spcPts val="600"/>
              </a:spcBef>
              <a:buSzPct val="100000"/>
            </a:pPr>
            <a:endParaRPr lang="en-IN" sz="1200" dirty="0">
              <a:solidFill>
                <a:prstClr val="black">
                  <a:hueOff val="0"/>
                  <a:satOff val="0"/>
                  <a:lumOff val="0"/>
                  <a:alphaOff val="0"/>
                </a:prstClr>
              </a:solidFill>
            </a:endParaRPr>
          </a:p>
        </p:txBody>
      </p:sp>
      <p:sp>
        <p:nvSpPr>
          <p:cNvPr id="9" name="Freeform 8"/>
          <p:cNvSpPr/>
          <p:nvPr/>
        </p:nvSpPr>
        <p:spPr>
          <a:xfrm>
            <a:off x="7545626" y="3853551"/>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Generation</a:t>
            </a:r>
            <a:endParaRPr lang="en-IN" sz="1200" b="1" dirty="0">
              <a:solidFill>
                <a:schemeClr val="tx1"/>
              </a:solidFill>
            </a:endParaRPr>
          </a:p>
        </p:txBody>
      </p:sp>
      <p:sp>
        <p:nvSpPr>
          <p:cNvPr id="10" name="Rectangle 9"/>
          <p:cNvSpPr/>
          <p:nvPr/>
        </p:nvSpPr>
        <p:spPr>
          <a:xfrm>
            <a:off x="7544316" y="4403894"/>
            <a:ext cx="2674216" cy="2014544"/>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Power Plant / SBU / SBUs O&amp;M activities</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All ancillary activities under Generation</a:t>
            </a:r>
            <a:endParaRPr lang="en-IN" sz="1200" dirty="0">
              <a:solidFill>
                <a:prstClr val="black">
                  <a:hueOff val="0"/>
                  <a:satOff val="0"/>
                  <a:lumOff val="0"/>
                  <a:alphaOff val="0"/>
                </a:prstClr>
              </a:solidFill>
            </a:endParaRPr>
          </a:p>
        </p:txBody>
      </p:sp>
      <p:sp>
        <p:nvSpPr>
          <p:cNvPr id="11" name="Freeform 10"/>
          <p:cNvSpPr/>
          <p:nvPr/>
        </p:nvSpPr>
        <p:spPr>
          <a:xfrm>
            <a:off x="436511" y="1288664"/>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Human Capital</a:t>
            </a:r>
            <a:endParaRPr lang="en-IN" sz="1200" b="1" dirty="0">
              <a:solidFill>
                <a:schemeClr val="tx1"/>
              </a:solidFill>
            </a:endParaRPr>
          </a:p>
        </p:txBody>
      </p:sp>
      <p:sp>
        <p:nvSpPr>
          <p:cNvPr id="12" name="Rectangle 11"/>
          <p:cNvSpPr/>
          <p:nvPr/>
        </p:nvSpPr>
        <p:spPr>
          <a:xfrm>
            <a:off x="435201" y="1839007"/>
            <a:ext cx="2674216" cy="181667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HR Management</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Performance Management</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Manpower Planning</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HR Policy Management</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Labor &amp; Welfare</a:t>
            </a:r>
          </a:p>
        </p:txBody>
      </p:sp>
      <p:sp>
        <p:nvSpPr>
          <p:cNvPr id="13" name="Freeform 12"/>
          <p:cNvSpPr/>
          <p:nvPr/>
        </p:nvSpPr>
        <p:spPr>
          <a:xfrm>
            <a:off x="3989103" y="1288664"/>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Finance &amp; Accounts</a:t>
            </a:r>
            <a:endParaRPr lang="en-IN" sz="1200" b="1" dirty="0">
              <a:solidFill>
                <a:schemeClr val="tx1"/>
              </a:solidFill>
            </a:endParaRPr>
          </a:p>
        </p:txBody>
      </p:sp>
      <p:sp>
        <p:nvSpPr>
          <p:cNvPr id="14" name="Rectangle 13"/>
          <p:cNvSpPr/>
          <p:nvPr/>
        </p:nvSpPr>
        <p:spPr>
          <a:xfrm>
            <a:off x="3987793" y="1839007"/>
            <a:ext cx="2674216" cy="181667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Holding Company Accounting Process</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Pension &amp; PF Management</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Payroll Management</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Budgeting &amp; Resources</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Holding Company Finance</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Procurement</a:t>
            </a:r>
            <a:endParaRPr lang="en-IN" sz="1200" dirty="0">
              <a:solidFill>
                <a:prstClr val="black">
                  <a:hueOff val="0"/>
                  <a:satOff val="0"/>
                  <a:lumOff val="0"/>
                  <a:alphaOff val="0"/>
                </a:prstClr>
              </a:solidFill>
            </a:endParaRPr>
          </a:p>
        </p:txBody>
      </p:sp>
      <p:sp>
        <p:nvSpPr>
          <p:cNvPr id="15" name="Freeform 14"/>
          <p:cNvSpPr/>
          <p:nvPr/>
        </p:nvSpPr>
        <p:spPr>
          <a:xfrm>
            <a:off x="7546936" y="1288664"/>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945677">
              <a:buSzPct val="100000"/>
            </a:pPr>
            <a:r>
              <a:rPr lang="en-US" sz="1200" b="1" dirty="0">
                <a:solidFill>
                  <a:schemeClr val="tx1"/>
                </a:solidFill>
              </a:rPr>
              <a:t>Commercial, Regulatory &amp; Bulk Sales</a:t>
            </a:r>
            <a:endParaRPr lang="en-IN" sz="1200" b="1" dirty="0">
              <a:solidFill>
                <a:schemeClr val="tx1"/>
              </a:solidFill>
            </a:endParaRPr>
          </a:p>
        </p:txBody>
      </p:sp>
      <p:sp>
        <p:nvSpPr>
          <p:cNvPr id="16" name="Rectangle 15"/>
          <p:cNvSpPr/>
          <p:nvPr/>
        </p:nvSpPr>
        <p:spPr>
          <a:xfrm>
            <a:off x="7545626" y="1839007"/>
            <a:ext cx="2674216" cy="181667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Subsidy management</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ICT</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Bulk Sales Meter Reading, Billing &amp; Collection</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endParaRPr lang="en-IN" sz="1200" dirty="0">
              <a:solidFill>
                <a:prstClr val="black">
                  <a:hueOff val="0"/>
                  <a:satOff val="0"/>
                  <a:lumOff val="0"/>
                  <a:alphaOff val="0"/>
                </a:prstClr>
              </a:solidFill>
            </a:endParaRPr>
          </a:p>
        </p:txBody>
      </p:sp>
      <p:sp>
        <p:nvSpPr>
          <p:cNvPr id="17" name="Freeform 16"/>
          <p:cNvSpPr/>
          <p:nvPr/>
        </p:nvSpPr>
        <p:spPr>
          <a:xfrm>
            <a:off x="3986483" y="3853551"/>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Power Procurement Management</a:t>
            </a:r>
            <a:endParaRPr lang="en-IN" sz="1200" b="1" dirty="0">
              <a:solidFill>
                <a:schemeClr val="tx1"/>
              </a:solidFill>
            </a:endParaRPr>
          </a:p>
        </p:txBody>
      </p:sp>
      <p:sp>
        <p:nvSpPr>
          <p:cNvPr id="18" name="Rectangle 17"/>
          <p:cNvSpPr/>
          <p:nvPr/>
        </p:nvSpPr>
        <p:spPr>
          <a:xfrm>
            <a:off x="3985173" y="4403894"/>
            <a:ext cx="2674216" cy="2014544"/>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SBU Coordination &amp; Contract Management</a:t>
            </a:r>
            <a:endParaRPr lang="en-IN" sz="1200" dirty="0">
              <a:solidFill>
                <a:prstClr val="black">
                  <a:hueOff val="0"/>
                  <a:satOff val="0"/>
                  <a:lumOff val="0"/>
                  <a:alphaOff val="0"/>
                </a:prstClr>
              </a:solidFill>
            </a:endParaRPr>
          </a:p>
        </p:txBody>
      </p:sp>
      <p:sp>
        <p:nvSpPr>
          <p:cNvPr id="19" name="Rectangle 18"/>
          <p:cNvSpPr/>
          <p:nvPr/>
        </p:nvSpPr>
        <p:spPr bwMode="gray">
          <a:xfrm>
            <a:off x="433890" y="6561173"/>
            <a:ext cx="9784642" cy="760002"/>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The holding company would need to strengthen its existing functions to ensure compliance to corporate laws and implement performance improvement measures for financial sustainability of the company</a:t>
            </a:r>
          </a:p>
        </p:txBody>
      </p:sp>
    </p:spTree>
    <p:extLst>
      <p:ext uri="{BB962C8B-B14F-4D97-AF65-F5344CB8AC3E}">
        <p14:creationId xmlns:p14="http://schemas.microsoft.com/office/powerpoint/2010/main" val="1211697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439793" y="350131"/>
            <a:ext cx="9785951" cy="368439"/>
          </a:xfrm>
        </p:spPr>
        <p:txBody>
          <a:bodyPr/>
          <a:lstStyle/>
          <a:p>
            <a:pPr algn="just"/>
            <a:r>
              <a:rPr lang="en-US" sz="2000" b="1" dirty="0"/>
              <a:t>Proposed new functional areas for holding company</a:t>
            </a:r>
            <a:endParaRPr lang="en-IN" sz="2000" b="1" dirty="0">
              <a:solidFill>
                <a:schemeClr val="accent1">
                  <a:lumMod val="75000"/>
                </a:schemeClr>
              </a:solidFill>
            </a:endParaRPr>
          </a:p>
        </p:txBody>
      </p:sp>
      <p:sp>
        <p:nvSpPr>
          <p:cNvPr id="5" name="Freeform 4"/>
          <p:cNvSpPr/>
          <p:nvPr/>
        </p:nvSpPr>
        <p:spPr>
          <a:xfrm>
            <a:off x="437821" y="127913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O&amp;M Asset Management</a:t>
            </a:r>
            <a:endParaRPr lang="en-IN" sz="1200" b="1" dirty="0">
              <a:solidFill>
                <a:schemeClr val="tx1"/>
              </a:solidFill>
            </a:endParaRPr>
          </a:p>
        </p:txBody>
      </p:sp>
      <p:sp>
        <p:nvSpPr>
          <p:cNvPr id="6" name="Rectangle 5"/>
          <p:cNvSpPr/>
          <p:nvPr/>
        </p:nvSpPr>
        <p:spPr>
          <a:xfrm>
            <a:off x="436511" y="1829482"/>
            <a:ext cx="2674216" cy="1464201"/>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Operational Support Services</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Maintenance Support Services</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Efficiency &amp; Performance Management Services</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LTSA Support</a:t>
            </a:r>
          </a:p>
        </p:txBody>
      </p:sp>
      <p:sp>
        <p:nvSpPr>
          <p:cNvPr id="12" name="Freeform 11"/>
          <p:cNvSpPr/>
          <p:nvPr/>
        </p:nvSpPr>
        <p:spPr>
          <a:xfrm>
            <a:off x="3990413" y="127913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Technical Services &amp; Human Capital</a:t>
            </a:r>
            <a:endParaRPr lang="en-IN" sz="1200" b="1" dirty="0">
              <a:solidFill>
                <a:schemeClr val="tx1"/>
              </a:solidFill>
            </a:endParaRPr>
          </a:p>
        </p:txBody>
      </p:sp>
      <p:sp>
        <p:nvSpPr>
          <p:cNvPr id="13" name="Rectangle 12"/>
          <p:cNvSpPr/>
          <p:nvPr/>
        </p:nvSpPr>
        <p:spPr>
          <a:xfrm>
            <a:off x="3989103" y="1829482"/>
            <a:ext cx="2674216" cy="1464201"/>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Engineering Consultancy Services</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Group HR Administration</a:t>
            </a:r>
            <a:endParaRPr lang="en-IN" sz="1200" dirty="0">
              <a:solidFill>
                <a:prstClr val="black">
                  <a:hueOff val="0"/>
                  <a:satOff val="0"/>
                  <a:lumOff val="0"/>
                  <a:alphaOff val="0"/>
                </a:prstClr>
              </a:solidFill>
            </a:endParaRPr>
          </a:p>
        </p:txBody>
      </p:sp>
      <p:sp>
        <p:nvSpPr>
          <p:cNvPr id="14" name="Freeform 13"/>
          <p:cNvSpPr/>
          <p:nvPr/>
        </p:nvSpPr>
        <p:spPr>
          <a:xfrm>
            <a:off x="7548246" y="127913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945677">
              <a:buSzPct val="100000"/>
            </a:pPr>
            <a:r>
              <a:rPr lang="en-US" sz="1200" b="1" dirty="0">
                <a:solidFill>
                  <a:schemeClr val="tx1"/>
                </a:solidFill>
              </a:rPr>
              <a:t>Finance &amp; Accounts</a:t>
            </a:r>
            <a:endParaRPr lang="en-IN" sz="1200" b="1" dirty="0">
              <a:solidFill>
                <a:schemeClr val="tx1"/>
              </a:solidFill>
            </a:endParaRPr>
          </a:p>
        </p:txBody>
      </p:sp>
      <p:sp>
        <p:nvSpPr>
          <p:cNvPr id="15" name="Rectangle 14"/>
          <p:cNvSpPr/>
          <p:nvPr/>
        </p:nvSpPr>
        <p:spPr>
          <a:xfrm>
            <a:off x="7546936" y="1829482"/>
            <a:ext cx="2674216" cy="1464201"/>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Group Accounts Consolidation &amp; MIS Reporting</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Group Financing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SBU Finance Monitoring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Strategic Investment Management &amp; Planning</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endParaRPr lang="en-IN" sz="1200" dirty="0">
              <a:solidFill>
                <a:prstClr val="black">
                  <a:hueOff val="0"/>
                  <a:satOff val="0"/>
                  <a:lumOff val="0"/>
                  <a:alphaOff val="0"/>
                </a:prstClr>
              </a:solidFill>
            </a:endParaRPr>
          </a:p>
        </p:txBody>
      </p:sp>
      <p:sp>
        <p:nvSpPr>
          <p:cNvPr id="20" name="Freeform 19"/>
          <p:cNvSpPr/>
          <p:nvPr/>
        </p:nvSpPr>
        <p:spPr>
          <a:xfrm>
            <a:off x="435201" y="3877479"/>
            <a:ext cx="2674216" cy="660466"/>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Commercial, Regulatory &amp; Bulk Sales</a:t>
            </a:r>
            <a:endParaRPr lang="en-IN" sz="1200" b="1" dirty="0">
              <a:solidFill>
                <a:schemeClr val="tx1"/>
              </a:solidFill>
            </a:endParaRPr>
          </a:p>
        </p:txBody>
      </p:sp>
      <p:sp>
        <p:nvSpPr>
          <p:cNvPr id="21" name="Rectangle 20"/>
          <p:cNvSpPr/>
          <p:nvPr/>
        </p:nvSpPr>
        <p:spPr>
          <a:xfrm>
            <a:off x="433891" y="4427822"/>
            <a:ext cx="2674216" cy="194858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Centralized Fuel Management</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Regulatory Accounts &amp; RIMS</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High Value Customer Management</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Economic </a:t>
            </a:r>
            <a:r>
              <a:rPr lang="en-US" sz="1200" dirty="0" err="1">
                <a:solidFill>
                  <a:prstClr val="black">
                    <a:hueOff val="0"/>
                    <a:satOff val="0"/>
                    <a:lumOff val="0"/>
                    <a:alphaOff val="0"/>
                  </a:prstClr>
                </a:solidFill>
              </a:rPr>
              <a:t>Despatch</a:t>
            </a:r>
            <a:r>
              <a:rPr lang="en-US" sz="1200" dirty="0">
                <a:solidFill>
                  <a:prstClr val="black">
                    <a:hueOff val="0"/>
                    <a:satOff val="0"/>
                    <a:lumOff val="0"/>
                    <a:alphaOff val="0"/>
                  </a:prstClr>
                </a:solidFill>
              </a:rPr>
              <a:t> Management</a:t>
            </a:r>
            <a:endParaRPr lang="en-IN" sz="1200" dirty="0">
              <a:solidFill>
                <a:prstClr val="black">
                  <a:hueOff val="0"/>
                  <a:satOff val="0"/>
                  <a:lumOff val="0"/>
                  <a:alphaOff val="0"/>
                </a:prstClr>
              </a:solidFill>
            </a:endParaRPr>
          </a:p>
        </p:txBody>
      </p:sp>
      <p:sp>
        <p:nvSpPr>
          <p:cNvPr id="26" name="Freeform 25"/>
          <p:cNvSpPr/>
          <p:nvPr/>
        </p:nvSpPr>
        <p:spPr>
          <a:xfrm>
            <a:off x="3987793" y="3877479"/>
            <a:ext cx="2674216" cy="660466"/>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Planning &amp; Project Management</a:t>
            </a:r>
            <a:endParaRPr lang="en-IN" sz="1200" b="1" dirty="0">
              <a:solidFill>
                <a:schemeClr val="tx1"/>
              </a:solidFill>
            </a:endParaRPr>
          </a:p>
        </p:txBody>
      </p:sp>
      <p:sp>
        <p:nvSpPr>
          <p:cNvPr id="27" name="Rectangle 26"/>
          <p:cNvSpPr/>
          <p:nvPr/>
        </p:nvSpPr>
        <p:spPr>
          <a:xfrm>
            <a:off x="3986483" y="4427822"/>
            <a:ext cx="2674216" cy="194858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Corporate Planning &amp; Strategy</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Risk Management</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REW &amp; Non-conventional Energy Planning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Business Development &amp; Liaising</a:t>
            </a:r>
            <a:endParaRPr lang="en-IN" sz="1200" dirty="0">
              <a:solidFill>
                <a:prstClr val="black">
                  <a:hueOff val="0"/>
                  <a:satOff val="0"/>
                  <a:lumOff val="0"/>
                  <a:alphaOff val="0"/>
                </a:prstClr>
              </a:solidFill>
            </a:endParaRPr>
          </a:p>
        </p:txBody>
      </p:sp>
      <p:sp>
        <p:nvSpPr>
          <p:cNvPr id="30" name="Freeform 29"/>
          <p:cNvSpPr/>
          <p:nvPr/>
        </p:nvSpPr>
        <p:spPr>
          <a:xfrm>
            <a:off x="7545626" y="3877479"/>
            <a:ext cx="2674216" cy="660466"/>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Other Areas</a:t>
            </a:r>
            <a:endParaRPr lang="en-IN" sz="1200" b="1" dirty="0">
              <a:solidFill>
                <a:schemeClr val="tx1"/>
              </a:solidFill>
            </a:endParaRPr>
          </a:p>
        </p:txBody>
      </p:sp>
      <p:sp>
        <p:nvSpPr>
          <p:cNvPr id="31" name="Rectangle 30"/>
          <p:cNvSpPr/>
          <p:nvPr/>
        </p:nvSpPr>
        <p:spPr>
          <a:xfrm>
            <a:off x="7544316" y="4427822"/>
            <a:ext cx="2674216" cy="194858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Company Secretarial Services</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Performance Monitoring &amp; MIS reporting</a:t>
            </a:r>
            <a:endParaRPr lang="en-IN" sz="1200" dirty="0">
              <a:solidFill>
                <a:prstClr val="black">
                  <a:hueOff val="0"/>
                  <a:satOff val="0"/>
                  <a:lumOff val="0"/>
                  <a:alphaOff val="0"/>
                </a:prstClr>
              </a:solidFill>
            </a:endParaRPr>
          </a:p>
        </p:txBody>
      </p:sp>
      <p:cxnSp>
        <p:nvCxnSpPr>
          <p:cNvPr id="35" name="Straight Connector 34"/>
          <p:cNvCxnSpPr/>
          <p:nvPr/>
        </p:nvCxnSpPr>
        <p:spPr>
          <a:xfrm>
            <a:off x="462630" y="971106"/>
            <a:ext cx="978595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113113" y="873877"/>
            <a:ext cx="6485454" cy="184666"/>
          </a:xfrm>
          <a:prstGeom prst="rect">
            <a:avLst/>
          </a:prstGeom>
          <a:solidFill>
            <a:schemeClr val="bg1"/>
          </a:solidFill>
        </p:spPr>
        <p:txBody>
          <a:bodyPr wrap="square" lIns="0" tIns="0" rIns="0" bIns="0" rtlCol="0">
            <a:spAutoFit/>
          </a:bodyPr>
          <a:lstStyle/>
          <a:p>
            <a:pPr algn="ctr">
              <a:spcAft>
                <a:spcPts val="1000"/>
              </a:spcAft>
            </a:pPr>
            <a:r>
              <a:rPr lang="en-US" sz="1200" b="1" dirty="0">
                <a:solidFill>
                  <a:prstClr val="black"/>
                </a:solidFill>
              </a:rPr>
              <a:t>Proposed new functional areas and activities of Holding Company</a:t>
            </a:r>
            <a:endParaRPr lang="en-IN" sz="1200" b="1" dirty="0">
              <a:solidFill>
                <a:prstClr val="black"/>
              </a:solidFill>
            </a:endParaRPr>
          </a:p>
        </p:txBody>
      </p:sp>
      <p:sp>
        <p:nvSpPr>
          <p:cNvPr id="38" name="Freeform 37"/>
          <p:cNvSpPr/>
          <p:nvPr/>
        </p:nvSpPr>
        <p:spPr>
          <a:xfrm>
            <a:off x="436511" y="127913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O&amp;M Asset Management</a:t>
            </a:r>
            <a:endParaRPr lang="en-IN" sz="1200" b="1" dirty="0">
              <a:solidFill>
                <a:schemeClr val="tx1"/>
              </a:solidFill>
            </a:endParaRPr>
          </a:p>
        </p:txBody>
      </p:sp>
      <p:sp>
        <p:nvSpPr>
          <p:cNvPr id="39" name="Rectangle 38"/>
          <p:cNvSpPr/>
          <p:nvPr/>
        </p:nvSpPr>
        <p:spPr>
          <a:xfrm>
            <a:off x="435201" y="1829482"/>
            <a:ext cx="2674216" cy="1757185"/>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Operational Support Services</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Maintenance Support Services</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Efficiency &amp; Performance Management Services</a:t>
            </a:r>
          </a:p>
          <a:p>
            <a:pPr marL="144000" indent="-144000">
              <a:spcBef>
                <a:spcPts val="600"/>
              </a:spcBef>
              <a:buFont typeface="Arial" panose="020B0604020202020204" pitchFamily="34" charset="0"/>
              <a:buChar char="•"/>
            </a:pPr>
            <a:r>
              <a:rPr lang="en-US" sz="1200" dirty="0">
                <a:solidFill>
                  <a:prstClr val="black">
                    <a:hueOff val="0"/>
                    <a:satOff val="0"/>
                    <a:lumOff val="0"/>
                    <a:alphaOff val="0"/>
                  </a:prstClr>
                </a:solidFill>
              </a:rPr>
              <a:t>LTSA Support</a:t>
            </a:r>
          </a:p>
        </p:txBody>
      </p:sp>
      <p:sp>
        <p:nvSpPr>
          <p:cNvPr id="40" name="Freeform 39"/>
          <p:cNvSpPr/>
          <p:nvPr/>
        </p:nvSpPr>
        <p:spPr>
          <a:xfrm>
            <a:off x="3989103" y="127913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Technical Services &amp; Human Capital</a:t>
            </a:r>
            <a:endParaRPr lang="en-IN" sz="1200" b="1" dirty="0">
              <a:solidFill>
                <a:schemeClr val="tx1"/>
              </a:solidFill>
            </a:endParaRPr>
          </a:p>
        </p:txBody>
      </p:sp>
      <p:sp>
        <p:nvSpPr>
          <p:cNvPr id="41" name="Rectangle 40"/>
          <p:cNvSpPr/>
          <p:nvPr/>
        </p:nvSpPr>
        <p:spPr>
          <a:xfrm>
            <a:off x="3987793" y="1829482"/>
            <a:ext cx="2674216" cy="1757185"/>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Engineering Consultancy Services</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Group HR Administration</a:t>
            </a:r>
            <a:endParaRPr lang="en-IN" sz="1200" dirty="0">
              <a:solidFill>
                <a:prstClr val="black">
                  <a:hueOff val="0"/>
                  <a:satOff val="0"/>
                  <a:lumOff val="0"/>
                  <a:alphaOff val="0"/>
                </a:prstClr>
              </a:solidFill>
            </a:endParaRPr>
          </a:p>
        </p:txBody>
      </p:sp>
      <p:sp>
        <p:nvSpPr>
          <p:cNvPr id="42" name="Freeform 41"/>
          <p:cNvSpPr/>
          <p:nvPr/>
        </p:nvSpPr>
        <p:spPr>
          <a:xfrm>
            <a:off x="7546936" y="127913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945677">
              <a:buSzPct val="100000"/>
            </a:pPr>
            <a:r>
              <a:rPr lang="en-US" sz="1200" b="1" dirty="0">
                <a:solidFill>
                  <a:schemeClr val="tx1"/>
                </a:solidFill>
              </a:rPr>
              <a:t>Finance &amp; Accounts</a:t>
            </a:r>
            <a:endParaRPr lang="en-IN" sz="1200" b="1" dirty="0">
              <a:solidFill>
                <a:schemeClr val="tx1"/>
              </a:solidFill>
            </a:endParaRPr>
          </a:p>
        </p:txBody>
      </p:sp>
      <p:sp>
        <p:nvSpPr>
          <p:cNvPr id="43" name="Rectangle 42"/>
          <p:cNvSpPr/>
          <p:nvPr/>
        </p:nvSpPr>
        <p:spPr>
          <a:xfrm>
            <a:off x="7545626" y="1829482"/>
            <a:ext cx="2674216" cy="1757185"/>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Group Accounts Consolidation &amp; MIS Reporting</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Group Financing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SBU Finance Monitoring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Strategic Investment Management &amp; Planning</a:t>
            </a:r>
            <a:endParaRPr lang="en-IN" sz="1200" dirty="0">
              <a:solidFill>
                <a:prstClr val="black">
                  <a:hueOff val="0"/>
                  <a:satOff val="0"/>
                  <a:lumOff val="0"/>
                  <a:alphaOff val="0"/>
                </a:prstClr>
              </a:solidFill>
            </a:endParaRPr>
          </a:p>
          <a:p>
            <a:pPr marL="144000" indent="-144000">
              <a:spcBef>
                <a:spcPts val="600"/>
              </a:spcBef>
              <a:buSzPct val="100000"/>
              <a:buFont typeface="Arial" panose="020B0604020202020204" pitchFamily="34" charset="0"/>
              <a:buChar char="•"/>
            </a:pPr>
            <a:endParaRPr lang="en-IN" sz="1200" dirty="0">
              <a:solidFill>
                <a:prstClr val="black">
                  <a:hueOff val="0"/>
                  <a:satOff val="0"/>
                  <a:lumOff val="0"/>
                  <a:alphaOff val="0"/>
                </a:prstClr>
              </a:solidFill>
            </a:endParaRPr>
          </a:p>
        </p:txBody>
      </p:sp>
      <p:sp>
        <p:nvSpPr>
          <p:cNvPr id="44" name="Freeform 43"/>
          <p:cNvSpPr/>
          <p:nvPr/>
        </p:nvSpPr>
        <p:spPr>
          <a:xfrm>
            <a:off x="3986483" y="3877479"/>
            <a:ext cx="2674216" cy="660466"/>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92D050"/>
          </a:solidFill>
          <a:ln>
            <a:solidFill>
              <a:srgbClr val="92D050"/>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200" b="1" dirty="0">
                <a:solidFill>
                  <a:schemeClr val="tx1"/>
                </a:solidFill>
              </a:rPr>
              <a:t>Planning &amp; Project Management</a:t>
            </a:r>
            <a:endParaRPr lang="en-IN" sz="1200" b="1" dirty="0">
              <a:solidFill>
                <a:schemeClr val="tx1"/>
              </a:solidFill>
            </a:endParaRPr>
          </a:p>
        </p:txBody>
      </p:sp>
      <p:sp>
        <p:nvSpPr>
          <p:cNvPr id="45" name="Rectangle 44"/>
          <p:cNvSpPr/>
          <p:nvPr/>
        </p:nvSpPr>
        <p:spPr>
          <a:xfrm>
            <a:off x="3985173" y="4427822"/>
            <a:ext cx="2674216" cy="1948580"/>
          </a:xfrm>
          <a:prstGeom prst="rect">
            <a:avLst/>
          </a:prstGeom>
          <a:solidFill>
            <a:schemeClr val="accent1">
              <a:lumMod val="20000"/>
              <a:lumOff val="80000"/>
              <a:alpha val="90000"/>
            </a:schemeClr>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Corporate Planning &amp; Strategy</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Risk Management</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REW &amp; Non-conventional Energy Planning</a:t>
            </a:r>
          </a:p>
          <a:p>
            <a:pPr marL="144000" indent="-144000">
              <a:spcBef>
                <a:spcPts val="600"/>
              </a:spcBef>
              <a:buSzPct val="100000"/>
              <a:buFont typeface="Arial" panose="020B0604020202020204" pitchFamily="34" charset="0"/>
              <a:buChar char="•"/>
            </a:pPr>
            <a:r>
              <a:rPr lang="en-US" sz="1200" dirty="0">
                <a:solidFill>
                  <a:prstClr val="black">
                    <a:hueOff val="0"/>
                    <a:satOff val="0"/>
                    <a:lumOff val="0"/>
                    <a:alphaOff val="0"/>
                  </a:prstClr>
                </a:solidFill>
              </a:rPr>
              <a:t>Business Development &amp; Liaising</a:t>
            </a:r>
            <a:endParaRPr lang="en-IN" sz="1200" dirty="0">
              <a:solidFill>
                <a:prstClr val="black">
                  <a:hueOff val="0"/>
                  <a:satOff val="0"/>
                  <a:lumOff val="0"/>
                  <a:alphaOff val="0"/>
                </a:prstClr>
              </a:solidFill>
            </a:endParaRPr>
          </a:p>
        </p:txBody>
      </p:sp>
      <p:sp>
        <p:nvSpPr>
          <p:cNvPr id="46" name="Rectangle 45"/>
          <p:cNvSpPr/>
          <p:nvPr/>
        </p:nvSpPr>
        <p:spPr bwMode="gray">
          <a:xfrm>
            <a:off x="441103" y="6506733"/>
            <a:ext cx="9784641" cy="710824"/>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The proposed new functions will allow the holding company to conduct integrated sector planning and coordination, increase accountability &amp; governance framework and monitor performance of all subsidiaries</a:t>
            </a:r>
          </a:p>
        </p:txBody>
      </p:sp>
    </p:spTree>
    <p:extLst>
      <p:ext uri="{BB962C8B-B14F-4D97-AF65-F5344CB8AC3E}">
        <p14:creationId xmlns:p14="http://schemas.microsoft.com/office/powerpoint/2010/main" val="354199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Proposed Touchpoints of Holding Company with Subsidiaries</a:t>
            </a:r>
          </a:p>
        </p:txBody>
      </p:sp>
    </p:spTree>
    <p:extLst>
      <p:ext uri="{BB962C8B-B14F-4D97-AF65-F5344CB8AC3E}">
        <p14:creationId xmlns:p14="http://schemas.microsoft.com/office/powerpoint/2010/main" val="3976396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650123"/>
          </a:xfrm>
        </p:spPr>
        <p:txBody>
          <a:bodyPr/>
          <a:lstStyle/>
          <a:p>
            <a:pPr algn="just"/>
            <a:r>
              <a:rPr lang="en-US" b="1" dirty="0"/>
              <a:t>Preliminary proposed touchpoints of Holding Company and Subsidiaries</a:t>
            </a:r>
            <a:endParaRPr lang="en-IN" b="1" dirty="0"/>
          </a:p>
        </p:txBody>
      </p:sp>
      <p:sp>
        <p:nvSpPr>
          <p:cNvPr id="6" name="TextBox 5"/>
          <p:cNvSpPr txBox="1"/>
          <p:nvPr/>
        </p:nvSpPr>
        <p:spPr>
          <a:xfrm>
            <a:off x="439792"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a:solidFill>
                  <a:prstClr val="white"/>
                </a:solidFill>
              </a:rPr>
              <a:t>Planning &amp; Project Management</a:t>
            </a:r>
            <a:endParaRPr lang="en-IN" sz="1200" b="1" dirty="0">
              <a:solidFill>
                <a:prstClr val="white"/>
              </a:solidFill>
            </a:endParaRPr>
          </a:p>
        </p:txBody>
      </p:sp>
      <p:sp>
        <p:nvSpPr>
          <p:cNvPr id="7" name="TextBox 6"/>
          <p:cNvSpPr txBox="1"/>
          <p:nvPr/>
        </p:nvSpPr>
        <p:spPr>
          <a:xfrm>
            <a:off x="2499174"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a:solidFill>
                  <a:prstClr val="white"/>
                </a:solidFill>
              </a:rPr>
              <a:t>Finance &amp; Accounts</a:t>
            </a:r>
            <a:endParaRPr lang="en-IN" sz="1200" b="1" dirty="0">
              <a:solidFill>
                <a:prstClr val="white"/>
              </a:solidFill>
            </a:endParaRPr>
          </a:p>
        </p:txBody>
      </p:sp>
      <p:sp>
        <p:nvSpPr>
          <p:cNvPr id="8" name="TextBox 7"/>
          <p:cNvSpPr txBox="1"/>
          <p:nvPr/>
        </p:nvSpPr>
        <p:spPr>
          <a:xfrm>
            <a:off x="4558556"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a:solidFill>
                  <a:prstClr val="white"/>
                </a:solidFill>
              </a:rPr>
              <a:t>Monitoring &amp; Accountability</a:t>
            </a:r>
            <a:endParaRPr lang="en-IN" sz="1200" b="1" dirty="0">
              <a:solidFill>
                <a:prstClr val="white"/>
              </a:solidFill>
            </a:endParaRPr>
          </a:p>
        </p:txBody>
      </p:sp>
      <p:sp>
        <p:nvSpPr>
          <p:cNvPr id="9" name="TextBox 8"/>
          <p:cNvSpPr txBox="1"/>
          <p:nvPr/>
        </p:nvSpPr>
        <p:spPr>
          <a:xfrm>
            <a:off x="6617938" y="1718449"/>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a:solidFill>
                  <a:prstClr val="white"/>
                </a:solidFill>
              </a:rPr>
              <a:t>Human Capital</a:t>
            </a:r>
            <a:endParaRPr lang="en-IN" sz="1200" b="1" dirty="0">
              <a:solidFill>
                <a:prstClr val="white"/>
              </a:solidFill>
            </a:endParaRPr>
          </a:p>
        </p:txBody>
      </p:sp>
      <p:sp>
        <p:nvSpPr>
          <p:cNvPr id="10" name="TextBox 9"/>
          <p:cNvSpPr txBox="1"/>
          <p:nvPr/>
        </p:nvSpPr>
        <p:spPr>
          <a:xfrm>
            <a:off x="8677320" y="1717451"/>
            <a:ext cx="1800000" cy="612000"/>
          </a:xfrm>
          <a:prstGeom prst="rect">
            <a:avLst/>
          </a:prstGeom>
          <a:solidFill>
            <a:srgbClr val="00B0F0"/>
          </a:solidFill>
          <a:ln>
            <a:solidFill>
              <a:schemeClr val="tx1"/>
            </a:solidFill>
          </a:ln>
        </p:spPr>
        <p:txBody>
          <a:bodyPr wrap="square" lIns="0" tIns="0" rIns="0" bIns="0" rtlCol="0" anchor="ctr">
            <a:noAutofit/>
          </a:bodyPr>
          <a:lstStyle/>
          <a:p>
            <a:pPr algn="ctr">
              <a:buSzPct val="100000"/>
            </a:pPr>
            <a:r>
              <a:rPr lang="en-US" sz="1200" b="1" dirty="0">
                <a:solidFill>
                  <a:prstClr val="white"/>
                </a:solidFill>
              </a:rPr>
              <a:t>Other Specialized Areas</a:t>
            </a:r>
            <a:endParaRPr lang="en-IN" sz="1200" b="1" dirty="0">
              <a:solidFill>
                <a:prstClr val="white"/>
              </a:solidFill>
            </a:endParaRPr>
          </a:p>
        </p:txBody>
      </p:sp>
      <p:sp>
        <p:nvSpPr>
          <p:cNvPr id="27" name="TextBox 26"/>
          <p:cNvSpPr txBox="1"/>
          <p:nvPr/>
        </p:nvSpPr>
        <p:spPr>
          <a:xfrm>
            <a:off x="443123" y="4196924"/>
            <a:ext cx="1800000" cy="720000"/>
          </a:xfrm>
          <a:prstGeom prst="rect">
            <a:avLst/>
          </a:prstGeom>
          <a:solidFill>
            <a:srgbClr val="ECFBFE"/>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r>
              <a:rPr lang="en-US" dirty="0"/>
              <a:t>RE </a:t>
            </a:r>
            <a:r>
              <a:rPr lang="en-US" dirty="0" err="1"/>
              <a:t>proj</a:t>
            </a:r>
            <a:r>
              <a:rPr lang="en-US" dirty="0"/>
              <a:t>. </a:t>
            </a:r>
            <a:r>
              <a:rPr lang="en-US" dirty="0" err="1"/>
              <a:t>coord</a:t>
            </a:r>
            <a:r>
              <a:rPr lang="en-US" dirty="0"/>
              <a:t>. &amp; monitoring</a:t>
            </a:r>
            <a:endParaRPr lang="en-IN" dirty="0"/>
          </a:p>
        </p:txBody>
      </p:sp>
      <p:sp>
        <p:nvSpPr>
          <p:cNvPr id="36" name="TextBox 35"/>
          <p:cNvSpPr txBox="1"/>
          <p:nvPr/>
        </p:nvSpPr>
        <p:spPr>
          <a:xfrm>
            <a:off x="439792" y="508245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BD &amp; Liaising</a:t>
            </a:r>
            <a:endParaRPr lang="en-IN" sz="1200" dirty="0">
              <a:solidFill>
                <a:srgbClr val="313131"/>
              </a:solidFill>
            </a:endParaRPr>
          </a:p>
        </p:txBody>
      </p:sp>
      <p:sp>
        <p:nvSpPr>
          <p:cNvPr id="37" name="TextBox 36"/>
          <p:cNvSpPr txBox="1"/>
          <p:nvPr/>
        </p:nvSpPr>
        <p:spPr>
          <a:xfrm>
            <a:off x="439792" y="242586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defPPr>
              <a:defRPr lang="en-US"/>
            </a:defPPr>
            <a:lvl1pPr algn="ctr">
              <a:buSzPct val="100000"/>
              <a:defRPr sz="1200">
                <a:solidFill>
                  <a:srgbClr val="313131"/>
                </a:solidFill>
              </a:defRPr>
            </a:lvl1pPr>
          </a:lstStyle>
          <a:p>
            <a:r>
              <a:rPr lang="en-US" dirty="0"/>
              <a:t>Corporate planning, strategy</a:t>
            </a:r>
            <a:endParaRPr lang="en-IN" dirty="0"/>
          </a:p>
        </p:txBody>
      </p:sp>
      <p:sp>
        <p:nvSpPr>
          <p:cNvPr id="38" name="TextBox 37"/>
          <p:cNvSpPr txBox="1"/>
          <p:nvPr/>
        </p:nvSpPr>
        <p:spPr>
          <a:xfrm>
            <a:off x="4558556" y="242586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Risk management</a:t>
            </a:r>
            <a:endParaRPr lang="en-IN" sz="1200" dirty="0">
              <a:solidFill>
                <a:srgbClr val="313131"/>
              </a:solidFill>
            </a:endParaRPr>
          </a:p>
        </p:txBody>
      </p:sp>
      <p:sp>
        <p:nvSpPr>
          <p:cNvPr id="39" name="TextBox 38"/>
          <p:cNvSpPr txBox="1"/>
          <p:nvPr/>
        </p:nvSpPr>
        <p:spPr>
          <a:xfrm>
            <a:off x="440902" y="3311394"/>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System Planning, R&amp;D</a:t>
            </a:r>
            <a:endParaRPr lang="en-IN" sz="1200" dirty="0">
              <a:solidFill>
                <a:srgbClr val="313131"/>
              </a:solidFill>
            </a:endParaRPr>
          </a:p>
        </p:txBody>
      </p:sp>
      <p:sp>
        <p:nvSpPr>
          <p:cNvPr id="42" name="TextBox 41"/>
          <p:cNvSpPr txBox="1"/>
          <p:nvPr/>
        </p:nvSpPr>
        <p:spPr>
          <a:xfrm>
            <a:off x="2499174" y="2425960"/>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Finance (including Group Financing)</a:t>
            </a:r>
            <a:endParaRPr lang="en-IN" sz="1200" dirty="0">
              <a:solidFill>
                <a:srgbClr val="313131"/>
              </a:solidFill>
            </a:endParaRPr>
          </a:p>
        </p:txBody>
      </p:sp>
      <p:sp>
        <p:nvSpPr>
          <p:cNvPr id="45" name="TextBox 44"/>
          <p:cNvSpPr txBox="1"/>
          <p:nvPr/>
        </p:nvSpPr>
        <p:spPr>
          <a:xfrm>
            <a:off x="2499174" y="3311442"/>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Group acc., consolidation, MIS Reporting</a:t>
            </a:r>
            <a:endParaRPr lang="en-IN" sz="1200" dirty="0">
              <a:solidFill>
                <a:srgbClr val="313131"/>
              </a:solidFill>
            </a:endParaRPr>
          </a:p>
        </p:txBody>
      </p:sp>
      <p:sp>
        <p:nvSpPr>
          <p:cNvPr id="46" name="TextBox 45"/>
          <p:cNvSpPr txBox="1"/>
          <p:nvPr/>
        </p:nvSpPr>
        <p:spPr>
          <a:xfrm>
            <a:off x="2499174" y="419692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Strategic investment management &amp; investment planning</a:t>
            </a:r>
            <a:endParaRPr lang="en-IN" sz="1200" dirty="0">
              <a:solidFill>
                <a:srgbClr val="313131"/>
              </a:solidFill>
            </a:endParaRPr>
          </a:p>
        </p:txBody>
      </p:sp>
      <p:sp>
        <p:nvSpPr>
          <p:cNvPr id="48" name="TextBox 47"/>
          <p:cNvSpPr txBox="1"/>
          <p:nvPr/>
        </p:nvSpPr>
        <p:spPr>
          <a:xfrm>
            <a:off x="6617938" y="2425864"/>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Manpower Planning</a:t>
            </a:r>
            <a:endParaRPr lang="en-IN" sz="1200" dirty="0">
              <a:solidFill>
                <a:srgbClr val="313131"/>
              </a:solidFill>
            </a:endParaRPr>
          </a:p>
        </p:txBody>
      </p:sp>
      <p:sp>
        <p:nvSpPr>
          <p:cNvPr id="53" name="TextBox 52"/>
          <p:cNvSpPr txBox="1"/>
          <p:nvPr/>
        </p:nvSpPr>
        <p:spPr>
          <a:xfrm>
            <a:off x="8677318" y="2411280"/>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Power plant O&amp;M services &amp; asset management</a:t>
            </a:r>
            <a:endParaRPr lang="en-IN" sz="1200" dirty="0">
              <a:solidFill>
                <a:srgbClr val="313131"/>
              </a:solidFill>
            </a:endParaRPr>
          </a:p>
        </p:txBody>
      </p:sp>
      <p:sp>
        <p:nvSpPr>
          <p:cNvPr id="54" name="TextBox 53"/>
          <p:cNvSpPr txBox="1"/>
          <p:nvPr/>
        </p:nvSpPr>
        <p:spPr>
          <a:xfrm>
            <a:off x="4555225" y="3311394"/>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Performance monitoring &amp; review, MIS</a:t>
            </a:r>
            <a:endParaRPr lang="en-IN" sz="1200" dirty="0">
              <a:solidFill>
                <a:srgbClr val="313131"/>
              </a:solidFill>
            </a:endParaRPr>
          </a:p>
        </p:txBody>
      </p:sp>
      <p:sp>
        <p:nvSpPr>
          <p:cNvPr id="56" name="TextBox 55"/>
          <p:cNvSpPr txBox="1"/>
          <p:nvPr/>
        </p:nvSpPr>
        <p:spPr>
          <a:xfrm>
            <a:off x="439792" y="1167531"/>
            <a:ext cx="10037526" cy="372870"/>
          </a:xfrm>
          <a:prstGeom prst="rect">
            <a:avLst/>
          </a:prstGeom>
          <a:solidFill>
            <a:srgbClr val="041E42"/>
          </a:solidFill>
          <a:ln>
            <a:solidFill>
              <a:schemeClr val="tx1"/>
            </a:solidFill>
          </a:ln>
        </p:spPr>
        <p:txBody>
          <a:bodyPr wrap="square" lIns="0" tIns="0" rIns="0" bIns="0" rtlCol="0" anchor="ctr">
            <a:noAutofit/>
          </a:bodyPr>
          <a:lstStyle/>
          <a:p>
            <a:pPr algn="ctr">
              <a:buSzPct val="100000"/>
            </a:pPr>
            <a:r>
              <a:rPr lang="en-US" sz="1200" b="1" dirty="0">
                <a:solidFill>
                  <a:prstClr val="white"/>
                </a:solidFill>
              </a:rPr>
              <a:t>Key Relationship Areas</a:t>
            </a:r>
            <a:endParaRPr lang="en-IN" sz="1200" b="1" dirty="0">
              <a:solidFill>
                <a:prstClr val="white"/>
              </a:solidFill>
            </a:endParaRPr>
          </a:p>
        </p:txBody>
      </p:sp>
      <p:sp>
        <p:nvSpPr>
          <p:cNvPr id="60" name="TextBox 59"/>
          <p:cNvSpPr txBox="1"/>
          <p:nvPr/>
        </p:nvSpPr>
        <p:spPr>
          <a:xfrm>
            <a:off x="8065318" y="6542515"/>
            <a:ext cx="2412000" cy="432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New Function Formation</a:t>
            </a:r>
            <a:endParaRPr lang="en-IN" sz="1200" dirty="0">
              <a:solidFill>
                <a:srgbClr val="313131"/>
              </a:solidFill>
            </a:endParaRPr>
          </a:p>
        </p:txBody>
      </p:sp>
      <p:sp>
        <p:nvSpPr>
          <p:cNvPr id="61" name="TextBox 60"/>
          <p:cNvSpPr txBox="1"/>
          <p:nvPr/>
        </p:nvSpPr>
        <p:spPr>
          <a:xfrm>
            <a:off x="8062036" y="6049152"/>
            <a:ext cx="2412000" cy="433223"/>
          </a:xfrm>
          <a:prstGeom prst="rect">
            <a:avLst/>
          </a:prstGeom>
          <a:solidFill>
            <a:srgbClr val="E0F0FA"/>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Existing Functions / Re-strengthening Functions</a:t>
            </a:r>
            <a:endParaRPr lang="en-IN" sz="1200" dirty="0">
              <a:solidFill>
                <a:srgbClr val="313131"/>
              </a:solidFill>
            </a:endParaRPr>
          </a:p>
        </p:txBody>
      </p:sp>
      <p:sp>
        <p:nvSpPr>
          <p:cNvPr id="78" name="Pentagon 77">
            <a:hlinkClick r:id="" action="ppaction://noaction"/>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28" name="TextBox 27"/>
          <p:cNvSpPr txBox="1"/>
          <p:nvPr/>
        </p:nvSpPr>
        <p:spPr>
          <a:xfrm>
            <a:off x="4555225" y="4196857"/>
            <a:ext cx="1800000" cy="720000"/>
          </a:xfrm>
          <a:prstGeom prst="rect">
            <a:avLst/>
          </a:prstGeom>
          <a:solidFill>
            <a:schemeClr val="accent1">
              <a:lumMod val="60000"/>
              <a:lumOff val="40000"/>
            </a:schemeClr>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Project Monitoring</a:t>
            </a:r>
            <a:endParaRPr lang="en-IN" sz="1200" dirty="0">
              <a:solidFill>
                <a:srgbClr val="313131"/>
              </a:solidFill>
            </a:endParaRPr>
          </a:p>
        </p:txBody>
      </p:sp>
      <p:sp>
        <p:nvSpPr>
          <p:cNvPr id="2" name="TextBox 1"/>
          <p:cNvSpPr txBox="1"/>
          <p:nvPr/>
        </p:nvSpPr>
        <p:spPr>
          <a:xfrm>
            <a:off x="439792" y="6154043"/>
            <a:ext cx="7010319" cy="699404"/>
          </a:xfrm>
          <a:prstGeom prst="rect">
            <a:avLst/>
          </a:prstGeom>
          <a:solidFill>
            <a:schemeClr val="accent1">
              <a:lumMod val="20000"/>
              <a:lumOff val="80000"/>
            </a:schemeClr>
          </a:solidFill>
          <a:ln>
            <a:solidFill>
              <a:schemeClr val="tx1"/>
            </a:solidFill>
          </a:ln>
        </p:spPr>
        <p:txBody>
          <a:bodyPr wrap="square" lIns="72000" tIns="72000" rIns="72000" bIns="72000" rtlCol="0">
            <a:spAutoFit/>
          </a:bodyPr>
          <a:lstStyle/>
          <a:p>
            <a:pPr>
              <a:spcBef>
                <a:spcPts val="600"/>
              </a:spcBef>
              <a:buSzPct val="100000"/>
            </a:pPr>
            <a:r>
              <a:rPr lang="en-US" sz="1200" dirty="0">
                <a:solidFill>
                  <a:srgbClr val="313131"/>
                </a:solidFill>
              </a:rPr>
              <a:t>Note: The above touchpoints would require Structured Service Level Agreements, Standard Operating Procedures and detailed Accountability Mechanism for effective communication and operations</a:t>
            </a:r>
          </a:p>
        </p:txBody>
      </p:sp>
      <p:sp>
        <p:nvSpPr>
          <p:cNvPr id="25" name="TextBox 24"/>
          <p:cNvSpPr txBox="1"/>
          <p:nvPr/>
        </p:nvSpPr>
        <p:spPr>
          <a:xfrm>
            <a:off x="6617938" y="3311394"/>
            <a:ext cx="1800000" cy="720000"/>
          </a:xfrm>
          <a:prstGeom prst="rect">
            <a:avLst/>
          </a:prstGeom>
          <a:solidFill>
            <a:srgbClr val="ECFBFE"/>
          </a:solidFill>
          <a:ln>
            <a:solidFill>
              <a:schemeClr val="tx1"/>
            </a:solidFill>
          </a:ln>
        </p:spPr>
        <p:txBody>
          <a:bodyPr wrap="square" lIns="0" tIns="0" rIns="0" bIns="0" rtlCol="0" anchor="ctr">
            <a:noAutofit/>
          </a:bodyPr>
          <a:lstStyle/>
          <a:p>
            <a:pPr algn="ctr">
              <a:buSzPct val="100000"/>
            </a:pPr>
            <a:r>
              <a:rPr lang="en-US" sz="1200" dirty="0">
                <a:solidFill>
                  <a:srgbClr val="313131"/>
                </a:solidFill>
              </a:rPr>
              <a:t>Training &amp; Development</a:t>
            </a:r>
            <a:endParaRPr lang="en-IN" sz="1200" dirty="0">
              <a:solidFill>
                <a:srgbClr val="313131"/>
              </a:solidFill>
            </a:endParaRPr>
          </a:p>
        </p:txBody>
      </p:sp>
    </p:spTree>
    <p:extLst>
      <p:ext uri="{BB962C8B-B14F-4D97-AF65-F5344CB8AC3E}">
        <p14:creationId xmlns:p14="http://schemas.microsoft.com/office/powerpoint/2010/main" val="371809227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2"/>
          <p:cNvSpPr>
            <a:spLocks noGrp="1"/>
          </p:cNvSpPr>
          <p:nvPr>
            <p:ph type="title"/>
          </p:nvPr>
        </p:nvSpPr>
        <p:spPr>
          <a:xfrm>
            <a:off x="439793" y="350131"/>
            <a:ext cx="9785951" cy="650123"/>
          </a:xfrm>
        </p:spPr>
        <p:txBody>
          <a:bodyPr/>
          <a:lstStyle/>
          <a:p>
            <a:pPr algn="just"/>
            <a:r>
              <a:rPr lang="en-US" b="1" dirty="0"/>
              <a:t>Proposed High Level Relationship for Planning &amp; Development</a:t>
            </a:r>
            <a:endParaRPr lang="en-IN" b="1" dirty="0"/>
          </a:p>
        </p:txBody>
      </p:sp>
      <p:sp>
        <p:nvSpPr>
          <p:cNvPr id="146" name="Rectangle 145"/>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a:solidFill>
                  <a:prstClr val="white"/>
                </a:solidFill>
              </a:rPr>
              <a:t>BPDB Holding Company</a:t>
            </a:r>
            <a:endParaRPr lang="en-IN" sz="1600" b="1" dirty="0">
              <a:solidFill>
                <a:prstClr val="white"/>
              </a:solidFill>
            </a:endParaRPr>
          </a:p>
        </p:txBody>
      </p:sp>
      <p:sp>
        <p:nvSpPr>
          <p:cNvPr id="147" name="Rectangle 146"/>
          <p:cNvSpPr/>
          <p:nvPr/>
        </p:nvSpPr>
        <p:spPr bwMode="gray">
          <a:xfrm>
            <a:off x="573143" y="5772745"/>
            <a:ext cx="2971800"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Generation Companies</a:t>
            </a:r>
            <a:endParaRPr lang="en-IN" sz="1200" b="1" dirty="0">
              <a:solidFill>
                <a:prstClr val="white"/>
              </a:solidFill>
            </a:endParaRPr>
          </a:p>
        </p:txBody>
      </p:sp>
      <p:sp>
        <p:nvSpPr>
          <p:cNvPr id="148" name="Rectangle 147"/>
          <p:cNvSpPr/>
          <p:nvPr/>
        </p:nvSpPr>
        <p:spPr bwMode="gray">
          <a:xfrm>
            <a:off x="3916418" y="5772745"/>
            <a:ext cx="29718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Distribution Companies</a:t>
            </a:r>
            <a:endParaRPr lang="en-IN" sz="1200" b="1" dirty="0">
              <a:solidFill>
                <a:prstClr val="white"/>
              </a:solidFill>
            </a:endParaRPr>
          </a:p>
        </p:txBody>
      </p:sp>
      <p:sp>
        <p:nvSpPr>
          <p:cNvPr id="149" name="Rectangle 148"/>
          <p:cNvSpPr/>
          <p:nvPr/>
        </p:nvSpPr>
        <p:spPr bwMode="gray">
          <a:xfrm>
            <a:off x="7259693" y="5772745"/>
            <a:ext cx="29718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Transmission Company</a:t>
            </a:r>
            <a:endParaRPr lang="en-IN" sz="1200" b="1" dirty="0">
              <a:solidFill>
                <a:prstClr val="white"/>
              </a:solidFill>
            </a:endParaRPr>
          </a:p>
        </p:txBody>
      </p:sp>
      <p:cxnSp>
        <p:nvCxnSpPr>
          <p:cNvPr id="150" name="Elbow Connector 149"/>
          <p:cNvCxnSpPr>
            <a:stCxn id="147" idx="1"/>
          </p:cNvCxnSpPr>
          <p:nvPr/>
        </p:nvCxnSpPr>
        <p:spPr>
          <a:xfrm rot="10800000" flipH="1">
            <a:off x="573142" y="3011984"/>
            <a:ext cx="3341077" cy="3088240"/>
          </a:xfrm>
          <a:prstGeom prst="bentConnector3">
            <a:avLst>
              <a:gd name="adj1" fmla="val -684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p:cNvCxnSpPr/>
          <p:nvPr/>
        </p:nvCxnSpPr>
        <p:spPr>
          <a:xfrm flipV="1">
            <a:off x="5563683" y="3029544"/>
            <a:ext cx="0" cy="2743201"/>
          </a:xfrm>
          <a:prstGeom prst="straightConnector1">
            <a:avLst/>
          </a:prstGeom>
          <a:ln w="25400">
            <a:solidFill>
              <a:srgbClr val="002060"/>
            </a:solidFill>
            <a:tailEnd type="triangle"/>
          </a:ln>
        </p:spPr>
        <p:style>
          <a:lnRef idx="1">
            <a:schemeClr val="accent4"/>
          </a:lnRef>
          <a:fillRef idx="0">
            <a:schemeClr val="accent4"/>
          </a:fillRef>
          <a:effectRef idx="0">
            <a:schemeClr val="accent4"/>
          </a:effectRef>
          <a:fontRef idx="minor">
            <a:schemeClr val="tx1"/>
          </a:fontRef>
        </p:style>
      </p:cxnSp>
      <p:sp>
        <p:nvSpPr>
          <p:cNvPr id="153" name="TextBox 81"/>
          <p:cNvSpPr txBox="1"/>
          <p:nvPr/>
        </p:nvSpPr>
        <p:spPr>
          <a:xfrm>
            <a:off x="451387" y="279970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GENCO Strategic Plan</a:t>
            </a:r>
            <a:endParaRPr lang="en-IN" sz="1100" b="1" dirty="0">
              <a:solidFill>
                <a:srgbClr val="313131"/>
              </a:solidFill>
            </a:endParaRPr>
          </a:p>
        </p:txBody>
      </p:sp>
      <p:sp>
        <p:nvSpPr>
          <p:cNvPr id="154" name="Rectangle 153"/>
          <p:cNvSpPr/>
          <p:nvPr/>
        </p:nvSpPr>
        <p:spPr bwMode="gray">
          <a:xfrm>
            <a:off x="7023761" y="1182632"/>
            <a:ext cx="3420842" cy="1611375"/>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a:solidFill>
                  <a:prstClr val="black"/>
                </a:solidFill>
              </a:rPr>
              <a:t>Integration of all Strategic / Business /  Transmission Plans in line with PSMP</a:t>
            </a:r>
          </a:p>
          <a:p>
            <a:pPr marL="108000" indent="-108000">
              <a:lnSpc>
                <a:spcPct val="106000"/>
              </a:lnSpc>
              <a:spcBef>
                <a:spcPts val="400"/>
              </a:spcBef>
              <a:buFont typeface="Arial" panose="020B0604020202020204" pitchFamily="34" charset="0"/>
              <a:buChar char="•"/>
            </a:pPr>
            <a:r>
              <a:rPr lang="en-US" sz="1050" dirty="0">
                <a:solidFill>
                  <a:prstClr val="black"/>
                </a:solidFill>
              </a:rPr>
              <a:t>Assess Overall Demand-Supply, Load Forecasts and Fuel Availability</a:t>
            </a:r>
          </a:p>
          <a:p>
            <a:pPr marL="108000" indent="-108000">
              <a:lnSpc>
                <a:spcPct val="106000"/>
              </a:lnSpc>
              <a:spcBef>
                <a:spcPts val="400"/>
              </a:spcBef>
              <a:buFont typeface="Arial" panose="020B0604020202020204" pitchFamily="34" charset="0"/>
              <a:buChar char="•"/>
            </a:pPr>
            <a:r>
              <a:rPr lang="en-US" sz="1050" dirty="0">
                <a:solidFill>
                  <a:prstClr val="black"/>
                </a:solidFill>
              </a:rPr>
              <a:t>Conduct R&amp;D in RE integration, power system efficiency and overall cost optimization</a:t>
            </a:r>
          </a:p>
          <a:p>
            <a:pPr marL="108000" indent="-108000">
              <a:lnSpc>
                <a:spcPct val="106000"/>
              </a:lnSpc>
              <a:spcBef>
                <a:spcPts val="400"/>
              </a:spcBef>
              <a:buFont typeface="Arial" panose="020B0604020202020204" pitchFamily="34" charset="0"/>
              <a:buChar char="•"/>
            </a:pPr>
            <a:r>
              <a:rPr lang="en-US" sz="1050" dirty="0">
                <a:solidFill>
                  <a:prstClr val="black"/>
                </a:solidFill>
              </a:rPr>
              <a:t>Assist subsidiaries in project execution as specialized service</a:t>
            </a:r>
            <a:endParaRPr lang="en-IN" sz="1050" dirty="0">
              <a:solidFill>
                <a:prstClr val="black"/>
              </a:solidFill>
            </a:endParaRPr>
          </a:p>
        </p:txBody>
      </p:sp>
      <p:cxnSp>
        <p:nvCxnSpPr>
          <p:cNvPr id="155" name="Elbow Connector 154"/>
          <p:cNvCxnSpPr/>
          <p:nvPr/>
        </p:nvCxnSpPr>
        <p:spPr>
          <a:xfrm rot="5400000">
            <a:off x="1308117" y="3067238"/>
            <a:ext cx="2752646" cy="2674119"/>
          </a:xfrm>
          <a:prstGeom prst="bentConnector3">
            <a:avLst>
              <a:gd name="adj1" fmla="val 34775"/>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156" name="TextBox 84"/>
          <p:cNvSpPr txBox="1"/>
          <p:nvPr/>
        </p:nvSpPr>
        <p:spPr>
          <a:xfrm>
            <a:off x="2108486" y="3597537"/>
            <a:ext cx="2206503"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Approved Plan as per Integrated Master Plan</a:t>
            </a:r>
            <a:endParaRPr lang="en-IN" sz="1100" b="1" dirty="0">
              <a:solidFill>
                <a:srgbClr val="313131"/>
              </a:solidFill>
            </a:endParaRPr>
          </a:p>
        </p:txBody>
      </p:sp>
      <p:sp>
        <p:nvSpPr>
          <p:cNvPr id="157" name="TextBox 87"/>
          <p:cNvSpPr txBox="1"/>
          <p:nvPr/>
        </p:nvSpPr>
        <p:spPr>
          <a:xfrm>
            <a:off x="5687470" y="4389241"/>
            <a:ext cx="2158131" cy="1323439"/>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Prepare and submit:</a:t>
            </a:r>
          </a:p>
          <a:p>
            <a:pPr marL="171450" indent="-171450">
              <a:spcBef>
                <a:spcPts val="600"/>
              </a:spcBef>
              <a:buSzPct val="100000"/>
              <a:buFont typeface="Arial" panose="020B0604020202020204" pitchFamily="34" charset="0"/>
              <a:buChar char="•"/>
            </a:pPr>
            <a:r>
              <a:rPr lang="en-US" sz="1100" b="1" dirty="0">
                <a:solidFill>
                  <a:srgbClr val="313131"/>
                </a:solidFill>
              </a:rPr>
              <a:t>Annual Business Plan</a:t>
            </a:r>
          </a:p>
          <a:p>
            <a:pPr marL="171450" indent="-171450">
              <a:spcBef>
                <a:spcPts val="600"/>
              </a:spcBef>
              <a:buSzPct val="100000"/>
              <a:buFont typeface="Arial" panose="020B0604020202020204" pitchFamily="34" charset="0"/>
              <a:buChar char="•"/>
            </a:pPr>
            <a:r>
              <a:rPr lang="en-US" sz="1100" b="1" dirty="0">
                <a:solidFill>
                  <a:srgbClr val="313131"/>
                </a:solidFill>
              </a:rPr>
              <a:t>Demand – Supply Forecasts</a:t>
            </a:r>
          </a:p>
          <a:p>
            <a:pPr marL="171450" indent="-171450">
              <a:spcBef>
                <a:spcPts val="600"/>
              </a:spcBef>
              <a:buSzPct val="100000"/>
              <a:buFont typeface="Arial" panose="020B0604020202020204" pitchFamily="34" charset="0"/>
              <a:buChar char="•"/>
            </a:pPr>
            <a:r>
              <a:rPr lang="en-US" sz="1100" b="1" dirty="0">
                <a:solidFill>
                  <a:srgbClr val="313131"/>
                </a:solidFill>
              </a:rPr>
              <a:t>Load Curve Forecasts</a:t>
            </a:r>
          </a:p>
          <a:p>
            <a:pPr marL="171450" indent="-171450">
              <a:spcBef>
                <a:spcPts val="600"/>
              </a:spcBef>
              <a:buSzPct val="100000"/>
              <a:buFont typeface="Arial" panose="020B0604020202020204" pitchFamily="34" charset="0"/>
              <a:buChar char="•"/>
            </a:pPr>
            <a:r>
              <a:rPr lang="en-US" sz="1100" b="1" dirty="0">
                <a:solidFill>
                  <a:srgbClr val="313131"/>
                </a:solidFill>
              </a:rPr>
              <a:t>Solar Project Plans</a:t>
            </a:r>
            <a:endParaRPr lang="en-IN" sz="1100" b="1" dirty="0">
              <a:solidFill>
                <a:srgbClr val="313131"/>
              </a:solidFill>
            </a:endParaRPr>
          </a:p>
        </p:txBody>
      </p:sp>
      <p:sp>
        <p:nvSpPr>
          <p:cNvPr id="159" name="TextBox 90"/>
          <p:cNvSpPr txBox="1"/>
          <p:nvPr/>
        </p:nvSpPr>
        <p:spPr>
          <a:xfrm>
            <a:off x="451387" y="3058840"/>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RE Expansion Plan</a:t>
            </a:r>
            <a:endParaRPr lang="en-IN" sz="1100" b="1" dirty="0">
              <a:solidFill>
                <a:srgbClr val="313131"/>
              </a:solidFill>
            </a:endParaRPr>
          </a:p>
        </p:txBody>
      </p:sp>
      <p:sp>
        <p:nvSpPr>
          <p:cNvPr id="160" name="TextBox 91"/>
          <p:cNvSpPr txBox="1"/>
          <p:nvPr/>
        </p:nvSpPr>
        <p:spPr>
          <a:xfrm>
            <a:off x="6952201" y="3075578"/>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Trans. Plan (incl. Sys Op. &amp; Forecast)</a:t>
            </a:r>
            <a:endParaRPr lang="en-IN" sz="1100" b="1" dirty="0">
              <a:solidFill>
                <a:srgbClr val="313131"/>
              </a:solidFill>
            </a:endParaRPr>
          </a:p>
        </p:txBody>
      </p:sp>
      <p:cxnSp>
        <p:nvCxnSpPr>
          <p:cNvPr id="163" name="Straight Arrow Connector 162"/>
          <p:cNvCxnSpPr/>
          <p:nvPr/>
        </p:nvCxnSpPr>
        <p:spPr>
          <a:xfrm>
            <a:off x="5341970" y="3029544"/>
            <a:ext cx="0" cy="2751077"/>
          </a:xfrm>
          <a:prstGeom prst="straightConnector1">
            <a:avLst/>
          </a:prstGeom>
          <a:ln w="25400">
            <a:solidFill>
              <a:srgbClr val="002060"/>
            </a:solidFill>
            <a:prstDash val="dash"/>
            <a:tailEnd type="triangle"/>
          </a:ln>
        </p:spPr>
        <p:style>
          <a:lnRef idx="1">
            <a:schemeClr val="accent4"/>
          </a:lnRef>
          <a:fillRef idx="0">
            <a:schemeClr val="accent4"/>
          </a:fillRef>
          <a:effectRef idx="0">
            <a:schemeClr val="accent4"/>
          </a:effectRef>
          <a:fontRef idx="minor">
            <a:schemeClr val="tx1"/>
          </a:fontRef>
        </p:style>
      </p:cxnSp>
      <p:sp>
        <p:nvSpPr>
          <p:cNvPr id="164" name="TextBox 95"/>
          <p:cNvSpPr txBox="1"/>
          <p:nvPr/>
        </p:nvSpPr>
        <p:spPr>
          <a:xfrm>
            <a:off x="3544943" y="4754037"/>
            <a:ext cx="1765181"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Approved Distribution Plan as per Integrated Master Plan</a:t>
            </a:r>
            <a:endParaRPr lang="en-IN" sz="1100" b="1" dirty="0">
              <a:solidFill>
                <a:srgbClr val="313131"/>
              </a:solidFill>
            </a:endParaRPr>
          </a:p>
        </p:txBody>
      </p:sp>
      <p:cxnSp>
        <p:nvCxnSpPr>
          <p:cNvPr id="165" name="Elbow Connector 164"/>
          <p:cNvCxnSpPr/>
          <p:nvPr/>
        </p:nvCxnSpPr>
        <p:spPr>
          <a:xfrm rot="16200000" flipH="1">
            <a:off x="6777445" y="3083499"/>
            <a:ext cx="2725643" cy="2617731"/>
          </a:xfrm>
          <a:prstGeom prst="bentConnector3">
            <a:avLst>
              <a:gd name="adj1" fmla="val 34624"/>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6" name="TextBox 97"/>
          <p:cNvSpPr txBox="1"/>
          <p:nvPr/>
        </p:nvSpPr>
        <p:spPr>
          <a:xfrm>
            <a:off x="6957524" y="3597537"/>
            <a:ext cx="2502330"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prstClr val="black"/>
                </a:solidFill>
              </a:rPr>
              <a:t>Approved Transmission Plan as per Integrated Master Plan</a:t>
            </a:r>
            <a:endParaRPr lang="en-IN" sz="1100" b="1" dirty="0">
              <a:solidFill>
                <a:prstClr val="black"/>
              </a:solidFill>
            </a:endParaRPr>
          </a:p>
        </p:txBody>
      </p:sp>
      <p:sp>
        <p:nvSpPr>
          <p:cNvPr id="169" name="TextBox 100"/>
          <p:cNvSpPr txBox="1"/>
          <p:nvPr/>
        </p:nvSpPr>
        <p:spPr>
          <a:xfrm>
            <a:off x="7259693" y="964634"/>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a:solidFill>
                  <a:srgbClr val="313131"/>
                </a:solidFill>
              </a:rPr>
              <a:t>Holding Company Responsibilities</a:t>
            </a:r>
            <a:endParaRPr lang="en-IN" sz="1050" b="1" dirty="0">
              <a:solidFill>
                <a:srgbClr val="313131"/>
              </a:solidFill>
            </a:endParaRPr>
          </a:p>
        </p:txBody>
      </p:sp>
      <p:cxnSp>
        <p:nvCxnSpPr>
          <p:cNvPr id="170" name="Elbow Connector 169"/>
          <p:cNvCxnSpPr>
            <a:stCxn id="146"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1" name="Freeform 170"/>
          <p:cNvSpPr>
            <a:spLocks noChangeAspect="1" noEditPoints="1"/>
          </p:cNvSpPr>
          <p:nvPr/>
        </p:nvSpPr>
        <p:spPr bwMode="auto">
          <a:xfrm>
            <a:off x="4103381" y="5905154"/>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172" name="Freeform 171"/>
          <p:cNvSpPr>
            <a:spLocks noChangeAspect="1" noEditPoints="1"/>
          </p:cNvSpPr>
          <p:nvPr/>
        </p:nvSpPr>
        <p:spPr bwMode="auto">
          <a:xfrm>
            <a:off x="824631" y="5911433"/>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173" name="Freeform 172"/>
          <p:cNvSpPr>
            <a:spLocks noChangeAspect="1" noEditPoints="1"/>
          </p:cNvSpPr>
          <p:nvPr/>
        </p:nvSpPr>
        <p:spPr bwMode="auto">
          <a:xfrm>
            <a:off x="7523709" y="5907629"/>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cxnSp>
        <p:nvCxnSpPr>
          <p:cNvPr id="203" name="Elbow Connector 202"/>
          <p:cNvCxnSpPr>
            <a:stCxn id="149" idx="3"/>
          </p:cNvCxnSpPr>
          <p:nvPr/>
        </p:nvCxnSpPr>
        <p:spPr>
          <a:xfrm flipH="1" flipV="1">
            <a:off x="6888218" y="3011985"/>
            <a:ext cx="3343275" cy="3088239"/>
          </a:xfrm>
          <a:prstGeom prst="bentConnector3">
            <a:avLst>
              <a:gd name="adj1" fmla="val -6838"/>
            </a:avLst>
          </a:prstGeom>
          <a:ln w="25400">
            <a:solidFill>
              <a:srgbClr val="0097A9"/>
            </a:solidFill>
            <a:tailEnd type="triangle"/>
          </a:ln>
        </p:spPr>
        <p:style>
          <a:lnRef idx="1">
            <a:schemeClr val="accent1"/>
          </a:lnRef>
          <a:fillRef idx="0">
            <a:schemeClr val="accent1"/>
          </a:fillRef>
          <a:effectRef idx="0">
            <a:schemeClr val="accent1"/>
          </a:effectRef>
          <a:fontRef idx="minor">
            <a:schemeClr val="tx1"/>
          </a:fontRef>
        </p:style>
      </p:cxnSp>
      <p:sp>
        <p:nvSpPr>
          <p:cNvPr id="26" name="Pentagon 25">
            <a:hlinkClick r:id="" action="ppaction://noaction"/>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Tree>
    <p:extLst>
      <p:ext uri="{BB962C8B-B14F-4D97-AF65-F5344CB8AC3E}">
        <p14:creationId xmlns:p14="http://schemas.microsoft.com/office/powerpoint/2010/main" val="138016298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139"/>
          <p:cNvSpPr/>
          <p:nvPr/>
        </p:nvSpPr>
        <p:spPr bwMode="gray">
          <a:xfrm>
            <a:off x="1831833" y="6845676"/>
            <a:ext cx="7159767" cy="463385"/>
          </a:xfrm>
          <a:prstGeom prst="rect">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41" name="Rectangle 40"/>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a:solidFill>
                  <a:prstClr val="white"/>
                </a:solidFill>
              </a:rPr>
              <a:t>BPDB Holding Company</a:t>
            </a:r>
            <a:endParaRPr lang="en-IN" sz="1600" b="1" dirty="0">
              <a:solidFill>
                <a:prstClr val="white"/>
              </a:solidFill>
            </a:endParaRPr>
          </a:p>
        </p:txBody>
      </p:sp>
      <p:sp>
        <p:nvSpPr>
          <p:cNvPr id="42" name="Rectangle 41"/>
          <p:cNvSpPr/>
          <p:nvPr/>
        </p:nvSpPr>
        <p:spPr bwMode="gray">
          <a:xfrm>
            <a:off x="573143" y="5772745"/>
            <a:ext cx="2054651"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Generation Companies</a:t>
            </a:r>
            <a:endParaRPr lang="en-IN" sz="1200" b="1" dirty="0">
              <a:solidFill>
                <a:prstClr val="white"/>
              </a:solidFill>
            </a:endParaRPr>
          </a:p>
        </p:txBody>
      </p:sp>
      <p:sp>
        <p:nvSpPr>
          <p:cNvPr id="43" name="Rectangle 42"/>
          <p:cNvSpPr/>
          <p:nvPr/>
        </p:nvSpPr>
        <p:spPr bwMode="gray">
          <a:xfrm>
            <a:off x="4268263" y="5772745"/>
            <a:ext cx="20556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Distribution Companies</a:t>
            </a:r>
            <a:endParaRPr lang="en-IN" sz="1200" b="1" dirty="0">
              <a:solidFill>
                <a:prstClr val="white"/>
              </a:solidFill>
            </a:endParaRPr>
          </a:p>
        </p:txBody>
      </p:sp>
      <p:sp>
        <p:nvSpPr>
          <p:cNvPr id="44" name="Rectangle 43"/>
          <p:cNvSpPr/>
          <p:nvPr/>
        </p:nvSpPr>
        <p:spPr bwMode="gray">
          <a:xfrm>
            <a:off x="8057081" y="5772745"/>
            <a:ext cx="20556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Transmission Company</a:t>
            </a:r>
            <a:endParaRPr lang="en-IN" sz="1200" b="1" dirty="0">
              <a:solidFill>
                <a:prstClr val="white"/>
              </a:solidFill>
            </a:endParaRPr>
          </a:p>
        </p:txBody>
      </p:sp>
      <p:cxnSp>
        <p:nvCxnSpPr>
          <p:cNvPr id="45" name="Elbow Connector 44"/>
          <p:cNvCxnSpPr>
            <a:stCxn id="42" idx="1"/>
          </p:cNvCxnSpPr>
          <p:nvPr/>
        </p:nvCxnSpPr>
        <p:spPr>
          <a:xfrm rot="10800000" flipH="1">
            <a:off x="573143" y="2960398"/>
            <a:ext cx="3343272" cy="3139827"/>
          </a:xfrm>
          <a:prstGeom prst="bentConnector3">
            <a:avLst>
              <a:gd name="adj1" fmla="val -6838"/>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563683" y="3029544"/>
            <a:ext cx="0" cy="2743201"/>
          </a:xfrm>
          <a:prstGeom prst="straightConnector1">
            <a:avLst/>
          </a:prstGeom>
          <a:ln w="25400">
            <a:solidFill>
              <a:srgbClr val="002060"/>
            </a:solidFill>
            <a:tailEnd type="triangle"/>
          </a:ln>
        </p:spPr>
        <p:style>
          <a:lnRef idx="1">
            <a:schemeClr val="accent4"/>
          </a:lnRef>
          <a:fillRef idx="0">
            <a:schemeClr val="accent4"/>
          </a:fillRef>
          <a:effectRef idx="0">
            <a:schemeClr val="accent4"/>
          </a:effectRef>
          <a:fontRef idx="minor">
            <a:schemeClr val="tx1"/>
          </a:fontRef>
        </p:style>
      </p:cxnSp>
      <p:sp>
        <p:nvSpPr>
          <p:cNvPr id="47" name="TextBox 81"/>
          <p:cNvSpPr txBox="1"/>
          <p:nvPr/>
        </p:nvSpPr>
        <p:spPr>
          <a:xfrm>
            <a:off x="439793" y="3040681"/>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MIS Reporting</a:t>
            </a:r>
            <a:endParaRPr lang="en-IN" sz="1100" b="1" dirty="0">
              <a:solidFill>
                <a:srgbClr val="313131"/>
              </a:solidFill>
            </a:endParaRPr>
          </a:p>
        </p:txBody>
      </p:sp>
      <p:sp>
        <p:nvSpPr>
          <p:cNvPr id="48" name="Rectangle 47"/>
          <p:cNvSpPr/>
          <p:nvPr/>
        </p:nvSpPr>
        <p:spPr bwMode="gray">
          <a:xfrm>
            <a:off x="7030930" y="1069184"/>
            <a:ext cx="3420842" cy="1611375"/>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a:solidFill>
                  <a:prstClr val="black"/>
                </a:solidFill>
              </a:rPr>
              <a:t>Consolidation of Annual Accounts of all Subsidiaries as per Companies Act</a:t>
            </a:r>
          </a:p>
          <a:p>
            <a:pPr marL="108000" indent="-108000">
              <a:lnSpc>
                <a:spcPct val="106000"/>
              </a:lnSpc>
              <a:spcBef>
                <a:spcPts val="400"/>
              </a:spcBef>
              <a:buFont typeface="Arial" panose="020B0604020202020204" pitchFamily="34" charset="0"/>
              <a:buChar char="•"/>
            </a:pPr>
            <a:r>
              <a:rPr lang="en-US" sz="1050" dirty="0">
                <a:solidFill>
                  <a:prstClr val="black"/>
                </a:solidFill>
              </a:rPr>
              <a:t>Integrate Financing/Budget Plans of all Subsidiaries</a:t>
            </a:r>
          </a:p>
          <a:p>
            <a:pPr marL="108000" indent="-108000">
              <a:lnSpc>
                <a:spcPct val="106000"/>
              </a:lnSpc>
              <a:spcBef>
                <a:spcPts val="400"/>
              </a:spcBef>
              <a:buFont typeface="Arial" panose="020B0604020202020204" pitchFamily="34" charset="0"/>
              <a:buChar char="•"/>
            </a:pPr>
            <a:r>
              <a:rPr lang="en-US" sz="1050" dirty="0">
                <a:solidFill>
                  <a:prstClr val="black"/>
                </a:solidFill>
              </a:rPr>
              <a:t>Prepare Inter-Firm Financing Strategy</a:t>
            </a:r>
          </a:p>
          <a:p>
            <a:pPr marL="108000" indent="-108000">
              <a:lnSpc>
                <a:spcPct val="106000"/>
              </a:lnSpc>
              <a:spcBef>
                <a:spcPts val="400"/>
              </a:spcBef>
              <a:buFont typeface="Arial" panose="020B0604020202020204" pitchFamily="34" charset="0"/>
              <a:buChar char="•"/>
            </a:pPr>
            <a:r>
              <a:rPr lang="en-US" sz="1050" dirty="0">
                <a:solidFill>
                  <a:prstClr val="black"/>
                </a:solidFill>
              </a:rPr>
              <a:t>Review Investment / Financing Options for Holding Company in each subsidiary, if required</a:t>
            </a:r>
          </a:p>
          <a:p>
            <a:pPr marL="108000" indent="-108000">
              <a:lnSpc>
                <a:spcPct val="106000"/>
              </a:lnSpc>
              <a:spcBef>
                <a:spcPts val="400"/>
              </a:spcBef>
              <a:buFont typeface="Arial" panose="020B0604020202020204" pitchFamily="34" charset="0"/>
              <a:buChar char="•"/>
            </a:pPr>
            <a:r>
              <a:rPr lang="en-US" sz="1050" dirty="0">
                <a:solidFill>
                  <a:prstClr val="black"/>
                </a:solidFill>
              </a:rPr>
              <a:t>Explore Strategic Inv. Options Abroad</a:t>
            </a:r>
            <a:endParaRPr lang="en-IN" sz="1050" dirty="0">
              <a:solidFill>
                <a:prstClr val="black"/>
              </a:solidFill>
            </a:endParaRPr>
          </a:p>
        </p:txBody>
      </p:sp>
      <p:cxnSp>
        <p:nvCxnSpPr>
          <p:cNvPr id="49" name="Elbow Connector 48"/>
          <p:cNvCxnSpPr/>
          <p:nvPr/>
        </p:nvCxnSpPr>
        <p:spPr>
          <a:xfrm rot="5400000">
            <a:off x="1308117" y="3067238"/>
            <a:ext cx="2752646" cy="2674119"/>
          </a:xfrm>
          <a:prstGeom prst="bentConnector3">
            <a:avLst>
              <a:gd name="adj1" fmla="val 34775"/>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TextBox 84"/>
          <p:cNvSpPr txBox="1"/>
          <p:nvPr/>
        </p:nvSpPr>
        <p:spPr>
          <a:xfrm>
            <a:off x="1387205" y="3727963"/>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Approved Financial/Budget Plan</a:t>
            </a:r>
            <a:endParaRPr lang="en-IN" sz="1100" b="1" dirty="0">
              <a:solidFill>
                <a:srgbClr val="313131"/>
              </a:solidFill>
            </a:endParaRPr>
          </a:p>
        </p:txBody>
      </p:sp>
      <p:cxnSp>
        <p:nvCxnSpPr>
          <p:cNvPr id="55" name="Straight Arrow Connector 54"/>
          <p:cNvCxnSpPr/>
          <p:nvPr/>
        </p:nvCxnSpPr>
        <p:spPr>
          <a:xfrm>
            <a:off x="5341970" y="3029544"/>
            <a:ext cx="0" cy="2751077"/>
          </a:xfrm>
          <a:prstGeom prst="straightConnector1">
            <a:avLst/>
          </a:prstGeom>
          <a:ln w="25400">
            <a:solidFill>
              <a:srgbClr val="002060"/>
            </a:solidFill>
            <a:prstDash val="dash"/>
            <a:tailEnd type="triangle"/>
          </a:ln>
        </p:spPr>
        <p:style>
          <a:lnRef idx="1">
            <a:schemeClr val="accent4"/>
          </a:lnRef>
          <a:fillRef idx="0">
            <a:schemeClr val="accent4"/>
          </a:fillRef>
          <a:effectRef idx="0">
            <a:schemeClr val="accent4"/>
          </a:effectRef>
          <a:fontRef idx="minor">
            <a:schemeClr val="tx1"/>
          </a:fontRef>
        </p:style>
      </p:cxnSp>
      <p:cxnSp>
        <p:nvCxnSpPr>
          <p:cNvPr id="57" name="Elbow Connector 56"/>
          <p:cNvCxnSpPr/>
          <p:nvPr/>
        </p:nvCxnSpPr>
        <p:spPr>
          <a:xfrm rot="16200000" flipH="1">
            <a:off x="6796495" y="3083499"/>
            <a:ext cx="2725643" cy="2617731"/>
          </a:xfrm>
          <a:prstGeom prst="bentConnector3">
            <a:avLst>
              <a:gd name="adj1" fmla="val 34624"/>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9" name="TextBox 100"/>
          <p:cNvSpPr txBox="1"/>
          <p:nvPr/>
        </p:nvSpPr>
        <p:spPr>
          <a:xfrm>
            <a:off x="7266862" y="851186"/>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a:solidFill>
                  <a:srgbClr val="313131"/>
                </a:solidFill>
              </a:rPr>
              <a:t>Holding Company Responsibilities</a:t>
            </a:r>
            <a:endParaRPr lang="en-IN" sz="1050" b="1" dirty="0">
              <a:solidFill>
                <a:srgbClr val="313131"/>
              </a:solidFill>
            </a:endParaRPr>
          </a:p>
        </p:txBody>
      </p:sp>
      <p:cxnSp>
        <p:nvCxnSpPr>
          <p:cNvPr id="60" name="Elbow Connector 59"/>
          <p:cNvCxnSpPr>
            <a:stCxn id="41"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Freeform 60"/>
          <p:cNvSpPr>
            <a:spLocks noChangeAspect="1" noEditPoints="1"/>
          </p:cNvSpPr>
          <p:nvPr/>
        </p:nvSpPr>
        <p:spPr bwMode="auto">
          <a:xfrm>
            <a:off x="4510580" y="5878985"/>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2" name="Freeform 61"/>
          <p:cNvSpPr>
            <a:spLocks noChangeAspect="1" noEditPoints="1"/>
          </p:cNvSpPr>
          <p:nvPr/>
        </p:nvSpPr>
        <p:spPr bwMode="auto">
          <a:xfrm>
            <a:off x="843681" y="5913407"/>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3" name="Freeform 62"/>
          <p:cNvSpPr>
            <a:spLocks noChangeAspect="1" noEditPoints="1"/>
          </p:cNvSpPr>
          <p:nvPr/>
        </p:nvSpPr>
        <p:spPr bwMode="auto">
          <a:xfrm>
            <a:off x="8251395" y="5891322"/>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cxnSp>
        <p:nvCxnSpPr>
          <p:cNvPr id="64" name="Elbow Connector 63"/>
          <p:cNvCxnSpPr>
            <a:stCxn id="44" idx="3"/>
          </p:cNvCxnSpPr>
          <p:nvPr/>
        </p:nvCxnSpPr>
        <p:spPr>
          <a:xfrm flipH="1" flipV="1">
            <a:off x="6888218" y="3011985"/>
            <a:ext cx="3224463" cy="3088239"/>
          </a:xfrm>
          <a:prstGeom prst="bentConnector3">
            <a:avLst>
              <a:gd name="adj1" fmla="val -7090"/>
            </a:avLst>
          </a:prstGeom>
          <a:ln w="25400">
            <a:solidFill>
              <a:srgbClr val="0097A9"/>
            </a:solidFill>
            <a:tailEnd type="triangle"/>
          </a:ln>
        </p:spPr>
        <p:style>
          <a:lnRef idx="1">
            <a:schemeClr val="accent1"/>
          </a:lnRef>
          <a:fillRef idx="0">
            <a:schemeClr val="accent1"/>
          </a:fillRef>
          <a:effectRef idx="0">
            <a:schemeClr val="accent1"/>
          </a:effectRef>
          <a:fontRef idx="minor">
            <a:schemeClr val="tx1"/>
          </a:fontRef>
        </p:style>
      </p:cxnSp>
      <p:sp>
        <p:nvSpPr>
          <p:cNvPr id="89" name="Title 2"/>
          <p:cNvSpPr>
            <a:spLocks noGrp="1"/>
          </p:cNvSpPr>
          <p:nvPr>
            <p:ph type="title"/>
          </p:nvPr>
        </p:nvSpPr>
        <p:spPr>
          <a:xfrm>
            <a:off x="439793" y="350131"/>
            <a:ext cx="9785951" cy="650123"/>
          </a:xfrm>
        </p:spPr>
        <p:txBody>
          <a:bodyPr/>
          <a:lstStyle/>
          <a:p>
            <a:pPr algn="just"/>
            <a:r>
              <a:rPr lang="en-US" b="1" dirty="0"/>
              <a:t>Proposed High Level Relationship for Financial Management</a:t>
            </a:r>
            <a:endParaRPr lang="en-IN" b="1" dirty="0"/>
          </a:p>
        </p:txBody>
      </p:sp>
      <p:sp>
        <p:nvSpPr>
          <p:cNvPr id="91" name="Round Diagonal Corner Rectangle 90"/>
          <p:cNvSpPr/>
          <p:nvPr/>
        </p:nvSpPr>
        <p:spPr bwMode="gray">
          <a:xfrm>
            <a:off x="343708" y="1287075"/>
            <a:ext cx="4681463" cy="740670"/>
          </a:xfrm>
          <a:prstGeom prst="round2Diag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200" b="1" dirty="0">
                <a:solidFill>
                  <a:prstClr val="black"/>
                </a:solidFill>
              </a:rPr>
              <a:t>The Bangladesh Companies Act &amp; Accounting Standards suggest Consolidation of Holding Company and Subsidiary Annual Accounts</a:t>
            </a:r>
            <a:endParaRPr lang="en-IN" sz="1200" b="1" dirty="0">
              <a:solidFill>
                <a:prstClr val="black"/>
              </a:solidFill>
            </a:endParaRPr>
          </a:p>
        </p:txBody>
      </p:sp>
      <p:sp>
        <p:nvSpPr>
          <p:cNvPr id="99" name="Curved Down Arrow 98"/>
          <p:cNvSpPr/>
          <p:nvPr/>
        </p:nvSpPr>
        <p:spPr bwMode="gray">
          <a:xfrm>
            <a:off x="2602219" y="5412858"/>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02" name="Curved Down Arrow 101"/>
          <p:cNvSpPr/>
          <p:nvPr/>
        </p:nvSpPr>
        <p:spPr bwMode="gray">
          <a:xfrm>
            <a:off x="6294179" y="5419500"/>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04" name="TextBox 81"/>
          <p:cNvSpPr txBox="1"/>
          <p:nvPr/>
        </p:nvSpPr>
        <p:spPr>
          <a:xfrm>
            <a:off x="439793" y="273504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Financial / Budget Plan; Annual Accounts</a:t>
            </a:r>
            <a:endParaRPr lang="en-IN" sz="1100" b="1" dirty="0">
              <a:solidFill>
                <a:srgbClr val="313131"/>
              </a:solidFill>
            </a:endParaRPr>
          </a:p>
        </p:txBody>
      </p:sp>
      <p:sp>
        <p:nvSpPr>
          <p:cNvPr id="105" name="TextBox 84"/>
          <p:cNvSpPr txBox="1"/>
          <p:nvPr/>
        </p:nvSpPr>
        <p:spPr>
          <a:xfrm>
            <a:off x="1535319" y="4034745"/>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Assistance in Financing</a:t>
            </a:r>
            <a:endParaRPr lang="en-IN" sz="1100" b="1" dirty="0">
              <a:solidFill>
                <a:srgbClr val="313131"/>
              </a:solidFill>
            </a:endParaRPr>
          </a:p>
        </p:txBody>
      </p:sp>
      <p:sp>
        <p:nvSpPr>
          <p:cNvPr id="107" name="Curved Down Arrow 106"/>
          <p:cNvSpPr/>
          <p:nvPr/>
        </p:nvSpPr>
        <p:spPr bwMode="gray">
          <a:xfrm flipH="1" flipV="1">
            <a:off x="2544064" y="6397568"/>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08" name="Curved Down Arrow 107"/>
          <p:cNvSpPr/>
          <p:nvPr/>
        </p:nvSpPr>
        <p:spPr bwMode="gray">
          <a:xfrm flipH="1" flipV="1">
            <a:off x="6260610" y="6377804"/>
            <a:ext cx="1807929" cy="344551"/>
          </a:xfrm>
          <a:prstGeom prst="curved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09" name="TextBox 81"/>
          <p:cNvSpPr txBox="1"/>
          <p:nvPr/>
        </p:nvSpPr>
        <p:spPr>
          <a:xfrm>
            <a:off x="2789772" y="5780621"/>
            <a:ext cx="1449270"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Inter Firm Financing for </a:t>
            </a:r>
            <a:r>
              <a:rPr lang="en-US" sz="1100" b="1" dirty="0" err="1">
                <a:solidFill>
                  <a:srgbClr val="313131"/>
                </a:solidFill>
              </a:rPr>
              <a:t>Genco</a:t>
            </a:r>
            <a:r>
              <a:rPr lang="en-US" sz="1100" b="1" dirty="0">
                <a:solidFill>
                  <a:srgbClr val="313131"/>
                </a:solidFill>
              </a:rPr>
              <a:t>/</a:t>
            </a:r>
            <a:r>
              <a:rPr lang="en-US" sz="1100" b="1" dirty="0" err="1">
                <a:solidFill>
                  <a:srgbClr val="313131"/>
                </a:solidFill>
              </a:rPr>
              <a:t>Discom</a:t>
            </a:r>
            <a:r>
              <a:rPr lang="en-US" sz="1100" b="1" dirty="0">
                <a:solidFill>
                  <a:srgbClr val="313131"/>
                </a:solidFill>
              </a:rPr>
              <a:t>/Transco</a:t>
            </a:r>
            <a:endParaRPr lang="en-IN" sz="1100" b="1" dirty="0">
              <a:solidFill>
                <a:srgbClr val="313131"/>
              </a:solidFill>
            </a:endParaRPr>
          </a:p>
        </p:txBody>
      </p:sp>
      <p:sp>
        <p:nvSpPr>
          <p:cNvPr id="110" name="TextBox 81"/>
          <p:cNvSpPr txBox="1"/>
          <p:nvPr/>
        </p:nvSpPr>
        <p:spPr>
          <a:xfrm>
            <a:off x="6619269" y="5742585"/>
            <a:ext cx="1449270"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Inter Firm Financing for </a:t>
            </a:r>
            <a:r>
              <a:rPr lang="en-US" sz="1100" b="1" dirty="0" err="1">
                <a:solidFill>
                  <a:srgbClr val="313131"/>
                </a:solidFill>
              </a:rPr>
              <a:t>Genco</a:t>
            </a:r>
            <a:r>
              <a:rPr lang="en-US" sz="1100" b="1" dirty="0">
                <a:solidFill>
                  <a:srgbClr val="313131"/>
                </a:solidFill>
              </a:rPr>
              <a:t>/</a:t>
            </a:r>
            <a:r>
              <a:rPr lang="en-US" sz="1100" b="1" dirty="0" err="1">
                <a:solidFill>
                  <a:srgbClr val="313131"/>
                </a:solidFill>
              </a:rPr>
              <a:t>Discom</a:t>
            </a:r>
            <a:r>
              <a:rPr lang="en-US" sz="1100" b="1" dirty="0">
                <a:solidFill>
                  <a:srgbClr val="313131"/>
                </a:solidFill>
              </a:rPr>
              <a:t>/Transco</a:t>
            </a:r>
            <a:endParaRPr lang="en-IN" sz="1100" b="1" dirty="0">
              <a:solidFill>
                <a:srgbClr val="313131"/>
              </a:solidFill>
            </a:endParaRPr>
          </a:p>
        </p:txBody>
      </p:sp>
      <p:cxnSp>
        <p:nvCxnSpPr>
          <p:cNvPr id="112" name="Elbow Connector 111"/>
          <p:cNvCxnSpPr/>
          <p:nvPr/>
        </p:nvCxnSpPr>
        <p:spPr>
          <a:xfrm rot="5400000">
            <a:off x="2377214" y="3416716"/>
            <a:ext cx="2509405" cy="1757337"/>
          </a:xfrm>
          <a:prstGeom prst="bentConnector3">
            <a:avLst>
              <a:gd name="adj1" fmla="val 50000"/>
            </a:avLst>
          </a:prstGeom>
          <a:ln w="25400">
            <a:solidFill>
              <a:srgbClr val="6EBBE7"/>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Elbow Connector 116"/>
          <p:cNvCxnSpPr/>
          <p:nvPr/>
        </p:nvCxnSpPr>
        <p:spPr>
          <a:xfrm rot="16200000" flipH="1">
            <a:off x="5937213" y="3594209"/>
            <a:ext cx="2506385" cy="1399328"/>
          </a:xfrm>
          <a:prstGeom prst="bentConnector3">
            <a:avLst>
              <a:gd name="adj1" fmla="val 50000"/>
            </a:avLst>
          </a:prstGeom>
          <a:ln w="25400">
            <a:solidFill>
              <a:srgbClr val="6EBBE7"/>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81"/>
          <p:cNvSpPr txBox="1"/>
          <p:nvPr/>
        </p:nvSpPr>
        <p:spPr>
          <a:xfrm>
            <a:off x="5617546" y="4772555"/>
            <a:ext cx="2174691" cy="661720"/>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a:solidFill>
                  <a:srgbClr val="313131"/>
                </a:solidFill>
              </a:rPr>
              <a:t>Financial / Budget Plan</a:t>
            </a:r>
          </a:p>
          <a:p>
            <a:pPr marL="171450" indent="-171450">
              <a:spcBef>
                <a:spcPts val="600"/>
              </a:spcBef>
              <a:buSzPct val="100000"/>
              <a:buFont typeface="Arial" panose="020B0604020202020204" pitchFamily="34" charset="0"/>
              <a:buChar char="•"/>
            </a:pPr>
            <a:r>
              <a:rPr lang="en-US" sz="1100" b="1" dirty="0">
                <a:solidFill>
                  <a:srgbClr val="313131"/>
                </a:solidFill>
              </a:rPr>
              <a:t>Annual Accounts</a:t>
            </a:r>
          </a:p>
          <a:p>
            <a:pPr marL="171450" indent="-171450">
              <a:spcBef>
                <a:spcPts val="600"/>
              </a:spcBef>
              <a:buSzPct val="100000"/>
              <a:buFont typeface="Arial" panose="020B0604020202020204" pitchFamily="34" charset="0"/>
              <a:buChar char="•"/>
            </a:pPr>
            <a:r>
              <a:rPr lang="en-US" sz="1100" b="1" dirty="0">
                <a:solidFill>
                  <a:srgbClr val="313131"/>
                </a:solidFill>
              </a:rPr>
              <a:t>MIS Reporting </a:t>
            </a:r>
            <a:endParaRPr lang="en-IN" sz="1100" b="1" dirty="0">
              <a:solidFill>
                <a:srgbClr val="313131"/>
              </a:solidFill>
            </a:endParaRPr>
          </a:p>
        </p:txBody>
      </p:sp>
      <p:sp>
        <p:nvSpPr>
          <p:cNvPr id="132" name="TextBox 81"/>
          <p:cNvSpPr txBox="1"/>
          <p:nvPr/>
        </p:nvSpPr>
        <p:spPr>
          <a:xfrm>
            <a:off x="3276560" y="4772555"/>
            <a:ext cx="2174691" cy="584775"/>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a:solidFill>
                  <a:srgbClr val="313131"/>
                </a:solidFill>
              </a:rPr>
              <a:t>Approved Financial / Budget Plan</a:t>
            </a:r>
          </a:p>
          <a:p>
            <a:pPr marL="171450" indent="-171450">
              <a:spcBef>
                <a:spcPts val="600"/>
              </a:spcBef>
              <a:buSzPct val="100000"/>
              <a:buFont typeface="Arial" panose="020B0604020202020204" pitchFamily="34" charset="0"/>
              <a:buChar char="•"/>
            </a:pPr>
            <a:r>
              <a:rPr lang="en-US" sz="1100" b="1" dirty="0">
                <a:solidFill>
                  <a:srgbClr val="313131"/>
                </a:solidFill>
              </a:rPr>
              <a:t>Assistance in Financing</a:t>
            </a:r>
            <a:endParaRPr lang="en-IN" sz="1100" b="1" dirty="0">
              <a:solidFill>
                <a:srgbClr val="313131"/>
              </a:solidFill>
            </a:endParaRPr>
          </a:p>
        </p:txBody>
      </p:sp>
      <p:sp>
        <p:nvSpPr>
          <p:cNvPr id="133" name="TextBox 81"/>
          <p:cNvSpPr txBox="1"/>
          <p:nvPr/>
        </p:nvSpPr>
        <p:spPr>
          <a:xfrm>
            <a:off x="7003040" y="2771210"/>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Financial / Budget Plan; Annual Accounts</a:t>
            </a:r>
            <a:endParaRPr lang="en-IN" sz="1100" b="1" dirty="0">
              <a:solidFill>
                <a:srgbClr val="313131"/>
              </a:solidFill>
            </a:endParaRPr>
          </a:p>
        </p:txBody>
      </p:sp>
      <p:sp>
        <p:nvSpPr>
          <p:cNvPr id="134" name="TextBox 81"/>
          <p:cNvSpPr txBox="1"/>
          <p:nvPr/>
        </p:nvSpPr>
        <p:spPr>
          <a:xfrm>
            <a:off x="7028895" y="3040681"/>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MIS Reporting</a:t>
            </a:r>
            <a:endParaRPr lang="en-IN" sz="1100" b="1" dirty="0">
              <a:solidFill>
                <a:srgbClr val="313131"/>
              </a:solidFill>
            </a:endParaRPr>
          </a:p>
        </p:txBody>
      </p:sp>
      <p:sp>
        <p:nvSpPr>
          <p:cNvPr id="135" name="TextBox 84"/>
          <p:cNvSpPr txBox="1"/>
          <p:nvPr/>
        </p:nvSpPr>
        <p:spPr>
          <a:xfrm>
            <a:off x="6924368" y="3727963"/>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Approved Financial/Budget Plan</a:t>
            </a:r>
            <a:endParaRPr lang="en-IN" sz="1100" b="1" dirty="0">
              <a:solidFill>
                <a:srgbClr val="313131"/>
              </a:solidFill>
            </a:endParaRPr>
          </a:p>
        </p:txBody>
      </p:sp>
      <p:sp>
        <p:nvSpPr>
          <p:cNvPr id="136" name="TextBox 84"/>
          <p:cNvSpPr txBox="1"/>
          <p:nvPr/>
        </p:nvSpPr>
        <p:spPr>
          <a:xfrm>
            <a:off x="7359734" y="3998222"/>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Assistance in Financing</a:t>
            </a:r>
            <a:endParaRPr lang="en-IN" sz="1100" b="1" dirty="0">
              <a:solidFill>
                <a:srgbClr val="313131"/>
              </a:solidFill>
            </a:endParaRPr>
          </a:p>
        </p:txBody>
      </p:sp>
      <p:sp>
        <p:nvSpPr>
          <p:cNvPr id="137" name="Rounded Rectangle 136"/>
          <p:cNvSpPr/>
          <p:nvPr/>
        </p:nvSpPr>
        <p:spPr bwMode="gray">
          <a:xfrm>
            <a:off x="2444611" y="6917754"/>
            <a:ext cx="2123143" cy="342900"/>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prstClr val="white"/>
                </a:solidFill>
              </a:rPr>
              <a:t>Cross Border Trade</a:t>
            </a:r>
            <a:endParaRPr lang="en-IN" sz="1100" b="1" dirty="0">
              <a:solidFill>
                <a:prstClr val="white"/>
              </a:solidFill>
            </a:endParaRPr>
          </a:p>
        </p:txBody>
      </p:sp>
      <p:sp>
        <p:nvSpPr>
          <p:cNvPr id="138" name="Rounded Rectangle 137"/>
          <p:cNvSpPr/>
          <p:nvPr/>
        </p:nvSpPr>
        <p:spPr bwMode="gray">
          <a:xfrm>
            <a:off x="6136571" y="6922437"/>
            <a:ext cx="2123143" cy="342900"/>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prstClr val="white"/>
                </a:solidFill>
              </a:rPr>
              <a:t>Strategic Investments</a:t>
            </a:r>
            <a:endParaRPr lang="en-IN" sz="1100" b="1" dirty="0">
              <a:solidFill>
                <a:prstClr val="white"/>
              </a:solidFill>
            </a:endParaRPr>
          </a:p>
        </p:txBody>
      </p:sp>
      <p:sp>
        <p:nvSpPr>
          <p:cNvPr id="141" name="Right Arrow 140"/>
          <p:cNvSpPr/>
          <p:nvPr/>
        </p:nvSpPr>
        <p:spPr bwMode="gray">
          <a:xfrm rot="3000000">
            <a:off x="1946273"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42" name="Right Arrow 141"/>
          <p:cNvSpPr/>
          <p:nvPr/>
        </p:nvSpPr>
        <p:spPr bwMode="gray">
          <a:xfrm rot="5400000">
            <a:off x="5310662"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43" name="Right Arrow 142"/>
          <p:cNvSpPr/>
          <p:nvPr/>
        </p:nvSpPr>
        <p:spPr bwMode="gray">
          <a:xfrm rot="8400000">
            <a:off x="8227120"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cxnSp>
        <p:nvCxnSpPr>
          <p:cNvPr id="145" name="Elbow Connector 144"/>
          <p:cNvCxnSpPr>
            <a:endCxn id="140" idx="1"/>
          </p:cNvCxnSpPr>
          <p:nvPr/>
        </p:nvCxnSpPr>
        <p:spPr>
          <a:xfrm rot="5400000">
            <a:off x="629434" y="3790383"/>
            <a:ext cx="4489385" cy="2084586"/>
          </a:xfrm>
          <a:prstGeom prst="bentConnector4">
            <a:avLst>
              <a:gd name="adj1" fmla="val -105"/>
              <a:gd name="adj2" fmla="val 180419"/>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Pentagon 50">
            <a:hlinkClick r:id="" action="ppaction://noaction"/>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Tree>
    <p:extLst>
      <p:ext uri="{BB962C8B-B14F-4D97-AF65-F5344CB8AC3E}">
        <p14:creationId xmlns:p14="http://schemas.microsoft.com/office/powerpoint/2010/main" val="335828906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a:solidFill>
                  <a:prstClr val="white"/>
                </a:solidFill>
              </a:rPr>
              <a:t>BPDB Holding Company</a:t>
            </a:r>
            <a:endParaRPr lang="en-IN" sz="1600" b="1" dirty="0">
              <a:solidFill>
                <a:prstClr val="white"/>
              </a:solidFill>
            </a:endParaRPr>
          </a:p>
        </p:txBody>
      </p:sp>
      <p:sp>
        <p:nvSpPr>
          <p:cNvPr id="42" name="Rectangle 41"/>
          <p:cNvSpPr/>
          <p:nvPr/>
        </p:nvSpPr>
        <p:spPr bwMode="gray">
          <a:xfrm>
            <a:off x="573143" y="5772745"/>
            <a:ext cx="2054651"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Generation Companies</a:t>
            </a:r>
            <a:endParaRPr lang="en-IN" sz="1200" b="1" dirty="0">
              <a:solidFill>
                <a:prstClr val="white"/>
              </a:solidFill>
            </a:endParaRPr>
          </a:p>
        </p:txBody>
      </p:sp>
      <p:sp>
        <p:nvSpPr>
          <p:cNvPr id="43" name="Rectangle 42"/>
          <p:cNvSpPr/>
          <p:nvPr/>
        </p:nvSpPr>
        <p:spPr bwMode="gray">
          <a:xfrm>
            <a:off x="4268263" y="5772745"/>
            <a:ext cx="20556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Distribution Companies</a:t>
            </a:r>
            <a:endParaRPr lang="en-IN" sz="1200" b="1" dirty="0">
              <a:solidFill>
                <a:prstClr val="white"/>
              </a:solidFill>
            </a:endParaRPr>
          </a:p>
        </p:txBody>
      </p:sp>
      <p:sp>
        <p:nvSpPr>
          <p:cNvPr id="44" name="Rectangle 43"/>
          <p:cNvSpPr/>
          <p:nvPr/>
        </p:nvSpPr>
        <p:spPr bwMode="gray">
          <a:xfrm>
            <a:off x="8057081" y="5772745"/>
            <a:ext cx="20556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Transmission Company</a:t>
            </a:r>
            <a:endParaRPr lang="en-IN" sz="1200" b="1" dirty="0">
              <a:solidFill>
                <a:prstClr val="white"/>
              </a:solidFill>
            </a:endParaRPr>
          </a:p>
        </p:txBody>
      </p:sp>
      <p:cxnSp>
        <p:nvCxnSpPr>
          <p:cNvPr id="45" name="Elbow Connector 44"/>
          <p:cNvCxnSpPr>
            <a:stCxn id="42" idx="1"/>
          </p:cNvCxnSpPr>
          <p:nvPr/>
        </p:nvCxnSpPr>
        <p:spPr>
          <a:xfrm rot="10800000" flipH="1">
            <a:off x="573143" y="2960398"/>
            <a:ext cx="3343272" cy="3139827"/>
          </a:xfrm>
          <a:prstGeom prst="bentConnector3">
            <a:avLst>
              <a:gd name="adj1" fmla="val -6838"/>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563683" y="3029544"/>
            <a:ext cx="0" cy="2743201"/>
          </a:xfrm>
          <a:prstGeom prst="straightConnector1">
            <a:avLst/>
          </a:prstGeom>
          <a:ln w="25400">
            <a:solidFill>
              <a:srgbClr val="002060"/>
            </a:solidFill>
            <a:tailEnd type="triangle"/>
          </a:ln>
        </p:spPr>
        <p:style>
          <a:lnRef idx="1">
            <a:schemeClr val="accent4"/>
          </a:lnRef>
          <a:fillRef idx="0">
            <a:schemeClr val="accent4"/>
          </a:fillRef>
          <a:effectRef idx="0">
            <a:schemeClr val="accent4"/>
          </a:effectRef>
          <a:fontRef idx="minor">
            <a:schemeClr val="tx1"/>
          </a:fontRef>
        </p:style>
      </p:cxnSp>
      <p:sp>
        <p:nvSpPr>
          <p:cNvPr id="47" name="TextBox 81"/>
          <p:cNvSpPr txBox="1"/>
          <p:nvPr/>
        </p:nvSpPr>
        <p:spPr>
          <a:xfrm>
            <a:off x="439793" y="3040681"/>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Submit Business Review Report</a:t>
            </a:r>
            <a:endParaRPr lang="en-IN" sz="1100" b="1" dirty="0">
              <a:solidFill>
                <a:srgbClr val="313131"/>
              </a:solidFill>
            </a:endParaRPr>
          </a:p>
        </p:txBody>
      </p:sp>
      <p:sp>
        <p:nvSpPr>
          <p:cNvPr id="48" name="Rectangle 47"/>
          <p:cNvSpPr/>
          <p:nvPr/>
        </p:nvSpPr>
        <p:spPr bwMode="gray">
          <a:xfrm>
            <a:off x="7030930" y="1069184"/>
            <a:ext cx="3420842" cy="1285879"/>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a:solidFill>
                  <a:prstClr val="black"/>
                </a:solidFill>
              </a:rPr>
              <a:t>Prepare Risk Management Policies, SOPs and Manuals</a:t>
            </a:r>
          </a:p>
          <a:p>
            <a:pPr marL="108000" indent="-108000">
              <a:lnSpc>
                <a:spcPct val="106000"/>
              </a:lnSpc>
              <a:spcBef>
                <a:spcPts val="400"/>
              </a:spcBef>
              <a:buFont typeface="Arial" panose="020B0604020202020204" pitchFamily="34" charset="0"/>
              <a:buChar char="•"/>
            </a:pPr>
            <a:r>
              <a:rPr lang="en-US" sz="1050" dirty="0">
                <a:solidFill>
                  <a:prstClr val="black"/>
                </a:solidFill>
              </a:rPr>
              <a:t>Assist in conducting risk assessments</a:t>
            </a:r>
          </a:p>
          <a:p>
            <a:pPr marL="108000" indent="-108000">
              <a:lnSpc>
                <a:spcPct val="106000"/>
              </a:lnSpc>
              <a:spcBef>
                <a:spcPts val="400"/>
              </a:spcBef>
              <a:buFont typeface="Arial" panose="020B0604020202020204" pitchFamily="34" charset="0"/>
              <a:buChar char="•"/>
            </a:pPr>
            <a:r>
              <a:rPr lang="en-US" sz="1050" dirty="0">
                <a:solidFill>
                  <a:prstClr val="black"/>
                </a:solidFill>
              </a:rPr>
              <a:t>Monitor &amp; Review Performance of subsidiaries and assist in improvement</a:t>
            </a:r>
          </a:p>
          <a:p>
            <a:pPr marL="108000" indent="-108000">
              <a:lnSpc>
                <a:spcPct val="106000"/>
              </a:lnSpc>
              <a:spcBef>
                <a:spcPts val="400"/>
              </a:spcBef>
              <a:buFont typeface="Arial" panose="020B0604020202020204" pitchFamily="34" charset="0"/>
              <a:buChar char="•"/>
            </a:pPr>
            <a:r>
              <a:rPr lang="en-US" sz="1050" dirty="0">
                <a:solidFill>
                  <a:prstClr val="black"/>
                </a:solidFill>
              </a:rPr>
              <a:t>Project Monitoring &amp; Assistance</a:t>
            </a:r>
            <a:endParaRPr lang="en-IN" sz="1050" dirty="0">
              <a:solidFill>
                <a:prstClr val="black"/>
              </a:solidFill>
            </a:endParaRPr>
          </a:p>
        </p:txBody>
      </p:sp>
      <p:cxnSp>
        <p:nvCxnSpPr>
          <p:cNvPr id="49" name="Elbow Connector 48"/>
          <p:cNvCxnSpPr/>
          <p:nvPr/>
        </p:nvCxnSpPr>
        <p:spPr>
          <a:xfrm rot="5400000">
            <a:off x="1308117" y="3067238"/>
            <a:ext cx="2752646" cy="2674119"/>
          </a:xfrm>
          <a:prstGeom prst="bentConnector3">
            <a:avLst>
              <a:gd name="adj1" fmla="val 34775"/>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TextBox 84"/>
          <p:cNvSpPr txBox="1"/>
          <p:nvPr/>
        </p:nvSpPr>
        <p:spPr>
          <a:xfrm>
            <a:off x="1442691" y="3727963"/>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Risk Management Policies, SOPs</a:t>
            </a:r>
            <a:endParaRPr lang="en-IN" sz="1100" b="1" dirty="0">
              <a:solidFill>
                <a:srgbClr val="313131"/>
              </a:solidFill>
            </a:endParaRPr>
          </a:p>
        </p:txBody>
      </p:sp>
      <p:cxnSp>
        <p:nvCxnSpPr>
          <p:cNvPr id="55" name="Straight Arrow Connector 54"/>
          <p:cNvCxnSpPr/>
          <p:nvPr/>
        </p:nvCxnSpPr>
        <p:spPr>
          <a:xfrm>
            <a:off x="5341970" y="3029544"/>
            <a:ext cx="0" cy="2751077"/>
          </a:xfrm>
          <a:prstGeom prst="straightConnector1">
            <a:avLst/>
          </a:prstGeom>
          <a:ln w="25400">
            <a:solidFill>
              <a:srgbClr val="002060"/>
            </a:solidFill>
            <a:prstDash val="dash"/>
            <a:tailEnd type="triangle"/>
          </a:ln>
        </p:spPr>
        <p:style>
          <a:lnRef idx="1">
            <a:schemeClr val="accent4"/>
          </a:lnRef>
          <a:fillRef idx="0">
            <a:schemeClr val="accent4"/>
          </a:fillRef>
          <a:effectRef idx="0">
            <a:schemeClr val="accent4"/>
          </a:effectRef>
          <a:fontRef idx="minor">
            <a:schemeClr val="tx1"/>
          </a:fontRef>
        </p:style>
      </p:cxnSp>
      <p:cxnSp>
        <p:nvCxnSpPr>
          <p:cNvPr id="57" name="Elbow Connector 56"/>
          <p:cNvCxnSpPr/>
          <p:nvPr/>
        </p:nvCxnSpPr>
        <p:spPr>
          <a:xfrm rot="16200000" flipH="1">
            <a:off x="6796495" y="3083499"/>
            <a:ext cx="2725643" cy="2617731"/>
          </a:xfrm>
          <a:prstGeom prst="bentConnector3">
            <a:avLst>
              <a:gd name="adj1" fmla="val 34624"/>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9" name="TextBox 100"/>
          <p:cNvSpPr txBox="1"/>
          <p:nvPr/>
        </p:nvSpPr>
        <p:spPr>
          <a:xfrm>
            <a:off x="7266862" y="851186"/>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a:solidFill>
                  <a:srgbClr val="313131"/>
                </a:solidFill>
              </a:rPr>
              <a:t>Holding Company Responsibilities</a:t>
            </a:r>
            <a:endParaRPr lang="en-IN" sz="1050" b="1" dirty="0">
              <a:solidFill>
                <a:srgbClr val="313131"/>
              </a:solidFill>
            </a:endParaRPr>
          </a:p>
        </p:txBody>
      </p:sp>
      <p:cxnSp>
        <p:nvCxnSpPr>
          <p:cNvPr id="60" name="Elbow Connector 59"/>
          <p:cNvCxnSpPr>
            <a:stCxn id="41"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Freeform 60"/>
          <p:cNvSpPr>
            <a:spLocks noChangeAspect="1" noEditPoints="1"/>
          </p:cNvSpPr>
          <p:nvPr/>
        </p:nvSpPr>
        <p:spPr bwMode="auto">
          <a:xfrm>
            <a:off x="4510580" y="5878985"/>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2" name="Freeform 61"/>
          <p:cNvSpPr>
            <a:spLocks noChangeAspect="1" noEditPoints="1"/>
          </p:cNvSpPr>
          <p:nvPr/>
        </p:nvSpPr>
        <p:spPr bwMode="auto">
          <a:xfrm>
            <a:off x="843681" y="5913407"/>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3" name="Freeform 62"/>
          <p:cNvSpPr>
            <a:spLocks noChangeAspect="1" noEditPoints="1"/>
          </p:cNvSpPr>
          <p:nvPr/>
        </p:nvSpPr>
        <p:spPr bwMode="auto">
          <a:xfrm>
            <a:off x="8251395" y="5891322"/>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cxnSp>
        <p:nvCxnSpPr>
          <p:cNvPr id="64" name="Elbow Connector 63"/>
          <p:cNvCxnSpPr>
            <a:stCxn id="44" idx="3"/>
          </p:cNvCxnSpPr>
          <p:nvPr/>
        </p:nvCxnSpPr>
        <p:spPr>
          <a:xfrm flipH="1" flipV="1">
            <a:off x="6888218" y="3011985"/>
            <a:ext cx="3224463" cy="3088239"/>
          </a:xfrm>
          <a:prstGeom prst="bentConnector3">
            <a:avLst>
              <a:gd name="adj1" fmla="val -7090"/>
            </a:avLst>
          </a:prstGeom>
          <a:ln w="25400">
            <a:solidFill>
              <a:srgbClr val="0097A9"/>
            </a:solidFill>
            <a:tailEnd type="triangle"/>
          </a:ln>
        </p:spPr>
        <p:style>
          <a:lnRef idx="1">
            <a:schemeClr val="accent1"/>
          </a:lnRef>
          <a:fillRef idx="0">
            <a:schemeClr val="accent1"/>
          </a:fillRef>
          <a:effectRef idx="0">
            <a:schemeClr val="accent1"/>
          </a:effectRef>
          <a:fontRef idx="minor">
            <a:schemeClr val="tx1"/>
          </a:fontRef>
        </p:style>
      </p:cxnSp>
      <p:sp>
        <p:nvSpPr>
          <p:cNvPr id="89" name="Title 2"/>
          <p:cNvSpPr>
            <a:spLocks noGrp="1"/>
          </p:cNvSpPr>
          <p:nvPr>
            <p:ph type="title"/>
          </p:nvPr>
        </p:nvSpPr>
        <p:spPr>
          <a:xfrm>
            <a:off x="439793" y="350131"/>
            <a:ext cx="9785951" cy="650123"/>
          </a:xfrm>
        </p:spPr>
        <p:txBody>
          <a:bodyPr/>
          <a:lstStyle/>
          <a:p>
            <a:pPr algn="just"/>
            <a:r>
              <a:rPr lang="en-US" b="1" dirty="0"/>
              <a:t>Proposed High Level Relationship for Monitoring &amp; Accountability</a:t>
            </a:r>
            <a:endParaRPr lang="en-IN" b="1" dirty="0"/>
          </a:p>
        </p:txBody>
      </p:sp>
      <p:sp>
        <p:nvSpPr>
          <p:cNvPr id="104" name="TextBox 81"/>
          <p:cNvSpPr txBox="1"/>
          <p:nvPr/>
        </p:nvSpPr>
        <p:spPr>
          <a:xfrm>
            <a:off x="458843" y="273504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MIS Reporting</a:t>
            </a:r>
            <a:r>
              <a:rPr lang="en-IN" sz="1100" b="1" dirty="0">
                <a:solidFill>
                  <a:srgbClr val="313131"/>
                </a:solidFill>
              </a:rPr>
              <a:t>; </a:t>
            </a:r>
            <a:r>
              <a:rPr lang="en-US" sz="1100" b="1" dirty="0">
                <a:solidFill>
                  <a:srgbClr val="313131"/>
                </a:solidFill>
              </a:rPr>
              <a:t>Risk Management Plan </a:t>
            </a:r>
            <a:endParaRPr lang="en-IN" sz="1100" b="1" dirty="0">
              <a:solidFill>
                <a:srgbClr val="313131"/>
              </a:solidFill>
            </a:endParaRPr>
          </a:p>
        </p:txBody>
      </p:sp>
      <p:sp>
        <p:nvSpPr>
          <p:cNvPr id="105" name="TextBox 84"/>
          <p:cNvSpPr txBox="1"/>
          <p:nvPr/>
        </p:nvSpPr>
        <p:spPr>
          <a:xfrm>
            <a:off x="1535319" y="4034745"/>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Assistance in Risk Mitigation</a:t>
            </a:r>
            <a:endParaRPr lang="en-IN" sz="1100" b="1" dirty="0">
              <a:solidFill>
                <a:srgbClr val="313131"/>
              </a:solidFill>
            </a:endParaRPr>
          </a:p>
        </p:txBody>
      </p:sp>
      <p:sp>
        <p:nvSpPr>
          <p:cNvPr id="120" name="TextBox 81"/>
          <p:cNvSpPr txBox="1"/>
          <p:nvPr/>
        </p:nvSpPr>
        <p:spPr>
          <a:xfrm>
            <a:off x="5749834" y="4763798"/>
            <a:ext cx="3264907" cy="907941"/>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a:solidFill>
                  <a:srgbClr val="313131"/>
                </a:solidFill>
              </a:rPr>
              <a:t>Performance Reporting as per SOP</a:t>
            </a:r>
          </a:p>
          <a:p>
            <a:pPr marL="171450" indent="-171450">
              <a:spcBef>
                <a:spcPts val="600"/>
              </a:spcBef>
              <a:buSzPct val="100000"/>
              <a:buFont typeface="Arial" panose="020B0604020202020204" pitchFamily="34" charset="0"/>
              <a:buChar char="•"/>
            </a:pPr>
            <a:r>
              <a:rPr lang="en-US" sz="1100" b="1" dirty="0">
                <a:solidFill>
                  <a:srgbClr val="313131"/>
                </a:solidFill>
              </a:rPr>
              <a:t>MIS Reporting</a:t>
            </a:r>
          </a:p>
          <a:p>
            <a:pPr marL="171450" indent="-171450">
              <a:spcBef>
                <a:spcPts val="600"/>
              </a:spcBef>
              <a:buSzPct val="100000"/>
              <a:buFont typeface="Arial" panose="020B0604020202020204" pitchFamily="34" charset="0"/>
              <a:buChar char="•"/>
            </a:pPr>
            <a:r>
              <a:rPr lang="en-US" sz="1100" b="1" dirty="0">
                <a:solidFill>
                  <a:srgbClr val="313131"/>
                </a:solidFill>
              </a:rPr>
              <a:t>Risk Management Plan</a:t>
            </a:r>
          </a:p>
          <a:p>
            <a:pPr marL="171450" indent="-171450">
              <a:spcBef>
                <a:spcPts val="600"/>
              </a:spcBef>
              <a:buSzPct val="100000"/>
              <a:buFont typeface="Arial" panose="020B0604020202020204" pitchFamily="34" charset="0"/>
              <a:buChar char="•"/>
            </a:pPr>
            <a:r>
              <a:rPr lang="en-US" sz="1100" b="1" dirty="0">
                <a:solidFill>
                  <a:srgbClr val="313131"/>
                </a:solidFill>
              </a:rPr>
              <a:t>Submit Business Review Report</a:t>
            </a:r>
            <a:endParaRPr lang="en-IN" sz="1100" b="1" dirty="0">
              <a:solidFill>
                <a:srgbClr val="313131"/>
              </a:solidFill>
            </a:endParaRPr>
          </a:p>
        </p:txBody>
      </p:sp>
      <p:sp>
        <p:nvSpPr>
          <p:cNvPr id="132" name="TextBox 81"/>
          <p:cNvSpPr txBox="1"/>
          <p:nvPr/>
        </p:nvSpPr>
        <p:spPr>
          <a:xfrm>
            <a:off x="2551271" y="4870416"/>
            <a:ext cx="2829239" cy="83099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600"/>
              </a:spcBef>
              <a:buSzPct val="100000"/>
              <a:buFont typeface="Arial" panose="020B0604020202020204" pitchFamily="34" charset="0"/>
              <a:buChar char="•"/>
            </a:pPr>
            <a:r>
              <a:rPr lang="en-US" sz="1100" b="1" dirty="0">
                <a:solidFill>
                  <a:srgbClr val="313131"/>
                </a:solidFill>
              </a:rPr>
              <a:t>Risk Management Policies, SOPs</a:t>
            </a:r>
          </a:p>
          <a:p>
            <a:pPr marL="171450" indent="-171450">
              <a:spcBef>
                <a:spcPts val="600"/>
              </a:spcBef>
              <a:buSzPct val="100000"/>
              <a:buFont typeface="Arial" panose="020B0604020202020204" pitchFamily="34" charset="0"/>
              <a:buChar char="•"/>
            </a:pPr>
            <a:r>
              <a:rPr lang="en-US" sz="1100" b="1" dirty="0">
                <a:solidFill>
                  <a:srgbClr val="313131"/>
                </a:solidFill>
              </a:rPr>
              <a:t>Assistance in Risk Mitigation</a:t>
            </a:r>
          </a:p>
          <a:p>
            <a:pPr marL="171450" indent="-171450">
              <a:spcBef>
                <a:spcPts val="600"/>
              </a:spcBef>
              <a:buSzPct val="100000"/>
              <a:buFont typeface="Arial" panose="020B0604020202020204" pitchFamily="34" charset="0"/>
              <a:buChar char="•"/>
            </a:pPr>
            <a:r>
              <a:rPr lang="en-US" sz="1100" b="1" dirty="0">
                <a:solidFill>
                  <a:srgbClr val="313131"/>
                </a:solidFill>
              </a:rPr>
              <a:t>Performance Monitoring &amp; improvement</a:t>
            </a:r>
            <a:endParaRPr lang="en-IN" sz="1100" b="1" dirty="0">
              <a:solidFill>
                <a:srgbClr val="313131"/>
              </a:solidFill>
            </a:endParaRPr>
          </a:p>
        </p:txBody>
      </p:sp>
      <p:sp>
        <p:nvSpPr>
          <p:cNvPr id="137" name="Rounded Rectangle 136"/>
          <p:cNvSpPr/>
          <p:nvPr/>
        </p:nvSpPr>
        <p:spPr bwMode="gray">
          <a:xfrm>
            <a:off x="1789895" y="6858056"/>
            <a:ext cx="7224846" cy="358497"/>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100" b="1" dirty="0">
                <a:solidFill>
                  <a:prstClr val="white"/>
                </a:solidFill>
              </a:rPr>
              <a:t>Holding Company Project Monitoring Unit</a:t>
            </a:r>
            <a:endParaRPr lang="en-IN" sz="1100" b="1" dirty="0">
              <a:solidFill>
                <a:prstClr val="white"/>
              </a:solidFill>
            </a:endParaRPr>
          </a:p>
        </p:txBody>
      </p:sp>
      <p:sp>
        <p:nvSpPr>
          <p:cNvPr id="141" name="Right Arrow 140"/>
          <p:cNvSpPr/>
          <p:nvPr/>
        </p:nvSpPr>
        <p:spPr bwMode="gray">
          <a:xfrm rot="3000000">
            <a:off x="1946273"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42" name="Right Arrow 141"/>
          <p:cNvSpPr/>
          <p:nvPr/>
        </p:nvSpPr>
        <p:spPr bwMode="gray">
          <a:xfrm rot="5400000">
            <a:off x="5310662"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43" name="Right Arrow 142"/>
          <p:cNvSpPr/>
          <p:nvPr/>
        </p:nvSpPr>
        <p:spPr bwMode="gray">
          <a:xfrm rot="8400000">
            <a:off x="8227120" y="6473891"/>
            <a:ext cx="382421" cy="333871"/>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52" name="TextBox 81"/>
          <p:cNvSpPr txBox="1"/>
          <p:nvPr/>
        </p:nvSpPr>
        <p:spPr>
          <a:xfrm>
            <a:off x="7032654" y="3059082"/>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Submit Business Review Report</a:t>
            </a:r>
            <a:endParaRPr lang="en-IN" sz="1100" b="1" dirty="0">
              <a:solidFill>
                <a:srgbClr val="313131"/>
              </a:solidFill>
            </a:endParaRPr>
          </a:p>
        </p:txBody>
      </p:sp>
      <p:sp>
        <p:nvSpPr>
          <p:cNvPr id="53" name="TextBox 84"/>
          <p:cNvSpPr txBox="1"/>
          <p:nvPr/>
        </p:nvSpPr>
        <p:spPr>
          <a:xfrm>
            <a:off x="6986103" y="3748776"/>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Risk Management Policies, SOPs</a:t>
            </a:r>
            <a:endParaRPr lang="en-IN" sz="1100" b="1" dirty="0">
              <a:solidFill>
                <a:srgbClr val="313131"/>
              </a:solidFill>
            </a:endParaRPr>
          </a:p>
        </p:txBody>
      </p:sp>
      <p:sp>
        <p:nvSpPr>
          <p:cNvPr id="54" name="TextBox 84"/>
          <p:cNvSpPr txBox="1"/>
          <p:nvPr/>
        </p:nvSpPr>
        <p:spPr>
          <a:xfrm>
            <a:off x="7028771" y="4034745"/>
            <a:ext cx="2624753"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Assistance in Risk Mitigation</a:t>
            </a:r>
            <a:endParaRPr lang="en-IN" sz="1100" b="1" dirty="0">
              <a:solidFill>
                <a:srgbClr val="313131"/>
              </a:solidFill>
            </a:endParaRPr>
          </a:p>
        </p:txBody>
      </p:sp>
      <p:grpSp>
        <p:nvGrpSpPr>
          <p:cNvPr id="24" name="Group 23"/>
          <p:cNvGrpSpPr/>
          <p:nvPr/>
        </p:nvGrpSpPr>
        <p:grpSpPr>
          <a:xfrm>
            <a:off x="152400" y="2680559"/>
            <a:ext cx="3764015" cy="3600479"/>
            <a:chOff x="152400" y="2680559"/>
            <a:chExt cx="3764015" cy="3600479"/>
          </a:xfrm>
        </p:grpSpPr>
        <p:cxnSp>
          <p:nvCxnSpPr>
            <p:cNvPr id="13" name="Straight Connector 12"/>
            <p:cNvCxnSpPr/>
            <p:nvPr/>
          </p:nvCxnSpPr>
          <p:spPr>
            <a:xfrm flipH="1">
              <a:off x="152400" y="6281038"/>
              <a:ext cx="42074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152400" y="2680559"/>
              <a:ext cx="0" cy="360047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52400" y="2680559"/>
              <a:ext cx="376401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sp>
        <p:nvSpPr>
          <p:cNvPr id="72" name="TextBox 81"/>
          <p:cNvSpPr txBox="1"/>
          <p:nvPr/>
        </p:nvSpPr>
        <p:spPr>
          <a:xfrm>
            <a:off x="489268" y="2449255"/>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Performance Reporting as per SOP</a:t>
            </a:r>
            <a:endParaRPr lang="en-IN" sz="1100" b="1" dirty="0">
              <a:solidFill>
                <a:srgbClr val="313131"/>
              </a:solidFill>
            </a:endParaRPr>
          </a:p>
        </p:txBody>
      </p:sp>
      <p:cxnSp>
        <p:nvCxnSpPr>
          <p:cNvPr id="73" name="Elbow Connector 72"/>
          <p:cNvCxnSpPr/>
          <p:nvPr/>
        </p:nvCxnSpPr>
        <p:spPr>
          <a:xfrm rot="5400000">
            <a:off x="1614511" y="3049522"/>
            <a:ext cx="2752646" cy="2674119"/>
          </a:xfrm>
          <a:prstGeom prst="bentConnector3">
            <a:avLst>
              <a:gd name="adj1" fmla="val 47232"/>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TextBox 84"/>
          <p:cNvSpPr txBox="1"/>
          <p:nvPr/>
        </p:nvSpPr>
        <p:spPr>
          <a:xfrm>
            <a:off x="1821596" y="4379806"/>
            <a:ext cx="2624753"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Monitor Performance &amp; Assist in improvement</a:t>
            </a:r>
            <a:endParaRPr lang="en-IN" sz="1100" b="1" dirty="0">
              <a:solidFill>
                <a:srgbClr val="313131"/>
              </a:solidFill>
            </a:endParaRPr>
          </a:p>
        </p:txBody>
      </p:sp>
      <p:grpSp>
        <p:nvGrpSpPr>
          <p:cNvPr id="76" name="Group 75"/>
          <p:cNvGrpSpPr/>
          <p:nvPr/>
        </p:nvGrpSpPr>
        <p:grpSpPr>
          <a:xfrm flipH="1">
            <a:off x="6885073" y="2748843"/>
            <a:ext cx="3620319" cy="3600479"/>
            <a:chOff x="152400" y="2680559"/>
            <a:chExt cx="3764015" cy="3600479"/>
          </a:xfrm>
        </p:grpSpPr>
        <p:cxnSp>
          <p:nvCxnSpPr>
            <p:cNvPr id="77" name="Straight Connector 76"/>
            <p:cNvCxnSpPr/>
            <p:nvPr/>
          </p:nvCxnSpPr>
          <p:spPr>
            <a:xfrm flipH="1">
              <a:off x="152400" y="6281038"/>
              <a:ext cx="420742" cy="0"/>
            </a:xfrm>
            <a:prstGeom prst="line">
              <a:avLst/>
            </a:prstGeom>
            <a:ln w="25400"/>
          </p:spPr>
          <p:style>
            <a:lnRef idx="1">
              <a:schemeClr val="accent3"/>
            </a:lnRef>
            <a:fillRef idx="0">
              <a:schemeClr val="accent3"/>
            </a:fillRef>
            <a:effectRef idx="0">
              <a:schemeClr val="accent3"/>
            </a:effectRef>
            <a:fontRef idx="minor">
              <a:schemeClr val="tx1"/>
            </a:fontRef>
          </p:style>
        </p:cxnSp>
        <p:cxnSp>
          <p:nvCxnSpPr>
            <p:cNvPr id="78" name="Straight Connector 77"/>
            <p:cNvCxnSpPr/>
            <p:nvPr/>
          </p:nvCxnSpPr>
          <p:spPr>
            <a:xfrm flipV="1">
              <a:off x="152400" y="2680559"/>
              <a:ext cx="0" cy="3600479"/>
            </a:xfrm>
            <a:prstGeom prst="line">
              <a:avLst/>
            </a:prstGeom>
            <a:ln w="25400"/>
          </p:spPr>
          <p:style>
            <a:lnRef idx="1">
              <a:schemeClr val="accent3"/>
            </a:lnRef>
            <a:fillRef idx="0">
              <a:schemeClr val="accent3"/>
            </a:fillRef>
            <a:effectRef idx="0">
              <a:schemeClr val="accent3"/>
            </a:effectRef>
            <a:fontRef idx="minor">
              <a:schemeClr val="tx1"/>
            </a:fontRef>
          </p:style>
        </p:cxnSp>
        <p:cxnSp>
          <p:nvCxnSpPr>
            <p:cNvPr id="79" name="Straight Arrow Connector 78"/>
            <p:cNvCxnSpPr/>
            <p:nvPr/>
          </p:nvCxnSpPr>
          <p:spPr>
            <a:xfrm>
              <a:off x="152400" y="2680559"/>
              <a:ext cx="3764015" cy="0"/>
            </a:xfrm>
            <a:prstGeom prst="straightConnector1">
              <a:avLst/>
            </a:prstGeom>
            <a:ln w="25400">
              <a:tailEnd type="triangle"/>
            </a:ln>
          </p:spPr>
          <p:style>
            <a:lnRef idx="1">
              <a:schemeClr val="accent3"/>
            </a:lnRef>
            <a:fillRef idx="0">
              <a:schemeClr val="accent3"/>
            </a:fillRef>
            <a:effectRef idx="0">
              <a:schemeClr val="accent3"/>
            </a:effectRef>
            <a:fontRef idx="minor">
              <a:schemeClr val="tx1"/>
            </a:fontRef>
          </p:style>
        </p:cxnSp>
      </p:grpSp>
      <p:sp>
        <p:nvSpPr>
          <p:cNvPr id="86" name="TextBox 81"/>
          <p:cNvSpPr txBox="1"/>
          <p:nvPr/>
        </p:nvSpPr>
        <p:spPr>
          <a:xfrm>
            <a:off x="7008111" y="2486148"/>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Performance Reporting as per SOP</a:t>
            </a:r>
            <a:endParaRPr lang="en-IN" sz="1100" b="1" dirty="0">
              <a:solidFill>
                <a:srgbClr val="313131"/>
              </a:solidFill>
            </a:endParaRPr>
          </a:p>
        </p:txBody>
      </p:sp>
      <p:sp>
        <p:nvSpPr>
          <p:cNvPr id="56" name="Pentagon 55">
            <a:hlinkClick r:id="" action="ppaction://noaction"/>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58" name="TextBox 81"/>
          <p:cNvSpPr txBox="1"/>
          <p:nvPr/>
        </p:nvSpPr>
        <p:spPr>
          <a:xfrm>
            <a:off x="7027786" y="2766846"/>
            <a:ext cx="3476622" cy="169277"/>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MIS Reporting</a:t>
            </a:r>
            <a:r>
              <a:rPr lang="en-IN" sz="1100" b="1" dirty="0">
                <a:solidFill>
                  <a:srgbClr val="313131"/>
                </a:solidFill>
              </a:rPr>
              <a:t>; </a:t>
            </a:r>
            <a:r>
              <a:rPr lang="en-US" sz="1100" b="1" dirty="0">
                <a:solidFill>
                  <a:srgbClr val="313131"/>
                </a:solidFill>
              </a:rPr>
              <a:t>Risk Management Plan </a:t>
            </a:r>
            <a:endParaRPr lang="en-IN" sz="1100" b="1" dirty="0">
              <a:solidFill>
                <a:srgbClr val="313131"/>
              </a:solidFill>
            </a:endParaRPr>
          </a:p>
        </p:txBody>
      </p:sp>
      <p:cxnSp>
        <p:nvCxnSpPr>
          <p:cNvPr id="51" name="Elbow Connector 50"/>
          <p:cNvCxnSpPr/>
          <p:nvPr/>
        </p:nvCxnSpPr>
        <p:spPr>
          <a:xfrm rot="16200000" flipH="1">
            <a:off x="6490101" y="3061264"/>
            <a:ext cx="2725643" cy="2617731"/>
          </a:xfrm>
          <a:prstGeom prst="bentConnector3">
            <a:avLst>
              <a:gd name="adj1" fmla="val 46605"/>
            </a:avLst>
          </a:prstGeom>
          <a:ln w="25400">
            <a:solidFill>
              <a:srgbClr val="0097A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TextBox 84"/>
          <p:cNvSpPr txBox="1"/>
          <p:nvPr/>
        </p:nvSpPr>
        <p:spPr>
          <a:xfrm>
            <a:off x="6544057" y="4336776"/>
            <a:ext cx="2624753"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Monitor Performance &amp; Assist in improvement</a:t>
            </a:r>
            <a:endParaRPr lang="en-IN" sz="1100" b="1" dirty="0">
              <a:solidFill>
                <a:srgbClr val="313131"/>
              </a:solidFill>
            </a:endParaRPr>
          </a:p>
        </p:txBody>
      </p:sp>
    </p:spTree>
    <p:extLst>
      <p:ext uri="{BB962C8B-B14F-4D97-AF65-F5344CB8AC3E}">
        <p14:creationId xmlns:p14="http://schemas.microsoft.com/office/powerpoint/2010/main" val="338260519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bwMode="gray">
          <a:xfrm>
            <a:off x="3916418" y="2419945"/>
            <a:ext cx="2971800" cy="609600"/>
          </a:xfrm>
          <a:prstGeom prst="rect">
            <a:avLst/>
          </a:prstGeom>
          <a:solidFill>
            <a:schemeClr val="accent3"/>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600" b="1" dirty="0">
                <a:solidFill>
                  <a:prstClr val="white"/>
                </a:solidFill>
              </a:rPr>
              <a:t>BPDB Holding Company</a:t>
            </a:r>
            <a:endParaRPr lang="en-IN" sz="1600" b="1" dirty="0">
              <a:solidFill>
                <a:prstClr val="white"/>
              </a:solidFill>
            </a:endParaRPr>
          </a:p>
        </p:txBody>
      </p:sp>
      <p:sp>
        <p:nvSpPr>
          <p:cNvPr id="42" name="Rectangle 41"/>
          <p:cNvSpPr/>
          <p:nvPr/>
        </p:nvSpPr>
        <p:spPr bwMode="gray">
          <a:xfrm>
            <a:off x="573143" y="5772745"/>
            <a:ext cx="2054651" cy="654958"/>
          </a:xfrm>
          <a:prstGeom prst="rect">
            <a:avLst/>
          </a:prstGeom>
          <a:solidFill>
            <a:srgbClr val="92D05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Generation Companies</a:t>
            </a:r>
            <a:endParaRPr lang="en-IN" sz="1200" b="1" dirty="0">
              <a:solidFill>
                <a:prstClr val="white"/>
              </a:solidFill>
            </a:endParaRPr>
          </a:p>
        </p:txBody>
      </p:sp>
      <p:sp>
        <p:nvSpPr>
          <p:cNvPr id="43" name="Rectangle 42"/>
          <p:cNvSpPr/>
          <p:nvPr/>
        </p:nvSpPr>
        <p:spPr bwMode="gray">
          <a:xfrm>
            <a:off x="4268263" y="5772745"/>
            <a:ext cx="2055600" cy="654958"/>
          </a:xfrm>
          <a:prstGeom prst="rect">
            <a:avLst/>
          </a:prstGeom>
          <a:solidFill>
            <a:srgbClr val="002060"/>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Distribution Companies</a:t>
            </a:r>
            <a:endParaRPr lang="en-IN" sz="1200" b="1" dirty="0">
              <a:solidFill>
                <a:prstClr val="white"/>
              </a:solidFill>
            </a:endParaRPr>
          </a:p>
        </p:txBody>
      </p:sp>
      <p:sp>
        <p:nvSpPr>
          <p:cNvPr id="44" name="Rectangle 43"/>
          <p:cNvSpPr/>
          <p:nvPr/>
        </p:nvSpPr>
        <p:spPr bwMode="gray">
          <a:xfrm>
            <a:off x="8057081" y="5772745"/>
            <a:ext cx="2055600" cy="654958"/>
          </a:xfrm>
          <a:prstGeom prst="rect">
            <a:avLst/>
          </a:prstGeom>
          <a:solidFill>
            <a:schemeClr val="accent5"/>
          </a:solidFill>
          <a:ln w="19050" algn="ctr">
            <a:no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06000"/>
              </a:lnSpc>
              <a:buFont typeface="Wingdings 2" pitchFamily="18" charset="2"/>
              <a:buNone/>
            </a:pPr>
            <a:r>
              <a:rPr lang="en-US" sz="1200" b="1" dirty="0">
                <a:solidFill>
                  <a:prstClr val="white"/>
                </a:solidFill>
              </a:rPr>
              <a:t>Transmission Company</a:t>
            </a:r>
            <a:endParaRPr lang="en-IN" sz="1200" b="1" dirty="0">
              <a:solidFill>
                <a:prstClr val="white"/>
              </a:solidFill>
            </a:endParaRPr>
          </a:p>
        </p:txBody>
      </p:sp>
      <p:sp>
        <p:nvSpPr>
          <p:cNvPr id="48" name="Rectangle 47"/>
          <p:cNvSpPr/>
          <p:nvPr/>
        </p:nvSpPr>
        <p:spPr bwMode="gray">
          <a:xfrm>
            <a:off x="7030930" y="1069184"/>
            <a:ext cx="3420842" cy="1285879"/>
          </a:xfrm>
          <a:prstGeom prst="rect">
            <a:avLst/>
          </a:prstGeom>
          <a:noFill/>
          <a:ln w="25400" algn="ctr">
            <a:solidFill>
              <a:srgbClr val="62B5E5"/>
            </a:solidFill>
            <a:prstDash val="dash"/>
            <a:miter lim="800000"/>
            <a:headEnd/>
            <a:tailEnd/>
          </a:ln>
        </p:spPr>
        <p:txBody>
          <a:bodyPr wrap="square" lIns="36000" tIns="36000" rIns="36000" bIns="360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indent="-108000">
              <a:lnSpc>
                <a:spcPct val="106000"/>
              </a:lnSpc>
              <a:spcBef>
                <a:spcPts val="400"/>
              </a:spcBef>
              <a:buFont typeface="Arial" panose="020B0604020202020204" pitchFamily="34" charset="0"/>
              <a:buChar char="•"/>
            </a:pPr>
            <a:r>
              <a:rPr lang="en-US" sz="1050" dirty="0">
                <a:solidFill>
                  <a:prstClr val="black"/>
                </a:solidFill>
              </a:rPr>
              <a:t>Integrate all Strategic HR Plans</a:t>
            </a:r>
          </a:p>
          <a:p>
            <a:pPr marL="108000" indent="-108000">
              <a:lnSpc>
                <a:spcPct val="106000"/>
              </a:lnSpc>
              <a:spcBef>
                <a:spcPts val="400"/>
              </a:spcBef>
              <a:buFont typeface="Arial" panose="020B0604020202020204" pitchFamily="34" charset="0"/>
              <a:buChar char="•"/>
            </a:pPr>
            <a:r>
              <a:rPr lang="en-US" sz="1050" dirty="0">
                <a:solidFill>
                  <a:prstClr val="black"/>
                </a:solidFill>
              </a:rPr>
              <a:t>Jointly undertake Training &amp; Skill Development Activities with subsidiaries</a:t>
            </a:r>
          </a:p>
          <a:p>
            <a:pPr marL="108000" indent="-108000">
              <a:lnSpc>
                <a:spcPct val="106000"/>
              </a:lnSpc>
              <a:spcBef>
                <a:spcPts val="400"/>
              </a:spcBef>
              <a:buFont typeface="Arial" panose="020B0604020202020204" pitchFamily="34" charset="0"/>
              <a:buChar char="•"/>
            </a:pPr>
            <a:r>
              <a:rPr lang="en-US" sz="1050" dirty="0">
                <a:solidFill>
                  <a:prstClr val="black"/>
                </a:solidFill>
              </a:rPr>
              <a:t>Provide Specialized O&amp;M Services for Power Generation Utilities</a:t>
            </a:r>
            <a:endParaRPr lang="en-IN" sz="1050" dirty="0">
              <a:solidFill>
                <a:prstClr val="black"/>
              </a:solidFill>
            </a:endParaRPr>
          </a:p>
        </p:txBody>
      </p:sp>
      <p:sp>
        <p:nvSpPr>
          <p:cNvPr id="59" name="TextBox 100"/>
          <p:cNvSpPr txBox="1"/>
          <p:nvPr/>
        </p:nvSpPr>
        <p:spPr>
          <a:xfrm>
            <a:off x="7266862" y="851186"/>
            <a:ext cx="2958882" cy="161583"/>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050" b="1" dirty="0">
                <a:solidFill>
                  <a:srgbClr val="313131"/>
                </a:solidFill>
              </a:rPr>
              <a:t>Holding Company Responsibilities</a:t>
            </a:r>
            <a:endParaRPr lang="en-IN" sz="1050" b="1" dirty="0">
              <a:solidFill>
                <a:srgbClr val="313131"/>
              </a:solidFill>
            </a:endParaRPr>
          </a:p>
        </p:txBody>
      </p:sp>
      <p:cxnSp>
        <p:nvCxnSpPr>
          <p:cNvPr id="60" name="Elbow Connector 59"/>
          <p:cNvCxnSpPr>
            <a:stCxn id="41" idx="0"/>
          </p:cNvCxnSpPr>
          <p:nvPr/>
        </p:nvCxnSpPr>
        <p:spPr>
          <a:xfrm rot="5400000" flipH="1" flipV="1">
            <a:off x="5982244" y="1373295"/>
            <a:ext cx="466725" cy="1626577"/>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Freeform 60"/>
          <p:cNvSpPr>
            <a:spLocks noChangeAspect="1" noEditPoints="1"/>
          </p:cNvSpPr>
          <p:nvPr/>
        </p:nvSpPr>
        <p:spPr bwMode="auto">
          <a:xfrm>
            <a:off x="4510580" y="5878985"/>
            <a:ext cx="369021" cy="370106"/>
          </a:xfrm>
          <a:custGeom>
            <a:avLst/>
            <a:gdLst>
              <a:gd name="T0" fmla="*/ 263 w 512"/>
              <a:gd name="T1" fmla="*/ 173 h 512"/>
              <a:gd name="T2" fmla="*/ 339 w 512"/>
              <a:gd name="T3" fmla="*/ 248 h 512"/>
              <a:gd name="T4" fmla="*/ 301 w 512"/>
              <a:gd name="T5" fmla="*/ 286 h 512"/>
              <a:gd name="T6" fmla="*/ 263 w 512"/>
              <a:gd name="T7" fmla="*/ 301 h 512"/>
              <a:gd name="T8" fmla="*/ 225 w 512"/>
              <a:gd name="T9" fmla="*/ 286 h 512"/>
              <a:gd name="T10" fmla="*/ 210 w 512"/>
              <a:gd name="T11" fmla="*/ 248 h 512"/>
              <a:gd name="T12" fmla="*/ 225 w 512"/>
              <a:gd name="T13" fmla="*/ 210 h 512"/>
              <a:gd name="T14" fmla="*/ 263 w 512"/>
              <a:gd name="T15" fmla="*/ 173 h 512"/>
              <a:gd name="T16" fmla="*/ 512 w 512"/>
              <a:gd name="T17" fmla="*/ 256 h 512"/>
              <a:gd name="T18" fmla="*/ 256 w 512"/>
              <a:gd name="T19" fmla="*/ 512 h 512"/>
              <a:gd name="T20" fmla="*/ 0 w 512"/>
              <a:gd name="T21" fmla="*/ 256 h 512"/>
              <a:gd name="T22" fmla="*/ 256 w 512"/>
              <a:gd name="T23" fmla="*/ 0 h 512"/>
              <a:gd name="T24" fmla="*/ 512 w 512"/>
              <a:gd name="T25" fmla="*/ 256 h 512"/>
              <a:gd name="T26" fmla="*/ 391 w 512"/>
              <a:gd name="T27" fmla="*/ 165 h 512"/>
              <a:gd name="T28" fmla="*/ 376 w 512"/>
              <a:gd name="T29" fmla="*/ 165 h 512"/>
              <a:gd name="T30" fmla="*/ 331 w 512"/>
              <a:gd name="T31" fmla="*/ 210 h 512"/>
              <a:gd name="T32" fmla="*/ 301 w 512"/>
              <a:gd name="T33" fmla="*/ 180 h 512"/>
              <a:gd name="T34" fmla="*/ 346 w 512"/>
              <a:gd name="T35" fmla="*/ 135 h 512"/>
              <a:gd name="T36" fmla="*/ 346 w 512"/>
              <a:gd name="T37" fmla="*/ 120 h 512"/>
              <a:gd name="T38" fmla="*/ 331 w 512"/>
              <a:gd name="T39" fmla="*/ 120 h 512"/>
              <a:gd name="T40" fmla="*/ 286 w 512"/>
              <a:gd name="T41" fmla="*/ 165 h 512"/>
              <a:gd name="T42" fmla="*/ 271 w 512"/>
              <a:gd name="T43" fmla="*/ 150 h 512"/>
              <a:gd name="T44" fmla="*/ 263 w 512"/>
              <a:gd name="T45" fmla="*/ 143 h 512"/>
              <a:gd name="T46" fmla="*/ 248 w 512"/>
              <a:gd name="T47" fmla="*/ 143 h 512"/>
              <a:gd name="T48" fmla="*/ 248 w 512"/>
              <a:gd name="T49" fmla="*/ 158 h 512"/>
              <a:gd name="T50" fmla="*/ 210 w 512"/>
              <a:gd name="T51" fmla="*/ 195 h 512"/>
              <a:gd name="T52" fmla="*/ 189 w 512"/>
              <a:gd name="T53" fmla="*/ 248 h 512"/>
              <a:gd name="T54" fmla="*/ 203 w 512"/>
              <a:gd name="T55" fmla="*/ 293 h 512"/>
              <a:gd name="T56" fmla="*/ 143 w 512"/>
              <a:gd name="T57" fmla="*/ 354 h 512"/>
              <a:gd name="T58" fmla="*/ 143 w 512"/>
              <a:gd name="T59" fmla="*/ 369 h 512"/>
              <a:gd name="T60" fmla="*/ 150 w 512"/>
              <a:gd name="T61" fmla="*/ 372 h 512"/>
              <a:gd name="T62" fmla="*/ 158 w 512"/>
              <a:gd name="T63" fmla="*/ 369 h 512"/>
              <a:gd name="T64" fmla="*/ 219 w 512"/>
              <a:gd name="T65" fmla="*/ 308 h 512"/>
              <a:gd name="T66" fmla="*/ 263 w 512"/>
              <a:gd name="T67" fmla="*/ 323 h 512"/>
              <a:gd name="T68" fmla="*/ 316 w 512"/>
              <a:gd name="T69" fmla="*/ 301 h 512"/>
              <a:gd name="T70" fmla="*/ 354 w 512"/>
              <a:gd name="T71" fmla="*/ 263 h 512"/>
              <a:gd name="T72" fmla="*/ 354 w 512"/>
              <a:gd name="T73" fmla="*/ 263 h 512"/>
              <a:gd name="T74" fmla="*/ 361 w 512"/>
              <a:gd name="T75" fmla="*/ 266 h 512"/>
              <a:gd name="T76" fmla="*/ 369 w 512"/>
              <a:gd name="T77" fmla="*/ 263 h 512"/>
              <a:gd name="T78" fmla="*/ 369 w 512"/>
              <a:gd name="T79" fmla="*/ 248 h 512"/>
              <a:gd name="T80" fmla="*/ 361 w 512"/>
              <a:gd name="T81" fmla="*/ 241 h 512"/>
              <a:gd name="T82" fmla="*/ 346 w 512"/>
              <a:gd name="T83" fmla="*/ 225 h 512"/>
              <a:gd name="T84" fmla="*/ 391 w 512"/>
              <a:gd name="T85" fmla="*/ 180 h 512"/>
              <a:gd name="T86" fmla="*/ 391 w 512"/>
              <a:gd name="T87" fmla="*/ 16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63" y="173"/>
                </a:moveTo>
                <a:cubicBezTo>
                  <a:pt x="339" y="248"/>
                  <a:pt x="339" y="248"/>
                  <a:pt x="339" y="248"/>
                </a:cubicBezTo>
                <a:cubicBezTo>
                  <a:pt x="301" y="286"/>
                  <a:pt x="301" y="286"/>
                  <a:pt x="301" y="286"/>
                </a:cubicBezTo>
                <a:cubicBezTo>
                  <a:pt x="291" y="296"/>
                  <a:pt x="277" y="301"/>
                  <a:pt x="263" y="301"/>
                </a:cubicBezTo>
                <a:cubicBezTo>
                  <a:pt x="249" y="301"/>
                  <a:pt x="236" y="296"/>
                  <a:pt x="225" y="286"/>
                </a:cubicBezTo>
                <a:cubicBezTo>
                  <a:pt x="215" y="276"/>
                  <a:pt x="210" y="262"/>
                  <a:pt x="210" y="248"/>
                </a:cubicBezTo>
                <a:cubicBezTo>
                  <a:pt x="210" y="234"/>
                  <a:pt x="215" y="220"/>
                  <a:pt x="225" y="210"/>
                </a:cubicBezTo>
                <a:lnTo>
                  <a:pt x="263" y="1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165"/>
                </a:moveTo>
                <a:cubicBezTo>
                  <a:pt x="387" y="161"/>
                  <a:pt x="381" y="161"/>
                  <a:pt x="376" y="165"/>
                </a:cubicBezTo>
                <a:cubicBezTo>
                  <a:pt x="331" y="210"/>
                  <a:pt x="331" y="210"/>
                  <a:pt x="331" y="210"/>
                </a:cubicBezTo>
                <a:cubicBezTo>
                  <a:pt x="301" y="180"/>
                  <a:pt x="301" y="180"/>
                  <a:pt x="301" y="180"/>
                </a:cubicBezTo>
                <a:cubicBezTo>
                  <a:pt x="346" y="135"/>
                  <a:pt x="346" y="135"/>
                  <a:pt x="346" y="135"/>
                </a:cubicBezTo>
                <a:cubicBezTo>
                  <a:pt x="350" y="131"/>
                  <a:pt x="350" y="124"/>
                  <a:pt x="346" y="120"/>
                </a:cubicBezTo>
                <a:cubicBezTo>
                  <a:pt x="342" y="116"/>
                  <a:pt x="335" y="116"/>
                  <a:pt x="331" y="120"/>
                </a:cubicBezTo>
                <a:cubicBezTo>
                  <a:pt x="286" y="165"/>
                  <a:pt x="286" y="165"/>
                  <a:pt x="286" y="165"/>
                </a:cubicBezTo>
                <a:cubicBezTo>
                  <a:pt x="271" y="150"/>
                  <a:pt x="271" y="150"/>
                  <a:pt x="271" y="150"/>
                </a:cubicBezTo>
                <a:cubicBezTo>
                  <a:pt x="263" y="143"/>
                  <a:pt x="263" y="143"/>
                  <a:pt x="263" y="143"/>
                </a:cubicBezTo>
                <a:cubicBezTo>
                  <a:pt x="259" y="138"/>
                  <a:pt x="252" y="138"/>
                  <a:pt x="248" y="143"/>
                </a:cubicBezTo>
                <a:cubicBezTo>
                  <a:pt x="244" y="147"/>
                  <a:pt x="244" y="153"/>
                  <a:pt x="248" y="158"/>
                </a:cubicBezTo>
                <a:cubicBezTo>
                  <a:pt x="210" y="195"/>
                  <a:pt x="210" y="195"/>
                  <a:pt x="210" y="195"/>
                </a:cubicBezTo>
                <a:cubicBezTo>
                  <a:pt x="196" y="209"/>
                  <a:pt x="189" y="228"/>
                  <a:pt x="189" y="248"/>
                </a:cubicBezTo>
                <a:cubicBezTo>
                  <a:pt x="189" y="264"/>
                  <a:pt x="194" y="280"/>
                  <a:pt x="203" y="293"/>
                </a:cubicBezTo>
                <a:cubicBezTo>
                  <a:pt x="143" y="354"/>
                  <a:pt x="143" y="354"/>
                  <a:pt x="143" y="354"/>
                </a:cubicBezTo>
                <a:cubicBezTo>
                  <a:pt x="138" y="358"/>
                  <a:pt x="138" y="365"/>
                  <a:pt x="143" y="369"/>
                </a:cubicBezTo>
                <a:cubicBezTo>
                  <a:pt x="145" y="371"/>
                  <a:pt x="147" y="372"/>
                  <a:pt x="150" y="372"/>
                </a:cubicBezTo>
                <a:cubicBezTo>
                  <a:pt x="153" y="372"/>
                  <a:pt x="156" y="371"/>
                  <a:pt x="158" y="369"/>
                </a:cubicBezTo>
                <a:cubicBezTo>
                  <a:pt x="219" y="308"/>
                  <a:pt x="219" y="308"/>
                  <a:pt x="219" y="308"/>
                </a:cubicBezTo>
                <a:cubicBezTo>
                  <a:pt x="231" y="318"/>
                  <a:pt x="247" y="323"/>
                  <a:pt x="263" y="323"/>
                </a:cubicBezTo>
                <a:cubicBezTo>
                  <a:pt x="283" y="323"/>
                  <a:pt x="302" y="315"/>
                  <a:pt x="316" y="301"/>
                </a:cubicBezTo>
                <a:cubicBezTo>
                  <a:pt x="354" y="263"/>
                  <a:pt x="354" y="263"/>
                  <a:pt x="354" y="263"/>
                </a:cubicBezTo>
                <a:cubicBezTo>
                  <a:pt x="354" y="263"/>
                  <a:pt x="354" y="263"/>
                  <a:pt x="354" y="263"/>
                </a:cubicBezTo>
                <a:cubicBezTo>
                  <a:pt x="356" y="265"/>
                  <a:pt x="359" y="266"/>
                  <a:pt x="361" y="266"/>
                </a:cubicBezTo>
                <a:cubicBezTo>
                  <a:pt x="364" y="266"/>
                  <a:pt x="367" y="265"/>
                  <a:pt x="369" y="263"/>
                </a:cubicBezTo>
                <a:cubicBezTo>
                  <a:pt x="373" y="259"/>
                  <a:pt x="373" y="252"/>
                  <a:pt x="369" y="248"/>
                </a:cubicBezTo>
                <a:cubicBezTo>
                  <a:pt x="361" y="241"/>
                  <a:pt x="361" y="241"/>
                  <a:pt x="361" y="241"/>
                </a:cubicBezTo>
                <a:cubicBezTo>
                  <a:pt x="346" y="225"/>
                  <a:pt x="346" y="225"/>
                  <a:pt x="346" y="225"/>
                </a:cubicBezTo>
                <a:cubicBezTo>
                  <a:pt x="391" y="180"/>
                  <a:pt x="391" y="180"/>
                  <a:pt x="391" y="180"/>
                </a:cubicBezTo>
                <a:cubicBezTo>
                  <a:pt x="396" y="176"/>
                  <a:pt x="396" y="169"/>
                  <a:pt x="391" y="1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2" name="Freeform 61"/>
          <p:cNvSpPr>
            <a:spLocks noChangeAspect="1" noEditPoints="1"/>
          </p:cNvSpPr>
          <p:nvPr/>
        </p:nvSpPr>
        <p:spPr bwMode="auto">
          <a:xfrm>
            <a:off x="843681" y="5913407"/>
            <a:ext cx="367631" cy="367631"/>
          </a:xfrm>
          <a:custGeom>
            <a:avLst/>
            <a:gdLst>
              <a:gd name="T0" fmla="*/ 213 w 512"/>
              <a:gd name="T1" fmla="*/ 265 h 512"/>
              <a:gd name="T2" fmla="*/ 283 w 512"/>
              <a:gd name="T3" fmla="*/ 312 h 512"/>
              <a:gd name="T4" fmla="*/ 278 w 512"/>
              <a:gd name="T5" fmla="*/ 352 h 512"/>
              <a:gd name="T6" fmla="*/ 213 w 512"/>
              <a:gd name="T7" fmla="*/ 352 h 512"/>
              <a:gd name="T8" fmla="*/ 213 w 512"/>
              <a:gd name="T9" fmla="*/ 265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347 w 512"/>
              <a:gd name="T21" fmla="*/ 117 h 512"/>
              <a:gd name="T22" fmla="*/ 355 w 512"/>
              <a:gd name="T23" fmla="*/ 135 h 512"/>
              <a:gd name="T24" fmla="*/ 355 w 512"/>
              <a:gd name="T25" fmla="*/ 141 h 512"/>
              <a:gd name="T26" fmla="*/ 355 w 512"/>
              <a:gd name="T27" fmla="*/ 156 h 512"/>
              <a:gd name="T28" fmla="*/ 362 w 512"/>
              <a:gd name="T29" fmla="*/ 160 h 512"/>
              <a:gd name="T30" fmla="*/ 370 w 512"/>
              <a:gd name="T31" fmla="*/ 157 h 512"/>
              <a:gd name="T32" fmla="*/ 378 w 512"/>
              <a:gd name="T33" fmla="*/ 138 h 512"/>
              <a:gd name="T34" fmla="*/ 370 w 512"/>
              <a:gd name="T35" fmla="*/ 120 h 512"/>
              <a:gd name="T36" fmla="*/ 370 w 512"/>
              <a:gd name="T37" fmla="*/ 114 h 512"/>
              <a:gd name="T38" fmla="*/ 370 w 512"/>
              <a:gd name="T39" fmla="*/ 99 h 512"/>
              <a:gd name="T40" fmla="*/ 355 w 512"/>
              <a:gd name="T41" fmla="*/ 99 h 512"/>
              <a:gd name="T42" fmla="*/ 347 w 512"/>
              <a:gd name="T43" fmla="*/ 117 h 512"/>
              <a:gd name="T44" fmla="*/ 304 w 512"/>
              <a:gd name="T45" fmla="*/ 117 h 512"/>
              <a:gd name="T46" fmla="*/ 312 w 512"/>
              <a:gd name="T47" fmla="*/ 135 h 512"/>
              <a:gd name="T48" fmla="*/ 312 w 512"/>
              <a:gd name="T49" fmla="*/ 141 h 512"/>
              <a:gd name="T50" fmla="*/ 312 w 512"/>
              <a:gd name="T51" fmla="*/ 156 h 512"/>
              <a:gd name="T52" fmla="*/ 320 w 512"/>
              <a:gd name="T53" fmla="*/ 160 h 512"/>
              <a:gd name="T54" fmla="*/ 327 w 512"/>
              <a:gd name="T55" fmla="*/ 157 h 512"/>
              <a:gd name="T56" fmla="*/ 335 w 512"/>
              <a:gd name="T57" fmla="*/ 138 h 512"/>
              <a:gd name="T58" fmla="*/ 327 w 512"/>
              <a:gd name="T59" fmla="*/ 120 h 512"/>
              <a:gd name="T60" fmla="*/ 327 w 512"/>
              <a:gd name="T61" fmla="*/ 114 h 512"/>
              <a:gd name="T62" fmla="*/ 327 w 512"/>
              <a:gd name="T63" fmla="*/ 99 h 512"/>
              <a:gd name="T64" fmla="*/ 312 w 512"/>
              <a:gd name="T65" fmla="*/ 99 h 512"/>
              <a:gd name="T66" fmla="*/ 304 w 512"/>
              <a:gd name="T67" fmla="*/ 117 h 512"/>
              <a:gd name="T68" fmla="*/ 415 w 512"/>
              <a:gd name="T69" fmla="*/ 360 h 512"/>
              <a:gd name="T70" fmla="*/ 383 w 512"/>
              <a:gd name="T71" fmla="*/ 190 h 512"/>
              <a:gd name="T72" fmla="*/ 373 w 512"/>
              <a:gd name="T73" fmla="*/ 181 h 512"/>
              <a:gd name="T74" fmla="*/ 309 w 512"/>
              <a:gd name="T75" fmla="*/ 181 h 512"/>
              <a:gd name="T76" fmla="*/ 298 w 512"/>
              <a:gd name="T77" fmla="*/ 190 h 512"/>
              <a:gd name="T78" fmla="*/ 286 w 512"/>
              <a:gd name="T79" fmla="*/ 288 h 512"/>
              <a:gd name="T80" fmla="*/ 208 w 512"/>
              <a:gd name="T81" fmla="*/ 236 h 512"/>
              <a:gd name="T82" fmla="*/ 197 w 512"/>
              <a:gd name="T83" fmla="*/ 236 h 512"/>
              <a:gd name="T84" fmla="*/ 192 w 512"/>
              <a:gd name="T85" fmla="*/ 245 h 512"/>
              <a:gd name="T86" fmla="*/ 192 w 512"/>
              <a:gd name="T87" fmla="*/ 289 h 512"/>
              <a:gd name="T88" fmla="*/ 112 w 512"/>
              <a:gd name="T89" fmla="*/ 236 h 512"/>
              <a:gd name="T90" fmla="*/ 101 w 512"/>
              <a:gd name="T91" fmla="*/ 236 h 512"/>
              <a:gd name="T92" fmla="*/ 96 w 512"/>
              <a:gd name="T93" fmla="*/ 245 h 512"/>
              <a:gd name="T94" fmla="*/ 96 w 512"/>
              <a:gd name="T95" fmla="*/ 362 h 512"/>
              <a:gd name="T96" fmla="*/ 106 w 512"/>
              <a:gd name="T97" fmla="*/ 373 h 512"/>
              <a:gd name="T98" fmla="*/ 405 w 512"/>
              <a:gd name="T99" fmla="*/ 373 h 512"/>
              <a:gd name="T100" fmla="*/ 413 w 512"/>
              <a:gd name="T101" fmla="*/ 369 h 512"/>
              <a:gd name="T102" fmla="*/ 415 w 512"/>
              <a:gd name="T103" fmla="*/ 360 h 512"/>
              <a:gd name="T104" fmla="*/ 117 w 512"/>
              <a:gd name="T105" fmla="*/ 352 h 512"/>
              <a:gd name="T106" fmla="*/ 192 w 512"/>
              <a:gd name="T107" fmla="*/ 352 h 512"/>
              <a:gd name="T108" fmla="*/ 192 w 512"/>
              <a:gd name="T109" fmla="*/ 315 h 512"/>
              <a:gd name="T110" fmla="*/ 117 w 512"/>
              <a:gd name="T111" fmla="*/ 265 h 512"/>
              <a:gd name="T112" fmla="*/ 117 w 512"/>
              <a:gd name="T113" fmla="*/ 352 h 512"/>
              <a:gd name="T114" fmla="*/ 318 w 512"/>
              <a:gd name="T115" fmla="*/ 202 h 512"/>
              <a:gd name="T116" fmla="*/ 300 w 512"/>
              <a:gd name="T117" fmla="*/ 352 h 512"/>
              <a:gd name="T118" fmla="*/ 392 w 512"/>
              <a:gd name="T119" fmla="*/ 352 h 512"/>
              <a:gd name="T120" fmla="*/ 364 w 512"/>
              <a:gd name="T121" fmla="*/ 202 h 512"/>
              <a:gd name="T122" fmla="*/ 318 w 512"/>
              <a:gd name="T123"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2" h="512">
                <a:moveTo>
                  <a:pt x="213" y="265"/>
                </a:moveTo>
                <a:cubicBezTo>
                  <a:pt x="283" y="312"/>
                  <a:pt x="283" y="312"/>
                  <a:pt x="283" y="312"/>
                </a:cubicBezTo>
                <a:cubicBezTo>
                  <a:pt x="278" y="352"/>
                  <a:pt x="278" y="352"/>
                  <a:pt x="278" y="352"/>
                </a:cubicBezTo>
                <a:cubicBezTo>
                  <a:pt x="213" y="352"/>
                  <a:pt x="213" y="352"/>
                  <a:pt x="213" y="352"/>
                </a:cubicBezTo>
                <a:lnTo>
                  <a:pt x="213" y="265"/>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47" y="117"/>
                </a:moveTo>
                <a:cubicBezTo>
                  <a:pt x="347" y="122"/>
                  <a:pt x="348" y="129"/>
                  <a:pt x="355" y="135"/>
                </a:cubicBezTo>
                <a:cubicBezTo>
                  <a:pt x="356" y="136"/>
                  <a:pt x="358" y="138"/>
                  <a:pt x="355" y="141"/>
                </a:cubicBezTo>
                <a:cubicBezTo>
                  <a:pt x="351" y="145"/>
                  <a:pt x="351" y="152"/>
                  <a:pt x="355" y="156"/>
                </a:cubicBezTo>
                <a:cubicBezTo>
                  <a:pt x="357" y="159"/>
                  <a:pt x="360" y="160"/>
                  <a:pt x="362" y="160"/>
                </a:cubicBezTo>
                <a:cubicBezTo>
                  <a:pt x="365" y="160"/>
                  <a:pt x="368" y="159"/>
                  <a:pt x="370" y="157"/>
                </a:cubicBezTo>
                <a:cubicBezTo>
                  <a:pt x="371" y="155"/>
                  <a:pt x="378" y="148"/>
                  <a:pt x="378" y="138"/>
                </a:cubicBezTo>
                <a:cubicBezTo>
                  <a:pt x="378" y="134"/>
                  <a:pt x="377" y="127"/>
                  <a:pt x="370" y="120"/>
                </a:cubicBezTo>
                <a:cubicBezTo>
                  <a:pt x="369" y="119"/>
                  <a:pt x="367" y="117"/>
                  <a:pt x="370" y="114"/>
                </a:cubicBezTo>
                <a:cubicBezTo>
                  <a:pt x="374" y="110"/>
                  <a:pt x="374" y="103"/>
                  <a:pt x="370" y="99"/>
                </a:cubicBezTo>
                <a:cubicBezTo>
                  <a:pt x="366" y="95"/>
                  <a:pt x="359" y="95"/>
                  <a:pt x="355" y="99"/>
                </a:cubicBezTo>
                <a:cubicBezTo>
                  <a:pt x="354" y="100"/>
                  <a:pt x="347" y="107"/>
                  <a:pt x="347" y="117"/>
                </a:cubicBezTo>
                <a:close/>
                <a:moveTo>
                  <a:pt x="304" y="117"/>
                </a:moveTo>
                <a:cubicBezTo>
                  <a:pt x="304" y="122"/>
                  <a:pt x="306" y="129"/>
                  <a:pt x="312" y="135"/>
                </a:cubicBezTo>
                <a:cubicBezTo>
                  <a:pt x="313" y="136"/>
                  <a:pt x="315" y="138"/>
                  <a:pt x="312" y="141"/>
                </a:cubicBezTo>
                <a:cubicBezTo>
                  <a:pt x="308" y="145"/>
                  <a:pt x="308" y="152"/>
                  <a:pt x="312" y="156"/>
                </a:cubicBezTo>
                <a:cubicBezTo>
                  <a:pt x="314" y="159"/>
                  <a:pt x="317" y="160"/>
                  <a:pt x="320" y="160"/>
                </a:cubicBezTo>
                <a:cubicBezTo>
                  <a:pt x="322" y="160"/>
                  <a:pt x="325" y="159"/>
                  <a:pt x="327" y="157"/>
                </a:cubicBezTo>
                <a:cubicBezTo>
                  <a:pt x="328" y="155"/>
                  <a:pt x="335" y="148"/>
                  <a:pt x="335" y="138"/>
                </a:cubicBezTo>
                <a:cubicBezTo>
                  <a:pt x="335" y="134"/>
                  <a:pt x="334" y="127"/>
                  <a:pt x="327" y="120"/>
                </a:cubicBezTo>
                <a:cubicBezTo>
                  <a:pt x="326" y="119"/>
                  <a:pt x="324" y="117"/>
                  <a:pt x="327" y="114"/>
                </a:cubicBezTo>
                <a:cubicBezTo>
                  <a:pt x="331" y="110"/>
                  <a:pt x="331" y="103"/>
                  <a:pt x="327" y="99"/>
                </a:cubicBezTo>
                <a:cubicBezTo>
                  <a:pt x="323" y="95"/>
                  <a:pt x="316" y="95"/>
                  <a:pt x="312" y="99"/>
                </a:cubicBezTo>
                <a:cubicBezTo>
                  <a:pt x="311" y="100"/>
                  <a:pt x="304" y="107"/>
                  <a:pt x="304" y="117"/>
                </a:cubicBezTo>
                <a:close/>
                <a:moveTo>
                  <a:pt x="415" y="360"/>
                </a:moveTo>
                <a:cubicBezTo>
                  <a:pt x="383" y="190"/>
                  <a:pt x="383" y="190"/>
                  <a:pt x="383" y="190"/>
                </a:cubicBezTo>
                <a:cubicBezTo>
                  <a:pt x="383" y="185"/>
                  <a:pt x="378" y="181"/>
                  <a:pt x="373" y="181"/>
                </a:cubicBezTo>
                <a:cubicBezTo>
                  <a:pt x="309" y="181"/>
                  <a:pt x="309" y="181"/>
                  <a:pt x="309" y="181"/>
                </a:cubicBezTo>
                <a:cubicBezTo>
                  <a:pt x="304" y="181"/>
                  <a:pt x="299" y="185"/>
                  <a:pt x="298" y="190"/>
                </a:cubicBezTo>
                <a:cubicBezTo>
                  <a:pt x="286" y="288"/>
                  <a:pt x="286" y="288"/>
                  <a:pt x="286" y="288"/>
                </a:cubicBezTo>
                <a:cubicBezTo>
                  <a:pt x="208" y="236"/>
                  <a:pt x="208" y="236"/>
                  <a:pt x="208" y="236"/>
                </a:cubicBezTo>
                <a:cubicBezTo>
                  <a:pt x="205" y="234"/>
                  <a:pt x="201" y="234"/>
                  <a:pt x="197" y="236"/>
                </a:cubicBezTo>
                <a:cubicBezTo>
                  <a:pt x="194" y="237"/>
                  <a:pt x="192" y="241"/>
                  <a:pt x="192" y="245"/>
                </a:cubicBezTo>
                <a:cubicBezTo>
                  <a:pt x="192" y="289"/>
                  <a:pt x="192" y="289"/>
                  <a:pt x="192" y="289"/>
                </a:cubicBezTo>
                <a:cubicBezTo>
                  <a:pt x="112" y="236"/>
                  <a:pt x="112" y="236"/>
                  <a:pt x="112" y="236"/>
                </a:cubicBezTo>
                <a:cubicBezTo>
                  <a:pt x="109" y="234"/>
                  <a:pt x="105" y="234"/>
                  <a:pt x="101" y="236"/>
                </a:cubicBezTo>
                <a:cubicBezTo>
                  <a:pt x="98" y="237"/>
                  <a:pt x="96" y="241"/>
                  <a:pt x="96" y="245"/>
                </a:cubicBezTo>
                <a:cubicBezTo>
                  <a:pt x="96" y="362"/>
                  <a:pt x="96" y="362"/>
                  <a:pt x="96" y="362"/>
                </a:cubicBezTo>
                <a:cubicBezTo>
                  <a:pt x="96" y="368"/>
                  <a:pt x="100" y="373"/>
                  <a:pt x="106" y="373"/>
                </a:cubicBezTo>
                <a:cubicBezTo>
                  <a:pt x="405" y="373"/>
                  <a:pt x="405" y="373"/>
                  <a:pt x="405" y="373"/>
                </a:cubicBezTo>
                <a:cubicBezTo>
                  <a:pt x="408" y="373"/>
                  <a:pt x="411" y="372"/>
                  <a:pt x="413" y="369"/>
                </a:cubicBezTo>
                <a:cubicBezTo>
                  <a:pt x="415" y="367"/>
                  <a:pt x="416" y="363"/>
                  <a:pt x="415" y="360"/>
                </a:cubicBezTo>
                <a:close/>
                <a:moveTo>
                  <a:pt x="117" y="352"/>
                </a:moveTo>
                <a:cubicBezTo>
                  <a:pt x="192" y="352"/>
                  <a:pt x="192" y="352"/>
                  <a:pt x="192" y="352"/>
                </a:cubicBezTo>
                <a:cubicBezTo>
                  <a:pt x="192" y="315"/>
                  <a:pt x="192" y="315"/>
                  <a:pt x="192" y="315"/>
                </a:cubicBezTo>
                <a:cubicBezTo>
                  <a:pt x="117" y="265"/>
                  <a:pt x="117" y="265"/>
                  <a:pt x="117" y="265"/>
                </a:cubicBezTo>
                <a:lnTo>
                  <a:pt x="117" y="352"/>
                </a:lnTo>
                <a:close/>
                <a:moveTo>
                  <a:pt x="318" y="202"/>
                </a:moveTo>
                <a:cubicBezTo>
                  <a:pt x="300" y="352"/>
                  <a:pt x="300" y="352"/>
                  <a:pt x="300" y="352"/>
                </a:cubicBezTo>
                <a:cubicBezTo>
                  <a:pt x="392" y="352"/>
                  <a:pt x="392" y="352"/>
                  <a:pt x="392" y="352"/>
                </a:cubicBezTo>
                <a:cubicBezTo>
                  <a:pt x="364" y="202"/>
                  <a:pt x="364" y="202"/>
                  <a:pt x="364" y="202"/>
                </a:cubicBezTo>
                <a:lnTo>
                  <a:pt x="318" y="2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63" name="Freeform 62"/>
          <p:cNvSpPr>
            <a:spLocks noChangeAspect="1" noEditPoints="1"/>
          </p:cNvSpPr>
          <p:nvPr/>
        </p:nvSpPr>
        <p:spPr bwMode="auto">
          <a:xfrm>
            <a:off x="8251395" y="5891322"/>
            <a:ext cx="367631" cy="367631"/>
          </a:xfrm>
          <a:custGeom>
            <a:avLst/>
            <a:gdLst>
              <a:gd name="T0" fmla="*/ 267 w 512"/>
              <a:gd name="T1" fmla="*/ 200 h 512"/>
              <a:gd name="T2" fmla="*/ 290 w 512"/>
              <a:gd name="T3" fmla="*/ 256 h 512"/>
              <a:gd name="T4" fmla="*/ 266 w 512"/>
              <a:gd name="T5" fmla="*/ 256 h 512"/>
              <a:gd name="T6" fmla="*/ 266 w 512"/>
              <a:gd name="T7" fmla="*/ 245 h 512"/>
              <a:gd name="T8" fmla="*/ 256 w 512"/>
              <a:gd name="T9" fmla="*/ 234 h 512"/>
              <a:gd name="T10" fmla="*/ 245 w 512"/>
              <a:gd name="T11" fmla="*/ 245 h 512"/>
              <a:gd name="T12" fmla="*/ 245 w 512"/>
              <a:gd name="T13" fmla="*/ 256 h 512"/>
              <a:gd name="T14" fmla="*/ 222 w 512"/>
              <a:gd name="T15" fmla="*/ 256 h 512"/>
              <a:gd name="T16" fmla="*/ 244 w 512"/>
              <a:gd name="T17" fmla="*/ 200 h 512"/>
              <a:gd name="T18" fmla="*/ 238 w 512"/>
              <a:gd name="T19" fmla="*/ 187 h 512"/>
              <a:gd name="T20" fmla="*/ 224 w 512"/>
              <a:gd name="T21" fmla="*/ 192 h 512"/>
              <a:gd name="T22" fmla="*/ 224 w 512"/>
              <a:gd name="T23" fmla="*/ 194 h 512"/>
              <a:gd name="T24" fmla="*/ 220 w 512"/>
              <a:gd name="T25" fmla="*/ 178 h 512"/>
              <a:gd name="T26" fmla="*/ 256 w 512"/>
              <a:gd name="T27" fmla="*/ 143 h 512"/>
              <a:gd name="T28" fmla="*/ 291 w 512"/>
              <a:gd name="T29" fmla="*/ 178 h 512"/>
              <a:gd name="T30" fmla="*/ 287 w 512"/>
              <a:gd name="T31" fmla="*/ 194 h 512"/>
              <a:gd name="T32" fmla="*/ 287 w 512"/>
              <a:gd name="T33" fmla="*/ 192 h 512"/>
              <a:gd name="T34" fmla="*/ 273 w 512"/>
              <a:gd name="T35" fmla="*/ 187 h 512"/>
              <a:gd name="T36" fmla="*/ 267 w 512"/>
              <a:gd name="T37" fmla="*/ 20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2 w 512"/>
              <a:gd name="T49" fmla="*/ 401 h 512"/>
              <a:gd name="T50" fmla="*/ 321 w 512"/>
              <a:gd name="T51" fmla="*/ 277 h 512"/>
              <a:gd name="T52" fmla="*/ 341 w 512"/>
              <a:gd name="T53" fmla="*/ 277 h 512"/>
              <a:gd name="T54" fmla="*/ 352 w 512"/>
              <a:gd name="T55" fmla="*/ 266 h 512"/>
              <a:gd name="T56" fmla="*/ 341 w 512"/>
              <a:gd name="T57" fmla="*/ 256 h 512"/>
              <a:gd name="T58" fmla="*/ 313 w 512"/>
              <a:gd name="T59" fmla="*/ 256 h 512"/>
              <a:gd name="T60" fmla="*/ 297 w 512"/>
              <a:gd name="T61" fmla="*/ 217 h 512"/>
              <a:gd name="T62" fmla="*/ 312 w 512"/>
              <a:gd name="T63" fmla="*/ 178 h 512"/>
              <a:gd name="T64" fmla="*/ 266 w 512"/>
              <a:gd name="T65" fmla="*/ 123 h 512"/>
              <a:gd name="T66" fmla="*/ 266 w 512"/>
              <a:gd name="T67" fmla="*/ 106 h 512"/>
              <a:gd name="T68" fmla="*/ 256 w 512"/>
              <a:gd name="T69" fmla="*/ 96 h 512"/>
              <a:gd name="T70" fmla="*/ 245 w 512"/>
              <a:gd name="T71" fmla="*/ 106 h 512"/>
              <a:gd name="T72" fmla="*/ 245 w 512"/>
              <a:gd name="T73" fmla="*/ 123 h 512"/>
              <a:gd name="T74" fmla="*/ 199 w 512"/>
              <a:gd name="T75" fmla="*/ 178 h 512"/>
              <a:gd name="T76" fmla="*/ 214 w 512"/>
              <a:gd name="T77" fmla="*/ 217 h 512"/>
              <a:gd name="T78" fmla="*/ 199 w 512"/>
              <a:gd name="T79" fmla="*/ 256 h 512"/>
              <a:gd name="T80" fmla="*/ 170 w 512"/>
              <a:gd name="T81" fmla="*/ 256 h 512"/>
              <a:gd name="T82" fmla="*/ 160 w 512"/>
              <a:gd name="T83" fmla="*/ 266 h 512"/>
              <a:gd name="T84" fmla="*/ 170 w 512"/>
              <a:gd name="T85" fmla="*/ 277 h 512"/>
              <a:gd name="T86" fmla="*/ 190 w 512"/>
              <a:gd name="T87" fmla="*/ 277 h 512"/>
              <a:gd name="T88" fmla="*/ 139 w 512"/>
              <a:gd name="T89" fmla="*/ 401 h 512"/>
              <a:gd name="T90" fmla="*/ 145 w 512"/>
              <a:gd name="T91" fmla="*/ 415 h 512"/>
              <a:gd name="T92" fmla="*/ 149 w 512"/>
              <a:gd name="T93" fmla="*/ 416 h 512"/>
              <a:gd name="T94" fmla="*/ 159 w 512"/>
              <a:gd name="T95" fmla="*/ 409 h 512"/>
              <a:gd name="T96" fmla="*/ 213 w 512"/>
              <a:gd name="T97" fmla="*/ 277 h 512"/>
              <a:gd name="T98" fmla="*/ 245 w 512"/>
              <a:gd name="T99" fmla="*/ 277 h 512"/>
              <a:gd name="T100" fmla="*/ 245 w 512"/>
              <a:gd name="T101" fmla="*/ 288 h 512"/>
              <a:gd name="T102" fmla="*/ 256 w 512"/>
              <a:gd name="T103" fmla="*/ 298 h 512"/>
              <a:gd name="T104" fmla="*/ 266 w 512"/>
              <a:gd name="T105" fmla="*/ 288 h 512"/>
              <a:gd name="T106" fmla="*/ 266 w 512"/>
              <a:gd name="T107" fmla="*/ 277 h 512"/>
              <a:gd name="T108" fmla="*/ 298 w 512"/>
              <a:gd name="T109" fmla="*/ 277 h 512"/>
              <a:gd name="T110" fmla="*/ 352 w 512"/>
              <a:gd name="T111" fmla="*/ 409 h 512"/>
              <a:gd name="T112" fmla="*/ 362 w 512"/>
              <a:gd name="T113" fmla="*/ 416 h 512"/>
              <a:gd name="T114" fmla="*/ 366 w 512"/>
              <a:gd name="T115" fmla="*/ 415 h 512"/>
              <a:gd name="T116" fmla="*/ 372 w 512"/>
              <a:gd name="T117" fmla="*/ 40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512">
                <a:moveTo>
                  <a:pt x="267" y="200"/>
                </a:moveTo>
                <a:cubicBezTo>
                  <a:pt x="290" y="256"/>
                  <a:pt x="290" y="256"/>
                  <a:pt x="290" y="256"/>
                </a:cubicBezTo>
                <a:cubicBezTo>
                  <a:pt x="266" y="256"/>
                  <a:pt x="266" y="256"/>
                  <a:pt x="266" y="256"/>
                </a:cubicBezTo>
                <a:cubicBezTo>
                  <a:pt x="266" y="245"/>
                  <a:pt x="266" y="245"/>
                  <a:pt x="266" y="245"/>
                </a:cubicBezTo>
                <a:cubicBezTo>
                  <a:pt x="266" y="239"/>
                  <a:pt x="262" y="234"/>
                  <a:pt x="256" y="234"/>
                </a:cubicBezTo>
                <a:cubicBezTo>
                  <a:pt x="250" y="234"/>
                  <a:pt x="245" y="239"/>
                  <a:pt x="245" y="245"/>
                </a:cubicBezTo>
                <a:cubicBezTo>
                  <a:pt x="245" y="256"/>
                  <a:pt x="245" y="256"/>
                  <a:pt x="245" y="256"/>
                </a:cubicBezTo>
                <a:cubicBezTo>
                  <a:pt x="222" y="256"/>
                  <a:pt x="222" y="256"/>
                  <a:pt x="222" y="256"/>
                </a:cubicBezTo>
                <a:cubicBezTo>
                  <a:pt x="244" y="200"/>
                  <a:pt x="244" y="200"/>
                  <a:pt x="244" y="200"/>
                </a:cubicBezTo>
                <a:cubicBezTo>
                  <a:pt x="246" y="195"/>
                  <a:pt x="244" y="189"/>
                  <a:pt x="238" y="187"/>
                </a:cubicBezTo>
                <a:cubicBezTo>
                  <a:pt x="233" y="184"/>
                  <a:pt x="227" y="187"/>
                  <a:pt x="224" y="192"/>
                </a:cubicBezTo>
                <a:cubicBezTo>
                  <a:pt x="224" y="194"/>
                  <a:pt x="224" y="194"/>
                  <a:pt x="224" y="194"/>
                </a:cubicBezTo>
                <a:cubicBezTo>
                  <a:pt x="222" y="189"/>
                  <a:pt x="220" y="184"/>
                  <a:pt x="220" y="178"/>
                </a:cubicBezTo>
                <a:cubicBezTo>
                  <a:pt x="220" y="159"/>
                  <a:pt x="236" y="143"/>
                  <a:pt x="256" y="143"/>
                </a:cubicBezTo>
                <a:cubicBezTo>
                  <a:pt x="275" y="143"/>
                  <a:pt x="291" y="159"/>
                  <a:pt x="291" y="178"/>
                </a:cubicBezTo>
                <a:cubicBezTo>
                  <a:pt x="291" y="184"/>
                  <a:pt x="290" y="189"/>
                  <a:pt x="287" y="194"/>
                </a:cubicBezTo>
                <a:cubicBezTo>
                  <a:pt x="287" y="192"/>
                  <a:pt x="287" y="192"/>
                  <a:pt x="287" y="192"/>
                </a:cubicBezTo>
                <a:cubicBezTo>
                  <a:pt x="285" y="187"/>
                  <a:pt x="278" y="184"/>
                  <a:pt x="273" y="187"/>
                </a:cubicBezTo>
                <a:cubicBezTo>
                  <a:pt x="268" y="189"/>
                  <a:pt x="265" y="195"/>
                  <a:pt x="267" y="20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401"/>
                </a:moveTo>
                <a:cubicBezTo>
                  <a:pt x="321" y="277"/>
                  <a:pt x="321" y="277"/>
                  <a:pt x="321" y="277"/>
                </a:cubicBezTo>
                <a:cubicBezTo>
                  <a:pt x="341" y="277"/>
                  <a:pt x="341" y="277"/>
                  <a:pt x="341" y="277"/>
                </a:cubicBezTo>
                <a:cubicBezTo>
                  <a:pt x="347" y="277"/>
                  <a:pt x="352" y="272"/>
                  <a:pt x="352" y="266"/>
                </a:cubicBezTo>
                <a:cubicBezTo>
                  <a:pt x="352" y="260"/>
                  <a:pt x="347" y="256"/>
                  <a:pt x="341" y="256"/>
                </a:cubicBezTo>
                <a:cubicBezTo>
                  <a:pt x="313" y="256"/>
                  <a:pt x="313" y="256"/>
                  <a:pt x="313" y="256"/>
                </a:cubicBezTo>
                <a:cubicBezTo>
                  <a:pt x="297" y="217"/>
                  <a:pt x="297" y="217"/>
                  <a:pt x="297" y="217"/>
                </a:cubicBezTo>
                <a:cubicBezTo>
                  <a:pt x="307" y="207"/>
                  <a:pt x="312" y="193"/>
                  <a:pt x="312" y="178"/>
                </a:cubicBezTo>
                <a:cubicBezTo>
                  <a:pt x="312" y="151"/>
                  <a:pt x="293" y="128"/>
                  <a:pt x="266" y="123"/>
                </a:cubicBezTo>
                <a:cubicBezTo>
                  <a:pt x="266" y="106"/>
                  <a:pt x="266" y="106"/>
                  <a:pt x="266" y="106"/>
                </a:cubicBezTo>
                <a:cubicBezTo>
                  <a:pt x="266" y="100"/>
                  <a:pt x="262" y="96"/>
                  <a:pt x="256" y="96"/>
                </a:cubicBezTo>
                <a:cubicBezTo>
                  <a:pt x="250" y="96"/>
                  <a:pt x="245" y="100"/>
                  <a:pt x="245" y="106"/>
                </a:cubicBezTo>
                <a:cubicBezTo>
                  <a:pt x="245" y="123"/>
                  <a:pt x="245" y="123"/>
                  <a:pt x="245" y="123"/>
                </a:cubicBezTo>
                <a:cubicBezTo>
                  <a:pt x="219" y="128"/>
                  <a:pt x="199" y="151"/>
                  <a:pt x="199" y="178"/>
                </a:cubicBezTo>
                <a:cubicBezTo>
                  <a:pt x="199" y="193"/>
                  <a:pt x="204" y="207"/>
                  <a:pt x="214" y="217"/>
                </a:cubicBezTo>
                <a:cubicBezTo>
                  <a:pt x="199" y="256"/>
                  <a:pt x="199" y="256"/>
                  <a:pt x="199" y="256"/>
                </a:cubicBezTo>
                <a:cubicBezTo>
                  <a:pt x="170" y="256"/>
                  <a:pt x="170" y="256"/>
                  <a:pt x="170" y="256"/>
                </a:cubicBezTo>
                <a:cubicBezTo>
                  <a:pt x="164" y="256"/>
                  <a:pt x="160" y="260"/>
                  <a:pt x="160" y="266"/>
                </a:cubicBezTo>
                <a:cubicBezTo>
                  <a:pt x="160" y="272"/>
                  <a:pt x="164" y="277"/>
                  <a:pt x="170" y="277"/>
                </a:cubicBezTo>
                <a:cubicBezTo>
                  <a:pt x="190" y="277"/>
                  <a:pt x="190" y="277"/>
                  <a:pt x="190" y="277"/>
                </a:cubicBezTo>
                <a:cubicBezTo>
                  <a:pt x="139" y="401"/>
                  <a:pt x="139" y="401"/>
                  <a:pt x="139" y="401"/>
                </a:cubicBezTo>
                <a:cubicBezTo>
                  <a:pt x="137" y="406"/>
                  <a:pt x="140" y="413"/>
                  <a:pt x="145" y="415"/>
                </a:cubicBezTo>
                <a:cubicBezTo>
                  <a:pt x="146" y="415"/>
                  <a:pt x="148" y="416"/>
                  <a:pt x="149" y="416"/>
                </a:cubicBezTo>
                <a:cubicBezTo>
                  <a:pt x="153" y="416"/>
                  <a:pt x="157" y="413"/>
                  <a:pt x="159" y="409"/>
                </a:cubicBezTo>
                <a:cubicBezTo>
                  <a:pt x="213" y="277"/>
                  <a:pt x="213" y="277"/>
                  <a:pt x="213" y="277"/>
                </a:cubicBezTo>
                <a:cubicBezTo>
                  <a:pt x="245" y="277"/>
                  <a:pt x="245" y="277"/>
                  <a:pt x="245" y="277"/>
                </a:cubicBezTo>
                <a:cubicBezTo>
                  <a:pt x="245" y="288"/>
                  <a:pt x="245" y="288"/>
                  <a:pt x="245" y="288"/>
                </a:cubicBezTo>
                <a:cubicBezTo>
                  <a:pt x="245" y="294"/>
                  <a:pt x="250" y="298"/>
                  <a:pt x="256" y="298"/>
                </a:cubicBezTo>
                <a:cubicBezTo>
                  <a:pt x="262" y="298"/>
                  <a:pt x="266" y="294"/>
                  <a:pt x="266" y="288"/>
                </a:cubicBezTo>
                <a:cubicBezTo>
                  <a:pt x="266" y="277"/>
                  <a:pt x="266" y="277"/>
                  <a:pt x="266" y="277"/>
                </a:cubicBezTo>
                <a:cubicBezTo>
                  <a:pt x="298" y="277"/>
                  <a:pt x="298" y="277"/>
                  <a:pt x="298" y="277"/>
                </a:cubicBezTo>
                <a:cubicBezTo>
                  <a:pt x="352" y="409"/>
                  <a:pt x="352" y="409"/>
                  <a:pt x="352" y="409"/>
                </a:cubicBezTo>
                <a:cubicBezTo>
                  <a:pt x="354" y="413"/>
                  <a:pt x="358" y="416"/>
                  <a:pt x="362" y="416"/>
                </a:cubicBezTo>
                <a:cubicBezTo>
                  <a:pt x="364" y="416"/>
                  <a:pt x="365" y="415"/>
                  <a:pt x="366" y="415"/>
                </a:cubicBezTo>
                <a:cubicBezTo>
                  <a:pt x="372" y="413"/>
                  <a:pt x="374" y="406"/>
                  <a:pt x="372" y="40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prstClr val="black"/>
              </a:solidFill>
            </a:endParaRPr>
          </a:p>
        </p:txBody>
      </p:sp>
      <p:sp>
        <p:nvSpPr>
          <p:cNvPr id="89" name="Title 2"/>
          <p:cNvSpPr>
            <a:spLocks noGrp="1"/>
          </p:cNvSpPr>
          <p:nvPr>
            <p:ph type="title"/>
          </p:nvPr>
        </p:nvSpPr>
        <p:spPr>
          <a:xfrm>
            <a:off x="439793" y="350131"/>
            <a:ext cx="9785951" cy="650123"/>
          </a:xfrm>
        </p:spPr>
        <p:txBody>
          <a:bodyPr/>
          <a:lstStyle/>
          <a:p>
            <a:pPr algn="just"/>
            <a:r>
              <a:rPr lang="en-US" b="1" dirty="0"/>
              <a:t>Proposed High Level Relationship for HR &amp; other Specialized Areas</a:t>
            </a:r>
            <a:endParaRPr lang="en-IN" b="1" dirty="0"/>
          </a:p>
        </p:txBody>
      </p:sp>
      <p:cxnSp>
        <p:nvCxnSpPr>
          <p:cNvPr id="6" name="Elbow Connector 5"/>
          <p:cNvCxnSpPr>
            <a:stCxn id="41" idx="1"/>
            <a:endCxn id="29" idx="0"/>
          </p:cNvCxnSpPr>
          <p:nvPr/>
        </p:nvCxnSpPr>
        <p:spPr>
          <a:xfrm rot="10800000" flipV="1">
            <a:off x="2277090" y="2724744"/>
            <a:ext cx="1639329" cy="505333"/>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42" idx="1"/>
            <a:endCxn id="29" idx="1"/>
          </p:cNvCxnSpPr>
          <p:nvPr/>
        </p:nvCxnSpPr>
        <p:spPr>
          <a:xfrm rot="10800000" flipH="1">
            <a:off x="573142" y="3482078"/>
            <a:ext cx="545697" cy="2618146"/>
          </a:xfrm>
          <a:prstGeom prst="bentConnector3">
            <a:avLst>
              <a:gd name="adj1" fmla="val -4189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bwMode="gray">
          <a:xfrm>
            <a:off x="1118840" y="3230078"/>
            <a:ext cx="2316497" cy="504000"/>
          </a:xfrm>
          <a:prstGeom prst="rect">
            <a:avLst/>
          </a:prstGeom>
          <a:solidFill>
            <a:schemeClr val="accent3">
              <a:lumMod val="20000"/>
              <a:lumOff val="80000"/>
            </a:schemeClr>
          </a:solidFill>
          <a:ln w="19050" algn="ctr">
            <a:solidFill>
              <a:schemeClr val="tx1"/>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400" b="1" dirty="0">
                <a:solidFill>
                  <a:prstClr val="black"/>
                </a:solidFill>
              </a:rPr>
              <a:t>Specialized O&amp;M Services</a:t>
            </a:r>
            <a:endParaRPr lang="en-IN" sz="1400" b="1" dirty="0">
              <a:solidFill>
                <a:prstClr val="black"/>
              </a:solidFill>
            </a:endParaRPr>
          </a:p>
        </p:txBody>
      </p:sp>
      <p:sp>
        <p:nvSpPr>
          <p:cNvPr id="34" name="Rectangle 33"/>
          <p:cNvSpPr/>
          <p:nvPr/>
        </p:nvSpPr>
        <p:spPr bwMode="gray">
          <a:xfrm>
            <a:off x="4879600" y="3212694"/>
            <a:ext cx="4714105" cy="504000"/>
          </a:xfrm>
          <a:prstGeom prst="rect">
            <a:avLst/>
          </a:prstGeom>
          <a:solidFill>
            <a:schemeClr val="accent3">
              <a:lumMod val="20000"/>
              <a:lumOff val="80000"/>
            </a:schemeClr>
          </a:solidFill>
          <a:ln w="19050" algn="ctr">
            <a:solidFill>
              <a:schemeClr val="tx1"/>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6000"/>
              </a:lnSpc>
              <a:buFont typeface="Wingdings 2" pitchFamily="18" charset="2"/>
              <a:buNone/>
            </a:pPr>
            <a:r>
              <a:rPr lang="en-US" sz="1400" b="1" dirty="0">
                <a:solidFill>
                  <a:prstClr val="black"/>
                </a:solidFill>
              </a:rPr>
              <a:t>Centralized HR Management &amp; Capacity Development</a:t>
            </a:r>
            <a:endParaRPr lang="en-IN" sz="1400" b="1" dirty="0">
              <a:solidFill>
                <a:prstClr val="black"/>
              </a:solidFill>
            </a:endParaRPr>
          </a:p>
        </p:txBody>
      </p:sp>
      <p:cxnSp>
        <p:nvCxnSpPr>
          <p:cNvPr id="26" name="Elbow Connector 25"/>
          <p:cNvCxnSpPr>
            <a:stCxn id="43" idx="0"/>
            <a:endCxn id="34" idx="2"/>
          </p:cNvCxnSpPr>
          <p:nvPr/>
        </p:nvCxnSpPr>
        <p:spPr>
          <a:xfrm rot="5400000" flipH="1" flipV="1">
            <a:off x="5238333" y="3774425"/>
            <a:ext cx="2056051" cy="1940590"/>
          </a:xfrm>
          <a:prstGeom prst="bentConnector3">
            <a:avLst>
              <a:gd name="adj1" fmla="val 4660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41" idx="3"/>
            <a:endCxn id="34" idx="0"/>
          </p:cNvCxnSpPr>
          <p:nvPr/>
        </p:nvCxnSpPr>
        <p:spPr>
          <a:xfrm>
            <a:off x="6888218" y="2724745"/>
            <a:ext cx="348435" cy="487949"/>
          </a:xfrm>
          <a:prstGeom prst="bentConnector2">
            <a:avLst/>
          </a:prstGeom>
          <a:ln w="254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TextBox 81"/>
          <p:cNvSpPr txBox="1"/>
          <p:nvPr/>
        </p:nvSpPr>
        <p:spPr>
          <a:xfrm>
            <a:off x="7341072" y="2804494"/>
            <a:ext cx="3111528"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Approve Strategic Plans &amp; Training &amp; Skill Development Plans</a:t>
            </a:r>
          </a:p>
        </p:txBody>
      </p:sp>
      <p:sp>
        <p:nvSpPr>
          <p:cNvPr id="95" name="TextBox 81"/>
          <p:cNvSpPr txBox="1"/>
          <p:nvPr/>
        </p:nvSpPr>
        <p:spPr>
          <a:xfrm>
            <a:off x="1348097" y="2320851"/>
            <a:ext cx="2566286" cy="338554"/>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Monitor Plant Performance and assess optimization opportunity</a:t>
            </a:r>
          </a:p>
        </p:txBody>
      </p:sp>
      <p:sp>
        <p:nvSpPr>
          <p:cNvPr id="96" name="TextBox 81"/>
          <p:cNvSpPr txBox="1"/>
          <p:nvPr/>
        </p:nvSpPr>
        <p:spPr>
          <a:xfrm>
            <a:off x="483898" y="5047340"/>
            <a:ext cx="2233140" cy="677108"/>
          </a:xfrm>
          <a:prstGeom prst="rect">
            <a:avLst/>
          </a:prstGeom>
          <a:noFill/>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buSzPct val="100000"/>
            </a:pPr>
            <a:r>
              <a:rPr lang="en-US" sz="1100" b="1" dirty="0">
                <a:solidFill>
                  <a:srgbClr val="313131"/>
                </a:solidFill>
              </a:rPr>
              <a:t>Structured SLA for Specialized O&amp;M Services for Plant Performance Monitoring &amp; Optimization</a:t>
            </a:r>
          </a:p>
        </p:txBody>
      </p:sp>
      <p:sp>
        <p:nvSpPr>
          <p:cNvPr id="100" name="Pentagon 99">
            <a:hlinkClick r:id="" action="ppaction://noaction"/>
          </p:cNvPr>
          <p:cNvSpPr/>
          <p:nvPr/>
        </p:nvSpPr>
        <p:spPr bwMode="gray">
          <a:xfrm>
            <a:off x="9640849" y="7284204"/>
            <a:ext cx="373399" cy="227606"/>
          </a:xfrm>
          <a:prstGeom prst="homePlat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cxnSp>
        <p:nvCxnSpPr>
          <p:cNvPr id="105" name="Straight Connector 104"/>
          <p:cNvCxnSpPr>
            <a:stCxn id="42" idx="3"/>
          </p:cNvCxnSpPr>
          <p:nvPr/>
        </p:nvCxnSpPr>
        <p:spPr>
          <a:xfrm flipV="1">
            <a:off x="2627794" y="6097222"/>
            <a:ext cx="807543" cy="3002"/>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V="1">
            <a:off x="3435337" y="4796852"/>
            <a:ext cx="0" cy="13003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3435337" y="4811843"/>
            <a:ext cx="380131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Elbow Connector 114"/>
          <p:cNvCxnSpPr>
            <a:stCxn id="44" idx="3"/>
          </p:cNvCxnSpPr>
          <p:nvPr/>
        </p:nvCxnSpPr>
        <p:spPr>
          <a:xfrm flipH="1" flipV="1">
            <a:off x="7236653" y="4811843"/>
            <a:ext cx="2876028" cy="1288381"/>
          </a:xfrm>
          <a:prstGeom prst="bentConnector3">
            <a:avLst>
              <a:gd name="adj1" fmla="val -7948"/>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81"/>
          <p:cNvSpPr txBox="1"/>
          <p:nvPr/>
        </p:nvSpPr>
        <p:spPr>
          <a:xfrm>
            <a:off x="5671816" y="3992341"/>
            <a:ext cx="3190091" cy="584775"/>
          </a:xfrm>
          <a:prstGeom prst="rect">
            <a:avLst/>
          </a:prstGeom>
          <a:solidFill>
            <a:schemeClr val="bg1"/>
          </a:solidFill>
          <a:ln>
            <a:solidFill>
              <a:schemeClr val="tx1"/>
            </a:solidFill>
          </a:ln>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buSzPct val="100000"/>
            </a:pPr>
            <a:r>
              <a:rPr lang="en-US" sz="1100" b="1" dirty="0">
                <a:solidFill>
                  <a:srgbClr val="313131"/>
                </a:solidFill>
              </a:rPr>
              <a:t>Prepare Strategic HR Plans </a:t>
            </a:r>
          </a:p>
          <a:p>
            <a:pPr algn="ctr">
              <a:spcBef>
                <a:spcPts val="600"/>
              </a:spcBef>
              <a:buSzPct val="100000"/>
            </a:pPr>
            <a:r>
              <a:rPr lang="en-US" sz="1100" b="1" dirty="0">
                <a:solidFill>
                  <a:srgbClr val="313131"/>
                </a:solidFill>
              </a:rPr>
              <a:t>Conduct Training &amp; Skill Development Plan</a:t>
            </a:r>
          </a:p>
        </p:txBody>
      </p:sp>
    </p:spTree>
    <p:extLst>
      <p:ext uri="{BB962C8B-B14F-4D97-AF65-F5344CB8AC3E}">
        <p14:creationId xmlns:p14="http://schemas.microsoft.com/office/powerpoint/2010/main" val="30274832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Key drivers for sustainability of Holding Company</a:t>
            </a:r>
          </a:p>
        </p:txBody>
      </p:sp>
    </p:spTree>
    <p:extLst>
      <p:ext uri="{BB962C8B-B14F-4D97-AF65-F5344CB8AC3E}">
        <p14:creationId xmlns:p14="http://schemas.microsoft.com/office/powerpoint/2010/main" val="2109090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9794" y="350133"/>
            <a:ext cx="9809052" cy="763288"/>
          </a:xfrm>
        </p:spPr>
        <p:txBody>
          <a:bodyPr/>
          <a:lstStyle/>
          <a:p>
            <a:r>
              <a:rPr lang="en-US" sz="2000" b="1" dirty="0"/>
              <a:t>Key actions to ensure sustainability of Holding Company</a:t>
            </a:r>
            <a:endParaRPr lang="en-IN" sz="2000" b="1" dirty="0"/>
          </a:p>
        </p:txBody>
      </p:sp>
      <p:sp>
        <p:nvSpPr>
          <p:cNvPr id="5" name="Rectangle 4"/>
          <p:cNvSpPr/>
          <p:nvPr/>
        </p:nvSpPr>
        <p:spPr bwMode="gray">
          <a:xfrm>
            <a:off x="439794" y="1113421"/>
            <a:ext cx="4248000" cy="582046"/>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Financial Recovery &amp; Restructuring Plan</a:t>
            </a:r>
            <a:endParaRPr lang="en-IN" sz="1400" b="1" dirty="0">
              <a:solidFill>
                <a:schemeClr val="bg1"/>
              </a:solidFill>
            </a:endParaRPr>
          </a:p>
        </p:txBody>
      </p:sp>
      <p:sp>
        <p:nvSpPr>
          <p:cNvPr id="6" name="Rectangle 5"/>
          <p:cNvSpPr/>
          <p:nvPr/>
        </p:nvSpPr>
        <p:spPr bwMode="gray">
          <a:xfrm>
            <a:off x="6000846" y="1113421"/>
            <a:ext cx="4248000" cy="582046"/>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Performance Improvement Plan</a:t>
            </a:r>
            <a:endParaRPr lang="en-IN" sz="1400" b="1" dirty="0">
              <a:solidFill>
                <a:schemeClr val="bg1"/>
              </a:solidFill>
            </a:endParaRPr>
          </a:p>
        </p:txBody>
      </p:sp>
      <p:sp>
        <p:nvSpPr>
          <p:cNvPr id="18" name="Rectangle 17"/>
          <p:cNvSpPr/>
          <p:nvPr/>
        </p:nvSpPr>
        <p:spPr bwMode="gray">
          <a:xfrm>
            <a:off x="439794" y="2041047"/>
            <a:ext cx="4248000" cy="897023"/>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Conversion of accumulated budgetary support in the form of loans (principal and interest) to equity via transfer to Restructuring Reserve – BDT 389 </a:t>
            </a:r>
            <a:r>
              <a:rPr lang="en-IN" sz="1200" b="1" dirty="0" err="1"/>
              <a:t>Bn</a:t>
            </a:r>
            <a:endParaRPr lang="en-IN" sz="1200" b="1" dirty="0"/>
          </a:p>
        </p:txBody>
      </p:sp>
      <p:sp>
        <p:nvSpPr>
          <p:cNvPr id="19" name="Rectangle 18"/>
          <p:cNvSpPr/>
          <p:nvPr/>
        </p:nvSpPr>
        <p:spPr bwMode="gray">
          <a:xfrm>
            <a:off x="439794" y="3274770"/>
            <a:ext cx="4248000" cy="877504"/>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Conversion of existing unpaid Debt Service Liabilities pertaining to BPDB and its subsidiaries to equity via transfer to Restructuring Reserve – BDT 90 </a:t>
            </a:r>
            <a:r>
              <a:rPr lang="en-IN" sz="1200" b="1" dirty="0" err="1"/>
              <a:t>Bn</a:t>
            </a:r>
            <a:endParaRPr lang="en-IN" sz="1200" b="1" dirty="0"/>
          </a:p>
        </p:txBody>
      </p:sp>
      <p:sp>
        <p:nvSpPr>
          <p:cNvPr id="20" name="Rectangle 19"/>
          <p:cNvSpPr/>
          <p:nvPr/>
        </p:nvSpPr>
        <p:spPr bwMode="gray">
          <a:xfrm>
            <a:off x="439794" y="4512673"/>
            <a:ext cx="4248000" cy="644261"/>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Future Budgetary Support in the form of Subsidy </a:t>
            </a:r>
          </a:p>
        </p:txBody>
      </p:sp>
      <p:sp>
        <p:nvSpPr>
          <p:cNvPr id="29" name="Rectangle 28"/>
          <p:cNvSpPr/>
          <p:nvPr/>
        </p:nvSpPr>
        <p:spPr bwMode="gray">
          <a:xfrm>
            <a:off x="401502" y="5554973"/>
            <a:ext cx="4248000" cy="569626"/>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1200" b="1" dirty="0"/>
              <a:t>Direct repayment of BPDB Subsidiaries’ Debt Service Liability to Government in the future</a:t>
            </a:r>
          </a:p>
        </p:txBody>
      </p:sp>
      <p:sp>
        <p:nvSpPr>
          <p:cNvPr id="30" name="TextBox 29"/>
          <p:cNvSpPr txBox="1">
            <a:spLocks noChangeAspect="1"/>
          </p:cNvSpPr>
          <p:nvPr/>
        </p:nvSpPr>
        <p:spPr>
          <a:xfrm>
            <a:off x="241794" y="1815636"/>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1</a:t>
            </a:r>
            <a:endParaRPr lang="en-IN" dirty="0"/>
          </a:p>
        </p:txBody>
      </p:sp>
      <p:sp>
        <p:nvSpPr>
          <p:cNvPr id="31" name="TextBox 30"/>
          <p:cNvSpPr txBox="1">
            <a:spLocks noChangeAspect="1"/>
          </p:cNvSpPr>
          <p:nvPr/>
        </p:nvSpPr>
        <p:spPr>
          <a:xfrm>
            <a:off x="196719" y="3097062"/>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2</a:t>
            </a:r>
            <a:endParaRPr lang="en-IN" dirty="0"/>
          </a:p>
        </p:txBody>
      </p:sp>
      <p:sp>
        <p:nvSpPr>
          <p:cNvPr id="32" name="TextBox 31"/>
          <p:cNvSpPr txBox="1">
            <a:spLocks noChangeAspect="1"/>
          </p:cNvSpPr>
          <p:nvPr/>
        </p:nvSpPr>
        <p:spPr>
          <a:xfrm>
            <a:off x="196719" y="4341287"/>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3</a:t>
            </a:r>
            <a:endParaRPr lang="en-IN" dirty="0"/>
          </a:p>
        </p:txBody>
      </p:sp>
      <p:sp>
        <p:nvSpPr>
          <p:cNvPr id="33" name="TextBox 32"/>
          <p:cNvSpPr txBox="1">
            <a:spLocks noChangeAspect="1"/>
          </p:cNvSpPr>
          <p:nvPr/>
        </p:nvSpPr>
        <p:spPr>
          <a:xfrm>
            <a:off x="196719" y="5379297"/>
            <a:ext cx="396000" cy="396000"/>
          </a:xfrm>
          <a:prstGeom prst="ellipse">
            <a:avLst/>
          </a:prstGeom>
          <a:solidFill>
            <a:srgbClr val="D3F1EE"/>
          </a:solidFill>
        </p:spPr>
        <p:txBody>
          <a:bodyPr wrap="square" lIns="0" tIns="0" rIns="0" bIns="0" rtlCol="0" anchor="ctr">
            <a:noAutofit/>
          </a:bodyPr>
          <a:lstStyle>
            <a:defPPr>
              <a:defRPr lang="en-US"/>
            </a:defPPr>
            <a:lvl1pPr algn="ctr">
              <a:buSzPct val="100000"/>
              <a:defRPr sz="1400" b="1">
                <a:solidFill>
                  <a:srgbClr val="313131"/>
                </a:solidFill>
              </a:defRPr>
            </a:lvl1pPr>
          </a:lstStyle>
          <a:p>
            <a:r>
              <a:rPr lang="en-US" dirty="0"/>
              <a:t>4</a:t>
            </a:r>
            <a:endParaRPr lang="en-IN" dirty="0"/>
          </a:p>
        </p:txBody>
      </p:sp>
      <p:sp>
        <p:nvSpPr>
          <p:cNvPr id="36" name="Rectangle 35"/>
          <p:cNvSpPr/>
          <p:nvPr/>
        </p:nvSpPr>
        <p:spPr bwMode="gray">
          <a:xfrm>
            <a:off x="6000844" y="5221198"/>
            <a:ext cx="4248000" cy="897023"/>
          </a:xfrm>
          <a:prstGeom prst="rect">
            <a:avLst/>
          </a:prstGeom>
          <a:solidFill>
            <a:schemeClr val="accent1">
              <a:lumMod val="60000"/>
              <a:lumOff val="4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Targeted Commitments to Improve Distribution Loss, Billing &amp; Collection Ratios &amp; Power Plant Efficiencies</a:t>
            </a:r>
            <a:endParaRPr lang="en-IN" sz="1200" b="1" dirty="0"/>
          </a:p>
        </p:txBody>
      </p:sp>
      <p:sp>
        <p:nvSpPr>
          <p:cNvPr id="38" name="Rectangle 37"/>
          <p:cNvSpPr/>
          <p:nvPr/>
        </p:nvSpPr>
        <p:spPr bwMode="gray">
          <a:xfrm>
            <a:off x="6000844" y="2041047"/>
            <a:ext cx="4248000" cy="2300239"/>
          </a:xfrm>
          <a:prstGeom prst="rect">
            <a:avLst/>
          </a:prstGeom>
          <a:solidFill>
            <a:schemeClr val="accent1">
              <a:lumMod val="20000"/>
              <a:lumOff val="80000"/>
            </a:schemeClr>
          </a:solidFill>
          <a:ln w="19050" algn="ctr">
            <a:solidFill>
              <a:schemeClr val="tx1"/>
            </a:solidFill>
            <a:miter lim="800000"/>
            <a:headEnd/>
            <a:tailEnd/>
          </a:ln>
        </p:spPr>
        <p:txBody>
          <a:bodyPr wrap="square" lIns="88900" tIns="88900" rIns="88900" bIns="88900" rtlCol="0" anchor="ctr"/>
          <a:lstStyle/>
          <a:p>
            <a:pPr>
              <a:lnSpc>
                <a:spcPct val="120000"/>
              </a:lnSpc>
              <a:spcBef>
                <a:spcPts val="600"/>
              </a:spcBef>
              <a:buFont typeface="Wingdings 2" pitchFamily="18" charset="2"/>
              <a:buNone/>
            </a:pPr>
            <a:r>
              <a:rPr lang="en-US" sz="1200" b="1" dirty="0"/>
              <a:t>Strengthen business functions to improve performance across:</a:t>
            </a:r>
          </a:p>
          <a:p>
            <a:pPr marL="171450" indent="-171450">
              <a:lnSpc>
                <a:spcPct val="120000"/>
              </a:lnSpc>
              <a:spcBef>
                <a:spcPts val="600"/>
              </a:spcBef>
              <a:buFont typeface="Arial" panose="020B0604020202020204" pitchFamily="34" charset="0"/>
              <a:buChar char="•"/>
            </a:pPr>
            <a:r>
              <a:rPr lang="en-US" sz="1200" b="1" dirty="0"/>
              <a:t>Generation</a:t>
            </a:r>
          </a:p>
          <a:p>
            <a:pPr marL="171450" indent="-171450">
              <a:lnSpc>
                <a:spcPct val="120000"/>
              </a:lnSpc>
              <a:spcBef>
                <a:spcPts val="600"/>
              </a:spcBef>
              <a:buFont typeface="Arial" panose="020B0604020202020204" pitchFamily="34" charset="0"/>
              <a:buChar char="•"/>
            </a:pPr>
            <a:r>
              <a:rPr lang="en-US" sz="1200" b="1" dirty="0"/>
              <a:t>Distribution</a:t>
            </a:r>
          </a:p>
          <a:p>
            <a:pPr marL="171450" indent="-171450">
              <a:lnSpc>
                <a:spcPct val="120000"/>
              </a:lnSpc>
              <a:spcBef>
                <a:spcPts val="600"/>
              </a:spcBef>
              <a:buFont typeface="Arial" panose="020B0604020202020204" pitchFamily="34" charset="0"/>
              <a:buChar char="•"/>
            </a:pPr>
            <a:r>
              <a:rPr lang="en-US" sz="1200" b="1" dirty="0"/>
              <a:t>Commercial &amp; Regulatory</a:t>
            </a:r>
          </a:p>
          <a:p>
            <a:pPr marL="171450" indent="-171450">
              <a:lnSpc>
                <a:spcPct val="120000"/>
              </a:lnSpc>
              <a:spcBef>
                <a:spcPts val="600"/>
              </a:spcBef>
              <a:buFont typeface="Arial" panose="020B0604020202020204" pitchFamily="34" charset="0"/>
              <a:buChar char="•"/>
            </a:pPr>
            <a:r>
              <a:rPr lang="en-US" sz="1200" b="1" dirty="0"/>
              <a:t>Finance</a:t>
            </a:r>
          </a:p>
          <a:p>
            <a:pPr marL="171450" indent="-171450">
              <a:lnSpc>
                <a:spcPct val="120000"/>
              </a:lnSpc>
              <a:spcBef>
                <a:spcPts val="600"/>
              </a:spcBef>
              <a:buFont typeface="Arial" panose="020B0604020202020204" pitchFamily="34" charset="0"/>
              <a:buChar char="•"/>
            </a:pPr>
            <a:r>
              <a:rPr lang="en-US" sz="1200" b="1" dirty="0"/>
              <a:t>HR &amp; Admin</a:t>
            </a:r>
          </a:p>
          <a:p>
            <a:pPr marL="171450" indent="-171450">
              <a:lnSpc>
                <a:spcPct val="120000"/>
              </a:lnSpc>
              <a:spcBef>
                <a:spcPts val="600"/>
              </a:spcBef>
              <a:buFont typeface="Arial" panose="020B0604020202020204" pitchFamily="34" charset="0"/>
              <a:buChar char="•"/>
            </a:pPr>
            <a:r>
              <a:rPr lang="en-US" sz="1200" b="1" dirty="0"/>
              <a:t>IT / MIS Enablement</a:t>
            </a:r>
            <a:endParaRPr lang="en-IN" sz="1200" b="1" dirty="0"/>
          </a:p>
        </p:txBody>
      </p:sp>
      <p:sp>
        <p:nvSpPr>
          <p:cNvPr id="53" name="Isosceles Triangle 52"/>
          <p:cNvSpPr/>
          <p:nvPr/>
        </p:nvSpPr>
        <p:spPr bwMode="gray">
          <a:xfrm rot="16200000" flipV="1">
            <a:off x="2711314" y="3551389"/>
            <a:ext cx="5266008" cy="390071"/>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54" name="Isosceles Triangle 53"/>
          <p:cNvSpPr/>
          <p:nvPr/>
        </p:nvSpPr>
        <p:spPr bwMode="gray">
          <a:xfrm flipV="1">
            <a:off x="6000844" y="4647850"/>
            <a:ext cx="4248000" cy="448588"/>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56" name="Rectangle 55"/>
          <p:cNvSpPr/>
          <p:nvPr/>
        </p:nvSpPr>
        <p:spPr bwMode="gray">
          <a:xfrm>
            <a:off x="401502" y="6568442"/>
            <a:ext cx="9847342" cy="646386"/>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FRRP and Performance Improvement Plan will allow the holding company to hold tariff increments</a:t>
            </a:r>
            <a:endParaRPr lang="en-IN" sz="1400" b="1" dirty="0">
              <a:solidFill>
                <a:prstClr val="white"/>
              </a:solidFill>
            </a:endParaRPr>
          </a:p>
        </p:txBody>
      </p:sp>
      <p:cxnSp>
        <p:nvCxnSpPr>
          <p:cNvPr id="21" name="Straight Connector 20"/>
          <p:cNvCxnSpPr/>
          <p:nvPr/>
        </p:nvCxnSpPr>
        <p:spPr>
          <a:xfrm>
            <a:off x="500674" y="863155"/>
            <a:ext cx="97903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bwMode="gray">
          <a:xfrm>
            <a:off x="3760661" y="655117"/>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prstClr val="black"/>
                </a:solidFill>
              </a:rPr>
              <a:t>Strategic Value Enablers</a:t>
            </a:r>
            <a:endParaRPr lang="en-IN" sz="1600" b="1" dirty="0">
              <a:solidFill>
                <a:prstClr val="black"/>
              </a:solidFill>
            </a:endParaRPr>
          </a:p>
        </p:txBody>
      </p:sp>
    </p:spTree>
    <p:extLst>
      <p:ext uri="{BB962C8B-B14F-4D97-AF65-F5344CB8AC3E}">
        <p14:creationId xmlns:p14="http://schemas.microsoft.com/office/powerpoint/2010/main" val="3227226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9793" y="350131"/>
            <a:ext cx="9756015" cy="368439"/>
          </a:xfrm>
        </p:spPr>
        <p:txBody>
          <a:bodyPr/>
          <a:lstStyle/>
          <a:p>
            <a:r>
              <a:rPr lang="en-US" b="1" dirty="0"/>
              <a:t>Benefits of proposed high-level value enablers &amp; functional strengthening measures</a:t>
            </a:r>
            <a:endParaRPr lang="en-IN" b="1" dirty="0"/>
          </a:p>
        </p:txBody>
      </p:sp>
      <p:graphicFrame>
        <p:nvGraphicFramePr>
          <p:cNvPr id="43" name="Chart 42"/>
          <p:cNvGraphicFramePr/>
          <p:nvPr>
            <p:extLst>
              <p:ext uri="{D42A27DB-BD31-4B8C-83A1-F6EECF244321}">
                <p14:modId xmlns:p14="http://schemas.microsoft.com/office/powerpoint/2010/main" val="1013980374"/>
              </p:ext>
            </p:extLst>
          </p:nvPr>
        </p:nvGraphicFramePr>
        <p:xfrm>
          <a:off x="405424" y="1373809"/>
          <a:ext cx="9961957" cy="3939606"/>
        </p:xfrm>
        <a:graphic>
          <a:graphicData uri="http://schemas.openxmlformats.org/drawingml/2006/chart">
            <c:chart xmlns:c="http://schemas.openxmlformats.org/drawingml/2006/chart" xmlns:r="http://schemas.openxmlformats.org/officeDocument/2006/relationships" r:id="rId2"/>
          </a:graphicData>
        </a:graphic>
      </p:graphicFrame>
      <p:cxnSp>
        <p:nvCxnSpPr>
          <p:cNvPr id="44" name="Straight Connector 43"/>
          <p:cNvCxnSpPr/>
          <p:nvPr/>
        </p:nvCxnSpPr>
        <p:spPr>
          <a:xfrm>
            <a:off x="405424" y="1188541"/>
            <a:ext cx="979038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bwMode="gray">
          <a:xfrm>
            <a:off x="2196356" y="981006"/>
            <a:ext cx="6162129"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Average BST Build Up and Value Unlocking between FY16 and FY21 (</a:t>
            </a:r>
            <a:r>
              <a:rPr lang="en-US" sz="1200" b="1" dirty="0" err="1">
                <a:solidFill>
                  <a:prstClr val="black"/>
                </a:solidFill>
              </a:rPr>
              <a:t>Tk</a:t>
            </a:r>
            <a:r>
              <a:rPr lang="en-US" sz="1200" b="1" dirty="0">
                <a:solidFill>
                  <a:prstClr val="black"/>
                </a:solidFill>
              </a:rPr>
              <a:t> / kwh)</a:t>
            </a:r>
            <a:endParaRPr lang="en-IN" sz="1200" b="1" dirty="0">
              <a:solidFill>
                <a:prstClr val="black"/>
              </a:solidFill>
            </a:endParaRPr>
          </a:p>
        </p:txBody>
      </p:sp>
      <p:sp>
        <p:nvSpPr>
          <p:cNvPr id="90" name="Rectangle 89"/>
          <p:cNvSpPr/>
          <p:nvPr/>
        </p:nvSpPr>
        <p:spPr bwMode="gray">
          <a:xfrm>
            <a:off x="497100" y="6399510"/>
            <a:ext cx="9847342" cy="646386"/>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Strategic Value enablers will allow the holding company to hold projected tariff increments by BDT 0.46 / kwh between FY16 and FY21</a:t>
            </a:r>
            <a:endParaRPr lang="en-IN" sz="1400" b="1" dirty="0">
              <a:solidFill>
                <a:schemeClr val="bg1"/>
              </a:solidFill>
            </a:endParaRPr>
          </a:p>
        </p:txBody>
      </p:sp>
      <p:sp>
        <p:nvSpPr>
          <p:cNvPr id="7" name="TextBox 1"/>
          <p:cNvSpPr txBox="1"/>
          <p:nvPr/>
        </p:nvSpPr>
        <p:spPr>
          <a:xfrm>
            <a:off x="571417" y="5864891"/>
            <a:ext cx="9698708" cy="399242"/>
          </a:xfrm>
          <a:prstGeom prst="rect">
            <a:avLst/>
          </a:prstGeom>
          <a:noFill/>
        </p:spPr>
        <p:txBody>
          <a:bodyPr wrap="square" lIns="0" tIns="0" rIns="0" bIns="0"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spcBef>
                <a:spcPts val="600"/>
              </a:spcBef>
              <a:buSzPct val="100000"/>
            </a:pPr>
            <a:r>
              <a:rPr lang="en-US" sz="900" b="1" dirty="0">
                <a:solidFill>
                  <a:srgbClr val="313131"/>
                </a:solidFill>
              </a:rPr>
              <a:t>Note: In FY15-16, BPDB earned a loss of BDT 0.75 / kwh for Bulk Supply </a:t>
            </a:r>
            <a:r>
              <a:rPr lang="en-US" sz="900" b="1" dirty="0" err="1">
                <a:solidFill>
                  <a:srgbClr val="313131"/>
                </a:solidFill>
              </a:rPr>
              <a:t>Busienss</a:t>
            </a:r>
            <a:endParaRPr lang="en-US" sz="900" b="1" dirty="0">
              <a:solidFill>
                <a:srgbClr val="313131"/>
              </a:solidFill>
            </a:endParaRPr>
          </a:p>
          <a:p>
            <a:pPr>
              <a:spcBef>
                <a:spcPts val="600"/>
              </a:spcBef>
              <a:buSzPct val="100000"/>
            </a:pPr>
            <a:r>
              <a:rPr lang="en-US" sz="900" b="1" dirty="0">
                <a:solidFill>
                  <a:srgbClr val="313131"/>
                </a:solidFill>
              </a:rPr>
              <a:t>For our future projections, we have assumed no-profit / no-loss situation (break-even) for the holding company</a:t>
            </a:r>
            <a:endParaRPr lang="en-IN" sz="900" b="1" dirty="0">
              <a:solidFill>
                <a:srgbClr val="313131"/>
              </a:solidFill>
            </a:endParaRPr>
          </a:p>
        </p:txBody>
      </p:sp>
      <p:sp>
        <p:nvSpPr>
          <p:cNvPr id="8" name="TextBox 1"/>
          <p:cNvSpPr txBox="1"/>
          <p:nvPr/>
        </p:nvSpPr>
        <p:spPr>
          <a:xfrm>
            <a:off x="1698429" y="4539045"/>
            <a:ext cx="996486" cy="461665"/>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92D050"/>
                </a:solidFill>
              </a:rPr>
              <a:t>Increase in Employee Cost</a:t>
            </a:r>
            <a:endParaRPr lang="en-IN" sz="1000" b="1" dirty="0">
              <a:solidFill>
                <a:srgbClr val="92D050"/>
              </a:solidFill>
            </a:endParaRPr>
          </a:p>
        </p:txBody>
      </p:sp>
      <p:sp>
        <p:nvSpPr>
          <p:cNvPr id="9" name="TextBox 1"/>
          <p:cNvSpPr txBox="1"/>
          <p:nvPr/>
        </p:nvSpPr>
        <p:spPr>
          <a:xfrm>
            <a:off x="2595251" y="4336937"/>
            <a:ext cx="1084409" cy="615553"/>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92D050"/>
                </a:solidFill>
              </a:rPr>
              <a:t>Impact of Budgetary Support as Loans</a:t>
            </a:r>
            <a:endParaRPr lang="en-IN" sz="1000" b="1" dirty="0">
              <a:solidFill>
                <a:srgbClr val="92D050"/>
              </a:solidFill>
            </a:endParaRPr>
          </a:p>
        </p:txBody>
      </p:sp>
      <p:sp>
        <p:nvSpPr>
          <p:cNvPr id="10" name="TextBox 1"/>
          <p:cNvSpPr txBox="1"/>
          <p:nvPr/>
        </p:nvSpPr>
        <p:spPr>
          <a:xfrm>
            <a:off x="3553272" y="3229324"/>
            <a:ext cx="1084409" cy="615553"/>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92D050"/>
                </a:solidFill>
              </a:rPr>
              <a:t>Increase in Depreciation &amp; Finance charge due to capex</a:t>
            </a:r>
            <a:endParaRPr lang="en-IN" sz="1000" b="1" dirty="0">
              <a:solidFill>
                <a:srgbClr val="92D050"/>
              </a:solidFill>
            </a:endParaRPr>
          </a:p>
        </p:txBody>
      </p:sp>
      <p:sp>
        <p:nvSpPr>
          <p:cNvPr id="11" name="TextBox 1"/>
          <p:cNvSpPr txBox="1"/>
          <p:nvPr/>
        </p:nvSpPr>
        <p:spPr>
          <a:xfrm>
            <a:off x="4450446" y="2678675"/>
            <a:ext cx="1228266" cy="615553"/>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92D050"/>
                </a:solidFill>
              </a:rPr>
              <a:t>Increase in other expenses – (Power Purchase , R&amp;M, </a:t>
            </a:r>
            <a:r>
              <a:rPr lang="en-US" sz="1000" b="1" dirty="0" err="1">
                <a:solidFill>
                  <a:srgbClr val="92D050"/>
                </a:solidFill>
              </a:rPr>
              <a:t>etc</a:t>
            </a:r>
            <a:r>
              <a:rPr lang="en-US" sz="1000" b="1" dirty="0">
                <a:solidFill>
                  <a:srgbClr val="92D050"/>
                </a:solidFill>
              </a:rPr>
              <a:t>)</a:t>
            </a:r>
            <a:endParaRPr lang="en-IN" sz="1000" b="1" dirty="0">
              <a:solidFill>
                <a:srgbClr val="92D050"/>
              </a:solidFill>
            </a:endParaRPr>
          </a:p>
        </p:txBody>
      </p:sp>
      <p:sp>
        <p:nvSpPr>
          <p:cNvPr id="12" name="TextBox 1"/>
          <p:cNvSpPr txBox="1"/>
          <p:nvPr/>
        </p:nvSpPr>
        <p:spPr>
          <a:xfrm>
            <a:off x="5444714" y="4385157"/>
            <a:ext cx="1084409" cy="615553"/>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00B050"/>
                </a:solidFill>
              </a:rPr>
              <a:t>Total Projected Increase in Tariff</a:t>
            </a:r>
            <a:endParaRPr lang="en-IN" sz="1000" b="1" dirty="0">
              <a:solidFill>
                <a:srgbClr val="00B050"/>
              </a:solidFill>
            </a:endParaRPr>
          </a:p>
        </p:txBody>
      </p:sp>
      <p:sp>
        <p:nvSpPr>
          <p:cNvPr id="13" name="TextBox 1"/>
          <p:cNvSpPr txBox="1"/>
          <p:nvPr/>
        </p:nvSpPr>
        <p:spPr>
          <a:xfrm>
            <a:off x="6340064" y="1526082"/>
            <a:ext cx="1084409" cy="461665"/>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007680"/>
                </a:solidFill>
              </a:rPr>
              <a:t>Budgetary Support Loan Waive off</a:t>
            </a:r>
            <a:endParaRPr lang="en-IN" sz="1000" b="1" dirty="0">
              <a:solidFill>
                <a:srgbClr val="007680"/>
              </a:solidFill>
            </a:endParaRPr>
          </a:p>
        </p:txBody>
      </p:sp>
      <p:sp>
        <p:nvSpPr>
          <p:cNvPr id="14" name="TextBox 1"/>
          <p:cNvSpPr txBox="1"/>
          <p:nvPr/>
        </p:nvSpPr>
        <p:spPr>
          <a:xfrm>
            <a:off x="7274076" y="1865539"/>
            <a:ext cx="1084409" cy="307777"/>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007680"/>
                </a:solidFill>
              </a:rPr>
              <a:t>Subsidy Support</a:t>
            </a:r>
            <a:endParaRPr lang="en-IN" sz="1000" b="1" dirty="0">
              <a:solidFill>
                <a:srgbClr val="007680"/>
              </a:solidFill>
            </a:endParaRPr>
          </a:p>
        </p:txBody>
      </p:sp>
      <p:sp>
        <p:nvSpPr>
          <p:cNvPr id="15" name="TextBox 1"/>
          <p:cNvSpPr txBox="1"/>
          <p:nvPr/>
        </p:nvSpPr>
        <p:spPr>
          <a:xfrm>
            <a:off x="8136671" y="2405248"/>
            <a:ext cx="1084409" cy="461665"/>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007680"/>
                </a:solidFill>
              </a:rPr>
              <a:t>Bulk Supply Performance Improvement</a:t>
            </a:r>
            <a:endParaRPr lang="en-IN" sz="1000" b="1" dirty="0">
              <a:solidFill>
                <a:srgbClr val="007680"/>
              </a:solidFill>
            </a:endParaRPr>
          </a:p>
        </p:txBody>
      </p:sp>
      <p:sp>
        <p:nvSpPr>
          <p:cNvPr id="16" name="TextBox 1"/>
          <p:cNvSpPr txBox="1"/>
          <p:nvPr/>
        </p:nvSpPr>
        <p:spPr>
          <a:xfrm>
            <a:off x="9106780" y="2622878"/>
            <a:ext cx="1084409" cy="461665"/>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007680"/>
                </a:solidFill>
              </a:rPr>
              <a:t>Generation Efficiency Improvement</a:t>
            </a:r>
            <a:endParaRPr lang="en-IN" sz="1000" b="1" dirty="0">
              <a:solidFill>
                <a:srgbClr val="007680"/>
              </a:solidFill>
            </a:endParaRPr>
          </a:p>
        </p:txBody>
      </p:sp>
      <p:sp>
        <p:nvSpPr>
          <p:cNvPr id="18" name="TextBox 1"/>
          <p:cNvSpPr txBox="1"/>
          <p:nvPr/>
        </p:nvSpPr>
        <p:spPr>
          <a:xfrm>
            <a:off x="758895" y="5217959"/>
            <a:ext cx="1084409" cy="461665"/>
          </a:xfrm>
          <a:prstGeom prst="rect">
            <a:avLst/>
          </a:prstGeom>
          <a:no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600"/>
              </a:spcBef>
              <a:buSzPct val="100000"/>
            </a:pPr>
            <a:r>
              <a:rPr lang="en-US" sz="1000" b="1" dirty="0">
                <a:solidFill>
                  <a:srgbClr val="00B0F0"/>
                </a:solidFill>
              </a:rPr>
              <a:t>Average BST Prevailing in FY16</a:t>
            </a:r>
            <a:endParaRPr lang="en-IN" sz="1000" b="1" dirty="0">
              <a:solidFill>
                <a:srgbClr val="00B0F0"/>
              </a:solidFill>
            </a:endParaRPr>
          </a:p>
        </p:txBody>
      </p:sp>
      <p:sp>
        <p:nvSpPr>
          <p:cNvPr id="2" name="Left-Right Arrow 1"/>
          <p:cNvSpPr/>
          <p:nvPr/>
        </p:nvSpPr>
        <p:spPr bwMode="gray">
          <a:xfrm>
            <a:off x="1843305" y="5217959"/>
            <a:ext cx="4124252" cy="377776"/>
          </a:xfrm>
          <a:prstGeom prst="leftRightArrow">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t>Projected Increase in BST Tariff</a:t>
            </a:r>
            <a:endParaRPr lang="en-IN" sz="1200" b="1" dirty="0"/>
          </a:p>
        </p:txBody>
      </p:sp>
      <p:sp>
        <p:nvSpPr>
          <p:cNvPr id="20" name="Left-Right Arrow 19"/>
          <p:cNvSpPr/>
          <p:nvPr/>
        </p:nvSpPr>
        <p:spPr bwMode="gray">
          <a:xfrm>
            <a:off x="5967557" y="5217959"/>
            <a:ext cx="4223633" cy="377776"/>
          </a:xfrm>
          <a:prstGeom prst="leftRightArrow">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Projected Value Unlocked</a:t>
            </a:r>
            <a:endParaRPr lang="en-IN" sz="1200" b="1" dirty="0">
              <a:solidFill>
                <a:schemeClr val="bg1"/>
              </a:solidFill>
            </a:endParaRPr>
          </a:p>
        </p:txBody>
      </p:sp>
    </p:spTree>
    <p:extLst>
      <p:ext uri="{BB962C8B-B14F-4D97-AF65-F5344CB8AC3E}">
        <p14:creationId xmlns:p14="http://schemas.microsoft.com/office/powerpoint/2010/main" val="319854903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extLst>
              <p:ext uri="{D42A27DB-BD31-4B8C-83A1-F6EECF244321}">
                <p14:modId xmlns:p14="http://schemas.microsoft.com/office/powerpoint/2010/main" val="1152188573"/>
              </p:ext>
            </p:extLst>
          </p:nvPr>
        </p:nvGraphicFramePr>
        <p:xfrm>
          <a:off x="342257" y="1677600"/>
          <a:ext cx="4314561" cy="2080617"/>
        </p:xfrm>
        <a:graphic>
          <a:graphicData uri="http://schemas.openxmlformats.org/drawingml/2006/chart">
            <c:chart xmlns:c="http://schemas.openxmlformats.org/drawingml/2006/chart" xmlns:r="http://schemas.openxmlformats.org/officeDocument/2006/relationships" r:id="rId2"/>
          </a:graphicData>
        </a:graphic>
      </p:graphicFrame>
      <p:sp>
        <p:nvSpPr>
          <p:cNvPr id="8" name="Title 1"/>
          <p:cNvSpPr>
            <a:spLocks noGrp="1"/>
          </p:cNvSpPr>
          <p:nvPr>
            <p:ph type="title"/>
          </p:nvPr>
        </p:nvSpPr>
        <p:spPr>
          <a:xfrm>
            <a:off x="439794" y="350133"/>
            <a:ext cx="9809052" cy="545217"/>
          </a:xfrm>
        </p:spPr>
        <p:txBody>
          <a:bodyPr/>
          <a:lstStyle/>
          <a:p>
            <a:r>
              <a:rPr lang="en-US" sz="2000" b="1" dirty="0"/>
              <a:t>Key performance improvement targets for generation and bulk supply business &amp; the concomitant savings</a:t>
            </a:r>
            <a:endParaRPr lang="en-IN" sz="2000" b="1" dirty="0"/>
          </a:p>
        </p:txBody>
      </p:sp>
      <p:cxnSp>
        <p:nvCxnSpPr>
          <p:cNvPr id="9" name="Straight Connector 8"/>
          <p:cNvCxnSpPr/>
          <p:nvPr/>
        </p:nvCxnSpPr>
        <p:spPr>
          <a:xfrm>
            <a:off x="424474" y="1464766"/>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bwMode="gray">
          <a:xfrm>
            <a:off x="992911" y="1251931"/>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Billing / Collection Ratio for Bulk Supply</a:t>
            </a:r>
            <a:endParaRPr lang="en-IN" sz="1200" b="1" dirty="0">
              <a:solidFill>
                <a:prstClr val="black"/>
              </a:solidFill>
            </a:endParaRPr>
          </a:p>
        </p:txBody>
      </p:sp>
      <p:cxnSp>
        <p:nvCxnSpPr>
          <p:cNvPr id="13" name="Straight Connector 12"/>
          <p:cNvCxnSpPr/>
          <p:nvPr/>
        </p:nvCxnSpPr>
        <p:spPr>
          <a:xfrm>
            <a:off x="5276850" y="1398090"/>
            <a:ext cx="0" cy="4869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873417" y="1464766"/>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gray">
          <a:xfrm>
            <a:off x="6441854" y="1251931"/>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Efficiency of BPDB Power Generation</a:t>
            </a:r>
            <a:endParaRPr lang="en-IN" sz="1200" b="1" dirty="0">
              <a:solidFill>
                <a:prstClr val="black"/>
              </a:solidFill>
            </a:endParaRPr>
          </a:p>
        </p:txBody>
      </p:sp>
      <p:graphicFrame>
        <p:nvGraphicFramePr>
          <p:cNvPr id="17" name="Chart 16"/>
          <p:cNvGraphicFramePr/>
          <p:nvPr>
            <p:extLst>
              <p:ext uri="{D42A27DB-BD31-4B8C-83A1-F6EECF244321}">
                <p14:modId xmlns:p14="http://schemas.microsoft.com/office/powerpoint/2010/main" val="868607396"/>
              </p:ext>
            </p:extLst>
          </p:nvPr>
        </p:nvGraphicFramePr>
        <p:xfrm>
          <a:off x="5724525" y="1675518"/>
          <a:ext cx="4314561" cy="2080617"/>
        </p:xfrm>
        <a:graphic>
          <a:graphicData uri="http://schemas.openxmlformats.org/drawingml/2006/chart">
            <c:chart xmlns:c="http://schemas.openxmlformats.org/drawingml/2006/chart" xmlns:r="http://schemas.openxmlformats.org/officeDocument/2006/relationships" r:id="rId3"/>
          </a:graphicData>
        </a:graphic>
      </p:graphicFrame>
      <p:cxnSp>
        <p:nvCxnSpPr>
          <p:cNvPr id="19" name="Straight Connector 18"/>
          <p:cNvCxnSpPr/>
          <p:nvPr/>
        </p:nvCxnSpPr>
        <p:spPr>
          <a:xfrm>
            <a:off x="565239" y="4132404"/>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bwMode="gray">
          <a:xfrm>
            <a:off x="801650" y="3919569"/>
            <a:ext cx="3826196"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improvement in liquidity due to improved B/C Ratio (</a:t>
            </a:r>
            <a:r>
              <a:rPr lang="en-US" sz="1200" b="1" dirty="0" err="1">
                <a:solidFill>
                  <a:prstClr val="black"/>
                </a:solidFill>
              </a:rPr>
              <a:t>Mn</a:t>
            </a:r>
            <a:r>
              <a:rPr lang="en-US" sz="1200" b="1" dirty="0">
                <a:solidFill>
                  <a:prstClr val="black"/>
                </a:solidFill>
              </a:rPr>
              <a:t>. BDT)</a:t>
            </a:r>
            <a:endParaRPr lang="en-IN" sz="1200" b="1" dirty="0">
              <a:solidFill>
                <a:prstClr val="black"/>
              </a:solidFill>
            </a:endParaRPr>
          </a:p>
        </p:txBody>
      </p:sp>
      <p:graphicFrame>
        <p:nvGraphicFramePr>
          <p:cNvPr id="21" name="Chart 20"/>
          <p:cNvGraphicFramePr/>
          <p:nvPr>
            <p:extLst>
              <p:ext uri="{D42A27DB-BD31-4B8C-83A1-F6EECF244321}">
                <p14:modId xmlns:p14="http://schemas.microsoft.com/office/powerpoint/2010/main" val="1003304065"/>
              </p:ext>
            </p:extLst>
          </p:nvPr>
        </p:nvGraphicFramePr>
        <p:xfrm>
          <a:off x="532156" y="4359245"/>
          <a:ext cx="4314561" cy="2080617"/>
        </p:xfrm>
        <a:graphic>
          <a:graphicData uri="http://schemas.openxmlformats.org/drawingml/2006/chart">
            <c:chart xmlns:c="http://schemas.openxmlformats.org/drawingml/2006/chart" xmlns:r="http://schemas.openxmlformats.org/officeDocument/2006/relationships" r:id="rId4"/>
          </a:graphicData>
        </a:graphic>
      </p:graphicFrame>
      <p:cxnSp>
        <p:nvCxnSpPr>
          <p:cNvPr id="22" name="Straight Connector 21"/>
          <p:cNvCxnSpPr/>
          <p:nvPr/>
        </p:nvCxnSpPr>
        <p:spPr>
          <a:xfrm>
            <a:off x="5757608" y="4089822"/>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bwMode="gray">
          <a:xfrm>
            <a:off x="5994019" y="3905562"/>
            <a:ext cx="3826196"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Savings due to improved Generation Efficiency (</a:t>
            </a:r>
            <a:r>
              <a:rPr lang="en-US" sz="1200" b="1" dirty="0" err="1">
                <a:solidFill>
                  <a:prstClr val="black"/>
                </a:solidFill>
              </a:rPr>
              <a:t>Mn</a:t>
            </a:r>
            <a:r>
              <a:rPr lang="en-US" sz="1200" b="1" dirty="0">
                <a:solidFill>
                  <a:prstClr val="black"/>
                </a:solidFill>
              </a:rPr>
              <a:t>. BDT)</a:t>
            </a:r>
            <a:endParaRPr lang="en-IN" sz="1200" b="1" dirty="0">
              <a:solidFill>
                <a:prstClr val="black"/>
              </a:solidFill>
            </a:endParaRPr>
          </a:p>
        </p:txBody>
      </p:sp>
      <p:graphicFrame>
        <p:nvGraphicFramePr>
          <p:cNvPr id="24" name="Chart 23"/>
          <p:cNvGraphicFramePr/>
          <p:nvPr>
            <p:extLst>
              <p:ext uri="{D42A27DB-BD31-4B8C-83A1-F6EECF244321}">
                <p14:modId xmlns:p14="http://schemas.microsoft.com/office/powerpoint/2010/main" val="2121558875"/>
              </p:ext>
            </p:extLst>
          </p:nvPr>
        </p:nvGraphicFramePr>
        <p:xfrm>
          <a:off x="5724525" y="4345238"/>
          <a:ext cx="4314561" cy="2080617"/>
        </p:xfrm>
        <a:graphic>
          <a:graphicData uri="http://schemas.openxmlformats.org/drawingml/2006/chart">
            <c:chart xmlns:c="http://schemas.openxmlformats.org/drawingml/2006/chart" xmlns:r="http://schemas.openxmlformats.org/officeDocument/2006/relationships" r:id="rId5"/>
          </a:graphicData>
        </a:graphic>
      </p:graphicFrame>
      <p:sp>
        <p:nvSpPr>
          <p:cNvPr id="25" name="Rectangle 24"/>
          <p:cNvSpPr/>
          <p:nvPr/>
        </p:nvSpPr>
        <p:spPr bwMode="gray">
          <a:xfrm>
            <a:off x="547698" y="6624681"/>
            <a:ext cx="9847342" cy="646386"/>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Targeted performance measures will lead to direct savings in costs and improve liquidity position which will further reduce interest burden of generation &amp; bulk supply business</a:t>
            </a:r>
            <a:endParaRPr lang="en-IN" sz="1400" b="1" dirty="0">
              <a:solidFill>
                <a:schemeClr val="bg1"/>
              </a:solidFill>
            </a:endParaRPr>
          </a:p>
        </p:txBody>
      </p:sp>
    </p:spTree>
    <p:extLst>
      <p:ext uri="{BB962C8B-B14F-4D97-AF65-F5344CB8AC3E}">
        <p14:creationId xmlns:p14="http://schemas.microsoft.com/office/powerpoint/2010/main" val="125812570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extLst>
              <p:ext uri="{D42A27DB-BD31-4B8C-83A1-F6EECF244321}">
                <p14:modId xmlns:p14="http://schemas.microsoft.com/office/powerpoint/2010/main" val="175232616"/>
              </p:ext>
            </p:extLst>
          </p:nvPr>
        </p:nvGraphicFramePr>
        <p:xfrm>
          <a:off x="342257" y="1677600"/>
          <a:ext cx="4314561" cy="2080617"/>
        </p:xfrm>
        <a:graphic>
          <a:graphicData uri="http://schemas.openxmlformats.org/drawingml/2006/chart">
            <c:chart xmlns:c="http://schemas.openxmlformats.org/drawingml/2006/chart" xmlns:r="http://schemas.openxmlformats.org/officeDocument/2006/relationships" r:id="rId2"/>
          </a:graphicData>
        </a:graphic>
      </p:graphicFrame>
      <p:cxnSp>
        <p:nvCxnSpPr>
          <p:cNvPr id="9" name="Straight Connector 8"/>
          <p:cNvCxnSpPr/>
          <p:nvPr/>
        </p:nvCxnSpPr>
        <p:spPr>
          <a:xfrm>
            <a:off x="424474" y="1464766"/>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bwMode="gray">
          <a:xfrm>
            <a:off x="992911" y="1251931"/>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Distribution Loss</a:t>
            </a:r>
            <a:endParaRPr lang="en-IN" sz="1200" b="1" dirty="0">
              <a:solidFill>
                <a:prstClr val="black"/>
              </a:solidFill>
            </a:endParaRPr>
          </a:p>
        </p:txBody>
      </p:sp>
      <p:cxnSp>
        <p:nvCxnSpPr>
          <p:cNvPr id="13" name="Straight Connector 12"/>
          <p:cNvCxnSpPr/>
          <p:nvPr/>
        </p:nvCxnSpPr>
        <p:spPr>
          <a:xfrm>
            <a:off x="5248275" y="1398090"/>
            <a:ext cx="0" cy="4869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873417" y="1464766"/>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gray">
          <a:xfrm>
            <a:off x="6441854" y="1251931"/>
            <a:ext cx="3162145"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Billing / Collection ratio  of Distribution Business</a:t>
            </a:r>
            <a:endParaRPr lang="en-IN" sz="1200" b="1" dirty="0">
              <a:solidFill>
                <a:prstClr val="black"/>
              </a:solidFill>
            </a:endParaRPr>
          </a:p>
        </p:txBody>
      </p:sp>
      <p:graphicFrame>
        <p:nvGraphicFramePr>
          <p:cNvPr id="17" name="Chart 16"/>
          <p:cNvGraphicFramePr/>
          <p:nvPr>
            <p:extLst>
              <p:ext uri="{D42A27DB-BD31-4B8C-83A1-F6EECF244321}">
                <p14:modId xmlns:p14="http://schemas.microsoft.com/office/powerpoint/2010/main" val="1608416996"/>
              </p:ext>
            </p:extLst>
          </p:nvPr>
        </p:nvGraphicFramePr>
        <p:xfrm>
          <a:off x="5724525" y="1675518"/>
          <a:ext cx="4314561" cy="2080617"/>
        </p:xfrm>
        <a:graphic>
          <a:graphicData uri="http://schemas.openxmlformats.org/drawingml/2006/chart">
            <c:chart xmlns:c="http://schemas.openxmlformats.org/drawingml/2006/chart" xmlns:r="http://schemas.openxmlformats.org/officeDocument/2006/relationships" r:id="rId3"/>
          </a:graphicData>
        </a:graphic>
      </p:graphicFrame>
      <p:cxnSp>
        <p:nvCxnSpPr>
          <p:cNvPr id="19" name="Straight Connector 18"/>
          <p:cNvCxnSpPr/>
          <p:nvPr/>
        </p:nvCxnSpPr>
        <p:spPr>
          <a:xfrm>
            <a:off x="565239" y="4132404"/>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bwMode="gray">
          <a:xfrm>
            <a:off x="801650" y="3919569"/>
            <a:ext cx="3826196"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savings due to improved distribution loss (</a:t>
            </a:r>
            <a:r>
              <a:rPr lang="en-US" sz="1200" b="1" dirty="0" err="1">
                <a:solidFill>
                  <a:prstClr val="black"/>
                </a:solidFill>
              </a:rPr>
              <a:t>Mn</a:t>
            </a:r>
            <a:r>
              <a:rPr lang="en-US" sz="1200" b="1" dirty="0">
                <a:solidFill>
                  <a:prstClr val="black"/>
                </a:solidFill>
              </a:rPr>
              <a:t>. BDT)</a:t>
            </a:r>
            <a:endParaRPr lang="en-IN" sz="1200" b="1" dirty="0">
              <a:solidFill>
                <a:prstClr val="black"/>
              </a:solidFill>
            </a:endParaRPr>
          </a:p>
        </p:txBody>
      </p:sp>
      <p:graphicFrame>
        <p:nvGraphicFramePr>
          <p:cNvPr id="21" name="Chart 20"/>
          <p:cNvGraphicFramePr/>
          <p:nvPr>
            <p:extLst>
              <p:ext uri="{D42A27DB-BD31-4B8C-83A1-F6EECF244321}">
                <p14:modId xmlns:p14="http://schemas.microsoft.com/office/powerpoint/2010/main" val="409906231"/>
              </p:ext>
            </p:extLst>
          </p:nvPr>
        </p:nvGraphicFramePr>
        <p:xfrm>
          <a:off x="532156" y="4359245"/>
          <a:ext cx="4314561" cy="2080617"/>
        </p:xfrm>
        <a:graphic>
          <a:graphicData uri="http://schemas.openxmlformats.org/drawingml/2006/chart">
            <c:chart xmlns:c="http://schemas.openxmlformats.org/drawingml/2006/chart" xmlns:r="http://schemas.openxmlformats.org/officeDocument/2006/relationships" r:id="rId4"/>
          </a:graphicData>
        </a:graphic>
      </p:graphicFrame>
      <p:cxnSp>
        <p:nvCxnSpPr>
          <p:cNvPr id="22" name="Straight Connector 21"/>
          <p:cNvCxnSpPr/>
          <p:nvPr/>
        </p:nvCxnSpPr>
        <p:spPr>
          <a:xfrm>
            <a:off x="5757608" y="4089822"/>
            <a:ext cx="429901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bwMode="gray">
          <a:xfrm>
            <a:off x="5994019" y="3905562"/>
            <a:ext cx="3826196" cy="425669"/>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black"/>
                </a:solidFill>
              </a:rPr>
              <a:t>Projected Savings due to improved B/C Ratio (</a:t>
            </a:r>
            <a:r>
              <a:rPr lang="en-US" sz="1200" b="1" dirty="0" err="1">
                <a:solidFill>
                  <a:prstClr val="black"/>
                </a:solidFill>
              </a:rPr>
              <a:t>Mn</a:t>
            </a:r>
            <a:r>
              <a:rPr lang="en-US" sz="1200" b="1" dirty="0">
                <a:solidFill>
                  <a:prstClr val="black"/>
                </a:solidFill>
              </a:rPr>
              <a:t>. BDT)</a:t>
            </a:r>
            <a:endParaRPr lang="en-IN" sz="1200" b="1" dirty="0">
              <a:solidFill>
                <a:prstClr val="black"/>
              </a:solidFill>
            </a:endParaRPr>
          </a:p>
        </p:txBody>
      </p:sp>
      <p:graphicFrame>
        <p:nvGraphicFramePr>
          <p:cNvPr id="24" name="Chart 23"/>
          <p:cNvGraphicFramePr/>
          <p:nvPr>
            <p:extLst>
              <p:ext uri="{D42A27DB-BD31-4B8C-83A1-F6EECF244321}">
                <p14:modId xmlns:p14="http://schemas.microsoft.com/office/powerpoint/2010/main" val="2584702534"/>
              </p:ext>
            </p:extLst>
          </p:nvPr>
        </p:nvGraphicFramePr>
        <p:xfrm>
          <a:off x="5724525" y="4345238"/>
          <a:ext cx="4314561" cy="2080617"/>
        </p:xfrm>
        <a:graphic>
          <a:graphicData uri="http://schemas.openxmlformats.org/drawingml/2006/chart">
            <c:chart xmlns:c="http://schemas.openxmlformats.org/drawingml/2006/chart" xmlns:r="http://schemas.openxmlformats.org/officeDocument/2006/relationships" r:id="rId5"/>
          </a:graphicData>
        </a:graphic>
      </p:graphicFrame>
      <p:sp>
        <p:nvSpPr>
          <p:cNvPr id="25" name="Rectangle 24"/>
          <p:cNvSpPr/>
          <p:nvPr/>
        </p:nvSpPr>
        <p:spPr bwMode="gray">
          <a:xfrm>
            <a:off x="547698" y="6624681"/>
            <a:ext cx="9847342" cy="646386"/>
          </a:xfrm>
          <a:prstGeom prst="rect">
            <a:avLst/>
          </a:prstGeom>
          <a:solidFill>
            <a:srgbClr val="00B0F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Targeted performance measures will lead to direct savings in costs for the distribution business</a:t>
            </a:r>
            <a:endParaRPr lang="en-IN" sz="1400" b="1" dirty="0">
              <a:solidFill>
                <a:schemeClr val="bg1"/>
              </a:solidFill>
            </a:endParaRPr>
          </a:p>
        </p:txBody>
      </p:sp>
      <p:sp>
        <p:nvSpPr>
          <p:cNvPr id="26" name="Title 1"/>
          <p:cNvSpPr>
            <a:spLocks noGrp="1"/>
          </p:cNvSpPr>
          <p:nvPr>
            <p:ph type="title"/>
          </p:nvPr>
        </p:nvSpPr>
        <p:spPr>
          <a:xfrm>
            <a:off x="439794" y="350133"/>
            <a:ext cx="9809052" cy="545217"/>
          </a:xfrm>
        </p:spPr>
        <p:txBody>
          <a:bodyPr/>
          <a:lstStyle/>
          <a:p>
            <a:r>
              <a:rPr lang="en-US" sz="2000" b="1" dirty="0"/>
              <a:t>Key performance improvement targets for distribution business &amp; the concomitant savings</a:t>
            </a:r>
            <a:endParaRPr lang="en-IN" sz="2000" b="1" dirty="0"/>
          </a:p>
        </p:txBody>
      </p:sp>
    </p:spTree>
    <p:extLst>
      <p:ext uri="{BB962C8B-B14F-4D97-AF65-F5344CB8AC3E}">
        <p14:creationId xmlns:p14="http://schemas.microsoft.com/office/powerpoint/2010/main" val="265001520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Immediate steps &amp; priority area</a:t>
            </a:r>
          </a:p>
        </p:txBody>
      </p:sp>
    </p:spTree>
    <p:extLst>
      <p:ext uri="{BB962C8B-B14F-4D97-AF65-F5344CB8AC3E}">
        <p14:creationId xmlns:p14="http://schemas.microsoft.com/office/powerpoint/2010/main" val="28568498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104" y="435139"/>
            <a:ext cx="9809052" cy="763288"/>
          </a:xfrm>
        </p:spPr>
        <p:txBody>
          <a:bodyPr/>
          <a:lstStyle/>
          <a:p>
            <a:r>
              <a:rPr lang="en-US" sz="2000" b="1" dirty="0"/>
              <a:t>Immediate implementation steps and priority areas</a:t>
            </a:r>
            <a:endParaRPr lang="en-IN" sz="2000" b="1" dirty="0"/>
          </a:p>
        </p:txBody>
      </p:sp>
      <p:graphicFrame>
        <p:nvGraphicFramePr>
          <p:cNvPr id="6" name="Diagram 5"/>
          <p:cNvGraphicFramePr/>
          <p:nvPr>
            <p:extLst>
              <p:ext uri="{D42A27DB-BD31-4B8C-83A1-F6EECF244321}">
                <p14:modId xmlns:p14="http://schemas.microsoft.com/office/powerpoint/2010/main" val="3116008466"/>
              </p:ext>
            </p:extLst>
          </p:nvPr>
        </p:nvGraphicFramePr>
        <p:xfrm>
          <a:off x="467104" y="1057276"/>
          <a:ext cx="9809052" cy="6167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9394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High Level Implementation Plan</a:t>
            </a:r>
          </a:p>
        </p:txBody>
      </p:sp>
    </p:spTree>
    <p:extLst>
      <p:ext uri="{BB962C8B-B14F-4D97-AF65-F5344CB8AC3E}">
        <p14:creationId xmlns:p14="http://schemas.microsoft.com/office/powerpoint/2010/main" val="2540631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High-level implementation plan for reform of BPDB as a holding company</a:t>
            </a:r>
            <a:endParaRPr lang="en-IN" sz="2000" b="1" dirty="0"/>
          </a:p>
        </p:txBody>
      </p:sp>
      <p:graphicFrame>
        <p:nvGraphicFramePr>
          <p:cNvPr id="3" name="Diagram 2"/>
          <p:cNvGraphicFramePr/>
          <p:nvPr/>
        </p:nvGraphicFramePr>
        <p:xfrm>
          <a:off x="375999" y="1031358"/>
          <a:ext cx="2558587" cy="612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4" name="Diagram 13"/>
          <p:cNvGraphicFramePr/>
          <p:nvPr/>
        </p:nvGraphicFramePr>
        <p:xfrm>
          <a:off x="4348716" y="1350335"/>
          <a:ext cx="5900130" cy="51461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Freeform 4"/>
          <p:cNvSpPr/>
          <p:nvPr/>
        </p:nvSpPr>
        <p:spPr bwMode="gray">
          <a:xfrm>
            <a:off x="2892056" y="1435395"/>
            <a:ext cx="1424763" cy="5699052"/>
          </a:xfrm>
          <a:custGeom>
            <a:avLst/>
            <a:gdLst>
              <a:gd name="connsiteX0" fmla="*/ 0 w 1424763"/>
              <a:gd name="connsiteY0" fmla="*/ 5124893 h 5699052"/>
              <a:gd name="connsiteX1" fmla="*/ 1424763 w 1424763"/>
              <a:gd name="connsiteY1" fmla="*/ 0 h 5699052"/>
              <a:gd name="connsiteX2" fmla="*/ 1414130 w 1424763"/>
              <a:gd name="connsiteY2" fmla="*/ 4976038 h 5699052"/>
              <a:gd name="connsiteX3" fmla="*/ 10632 w 1424763"/>
              <a:gd name="connsiteY3" fmla="*/ 5699052 h 5699052"/>
              <a:gd name="connsiteX4" fmla="*/ 0 w 1424763"/>
              <a:gd name="connsiteY4" fmla="*/ 5124893 h 569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63" h="5699052">
                <a:moveTo>
                  <a:pt x="0" y="5124893"/>
                </a:moveTo>
                <a:lnTo>
                  <a:pt x="1424763" y="0"/>
                </a:lnTo>
                <a:cubicBezTo>
                  <a:pt x="1421219" y="1658679"/>
                  <a:pt x="1417674" y="3317359"/>
                  <a:pt x="1414130" y="4976038"/>
                </a:cubicBezTo>
                <a:lnTo>
                  <a:pt x="10632" y="5699052"/>
                </a:lnTo>
                <a:lnTo>
                  <a:pt x="0" y="5124893"/>
                </a:lnTo>
                <a:close/>
              </a:path>
            </a:pathLst>
          </a:custGeom>
          <a:solidFill>
            <a:schemeClr val="bg1">
              <a:lumMod val="6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Tree>
    <p:extLst>
      <p:ext uri="{BB962C8B-B14F-4D97-AF65-F5344CB8AC3E}">
        <p14:creationId xmlns:p14="http://schemas.microsoft.com/office/powerpoint/2010/main" val="810701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Manpower Assessment &amp; Guidelines for Holding Company</a:t>
            </a:r>
          </a:p>
        </p:txBody>
      </p:sp>
    </p:spTree>
    <p:extLst>
      <p:ext uri="{BB962C8B-B14F-4D97-AF65-F5344CB8AC3E}">
        <p14:creationId xmlns:p14="http://schemas.microsoft.com/office/powerpoint/2010/main" val="1352677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extLst>
              <p:ext uri="{D42A27DB-BD31-4B8C-83A1-F6EECF244321}">
                <p14:modId xmlns:p14="http://schemas.microsoft.com/office/powerpoint/2010/main" val="814878212"/>
              </p:ext>
            </p:extLst>
          </p:nvPr>
        </p:nvGraphicFramePr>
        <p:xfrm>
          <a:off x="7278025" y="976265"/>
          <a:ext cx="3164168" cy="2724306"/>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1"/>
          <p:cNvSpPr>
            <a:spLocks noGrp="1"/>
          </p:cNvSpPr>
          <p:nvPr>
            <p:ph type="title"/>
          </p:nvPr>
        </p:nvSpPr>
        <p:spPr>
          <a:xfrm>
            <a:off x="439794" y="350133"/>
            <a:ext cx="9809052" cy="410901"/>
          </a:xfrm>
        </p:spPr>
        <p:txBody>
          <a:bodyPr/>
          <a:lstStyle/>
          <a:p>
            <a:r>
              <a:rPr lang="en-US" sz="2000" b="1" dirty="0"/>
              <a:t>As-is manpower arrangement of BPDB</a:t>
            </a:r>
            <a:endParaRPr lang="en-IN" sz="2000" b="1" dirty="0"/>
          </a:p>
        </p:txBody>
      </p:sp>
      <p:cxnSp>
        <p:nvCxnSpPr>
          <p:cNvPr id="6" name="Straight Connector 5"/>
          <p:cNvCxnSpPr/>
          <p:nvPr/>
        </p:nvCxnSpPr>
        <p:spPr>
          <a:xfrm>
            <a:off x="7278025" y="854443"/>
            <a:ext cx="319230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11865" y="684767"/>
            <a:ext cx="2026614" cy="369332"/>
          </a:xfrm>
          <a:prstGeom prst="rect">
            <a:avLst/>
          </a:prstGeom>
          <a:solidFill>
            <a:schemeClr val="bg1"/>
          </a:solidFill>
        </p:spPr>
        <p:txBody>
          <a:bodyPr wrap="square" lIns="0" tIns="0" rIns="0" bIns="0" rtlCol="0">
            <a:spAutoFit/>
          </a:bodyPr>
          <a:lstStyle/>
          <a:p>
            <a:pPr algn="ctr">
              <a:buSzPct val="100000"/>
            </a:pPr>
            <a:r>
              <a:rPr lang="en-IN" sz="1200" b="1" dirty="0">
                <a:solidFill>
                  <a:srgbClr val="313131"/>
                </a:solidFill>
              </a:rPr>
              <a:t>Total Manpower classification of BPDB</a:t>
            </a:r>
            <a:r>
              <a:rPr lang="en-IN" sz="1200" b="1" baseline="30000" dirty="0"/>
              <a:t>1</a:t>
            </a:r>
            <a:endParaRPr lang="en-IN" sz="1200" b="1" dirty="0">
              <a:solidFill>
                <a:srgbClr val="313131"/>
              </a:solidFill>
            </a:endParaRPr>
          </a:p>
        </p:txBody>
      </p:sp>
      <p:sp>
        <p:nvSpPr>
          <p:cNvPr id="11" name="Rectangle 10"/>
          <p:cNvSpPr/>
          <p:nvPr/>
        </p:nvSpPr>
        <p:spPr bwMode="gray">
          <a:xfrm>
            <a:off x="439794" y="839455"/>
            <a:ext cx="6505292" cy="2861116"/>
          </a:xfrm>
          <a:prstGeom prst="rect">
            <a:avLst/>
          </a:prstGeom>
          <a:noFill/>
          <a:ln w="19050" algn="ctr">
            <a:noFill/>
            <a:miter lim="800000"/>
            <a:headEnd/>
            <a:tailEnd/>
          </a:ln>
        </p:spPr>
        <p:txBody>
          <a:bodyPr wrap="square" lIns="88900" tIns="88900" rIns="88900" bIns="88900" rtlCol="0" anchor="ctr"/>
          <a:lstStyle/>
          <a:p>
            <a:pPr marL="171450" indent="-171450">
              <a:lnSpc>
                <a:spcPct val="130000"/>
              </a:lnSpc>
              <a:spcBef>
                <a:spcPts val="600"/>
              </a:spcBef>
              <a:buFont typeface="Arial" panose="020B0604020202020204" pitchFamily="34" charset="0"/>
              <a:buChar char="•"/>
            </a:pPr>
            <a:r>
              <a:rPr lang="en-IN" sz="1400" dirty="0"/>
              <a:t>We analysed the total sanctioned manpower of BPDB</a:t>
            </a:r>
            <a:r>
              <a:rPr lang="en-IN" sz="1400" b="1" baseline="30000" dirty="0"/>
              <a:t>1</a:t>
            </a:r>
            <a:r>
              <a:rPr lang="en-IN" sz="1400" dirty="0"/>
              <a:t> using the erstwhile system of segregation based on Class – I , II , III and IV.</a:t>
            </a:r>
          </a:p>
          <a:p>
            <a:pPr marL="171450" indent="-171450">
              <a:lnSpc>
                <a:spcPct val="130000"/>
              </a:lnSpc>
              <a:spcBef>
                <a:spcPts val="600"/>
              </a:spcBef>
              <a:buFont typeface="Arial" panose="020B0604020202020204" pitchFamily="34" charset="0"/>
              <a:buChar char="•"/>
            </a:pPr>
            <a:r>
              <a:rPr lang="en-US" sz="1400" dirty="0"/>
              <a:t>The employee analysis includes the employees deputed on lien to newly created NESCO</a:t>
            </a:r>
          </a:p>
          <a:p>
            <a:pPr marL="171450" indent="-171450">
              <a:lnSpc>
                <a:spcPct val="130000"/>
              </a:lnSpc>
              <a:spcBef>
                <a:spcPts val="600"/>
              </a:spcBef>
              <a:buFont typeface="Arial" panose="020B0604020202020204" pitchFamily="34" charset="0"/>
              <a:buChar char="•"/>
            </a:pPr>
            <a:r>
              <a:rPr lang="en-US" sz="1400" dirty="0"/>
              <a:t>Out of the total sanctioned manpower strength, 86% of the employees belong to Class III and IV together</a:t>
            </a:r>
          </a:p>
          <a:p>
            <a:pPr marL="171450" indent="-171450">
              <a:lnSpc>
                <a:spcPct val="130000"/>
              </a:lnSpc>
              <a:spcBef>
                <a:spcPts val="600"/>
              </a:spcBef>
              <a:buFont typeface="Arial" panose="020B0604020202020204" pitchFamily="34" charset="0"/>
              <a:buChar char="•"/>
            </a:pPr>
            <a:r>
              <a:rPr lang="en-US" sz="1400" dirty="0"/>
              <a:t>Rest 14% is composed of Class I &amp; II employees.</a:t>
            </a:r>
          </a:p>
          <a:p>
            <a:pPr marL="171450" indent="-171450">
              <a:lnSpc>
                <a:spcPct val="130000"/>
              </a:lnSpc>
              <a:spcBef>
                <a:spcPts val="600"/>
              </a:spcBef>
              <a:buFont typeface="Arial" panose="020B0604020202020204" pitchFamily="34" charset="0"/>
              <a:buChar char="•"/>
            </a:pPr>
            <a:r>
              <a:rPr lang="en-US" sz="1400" dirty="0"/>
              <a:t>The below chart illustrates the employee composition of key departments of BPDB:</a:t>
            </a:r>
          </a:p>
        </p:txBody>
      </p:sp>
      <p:graphicFrame>
        <p:nvGraphicFramePr>
          <p:cNvPr id="14" name="Chart 13"/>
          <p:cNvGraphicFramePr/>
          <p:nvPr>
            <p:extLst>
              <p:ext uri="{D42A27DB-BD31-4B8C-83A1-F6EECF244321}">
                <p14:modId xmlns:p14="http://schemas.microsoft.com/office/powerpoint/2010/main" val="760698508"/>
              </p:ext>
            </p:extLst>
          </p:nvPr>
        </p:nvGraphicFramePr>
        <p:xfrm>
          <a:off x="439794" y="3954084"/>
          <a:ext cx="9809052" cy="2661914"/>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Box 101"/>
          <p:cNvSpPr txBox="1">
            <a:spLocks noChangeArrowheads="1"/>
          </p:cNvSpPr>
          <p:nvPr/>
        </p:nvSpPr>
        <p:spPr bwMode="auto">
          <a:xfrm>
            <a:off x="439790" y="6173428"/>
            <a:ext cx="2768101" cy="47685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just">
              <a:spcAft>
                <a:spcPts val="0"/>
              </a:spcAft>
            </a:pPr>
            <a:r>
              <a:rPr lang="en-US" sz="900">
                <a:effectLst/>
                <a:latin typeface="Verdana" panose="020B0604030504040204" pitchFamily="34" charset="0"/>
                <a:ea typeface="Verdana" panose="020B0604030504040204" pitchFamily="34" charset="0"/>
                <a:cs typeface="Verdana" panose="020B0604030504040204" pitchFamily="34" charset="0"/>
              </a:rPr>
              <a:t>Note: Number in the boxes indicate total sanctioned manpower in each department as per the organogram.</a:t>
            </a:r>
            <a:endParaRPr lang="en-IN" sz="1400">
              <a:effectLst/>
              <a:latin typeface="Times New Roman" panose="02020603050405020304" pitchFamily="18" charset="0"/>
              <a:ea typeface="MS Mincho" panose="02020609040205080304" pitchFamily="49" charset="-128"/>
              <a:cs typeface="Arial" panose="020B0604020202020204" pitchFamily="34" charset="0"/>
            </a:endParaRPr>
          </a:p>
        </p:txBody>
      </p:sp>
      <p:sp>
        <p:nvSpPr>
          <p:cNvPr id="16" name="Text Box 101"/>
          <p:cNvSpPr txBox="1">
            <a:spLocks noChangeArrowheads="1"/>
          </p:cNvSpPr>
          <p:nvPr/>
        </p:nvSpPr>
        <p:spPr bwMode="auto">
          <a:xfrm>
            <a:off x="2286081" y="7309542"/>
            <a:ext cx="6838231" cy="19098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just">
              <a:spcAft>
                <a:spcPts val="0"/>
              </a:spcAft>
            </a:pPr>
            <a:r>
              <a:rPr lang="en-US" sz="900" dirty="0">
                <a:latin typeface="Verdana" panose="020B0604030504040204" pitchFamily="34" charset="0"/>
                <a:ea typeface="Verdana" panose="020B0604030504040204" pitchFamily="34" charset="0"/>
                <a:cs typeface="Verdana" panose="020B0604030504040204" pitchFamily="34" charset="0"/>
              </a:rPr>
              <a:t>1) S</a:t>
            </a:r>
            <a:r>
              <a:rPr lang="en-US" sz="900" dirty="0">
                <a:effectLst/>
                <a:latin typeface="Verdana" panose="020B0604030504040204" pitchFamily="34" charset="0"/>
                <a:ea typeface="Verdana" panose="020B0604030504040204" pitchFamily="34" charset="0"/>
                <a:cs typeface="Verdana" panose="020B0604030504040204" pitchFamily="34" charset="0"/>
              </a:rPr>
              <a:t>ource: As per undated organogram shared by BPDB with total sanctioned manpower of 22063.</a:t>
            </a:r>
            <a:endParaRPr lang="en-IN" sz="1400" dirty="0">
              <a:effectLst/>
              <a:latin typeface="Times New Roman" panose="02020603050405020304" pitchFamily="18" charset="0"/>
              <a:ea typeface="MS Mincho" panose="02020609040205080304" pitchFamily="49" charset="-128"/>
              <a:cs typeface="Arial" panose="020B0604020202020204" pitchFamily="34" charset="0"/>
            </a:endParaRPr>
          </a:p>
        </p:txBody>
      </p:sp>
      <p:cxnSp>
        <p:nvCxnSpPr>
          <p:cNvPr id="17" name="Straight Connector 16"/>
          <p:cNvCxnSpPr/>
          <p:nvPr/>
        </p:nvCxnSpPr>
        <p:spPr>
          <a:xfrm>
            <a:off x="584616" y="3833707"/>
            <a:ext cx="935386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633289" y="3748701"/>
            <a:ext cx="5256515" cy="216000"/>
          </a:xfrm>
          <a:prstGeom prst="rect">
            <a:avLst/>
          </a:prstGeom>
          <a:solidFill>
            <a:schemeClr val="bg1"/>
          </a:solidFill>
        </p:spPr>
        <p:txBody>
          <a:bodyPr wrap="square" lIns="0" tIns="0" rIns="0" bIns="0" rtlCol="0">
            <a:spAutoFit/>
          </a:bodyPr>
          <a:lstStyle/>
          <a:p>
            <a:pPr algn="ctr">
              <a:buSzPct val="100000"/>
            </a:pPr>
            <a:r>
              <a:rPr lang="en-IN" sz="1200" b="1" dirty="0">
                <a:solidFill>
                  <a:srgbClr val="313131"/>
                </a:solidFill>
              </a:rPr>
              <a:t>Employee Composition of major departments of BPDB</a:t>
            </a:r>
            <a:r>
              <a:rPr lang="en-IN" sz="1200" b="1" baseline="30000" dirty="0"/>
              <a:t>1</a:t>
            </a:r>
            <a:endParaRPr lang="en-IN" sz="1200" b="1" dirty="0">
              <a:solidFill>
                <a:srgbClr val="313131"/>
              </a:solidFill>
            </a:endParaRPr>
          </a:p>
        </p:txBody>
      </p:sp>
      <p:sp>
        <p:nvSpPr>
          <p:cNvPr id="21" name="Rectangle 20"/>
          <p:cNvSpPr/>
          <p:nvPr/>
        </p:nvSpPr>
        <p:spPr bwMode="gray">
          <a:xfrm>
            <a:off x="439790" y="6795800"/>
            <a:ext cx="9809052" cy="445166"/>
          </a:xfrm>
          <a:prstGeom prst="rect">
            <a:avLst/>
          </a:prstGeom>
          <a:solidFill>
            <a:srgbClr val="00B0F0"/>
          </a:solidFill>
          <a:ln w="19050" algn="ctr">
            <a:solidFill>
              <a:srgbClr val="00B0F0"/>
            </a:solidFill>
            <a:miter lim="800000"/>
            <a:headEnd/>
            <a:tailEnd/>
          </a:ln>
        </p:spPr>
        <p:txBody>
          <a:bodyPr wrap="square" lIns="88900" tIns="88900" rIns="88900" bIns="88900" rtlCol="0" anchor="ctr"/>
          <a:lstStyle/>
          <a:p>
            <a:pPr algn="ctr">
              <a:lnSpc>
                <a:spcPct val="106000"/>
              </a:lnSpc>
            </a:pPr>
            <a:r>
              <a:rPr lang="en-IN" sz="1400" b="1" dirty="0">
                <a:solidFill>
                  <a:schemeClr val="bg1"/>
                </a:solidFill>
              </a:rPr>
              <a:t>The current sanctioned manpower strength of BPDB is to meet the requirements of current roles &amp; functions of BPDB</a:t>
            </a:r>
          </a:p>
        </p:txBody>
      </p:sp>
    </p:spTree>
    <p:extLst>
      <p:ext uri="{BB962C8B-B14F-4D97-AF65-F5344CB8AC3E}">
        <p14:creationId xmlns:p14="http://schemas.microsoft.com/office/powerpoint/2010/main" val="3178915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67104" y="435139"/>
            <a:ext cx="9809052" cy="763288"/>
          </a:xfrm>
        </p:spPr>
        <p:txBody>
          <a:bodyPr/>
          <a:lstStyle/>
          <a:p>
            <a:r>
              <a:rPr lang="en-US" sz="2000" b="1" dirty="0"/>
              <a:t>BPDB must undertake a comprehensive manpower assessment exercise to determine optimum manpower of holding company</a:t>
            </a:r>
            <a:endParaRPr lang="en-IN" sz="2000" b="1" dirty="0"/>
          </a:p>
        </p:txBody>
      </p:sp>
      <p:sp>
        <p:nvSpPr>
          <p:cNvPr id="23" name="Rectangle 22"/>
          <p:cNvSpPr/>
          <p:nvPr/>
        </p:nvSpPr>
        <p:spPr bwMode="gray">
          <a:xfrm>
            <a:off x="439794" y="6460758"/>
            <a:ext cx="9809052" cy="629587"/>
          </a:xfrm>
          <a:prstGeom prst="rect">
            <a:avLst/>
          </a:prstGeom>
          <a:solidFill>
            <a:srgbClr val="00B0F0"/>
          </a:solidFill>
          <a:ln w="19050" algn="ctr">
            <a:solidFill>
              <a:srgbClr val="00B0F0"/>
            </a:solidFill>
            <a:miter lim="800000"/>
            <a:headEnd/>
            <a:tailEnd/>
          </a:ln>
        </p:spPr>
        <p:txBody>
          <a:bodyPr wrap="square" lIns="88900" tIns="88900" rIns="88900" bIns="88900" rtlCol="0" anchor="ctr"/>
          <a:lstStyle/>
          <a:p>
            <a:pPr algn="ctr">
              <a:lnSpc>
                <a:spcPct val="106000"/>
              </a:lnSpc>
            </a:pPr>
            <a:r>
              <a:rPr lang="en-US" sz="1400" b="1" dirty="0">
                <a:solidFill>
                  <a:schemeClr val="bg1"/>
                </a:solidFill>
              </a:rPr>
              <a:t>Holding Company may continue with the existing manpower of BPDB till the comprehensive manpower assessment exercise is undertaken</a:t>
            </a:r>
            <a:endParaRPr lang="en-IN" sz="1400" b="1" dirty="0">
              <a:solidFill>
                <a:schemeClr val="bg1"/>
              </a:solidFill>
            </a:endParaRPr>
          </a:p>
        </p:txBody>
      </p:sp>
      <p:sp>
        <p:nvSpPr>
          <p:cNvPr id="24" name="Rectangle 23"/>
          <p:cNvSpPr/>
          <p:nvPr/>
        </p:nvSpPr>
        <p:spPr bwMode="gray">
          <a:xfrm>
            <a:off x="467104" y="1198427"/>
            <a:ext cx="9754424" cy="1766103"/>
          </a:xfrm>
          <a:prstGeom prst="rect">
            <a:avLst/>
          </a:prstGeom>
          <a:noFill/>
          <a:ln w="19050" algn="ctr">
            <a:noFill/>
            <a:miter lim="800000"/>
            <a:headEnd/>
            <a:tailEnd/>
          </a:ln>
        </p:spPr>
        <p:txBody>
          <a:bodyPr wrap="square" lIns="88900" tIns="88900" rIns="88900" bIns="88900" rtlCol="0" anchor="ctr"/>
          <a:lstStyle/>
          <a:p>
            <a:pPr marL="171450" indent="-171450">
              <a:lnSpc>
                <a:spcPct val="130000"/>
              </a:lnSpc>
              <a:spcBef>
                <a:spcPts val="600"/>
              </a:spcBef>
              <a:buFont typeface="Arial" panose="020B0604020202020204" pitchFamily="34" charset="0"/>
              <a:buChar char="•"/>
            </a:pPr>
            <a:r>
              <a:rPr lang="en-US" sz="1400" dirty="0"/>
              <a:t>As per the proposed reform strategy, BPDB will continue with all of its existing functions</a:t>
            </a:r>
          </a:p>
          <a:p>
            <a:pPr marL="171450" indent="-171450">
              <a:lnSpc>
                <a:spcPct val="130000"/>
              </a:lnSpc>
              <a:spcBef>
                <a:spcPts val="600"/>
              </a:spcBef>
              <a:buFont typeface="Arial" panose="020B0604020202020204" pitchFamily="34" charset="0"/>
              <a:buChar char="•"/>
            </a:pPr>
            <a:r>
              <a:rPr lang="en-US" sz="1400" dirty="0"/>
              <a:t>Some of the existing functional areas, as illustrated earlier, may undergo strengthening / re-engineering</a:t>
            </a:r>
          </a:p>
          <a:p>
            <a:pPr marL="171450" indent="-171450">
              <a:lnSpc>
                <a:spcPct val="130000"/>
              </a:lnSpc>
              <a:spcBef>
                <a:spcPts val="600"/>
              </a:spcBef>
              <a:buFont typeface="Arial" panose="020B0604020202020204" pitchFamily="34" charset="0"/>
              <a:buChar char="•"/>
            </a:pPr>
            <a:r>
              <a:rPr lang="en-US" sz="1400" dirty="0"/>
              <a:t>Some new functions have also been proposed to be included within ambit of holding company</a:t>
            </a:r>
          </a:p>
          <a:p>
            <a:pPr marL="171450" indent="-171450">
              <a:lnSpc>
                <a:spcPct val="140000"/>
              </a:lnSpc>
              <a:spcBef>
                <a:spcPts val="600"/>
              </a:spcBef>
              <a:buFont typeface="Arial" panose="020B0604020202020204" pitchFamily="34" charset="0"/>
              <a:buChar char="•"/>
            </a:pPr>
            <a:r>
              <a:rPr lang="en-US" sz="1400" dirty="0"/>
              <a:t>A comprehensive manpower assessment exercise is required for assessment of optimum manpower for the holding company.</a:t>
            </a:r>
          </a:p>
        </p:txBody>
      </p:sp>
      <p:cxnSp>
        <p:nvCxnSpPr>
          <p:cNvPr id="33" name="Straight Connector 32"/>
          <p:cNvCxnSpPr/>
          <p:nvPr/>
        </p:nvCxnSpPr>
        <p:spPr>
          <a:xfrm>
            <a:off x="584617" y="3281622"/>
            <a:ext cx="935386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763336" y="3196616"/>
            <a:ext cx="6996422" cy="369332"/>
          </a:xfrm>
          <a:prstGeom prst="rect">
            <a:avLst/>
          </a:prstGeom>
          <a:solidFill>
            <a:schemeClr val="bg1"/>
          </a:solidFill>
        </p:spPr>
        <p:txBody>
          <a:bodyPr wrap="square" lIns="0" tIns="0" rIns="0" bIns="0" rtlCol="0">
            <a:spAutoFit/>
          </a:bodyPr>
          <a:lstStyle/>
          <a:p>
            <a:pPr algn="ctr">
              <a:buSzPct val="100000"/>
            </a:pPr>
            <a:r>
              <a:rPr lang="en-IN" sz="1200" b="1" dirty="0">
                <a:solidFill>
                  <a:srgbClr val="313131"/>
                </a:solidFill>
              </a:rPr>
              <a:t>Proposed High level Manpower Assessment Process for holding company</a:t>
            </a:r>
          </a:p>
        </p:txBody>
      </p:sp>
      <p:grpSp>
        <p:nvGrpSpPr>
          <p:cNvPr id="35" name="Group 34"/>
          <p:cNvGrpSpPr/>
          <p:nvPr/>
        </p:nvGrpSpPr>
        <p:grpSpPr>
          <a:xfrm>
            <a:off x="584617" y="3668619"/>
            <a:ext cx="9353863" cy="2385592"/>
            <a:chOff x="0" y="1500186"/>
            <a:chExt cx="9215438" cy="3114679"/>
          </a:xfrm>
        </p:grpSpPr>
        <p:sp>
          <p:nvSpPr>
            <p:cNvPr id="36" name="Rectangle 35"/>
            <p:cNvSpPr/>
            <p:nvPr/>
          </p:nvSpPr>
          <p:spPr>
            <a:xfrm>
              <a:off x="0" y="1500188"/>
              <a:ext cx="2185987" cy="757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Proposed BPR Strategy</a:t>
              </a:r>
              <a:endParaRPr lang="en-IN" sz="1200" b="1" dirty="0"/>
            </a:p>
          </p:txBody>
        </p:sp>
        <p:sp>
          <p:nvSpPr>
            <p:cNvPr id="37" name="Rectangle 36"/>
            <p:cNvSpPr/>
            <p:nvPr/>
          </p:nvSpPr>
          <p:spPr>
            <a:xfrm>
              <a:off x="0" y="2438401"/>
              <a:ext cx="2185987" cy="757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Proposed New Functions</a:t>
              </a:r>
              <a:endParaRPr lang="en-IN" sz="1200" b="1" dirty="0"/>
            </a:p>
          </p:txBody>
        </p:sp>
        <p:sp>
          <p:nvSpPr>
            <p:cNvPr id="38" name="Rectangle 37"/>
            <p:cNvSpPr/>
            <p:nvPr/>
          </p:nvSpPr>
          <p:spPr>
            <a:xfrm>
              <a:off x="0" y="3424240"/>
              <a:ext cx="2185987" cy="11906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Proposed Workflow automation strategy through ICT enablement</a:t>
              </a:r>
              <a:endParaRPr lang="en-IN" sz="1200" b="1" dirty="0"/>
            </a:p>
          </p:txBody>
        </p:sp>
        <p:sp>
          <p:nvSpPr>
            <p:cNvPr id="39" name="Isosceles Triangle 38"/>
            <p:cNvSpPr/>
            <p:nvPr/>
          </p:nvSpPr>
          <p:spPr bwMode="gray">
            <a:xfrm rot="5400000">
              <a:off x="1293018" y="2607470"/>
              <a:ext cx="3114676" cy="900113"/>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40" name="Rectangle 39"/>
            <p:cNvSpPr/>
            <p:nvPr/>
          </p:nvSpPr>
          <p:spPr>
            <a:xfrm>
              <a:off x="3514725" y="1500188"/>
              <a:ext cx="2185987" cy="311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Competency Mapping of existing BPDB Employees</a:t>
              </a:r>
              <a:endParaRPr lang="en-IN" sz="1200" b="1" dirty="0"/>
            </a:p>
          </p:txBody>
        </p:sp>
        <p:sp>
          <p:nvSpPr>
            <p:cNvPr id="41" name="Isosceles Triangle 40"/>
            <p:cNvSpPr/>
            <p:nvPr/>
          </p:nvSpPr>
          <p:spPr bwMode="gray">
            <a:xfrm rot="5400000">
              <a:off x="4807744" y="2607468"/>
              <a:ext cx="3114676" cy="900113"/>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400" b="1" dirty="0">
                <a:solidFill>
                  <a:schemeClr val="bg1"/>
                </a:solidFill>
              </a:endParaRPr>
            </a:p>
          </p:txBody>
        </p:sp>
        <p:sp>
          <p:nvSpPr>
            <p:cNvPr id="42" name="Rectangle 41"/>
            <p:cNvSpPr/>
            <p:nvPr/>
          </p:nvSpPr>
          <p:spPr>
            <a:xfrm>
              <a:off x="7029451" y="1500186"/>
              <a:ext cx="2185987" cy="311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Formulation of Strategy for Re-skilling &amp; Recruitment</a:t>
              </a:r>
              <a:endParaRPr lang="en-IN" sz="1200" b="1" dirty="0"/>
            </a:p>
          </p:txBody>
        </p:sp>
      </p:grpSp>
    </p:spTree>
    <p:extLst>
      <p:ext uri="{BB962C8B-B14F-4D97-AF65-F5344CB8AC3E}">
        <p14:creationId xmlns:p14="http://schemas.microsoft.com/office/powerpoint/2010/main" val="2309903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Recommendation on Compensation Benchmarking</a:t>
            </a:r>
          </a:p>
        </p:txBody>
      </p:sp>
    </p:spTree>
    <p:extLst>
      <p:ext uri="{BB962C8B-B14F-4D97-AF65-F5344CB8AC3E}">
        <p14:creationId xmlns:p14="http://schemas.microsoft.com/office/powerpoint/2010/main" val="3788424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a:t>Key objectives and basic framework for benchmarking of compensation framework for holding company employees</a:t>
            </a:r>
            <a:endParaRPr lang="en-IN" sz="2000" b="1" dirty="0"/>
          </a:p>
        </p:txBody>
      </p:sp>
      <p:grpSp>
        <p:nvGrpSpPr>
          <p:cNvPr id="3" name="Group 2"/>
          <p:cNvGrpSpPr/>
          <p:nvPr/>
        </p:nvGrpSpPr>
        <p:grpSpPr>
          <a:xfrm>
            <a:off x="499726" y="1225486"/>
            <a:ext cx="9749120" cy="2321279"/>
            <a:chOff x="499726" y="1142977"/>
            <a:chExt cx="9434630" cy="5481745"/>
          </a:xfrm>
        </p:grpSpPr>
        <p:sp>
          <p:nvSpPr>
            <p:cNvPr id="4" name="TextBox 3"/>
            <p:cNvSpPr txBox="1"/>
            <p:nvPr/>
          </p:nvSpPr>
          <p:spPr>
            <a:xfrm>
              <a:off x="499726" y="1142977"/>
              <a:ext cx="2371061" cy="521114"/>
            </a:xfrm>
            <a:prstGeom prst="rect">
              <a:avLst/>
            </a:prstGeom>
            <a:noFill/>
          </p:spPr>
          <p:txBody>
            <a:bodyPr wrap="square" lIns="36000" tIns="36000" rIns="36000" bIns="36000" rtlCol="0">
              <a:spAutoFit/>
            </a:bodyPr>
            <a:lstStyle/>
            <a:p>
              <a:pPr algn="ctr">
                <a:spcBef>
                  <a:spcPts val="600"/>
                </a:spcBef>
                <a:buSzPct val="100000"/>
              </a:pPr>
              <a:r>
                <a:rPr lang="en-US" sz="1200" b="1" i="1" dirty="0">
                  <a:solidFill>
                    <a:srgbClr val="313131"/>
                  </a:solidFill>
                </a:rPr>
                <a:t>Current state</a:t>
              </a:r>
            </a:p>
          </p:txBody>
        </p:sp>
        <p:sp>
          <p:nvSpPr>
            <p:cNvPr id="7" name="TextBox 6"/>
            <p:cNvSpPr txBox="1"/>
            <p:nvPr/>
          </p:nvSpPr>
          <p:spPr>
            <a:xfrm>
              <a:off x="499726" y="1717577"/>
              <a:ext cx="2371061" cy="1404060"/>
            </a:xfrm>
            <a:prstGeom prst="rect">
              <a:avLst/>
            </a:prstGeom>
            <a:solidFill>
              <a:schemeClr val="accent1">
                <a:lumMod val="60000"/>
                <a:lumOff val="40000"/>
              </a:schemeClr>
            </a:solidFill>
          </p:spPr>
          <p:txBody>
            <a:bodyPr wrap="square" lIns="36000" tIns="36000" rIns="36000" bIns="36000" rtlCol="0" anchor="ctr">
              <a:noAutofit/>
            </a:bodyPr>
            <a:lstStyle/>
            <a:p>
              <a:pPr algn="ctr">
                <a:spcBef>
                  <a:spcPts val="600"/>
                </a:spcBef>
                <a:buSzPct val="100000"/>
              </a:pPr>
              <a:r>
                <a:rPr lang="en-US" sz="1200" b="1" dirty="0">
                  <a:solidFill>
                    <a:srgbClr val="313131"/>
                  </a:solidFill>
                </a:rPr>
                <a:t>BPDB</a:t>
              </a:r>
            </a:p>
            <a:p>
              <a:pPr algn="ctr">
                <a:spcBef>
                  <a:spcPts val="600"/>
                </a:spcBef>
                <a:buSzPct val="100000"/>
              </a:pPr>
              <a:r>
                <a:rPr lang="en-US" sz="1100" dirty="0">
                  <a:solidFill>
                    <a:srgbClr val="313131"/>
                  </a:solidFill>
                </a:rPr>
                <a:t>(Statutory body, Governed by PO59)</a:t>
              </a:r>
            </a:p>
          </p:txBody>
        </p:sp>
        <p:sp>
          <p:nvSpPr>
            <p:cNvPr id="8" name="TextBox 7"/>
            <p:cNvSpPr txBox="1"/>
            <p:nvPr/>
          </p:nvSpPr>
          <p:spPr>
            <a:xfrm>
              <a:off x="4288463" y="1717577"/>
              <a:ext cx="2371061" cy="1404060"/>
            </a:xfrm>
            <a:prstGeom prst="rect">
              <a:avLst/>
            </a:prstGeom>
            <a:solidFill>
              <a:schemeClr val="accent1">
                <a:lumMod val="60000"/>
                <a:lumOff val="40000"/>
              </a:schemeClr>
            </a:solidFill>
          </p:spPr>
          <p:txBody>
            <a:bodyPr wrap="square" lIns="36000" tIns="36000" rIns="36000" bIns="36000" rtlCol="0" anchor="ctr">
              <a:noAutofit/>
            </a:bodyPr>
            <a:lstStyle/>
            <a:p>
              <a:pPr algn="ctr">
                <a:spcBef>
                  <a:spcPts val="600"/>
                </a:spcBef>
                <a:buSzPct val="100000"/>
              </a:pPr>
              <a:r>
                <a:rPr lang="en-US" sz="1200" b="1" dirty="0">
                  <a:solidFill>
                    <a:srgbClr val="313131"/>
                  </a:solidFill>
                </a:rPr>
                <a:t>Holding Company</a:t>
              </a:r>
            </a:p>
            <a:p>
              <a:pPr algn="ctr">
                <a:spcBef>
                  <a:spcPts val="600"/>
                </a:spcBef>
                <a:buSzPct val="100000"/>
              </a:pPr>
              <a:r>
                <a:rPr lang="en-US" sz="1100" dirty="0">
                  <a:solidFill>
                    <a:srgbClr val="313131"/>
                  </a:solidFill>
                </a:rPr>
                <a:t>(need to be compliant with governing regulations)</a:t>
              </a:r>
            </a:p>
          </p:txBody>
        </p:sp>
        <p:sp>
          <p:nvSpPr>
            <p:cNvPr id="9" name="TextBox 8"/>
            <p:cNvSpPr txBox="1"/>
            <p:nvPr/>
          </p:nvSpPr>
          <p:spPr>
            <a:xfrm>
              <a:off x="4542298" y="1168330"/>
              <a:ext cx="1781414" cy="521114"/>
            </a:xfrm>
            <a:prstGeom prst="rect">
              <a:avLst/>
            </a:prstGeom>
            <a:noFill/>
          </p:spPr>
          <p:txBody>
            <a:bodyPr wrap="square" lIns="36000" tIns="36000" rIns="36000" bIns="36000" rtlCol="0">
              <a:spAutoFit/>
            </a:bodyPr>
            <a:lstStyle/>
            <a:p>
              <a:pPr algn="ctr">
                <a:spcBef>
                  <a:spcPts val="600"/>
                </a:spcBef>
                <a:buSzPct val="100000"/>
              </a:pPr>
              <a:r>
                <a:rPr lang="en-US" sz="1200" b="1" i="1" dirty="0">
                  <a:solidFill>
                    <a:srgbClr val="313131"/>
                  </a:solidFill>
                </a:rPr>
                <a:t>Future state</a:t>
              </a:r>
            </a:p>
          </p:txBody>
        </p:sp>
        <p:sp>
          <p:nvSpPr>
            <p:cNvPr id="6" name="Striped Right Arrow 5"/>
            <p:cNvSpPr/>
            <p:nvPr/>
          </p:nvSpPr>
          <p:spPr bwMode="gray">
            <a:xfrm>
              <a:off x="2987747" y="2232837"/>
              <a:ext cx="1201479" cy="435935"/>
            </a:xfrm>
            <a:prstGeom prst="stripedRightArrow">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1" name="TextBox 10"/>
            <p:cNvSpPr txBox="1"/>
            <p:nvPr/>
          </p:nvSpPr>
          <p:spPr>
            <a:xfrm>
              <a:off x="2716387" y="1695952"/>
              <a:ext cx="1781414" cy="583433"/>
            </a:xfrm>
            <a:prstGeom prst="rect">
              <a:avLst/>
            </a:prstGeom>
            <a:noFill/>
          </p:spPr>
          <p:txBody>
            <a:bodyPr wrap="square" lIns="36000" tIns="36000" rIns="36000" bIns="36000" rtlCol="0">
              <a:spAutoFit/>
            </a:bodyPr>
            <a:lstStyle/>
            <a:p>
              <a:pPr algn="ctr">
                <a:spcBef>
                  <a:spcPts val="600"/>
                </a:spcBef>
                <a:buSzPct val="100000"/>
              </a:pPr>
              <a:r>
                <a:rPr lang="en-US" sz="1400" b="1" i="1" dirty="0">
                  <a:solidFill>
                    <a:srgbClr val="313131"/>
                  </a:solidFill>
                </a:rPr>
                <a:t>Reform</a:t>
              </a:r>
            </a:p>
          </p:txBody>
        </p:sp>
        <p:sp>
          <p:nvSpPr>
            <p:cNvPr id="12" name="TextBox 11"/>
            <p:cNvSpPr txBox="1"/>
            <p:nvPr/>
          </p:nvSpPr>
          <p:spPr>
            <a:xfrm>
              <a:off x="7060019" y="1243266"/>
              <a:ext cx="2874337" cy="2222061"/>
            </a:xfrm>
            <a:prstGeom prst="rect">
              <a:avLst/>
            </a:prstGeom>
            <a:solidFill>
              <a:schemeClr val="accent1">
                <a:lumMod val="20000"/>
                <a:lumOff val="80000"/>
              </a:schemeClr>
            </a:solidFill>
            <a:ln>
              <a:solidFill>
                <a:schemeClr val="accent1"/>
              </a:solidFill>
            </a:ln>
          </p:spPr>
          <p:txBody>
            <a:bodyPr wrap="square" lIns="36000" tIns="36000" rIns="36000" bIns="36000" rtlCol="0" anchor="ctr">
              <a:noAutofit/>
            </a:bodyPr>
            <a:lstStyle/>
            <a:p>
              <a:pPr>
                <a:spcBef>
                  <a:spcPts val="600"/>
                </a:spcBef>
                <a:buSzPct val="100000"/>
              </a:pPr>
              <a:r>
                <a:rPr lang="en-US" sz="1100" b="1" dirty="0">
                  <a:solidFill>
                    <a:srgbClr val="313131"/>
                  </a:solidFill>
                </a:rPr>
                <a:t>Governing regulations:</a:t>
              </a:r>
            </a:p>
            <a:p>
              <a:pPr marL="171450" indent="-171450">
                <a:spcBef>
                  <a:spcPts val="600"/>
                </a:spcBef>
                <a:buSzPct val="100000"/>
                <a:buFont typeface="Arial" panose="020B0604020202020204" pitchFamily="34" charset="0"/>
                <a:buChar char="•"/>
              </a:pPr>
              <a:r>
                <a:rPr lang="en-US" sz="1100" dirty="0">
                  <a:solidFill>
                    <a:srgbClr val="313131"/>
                  </a:solidFill>
                </a:rPr>
                <a:t>Bangladesh Companies Act</a:t>
              </a:r>
            </a:p>
            <a:p>
              <a:pPr marL="171450" indent="-171450">
                <a:spcBef>
                  <a:spcPts val="600"/>
                </a:spcBef>
                <a:buSzPct val="100000"/>
                <a:buFont typeface="Arial" panose="020B0604020202020204" pitchFamily="34" charset="0"/>
                <a:buChar char="•"/>
              </a:pPr>
              <a:r>
                <a:rPr lang="en-US" sz="1100" dirty="0">
                  <a:solidFill>
                    <a:srgbClr val="313131"/>
                  </a:solidFill>
                </a:rPr>
                <a:t>Bangladesh </a:t>
              </a:r>
              <a:r>
                <a:rPr lang="en-US" sz="1100" dirty="0" err="1">
                  <a:solidFill>
                    <a:srgbClr val="313131"/>
                  </a:solidFill>
                </a:rPr>
                <a:t>Labour</a:t>
              </a:r>
              <a:r>
                <a:rPr lang="en-US" sz="1100" dirty="0">
                  <a:solidFill>
                    <a:srgbClr val="313131"/>
                  </a:solidFill>
                </a:rPr>
                <a:t> Act and Rules</a:t>
              </a:r>
            </a:p>
            <a:p>
              <a:pPr marL="171450" indent="-171450">
                <a:spcBef>
                  <a:spcPts val="600"/>
                </a:spcBef>
                <a:buSzPct val="100000"/>
                <a:buFont typeface="Arial" panose="020B0604020202020204" pitchFamily="34" charset="0"/>
                <a:buChar char="•"/>
              </a:pPr>
              <a:r>
                <a:rPr lang="en-US" sz="1100" dirty="0">
                  <a:solidFill>
                    <a:srgbClr val="313131"/>
                  </a:solidFill>
                </a:rPr>
                <a:t>Other related laws</a:t>
              </a:r>
            </a:p>
          </p:txBody>
        </p:sp>
        <p:sp>
          <p:nvSpPr>
            <p:cNvPr id="10" name="Isosceles Triangle 9"/>
            <p:cNvSpPr/>
            <p:nvPr/>
          </p:nvSpPr>
          <p:spPr bwMode="gray">
            <a:xfrm rot="16200000">
              <a:off x="6369921" y="2313980"/>
              <a:ext cx="979699" cy="202019"/>
            </a:xfrm>
            <a:prstGeom prst="triangle">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3" name="Notched Right Arrow 12"/>
            <p:cNvSpPr/>
            <p:nvPr/>
          </p:nvSpPr>
          <p:spPr bwMode="gray">
            <a:xfrm rot="5400000">
              <a:off x="5153092" y="3155464"/>
              <a:ext cx="578015" cy="510362"/>
            </a:xfrm>
            <a:prstGeom prst="notched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5" name="TextBox 14"/>
            <p:cNvSpPr txBox="1"/>
            <p:nvPr/>
          </p:nvSpPr>
          <p:spPr>
            <a:xfrm>
              <a:off x="3564685" y="3727784"/>
              <a:ext cx="3818617" cy="828873"/>
            </a:xfrm>
            <a:prstGeom prst="rect">
              <a:avLst/>
            </a:prstGeom>
            <a:solidFill>
              <a:schemeClr val="accent3">
                <a:lumMod val="60000"/>
                <a:lumOff val="40000"/>
              </a:schemeClr>
            </a:solidFill>
          </p:spPr>
          <p:txBody>
            <a:bodyPr wrap="square" lIns="36000" tIns="36000" rIns="36000" bIns="36000" rtlCol="0" anchor="ctr">
              <a:noAutofit/>
            </a:bodyPr>
            <a:lstStyle/>
            <a:p>
              <a:pPr algn="ctr">
                <a:spcBef>
                  <a:spcPts val="600"/>
                </a:spcBef>
                <a:buSzPct val="100000"/>
              </a:pPr>
              <a:r>
                <a:rPr lang="en-US" sz="1200" b="1" dirty="0">
                  <a:solidFill>
                    <a:srgbClr val="313131"/>
                  </a:solidFill>
                </a:rPr>
                <a:t>Need for compensation benchmarking with subsidiaries</a:t>
              </a:r>
            </a:p>
          </p:txBody>
        </p:sp>
        <p:sp>
          <p:nvSpPr>
            <p:cNvPr id="16" name="Notched Right Arrow 15"/>
            <p:cNvSpPr/>
            <p:nvPr/>
          </p:nvSpPr>
          <p:spPr bwMode="gray">
            <a:xfrm rot="5400000">
              <a:off x="5153092" y="4596480"/>
              <a:ext cx="578015" cy="510362"/>
            </a:xfrm>
            <a:prstGeom prst="notched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7" name="TextBox 16"/>
            <p:cNvSpPr txBox="1"/>
            <p:nvPr/>
          </p:nvSpPr>
          <p:spPr>
            <a:xfrm>
              <a:off x="1718547" y="5271221"/>
              <a:ext cx="7469758" cy="507970"/>
            </a:xfrm>
            <a:prstGeom prst="rect">
              <a:avLst/>
            </a:prstGeom>
            <a:solidFill>
              <a:srgbClr val="041E42"/>
            </a:solidFill>
          </p:spPr>
          <p:txBody>
            <a:bodyPr wrap="square" lIns="36000" tIns="36000" rIns="36000" bIns="36000" rtlCol="0" anchor="ctr">
              <a:noAutofit/>
            </a:bodyPr>
            <a:lstStyle/>
            <a:p>
              <a:pPr algn="ctr">
                <a:spcBef>
                  <a:spcPts val="600"/>
                </a:spcBef>
                <a:buSzPct val="100000"/>
              </a:pPr>
              <a:r>
                <a:rPr lang="en-US" sz="1200" b="1" dirty="0">
                  <a:solidFill>
                    <a:prstClr val="white"/>
                  </a:solidFill>
                </a:rPr>
                <a:t>Components of compensation benchmarking</a:t>
              </a:r>
            </a:p>
          </p:txBody>
        </p:sp>
        <p:sp>
          <p:nvSpPr>
            <p:cNvPr id="18" name="TextBox 17"/>
            <p:cNvSpPr txBox="1"/>
            <p:nvPr/>
          </p:nvSpPr>
          <p:spPr>
            <a:xfrm>
              <a:off x="1718547" y="5806628"/>
              <a:ext cx="1790194" cy="818094"/>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100" b="1" dirty="0">
                  <a:solidFill>
                    <a:srgbClr val="313131"/>
                  </a:solidFill>
                </a:rPr>
                <a:t>Basic salary</a:t>
              </a:r>
            </a:p>
          </p:txBody>
        </p:sp>
        <p:sp>
          <p:nvSpPr>
            <p:cNvPr id="19" name="TextBox 18"/>
            <p:cNvSpPr txBox="1"/>
            <p:nvPr/>
          </p:nvSpPr>
          <p:spPr>
            <a:xfrm>
              <a:off x="3602704" y="5806628"/>
              <a:ext cx="1790194" cy="818094"/>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100" b="1" dirty="0">
                  <a:solidFill>
                    <a:srgbClr val="313131"/>
                  </a:solidFill>
                </a:rPr>
                <a:t>Perquisites or benefits</a:t>
              </a:r>
            </a:p>
          </p:txBody>
        </p:sp>
        <p:sp>
          <p:nvSpPr>
            <p:cNvPr id="20" name="TextBox 19"/>
            <p:cNvSpPr txBox="1"/>
            <p:nvPr/>
          </p:nvSpPr>
          <p:spPr>
            <a:xfrm>
              <a:off x="5504923" y="5806628"/>
              <a:ext cx="1790194" cy="818094"/>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100" b="1" dirty="0">
                  <a:solidFill>
                    <a:srgbClr val="313131"/>
                  </a:solidFill>
                </a:rPr>
                <a:t>Terminal benefits</a:t>
              </a:r>
            </a:p>
          </p:txBody>
        </p:sp>
        <p:sp>
          <p:nvSpPr>
            <p:cNvPr id="21" name="TextBox 20"/>
            <p:cNvSpPr txBox="1"/>
            <p:nvPr/>
          </p:nvSpPr>
          <p:spPr>
            <a:xfrm>
              <a:off x="7398111" y="5806628"/>
              <a:ext cx="1790194" cy="818094"/>
            </a:xfrm>
            <a:prstGeom prst="rect">
              <a:avLst/>
            </a:prstGeom>
            <a:solidFill>
              <a:schemeClr val="accent3">
                <a:lumMod val="20000"/>
                <a:lumOff val="80000"/>
              </a:schemeClr>
            </a:solidFill>
            <a:ln>
              <a:solidFill>
                <a:srgbClr val="041E42"/>
              </a:solidFill>
            </a:ln>
          </p:spPr>
          <p:txBody>
            <a:bodyPr wrap="square" lIns="36000" tIns="36000" rIns="36000" bIns="36000" rtlCol="0" anchor="ctr">
              <a:noAutofit/>
            </a:bodyPr>
            <a:lstStyle/>
            <a:p>
              <a:pPr algn="ctr">
                <a:spcBef>
                  <a:spcPts val="600"/>
                </a:spcBef>
                <a:buSzPct val="100000"/>
              </a:pPr>
              <a:r>
                <a:rPr lang="en-US" sz="1100" b="1" dirty="0">
                  <a:solidFill>
                    <a:srgbClr val="313131"/>
                  </a:solidFill>
                </a:rPr>
                <a:t>Income Tax liabilities</a:t>
              </a:r>
            </a:p>
          </p:txBody>
        </p:sp>
      </p:grpSp>
      <p:cxnSp>
        <p:nvCxnSpPr>
          <p:cNvPr id="26" name="Straight Connector 25"/>
          <p:cNvCxnSpPr/>
          <p:nvPr/>
        </p:nvCxnSpPr>
        <p:spPr>
          <a:xfrm>
            <a:off x="438633" y="3946777"/>
            <a:ext cx="97036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585157" y="3822835"/>
            <a:ext cx="5590838" cy="257369"/>
          </a:xfrm>
          <a:prstGeom prst="rect">
            <a:avLst/>
          </a:prstGeom>
          <a:solidFill>
            <a:schemeClr val="bg1"/>
          </a:solidFill>
        </p:spPr>
        <p:txBody>
          <a:bodyPr wrap="square" lIns="36000" tIns="36000" rIns="36000" bIns="36000" rtlCol="0">
            <a:spAutoFit/>
          </a:bodyPr>
          <a:lstStyle/>
          <a:p>
            <a:pPr algn="ctr">
              <a:spcBef>
                <a:spcPts val="600"/>
              </a:spcBef>
              <a:buSzPct val="100000"/>
            </a:pPr>
            <a:r>
              <a:rPr lang="en-US" sz="1200" b="1" dirty="0">
                <a:solidFill>
                  <a:srgbClr val="313131"/>
                </a:solidFill>
              </a:rPr>
              <a:t>High-level guiding principles for compensation benchmarking</a:t>
            </a:r>
          </a:p>
        </p:txBody>
      </p:sp>
      <p:graphicFrame>
        <p:nvGraphicFramePr>
          <p:cNvPr id="28" name="Table 27"/>
          <p:cNvGraphicFramePr>
            <a:graphicFrameLocks noGrp="1"/>
          </p:cNvGraphicFramePr>
          <p:nvPr>
            <p:extLst>
              <p:ext uri="{D42A27DB-BD31-4B8C-83A1-F6EECF244321}">
                <p14:modId xmlns:p14="http://schemas.microsoft.com/office/powerpoint/2010/main" val="1007023617"/>
              </p:ext>
            </p:extLst>
          </p:nvPr>
        </p:nvGraphicFramePr>
        <p:xfrm>
          <a:off x="438633" y="4132975"/>
          <a:ext cx="9809052" cy="3201274"/>
        </p:xfrm>
        <a:graphic>
          <a:graphicData uri="http://schemas.openxmlformats.org/drawingml/2006/table">
            <a:tbl>
              <a:tblPr firstCol="1" bandRow="1">
                <a:tableStyleId>{93296810-A885-4BE3-A3E7-6D5BEEA58F35}</a:tableStyleId>
              </a:tblPr>
              <a:tblGrid>
                <a:gridCol w="1599717">
                  <a:extLst>
                    <a:ext uri="{9D8B030D-6E8A-4147-A177-3AD203B41FA5}">
                      <a16:colId xmlns:a16="http://schemas.microsoft.com/office/drawing/2014/main" val="4025134685"/>
                    </a:ext>
                  </a:extLst>
                </a:gridCol>
                <a:gridCol w="8209335">
                  <a:extLst>
                    <a:ext uri="{9D8B030D-6E8A-4147-A177-3AD203B41FA5}">
                      <a16:colId xmlns:a16="http://schemas.microsoft.com/office/drawing/2014/main" val="712968218"/>
                    </a:ext>
                  </a:extLst>
                </a:gridCol>
              </a:tblGrid>
              <a:tr h="278282">
                <a:tc>
                  <a:txBody>
                    <a:bodyPr/>
                    <a:lstStyle/>
                    <a:p>
                      <a:pPr algn="ctr">
                        <a:lnSpc>
                          <a:spcPct val="115000"/>
                        </a:lnSpc>
                        <a:spcBef>
                          <a:spcPts val="600"/>
                        </a:spcBef>
                        <a:spcAft>
                          <a:spcPts val="0"/>
                        </a:spcAft>
                      </a:pPr>
                      <a:r>
                        <a:rPr lang="en-US" sz="1100" b="1" dirty="0">
                          <a:solidFill>
                            <a:schemeClr val="bg1"/>
                          </a:solidFill>
                          <a:effectLst/>
                          <a:latin typeface="+mn-lt"/>
                          <a:ea typeface="Times" panose="02020603050405020304" pitchFamily="18" charset="0"/>
                          <a:cs typeface="Arial" panose="020B0604020202020204" pitchFamily="34" charset="0"/>
                        </a:rPr>
                        <a:t>Salary Component</a:t>
                      </a:r>
                      <a:endParaRPr lang="en-IN" sz="1100" b="1" dirty="0">
                        <a:solidFill>
                          <a:schemeClr val="bg1"/>
                        </a:solidFill>
                        <a:effectLst/>
                        <a:latin typeface="+mn-lt"/>
                        <a:ea typeface="Times" panose="02020603050405020304" pitchFamily="18" charset="0"/>
                        <a:cs typeface="Arial" panose="020B0604020202020204" pitchFamily="34" charset="0"/>
                      </a:endParaRPr>
                    </a:p>
                  </a:txBody>
                  <a:tcPr marL="68580" marR="68580" marT="0" marB="0">
                    <a:solidFill>
                      <a:srgbClr val="92D050"/>
                    </a:solidFill>
                  </a:tcPr>
                </a:tc>
                <a:tc>
                  <a:txBody>
                    <a:bodyPr/>
                    <a:lstStyle/>
                    <a:p>
                      <a:pPr algn="ctr">
                        <a:lnSpc>
                          <a:spcPct val="115000"/>
                        </a:lnSpc>
                        <a:spcBef>
                          <a:spcPts val="600"/>
                        </a:spcBef>
                        <a:spcAft>
                          <a:spcPts val="0"/>
                        </a:spcAft>
                      </a:pPr>
                      <a:r>
                        <a:rPr lang="en-US" sz="1100" b="1" dirty="0">
                          <a:solidFill>
                            <a:schemeClr val="bg1"/>
                          </a:solidFill>
                          <a:effectLst/>
                          <a:latin typeface="+mn-lt"/>
                          <a:ea typeface="Times" panose="02020603050405020304" pitchFamily="18" charset="0"/>
                          <a:cs typeface="Arial" panose="020B0604020202020204" pitchFamily="34" charset="0"/>
                        </a:rPr>
                        <a:t>Guiding Principle for Compensation Benchmarking</a:t>
                      </a:r>
                      <a:endParaRPr lang="en-IN" sz="1100" b="1" dirty="0">
                        <a:solidFill>
                          <a:schemeClr val="bg1"/>
                        </a:solidFill>
                        <a:effectLst/>
                        <a:latin typeface="+mn-lt"/>
                        <a:ea typeface="Times" panose="02020603050405020304" pitchFamily="18" charset="0"/>
                        <a:cs typeface="Arial" panose="020B0604020202020204" pitchFamily="34" charset="0"/>
                      </a:endParaRPr>
                    </a:p>
                  </a:txBody>
                  <a:tcPr marL="36000" marR="36000" marT="36000" marB="36000">
                    <a:solidFill>
                      <a:srgbClr val="92D050"/>
                    </a:solidFill>
                  </a:tcPr>
                </a:tc>
                <a:extLst>
                  <a:ext uri="{0D108BD9-81ED-4DB2-BD59-A6C34878D82A}">
                    <a16:rowId xmlns:a16="http://schemas.microsoft.com/office/drawing/2014/main" val="3569182007"/>
                  </a:ext>
                </a:extLst>
              </a:tr>
              <a:tr h="285406">
                <a:tc>
                  <a:txBody>
                    <a:bodyPr/>
                    <a:lstStyle/>
                    <a:p>
                      <a:pPr algn="l">
                        <a:lnSpc>
                          <a:spcPct val="115000"/>
                        </a:lnSpc>
                        <a:spcBef>
                          <a:spcPts val="600"/>
                        </a:spcBef>
                        <a:spcAft>
                          <a:spcPts val="0"/>
                        </a:spcAft>
                      </a:pPr>
                      <a:r>
                        <a:rPr lang="en-US" sz="1100" dirty="0">
                          <a:solidFill>
                            <a:schemeClr val="tx1"/>
                          </a:solidFill>
                          <a:effectLst/>
                        </a:rPr>
                        <a:t>Basic salary</a:t>
                      </a:r>
                      <a:endParaRPr lang="en-IN" sz="1100" dirty="0">
                        <a:solidFill>
                          <a:schemeClr val="tx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oFill/>
                  </a:tcPr>
                </a:tc>
                <a:tc>
                  <a:txBody>
                    <a:bodyPr/>
                    <a:lstStyle/>
                    <a:p>
                      <a:pPr algn="just">
                        <a:lnSpc>
                          <a:spcPct val="115000"/>
                        </a:lnSpc>
                        <a:spcBef>
                          <a:spcPts val="600"/>
                        </a:spcBef>
                        <a:spcAft>
                          <a:spcPts val="0"/>
                        </a:spcAft>
                      </a:pPr>
                      <a:r>
                        <a:rPr lang="en-US" sz="1100" b="0" dirty="0">
                          <a:effectLst/>
                        </a:rPr>
                        <a:t>The basic salaries respective </a:t>
                      </a:r>
                      <a:r>
                        <a:rPr lang="en-US" sz="1100" dirty="0">
                          <a:effectLst/>
                        </a:rPr>
                        <a:t>grades in the holding company </a:t>
                      </a:r>
                      <a:r>
                        <a:rPr lang="en-US" sz="1100" b="0" dirty="0">
                          <a:effectLst/>
                        </a:rPr>
                        <a:t>need to be made at par with that of its subsidiaries.</a:t>
                      </a:r>
                      <a:endParaRPr lang="en-IN" sz="1100" b="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oFill/>
                  </a:tcPr>
                </a:tc>
                <a:extLst>
                  <a:ext uri="{0D108BD9-81ED-4DB2-BD59-A6C34878D82A}">
                    <a16:rowId xmlns:a16="http://schemas.microsoft.com/office/drawing/2014/main" val="2340316590"/>
                  </a:ext>
                </a:extLst>
              </a:tr>
              <a:tr h="503894">
                <a:tc>
                  <a:txBody>
                    <a:bodyPr/>
                    <a:lstStyle/>
                    <a:p>
                      <a:pPr algn="l">
                        <a:lnSpc>
                          <a:spcPct val="115000"/>
                        </a:lnSpc>
                        <a:spcBef>
                          <a:spcPts val="600"/>
                        </a:spcBef>
                        <a:spcAft>
                          <a:spcPts val="0"/>
                        </a:spcAft>
                      </a:pPr>
                      <a:r>
                        <a:rPr lang="en-US" sz="1100" dirty="0">
                          <a:solidFill>
                            <a:schemeClr val="tx1"/>
                          </a:solidFill>
                          <a:effectLst/>
                        </a:rPr>
                        <a:t>Perquisites or benefits</a:t>
                      </a:r>
                      <a:endParaRPr lang="en-IN" sz="1100" dirty="0">
                        <a:solidFill>
                          <a:schemeClr val="tx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oFill/>
                  </a:tcPr>
                </a:tc>
                <a:tc>
                  <a:txBody>
                    <a:bodyPr/>
                    <a:lstStyle/>
                    <a:p>
                      <a:pPr algn="just">
                        <a:lnSpc>
                          <a:spcPct val="115000"/>
                        </a:lnSpc>
                        <a:spcBef>
                          <a:spcPts val="600"/>
                        </a:spcBef>
                        <a:spcAft>
                          <a:spcPts val="0"/>
                        </a:spcAft>
                      </a:pPr>
                      <a:r>
                        <a:rPr lang="en-US" sz="1100" dirty="0">
                          <a:effectLst/>
                        </a:rPr>
                        <a:t>The different types of perquisites or benefits of respective grades in the holding company needs to be harmonized or aligned with that of its subsidiaries.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oFill/>
                  </a:tcPr>
                </a:tc>
                <a:extLst>
                  <a:ext uri="{0D108BD9-81ED-4DB2-BD59-A6C34878D82A}">
                    <a16:rowId xmlns:a16="http://schemas.microsoft.com/office/drawing/2014/main" val="3072974741"/>
                  </a:ext>
                </a:extLst>
              </a:tr>
              <a:tr h="1418434">
                <a:tc>
                  <a:txBody>
                    <a:bodyPr/>
                    <a:lstStyle/>
                    <a:p>
                      <a:pPr algn="l">
                        <a:lnSpc>
                          <a:spcPct val="115000"/>
                        </a:lnSpc>
                        <a:spcBef>
                          <a:spcPts val="600"/>
                        </a:spcBef>
                        <a:spcAft>
                          <a:spcPts val="0"/>
                        </a:spcAft>
                      </a:pPr>
                      <a:r>
                        <a:rPr lang="en-US" sz="1100" dirty="0">
                          <a:solidFill>
                            <a:schemeClr val="tx1"/>
                          </a:solidFill>
                          <a:effectLst/>
                        </a:rPr>
                        <a:t>Terminal benefits</a:t>
                      </a:r>
                      <a:endParaRPr lang="en-IN" sz="1100" dirty="0">
                        <a:solidFill>
                          <a:schemeClr val="tx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oFill/>
                  </a:tcPr>
                </a:tc>
                <a:tc>
                  <a:txBody>
                    <a:bodyPr/>
                    <a:lstStyle/>
                    <a:p>
                      <a:pPr marL="342900" lvl="0" indent="-342900" algn="just">
                        <a:lnSpc>
                          <a:spcPct val="115000"/>
                        </a:lnSpc>
                        <a:spcBef>
                          <a:spcPts val="600"/>
                        </a:spcBef>
                        <a:spcAft>
                          <a:spcPts val="0"/>
                        </a:spcAft>
                        <a:buFont typeface="Symbol" panose="05050102010706020507" pitchFamily="18" charset="2"/>
                        <a:buChar char=""/>
                      </a:pPr>
                      <a:r>
                        <a:rPr lang="en-US" sz="1100" dirty="0">
                          <a:effectLst/>
                        </a:rPr>
                        <a:t>Holding company</a:t>
                      </a:r>
                      <a:r>
                        <a:rPr lang="en-US" sz="1100" baseline="0" dirty="0">
                          <a:effectLst/>
                        </a:rPr>
                        <a:t> will have to provide gratuity and CPF in compliance to </a:t>
                      </a:r>
                      <a:r>
                        <a:rPr lang="en-US" sz="1100" baseline="0" dirty="0" err="1">
                          <a:effectLst/>
                        </a:rPr>
                        <a:t>Labour</a:t>
                      </a:r>
                      <a:r>
                        <a:rPr lang="en-US" sz="1100" baseline="0" dirty="0">
                          <a:effectLst/>
                        </a:rPr>
                        <a:t> Act and associated rules</a:t>
                      </a:r>
                      <a:endParaRPr lang="en-US" sz="1100" dirty="0">
                        <a:effectLst/>
                      </a:endParaRPr>
                    </a:p>
                    <a:p>
                      <a:pPr marL="342900" lvl="0" indent="-342900" algn="just">
                        <a:lnSpc>
                          <a:spcPct val="115000"/>
                        </a:lnSpc>
                        <a:spcBef>
                          <a:spcPts val="600"/>
                        </a:spcBef>
                        <a:spcAft>
                          <a:spcPts val="0"/>
                        </a:spcAft>
                        <a:buFont typeface="Symbol" panose="05050102010706020507" pitchFamily="18" charset="2"/>
                        <a:buChar char=""/>
                      </a:pPr>
                      <a:r>
                        <a:rPr lang="en-US" sz="1100" baseline="0" dirty="0">
                          <a:effectLst/>
                        </a:rPr>
                        <a:t>An actuarial valuation exercise needs to be conducted to assess the terminal liabilities of the company arising out of existing pension benefits </a:t>
                      </a:r>
                    </a:p>
                    <a:p>
                      <a:pPr marL="342900" lvl="0" indent="-342900" algn="just">
                        <a:lnSpc>
                          <a:spcPct val="115000"/>
                        </a:lnSpc>
                        <a:spcBef>
                          <a:spcPts val="600"/>
                        </a:spcBef>
                        <a:spcAft>
                          <a:spcPts val="0"/>
                        </a:spcAft>
                        <a:buFont typeface="Symbol" panose="05050102010706020507" pitchFamily="18" charset="2"/>
                        <a:buChar char=""/>
                      </a:pPr>
                      <a:r>
                        <a:rPr lang="en-US" sz="1100" baseline="0" dirty="0">
                          <a:effectLst/>
                        </a:rPr>
                        <a:t>Holding company will need to maintain the terminal benefits funds for eligible employees</a:t>
                      </a:r>
                    </a:p>
                    <a:p>
                      <a:pPr marL="342900" lvl="0" indent="-342900" algn="just">
                        <a:lnSpc>
                          <a:spcPct val="115000"/>
                        </a:lnSpc>
                        <a:spcBef>
                          <a:spcPts val="600"/>
                        </a:spcBef>
                        <a:spcAft>
                          <a:spcPts val="0"/>
                        </a:spcAft>
                        <a:buFont typeface="Symbol" panose="05050102010706020507" pitchFamily="18" charset="2"/>
                        <a:buChar char=""/>
                      </a:pPr>
                      <a:r>
                        <a:rPr lang="en-US" sz="1100" baseline="0" dirty="0">
                          <a:effectLst/>
                        </a:rPr>
                        <a:t>The overall terminal benefit outgo of holding company needs to be harmonized with that of its subsidiaries.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oFill/>
                  </a:tcPr>
                </a:tc>
                <a:extLst>
                  <a:ext uri="{0D108BD9-81ED-4DB2-BD59-A6C34878D82A}">
                    <a16:rowId xmlns:a16="http://schemas.microsoft.com/office/drawing/2014/main" val="2633260465"/>
                  </a:ext>
                </a:extLst>
              </a:tr>
              <a:tr h="715258">
                <a:tc>
                  <a:txBody>
                    <a:bodyPr/>
                    <a:lstStyle/>
                    <a:p>
                      <a:pPr algn="l">
                        <a:lnSpc>
                          <a:spcPct val="115000"/>
                        </a:lnSpc>
                        <a:spcBef>
                          <a:spcPts val="600"/>
                        </a:spcBef>
                        <a:spcAft>
                          <a:spcPts val="0"/>
                        </a:spcAft>
                      </a:pPr>
                      <a:r>
                        <a:rPr lang="en-US" sz="1100" dirty="0">
                          <a:solidFill>
                            <a:schemeClr val="tx1"/>
                          </a:solidFill>
                          <a:effectLst/>
                        </a:rPr>
                        <a:t>Income tax</a:t>
                      </a:r>
                      <a:endParaRPr lang="en-IN" sz="1100" dirty="0">
                        <a:solidFill>
                          <a:schemeClr val="tx1"/>
                        </a:solidFill>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oFill/>
                  </a:tcPr>
                </a:tc>
                <a:tc>
                  <a:txBody>
                    <a:bodyPr/>
                    <a:lstStyle/>
                    <a:p>
                      <a:pPr algn="just">
                        <a:lnSpc>
                          <a:spcPct val="115000"/>
                        </a:lnSpc>
                        <a:spcBef>
                          <a:spcPts val="600"/>
                        </a:spcBef>
                        <a:spcAft>
                          <a:spcPts val="0"/>
                        </a:spcAft>
                      </a:pPr>
                      <a:r>
                        <a:rPr lang="en-US" sz="1100" dirty="0">
                          <a:effectLst/>
                        </a:rPr>
                        <a:t>As BPDB is converted to holding company, certain income tax benefits to employees will</a:t>
                      </a:r>
                      <a:r>
                        <a:rPr lang="en-US" sz="1100" baseline="0" dirty="0">
                          <a:effectLst/>
                        </a:rPr>
                        <a:t> no longer be applicable. Hence the </a:t>
                      </a:r>
                      <a:r>
                        <a:rPr lang="en-US" sz="1100" dirty="0">
                          <a:effectLst/>
                        </a:rPr>
                        <a:t>Income tax obligations of the holding</a:t>
                      </a:r>
                      <a:r>
                        <a:rPr lang="en-US" sz="1100" baseline="0" dirty="0">
                          <a:effectLst/>
                        </a:rPr>
                        <a:t> company employees will need to be taken into account while undertaking the compensation benchmarking exercise.</a:t>
                      </a:r>
                      <a:endParaRPr lang="en-US" sz="1100" dirty="0">
                        <a:effectLst/>
                      </a:endParaRPr>
                    </a:p>
                  </a:txBody>
                  <a:tcPr marL="36000" marR="36000" marT="36000" marB="36000">
                    <a:noFill/>
                  </a:tcPr>
                </a:tc>
                <a:extLst>
                  <a:ext uri="{0D108BD9-81ED-4DB2-BD59-A6C34878D82A}">
                    <a16:rowId xmlns:a16="http://schemas.microsoft.com/office/drawing/2014/main" val="193733880"/>
                  </a:ext>
                </a:extLst>
              </a:tr>
            </a:tbl>
          </a:graphicData>
        </a:graphic>
      </p:graphicFrame>
    </p:spTree>
    <p:extLst>
      <p:ext uri="{BB962C8B-B14F-4D97-AF65-F5344CB8AC3E}">
        <p14:creationId xmlns:p14="http://schemas.microsoft.com/office/powerpoint/2010/main" val="1509171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defTabSz="872198"/>
            <a:r>
              <a:rPr lang="en-US" sz="5400" dirty="0">
                <a:solidFill>
                  <a:prstClr val="white"/>
                </a:solidFill>
              </a:rPr>
              <a:t>Proposed Board Governance Model of Holding Company</a:t>
            </a:r>
          </a:p>
        </p:txBody>
      </p:sp>
    </p:spTree>
    <p:extLst>
      <p:ext uri="{BB962C8B-B14F-4D97-AF65-F5344CB8AC3E}">
        <p14:creationId xmlns:p14="http://schemas.microsoft.com/office/powerpoint/2010/main" val="2945460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The Government Vision &amp; Policy along with existing regulations provide the framework for Corporate Governance in Bangladesh</a:t>
            </a:r>
            <a:endParaRPr lang="en-IN" dirty="0"/>
          </a:p>
        </p:txBody>
      </p:sp>
      <p:grpSp>
        <p:nvGrpSpPr>
          <p:cNvPr id="2" name="Group 1"/>
          <p:cNvGrpSpPr/>
          <p:nvPr/>
        </p:nvGrpSpPr>
        <p:grpSpPr>
          <a:xfrm>
            <a:off x="439792" y="1568182"/>
            <a:ext cx="9785951" cy="5734931"/>
            <a:chOff x="439792" y="2270178"/>
            <a:chExt cx="9785951" cy="5032935"/>
          </a:xfrm>
        </p:grpSpPr>
        <p:sp>
          <p:nvSpPr>
            <p:cNvPr id="7" name="Freeform 6"/>
            <p:cNvSpPr/>
            <p:nvPr/>
          </p:nvSpPr>
          <p:spPr>
            <a:xfrm>
              <a:off x="439792" y="2521098"/>
              <a:ext cx="9785951" cy="2088450"/>
            </a:xfrm>
            <a:custGeom>
              <a:avLst/>
              <a:gdLst>
                <a:gd name="connsiteX0" fmla="*/ 0 w 9785951"/>
                <a:gd name="connsiteY0" fmla="*/ 0 h 2088450"/>
                <a:gd name="connsiteX1" fmla="*/ 9785951 w 9785951"/>
                <a:gd name="connsiteY1" fmla="*/ 0 h 2088450"/>
                <a:gd name="connsiteX2" fmla="*/ 9785951 w 9785951"/>
                <a:gd name="connsiteY2" fmla="*/ 2088450 h 2088450"/>
                <a:gd name="connsiteX3" fmla="*/ 0 w 9785951"/>
                <a:gd name="connsiteY3" fmla="*/ 2088450 h 2088450"/>
                <a:gd name="connsiteX4" fmla="*/ 0 w 9785951"/>
                <a:gd name="connsiteY4" fmla="*/ 0 h 2088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5951" h="2088450">
                  <a:moveTo>
                    <a:pt x="0" y="0"/>
                  </a:moveTo>
                  <a:lnTo>
                    <a:pt x="9785951" y="0"/>
                  </a:lnTo>
                  <a:lnTo>
                    <a:pt x="9785951" y="2088450"/>
                  </a:lnTo>
                  <a:lnTo>
                    <a:pt x="0" y="2088450"/>
                  </a:lnTo>
                  <a:lnTo>
                    <a:pt x="0" y="0"/>
                  </a:lnTo>
                  <a:close/>
                </a:path>
              </a:pathLst>
            </a:custGeom>
          </p:spPr>
          <p:style>
            <a:lnRef idx="2">
              <a:schemeClr val="accent2">
                <a:hueOff val="1027821"/>
                <a:satOff val="-7055"/>
                <a:lumOff val="14184"/>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59499" tIns="354076" rIns="759499" bIns="120904" numCol="1" spcCol="1270" anchor="t" anchorCtr="0">
              <a:noAutofit/>
            </a:bodyPr>
            <a:lstStyle/>
            <a:p>
              <a:pPr marL="171450" lvl="1" indent="-171450" algn="l" defTabSz="755650">
                <a:lnSpc>
                  <a:spcPct val="150000"/>
                </a:lnSpc>
                <a:spcBef>
                  <a:spcPts val="600"/>
                </a:spcBef>
                <a:buChar char="••"/>
              </a:pPr>
              <a:r>
                <a:rPr lang="en-US" sz="1400" kern="1200" dirty="0"/>
                <a:t>Government to appoint Board of Directors of the proposed entities</a:t>
              </a:r>
              <a:endParaRPr lang="en-IN" sz="1400" kern="1200" dirty="0"/>
            </a:p>
            <a:p>
              <a:pPr marL="171450" lvl="1" indent="-171450" algn="l" defTabSz="755650">
                <a:lnSpc>
                  <a:spcPct val="150000"/>
                </a:lnSpc>
                <a:spcBef>
                  <a:spcPts val="600"/>
                </a:spcBef>
                <a:buChar char="••"/>
              </a:pPr>
              <a:r>
                <a:rPr lang="en-US" sz="1400" kern="1200" dirty="0"/>
                <a:t>Majority of Board of Directors to be from various interest group outside Government</a:t>
              </a:r>
              <a:endParaRPr lang="en-IN" sz="1400" kern="1200" dirty="0"/>
            </a:p>
            <a:p>
              <a:pPr marL="171450" lvl="1" indent="-171450" algn="l" defTabSz="755650">
                <a:lnSpc>
                  <a:spcPct val="150000"/>
                </a:lnSpc>
                <a:spcBef>
                  <a:spcPts val="600"/>
                </a:spcBef>
                <a:buChar char="••"/>
              </a:pPr>
              <a:r>
                <a:rPr lang="en-US" sz="1400" kern="1200" dirty="0"/>
                <a:t>Government control via nominated directors</a:t>
              </a:r>
              <a:endParaRPr lang="en-IN" sz="1400" kern="1200" dirty="0"/>
            </a:p>
            <a:p>
              <a:pPr marL="171450" lvl="1" indent="-171450" algn="l" defTabSz="755650">
                <a:lnSpc>
                  <a:spcPct val="150000"/>
                </a:lnSpc>
                <a:spcBef>
                  <a:spcPts val="600"/>
                </a:spcBef>
                <a:buChar char="••"/>
              </a:pPr>
              <a:r>
                <a:rPr lang="en-US" sz="1400" kern="1200" dirty="0"/>
                <a:t>Separation of position of Chairman of Board &amp; CEO</a:t>
              </a:r>
              <a:endParaRPr lang="en-IN" sz="1400" kern="1200" dirty="0"/>
            </a:p>
            <a:p>
              <a:pPr marL="171450" lvl="1" indent="-171450" algn="l" defTabSz="755650">
                <a:lnSpc>
                  <a:spcPct val="150000"/>
                </a:lnSpc>
                <a:spcBef>
                  <a:spcPts val="600"/>
                </a:spcBef>
                <a:buChar char="••"/>
              </a:pPr>
              <a:r>
                <a:rPr lang="en-US" sz="1400" kern="1200" dirty="0"/>
                <a:t>Employee interests to be protected by Government</a:t>
              </a:r>
              <a:endParaRPr lang="en-IN" sz="1400" kern="1200" dirty="0"/>
            </a:p>
          </p:txBody>
        </p:sp>
        <p:sp>
          <p:nvSpPr>
            <p:cNvPr id="10" name="Freeform 9"/>
            <p:cNvSpPr/>
            <p:nvPr/>
          </p:nvSpPr>
          <p:spPr>
            <a:xfrm>
              <a:off x="929089" y="2270178"/>
              <a:ext cx="6850165" cy="501840"/>
            </a:xfrm>
            <a:custGeom>
              <a:avLst/>
              <a:gdLst>
                <a:gd name="connsiteX0" fmla="*/ 0 w 6850165"/>
                <a:gd name="connsiteY0" fmla="*/ 83642 h 501840"/>
                <a:gd name="connsiteX1" fmla="*/ 83642 w 6850165"/>
                <a:gd name="connsiteY1" fmla="*/ 0 h 501840"/>
                <a:gd name="connsiteX2" fmla="*/ 6766523 w 6850165"/>
                <a:gd name="connsiteY2" fmla="*/ 0 h 501840"/>
                <a:gd name="connsiteX3" fmla="*/ 6850165 w 6850165"/>
                <a:gd name="connsiteY3" fmla="*/ 83642 h 501840"/>
                <a:gd name="connsiteX4" fmla="*/ 6850165 w 6850165"/>
                <a:gd name="connsiteY4" fmla="*/ 418198 h 501840"/>
                <a:gd name="connsiteX5" fmla="*/ 6766523 w 6850165"/>
                <a:gd name="connsiteY5" fmla="*/ 501840 h 501840"/>
                <a:gd name="connsiteX6" fmla="*/ 83642 w 6850165"/>
                <a:gd name="connsiteY6" fmla="*/ 501840 h 501840"/>
                <a:gd name="connsiteX7" fmla="*/ 0 w 6850165"/>
                <a:gd name="connsiteY7" fmla="*/ 418198 h 501840"/>
                <a:gd name="connsiteX8" fmla="*/ 0 w 6850165"/>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0165" h="501840">
                  <a:moveTo>
                    <a:pt x="0" y="83642"/>
                  </a:moveTo>
                  <a:cubicBezTo>
                    <a:pt x="0" y="37448"/>
                    <a:pt x="37448" y="0"/>
                    <a:pt x="83642" y="0"/>
                  </a:cubicBezTo>
                  <a:lnTo>
                    <a:pt x="6766523" y="0"/>
                  </a:lnTo>
                  <a:cubicBezTo>
                    <a:pt x="6812717" y="0"/>
                    <a:pt x="6850165" y="37448"/>
                    <a:pt x="6850165" y="83642"/>
                  </a:cubicBezTo>
                  <a:lnTo>
                    <a:pt x="6850165" y="418198"/>
                  </a:lnTo>
                  <a:cubicBezTo>
                    <a:pt x="6850165" y="464392"/>
                    <a:pt x="6812717" y="501840"/>
                    <a:pt x="6766523" y="501840"/>
                  </a:cubicBezTo>
                  <a:lnTo>
                    <a:pt x="83642" y="501840"/>
                  </a:lnTo>
                  <a:cubicBezTo>
                    <a:pt x="37448" y="501840"/>
                    <a:pt x="0" y="464392"/>
                    <a:pt x="0" y="418198"/>
                  </a:cubicBezTo>
                  <a:lnTo>
                    <a:pt x="0" y="83642"/>
                  </a:lnTo>
                  <a:close/>
                </a:path>
              </a:pathLst>
            </a:custGeom>
          </p:spPr>
          <p:style>
            <a:lnRef idx="2">
              <a:schemeClr val="lt1">
                <a:hueOff val="0"/>
                <a:satOff val="0"/>
                <a:lumOff val="0"/>
                <a:alphaOff val="0"/>
              </a:schemeClr>
            </a:lnRef>
            <a:fillRef idx="1">
              <a:schemeClr val="accent2">
                <a:hueOff val="1027821"/>
                <a:satOff val="-7055"/>
                <a:lumOff val="14184"/>
                <a:alphaOff val="0"/>
              </a:schemeClr>
            </a:fillRef>
            <a:effectRef idx="0">
              <a:schemeClr val="accent2">
                <a:hueOff val="1027821"/>
                <a:satOff val="-7055"/>
                <a:lumOff val="14184"/>
                <a:alphaOff val="0"/>
              </a:schemeClr>
            </a:effectRef>
            <a:fontRef idx="minor">
              <a:schemeClr val="lt1"/>
            </a:fontRef>
          </p:style>
          <p:txBody>
            <a:bodyPr spcFirstLastPara="0" vert="horz" wrap="square" lIns="283418" tIns="24498" rIns="283418" bIns="24498" numCol="1" spcCol="1270" anchor="ctr" anchorCtr="0">
              <a:noAutofit/>
            </a:bodyPr>
            <a:lstStyle/>
            <a:p>
              <a:pPr lvl="0" algn="l" defTabSz="755650">
                <a:lnSpc>
                  <a:spcPct val="90000"/>
                </a:lnSpc>
                <a:spcBef>
                  <a:spcPct val="0"/>
                </a:spcBef>
                <a:spcAft>
                  <a:spcPct val="35000"/>
                </a:spcAft>
              </a:pPr>
              <a:r>
                <a:rPr lang="en-US" sz="1400" kern="1200" dirty="0"/>
                <a:t>National Energy Policy, 2004</a:t>
              </a:r>
              <a:endParaRPr lang="en-IN" sz="1400" kern="1200" dirty="0"/>
            </a:p>
          </p:txBody>
        </p:sp>
        <p:sp>
          <p:nvSpPr>
            <p:cNvPr id="11" name="Freeform 10"/>
            <p:cNvSpPr/>
            <p:nvPr/>
          </p:nvSpPr>
          <p:spPr>
            <a:xfrm>
              <a:off x="439792" y="4952268"/>
              <a:ext cx="9785951" cy="1285200"/>
            </a:xfrm>
            <a:custGeom>
              <a:avLst/>
              <a:gdLst>
                <a:gd name="connsiteX0" fmla="*/ 0 w 9785951"/>
                <a:gd name="connsiteY0" fmla="*/ 0 h 1285200"/>
                <a:gd name="connsiteX1" fmla="*/ 9785951 w 9785951"/>
                <a:gd name="connsiteY1" fmla="*/ 0 h 1285200"/>
                <a:gd name="connsiteX2" fmla="*/ 9785951 w 9785951"/>
                <a:gd name="connsiteY2" fmla="*/ 1285200 h 1285200"/>
                <a:gd name="connsiteX3" fmla="*/ 0 w 9785951"/>
                <a:gd name="connsiteY3" fmla="*/ 1285200 h 1285200"/>
                <a:gd name="connsiteX4" fmla="*/ 0 w 9785951"/>
                <a:gd name="connsiteY4" fmla="*/ 0 h 128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5951" h="1285200">
                  <a:moveTo>
                    <a:pt x="0" y="0"/>
                  </a:moveTo>
                  <a:lnTo>
                    <a:pt x="9785951" y="0"/>
                  </a:lnTo>
                  <a:lnTo>
                    <a:pt x="9785951" y="1285200"/>
                  </a:lnTo>
                  <a:lnTo>
                    <a:pt x="0" y="1285200"/>
                  </a:lnTo>
                  <a:lnTo>
                    <a:pt x="0" y="0"/>
                  </a:lnTo>
                  <a:close/>
                </a:path>
              </a:pathLst>
            </a:custGeom>
          </p:spPr>
          <p:style>
            <a:lnRef idx="2">
              <a:schemeClr val="accent2">
                <a:hueOff val="2055642"/>
                <a:satOff val="-14111"/>
                <a:lumOff val="2836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59499" tIns="354076" rIns="759499" bIns="120904" numCol="1" spcCol="1270" anchor="t" anchorCtr="0">
              <a:noAutofit/>
            </a:bodyPr>
            <a:lstStyle/>
            <a:p>
              <a:pPr marL="171450" lvl="1" indent="-171450" defTabSz="755650">
                <a:lnSpc>
                  <a:spcPct val="150000"/>
                </a:lnSpc>
                <a:spcBef>
                  <a:spcPts val="600"/>
                </a:spcBef>
                <a:buChar char="••"/>
              </a:pPr>
              <a:r>
                <a:rPr lang="en-US" sz="1400" dirty="0"/>
                <a:t>Board membership to be within 7-15 members</a:t>
              </a:r>
              <a:endParaRPr lang="en-IN" sz="1400" dirty="0"/>
            </a:p>
            <a:p>
              <a:pPr marL="171450" lvl="1" indent="-171450" defTabSz="755650">
                <a:lnSpc>
                  <a:spcPct val="150000"/>
                </a:lnSpc>
                <a:spcBef>
                  <a:spcPts val="600"/>
                </a:spcBef>
                <a:buChar char="••"/>
              </a:pPr>
              <a:r>
                <a:rPr lang="en-US" sz="1400" dirty="0"/>
                <a:t>Majority of Board to be non-executive &amp; independent directors</a:t>
              </a:r>
              <a:endParaRPr lang="en-IN" sz="1400" dirty="0"/>
            </a:p>
            <a:p>
              <a:pPr marL="171450" lvl="1" indent="-171450" defTabSz="755650">
                <a:lnSpc>
                  <a:spcPct val="150000"/>
                </a:lnSpc>
                <a:spcBef>
                  <a:spcPts val="600"/>
                </a:spcBef>
                <a:buChar char="••"/>
              </a:pPr>
              <a:r>
                <a:rPr lang="en-US" sz="1400" dirty="0"/>
                <a:t>Audit &amp; Remuneration Committee to be formed</a:t>
              </a:r>
              <a:endParaRPr lang="en-IN" sz="1400" dirty="0"/>
            </a:p>
          </p:txBody>
        </p:sp>
        <p:sp>
          <p:nvSpPr>
            <p:cNvPr id="12" name="Freeform 11"/>
            <p:cNvSpPr/>
            <p:nvPr/>
          </p:nvSpPr>
          <p:spPr>
            <a:xfrm>
              <a:off x="929089" y="4701348"/>
              <a:ext cx="6850165" cy="501840"/>
            </a:xfrm>
            <a:custGeom>
              <a:avLst/>
              <a:gdLst>
                <a:gd name="connsiteX0" fmla="*/ 0 w 6850165"/>
                <a:gd name="connsiteY0" fmla="*/ 83642 h 501840"/>
                <a:gd name="connsiteX1" fmla="*/ 83642 w 6850165"/>
                <a:gd name="connsiteY1" fmla="*/ 0 h 501840"/>
                <a:gd name="connsiteX2" fmla="*/ 6766523 w 6850165"/>
                <a:gd name="connsiteY2" fmla="*/ 0 h 501840"/>
                <a:gd name="connsiteX3" fmla="*/ 6850165 w 6850165"/>
                <a:gd name="connsiteY3" fmla="*/ 83642 h 501840"/>
                <a:gd name="connsiteX4" fmla="*/ 6850165 w 6850165"/>
                <a:gd name="connsiteY4" fmla="*/ 418198 h 501840"/>
                <a:gd name="connsiteX5" fmla="*/ 6766523 w 6850165"/>
                <a:gd name="connsiteY5" fmla="*/ 501840 h 501840"/>
                <a:gd name="connsiteX6" fmla="*/ 83642 w 6850165"/>
                <a:gd name="connsiteY6" fmla="*/ 501840 h 501840"/>
                <a:gd name="connsiteX7" fmla="*/ 0 w 6850165"/>
                <a:gd name="connsiteY7" fmla="*/ 418198 h 501840"/>
                <a:gd name="connsiteX8" fmla="*/ 0 w 6850165"/>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0165" h="501840">
                  <a:moveTo>
                    <a:pt x="0" y="83642"/>
                  </a:moveTo>
                  <a:cubicBezTo>
                    <a:pt x="0" y="37448"/>
                    <a:pt x="37448" y="0"/>
                    <a:pt x="83642" y="0"/>
                  </a:cubicBezTo>
                  <a:lnTo>
                    <a:pt x="6766523" y="0"/>
                  </a:lnTo>
                  <a:cubicBezTo>
                    <a:pt x="6812717" y="0"/>
                    <a:pt x="6850165" y="37448"/>
                    <a:pt x="6850165" y="83642"/>
                  </a:cubicBezTo>
                  <a:lnTo>
                    <a:pt x="6850165" y="418198"/>
                  </a:lnTo>
                  <a:cubicBezTo>
                    <a:pt x="6850165" y="464392"/>
                    <a:pt x="6812717" y="501840"/>
                    <a:pt x="6766523" y="501840"/>
                  </a:cubicBezTo>
                  <a:lnTo>
                    <a:pt x="83642" y="501840"/>
                  </a:lnTo>
                  <a:cubicBezTo>
                    <a:pt x="37448" y="501840"/>
                    <a:pt x="0" y="464392"/>
                    <a:pt x="0" y="418198"/>
                  </a:cubicBezTo>
                  <a:lnTo>
                    <a:pt x="0" y="83642"/>
                  </a:lnTo>
                  <a:close/>
                </a:path>
              </a:pathLst>
            </a:custGeom>
          </p:spPr>
          <p:style>
            <a:lnRef idx="2">
              <a:schemeClr val="lt1">
                <a:hueOff val="0"/>
                <a:satOff val="0"/>
                <a:lumOff val="0"/>
                <a:alphaOff val="0"/>
              </a:schemeClr>
            </a:lnRef>
            <a:fillRef idx="1">
              <a:schemeClr val="accent2">
                <a:hueOff val="2055642"/>
                <a:satOff val="-14111"/>
                <a:lumOff val="28368"/>
                <a:alphaOff val="0"/>
              </a:schemeClr>
            </a:fillRef>
            <a:effectRef idx="0">
              <a:schemeClr val="accent2">
                <a:hueOff val="2055642"/>
                <a:satOff val="-14111"/>
                <a:lumOff val="28368"/>
                <a:alphaOff val="0"/>
              </a:schemeClr>
            </a:effectRef>
            <a:fontRef idx="minor">
              <a:schemeClr val="lt1"/>
            </a:fontRef>
          </p:style>
          <p:txBody>
            <a:bodyPr spcFirstLastPara="0" vert="horz" wrap="square" lIns="283418" tIns="24498" rIns="283418" bIns="24498" numCol="1" spcCol="1270" anchor="ctr" anchorCtr="0">
              <a:noAutofit/>
            </a:bodyPr>
            <a:lstStyle/>
            <a:p>
              <a:pPr lvl="0" algn="l" defTabSz="755650">
                <a:lnSpc>
                  <a:spcPct val="90000"/>
                </a:lnSpc>
                <a:spcBef>
                  <a:spcPct val="0"/>
                </a:spcBef>
                <a:spcAft>
                  <a:spcPct val="35000"/>
                </a:spcAft>
              </a:pPr>
              <a:r>
                <a:rPr lang="en-US" sz="1400" kern="1200" dirty="0"/>
                <a:t>Bangladesh Corporate Governance Code, 2004</a:t>
              </a:r>
              <a:endParaRPr lang="en-IN" sz="1400" kern="1200" dirty="0"/>
            </a:p>
          </p:txBody>
        </p:sp>
        <p:sp>
          <p:nvSpPr>
            <p:cNvPr id="13" name="Freeform 12"/>
            <p:cNvSpPr/>
            <p:nvPr/>
          </p:nvSpPr>
          <p:spPr>
            <a:xfrm>
              <a:off x="439792" y="6580188"/>
              <a:ext cx="9785951" cy="722925"/>
            </a:xfrm>
            <a:custGeom>
              <a:avLst/>
              <a:gdLst>
                <a:gd name="connsiteX0" fmla="*/ 0 w 9785951"/>
                <a:gd name="connsiteY0" fmla="*/ 0 h 722925"/>
                <a:gd name="connsiteX1" fmla="*/ 9785951 w 9785951"/>
                <a:gd name="connsiteY1" fmla="*/ 0 h 722925"/>
                <a:gd name="connsiteX2" fmla="*/ 9785951 w 9785951"/>
                <a:gd name="connsiteY2" fmla="*/ 722925 h 722925"/>
                <a:gd name="connsiteX3" fmla="*/ 0 w 9785951"/>
                <a:gd name="connsiteY3" fmla="*/ 722925 h 722925"/>
                <a:gd name="connsiteX4" fmla="*/ 0 w 9785951"/>
                <a:gd name="connsiteY4" fmla="*/ 0 h 722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85951" h="722925">
                  <a:moveTo>
                    <a:pt x="0" y="0"/>
                  </a:moveTo>
                  <a:lnTo>
                    <a:pt x="9785951" y="0"/>
                  </a:lnTo>
                  <a:lnTo>
                    <a:pt x="9785951" y="722925"/>
                  </a:lnTo>
                  <a:lnTo>
                    <a:pt x="0" y="722925"/>
                  </a:lnTo>
                  <a:lnTo>
                    <a:pt x="0" y="0"/>
                  </a:lnTo>
                  <a:close/>
                </a:path>
              </a:pathLst>
            </a:custGeom>
          </p:spPr>
          <p:style>
            <a:lnRef idx="2">
              <a:schemeClr val="accent2">
                <a:hueOff val="3083462"/>
                <a:satOff val="-21166"/>
                <a:lumOff val="4255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59499" tIns="354076" rIns="759499" bIns="120904" numCol="1" spcCol="1270" anchor="t" anchorCtr="0">
              <a:noAutofit/>
            </a:bodyPr>
            <a:lstStyle/>
            <a:p>
              <a:pPr marL="171450" lvl="1" indent="-171450" defTabSz="755650">
                <a:lnSpc>
                  <a:spcPct val="150000"/>
                </a:lnSpc>
                <a:spcBef>
                  <a:spcPts val="600"/>
                </a:spcBef>
                <a:spcAft>
                  <a:spcPct val="15000"/>
                </a:spcAft>
                <a:buChar char="••"/>
              </a:pPr>
              <a:r>
                <a:rPr lang="en-US" sz="1400" dirty="0"/>
                <a:t>Public companies to have at least 3 directors</a:t>
              </a:r>
              <a:endParaRPr lang="en-IN" sz="1400" dirty="0"/>
            </a:p>
          </p:txBody>
        </p:sp>
        <p:sp>
          <p:nvSpPr>
            <p:cNvPr id="14" name="Freeform 13"/>
            <p:cNvSpPr/>
            <p:nvPr/>
          </p:nvSpPr>
          <p:spPr>
            <a:xfrm>
              <a:off x="929089" y="6329269"/>
              <a:ext cx="6850165" cy="501840"/>
            </a:xfrm>
            <a:custGeom>
              <a:avLst/>
              <a:gdLst>
                <a:gd name="connsiteX0" fmla="*/ 0 w 6850165"/>
                <a:gd name="connsiteY0" fmla="*/ 83642 h 501840"/>
                <a:gd name="connsiteX1" fmla="*/ 83642 w 6850165"/>
                <a:gd name="connsiteY1" fmla="*/ 0 h 501840"/>
                <a:gd name="connsiteX2" fmla="*/ 6766523 w 6850165"/>
                <a:gd name="connsiteY2" fmla="*/ 0 h 501840"/>
                <a:gd name="connsiteX3" fmla="*/ 6850165 w 6850165"/>
                <a:gd name="connsiteY3" fmla="*/ 83642 h 501840"/>
                <a:gd name="connsiteX4" fmla="*/ 6850165 w 6850165"/>
                <a:gd name="connsiteY4" fmla="*/ 418198 h 501840"/>
                <a:gd name="connsiteX5" fmla="*/ 6766523 w 6850165"/>
                <a:gd name="connsiteY5" fmla="*/ 501840 h 501840"/>
                <a:gd name="connsiteX6" fmla="*/ 83642 w 6850165"/>
                <a:gd name="connsiteY6" fmla="*/ 501840 h 501840"/>
                <a:gd name="connsiteX7" fmla="*/ 0 w 6850165"/>
                <a:gd name="connsiteY7" fmla="*/ 418198 h 501840"/>
                <a:gd name="connsiteX8" fmla="*/ 0 w 6850165"/>
                <a:gd name="connsiteY8" fmla="*/ 83642 h 50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0165" h="501840">
                  <a:moveTo>
                    <a:pt x="0" y="83642"/>
                  </a:moveTo>
                  <a:cubicBezTo>
                    <a:pt x="0" y="37448"/>
                    <a:pt x="37448" y="0"/>
                    <a:pt x="83642" y="0"/>
                  </a:cubicBezTo>
                  <a:lnTo>
                    <a:pt x="6766523" y="0"/>
                  </a:lnTo>
                  <a:cubicBezTo>
                    <a:pt x="6812717" y="0"/>
                    <a:pt x="6850165" y="37448"/>
                    <a:pt x="6850165" y="83642"/>
                  </a:cubicBezTo>
                  <a:lnTo>
                    <a:pt x="6850165" y="418198"/>
                  </a:lnTo>
                  <a:cubicBezTo>
                    <a:pt x="6850165" y="464392"/>
                    <a:pt x="6812717" y="501840"/>
                    <a:pt x="6766523" y="501840"/>
                  </a:cubicBezTo>
                  <a:lnTo>
                    <a:pt x="83642" y="501840"/>
                  </a:lnTo>
                  <a:cubicBezTo>
                    <a:pt x="37448" y="501840"/>
                    <a:pt x="0" y="464392"/>
                    <a:pt x="0" y="418198"/>
                  </a:cubicBezTo>
                  <a:lnTo>
                    <a:pt x="0" y="83642"/>
                  </a:lnTo>
                  <a:close/>
                </a:path>
              </a:pathLst>
            </a:custGeom>
          </p:spPr>
          <p:style>
            <a:lnRef idx="2">
              <a:schemeClr val="lt1">
                <a:hueOff val="0"/>
                <a:satOff val="0"/>
                <a:lumOff val="0"/>
                <a:alphaOff val="0"/>
              </a:schemeClr>
            </a:lnRef>
            <a:fillRef idx="1">
              <a:schemeClr val="accent2">
                <a:hueOff val="3083462"/>
                <a:satOff val="-21166"/>
                <a:lumOff val="42552"/>
                <a:alphaOff val="0"/>
              </a:schemeClr>
            </a:fillRef>
            <a:effectRef idx="0">
              <a:schemeClr val="accent2">
                <a:hueOff val="3083462"/>
                <a:satOff val="-21166"/>
                <a:lumOff val="42552"/>
                <a:alphaOff val="0"/>
              </a:schemeClr>
            </a:effectRef>
            <a:fontRef idx="minor">
              <a:schemeClr val="lt1"/>
            </a:fontRef>
          </p:style>
          <p:txBody>
            <a:bodyPr spcFirstLastPara="0" vert="horz" wrap="square" lIns="283418" tIns="24498" rIns="283418" bIns="24498" numCol="1" spcCol="1270" anchor="ctr" anchorCtr="0">
              <a:noAutofit/>
            </a:bodyPr>
            <a:lstStyle/>
            <a:p>
              <a:pPr lvl="0" algn="l" defTabSz="755650">
                <a:lnSpc>
                  <a:spcPct val="90000"/>
                </a:lnSpc>
                <a:spcBef>
                  <a:spcPct val="0"/>
                </a:spcBef>
                <a:spcAft>
                  <a:spcPct val="35000"/>
                </a:spcAft>
              </a:pPr>
              <a:r>
                <a:rPr lang="en-US" sz="1400" kern="1200" dirty="0"/>
                <a:t>Companies Act, 1994</a:t>
              </a:r>
              <a:endParaRPr lang="en-IN" sz="1400" kern="1200" dirty="0"/>
            </a:p>
          </p:txBody>
        </p:sp>
      </p:grpSp>
      <p:cxnSp>
        <p:nvCxnSpPr>
          <p:cNvPr id="8" name="Straight Connector 7"/>
          <p:cNvCxnSpPr/>
          <p:nvPr/>
        </p:nvCxnSpPr>
        <p:spPr>
          <a:xfrm>
            <a:off x="439793" y="1244182"/>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656473" y="1132375"/>
            <a:ext cx="5629873" cy="324000"/>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Key Corporate Governance Guidelines in Bangladesh</a:t>
            </a:r>
            <a:endParaRPr lang="en-IN" sz="1400" b="1" dirty="0">
              <a:solidFill>
                <a:srgbClr val="313131"/>
              </a:solidFill>
            </a:endParaRPr>
          </a:p>
        </p:txBody>
      </p:sp>
    </p:spTree>
    <p:extLst>
      <p:ext uri="{BB962C8B-B14F-4D97-AF65-F5344CB8AC3E}">
        <p14:creationId xmlns:p14="http://schemas.microsoft.com/office/powerpoint/2010/main" val="245900700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24803" y="1330289"/>
            <a:ext cx="473774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47298" y="1161012"/>
            <a:ext cx="3907745" cy="369332"/>
          </a:xfrm>
          <a:prstGeom prst="rect">
            <a:avLst/>
          </a:prstGeom>
          <a:solidFill>
            <a:schemeClr val="bg1"/>
          </a:solidFill>
        </p:spPr>
        <p:txBody>
          <a:bodyPr wrap="square" lIns="0" tIns="0" rIns="0" bIns="0" rtlCol="0">
            <a:spAutoFit/>
          </a:bodyPr>
          <a:lstStyle/>
          <a:p>
            <a:pPr algn="ctr">
              <a:buSzPct val="100000"/>
            </a:pPr>
            <a:r>
              <a:rPr lang="en-US" sz="1200" b="1" dirty="0">
                <a:solidFill>
                  <a:srgbClr val="313131"/>
                </a:solidFill>
              </a:rPr>
              <a:t>Key Board Governance Practice in Public Power Sector Enterprises in Bangladesh</a:t>
            </a:r>
            <a:endParaRPr lang="en-IN" sz="1200" b="1" dirty="0">
              <a:solidFill>
                <a:srgbClr val="313131"/>
              </a:solidFill>
            </a:endParaRPr>
          </a:p>
        </p:txBody>
      </p:sp>
      <p:cxnSp>
        <p:nvCxnSpPr>
          <p:cNvPr id="9" name="Straight Connector 8"/>
          <p:cNvCxnSpPr/>
          <p:nvPr/>
        </p:nvCxnSpPr>
        <p:spPr>
          <a:xfrm>
            <a:off x="5332768" y="1257300"/>
            <a:ext cx="0" cy="59055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itle 2"/>
          <p:cNvSpPr>
            <a:spLocks noGrp="1"/>
          </p:cNvSpPr>
          <p:nvPr>
            <p:ph type="title"/>
          </p:nvPr>
        </p:nvSpPr>
        <p:spPr>
          <a:xfrm>
            <a:off x="439793" y="350131"/>
            <a:ext cx="9785951" cy="368439"/>
          </a:xfrm>
        </p:spPr>
        <p:txBody>
          <a:bodyPr/>
          <a:lstStyle/>
          <a:p>
            <a:r>
              <a:rPr lang="en-US" b="1" dirty="0"/>
              <a:t>Key board governance practices followed in power sectors in Bangladesh and globally</a:t>
            </a:r>
            <a:endParaRPr lang="en-IN" dirty="0"/>
          </a:p>
        </p:txBody>
      </p:sp>
      <p:sp>
        <p:nvSpPr>
          <p:cNvPr id="14" name="TextBox 13"/>
          <p:cNvSpPr txBox="1"/>
          <p:nvPr/>
        </p:nvSpPr>
        <p:spPr>
          <a:xfrm>
            <a:off x="795465" y="4279404"/>
            <a:ext cx="4367085" cy="353943"/>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100" b="1" dirty="0">
                <a:solidFill>
                  <a:prstClr val="black"/>
                </a:solidFill>
                <a:ea typeface="Arial" panose="020B0604020202020204" pitchFamily="34" charset="0"/>
                <a:cs typeface="Arial" panose="020B0604020202020204" pitchFamily="34" charset="0"/>
              </a:rPr>
              <a:t>Board size ranging from 11-12 members</a:t>
            </a:r>
          </a:p>
        </p:txBody>
      </p:sp>
      <p:sp>
        <p:nvSpPr>
          <p:cNvPr id="15" name="Oval 14"/>
          <p:cNvSpPr/>
          <p:nvPr/>
        </p:nvSpPr>
        <p:spPr bwMode="gray">
          <a:xfrm>
            <a:off x="450800" y="4266461"/>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1</a:t>
            </a:r>
          </a:p>
        </p:txBody>
      </p:sp>
      <p:sp>
        <p:nvSpPr>
          <p:cNvPr id="16" name="TextBox 15"/>
          <p:cNvSpPr txBox="1"/>
          <p:nvPr/>
        </p:nvSpPr>
        <p:spPr>
          <a:xfrm>
            <a:off x="782379" y="4963018"/>
            <a:ext cx="4367085" cy="540000"/>
          </a:xfrm>
          <a:prstGeom prst="rect">
            <a:avLst/>
          </a:prstGeom>
          <a:solidFill>
            <a:schemeClr val="accent3">
              <a:lumMod val="20000"/>
              <a:lumOff val="80000"/>
            </a:schemeClr>
          </a:solidFill>
        </p:spPr>
        <p:txBody>
          <a:bodyPr wrap="square" lIns="91440" tIns="91440" rIns="91440" bIns="91440" rtlCol="0">
            <a:spAutoFit/>
          </a:bodyPr>
          <a:lstStyle>
            <a:defPPr>
              <a:defRPr lang="en-US"/>
            </a:defPPr>
            <a:lvl1pPr algn="just">
              <a:spcBef>
                <a:spcPts val="600"/>
              </a:spcBef>
              <a:buSzPct val="100000"/>
              <a:defRPr sz="1400" b="1">
                <a:latin typeface="+mj-lt"/>
                <a:ea typeface="Arial" panose="020B0604020202020204" pitchFamily="34" charset="0"/>
                <a:cs typeface="Arial" panose="020B0604020202020204" pitchFamily="34" charset="0"/>
              </a:defRPr>
            </a:lvl1pPr>
          </a:lstStyle>
          <a:p>
            <a:r>
              <a:rPr lang="en-US" sz="1100" dirty="0">
                <a:solidFill>
                  <a:prstClr val="black"/>
                </a:solidFill>
              </a:rPr>
              <a:t>Sizeable representation of independent directors (25-40%) </a:t>
            </a:r>
          </a:p>
        </p:txBody>
      </p:sp>
      <p:sp>
        <p:nvSpPr>
          <p:cNvPr id="17" name="Oval 16"/>
          <p:cNvSpPr/>
          <p:nvPr/>
        </p:nvSpPr>
        <p:spPr bwMode="gray">
          <a:xfrm>
            <a:off x="441698" y="5035912"/>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2</a:t>
            </a:r>
          </a:p>
        </p:txBody>
      </p:sp>
      <p:sp>
        <p:nvSpPr>
          <p:cNvPr id="18" name="TextBox 17"/>
          <p:cNvSpPr txBox="1"/>
          <p:nvPr/>
        </p:nvSpPr>
        <p:spPr>
          <a:xfrm>
            <a:off x="754478" y="5861522"/>
            <a:ext cx="4367085" cy="353943"/>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100" b="1" dirty="0">
                <a:solidFill>
                  <a:prstClr val="black"/>
                </a:solidFill>
                <a:ea typeface="Arial" panose="020B0604020202020204" pitchFamily="34" charset="0"/>
                <a:cs typeface="Arial" panose="020B0604020202020204" pitchFamily="34" charset="0"/>
              </a:rPr>
              <a:t>Segregation of Ownership &amp; Management</a:t>
            </a:r>
          </a:p>
        </p:txBody>
      </p:sp>
      <p:sp>
        <p:nvSpPr>
          <p:cNvPr id="19" name="Oval 18"/>
          <p:cNvSpPr/>
          <p:nvPr/>
        </p:nvSpPr>
        <p:spPr bwMode="gray">
          <a:xfrm>
            <a:off x="424803" y="5838683"/>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3</a:t>
            </a:r>
          </a:p>
        </p:txBody>
      </p:sp>
      <p:sp>
        <p:nvSpPr>
          <p:cNvPr id="20" name="TextBox 19"/>
          <p:cNvSpPr txBox="1"/>
          <p:nvPr/>
        </p:nvSpPr>
        <p:spPr>
          <a:xfrm>
            <a:off x="754478" y="6554175"/>
            <a:ext cx="4367085"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100" b="1" dirty="0">
                <a:solidFill>
                  <a:prstClr val="black"/>
                </a:solidFill>
                <a:ea typeface="Arial" panose="020B0604020202020204" pitchFamily="34" charset="0"/>
                <a:cs typeface="Arial" panose="020B0604020202020204" pitchFamily="34" charset="0"/>
              </a:rPr>
              <a:t>Board Committees include Audit, Procurement, Recruitment &amp; Governance</a:t>
            </a:r>
          </a:p>
        </p:txBody>
      </p:sp>
      <p:sp>
        <p:nvSpPr>
          <p:cNvPr id="21" name="Oval 20"/>
          <p:cNvSpPr/>
          <p:nvPr/>
        </p:nvSpPr>
        <p:spPr bwMode="gray">
          <a:xfrm>
            <a:off x="424803" y="6627067"/>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4</a:t>
            </a:r>
          </a:p>
        </p:txBody>
      </p:sp>
      <p:sp>
        <p:nvSpPr>
          <p:cNvPr id="22" name="Rectangle 21"/>
          <p:cNvSpPr/>
          <p:nvPr/>
        </p:nvSpPr>
        <p:spPr bwMode="gray">
          <a:xfrm>
            <a:off x="439793" y="1612874"/>
            <a:ext cx="4722757" cy="2466476"/>
          </a:xfrm>
          <a:prstGeom prst="rect">
            <a:avLst/>
          </a:prstGeom>
          <a:noFill/>
          <a:ln w="12700" algn="ctr">
            <a:solidFill>
              <a:schemeClr val="tx1"/>
            </a:solidFill>
            <a:miter lim="800000"/>
            <a:headEnd/>
            <a:tailEnd/>
          </a:ln>
        </p:spPr>
        <p:txBody>
          <a:bodyPr wrap="square" lIns="88900" tIns="88900" rIns="88900" bIns="88900" rtlCol="0" anchor="ctr"/>
          <a:lstStyle/>
          <a:p>
            <a:pPr>
              <a:lnSpc>
                <a:spcPct val="106000"/>
              </a:lnSpc>
              <a:spcBef>
                <a:spcPts val="400"/>
              </a:spcBef>
            </a:pPr>
            <a:r>
              <a:rPr lang="en-US" sz="1200" dirty="0"/>
              <a:t>We analyzed the Board Governance Framework in Bangladesh’s public power sector enterprises such as:</a:t>
            </a:r>
          </a:p>
          <a:p>
            <a:pPr marL="285750" indent="-285750">
              <a:lnSpc>
                <a:spcPct val="106000"/>
              </a:lnSpc>
              <a:spcBef>
                <a:spcPts val="400"/>
              </a:spcBef>
              <a:buFont typeface="Arial" panose="020B0604020202020204" pitchFamily="34" charset="0"/>
              <a:buChar char="•"/>
            </a:pPr>
            <a:r>
              <a:rPr lang="en-US" sz="1200" dirty="0"/>
              <a:t>PGCB</a:t>
            </a:r>
          </a:p>
          <a:p>
            <a:pPr marL="285750" indent="-285750">
              <a:lnSpc>
                <a:spcPct val="106000"/>
              </a:lnSpc>
              <a:spcBef>
                <a:spcPts val="400"/>
              </a:spcBef>
              <a:buFont typeface="Arial" panose="020B0604020202020204" pitchFamily="34" charset="0"/>
              <a:buChar char="•"/>
            </a:pPr>
            <a:r>
              <a:rPr lang="en-US" sz="1200" dirty="0"/>
              <a:t>DESCO</a:t>
            </a:r>
          </a:p>
          <a:p>
            <a:pPr marL="285750" indent="-285750">
              <a:lnSpc>
                <a:spcPct val="106000"/>
              </a:lnSpc>
              <a:spcBef>
                <a:spcPts val="400"/>
              </a:spcBef>
              <a:buFont typeface="Arial" panose="020B0604020202020204" pitchFamily="34" charset="0"/>
              <a:buChar char="•"/>
            </a:pPr>
            <a:r>
              <a:rPr lang="en-US" sz="1200" dirty="0"/>
              <a:t>WZPDCL</a:t>
            </a:r>
          </a:p>
          <a:p>
            <a:pPr marL="285750" indent="-285750">
              <a:lnSpc>
                <a:spcPct val="106000"/>
              </a:lnSpc>
              <a:spcBef>
                <a:spcPts val="400"/>
              </a:spcBef>
              <a:buFont typeface="Arial" panose="020B0604020202020204" pitchFamily="34" charset="0"/>
              <a:buChar char="•"/>
            </a:pPr>
            <a:r>
              <a:rPr lang="en-US" sz="1200" dirty="0"/>
              <a:t>EGCB</a:t>
            </a:r>
          </a:p>
          <a:p>
            <a:pPr marL="285750" indent="-285750">
              <a:lnSpc>
                <a:spcPct val="106000"/>
              </a:lnSpc>
              <a:spcBef>
                <a:spcPts val="400"/>
              </a:spcBef>
              <a:buFont typeface="Arial" panose="020B0604020202020204" pitchFamily="34" charset="0"/>
              <a:buChar char="•"/>
            </a:pPr>
            <a:r>
              <a:rPr lang="en-US" sz="1200" dirty="0"/>
              <a:t>APSCL</a:t>
            </a:r>
          </a:p>
          <a:p>
            <a:pPr marL="285750" indent="-285750">
              <a:lnSpc>
                <a:spcPct val="106000"/>
              </a:lnSpc>
              <a:spcBef>
                <a:spcPts val="400"/>
              </a:spcBef>
              <a:buFont typeface="Arial" panose="020B0604020202020204" pitchFamily="34" charset="0"/>
              <a:buChar char="•"/>
            </a:pPr>
            <a:r>
              <a:rPr lang="en-US" sz="1200" dirty="0"/>
              <a:t>DPDC</a:t>
            </a:r>
          </a:p>
          <a:p>
            <a:pPr>
              <a:lnSpc>
                <a:spcPct val="106000"/>
              </a:lnSpc>
              <a:spcBef>
                <a:spcPts val="400"/>
              </a:spcBef>
            </a:pPr>
            <a:r>
              <a:rPr lang="en-US" sz="1200" dirty="0"/>
              <a:t>The key learnings from the practices followed in these organizations have been enumerated below:</a:t>
            </a:r>
          </a:p>
        </p:txBody>
      </p:sp>
      <p:cxnSp>
        <p:nvCxnSpPr>
          <p:cNvPr id="29" name="Straight Connector 28"/>
          <p:cNvCxnSpPr/>
          <p:nvPr/>
        </p:nvCxnSpPr>
        <p:spPr>
          <a:xfrm>
            <a:off x="5492103" y="1332163"/>
            <a:ext cx="473774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914598" y="1162886"/>
            <a:ext cx="3907745" cy="369332"/>
          </a:xfrm>
          <a:prstGeom prst="rect">
            <a:avLst/>
          </a:prstGeom>
          <a:solidFill>
            <a:schemeClr val="bg1"/>
          </a:solidFill>
        </p:spPr>
        <p:txBody>
          <a:bodyPr wrap="square" lIns="0" tIns="0" rIns="0" bIns="0" rtlCol="0">
            <a:spAutoFit/>
          </a:bodyPr>
          <a:lstStyle/>
          <a:p>
            <a:pPr algn="ctr">
              <a:buSzPct val="100000"/>
            </a:pPr>
            <a:r>
              <a:rPr lang="en-US" sz="1200" b="1" dirty="0">
                <a:solidFill>
                  <a:srgbClr val="313131"/>
                </a:solidFill>
              </a:rPr>
              <a:t>Key Board Governance Practice in Foreign Power Sector firms</a:t>
            </a:r>
            <a:endParaRPr lang="en-IN" sz="1200" b="1" dirty="0">
              <a:solidFill>
                <a:srgbClr val="313131"/>
              </a:solidFill>
            </a:endParaRPr>
          </a:p>
        </p:txBody>
      </p:sp>
      <p:sp>
        <p:nvSpPr>
          <p:cNvPr id="31" name="Rectangle 30"/>
          <p:cNvSpPr/>
          <p:nvPr/>
        </p:nvSpPr>
        <p:spPr bwMode="gray">
          <a:xfrm>
            <a:off x="5492017" y="1612874"/>
            <a:ext cx="4722757" cy="2466476"/>
          </a:xfrm>
          <a:prstGeom prst="rect">
            <a:avLst/>
          </a:prstGeom>
          <a:noFill/>
          <a:ln w="12700" algn="ctr">
            <a:solidFill>
              <a:schemeClr val="tx1"/>
            </a:solidFill>
            <a:miter lim="800000"/>
            <a:headEnd/>
            <a:tailEnd/>
          </a:ln>
        </p:spPr>
        <p:txBody>
          <a:bodyPr wrap="square" lIns="88900" tIns="88900" rIns="88900" bIns="88900" rtlCol="0" anchor="t"/>
          <a:lstStyle/>
          <a:p>
            <a:pPr>
              <a:lnSpc>
                <a:spcPct val="106000"/>
              </a:lnSpc>
              <a:spcBef>
                <a:spcPts val="600"/>
              </a:spcBef>
            </a:pPr>
            <a:r>
              <a:rPr lang="en-US" sz="1200" dirty="0"/>
              <a:t>We analyzed the Board Governance Framework in India, Spain and Italy’s power sector enterprises such as:</a:t>
            </a:r>
          </a:p>
          <a:p>
            <a:pPr marL="285750" indent="-285750">
              <a:lnSpc>
                <a:spcPct val="106000"/>
              </a:lnSpc>
              <a:spcBef>
                <a:spcPts val="600"/>
              </a:spcBef>
              <a:buFont typeface="Arial" panose="020B0604020202020204" pitchFamily="34" charset="0"/>
              <a:buChar char="•"/>
            </a:pPr>
            <a:r>
              <a:rPr lang="en-US" sz="1200" dirty="0"/>
              <a:t>NTPC (India)</a:t>
            </a:r>
          </a:p>
          <a:p>
            <a:pPr marL="285750" indent="-285750">
              <a:lnSpc>
                <a:spcPct val="106000"/>
              </a:lnSpc>
              <a:spcBef>
                <a:spcPts val="600"/>
              </a:spcBef>
              <a:buFont typeface="Arial" panose="020B0604020202020204" pitchFamily="34" charset="0"/>
              <a:buChar char="•"/>
            </a:pPr>
            <a:r>
              <a:rPr lang="en-US" sz="1200" dirty="0" err="1"/>
              <a:t>Iberdrola</a:t>
            </a:r>
            <a:r>
              <a:rPr lang="en-US" sz="1200" dirty="0"/>
              <a:t> (Spain)</a:t>
            </a:r>
          </a:p>
          <a:p>
            <a:pPr marL="285750" indent="-285750">
              <a:lnSpc>
                <a:spcPct val="106000"/>
              </a:lnSpc>
              <a:spcBef>
                <a:spcPts val="600"/>
              </a:spcBef>
              <a:buFont typeface="Arial" panose="020B0604020202020204" pitchFamily="34" charset="0"/>
              <a:buChar char="•"/>
            </a:pPr>
            <a:r>
              <a:rPr lang="en-US" sz="1200" dirty="0"/>
              <a:t>Enel (Italy)</a:t>
            </a:r>
          </a:p>
          <a:p>
            <a:pPr>
              <a:lnSpc>
                <a:spcPct val="106000"/>
              </a:lnSpc>
              <a:spcBef>
                <a:spcPts val="600"/>
              </a:spcBef>
            </a:pPr>
            <a:r>
              <a:rPr lang="en-US" sz="1200" dirty="0"/>
              <a:t>The key learnings from the practices followed in these organizations have been enumerated below:</a:t>
            </a:r>
          </a:p>
        </p:txBody>
      </p:sp>
      <p:sp>
        <p:nvSpPr>
          <p:cNvPr id="32" name="TextBox 31"/>
          <p:cNvSpPr txBox="1"/>
          <p:nvPr/>
        </p:nvSpPr>
        <p:spPr>
          <a:xfrm>
            <a:off x="5803847" y="4240162"/>
            <a:ext cx="4409055" cy="353943"/>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100" b="1" dirty="0">
                <a:solidFill>
                  <a:prstClr val="black"/>
                </a:solidFill>
                <a:ea typeface="Arial" panose="020B0604020202020204" pitchFamily="34" charset="0"/>
                <a:cs typeface="Arial" panose="020B0604020202020204" pitchFamily="34" charset="0"/>
              </a:rPr>
              <a:t>Board size ranging from 9 - 12</a:t>
            </a:r>
          </a:p>
        </p:txBody>
      </p:sp>
      <p:sp>
        <p:nvSpPr>
          <p:cNvPr id="33" name="Oval 32"/>
          <p:cNvSpPr/>
          <p:nvPr/>
        </p:nvSpPr>
        <p:spPr bwMode="gray">
          <a:xfrm>
            <a:off x="5490145" y="4229089"/>
            <a:ext cx="381600" cy="381508"/>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1</a:t>
            </a:r>
          </a:p>
        </p:txBody>
      </p:sp>
      <p:sp>
        <p:nvSpPr>
          <p:cNvPr id="34" name="TextBox 33"/>
          <p:cNvSpPr txBox="1"/>
          <p:nvPr/>
        </p:nvSpPr>
        <p:spPr>
          <a:xfrm>
            <a:off x="5803847" y="4963018"/>
            <a:ext cx="4409054" cy="523220"/>
          </a:xfrm>
          <a:prstGeom prst="rect">
            <a:avLst/>
          </a:prstGeom>
          <a:solidFill>
            <a:schemeClr val="accent3">
              <a:lumMod val="20000"/>
              <a:lumOff val="80000"/>
            </a:schemeClr>
          </a:solidFill>
        </p:spPr>
        <p:txBody>
          <a:bodyPr wrap="square" lIns="91440" tIns="91440" rIns="91440" bIns="91440" rtlCol="0">
            <a:spAutoFit/>
          </a:bodyPr>
          <a:lstStyle>
            <a:defPPr>
              <a:defRPr lang="en-US"/>
            </a:defPPr>
            <a:lvl1pPr algn="just">
              <a:spcBef>
                <a:spcPts val="600"/>
              </a:spcBef>
              <a:buSzPct val="100000"/>
              <a:defRPr sz="1400" b="1">
                <a:latin typeface="+mj-lt"/>
                <a:ea typeface="Arial" panose="020B0604020202020204" pitchFamily="34" charset="0"/>
                <a:cs typeface="Arial" panose="020B0604020202020204" pitchFamily="34" charset="0"/>
              </a:defRPr>
            </a:lvl1pPr>
          </a:lstStyle>
          <a:p>
            <a:r>
              <a:rPr lang="en-US" sz="1100" dirty="0">
                <a:solidFill>
                  <a:prstClr val="black"/>
                </a:solidFill>
              </a:rPr>
              <a:t>Independent Directors comprising of 30% - 80% of Board</a:t>
            </a:r>
          </a:p>
        </p:txBody>
      </p:sp>
      <p:sp>
        <p:nvSpPr>
          <p:cNvPr id="35" name="Oval 34"/>
          <p:cNvSpPr/>
          <p:nvPr/>
        </p:nvSpPr>
        <p:spPr bwMode="gray">
          <a:xfrm>
            <a:off x="5490145" y="5014173"/>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2</a:t>
            </a:r>
          </a:p>
        </p:txBody>
      </p:sp>
      <p:sp>
        <p:nvSpPr>
          <p:cNvPr id="36" name="TextBox 35"/>
          <p:cNvSpPr txBox="1"/>
          <p:nvPr/>
        </p:nvSpPr>
        <p:spPr>
          <a:xfrm>
            <a:off x="5803847" y="5768445"/>
            <a:ext cx="4409054" cy="52322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100" b="1" dirty="0">
                <a:solidFill>
                  <a:prstClr val="black"/>
                </a:solidFill>
                <a:ea typeface="Arial" panose="020B0604020202020204" pitchFamily="34" charset="0"/>
                <a:cs typeface="Arial" panose="020B0604020202020204" pitchFamily="34" charset="0"/>
              </a:rPr>
              <a:t>Board Committees focusing on Risk Mitigation &amp; Compliance</a:t>
            </a:r>
          </a:p>
        </p:txBody>
      </p:sp>
      <p:sp>
        <p:nvSpPr>
          <p:cNvPr id="37" name="Oval 36"/>
          <p:cNvSpPr/>
          <p:nvPr/>
        </p:nvSpPr>
        <p:spPr bwMode="gray">
          <a:xfrm>
            <a:off x="5490145" y="5840141"/>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3</a:t>
            </a:r>
          </a:p>
        </p:txBody>
      </p:sp>
    </p:spTree>
    <p:extLst>
      <p:ext uri="{BB962C8B-B14F-4D97-AF65-F5344CB8AC3E}">
        <p14:creationId xmlns:p14="http://schemas.microsoft.com/office/powerpoint/2010/main" val="407530568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785951" cy="368439"/>
          </a:xfrm>
        </p:spPr>
        <p:txBody>
          <a:bodyPr/>
          <a:lstStyle/>
          <a:p>
            <a:r>
              <a:rPr lang="en-US" b="1" dirty="0"/>
              <a:t>High Level recommendations for Board Governance of Holding Company</a:t>
            </a:r>
            <a:endParaRPr lang="en-IN" dirty="0"/>
          </a:p>
        </p:txBody>
      </p:sp>
      <p:cxnSp>
        <p:nvCxnSpPr>
          <p:cNvPr id="6" name="Straight Connector 5"/>
          <p:cNvCxnSpPr/>
          <p:nvPr/>
        </p:nvCxnSpPr>
        <p:spPr>
          <a:xfrm>
            <a:off x="418011" y="1165355"/>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949457" y="1040963"/>
            <a:ext cx="2492794" cy="184666"/>
          </a:xfrm>
          <a:prstGeom prst="rect">
            <a:avLst/>
          </a:prstGeom>
          <a:solidFill>
            <a:schemeClr val="bg1"/>
          </a:solidFill>
        </p:spPr>
        <p:txBody>
          <a:bodyPr wrap="square" lIns="0" tIns="0" rIns="0" bIns="0" rtlCol="0">
            <a:spAutoFit/>
          </a:bodyPr>
          <a:lstStyle/>
          <a:p>
            <a:pPr algn="ctr">
              <a:buSzPct val="100000"/>
            </a:pPr>
            <a:r>
              <a:rPr lang="en-US" sz="1200" b="1" dirty="0">
                <a:solidFill>
                  <a:srgbClr val="313131"/>
                </a:solidFill>
              </a:rPr>
              <a:t>Key Recommendations</a:t>
            </a:r>
          </a:p>
        </p:txBody>
      </p:sp>
      <p:sp>
        <p:nvSpPr>
          <p:cNvPr id="8" name="TextBox 7"/>
          <p:cNvSpPr txBox="1"/>
          <p:nvPr/>
        </p:nvSpPr>
        <p:spPr>
          <a:xfrm>
            <a:off x="780476" y="1401445"/>
            <a:ext cx="9445268" cy="52322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100" b="1" dirty="0">
                <a:solidFill>
                  <a:prstClr val="black"/>
                </a:solidFill>
                <a:ea typeface="Arial" panose="020B0604020202020204" pitchFamily="34" charset="0"/>
                <a:cs typeface="Arial" panose="020B0604020202020204" pitchFamily="34" charset="0"/>
              </a:rPr>
              <a:t>In line with regulatory requirements of Bangladesh and structure of leading entities worldwide, BPDB Holding Company may have a Board Strength of 12 members</a:t>
            </a:r>
          </a:p>
        </p:txBody>
      </p:sp>
      <p:sp>
        <p:nvSpPr>
          <p:cNvPr id="9" name="Oval 8"/>
          <p:cNvSpPr/>
          <p:nvPr/>
        </p:nvSpPr>
        <p:spPr bwMode="gray">
          <a:xfrm>
            <a:off x="439794" y="1450061"/>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1</a:t>
            </a:r>
          </a:p>
        </p:txBody>
      </p:sp>
      <p:sp>
        <p:nvSpPr>
          <p:cNvPr id="10" name="TextBox 9"/>
          <p:cNvSpPr txBox="1"/>
          <p:nvPr/>
        </p:nvSpPr>
        <p:spPr>
          <a:xfrm>
            <a:off x="758692" y="2054822"/>
            <a:ext cx="9467051" cy="52322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IN" sz="1100" b="1" dirty="0">
                <a:solidFill>
                  <a:prstClr val="black"/>
                </a:solidFill>
                <a:ea typeface="Arial" panose="020B0604020202020204" pitchFamily="34" charset="0"/>
                <a:cs typeface="Arial" panose="020B0604020202020204" pitchFamily="34" charset="0"/>
              </a:rPr>
              <a:t>The Board should have representation by Independent Directors and have a mix of diverse skill-sets including power Generation, Distribution, Power Markets, Finance, Economics, Strategy, Legal, Administration, Planning etc. </a:t>
            </a:r>
            <a:endParaRPr lang="en-US" sz="1100" b="1" dirty="0">
              <a:solidFill>
                <a:prstClr val="black"/>
              </a:solidFill>
              <a:ea typeface="Arial" panose="020B0604020202020204" pitchFamily="34" charset="0"/>
              <a:cs typeface="Arial" panose="020B0604020202020204" pitchFamily="34" charset="0"/>
            </a:endParaRPr>
          </a:p>
        </p:txBody>
      </p:sp>
      <p:sp>
        <p:nvSpPr>
          <p:cNvPr id="11" name="Oval 10"/>
          <p:cNvSpPr/>
          <p:nvPr/>
        </p:nvSpPr>
        <p:spPr bwMode="gray">
          <a:xfrm>
            <a:off x="418011" y="2116111"/>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2</a:t>
            </a:r>
          </a:p>
        </p:txBody>
      </p:sp>
      <p:sp>
        <p:nvSpPr>
          <p:cNvPr id="12" name="TextBox 11"/>
          <p:cNvSpPr txBox="1"/>
          <p:nvPr/>
        </p:nvSpPr>
        <p:spPr>
          <a:xfrm>
            <a:off x="780476" y="2743835"/>
            <a:ext cx="9445268" cy="52322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IN" sz="1100" b="1" dirty="0">
                <a:solidFill>
                  <a:prstClr val="black"/>
                </a:solidFill>
                <a:ea typeface="Arial" panose="020B0604020202020204" pitchFamily="34" charset="0"/>
                <a:cs typeface="Arial" panose="020B0604020202020204" pitchFamily="34" charset="0"/>
              </a:rPr>
              <a:t>The Board of Directors must form Audit &amp; Governance Committees to ensure risk oversight and compliance to all governance policies applicable to the holding company</a:t>
            </a:r>
            <a:endParaRPr lang="en-US" sz="1100" b="1" dirty="0">
              <a:solidFill>
                <a:prstClr val="black"/>
              </a:solidFill>
              <a:ea typeface="Arial" panose="020B0604020202020204" pitchFamily="34" charset="0"/>
              <a:cs typeface="Arial" panose="020B0604020202020204" pitchFamily="34" charset="0"/>
            </a:endParaRPr>
          </a:p>
        </p:txBody>
      </p:sp>
      <p:sp>
        <p:nvSpPr>
          <p:cNvPr id="13" name="Oval 12"/>
          <p:cNvSpPr/>
          <p:nvPr/>
        </p:nvSpPr>
        <p:spPr bwMode="gray">
          <a:xfrm>
            <a:off x="439794" y="2815531"/>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prstClr val="white"/>
                </a:solidFill>
              </a:rPr>
              <a:t>3</a:t>
            </a:r>
          </a:p>
        </p:txBody>
      </p:sp>
      <p:graphicFrame>
        <p:nvGraphicFramePr>
          <p:cNvPr id="14" name="Table 13"/>
          <p:cNvGraphicFramePr>
            <a:graphicFrameLocks noGrp="1"/>
          </p:cNvGraphicFramePr>
          <p:nvPr>
            <p:extLst>
              <p:ext uri="{D42A27DB-BD31-4B8C-83A1-F6EECF244321}">
                <p14:modId xmlns:p14="http://schemas.microsoft.com/office/powerpoint/2010/main" val="3576222572"/>
              </p:ext>
            </p:extLst>
          </p:nvPr>
        </p:nvGraphicFramePr>
        <p:xfrm>
          <a:off x="439793" y="3635159"/>
          <a:ext cx="9785950" cy="3660752"/>
        </p:xfrm>
        <a:graphic>
          <a:graphicData uri="http://schemas.openxmlformats.org/drawingml/2006/table">
            <a:tbl>
              <a:tblPr firstRow="1" bandRow="1">
                <a:tableStyleId>{F2DE63D5-997A-4646-A377-4702673A728D}</a:tableStyleId>
              </a:tblPr>
              <a:tblGrid>
                <a:gridCol w="1893832">
                  <a:extLst>
                    <a:ext uri="{9D8B030D-6E8A-4147-A177-3AD203B41FA5}">
                      <a16:colId xmlns:a16="http://schemas.microsoft.com/office/drawing/2014/main" val="20000"/>
                    </a:ext>
                  </a:extLst>
                </a:gridCol>
                <a:gridCol w="7892118">
                  <a:extLst>
                    <a:ext uri="{9D8B030D-6E8A-4147-A177-3AD203B41FA5}">
                      <a16:colId xmlns:a16="http://schemas.microsoft.com/office/drawing/2014/main" val="20001"/>
                    </a:ext>
                  </a:extLst>
                </a:gridCol>
              </a:tblGrid>
              <a:tr h="374866">
                <a:tc>
                  <a:txBody>
                    <a:bodyPr/>
                    <a:lstStyle/>
                    <a:p>
                      <a:pPr marL="0" indent="0" algn="ctr">
                        <a:lnSpc>
                          <a:spcPct val="100000"/>
                        </a:lnSpc>
                        <a:spcBef>
                          <a:spcPts val="600"/>
                        </a:spcBef>
                        <a:spcAft>
                          <a:spcPts val="0"/>
                        </a:spcAft>
                        <a:buFont typeface="Arial" panose="020B0604020202020204" pitchFamily="34" charset="0"/>
                        <a:buNone/>
                      </a:pPr>
                      <a:r>
                        <a:rPr lang="en-US" sz="1100" dirty="0"/>
                        <a:t>High</a:t>
                      </a:r>
                      <a:r>
                        <a:rPr lang="en-US" sz="1100" baseline="0" dirty="0"/>
                        <a:t> Level Roles &amp; Responsibilities</a:t>
                      </a:r>
                      <a:endParaRPr lang="en-IN" sz="1100" dirty="0"/>
                    </a:p>
                  </a:txBody>
                  <a:tcPr anchor="ctr"/>
                </a:tc>
                <a:tc>
                  <a:txBody>
                    <a:bodyPr/>
                    <a:lstStyle/>
                    <a:p>
                      <a:pPr marL="0" indent="0" algn="ctr">
                        <a:lnSpc>
                          <a:spcPct val="100000"/>
                        </a:lnSpc>
                        <a:spcBef>
                          <a:spcPts val="600"/>
                        </a:spcBef>
                        <a:spcAft>
                          <a:spcPts val="0"/>
                        </a:spcAft>
                        <a:buFont typeface="Arial" panose="020B0604020202020204" pitchFamily="34" charset="0"/>
                        <a:buNone/>
                      </a:pPr>
                      <a:r>
                        <a:rPr lang="en-US" sz="1100" dirty="0"/>
                        <a:t>Description</a:t>
                      </a:r>
                      <a:endParaRPr lang="en-IN" sz="1100" dirty="0"/>
                    </a:p>
                  </a:txBody>
                  <a:tcPr anchor="ctr"/>
                </a:tc>
                <a:extLst>
                  <a:ext uri="{0D108BD9-81ED-4DB2-BD59-A6C34878D82A}">
                    <a16:rowId xmlns:a16="http://schemas.microsoft.com/office/drawing/2014/main" val="10000"/>
                  </a:ext>
                </a:extLst>
              </a:tr>
              <a:tr h="505335">
                <a:tc>
                  <a:txBody>
                    <a:bodyPr/>
                    <a:lstStyle/>
                    <a:p>
                      <a:pPr marL="0" indent="0">
                        <a:lnSpc>
                          <a:spcPct val="100000"/>
                        </a:lnSpc>
                        <a:spcBef>
                          <a:spcPts val="600"/>
                        </a:spcBef>
                        <a:spcAft>
                          <a:spcPts val="0"/>
                        </a:spcAft>
                        <a:buFont typeface="Arial" panose="020B0604020202020204" pitchFamily="34" charset="0"/>
                        <a:buNone/>
                      </a:pPr>
                      <a:r>
                        <a:rPr lang="en-US" sz="1100" dirty="0"/>
                        <a:t>Board Composition</a:t>
                      </a:r>
                      <a:endParaRPr lang="en-IN" sz="1100" b="1" dirty="0"/>
                    </a:p>
                  </a:txBody>
                  <a:tcPr anchor="ctr"/>
                </a:tc>
                <a:tc>
                  <a:txBody>
                    <a:bodyPr/>
                    <a:lstStyle/>
                    <a:p>
                      <a:pPr marL="144000" indent="-144000">
                        <a:lnSpc>
                          <a:spcPct val="100000"/>
                        </a:lnSpc>
                        <a:spcBef>
                          <a:spcPts val="600"/>
                        </a:spcBef>
                        <a:spcAft>
                          <a:spcPts val="0"/>
                        </a:spcAft>
                        <a:buFont typeface="Arial" panose="020B0604020202020204" pitchFamily="34" charset="0"/>
                        <a:buChar char="•"/>
                      </a:pPr>
                      <a:r>
                        <a:rPr lang="en-US" sz="1100" dirty="0"/>
                        <a:t>Maintain balance of Executive and Non-executive Directors (including Independent Directors)</a:t>
                      </a:r>
                    </a:p>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Ensure progressive refreshing of Directors</a:t>
                      </a:r>
                    </a:p>
                  </a:txBody>
                  <a:tcPr marL="36000" marR="36000" marT="36000" marB="36000" anchor="ctr"/>
                </a:tc>
                <a:extLst>
                  <a:ext uri="{0D108BD9-81ED-4DB2-BD59-A6C34878D82A}">
                    <a16:rowId xmlns:a16="http://schemas.microsoft.com/office/drawing/2014/main" val="10001"/>
                  </a:ext>
                </a:extLst>
              </a:tr>
              <a:tr h="1365496">
                <a:tc>
                  <a:txBody>
                    <a:bodyPr/>
                    <a:lstStyle/>
                    <a:p>
                      <a:pPr marL="0" indent="0">
                        <a:lnSpc>
                          <a:spcPct val="100000"/>
                        </a:lnSpc>
                        <a:spcBef>
                          <a:spcPts val="600"/>
                        </a:spcBef>
                        <a:spcAft>
                          <a:spcPts val="0"/>
                        </a:spcAft>
                        <a:buFont typeface="Arial" panose="020B0604020202020204" pitchFamily="34" charset="0"/>
                        <a:buNone/>
                      </a:pPr>
                      <a:r>
                        <a:rPr lang="en-US" sz="1100" dirty="0"/>
                        <a:t>Evaluation</a:t>
                      </a:r>
                      <a:r>
                        <a:rPr lang="en-US" sz="1100" baseline="0" dirty="0"/>
                        <a:t> and monitoring responsibilities</a:t>
                      </a:r>
                      <a:endParaRPr lang="en-IN" sz="1100" b="1" dirty="0"/>
                    </a:p>
                  </a:txBody>
                  <a:tcPr anchor="ctr"/>
                </a:tc>
                <a:tc>
                  <a:txBody>
                    <a:bodyPr/>
                    <a:lstStyle/>
                    <a:p>
                      <a:pPr marL="144000" indent="-144000">
                        <a:lnSpc>
                          <a:spcPct val="100000"/>
                        </a:lnSpc>
                        <a:spcBef>
                          <a:spcPts val="600"/>
                        </a:spcBef>
                        <a:spcAft>
                          <a:spcPts val="0"/>
                        </a:spcAft>
                        <a:buFont typeface="Arial" panose="020B0604020202020204" pitchFamily="34" charset="0"/>
                        <a:buChar char="•"/>
                      </a:pPr>
                      <a:r>
                        <a:rPr lang="en-US" sz="1100" dirty="0"/>
                        <a:t>Periodically</a:t>
                      </a:r>
                      <a:r>
                        <a:rPr lang="en-US" sz="1100" baseline="0" dirty="0"/>
                        <a:t> s</a:t>
                      </a:r>
                      <a:r>
                        <a:rPr lang="en-US" sz="1100" dirty="0"/>
                        <a:t>ubmit balanced</a:t>
                      </a:r>
                      <a:r>
                        <a:rPr lang="en-US" sz="1100" baseline="0" dirty="0"/>
                        <a:t> assessment of Company position to Government, Multilateral agencies</a:t>
                      </a:r>
                    </a:p>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Undertake periodic self evaluation and that of committees and individual directors</a:t>
                      </a:r>
                      <a:endParaRPr lang="en-IN" sz="1100" dirty="0"/>
                    </a:p>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Board</a:t>
                      </a:r>
                      <a:r>
                        <a:rPr lang="en-US" sz="1100" baseline="0" dirty="0"/>
                        <a:t> should involve only in framing, developing, monitoring and evaluating business strategies and plans. Day-to-day operations to be conducted by management.</a:t>
                      </a:r>
                      <a:endParaRPr lang="en-IN" sz="1100" dirty="0"/>
                    </a:p>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Regularly interact with management,</a:t>
                      </a:r>
                      <a:r>
                        <a:rPr lang="en-US" sz="1100" baseline="0" dirty="0"/>
                        <a:t> employees and auditors for smooth &amp; transparent operations of company</a:t>
                      </a:r>
                      <a:endParaRPr lang="en-IN" sz="1100" dirty="0"/>
                    </a:p>
                  </a:txBody>
                  <a:tcPr marL="36000" marR="36000" marT="36000" marB="36000" anchor="ctr"/>
                </a:tc>
                <a:extLst>
                  <a:ext uri="{0D108BD9-81ED-4DB2-BD59-A6C34878D82A}">
                    <a16:rowId xmlns:a16="http://schemas.microsoft.com/office/drawing/2014/main" val="10002"/>
                  </a:ext>
                </a:extLst>
              </a:tr>
              <a:tr h="680553">
                <a:tc>
                  <a:txBody>
                    <a:bodyPr/>
                    <a:lstStyle/>
                    <a:p>
                      <a:pPr marL="0" indent="0">
                        <a:lnSpc>
                          <a:spcPct val="100000"/>
                        </a:lnSpc>
                        <a:spcBef>
                          <a:spcPts val="600"/>
                        </a:spcBef>
                        <a:spcAft>
                          <a:spcPts val="0"/>
                        </a:spcAft>
                        <a:buFont typeface="Arial" panose="020B0604020202020204" pitchFamily="34" charset="0"/>
                        <a:buNone/>
                      </a:pPr>
                      <a:r>
                        <a:rPr lang="en-US" sz="1100" dirty="0"/>
                        <a:t>Internal Control &amp; Transparency</a:t>
                      </a:r>
                      <a:endParaRPr lang="en-IN" sz="1100" b="1" dirty="0"/>
                    </a:p>
                  </a:txBody>
                  <a:tcPr anchor="ctr"/>
                </a:tc>
                <a:tc>
                  <a:txBody>
                    <a:bodyPr/>
                    <a:lstStyle/>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Establish formal and transparent arrangements</a:t>
                      </a:r>
                      <a:r>
                        <a:rPr lang="en-IN" sz="1100" baseline="0" dirty="0"/>
                        <a:t> for establishing at least 4 standing committees including Audit and Governance</a:t>
                      </a:r>
                      <a:endParaRPr lang="en-US" sz="1100" dirty="0"/>
                    </a:p>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E</a:t>
                      </a:r>
                      <a:r>
                        <a:rPr lang="en-US" sz="1100" kern="1200" dirty="0"/>
                        <a:t>stablish and maintain sound system of internal control, risk management and audit</a:t>
                      </a:r>
                    </a:p>
                  </a:txBody>
                  <a:tcPr marL="36000" marR="36000" marT="36000" marB="36000" anchor="ctr"/>
                </a:tc>
                <a:extLst>
                  <a:ext uri="{0D108BD9-81ED-4DB2-BD59-A6C34878D82A}">
                    <a16:rowId xmlns:a16="http://schemas.microsoft.com/office/drawing/2014/main" val="10003"/>
                  </a:ext>
                </a:extLst>
              </a:tr>
              <a:tr h="411857">
                <a:tc>
                  <a:txBody>
                    <a:bodyPr/>
                    <a:lstStyle/>
                    <a:p>
                      <a:pPr marL="0" indent="0">
                        <a:lnSpc>
                          <a:spcPct val="100000"/>
                        </a:lnSpc>
                        <a:spcBef>
                          <a:spcPts val="600"/>
                        </a:spcBef>
                        <a:spcAft>
                          <a:spcPts val="0"/>
                        </a:spcAft>
                        <a:buFont typeface="Arial" panose="020B0604020202020204" pitchFamily="34" charset="0"/>
                        <a:buNone/>
                      </a:pPr>
                      <a:r>
                        <a:rPr lang="en-US" sz="1100" dirty="0"/>
                        <a:t>Recruitment of officials</a:t>
                      </a:r>
                      <a:endParaRPr lang="en-IN" sz="1100" b="1" dirty="0"/>
                    </a:p>
                  </a:txBody>
                  <a:tcPr anchor="ctr"/>
                </a:tc>
                <a:tc>
                  <a:txBody>
                    <a:bodyPr/>
                    <a:lstStyle/>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Board should be involved in recruiting</a:t>
                      </a:r>
                      <a:r>
                        <a:rPr lang="en-US" sz="1100" baseline="0" dirty="0"/>
                        <a:t> the top management officials</a:t>
                      </a:r>
                      <a:endParaRPr lang="en-IN" sz="1100" dirty="0"/>
                    </a:p>
                  </a:txBody>
                  <a:tcPr marL="36000" marR="36000" marT="36000" marB="36000" anchor="ctr"/>
                </a:tc>
                <a:extLst>
                  <a:ext uri="{0D108BD9-81ED-4DB2-BD59-A6C34878D82A}">
                    <a16:rowId xmlns:a16="http://schemas.microsoft.com/office/drawing/2014/main" val="10004"/>
                  </a:ext>
                </a:extLst>
              </a:tr>
              <a:tr h="270791">
                <a:tc>
                  <a:txBody>
                    <a:bodyPr/>
                    <a:lstStyle/>
                    <a:p>
                      <a:pPr marL="0" indent="0">
                        <a:lnSpc>
                          <a:spcPct val="100000"/>
                        </a:lnSpc>
                        <a:spcBef>
                          <a:spcPts val="600"/>
                        </a:spcBef>
                        <a:spcAft>
                          <a:spcPts val="0"/>
                        </a:spcAft>
                        <a:buFont typeface="Arial" panose="020B0604020202020204" pitchFamily="34" charset="0"/>
                        <a:buNone/>
                      </a:pPr>
                      <a:r>
                        <a:rPr lang="en-US" sz="1100" dirty="0"/>
                        <a:t>Delegation of Power</a:t>
                      </a:r>
                      <a:endParaRPr lang="en-IN" sz="1100" b="1" dirty="0"/>
                    </a:p>
                  </a:txBody>
                  <a:tcPr anchor="ctr"/>
                </a:tc>
                <a:tc>
                  <a:txBody>
                    <a:bodyPr/>
                    <a:lstStyle/>
                    <a:p>
                      <a:pPr marL="144000" marR="0" lvl="0" indent="-144000" algn="l" defTabSz="1008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t>Delegate financial matters to a certain level to the managing director and other management officials</a:t>
                      </a:r>
                      <a:endParaRPr lang="en-IN" sz="1100" dirty="0"/>
                    </a:p>
                  </a:txBody>
                  <a:tcPr marL="36000" marR="36000" marT="36000" marB="36000" anchor="ctr"/>
                </a:tc>
                <a:extLst>
                  <a:ext uri="{0D108BD9-81ED-4DB2-BD59-A6C34878D82A}">
                    <a16:rowId xmlns:a16="http://schemas.microsoft.com/office/drawing/2014/main" val="10005"/>
                  </a:ext>
                </a:extLst>
              </a:tr>
            </a:tbl>
          </a:graphicData>
        </a:graphic>
      </p:graphicFrame>
      <p:cxnSp>
        <p:nvCxnSpPr>
          <p:cNvPr id="15" name="Straight Connector 14"/>
          <p:cNvCxnSpPr/>
          <p:nvPr/>
        </p:nvCxnSpPr>
        <p:spPr>
          <a:xfrm>
            <a:off x="418011" y="3451759"/>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524091" y="3335791"/>
            <a:ext cx="5343525" cy="229326"/>
          </a:xfrm>
          <a:prstGeom prst="rect">
            <a:avLst/>
          </a:prstGeom>
          <a:solidFill>
            <a:schemeClr val="bg1"/>
          </a:solidFill>
        </p:spPr>
        <p:txBody>
          <a:bodyPr wrap="square" lIns="0" tIns="0" rIns="0" bIns="0" rtlCol="0">
            <a:spAutoFit/>
          </a:bodyPr>
          <a:lstStyle/>
          <a:p>
            <a:pPr algn="ctr">
              <a:buSzPct val="100000"/>
            </a:pPr>
            <a:r>
              <a:rPr lang="en-US" sz="1200" b="1" dirty="0">
                <a:solidFill>
                  <a:srgbClr val="313131"/>
                </a:solidFill>
              </a:rPr>
              <a:t>High Level roles &amp; responsibilities of Board of Directors</a:t>
            </a:r>
          </a:p>
        </p:txBody>
      </p:sp>
    </p:spTree>
    <p:extLst>
      <p:ext uri="{BB962C8B-B14F-4D97-AF65-F5344CB8AC3E}">
        <p14:creationId xmlns:p14="http://schemas.microsoft.com/office/powerpoint/2010/main" val="10974108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439793" y="350131"/>
            <a:ext cx="9933400" cy="368439"/>
          </a:xfrm>
        </p:spPr>
        <p:txBody>
          <a:bodyPr/>
          <a:lstStyle/>
          <a:p>
            <a:r>
              <a:rPr lang="en-US" b="1" dirty="0"/>
              <a:t>The Board of Directors will need to address key immediate priority areas for effective functioning of Holding Company</a:t>
            </a:r>
            <a:endParaRPr lang="en-IN" b="1" dirty="0"/>
          </a:p>
        </p:txBody>
      </p:sp>
      <p:sp>
        <p:nvSpPr>
          <p:cNvPr id="14" name="Freeform 13"/>
          <p:cNvSpPr/>
          <p:nvPr/>
        </p:nvSpPr>
        <p:spPr>
          <a:xfrm>
            <a:off x="439793" y="160104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Board Charter</a:t>
            </a:r>
            <a:endParaRPr lang="en-IN" sz="1400" dirty="0">
              <a:solidFill>
                <a:prstClr val="white"/>
              </a:solidFill>
            </a:endParaRPr>
          </a:p>
        </p:txBody>
      </p:sp>
      <p:sp>
        <p:nvSpPr>
          <p:cNvPr id="15" name="Rectangle 14"/>
          <p:cNvSpPr/>
          <p:nvPr/>
        </p:nvSpPr>
        <p:spPr>
          <a:xfrm>
            <a:off x="439793" y="2151391"/>
            <a:ext cx="2674216" cy="1836000"/>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Define Board policies for composition, appointment, retirement and functions</a:t>
            </a:r>
            <a:endParaRPr lang="en-IN" sz="1400" dirty="0">
              <a:solidFill>
                <a:prstClr val="black">
                  <a:hueOff val="0"/>
                  <a:satOff val="0"/>
                  <a:lumOff val="0"/>
                  <a:alphaOff val="0"/>
                </a:prstClr>
              </a:solidFill>
            </a:endParaRPr>
          </a:p>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Articulate Board governance practices with strategic priorities of the Board</a:t>
            </a:r>
          </a:p>
        </p:txBody>
      </p:sp>
      <p:sp>
        <p:nvSpPr>
          <p:cNvPr id="16" name="Freeform 15"/>
          <p:cNvSpPr/>
          <p:nvPr/>
        </p:nvSpPr>
        <p:spPr>
          <a:xfrm>
            <a:off x="3979442" y="160104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099165"/>
          </a:solidFill>
          <a:ln>
            <a:solidFill>
              <a:srgbClr val="099165"/>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Formation of Board Committees</a:t>
            </a:r>
            <a:endParaRPr lang="en-IN" sz="1400" dirty="0">
              <a:solidFill>
                <a:prstClr val="white"/>
              </a:solidFill>
            </a:endParaRPr>
          </a:p>
        </p:txBody>
      </p:sp>
      <p:sp>
        <p:nvSpPr>
          <p:cNvPr id="17" name="Rectangle 16"/>
          <p:cNvSpPr/>
          <p:nvPr/>
        </p:nvSpPr>
        <p:spPr>
          <a:xfrm>
            <a:off x="3979442" y="2151391"/>
            <a:ext cx="2674216" cy="1836000"/>
          </a:xfrm>
          <a:prstGeom prst="rect">
            <a:avLst/>
          </a:prstGeom>
          <a:solidFill>
            <a:srgbClr val="D0DFD8"/>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Formation of Board Committees including Audit &amp; Governance Committees</a:t>
            </a:r>
          </a:p>
          <a:p>
            <a:pPr>
              <a:spcBef>
                <a:spcPts val="600"/>
              </a:spcBef>
            </a:pPr>
            <a:endParaRPr lang="en-US" sz="1400" dirty="0">
              <a:solidFill>
                <a:prstClr val="black">
                  <a:hueOff val="0"/>
                  <a:satOff val="0"/>
                  <a:lumOff val="0"/>
                  <a:alphaOff val="0"/>
                </a:prstClr>
              </a:solidFill>
            </a:endParaRPr>
          </a:p>
        </p:txBody>
      </p:sp>
      <p:sp>
        <p:nvSpPr>
          <p:cNvPr id="18" name="Freeform 17"/>
          <p:cNvSpPr/>
          <p:nvPr/>
        </p:nvSpPr>
        <p:spPr>
          <a:xfrm>
            <a:off x="7519095" y="1601049"/>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a:solidFill>
            <a:srgbClr val="0FB59D"/>
          </a:solidFill>
          <a:ln>
            <a:solidFill>
              <a:srgbClr val="0FB59D"/>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Board Committee Charters</a:t>
            </a:r>
            <a:endParaRPr lang="en-IN" sz="1400" dirty="0">
              <a:solidFill>
                <a:prstClr val="white"/>
              </a:solidFill>
            </a:endParaRPr>
          </a:p>
        </p:txBody>
      </p:sp>
      <p:sp>
        <p:nvSpPr>
          <p:cNvPr id="19" name="Rectangle 18"/>
          <p:cNvSpPr/>
          <p:nvPr/>
        </p:nvSpPr>
        <p:spPr>
          <a:xfrm>
            <a:off x="7519095" y="2151393"/>
            <a:ext cx="2674216" cy="1836000"/>
          </a:xfrm>
          <a:prstGeom prst="rect">
            <a:avLst/>
          </a:prstGeom>
          <a:solidFill>
            <a:srgbClr val="D1E7E1"/>
          </a:solid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Define Board Committee policies, roles &amp; responsibilities</a:t>
            </a:r>
          </a:p>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Define oversight roles of Board Directors for each committee</a:t>
            </a:r>
          </a:p>
        </p:txBody>
      </p:sp>
      <p:sp>
        <p:nvSpPr>
          <p:cNvPr id="20" name="Freeform 19"/>
          <p:cNvSpPr/>
          <p:nvPr/>
        </p:nvSpPr>
        <p:spPr>
          <a:xfrm>
            <a:off x="439792" y="4456610"/>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1850077"/>
              <a:satOff val="-12700"/>
              <a:lumOff val="25531"/>
              <a:alphaOff val="0"/>
            </a:schemeClr>
          </a:lnRef>
          <a:fillRef idx="1">
            <a:schemeClr val="accent2">
              <a:hueOff val="1850077"/>
              <a:satOff val="-12700"/>
              <a:lumOff val="25531"/>
              <a:alphaOff val="0"/>
            </a:schemeClr>
          </a:fillRef>
          <a:effectRef idx="0">
            <a:schemeClr val="accent2">
              <a:hueOff val="1850077"/>
              <a:satOff val="-12700"/>
              <a:lumOff val="25531"/>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Standard Operating Procedures (SOPs)</a:t>
            </a:r>
            <a:endParaRPr lang="en-IN" sz="1400" dirty="0">
              <a:solidFill>
                <a:prstClr val="white"/>
              </a:solidFill>
            </a:endParaRPr>
          </a:p>
        </p:txBody>
      </p:sp>
      <p:sp>
        <p:nvSpPr>
          <p:cNvPr id="21" name="Rectangle 20"/>
          <p:cNvSpPr/>
          <p:nvPr/>
        </p:nvSpPr>
        <p:spPr>
          <a:xfrm>
            <a:off x="439792" y="5006954"/>
            <a:ext cx="2674216" cy="1836000"/>
          </a:xfrm>
          <a:prstGeom prst="rect">
            <a:avLst/>
          </a:prstGeom>
        </p:spPr>
        <p:style>
          <a:lnRef idx="2">
            <a:schemeClr val="accent2">
              <a:tint val="40000"/>
              <a:alpha val="90000"/>
              <a:hueOff val="2565470"/>
              <a:satOff val="32669"/>
              <a:lumOff val="4739"/>
              <a:alphaOff val="0"/>
            </a:schemeClr>
          </a:lnRef>
          <a:fillRef idx="1">
            <a:schemeClr val="accent2">
              <a:tint val="40000"/>
              <a:alpha val="90000"/>
              <a:hueOff val="2565470"/>
              <a:satOff val="32669"/>
              <a:lumOff val="4739"/>
              <a:alphaOff val="0"/>
            </a:schemeClr>
          </a:fillRef>
          <a:effectRef idx="0">
            <a:schemeClr val="accent2">
              <a:tint val="40000"/>
              <a:alpha val="90000"/>
              <a:hueOff val="2565470"/>
              <a:satOff val="32669"/>
              <a:lumOff val="4739"/>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Prepare functional SOPs for Board Activities including Board Committees</a:t>
            </a:r>
          </a:p>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To include aspects such as meeting procedures, quorum, agendas</a:t>
            </a:r>
            <a:endParaRPr lang="en-IN" sz="1400" dirty="0">
              <a:solidFill>
                <a:prstClr val="black">
                  <a:hueOff val="0"/>
                  <a:satOff val="0"/>
                  <a:lumOff val="0"/>
                  <a:alphaOff val="0"/>
                </a:prstClr>
              </a:solidFill>
            </a:endParaRPr>
          </a:p>
        </p:txBody>
      </p:sp>
      <p:sp>
        <p:nvSpPr>
          <p:cNvPr id="22" name="Freeform 21"/>
          <p:cNvSpPr/>
          <p:nvPr/>
        </p:nvSpPr>
        <p:spPr>
          <a:xfrm>
            <a:off x="3979443" y="4456611"/>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2466770"/>
              <a:satOff val="-16933"/>
              <a:lumOff val="34042"/>
              <a:alphaOff val="0"/>
            </a:schemeClr>
          </a:lnRef>
          <a:fillRef idx="1">
            <a:schemeClr val="accent2">
              <a:hueOff val="2466770"/>
              <a:satOff val="-16933"/>
              <a:lumOff val="34042"/>
              <a:alphaOff val="0"/>
            </a:schemeClr>
          </a:fillRef>
          <a:effectRef idx="0">
            <a:schemeClr val="accent2">
              <a:hueOff val="2466770"/>
              <a:satOff val="-16933"/>
              <a:lumOff val="34042"/>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Risk Management Framework</a:t>
            </a:r>
            <a:endParaRPr lang="en-IN" sz="1400" dirty="0">
              <a:solidFill>
                <a:prstClr val="white"/>
              </a:solidFill>
            </a:endParaRPr>
          </a:p>
        </p:txBody>
      </p:sp>
      <p:sp>
        <p:nvSpPr>
          <p:cNvPr id="23" name="Rectangle 22"/>
          <p:cNvSpPr/>
          <p:nvPr/>
        </p:nvSpPr>
        <p:spPr>
          <a:xfrm>
            <a:off x="3979442" y="5006953"/>
            <a:ext cx="2674216" cy="1836000"/>
          </a:xfrm>
          <a:prstGeom prst="rect">
            <a:avLst/>
          </a:prstGeom>
        </p:spPr>
        <p:style>
          <a:lnRef idx="2">
            <a:schemeClr val="accent2">
              <a:tint val="40000"/>
              <a:alpha val="90000"/>
              <a:hueOff val="3420626"/>
              <a:satOff val="43558"/>
              <a:lumOff val="6318"/>
              <a:alphaOff val="0"/>
            </a:schemeClr>
          </a:lnRef>
          <a:fillRef idx="1">
            <a:schemeClr val="accent2">
              <a:tint val="40000"/>
              <a:alpha val="90000"/>
              <a:hueOff val="3420626"/>
              <a:satOff val="43558"/>
              <a:lumOff val="6318"/>
              <a:alphaOff val="0"/>
            </a:schemeClr>
          </a:fillRef>
          <a:effectRef idx="0">
            <a:schemeClr val="accent2">
              <a:tint val="40000"/>
              <a:alpha val="90000"/>
              <a:hueOff val="3420626"/>
              <a:satOff val="43558"/>
              <a:lumOff val="6318"/>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Design Company Risk Management Manual &amp; Policies</a:t>
            </a:r>
          </a:p>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Define Board oversight framework for overall company risk management</a:t>
            </a:r>
          </a:p>
          <a:p>
            <a:endParaRPr lang="en-IN" dirty="0">
              <a:solidFill>
                <a:prstClr val="black">
                  <a:hueOff val="0"/>
                  <a:satOff val="0"/>
                  <a:lumOff val="0"/>
                  <a:alphaOff val="0"/>
                </a:prstClr>
              </a:solidFill>
            </a:endParaRPr>
          </a:p>
        </p:txBody>
      </p:sp>
      <p:sp>
        <p:nvSpPr>
          <p:cNvPr id="24" name="Freeform 23"/>
          <p:cNvSpPr/>
          <p:nvPr/>
        </p:nvSpPr>
        <p:spPr>
          <a:xfrm>
            <a:off x="7519095" y="4484710"/>
            <a:ext cx="2674216" cy="550343"/>
          </a:xfrm>
          <a:custGeom>
            <a:avLst/>
            <a:gdLst>
              <a:gd name="connsiteX0" fmla="*/ 0 w 1578673"/>
              <a:gd name="connsiteY0" fmla="*/ 0 h 550343"/>
              <a:gd name="connsiteX1" fmla="*/ 1578673 w 1578673"/>
              <a:gd name="connsiteY1" fmla="*/ 0 h 550343"/>
              <a:gd name="connsiteX2" fmla="*/ 1578673 w 1578673"/>
              <a:gd name="connsiteY2" fmla="*/ 550343 h 550343"/>
              <a:gd name="connsiteX3" fmla="*/ 0 w 1578673"/>
              <a:gd name="connsiteY3" fmla="*/ 550343 h 550343"/>
              <a:gd name="connsiteX4" fmla="*/ 0 w 1578673"/>
              <a:gd name="connsiteY4" fmla="*/ 0 h 550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73" h="550343">
                <a:moveTo>
                  <a:pt x="0" y="0"/>
                </a:moveTo>
                <a:lnTo>
                  <a:pt x="1578673" y="0"/>
                </a:lnTo>
                <a:lnTo>
                  <a:pt x="1578673" y="550343"/>
                </a:lnTo>
                <a:lnTo>
                  <a:pt x="0" y="550343"/>
                </a:lnTo>
                <a:lnTo>
                  <a:pt x="0" y="0"/>
                </a:lnTo>
                <a:close/>
              </a:path>
            </a:pathLst>
          </a:custGeom>
        </p:spPr>
        <p:style>
          <a:lnRef idx="2">
            <a:schemeClr val="accent2">
              <a:hueOff val="3083462"/>
              <a:satOff val="-21166"/>
              <a:lumOff val="42552"/>
              <a:alphaOff val="0"/>
            </a:schemeClr>
          </a:lnRef>
          <a:fillRef idx="1">
            <a:schemeClr val="accent2">
              <a:hueOff val="3083462"/>
              <a:satOff val="-21166"/>
              <a:lumOff val="42552"/>
              <a:alphaOff val="0"/>
            </a:schemeClr>
          </a:fillRef>
          <a:effectRef idx="0">
            <a:schemeClr val="accent2">
              <a:hueOff val="3083462"/>
              <a:satOff val="-21166"/>
              <a:lumOff val="42552"/>
              <a:alphaOff val="0"/>
            </a:schemeClr>
          </a:effectRef>
          <a:fontRef idx="minor">
            <a:schemeClr val="lt1"/>
          </a:fontRef>
        </p:style>
        <p:txBody>
          <a:bodyPr spcFirstLastPara="0" vert="horz" wrap="square" lIns="78232" tIns="44704" rIns="78232" bIns="44704" numCol="1" spcCol="1270" anchor="ctr" anchorCtr="0">
            <a:noAutofit/>
          </a:bodyPr>
          <a:lstStyle/>
          <a:p>
            <a:pPr algn="ctr" defTabSz="488950">
              <a:lnSpc>
                <a:spcPct val="90000"/>
              </a:lnSpc>
              <a:spcBef>
                <a:spcPct val="0"/>
              </a:spcBef>
              <a:spcAft>
                <a:spcPct val="35000"/>
              </a:spcAft>
            </a:pPr>
            <a:r>
              <a:rPr lang="en-US" sz="1400" dirty="0">
                <a:solidFill>
                  <a:prstClr val="white"/>
                </a:solidFill>
              </a:rPr>
              <a:t>Board Effectiveness Framework</a:t>
            </a:r>
            <a:endParaRPr lang="en-IN" sz="1400" dirty="0">
              <a:solidFill>
                <a:prstClr val="white"/>
              </a:solidFill>
            </a:endParaRPr>
          </a:p>
        </p:txBody>
      </p:sp>
      <p:sp>
        <p:nvSpPr>
          <p:cNvPr id="25" name="Rectangle 24"/>
          <p:cNvSpPr/>
          <p:nvPr/>
        </p:nvSpPr>
        <p:spPr>
          <a:xfrm>
            <a:off x="7519095" y="5035054"/>
            <a:ext cx="2674216" cy="1836000"/>
          </a:xfrm>
          <a:prstGeom prst="rect">
            <a:avLst/>
          </a:prstGeom>
        </p:spPr>
        <p:style>
          <a:lnRef idx="2">
            <a:schemeClr val="accent2">
              <a:tint val="40000"/>
              <a:alpha val="90000"/>
              <a:hueOff val="4275783"/>
              <a:satOff val="54448"/>
              <a:lumOff val="7898"/>
              <a:alphaOff val="0"/>
            </a:schemeClr>
          </a:lnRef>
          <a:fillRef idx="1">
            <a:schemeClr val="accent2">
              <a:tint val="40000"/>
              <a:alpha val="90000"/>
              <a:hueOff val="4275783"/>
              <a:satOff val="54448"/>
              <a:lumOff val="7898"/>
              <a:alphaOff val="0"/>
            </a:schemeClr>
          </a:fillRef>
          <a:effectRef idx="0">
            <a:schemeClr val="accent2">
              <a:tint val="40000"/>
              <a:alpha val="90000"/>
              <a:hueOff val="4275783"/>
              <a:satOff val="54448"/>
              <a:lumOff val="7898"/>
              <a:alphaOff val="0"/>
            </a:schemeClr>
          </a:effectRef>
          <a:fontRef idx="minor">
            <a:schemeClr val="dk1">
              <a:hueOff val="0"/>
              <a:satOff val="0"/>
              <a:lumOff val="0"/>
              <a:alphaOff val="0"/>
            </a:schemeClr>
          </a:fontRef>
        </p:style>
        <p:txBody>
          <a:bodyPr/>
          <a:lstStyle/>
          <a:p>
            <a:pPr marL="144000" indent="-144000">
              <a:spcBef>
                <a:spcPts val="600"/>
              </a:spcBef>
              <a:buFont typeface="Arial" panose="020B0604020202020204" pitchFamily="34" charset="0"/>
              <a:buChar char="•"/>
            </a:pPr>
            <a:r>
              <a:rPr lang="en-US" sz="1400" dirty="0">
                <a:solidFill>
                  <a:prstClr val="black">
                    <a:hueOff val="0"/>
                    <a:satOff val="0"/>
                    <a:lumOff val="0"/>
                    <a:alphaOff val="0"/>
                  </a:prstClr>
                </a:solidFill>
              </a:rPr>
              <a:t>Prepare Performance Scorecard</a:t>
            </a:r>
          </a:p>
        </p:txBody>
      </p:sp>
      <p:cxnSp>
        <p:nvCxnSpPr>
          <p:cNvPr id="9" name="Straight Connector 8"/>
          <p:cNvCxnSpPr/>
          <p:nvPr/>
        </p:nvCxnSpPr>
        <p:spPr>
          <a:xfrm>
            <a:off x="439793" y="1214203"/>
            <a:ext cx="97535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591555" y="1111790"/>
            <a:ext cx="5629875" cy="430887"/>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Key immediate priority areas for Board of Directors</a:t>
            </a:r>
            <a:endParaRPr lang="en-IN" sz="1400" b="1" dirty="0">
              <a:solidFill>
                <a:srgbClr val="313131"/>
              </a:solidFill>
            </a:endParaRPr>
          </a:p>
        </p:txBody>
      </p:sp>
    </p:spTree>
    <p:extLst>
      <p:ext uri="{BB962C8B-B14F-4D97-AF65-F5344CB8AC3E}">
        <p14:creationId xmlns:p14="http://schemas.microsoft.com/office/powerpoint/2010/main" val="330014402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462061" y="4644850"/>
            <a:ext cx="9836182" cy="2392803"/>
          </a:xfrm>
        </p:spPr>
        <p:txBody>
          <a:bodyPr>
            <a:normAutofit/>
          </a:bodyPr>
          <a:lstStyle/>
          <a:p>
            <a:r>
              <a:rPr lang="en-IN"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IN" dirty="0"/>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r>
              <a:rPr lang="en-IN"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r>
              <a:rPr lang="en-IN" dirty="0"/>
              <a:t>©2017 Deloitte Touche Tohmatsu India LLP. Member of Deloitte Touche Tohmatsu Limited</a:t>
            </a:r>
          </a:p>
        </p:txBody>
      </p:sp>
    </p:spTree>
    <p:extLst>
      <p:ext uri="{BB962C8B-B14F-4D97-AF65-F5344CB8AC3E}">
        <p14:creationId xmlns:p14="http://schemas.microsoft.com/office/powerpoint/2010/main" val="29503717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 name="Text Box 27"/>
          <p:cNvSpPr txBox="1">
            <a:spLocks noChangeArrowheads="1"/>
          </p:cNvSpPr>
          <p:nvPr/>
        </p:nvSpPr>
        <p:spPr bwMode="auto">
          <a:xfrm>
            <a:off x="484330" y="1613134"/>
            <a:ext cx="9737348" cy="4230617"/>
          </a:xfrm>
          <a:prstGeom prst="rect">
            <a:avLst/>
          </a:prstGeom>
          <a:noFill/>
          <a:ln w="28575" algn="ctr">
            <a:noFill/>
            <a:miter lim="800000"/>
            <a:headEnd type="none" w="sm" len="sm"/>
            <a:tailEnd type="none" w="sm" len="sm"/>
          </a:ln>
        </p:spPr>
        <p:txBody>
          <a:bodyPr lIns="0" tIns="0" rIns="0" bIns="0" anchor="ctr"/>
          <a:lstStyle/>
          <a:p>
            <a:pPr marL="0" marR="0" lvl="0" indent="0" algn="l" defTabSz="872198"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Verdana"/>
                <a:ea typeface="+mn-ea"/>
                <a:cs typeface="+mn-cs"/>
              </a:rPr>
              <a:t>Annexures</a:t>
            </a:r>
          </a:p>
        </p:txBody>
      </p:sp>
    </p:spTree>
    <p:extLst>
      <p:ext uri="{BB962C8B-B14F-4D97-AF65-F5344CB8AC3E}">
        <p14:creationId xmlns:p14="http://schemas.microsoft.com/office/powerpoint/2010/main" val="19602713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gray">
          <a:xfrm>
            <a:off x="439794" y="1113421"/>
            <a:ext cx="9809052" cy="91186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285750" indent="-285750">
              <a:lnSpc>
                <a:spcPct val="106000"/>
              </a:lnSpc>
              <a:spcBef>
                <a:spcPts val="600"/>
              </a:spcBef>
              <a:buFont typeface="Arial" panose="020B0604020202020204" pitchFamily="34" charset="0"/>
              <a:buChar char="•"/>
            </a:pPr>
            <a:r>
              <a:rPr lang="en-US" sz="1200" dirty="0">
                <a:solidFill>
                  <a:sysClr val="windowText" lastClr="000000"/>
                </a:solidFill>
              </a:rPr>
              <a:t>We have conducted a high level salary comparison of BPDB employees with that of EGCB, NWZPDCL and PGCB </a:t>
            </a:r>
          </a:p>
          <a:p>
            <a:pPr marL="285750" indent="-285750">
              <a:lnSpc>
                <a:spcPct val="106000"/>
              </a:lnSpc>
              <a:spcBef>
                <a:spcPts val="600"/>
              </a:spcBef>
              <a:buFont typeface="Arial" panose="020B0604020202020204" pitchFamily="34" charset="0"/>
              <a:buChar char="•"/>
            </a:pPr>
            <a:r>
              <a:rPr lang="en-US" sz="1200" dirty="0">
                <a:solidFill>
                  <a:sysClr val="windowText" lastClr="000000"/>
                </a:solidFill>
              </a:rPr>
              <a:t>The comparison included salary components such as basic salary, perquisites or benefits, terminal benefits &amp; taxes.  </a:t>
            </a:r>
          </a:p>
          <a:p>
            <a:pPr marL="285750" indent="-285750">
              <a:lnSpc>
                <a:spcPct val="106000"/>
              </a:lnSpc>
              <a:spcBef>
                <a:spcPts val="600"/>
              </a:spcBef>
              <a:buFont typeface="Arial" panose="020B0604020202020204" pitchFamily="34" charset="0"/>
              <a:buChar char="•"/>
            </a:pPr>
            <a:r>
              <a:rPr lang="en-US" sz="1200" dirty="0">
                <a:solidFill>
                  <a:sysClr val="windowText" lastClr="000000"/>
                </a:solidFill>
              </a:rPr>
              <a:t>A sample salary comparison has been illustrated below:</a:t>
            </a:r>
            <a:endParaRPr lang="en-IN" sz="1200" dirty="0">
              <a:solidFill>
                <a:sysClr val="windowText" lastClr="00000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550202596"/>
              </p:ext>
            </p:extLst>
          </p:nvPr>
        </p:nvGraphicFramePr>
        <p:xfrm>
          <a:off x="439796" y="2161554"/>
          <a:ext cx="9809050" cy="5125974"/>
        </p:xfrm>
        <a:graphic>
          <a:graphicData uri="http://schemas.openxmlformats.org/drawingml/2006/table">
            <a:tbl>
              <a:tblPr firstRow="1" bandRow="1">
                <a:tableStyleId>{BC89EF96-8CEA-46FF-86C4-4CE0E7609802}</a:tableStyleId>
              </a:tblPr>
              <a:tblGrid>
                <a:gridCol w="1961810">
                  <a:extLst>
                    <a:ext uri="{9D8B030D-6E8A-4147-A177-3AD203B41FA5}">
                      <a16:colId xmlns:a16="http://schemas.microsoft.com/office/drawing/2014/main" val="20000"/>
                    </a:ext>
                  </a:extLst>
                </a:gridCol>
                <a:gridCol w="2814173">
                  <a:extLst>
                    <a:ext uri="{9D8B030D-6E8A-4147-A177-3AD203B41FA5}">
                      <a16:colId xmlns:a16="http://schemas.microsoft.com/office/drawing/2014/main" val="20001"/>
                    </a:ext>
                  </a:extLst>
                </a:gridCol>
                <a:gridCol w="1677689">
                  <a:extLst>
                    <a:ext uri="{9D8B030D-6E8A-4147-A177-3AD203B41FA5}">
                      <a16:colId xmlns:a16="http://schemas.microsoft.com/office/drawing/2014/main" val="20002"/>
                    </a:ext>
                  </a:extLst>
                </a:gridCol>
                <a:gridCol w="1677689">
                  <a:extLst>
                    <a:ext uri="{9D8B030D-6E8A-4147-A177-3AD203B41FA5}">
                      <a16:colId xmlns:a16="http://schemas.microsoft.com/office/drawing/2014/main" val="20003"/>
                    </a:ext>
                  </a:extLst>
                </a:gridCol>
                <a:gridCol w="1677689">
                  <a:extLst>
                    <a:ext uri="{9D8B030D-6E8A-4147-A177-3AD203B41FA5}">
                      <a16:colId xmlns:a16="http://schemas.microsoft.com/office/drawing/2014/main" val="20004"/>
                    </a:ext>
                  </a:extLst>
                </a:gridCol>
              </a:tblGrid>
              <a:tr h="0">
                <a:tc>
                  <a:txBody>
                    <a:bodyPr/>
                    <a:lstStyle/>
                    <a:p>
                      <a:r>
                        <a:rPr lang="en-US" sz="1200" dirty="0">
                          <a:solidFill>
                            <a:schemeClr val="bg1"/>
                          </a:solidFill>
                        </a:rPr>
                        <a:t>Salary Component</a:t>
                      </a:r>
                      <a:endParaRPr lang="en-IN" sz="1200" dirty="0">
                        <a:solidFill>
                          <a:schemeClr val="bg1"/>
                        </a:solidFill>
                      </a:endParaRPr>
                    </a:p>
                  </a:txBody>
                  <a:tcPr>
                    <a:solidFill>
                      <a:schemeClr val="accent1"/>
                    </a:solidFill>
                  </a:tcPr>
                </a:tc>
                <a:tc>
                  <a:txBody>
                    <a:bodyPr/>
                    <a:lstStyle/>
                    <a:p>
                      <a:pPr algn="ctr"/>
                      <a:r>
                        <a:rPr lang="en-US" sz="1200" dirty="0">
                          <a:solidFill>
                            <a:schemeClr val="bg1"/>
                          </a:solidFill>
                        </a:rPr>
                        <a:t>Chairman, BPDB</a:t>
                      </a:r>
                      <a:endParaRPr lang="en-IN" sz="1200" dirty="0">
                        <a:solidFill>
                          <a:schemeClr val="bg1"/>
                        </a:solidFill>
                      </a:endParaRPr>
                    </a:p>
                  </a:txBody>
                  <a:tcPr>
                    <a:solidFill>
                      <a:schemeClr val="accent1"/>
                    </a:solidFill>
                  </a:tcPr>
                </a:tc>
                <a:tc>
                  <a:txBody>
                    <a:bodyPr/>
                    <a:lstStyle/>
                    <a:p>
                      <a:r>
                        <a:rPr lang="en-US" sz="1200" dirty="0">
                          <a:solidFill>
                            <a:schemeClr val="bg1"/>
                          </a:solidFill>
                        </a:rPr>
                        <a:t>MD, EGCB</a:t>
                      </a:r>
                      <a:endParaRPr lang="en-IN" sz="1200" dirty="0">
                        <a:solidFill>
                          <a:schemeClr val="bg1"/>
                        </a:solidFill>
                      </a:endParaRPr>
                    </a:p>
                  </a:txBody>
                  <a:tcPr>
                    <a:solidFill>
                      <a:schemeClr val="accent1"/>
                    </a:solidFill>
                  </a:tcPr>
                </a:tc>
                <a:tc>
                  <a:txBody>
                    <a:bodyPr/>
                    <a:lstStyle/>
                    <a:p>
                      <a:r>
                        <a:rPr lang="en-US" sz="1200" dirty="0">
                          <a:solidFill>
                            <a:schemeClr val="bg1"/>
                          </a:solidFill>
                        </a:rPr>
                        <a:t>MD, NWZPDCL</a:t>
                      </a:r>
                      <a:endParaRPr lang="en-IN" sz="1200" dirty="0">
                        <a:solidFill>
                          <a:schemeClr val="bg1"/>
                        </a:solidFill>
                      </a:endParaRPr>
                    </a:p>
                  </a:txBody>
                  <a:tcPr>
                    <a:solidFill>
                      <a:schemeClr val="accent1"/>
                    </a:solidFill>
                  </a:tcPr>
                </a:tc>
                <a:tc>
                  <a:txBody>
                    <a:bodyPr/>
                    <a:lstStyle/>
                    <a:p>
                      <a:r>
                        <a:rPr lang="en-US" sz="1200" dirty="0">
                          <a:solidFill>
                            <a:schemeClr val="bg1"/>
                          </a:solidFill>
                        </a:rPr>
                        <a:t>MD, PGCB</a:t>
                      </a:r>
                      <a:endParaRPr lang="en-IN" sz="1200" dirty="0">
                        <a:solidFill>
                          <a:schemeClr val="bg1"/>
                        </a:solidFill>
                      </a:endParaRPr>
                    </a:p>
                  </a:txBody>
                  <a:tcPr>
                    <a:solidFill>
                      <a:schemeClr val="accent1"/>
                    </a:solidFill>
                  </a:tcPr>
                </a:tc>
                <a:extLst>
                  <a:ext uri="{0D108BD9-81ED-4DB2-BD59-A6C34878D82A}">
                    <a16:rowId xmlns:a16="http://schemas.microsoft.com/office/drawing/2014/main" val="10000"/>
                  </a:ext>
                </a:extLst>
              </a:tr>
              <a:tr h="0">
                <a:tc>
                  <a:txBody>
                    <a:bodyPr/>
                    <a:lstStyle/>
                    <a:p>
                      <a:r>
                        <a:rPr lang="en-US" sz="1200" dirty="0"/>
                        <a:t>Basic Salary</a:t>
                      </a:r>
                      <a:endParaRPr lang="en-IN" sz="1200" dirty="0"/>
                    </a:p>
                  </a:txBody>
                  <a:tcPr>
                    <a:solidFill>
                      <a:schemeClr val="bg1"/>
                    </a:solidFill>
                  </a:tcPr>
                </a:tc>
                <a:tc>
                  <a:txBody>
                    <a:bodyPr/>
                    <a:lstStyle/>
                    <a:p>
                      <a:pPr algn="ctr"/>
                      <a:r>
                        <a:rPr lang="en-US" sz="1200" dirty="0"/>
                        <a:t>78000</a:t>
                      </a:r>
                      <a:endParaRPr lang="en-IN" sz="1200" dirty="0"/>
                    </a:p>
                  </a:txBody>
                  <a:tcPr>
                    <a:solidFill>
                      <a:schemeClr val="bg1"/>
                    </a:solidFill>
                  </a:tcPr>
                </a:tc>
                <a:tc gridSpan="3">
                  <a:txBody>
                    <a:bodyPr/>
                    <a:lstStyle/>
                    <a:p>
                      <a:pPr algn="ctr"/>
                      <a:r>
                        <a:rPr lang="en-US" sz="1200" dirty="0"/>
                        <a:t>175000</a:t>
                      </a:r>
                      <a:endParaRPr lang="en-IN" sz="1200" dirty="0"/>
                    </a:p>
                  </a:txBody>
                  <a:tcPr>
                    <a:solidFill>
                      <a:schemeClr val="bg1"/>
                    </a:solidFill>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1"/>
                  </a:ext>
                </a:extLst>
              </a:tr>
              <a:tr h="0">
                <a:tc>
                  <a:txBody>
                    <a:bodyPr/>
                    <a:lstStyle/>
                    <a:p>
                      <a:r>
                        <a:rPr lang="en-US" sz="1200" dirty="0"/>
                        <a:t>HRA</a:t>
                      </a:r>
                      <a:endParaRPr lang="en-IN" sz="1200" dirty="0"/>
                    </a:p>
                  </a:txBody>
                  <a:tcPr>
                    <a:solidFill>
                      <a:schemeClr val="bg1"/>
                    </a:solidFill>
                  </a:tcPr>
                </a:tc>
                <a:tc>
                  <a:txBody>
                    <a:bodyPr/>
                    <a:lstStyle/>
                    <a:p>
                      <a:pPr algn="ctr"/>
                      <a:r>
                        <a:rPr lang="en-IN" sz="1200" dirty="0"/>
                        <a:t>Dhaka - 50% of Basic</a:t>
                      </a:r>
                    </a:p>
                    <a:p>
                      <a:pPr algn="ctr"/>
                      <a:r>
                        <a:rPr lang="en-IN" sz="1200" dirty="0"/>
                        <a:t>Other select cities - 40% of Basic</a:t>
                      </a:r>
                    </a:p>
                    <a:p>
                      <a:pPr algn="ctr"/>
                      <a:r>
                        <a:rPr lang="en-IN" sz="1200" dirty="0"/>
                        <a:t>Other Places - 35% of Basic</a:t>
                      </a:r>
                    </a:p>
                  </a:txBody>
                  <a:tcPr>
                    <a:solidFill>
                      <a:schemeClr val="bg1"/>
                    </a:solidFill>
                  </a:tcPr>
                </a:tc>
                <a:tc gridSpan="3">
                  <a:txBody>
                    <a:bodyPr/>
                    <a:lstStyle/>
                    <a:p>
                      <a:pPr algn="ctr"/>
                      <a:r>
                        <a:rPr lang="en-IN" sz="1200" dirty="0"/>
                        <a:t>Dhaka - 50% of Basic</a:t>
                      </a:r>
                    </a:p>
                    <a:p>
                      <a:pPr algn="ctr"/>
                      <a:r>
                        <a:rPr lang="en-IN" sz="1200" dirty="0"/>
                        <a:t>Other select cities - 40% of Basic</a:t>
                      </a:r>
                    </a:p>
                    <a:p>
                      <a:pPr algn="ctr"/>
                      <a:r>
                        <a:rPr lang="en-IN" sz="1200" dirty="0"/>
                        <a:t>Other Places - 30% of Basic</a:t>
                      </a:r>
                    </a:p>
                  </a:txBody>
                  <a:tcPr>
                    <a:solidFill>
                      <a:schemeClr val="bg1"/>
                    </a:solidFill>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2"/>
                  </a:ext>
                </a:extLst>
              </a:tr>
              <a:tr h="0">
                <a:tc>
                  <a:txBody>
                    <a:bodyPr/>
                    <a:lstStyle/>
                    <a:p>
                      <a:r>
                        <a:rPr lang="en-US" sz="1200" dirty="0"/>
                        <a:t>Medical Allowance</a:t>
                      </a:r>
                      <a:endParaRPr lang="en-IN" sz="1200" dirty="0"/>
                    </a:p>
                  </a:txBody>
                  <a:tcPr>
                    <a:solidFill>
                      <a:schemeClr val="bg1"/>
                    </a:solidFill>
                  </a:tcPr>
                </a:tc>
                <a:tc>
                  <a:txBody>
                    <a:bodyPr/>
                    <a:lstStyle/>
                    <a:p>
                      <a:pPr algn="ctr"/>
                      <a:r>
                        <a:rPr lang="en-US" sz="1200" dirty="0"/>
                        <a:t>BDT 1500 p.m.</a:t>
                      </a:r>
                      <a:endParaRPr lang="en-IN" sz="1200" dirty="0"/>
                    </a:p>
                  </a:txBody>
                  <a:tcPr>
                    <a:solidFill>
                      <a:schemeClr val="bg1"/>
                    </a:solidFill>
                  </a:tcPr>
                </a:tc>
                <a:tc gridSpan="3">
                  <a:txBody>
                    <a:bodyPr/>
                    <a:lstStyle/>
                    <a:p>
                      <a:pPr algn="ctr"/>
                      <a:r>
                        <a:rPr lang="en-US" sz="1200" dirty="0"/>
                        <a:t>3 times of basic salary</a:t>
                      </a:r>
                      <a:endParaRPr lang="en-IN" sz="1200" dirty="0"/>
                    </a:p>
                  </a:txBody>
                  <a:tcPr>
                    <a:solidFill>
                      <a:schemeClr val="bg1"/>
                    </a:solidFill>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3"/>
                  </a:ext>
                </a:extLst>
              </a:tr>
              <a:tr h="0">
                <a:tc>
                  <a:txBody>
                    <a:bodyPr/>
                    <a:lstStyle/>
                    <a:p>
                      <a:pPr algn="l">
                        <a:lnSpc>
                          <a:spcPct val="115000"/>
                        </a:lnSpc>
                        <a:spcAft>
                          <a:spcPts val="0"/>
                        </a:spcAft>
                      </a:pPr>
                      <a:r>
                        <a:rPr lang="en-US" sz="1100" dirty="0">
                          <a:effectLst/>
                        </a:rPr>
                        <a:t>Pension</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l">
                        <a:lnSpc>
                          <a:spcPct val="115000"/>
                        </a:lnSpc>
                        <a:spcAft>
                          <a:spcPts val="0"/>
                        </a:spcAft>
                      </a:pPr>
                      <a:r>
                        <a:rPr lang="en-US" sz="1100" dirty="0">
                          <a:effectLst/>
                        </a:rPr>
                        <a:t>Yes (employees with minimum 5 years of employment at BPDB are eligible for pension).</a:t>
                      </a:r>
                      <a:endParaRPr lang="en-IN" sz="1100" dirty="0">
                        <a:effectLst/>
                      </a:endParaRPr>
                    </a:p>
                    <a:p>
                      <a:pPr algn="l">
                        <a:lnSpc>
                          <a:spcPct val="115000"/>
                        </a:lnSpc>
                        <a:spcAft>
                          <a:spcPts val="0"/>
                        </a:spcAft>
                      </a:pPr>
                      <a:r>
                        <a:rPr lang="en-US" sz="1100" dirty="0">
                          <a:effectLst/>
                        </a:rPr>
                        <a:t>Base amount: 21% to 90% of last drawn basic (decided based on years of employment at BPDB).</a:t>
                      </a:r>
                      <a:endParaRPr lang="en-IN" sz="1100" dirty="0">
                        <a:effectLst/>
                      </a:endParaRPr>
                    </a:p>
                    <a:p>
                      <a:pPr algn="l">
                        <a:lnSpc>
                          <a:spcPct val="115000"/>
                        </a:lnSpc>
                        <a:spcAft>
                          <a:spcPts val="0"/>
                        </a:spcAft>
                      </a:pPr>
                      <a:r>
                        <a:rPr lang="en-US" sz="1100" dirty="0">
                          <a:effectLst/>
                        </a:rPr>
                        <a:t>Pension amount: 230 to 265 times the base amount. </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gridSpan="3">
                  <a:txBody>
                    <a:bodyPr/>
                    <a:lstStyle/>
                    <a:p>
                      <a:pPr algn="ctr">
                        <a:lnSpc>
                          <a:spcPct val="115000"/>
                        </a:lnSpc>
                        <a:spcAft>
                          <a:spcPts val="0"/>
                        </a:spcAft>
                      </a:pPr>
                      <a:r>
                        <a:rPr lang="en-US" sz="1100" dirty="0">
                          <a:effectLst/>
                        </a:rPr>
                        <a:t>No pension</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hMerge="1">
                  <a:txBody>
                    <a:bodyPr/>
                    <a:lstStyle/>
                    <a:p>
                      <a:pPr algn="ctr">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pPr algn="ctr">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810928538"/>
                  </a:ext>
                </a:extLst>
              </a:tr>
              <a:tr h="0">
                <a:tc>
                  <a:txBody>
                    <a:bodyPr/>
                    <a:lstStyle/>
                    <a:p>
                      <a:pPr algn="l">
                        <a:lnSpc>
                          <a:spcPct val="115000"/>
                        </a:lnSpc>
                        <a:spcAft>
                          <a:spcPts val="0"/>
                        </a:spcAft>
                      </a:pPr>
                      <a:r>
                        <a:rPr lang="en-US" sz="1100">
                          <a:effectLst/>
                        </a:rPr>
                        <a:t>Gratuity</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ctr">
                        <a:lnSpc>
                          <a:spcPct val="115000"/>
                        </a:lnSpc>
                        <a:spcAft>
                          <a:spcPts val="0"/>
                        </a:spcAft>
                      </a:pPr>
                      <a:r>
                        <a:rPr lang="en-US" sz="1100" dirty="0">
                          <a:effectLst/>
                        </a:rPr>
                        <a:t>No gratuity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gridSpan="3">
                  <a:txBody>
                    <a:bodyPr/>
                    <a:lstStyle/>
                    <a:p>
                      <a:pPr algn="l">
                        <a:lnSpc>
                          <a:spcPct val="115000"/>
                        </a:lnSpc>
                        <a:spcAft>
                          <a:spcPts val="0"/>
                        </a:spcAft>
                      </a:pPr>
                      <a:r>
                        <a:rPr lang="en-US" sz="1100" dirty="0">
                          <a:effectLst/>
                        </a:rPr>
                        <a:t>2.5 times of last drawn basic for each completed year of service</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4161507974"/>
                  </a:ext>
                </a:extLst>
              </a:tr>
              <a:tr h="0">
                <a:tc>
                  <a:txBody>
                    <a:bodyPr/>
                    <a:lstStyle/>
                    <a:p>
                      <a:pPr algn="l">
                        <a:lnSpc>
                          <a:spcPct val="115000"/>
                        </a:lnSpc>
                        <a:spcAft>
                          <a:spcPts val="0"/>
                        </a:spcAft>
                      </a:pPr>
                      <a:r>
                        <a:rPr lang="en-US" sz="1100" dirty="0">
                          <a:effectLst/>
                        </a:rPr>
                        <a:t>Provident Fund</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l">
                        <a:lnSpc>
                          <a:spcPct val="115000"/>
                        </a:lnSpc>
                        <a:spcAft>
                          <a:spcPts val="0"/>
                        </a:spcAft>
                      </a:pPr>
                      <a:r>
                        <a:rPr lang="en-US" sz="1100">
                          <a:effectLst/>
                        </a:rPr>
                        <a:t>Non-contributory; 10% to 25% on basic salary from the staff</a:t>
                      </a:r>
                      <a:endParaRPr lang="en-IN" sz="110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gridSpan="3">
                  <a:txBody>
                    <a:bodyPr/>
                    <a:lstStyle/>
                    <a:p>
                      <a:pPr algn="l">
                        <a:lnSpc>
                          <a:spcPct val="115000"/>
                        </a:lnSpc>
                        <a:spcAft>
                          <a:spcPts val="0"/>
                        </a:spcAft>
                      </a:pPr>
                      <a:r>
                        <a:rPr lang="en-US" sz="1100" dirty="0">
                          <a:effectLst/>
                        </a:rPr>
                        <a:t>Contributory; 10% on basic salary from the staff and 10% from the Company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4144546077"/>
                  </a:ext>
                </a:extLst>
              </a:tr>
              <a:tr h="0">
                <a:tc>
                  <a:txBody>
                    <a:bodyPr/>
                    <a:lstStyle/>
                    <a:p>
                      <a:pPr algn="l">
                        <a:lnSpc>
                          <a:spcPct val="115000"/>
                        </a:lnSpc>
                        <a:spcAft>
                          <a:spcPts val="0"/>
                        </a:spcAft>
                      </a:pPr>
                      <a:r>
                        <a:rPr lang="en-US" sz="1100" dirty="0">
                          <a:effectLst/>
                        </a:rPr>
                        <a:t>Taxation</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ctr">
                    <a:solidFill>
                      <a:schemeClr val="bg1"/>
                    </a:solidFill>
                  </a:tcPr>
                </a:tc>
                <a:tc>
                  <a:txBody>
                    <a:bodyPr/>
                    <a:lstStyle/>
                    <a:p>
                      <a:pPr algn="l">
                        <a:lnSpc>
                          <a:spcPct val="115000"/>
                        </a:lnSpc>
                        <a:spcAft>
                          <a:spcPts val="0"/>
                        </a:spcAft>
                      </a:pPr>
                      <a:r>
                        <a:rPr lang="en-US" sz="1100" dirty="0">
                          <a:effectLst/>
                        </a:rPr>
                        <a:t>BPDB employees has to pay tax only on Basic, Festival bonus etc. All perquisites like house rent, medical, conveyance, LFA, </a:t>
                      </a:r>
                      <a:r>
                        <a:rPr lang="en-US" sz="1100" dirty="0" err="1">
                          <a:effectLst/>
                        </a:rPr>
                        <a:t>boishakhi</a:t>
                      </a:r>
                      <a:r>
                        <a:rPr lang="en-US" sz="1100" dirty="0">
                          <a:effectLst/>
                        </a:rPr>
                        <a:t> </a:t>
                      </a:r>
                      <a:r>
                        <a:rPr lang="en-US" sz="1100" dirty="0" err="1">
                          <a:effectLst/>
                        </a:rPr>
                        <a:t>vata</a:t>
                      </a:r>
                      <a:r>
                        <a:rPr lang="en-US" sz="1100" dirty="0">
                          <a:effectLst/>
                        </a:rPr>
                        <a:t> etc. are tax exempted. (SRO No. 211-Act/income tax/2017 dated 21 June 2017). Rule 33 of Income Tax Rules 1984 are not applicable. </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solidFill>
                      <a:schemeClr val="bg1"/>
                    </a:solidFill>
                  </a:tcPr>
                </a:tc>
                <a:tc gridSpan="3">
                  <a:txBody>
                    <a:bodyPr/>
                    <a:lstStyle/>
                    <a:p>
                      <a:pPr algn="l">
                        <a:lnSpc>
                          <a:spcPct val="115000"/>
                        </a:lnSpc>
                        <a:spcAft>
                          <a:spcPts val="0"/>
                        </a:spcAft>
                      </a:pPr>
                      <a:r>
                        <a:rPr lang="en-US" sz="1100" dirty="0">
                          <a:effectLst/>
                        </a:rPr>
                        <a:t>PGCB employees do not get tax benefits like Govt. employees. Income tax is calculated based on Section 21 of Income Tax Ordinance 1984 and Rule 33 of Income Tax Rules 1984. </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solidFill>
                      <a:schemeClr val="bg1"/>
                    </a:solidFill>
                  </a:tcPr>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hMerge="1">
                  <a:txBody>
                    <a:bodyPr/>
                    <a:lstStyle/>
                    <a:p>
                      <a:pPr algn="l">
                        <a:lnSpc>
                          <a:spcPct val="115000"/>
                        </a:lnSpc>
                        <a:spcAft>
                          <a:spcPts val="0"/>
                        </a:spcAft>
                      </a:pP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334322801"/>
                  </a:ext>
                </a:extLst>
              </a:tr>
            </a:tbl>
          </a:graphicData>
        </a:graphic>
      </p:graphicFrame>
      <p:sp>
        <p:nvSpPr>
          <p:cNvPr id="12" name="Title 1"/>
          <p:cNvSpPr>
            <a:spLocks noGrp="1"/>
          </p:cNvSpPr>
          <p:nvPr>
            <p:ph type="title"/>
          </p:nvPr>
        </p:nvSpPr>
        <p:spPr>
          <a:xfrm>
            <a:off x="439794" y="350133"/>
            <a:ext cx="9809052" cy="763288"/>
          </a:xfrm>
        </p:spPr>
        <p:txBody>
          <a:bodyPr/>
          <a:lstStyle/>
          <a:p>
            <a:r>
              <a:rPr lang="en-US" sz="2000" b="1" dirty="0"/>
              <a:t>High level compensation comparison of BPDB, EGCB, NWZPDCL, PGCB</a:t>
            </a:r>
            <a:endParaRPr lang="en-IN" sz="2000" b="1" dirty="0"/>
          </a:p>
        </p:txBody>
      </p:sp>
    </p:spTree>
    <p:extLst>
      <p:ext uri="{BB962C8B-B14F-4D97-AF65-F5344CB8AC3E}">
        <p14:creationId xmlns:p14="http://schemas.microsoft.com/office/powerpoint/2010/main" val="7865327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39794" y="1467293"/>
            <a:ext cx="97036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z="2000" b="1" dirty="0"/>
              <a:t>Summary of compensation comparison and high-level guiding principles for compensation benchmarking for holding company</a:t>
            </a:r>
            <a:endParaRPr lang="en-IN" sz="2000" b="1" dirty="0"/>
          </a:p>
        </p:txBody>
      </p:sp>
      <p:sp>
        <p:nvSpPr>
          <p:cNvPr id="4" name="TextBox 3"/>
          <p:cNvSpPr txBox="1"/>
          <p:nvPr/>
        </p:nvSpPr>
        <p:spPr>
          <a:xfrm>
            <a:off x="2803029" y="1286540"/>
            <a:ext cx="5082580" cy="318924"/>
          </a:xfrm>
          <a:prstGeom prst="rect">
            <a:avLst/>
          </a:prstGeom>
          <a:solidFill>
            <a:schemeClr val="bg1"/>
          </a:solidFill>
        </p:spPr>
        <p:txBody>
          <a:bodyPr wrap="square" lIns="36000" tIns="36000" rIns="36000" bIns="36000" rtlCol="0">
            <a:spAutoFit/>
          </a:bodyPr>
          <a:lstStyle/>
          <a:p>
            <a:pPr algn="ctr">
              <a:spcBef>
                <a:spcPts val="600"/>
              </a:spcBef>
              <a:buSzPct val="100000"/>
            </a:pPr>
            <a:r>
              <a:rPr lang="en-US" sz="1600" b="1" dirty="0">
                <a:solidFill>
                  <a:srgbClr val="313131"/>
                </a:solidFill>
              </a:rPr>
              <a:t>Summary of compensation comparison</a:t>
            </a:r>
          </a:p>
        </p:txBody>
      </p:sp>
      <p:cxnSp>
        <p:nvCxnSpPr>
          <p:cNvPr id="22" name="Straight Connector 21"/>
          <p:cNvCxnSpPr/>
          <p:nvPr/>
        </p:nvCxnSpPr>
        <p:spPr>
          <a:xfrm>
            <a:off x="439794" y="2587249"/>
            <a:ext cx="970366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623617" y="2406496"/>
            <a:ext cx="7441405" cy="318924"/>
          </a:xfrm>
          <a:prstGeom prst="rect">
            <a:avLst/>
          </a:prstGeom>
          <a:solidFill>
            <a:schemeClr val="bg1"/>
          </a:solidFill>
        </p:spPr>
        <p:txBody>
          <a:bodyPr wrap="square" lIns="36000" tIns="36000" rIns="36000" bIns="36000" rtlCol="0">
            <a:spAutoFit/>
          </a:bodyPr>
          <a:lstStyle/>
          <a:p>
            <a:pPr algn="ctr">
              <a:spcBef>
                <a:spcPts val="600"/>
              </a:spcBef>
              <a:buSzPct val="100000"/>
            </a:pPr>
            <a:r>
              <a:rPr lang="en-US" sz="1600" b="1" dirty="0">
                <a:solidFill>
                  <a:srgbClr val="313131"/>
                </a:solidFill>
              </a:rPr>
              <a:t>High-level guiding principles for compensation benchmarking</a:t>
            </a:r>
          </a:p>
        </p:txBody>
      </p:sp>
      <p:sp>
        <p:nvSpPr>
          <p:cNvPr id="14" name="TextBox 13"/>
          <p:cNvSpPr txBox="1"/>
          <p:nvPr/>
        </p:nvSpPr>
        <p:spPr>
          <a:xfrm>
            <a:off x="439794" y="1669307"/>
            <a:ext cx="9703666" cy="430887"/>
          </a:xfrm>
          <a:prstGeom prst="rect">
            <a:avLst/>
          </a:prstGeom>
          <a:noFill/>
        </p:spPr>
        <p:txBody>
          <a:bodyPr wrap="square" lIns="0" tIns="0" rIns="0" bIns="0" rtlCol="0">
            <a:spAutoFit/>
          </a:bodyPr>
          <a:lstStyle/>
          <a:p>
            <a:pPr marL="342900" indent="-342900">
              <a:spcBef>
                <a:spcPts val="600"/>
              </a:spcBef>
              <a:buSzPct val="100000"/>
              <a:buFont typeface="Arial" panose="020B0604020202020204" pitchFamily="34" charset="0"/>
              <a:buChar char="•"/>
            </a:pPr>
            <a:r>
              <a:rPr lang="en-US" sz="1400" dirty="0">
                <a:solidFill>
                  <a:srgbClr val="313131"/>
                </a:solidFill>
              </a:rPr>
              <a:t>There are differences in compensation structures of BPDB and that of EGCB, NWZPDCL, PGCB in terms of (a) basic salary, (b) perquisites or benefits, (c) terminal benefits, and (d) income tax liabilities.</a:t>
            </a:r>
          </a:p>
        </p:txBody>
      </p:sp>
      <p:graphicFrame>
        <p:nvGraphicFramePr>
          <p:cNvPr id="24" name="Table 23"/>
          <p:cNvGraphicFramePr>
            <a:graphicFrameLocks noGrp="1"/>
          </p:cNvGraphicFramePr>
          <p:nvPr/>
        </p:nvGraphicFramePr>
        <p:xfrm>
          <a:off x="439794" y="2906173"/>
          <a:ext cx="9809052" cy="4084996"/>
        </p:xfrm>
        <a:graphic>
          <a:graphicData uri="http://schemas.openxmlformats.org/drawingml/2006/table">
            <a:tbl>
              <a:tblPr firstCol="1" bandRow="1">
                <a:tableStyleId>{5C22544A-7EE6-4342-B048-85BDC9FD1C3A}</a:tableStyleId>
              </a:tblPr>
              <a:tblGrid>
                <a:gridCol w="1282680">
                  <a:extLst>
                    <a:ext uri="{9D8B030D-6E8A-4147-A177-3AD203B41FA5}">
                      <a16:colId xmlns:a16="http://schemas.microsoft.com/office/drawing/2014/main" val="4025134685"/>
                    </a:ext>
                  </a:extLst>
                </a:gridCol>
                <a:gridCol w="8526372">
                  <a:extLst>
                    <a:ext uri="{9D8B030D-6E8A-4147-A177-3AD203B41FA5}">
                      <a16:colId xmlns:a16="http://schemas.microsoft.com/office/drawing/2014/main" val="712968218"/>
                    </a:ext>
                  </a:extLst>
                </a:gridCol>
              </a:tblGrid>
              <a:tr h="447271">
                <a:tc>
                  <a:txBody>
                    <a:bodyPr/>
                    <a:lstStyle/>
                    <a:p>
                      <a:pPr algn="l">
                        <a:lnSpc>
                          <a:spcPct val="115000"/>
                        </a:lnSpc>
                        <a:spcAft>
                          <a:spcPts val="0"/>
                        </a:spcAft>
                      </a:pPr>
                      <a:r>
                        <a:rPr lang="en-US" sz="1200" dirty="0">
                          <a:effectLst/>
                        </a:rPr>
                        <a:t>Basic salary</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The basic salaries for the employees of the respective grades in the holding company need to be made at par with that of its subsidiaries.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a16="http://schemas.microsoft.com/office/drawing/2014/main" val="2340316590"/>
                  </a:ext>
                </a:extLst>
              </a:tr>
              <a:tr h="447271">
                <a:tc>
                  <a:txBody>
                    <a:bodyPr/>
                    <a:lstStyle/>
                    <a:p>
                      <a:pPr algn="l">
                        <a:lnSpc>
                          <a:spcPct val="115000"/>
                        </a:lnSpc>
                        <a:spcAft>
                          <a:spcPts val="0"/>
                        </a:spcAft>
                      </a:pPr>
                      <a:r>
                        <a:rPr lang="en-US" sz="1200" dirty="0">
                          <a:effectLst/>
                        </a:rPr>
                        <a:t>Perquisites or benefits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The different types of perquisites or benefits for the employees of respective grades in the holding company needs to be harmonized or aligned with that of its subsidiaries.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a16="http://schemas.microsoft.com/office/drawing/2014/main" val="3072974741"/>
                  </a:ext>
                </a:extLst>
              </a:tr>
              <a:tr h="2217976">
                <a:tc>
                  <a:txBody>
                    <a:bodyPr/>
                    <a:lstStyle/>
                    <a:p>
                      <a:pPr algn="l">
                        <a:lnSpc>
                          <a:spcPct val="115000"/>
                        </a:lnSpc>
                        <a:spcAft>
                          <a:spcPts val="0"/>
                        </a:spcAft>
                      </a:pPr>
                      <a:r>
                        <a:rPr lang="en-US" sz="1200" dirty="0">
                          <a:effectLst/>
                        </a:rPr>
                        <a:t>Terminal benefits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The consideration for terminal benefits for the overall alignment of the compensation framework will be as per the following:</a:t>
                      </a:r>
                      <a:endParaRPr lang="en-IN" sz="1200" dirty="0">
                        <a:effectLst/>
                      </a:endParaRPr>
                    </a:p>
                    <a:p>
                      <a:pPr marL="342900" lvl="0" indent="-342900" algn="just">
                        <a:lnSpc>
                          <a:spcPct val="115000"/>
                        </a:lnSpc>
                        <a:spcAft>
                          <a:spcPts val="0"/>
                        </a:spcAft>
                        <a:buFont typeface="Symbol" panose="05050102010706020507" pitchFamily="18" charset="2"/>
                        <a:buChar char=""/>
                      </a:pPr>
                      <a:r>
                        <a:rPr lang="en-US" sz="1200" dirty="0">
                          <a:effectLst/>
                        </a:rPr>
                        <a:t>Holding company will have to provide for gratuity and CPF in compliance to the prevailing Labour Act and Rules and associated legal framework in Bangladesh in the similar manner as its subsidiaries.</a:t>
                      </a:r>
                      <a:endParaRPr lang="en-IN" sz="1200" dirty="0">
                        <a:effectLst/>
                      </a:endParaRPr>
                    </a:p>
                    <a:p>
                      <a:pPr marL="342900" lvl="0" indent="-342900" algn="just">
                        <a:lnSpc>
                          <a:spcPct val="115000"/>
                        </a:lnSpc>
                        <a:spcAft>
                          <a:spcPts val="0"/>
                        </a:spcAft>
                        <a:buFont typeface="Symbol" panose="05050102010706020507" pitchFamily="18" charset="2"/>
                        <a:buChar char=""/>
                      </a:pPr>
                      <a:r>
                        <a:rPr lang="en-US" sz="1200" dirty="0">
                          <a:effectLst/>
                        </a:rPr>
                        <a:t>The overall terminal benefit liability of the holding company will comprise pension, gratuity and CPF. An actuarial valuation exercise will need to be undertaken to assess the terminal liabilities of the holding company as per the prevailing legal provisions. Accordingly, the holding company will need to maintain terminal benefit funds and accommodate for terminal benefit payments to the eligible employees.</a:t>
                      </a:r>
                      <a:endParaRPr lang="en-IN" sz="1200" dirty="0">
                        <a:effectLst/>
                      </a:endParaRPr>
                    </a:p>
                    <a:p>
                      <a:pPr marL="342900" lvl="0" indent="-342900" algn="just">
                        <a:lnSpc>
                          <a:spcPct val="115000"/>
                        </a:lnSpc>
                        <a:spcAft>
                          <a:spcPts val="0"/>
                        </a:spcAft>
                        <a:buFont typeface="Symbol" panose="05050102010706020507" pitchFamily="18" charset="2"/>
                        <a:buChar char=""/>
                      </a:pPr>
                      <a:r>
                        <a:rPr lang="en-US" sz="1200" dirty="0">
                          <a:effectLst/>
                        </a:rPr>
                        <a:t>The overall terminal benefit outgo of the holding company needs to be harmonized with that of its subsidiaries.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a16="http://schemas.microsoft.com/office/drawing/2014/main" val="2633260465"/>
                  </a:ext>
                </a:extLst>
              </a:tr>
              <a:tr h="910092">
                <a:tc>
                  <a:txBody>
                    <a:bodyPr/>
                    <a:lstStyle/>
                    <a:p>
                      <a:pPr algn="l">
                        <a:lnSpc>
                          <a:spcPct val="115000"/>
                        </a:lnSpc>
                        <a:spcAft>
                          <a:spcPts val="0"/>
                        </a:spcAft>
                      </a:pPr>
                      <a:r>
                        <a:rPr lang="en-US" sz="1200" dirty="0">
                          <a:effectLst/>
                        </a:rPr>
                        <a:t>Income tax</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tc>
                <a:tc>
                  <a:txBody>
                    <a:bodyPr/>
                    <a:lstStyle/>
                    <a:p>
                      <a:pPr algn="just">
                        <a:lnSpc>
                          <a:spcPct val="115000"/>
                        </a:lnSpc>
                        <a:spcAft>
                          <a:spcPts val="0"/>
                        </a:spcAft>
                      </a:pPr>
                      <a:r>
                        <a:rPr lang="en-US" sz="1200" dirty="0">
                          <a:effectLst/>
                        </a:rPr>
                        <a:t>After BPDB is converted into a holding company, its employees will be subjected to Income Tax obligations as per the prevailing legal framework in Bangladesh in the similar manner as its subsidiaries. The increased impact of the tax obligation will need to be taken into account while undertaking the compensation benchmarking for the holding company employees.</a:t>
                      </a:r>
                      <a:endParaRPr lang="en-IN" sz="12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tc>
                <a:extLst>
                  <a:ext uri="{0D108BD9-81ED-4DB2-BD59-A6C34878D82A}">
                    <a16:rowId xmlns:a16="http://schemas.microsoft.com/office/drawing/2014/main" val="193733880"/>
                  </a:ext>
                </a:extLst>
              </a:tr>
            </a:tbl>
          </a:graphicData>
        </a:graphic>
      </p:graphicFrame>
    </p:spTree>
    <p:extLst>
      <p:ext uri="{BB962C8B-B14F-4D97-AF65-F5344CB8AC3E}">
        <p14:creationId xmlns:p14="http://schemas.microsoft.com/office/powerpoint/2010/main" val="41575234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439793" y="350131"/>
            <a:ext cx="9785951" cy="368439"/>
          </a:xfrm>
        </p:spPr>
        <p:txBody>
          <a:bodyPr/>
          <a:lstStyle/>
          <a:p>
            <a:r>
              <a:rPr lang="en-US" b="1" dirty="0"/>
              <a:t>Board Governance practices in Bangladesh Utilities conform to Corporate Governance Framework </a:t>
            </a:r>
            <a:endParaRPr lang="en-IN" dirty="0"/>
          </a:p>
        </p:txBody>
      </p:sp>
      <p:graphicFrame>
        <p:nvGraphicFramePr>
          <p:cNvPr id="13" name="Table 12"/>
          <p:cNvGraphicFramePr>
            <a:graphicFrameLocks noGrp="1"/>
          </p:cNvGraphicFramePr>
          <p:nvPr/>
        </p:nvGraphicFramePr>
        <p:xfrm>
          <a:off x="439793" y="1288301"/>
          <a:ext cx="9785951" cy="4275120"/>
        </p:xfrm>
        <a:graphic>
          <a:graphicData uri="http://schemas.openxmlformats.org/drawingml/2006/table">
            <a:tbl>
              <a:tblPr firstRow="1" bandRow="1">
                <a:tableStyleId>{1FECB4D8-DB02-4DC6-A0A2-4F2EBAE1DC90}</a:tableStyleId>
              </a:tblPr>
              <a:tblGrid>
                <a:gridCol w="1059224">
                  <a:extLst>
                    <a:ext uri="{9D8B030D-6E8A-4147-A177-3AD203B41FA5}">
                      <a16:colId xmlns:a16="http://schemas.microsoft.com/office/drawing/2014/main" val="20000"/>
                    </a:ext>
                  </a:extLst>
                </a:gridCol>
                <a:gridCol w="1019331">
                  <a:extLst>
                    <a:ext uri="{9D8B030D-6E8A-4147-A177-3AD203B41FA5}">
                      <a16:colId xmlns:a16="http://schemas.microsoft.com/office/drawing/2014/main" val="20001"/>
                    </a:ext>
                  </a:extLst>
                </a:gridCol>
                <a:gridCol w="1184222">
                  <a:extLst>
                    <a:ext uri="{9D8B030D-6E8A-4147-A177-3AD203B41FA5}">
                      <a16:colId xmlns:a16="http://schemas.microsoft.com/office/drawing/2014/main" val="20002"/>
                    </a:ext>
                  </a:extLst>
                </a:gridCol>
                <a:gridCol w="2128604">
                  <a:extLst>
                    <a:ext uri="{9D8B030D-6E8A-4147-A177-3AD203B41FA5}">
                      <a16:colId xmlns:a16="http://schemas.microsoft.com/office/drawing/2014/main" val="20003"/>
                    </a:ext>
                  </a:extLst>
                </a:gridCol>
                <a:gridCol w="1169233">
                  <a:extLst>
                    <a:ext uri="{9D8B030D-6E8A-4147-A177-3AD203B41FA5}">
                      <a16:colId xmlns:a16="http://schemas.microsoft.com/office/drawing/2014/main" val="20004"/>
                    </a:ext>
                  </a:extLst>
                </a:gridCol>
                <a:gridCol w="3225337">
                  <a:extLst>
                    <a:ext uri="{9D8B030D-6E8A-4147-A177-3AD203B41FA5}">
                      <a16:colId xmlns:a16="http://schemas.microsoft.com/office/drawing/2014/main" val="20005"/>
                    </a:ext>
                  </a:extLst>
                </a:gridCol>
              </a:tblGrid>
              <a:tr h="549285">
                <a:tc>
                  <a:txBody>
                    <a:bodyPr/>
                    <a:lstStyle/>
                    <a:p>
                      <a:r>
                        <a:rPr lang="en-US" sz="1400" dirty="0">
                          <a:latin typeface="Calibri" panose="020F0502020204030204" pitchFamily="34" charset="0"/>
                        </a:rPr>
                        <a:t>Organization /</a:t>
                      </a:r>
                      <a:r>
                        <a:rPr lang="en-US" sz="1400" baseline="0" dirty="0">
                          <a:latin typeface="Calibri" panose="020F0502020204030204" pitchFamily="34" charset="0"/>
                        </a:rPr>
                        <a:t> Utility</a:t>
                      </a:r>
                      <a:endParaRPr lang="en-IN" sz="1400" dirty="0">
                        <a:latin typeface="Calibri" panose="020F0502020204030204" pitchFamily="34" charset="0"/>
                      </a:endParaRPr>
                    </a:p>
                  </a:txBody>
                  <a:tcPr marL="36000" marR="36000" marT="36000" marB="36000" anchor="ctr"/>
                </a:tc>
                <a:tc>
                  <a:txBody>
                    <a:bodyPr/>
                    <a:lstStyle/>
                    <a:p>
                      <a:pPr algn="ctr"/>
                      <a:r>
                        <a:rPr lang="en-US" sz="1400" dirty="0">
                          <a:latin typeface="Calibri" panose="020F0502020204030204" pitchFamily="34" charset="0"/>
                        </a:rPr>
                        <a:t>Board</a:t>
                      </a:r>
                      <a:r>
                        <a:rPr lang="en-US" sz="1400" baseline="0" dirty="0">
                          <a:latin typeface="Calibri" panose="020F0502020204030204" pitchFamily="34" charset="0"/>
                        </a:rPr>
                        <a:t> Composition</a:t>
                      </a:r>
                      <a:endParaRPr lang="en-IN" sz="1400" dirty="0">
                        <a:latin typeface="Calibri" panose="020F0502020204030204" pitchFamily="34" charset="0"/>
                      </a:endParaRPr>
                    </a:p>
                  </a:txBody>
                  <a:tcPr marL="36000" marR="36000" marT="36000" marB="36000" anchor="ctr"/>
                </a:tc>
                <a:tc gridSpan="2">
                  <a:txBody>
                    <a:bodyPr/>
                    <a:lstStyle/>
                    <a:p>
                      <a:pPr algn="ctr"/>
                      <a:r>
                        <a:rPr lang="en-US" sz="1400" dirty="0">
                          <a:latin typeface="Calibri" panose="020F0502020204030204" pitchFamily="34" charset="0"/>
                        </a:rPr>
                        <a:t>Governance Framework</a:t>
                      </a:r>
                      <a:endParaRPr lang="en-IN" sz="1400" dirty="0">
                        <a:latin typeface="Calibri" panose="020F0502020204030204" pitchFamily="34" charset="0"/>
                      </a:endParaRPr>
                    </a:p>
                  </a:txBody>
                  <a:tcPr marL="36000" marR="36000" marT="36000" marB="36000" anchor="ctr"/>
                </a:tc>
                <a:tc hMerge="1">
                  <a:txBody>
                    <a:bodyPr/>
                    <a:lstStyle/>
                    <a:p>
                      <a:endParaRPr lang="en-IN" sz="1100" dirty="0"/>
                    </a:p>
                  </a:txBody>
                  <a:tcPr/>
                </a:tc>
                <a:tc>
                  <a:txBody>
                    <a:bodyPr/>
                    <a:lstStyle/>
                    <a:p>
                      <a:pPr algn="ctr"/>
                      <a:r>
                        <a:rPr lang="en-US" sz="1400" dirty="0">
                          <a:latin typeface="Calibri" panose="020F0502020204030204" pitchFamily="34" charset="0"/>
                        </a:rPr>
                        <a:t>Ownership &amp; Management</a:t>
                      </a:r>
                      <a:r>
                        <a:rPr lang="en-US" sz="1400" baseline="0" dirty="0">
                          <a:latin typeface="Calibri" panose="020F0502020204030204" pitchFamily="34" charset="0"/>
                        </a:rPr>
                        <a:t> Segregation</a:t>
                      </a:r>
                      <a:endParaRPr lang="en-IN" sz="1400" dirty="0">
                        <a:latin typeface="Calibri" panose="020F0502020204030204" pitchFamily="34" charset="0"/>
                      </a:endParaRPr>
                    </a:p>
                  </a:txBody>
                  <a:tcPr marL="36000" marR="36000" marT="36000" marB="36000" anchor="ctr"/>
                </a:tc>
                <a:tc>
                  <a:txBody>
                    <a:bodyPr/>
                    <a:lstStyle/>
                    <a:p>
                      <a:pPr algn="ctr"/>
                      <a:r>
                        <a:rPr lang="en-US" sz="1400" dirty="0">
                          <a:latin typeface="Calibri" panose="020F0502020204030204" pitchFamily="34" charset="0"/>
                        </a:rPr>
                        <a:t>Board Committees</a:t>
                      </a:r>
                      <a:endParaRPr lang="en-IN" sz="1400" dirty="0">
                        <a:latin typeface="Calibri" panose="020F0502020204030204" pitchFamily="34" charset="0"/>
                      </a:endParaRPr>
                    </a:p>
                  </a:txBody>
                  <a:tcPr marL="36000" marR="36000" marT="36000" marB="36000" anchor="ctr"/>
                </a:tc>
                <a:extLst>
                  <a:ext uri="{0D108BD9-81ED-4DB2-BD59-A6C34878D82A}">
                    <a16:rowId xmlns:a16="http://schemas.microsoft.com/office/drawing/2014/main" val="10000"/>
                  </a:ext>
                </a:extLst>
              </a:tr>
              <a:tr h="549285">
                <a:tc>
                  <a:txBody>
                    <a:bodyPr/>
                    <a:lstStyle/>
                    <a:p>
                      <a:endParaRPr lang="en-IN" sz="1400" dirty="0">
                        <a:latin typeface="Calibri" panose="020F050202020403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No. of Directors</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 of Independent Directors</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Representation of MD &amp; Executive Directors on Board </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Separate Chairman &amp; CEO</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b="1" dirty="0">
                          <a:effectLst/>
                          <a:latin typeface="Calibri" panose="020F0502020204030204" pitchFamily="34" charset="0"/>
                        </a:rPr>
                        <a:t>Functional Board Committees </a:t>
                      </a:r>
                      <a:endParaRPr lang="en-IN" sz="1800" b="1"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1"/>
                  </a:ext>
                </a:extLst>
              </a:tr>
              <a:tr h="220121">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DESCO </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11</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27%</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2"/>
                  </a:ext>
                </a:extLst>
              </a:tr>
              <a:tr h="220121">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PGCB</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12</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33%</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Yes</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3"/>
                  </a:ext>
                </a:extLst>
              </a:tr>
              <a:tr h="220121">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WZPDC</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11</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36%</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No Information</a:t>
                      </a:r>
                      <a:r>
                        <a:rPr lang="en-US" sz="1400" baseline="0" dirty="0">
                          <a:effectLst/>
                          <a:latin typeface="Calibri" panose="020F0502020204030204" pitchFamily="34" charset="0"/>
                          <a:ea typeface="Times" panose="02020603050405020304" pitchFamily="18" charset="0"/>
                          <a:cs typeface="Calibri" panose="020F0502020204030204" pitchFamily="34" charset="0"/>
                        </a:rPr>
                        <a:t> Available</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4"/>
                  </a:ext>
                </a:extLst>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EGCB</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12</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25%</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Budget &amp; Audit, Procurement &amp; Technical,  Administrative Affairs, Legal &amp; Governance</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5"/>
                  </a:ext>
                </a:extLst>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APSCL</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12</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25%</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 Recruitment &amp; Promotion, Procurement Review, Steering</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6"/>
                  </a:ext>
                </a:extLst>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NWPGCL</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a:effectLst/>
                          <a:latin typeface="Calibri" panose="020F0502020204030204" pitchFamily="34" charset="0"/>
                          <a:ea typeface="Times" panose="02020603050405020304" pitchFamily="18" charset="0"/>
                          <a:cs typeface="Calibri" panose="020F0502020204030204" pitchFamily="34" charset="0"/>
                        </a:rPr>
                        <a:t>12</a:t>
                      </a:r>
                      <a:endParaRPr lang="en-IN" sz="180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33%</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 Nomination, Remuneration, Procurement</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7"/>
                  </a:ext>
                </a:extLst>
              </a:tr>
              <a:tr h="384703">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DPDC</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11</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36%</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Yes</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tc>
                  <a:txBody>
                    <a:bodyPr/>
                    <a:lstStyle/>
                    <a:p>
                      <a:pPr algn="ctr">
                        <a:spcAft>
                          <a:spcPts val="600"/>
                        </a:spcAft>
                      </a:pPr>
                      <a:r>
                        <a:rPr lang="en-US" sz="1400" dirty="0">
                          <a:effectLst/>
                          <a:latin typeface="Calibri" panose="020F0502020204030204" pitchFamily="34" charset="0"/>
                          <a:ea typeface="Times" panose="02020603050405020304" pitchFamily="18" charset="0"/>
                          <a:cs typeface="Calibri" panose="020F0502020204030204" pitchFamily="34" charset="0"/>
                        </a:rPr>
                        <a:t>Audit, Procurement Review, Recruitment &amp; Promotion</a:t>
                      </a:r>
                      <a:endParaRPr lang="en-IN" sz="1800" dirty="0">
                        <a:effectLst/>
                        <a:latin typeface="Calibri" panose="020F0502020204030204" pitchFamily="34" charset="0"/>
                        <a:ea typeface="Times" panose="02020603050405020304" pitchFamily="18" charset="0"/>
                        <a:cs typeface="Arial" panose="020B0604020202020204" pitchFamily="34" charset="0"/>
                      </a:endParaRPr>
                    </a:p>
                  </a:txBody>
                  <a:tcPr marL="36000" marR="36000" marT="36000" marB="36000" anchor="ctr"/>
                </a:tc>
                <a:extLst>
                  <a:ext uri="{0D108BD9-81ED-4DB2-BD59-A6C34878D82A}">
                    <a16:rowId xmlns:a16="http://schemas.microsoft.com/office/drawing/2014/main" val="10008"/>
                  </a:ext>
                </a:extLst>
              </a:tr>
            </a:tbl>
          </a:graphicData>
        </a:graphic>
      </p:graphicFrame>
      <p:cxnSp>
        <p:nvCxnSpPr>
          <p:cNvPr id="14" name="Straight Connector 13"/>
          <p:cNvCxnSpPr/>
          <p:nvPr/>
        </p:nvCxnSpPr>
        <p:spPr>
          <a:xfrm>
            <a:off x="424803" y="1101730"/>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30026" y="989923"/>
            <a:ext cx="4652787" cy="215444"/>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Key Board Governance Practices</a:t>
            </a:r>
            <a:endParaRPr lang="en-IN" sz="1400" b="1" dirty="0">
              <a:solidFill>
                <a:srgbClr val="313131"/>
              </a:solidFill>
            </a:endParaRPr>
          </a:p>
        </p:txBody>
      </p:sp>
      <p:sp>
        <p:nvSpPr>
          <p:cNvPr id="16" name="Isosceles Triangle 15"/>
          <p:cNvSpPr/>
          <p:nvPr/>
        </p:nvSpPr>
        <p:spPr bwMode="gray">
          <a:xfrm rot="10800000">
            <a:off x="409811" y="5618275"/>
            <a:ext cx="9800941" cy="220241"/>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7" name="TextBox 16"/>
          <p:cNvSpPr txBox="1"/>
          <p:nvPr/>
        </p:nvSpPr>
        <p:spPr>
          <a:xfrm>
            <a:off x="804381" y="5945028"/>
            <a:ext cx="3855600"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Board size ranging from 11-12 members</a:t>
            </a:r>
          </a:p>
        </p:txBody>
      </p:sp>
      <p:sp>
        <p:nvSpPr>
          <p:cNvPr id="18" name="Oval 17"/>
          <p:cNvSpPr/>
          <p:nvPr/>
        </p:nvSpPr>
        <p:spPr bwMode="gray">
          <a:xfrm>
            <a:off x="463699" y="6008305"/>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1</a:t>
            </a:r>
          </a:p>
        </p:txBody>
      </p:sp>
      <p:sp>
        <p:nvSpPr>
          <p:cNvPr id="19" name="TextBox 18"/>
          <p:cNvSpPr txBox="1"/>
          <p:nvPr/>
        </p:nvSpPr>
        <p:spPr>
          <a:xfrm>
            <a:off x="6355597" y="5935413"/>
            <a:ext cx="3855600" cy="540000"/>
          </a:xfrm>
          <a:prstGeom prst="rect">
            <a:avLst/>
          </a:prstGeom>
          <a:solidFill>
            <a:schemeClr val="accent3">
              <a:lumMod val="20000"/>
              <a:lumOff val="80000"/>
            </a:schemeClr>
          </a:solidFill>
        </p:spPr>
        <p:txBody>
          <a:bodyPr wrap="square" lIns="91440" tIns="91440" rIns="91440" bIns="91440" rtlCol="0">
            <a:spAutoFit/>
          </a:bodyPr>
          <a:lstStyle>
            <a:defPPr>
              <a:defRPr lang="en-US"/>
            </a:defPPr>
            <a:lvl1pPr algn="just">
              <a:spcBef>
                <a:spcPts val="600"/>
              </a:spcBef>
              <a:buSzPct val="100000"/>
              <a:defRPr sz="1400" b="1">
                <a:latin typeface="+mj-lt"/>
                <a:ea typeface="Arial" panose="020B0604020202020204" pitchFamily="34" charset="0"/>
                <a:cs typeface="Arial" panose="020B0604020202020204" pitchFamily="34" charset="0"/>
              </a:defRPr>
            </a:lvl1pPr>
          </a:lstStyle>
          <a:p>
            <a:r>
              <a:rPr lang="en-US" sz="1200" dirty="0">
                <a:solidFill>
                  <a:prstClr val="black"/>
                </a:solidFill>
              </a:rPr>
              <a:t>Sizeable representation of independent directors (25-40%) </a:t>
            </a:r>
          </a:p>
        </p:txBody>
      </p:sp>
      <p:sp>
        <p:nvSpPr>
          <p:cNvPr id="20" name="Oval 19"/>
          <p:cNvSpPr/>
          <p:nvPr/>
        </p:nvSpPr>
        <p:spPr bwMode="gray">
          <a:xfrm>
            <a:off x="6014915" y="6008307"/>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2</a:t>
            </a:r>
          </a:p>
        </p:txBody>
      </p:sp>
      <p:sp>
        <p:nvSpPr>
          <p:cNvPr id="21" name="TextBox 20"/>
          <p:cNvSpPr txBox="1"/>
          <p:nvPr/>
        </p:nvSpPr>
        <p:spPr>
          <a:xfrm>
            <a:off x="793375" y="6797852"/>
            <a:ext cx="3855600"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Segregation of Ownership &amp; Management</a:t>
            </a:r>
          </a:p>
        </p:txBody>
      </p:sp>
      <p:sp>
        <p:nvSpPr>
          <p:cNvPr id="22" name="Oval 21"/>
          <p:cNvSpPr/>
          <p:nvPr/>
        </p:nvSpPr>
        <p:spPr bwMode="gray">
          <a:xfrm>
            <a:off x="463699" y="6870744"/>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3</a:t>
            </a:r>
          </a:p>
        </p:txBody>
      </p:sp>
      <p:sp>
        <p:nvSpPr>
          <p:cNvPr id="23" name="TextBox 22"/>
          <p:cNvSpPr txBox="1"/>
          <p:nvPr/>
        </p:nvSpPr>
        <p:spPr>
          <a:xfrm>
            <a:off x="6370144" y="6797852"/>
            <a:ext cx="3855600" cy="540000"/>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Board Committees include Audit, Procurement, Recruitment &amp; Governance</a:t>
            </a:r>
          </a:p>
        </p:txBody>
      </p:sp>
      <p:sp>
        <p:nvSpPr>
          <p:cNvPr id="24" name="Oval 23"/>
          <p:cNvSpPr/>
          <p:nvPr/>
        </p:nvSpPr>
        <p:spPr bwMode="gray">
          <a:xfrm>
            <a:off x="6040468" y="6870744"/>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4</a:t>
            </a:r>
          </a:p>
        </p:txBody>
      </p:sp>
    </p:spTree>
    <p:extLst>
      <p:ext uri="{BB962C8B-B14F-4D97-AF65-F5344CB8AC3E}">
        <p14:creationId xmlns:p14="http://schemas.microsoft.com/office/powerpoint/2010/main" val="70030816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9793" y="350131"/>
            <a:ext cx="9933400" cy="368439"/>
          </a:xfrm>
        </p:spPr>
        <p:txBody>
          <a:bodyPr/>
          <a:lstStyle/>
          <a:p>
            <a:r>
              <a:rPr lang="en-US" b="1" dirty="0"/>
              <a:t>Board Governance practices globally include higher representation of independent directors and focus on risk mitigation and compliance</a:t>
            </a:r>
            <a:endParaRPr lang="en-IN" b="1" dirty="0"/>
          </a:p>
        </p:txBody>
      </p:sp>
      <p:graphicFrame>
        <p:nvGraphicFramePr>
          <p:cNvPr id="5" name="Table 4"/>
          <p:cNvGraphicFramePr>
            <a:graphicFrameLocks noGrp="1"/>
          </p:cNvGraphicFramePr>
          <p:nvPr/>
        </p:nvGraphicFramePr>
        <p:xfrm>
          <a:off x="439793" y="1350343"/>
          <a:ext cx="6397107" cy="2876669"/>
        </p:xfrm>
        <a:graphic>
          <a:graphicData uri="http://schemas.openxmlformats.org/drawingml/2006/table">
            <a:tbl>
              <a:tblPr firstRow="1" firstCol="1" bandRow="1">
                <a:tableStyleId>{1FECB4D8-DB02-4DC6-A0A2-4F2EBAE1DC90}</a:tableStyleId>
              </a:tblPr>
              <a:tblGrid>
                <a:gridCol w="856074">
                  <a:extLst>
                    <a:ext uri="{9D8B030D-6E8A-4147-A177-3AD203B41FA5}">
                      <a16:colId xmlns:a16="http://schemas.microsoft.com/office/drawing/2014/main" val="20000"/>
                    </a:ext>
                  </a:extLst>
                </a:gridCol>
                <a:gridCol w="2577785">
                  <a:extLst>
                    <a:ext uri="{9D8B030D-6E8A-4147-A177-3AD203B41FA5}">
                      <a16:colId xmlns:a16="http://schemas.microsoft.com/office/drawing/2014/main" val="20001"/>
                    </a:ext>
                  </a:extLst>
                </a:gridCol>
                <a:gridCol w="2963248">
                  <a:extLst>
                    <a:ext uri="{9D8B030D-6E8A-4147-A177-3AD203B41FA5}">
                      <a16:colId xmlns:a16="http://schemas.microsoft.com/office/drawing/2014/main" val="20002"/>
                    </a:ext>
                  </a:extLst>
                </a:gridCol>
              </a:tblGrid>
              <a:tr h="220002">
                <a:tc>
                  <a:txBody>
                    <a:bodyPr/>
                    <a:lstStyle/>
                    <a:p>
                      <a:pPr marL="0" marR="0" algn="ctr" defTabSz="1008400" rtl="0" eaLnBrk="1" latinLnBrk="0" hangingPunct="1">
                        <a:lnSpc>
                          <a:spcPct val="115000"/>
                        </a:lnSpc>
                        <a:spcBef>
                          <a:spcPts val="600"/>
                        </a:spcBef>
                        <a:spcAft>
                          <a:spcPts val="0"/>
                        </a:spcAft>
                      </a:pPr>
                      <a:r>
                        <a:rPr lang="en-US" sz="1200" kern="1200" dirty="0">
                          <a:effectLst/>
                        </a:rPr>
                        <a:t>Sn. No</a:t>
                      </a:r>
                      <a:endParaRPr lang="en-US" sz="1200" b="1" kern="1200" dirty="0">
                        <a:solidFill>
                          <a:srgbClr val="FFFFFF"/>
                        </a:solidFill>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Board of Directors</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Major Board Committees</a:t>
                      </a:r>
                      <a:endParaRPr lang="en-US" sz="1200" dirty="0">
                        <a:effectLst/>
                        <a:latin typeface="+mj-lt"/>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220002">
                <a:tc>
                  <a:txBody>
                    <a:bodyPr/>
                    <a:lstStyle/>
                    <a:p>
                      <a:pPr marL="0" marR="0" lvl="0" indent="0" algn="ctr">
                        <a:lnSpc>
                          <a:spcPct val="115000"/>
                        </a:lnSpc>
                        <a:spcBef>
                          <a:spcPts val="600"/>
                        </a:spcBef>
                        <a:spcAft>
                          <a:spcPts val="0"/>
                        </a:spcAft>
                        <a:buFont typeface="+mj-lt"/>
                        <a:buNone/>
                      </a:pPr>
                      <a:r>
                        <a:rPr lang="en-US" sz="1200" dirty="0">
                          <a:effectLst/>
                        </a:rPr>
                        <a:t>1.</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Chairman &amp; MD</a:t>
                      </a:r>
                      <a:endParaRPr lang="en-US" sz="1200" dirty="0">
                        <a:effectLst/>
                        <a:latin typeface="+mj-lt"/>
                        <a:ea typeface="Arial" panose="020B0604020202020204" pitchFamily="34" charset="0"/>
                        <a:cs typeface="Arial" panose="020B0604020202020204" pitchFamily="34" charset="0"/>
                      </a:endParaRPr>
                    </a:p>
                  </a:txBody>
                  <a:tcPr marL="68580" marR="68580" marT="0" marB="0"/>
                </a:tc>
                <a:tc rowSpan="12">
                  <a:txBody>
                    <a:bodyPr/>
                    <a:lstStyle/>
                    <a:p>
                      <a:pPr marL="285750" marR="0" indent="-285750" algn="l">
                        <a:lnSpc>
                          <a:spcPct val="100000"/>
                        </a:lnSpc>
                        <a:spcBef>
                          <a:spcPts val="600"/>
                        </a:spcBef>
                        <a:spcAft>
                          <a:spcPts val="0"/>
                        </a:spcAft>
                        <a:buFont typeface="Arial" panose="020B0604020202020204" pitchFamily="34" charset="0"/>
                        <a:buChar char="•"/>
                      </a:pPr>
                      <a:r>
                        <a:rPr lang="en-US" sz="1200" dirty="0">
                          <a:effectLst/>
                        </a:rPr>
                        <a:t>Audit</a:t>
                      </a:r>
                      <a:r>
                        <a:rPr lang="en-US" sz="1200" baseline="0" dirty="0">
                          <a:effectLst/>
                        </a:rPr>
                        <a:t>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rPr>
                        <a:t>Stakeholder Relationship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rPr>
                        <a:t>Remuneration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rPr>
                        <a:t>Risk Management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rPr>
                        <a:t>Committee on Management Controls</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rPr>
                        <a:t>Committee on Corporate Social Responsibility</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rPr>
                        <a:t>Committee on Vigilance Matters</a:t>
                      </a:r>
                      <a:endParaRPr lang="en-US" sz="1200" baseline="0" dirty="0">
                        <a:effectLst/>
                        <a:latin typeface="+mj-lt"/>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220002">
                <a:tc>
                  <a:txBody>
                    <a:bodyPr/>
                    <a:lstStyle/>
                    <a:p>
                      <a:pPr marL="0" marR="0" lvl="0" indent="0" algn="ctr">
                        <a:lnSpc>
                          <a:spcPct val="115000"/>
                        </a:lnSpc>
                        <a:spcBef>
                          <a:spcPts val="600"/>
                        </a:spcBef>
                        <a:spcAft>
                          <a:spcPts val="0"/>
                        </a:spcAft>
                        <a:buFont typeface="+mj-lt"/>
                        <a:buNone/>
                      </a:pPr>
                      <a:r>
                        <a:rPr lang="en-US" sz="1200" dirty="0">
                          <a:effectLst/>
                        </a:rPr>
                        <a:t>2.</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Director (Projects)</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2"/>
                  </a:ext>
                </a:extLst>
              </a:tr>
              <a:tr h="220002">
                <a:tc>
                  <a:txBody>
                    <a:bodyPr/>
                    <a:lstStyle/>
                    <a:p>
                      <a:pPr marL="0" marR="0" lvl="0" indent="0" algn="ctr">
                        <a:lnSpc>
                          <a:spcPct val="115000"/>
                        </a:lnSpc>
                        <a:spcBef>
                          <a:spcPts val="600"/>
                        </a:spcBef>
                        <a:spcAft>
                          <a:spcPts val="0"/>
                        </a:spcAft>
                        <a:buFont typeface="+mj-lt"/>
                        <a:buNone/>
                      </a:pPr>
                      <a:r>
                        <a:rPr lang="en-US" sz="1200" dirty="0">
                          <a:effectLst/>
                        </a:rPr>
                        <a:t>3.</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Director (Finance)</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3"/>
                  </a:ext>
                </a:extLst>
              </a:tr>
              <a:tr h="220002">
                <a:tc>
                  <a:txBody>
                    <a:bodyPr/>
                    <a:lstStyle/>
                    <a:p>
                      <a:pPr marL="0" marR="0" lvl="0" indent="0" algn="ctr">
                        <a:lnSpc>
                          <a:spcPct val="115000"/>
                        </a:lnSpc>
                        <a:spcBef>
                          <a:spcPts val="600"/>
                        </a:spcBef>
                        <a:spcAft>
                          <a:spcPts val="0"/>
                        </a:spcAft>
                        <a:buFont typeface="+mj-lt"/>
                        <a:buNone/>
                      </a:pPr>
                      <a:r>
                        <a:rPr lang="en-US" sz="1200" dirty="0">
                          <a:effectLst/>
                        </a:rPr>
                        <a:t>4.</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Director (Operations)</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4"/>
                  </a:ext>
                </a:extLst>
              </a:tr>
              <a:tr h="246335">
                <a:tc>
                  <a:txBody>
                    <a:bodyPr/>
                    <a:lstStyle/>
                    <a:p>
                      <a:pPr marL="0" marR="0" lvl="0" indent="0" algn="ctr">
                        <a:lnSpc>
                          <a:spcPct val="115000"/>
                        </a:lnSpc>
                        <a:spcBef>
                          <a:spcPts val="600"/>
                        </a:spcBef>
                        <a:spcAft>
                          <a:spcPts val="0"/>
                        </a:spcAft>
                        <a:buFont typeface="+mj-lt"/>
                        <a:buNone/>
                      </a:pPr>
                      <a:r>
                        <a:rPr lang="en-US" sz="1200" dirty="0">
                          <a:effectLst/>
                        </a:rPr>
                        <a:t>5.</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Director (Human Resources)</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5"/>
                  </a:ext>
                </a:extLst>
              </a:tr>
              <a:tr h="220002">
                <a:tc>
                  <a:txBody>
                    <a:bodyPr/>
                    <a:lstStyle/>
                    <a:p>
                      <a:pPr marL="0" marR="0" lvl="0" indent="0" algn="ctr">
                        <a:lnSpc>
                          <a:spcPct val="115000"/>
                        </a:lnSpc>
                        <a:spcBef>
                          <a:spcPts val="600"/>
                        </a:spcBef>
                        <a:spcAft>
                          <a:spcPts val="0"/>
                        </a:spcAft>
                        <a:buFont typeface="+mj-lt"/>
                        <a:buNone/>
                      </a:pPr>
                      <a:r>
                        <a:rPr lang="en-US" sz="1200" dirty="0">
                          <a:effectLst/>
                        </a:rPr>
                        <a:t>6.</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Director (Commercial)</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6"/>
                  </a:ext>
                </a:extLst>
              </a:tr>
              <a:tr h="220002">
                <a:tc>
                  <a:txBody>
                    <a:bodyPr/>
                    <a:lstStyle/>
                    <a:p>
                      <a:pPr marL="0" marR="0" lvl="0" indent="0" algn="ctr">
                        <a:lnSpc>
                          <a:spcPct val="115000"/>
                        </a:lnSpc>
                        <a:spcBef>
                          <a:spcPts val="600"/>
                        </a:spcBef>
                        <a:spcAft>
                          <a:spcPts val="0"/>
                        </a:spcAft>
                        <a:buFont typeface="+mj-lt"/>
                        <a:buNone/>
                      </a:pPr>
                      <a:r>
                        <a:rPr lang="en-US" sz="1200" dirty="0">
                          <a:effectLst/>
                          <a:latin typeface="+mj-lt"/>
                          <a:ea typeface="Arial" panose="020B0604020202020204" pitchFamily="34" charset="0"/>
                          <a:cs typeface="Arial" panose="020B0604020202020204" pitchFamily="34" charset="0"/>
                        </a:rPr>
                        <a:t>7.</a:t>
                      </a:r>
                    </a:p>
                  </a:txBody>
                  <a:tcPr marL="68580" marR="68580" marT="0" marB="0"/>
                </a:tc>
                <a:tc>
                  <a:txBody>
                    <a:bodyPr/>
                    <a:lstStyle/>
                    <a:p>
                      <a:pPr marL="0" marR="0" algn="ctr">
                        <a:lnSpc>
                          <a:spcPct val="115000"/>
                        </a:lnSpc>
                        <a:spcBef>
                          <a:spcPts val="600"/>
                        </a:spcBef>
                        <a:spcAft>
                          <a:spcPts val="0"/>
                        </a:spcAft>
                      </a:pPr>
                      <a:r>
                        <a:rPr lang="en-US" sz="1200" dirty="0">
                          <a:effectLst/>
                          <a:latin typeface="+mj-lt"/>
                          <a:ea typeface="Arial" panose="020B0604020202020204" pitchFamily="34" charset="0"/>
                          <a:cs typeface="Arial" panose="020B0604020202020204" pitchFamily="34" charset="0"/>
                        </a:rPr>
                        <a:t>Director (Sustainability)</a:t>
                      </a:r>
                    </a:p>
                  </a:txBody>
                  <a:tcPr marL="68580" marR="68580" marT="0" marB="0"/>
                </a:tc>
                <a:tc vMerge="1">
                  <a:txBody>
                    <a:bodyPr/>
                    <a:lstStyle/>
                    <a:p>
                      <a:endParaRPr lang="en-IN"/>
                    </a:p>
                  </a:txBody>
                  <a:tcPr/>
                </a:tc>
                <a:extLst>
                  <a:ext uri="{0D108BD9-81ED-4DB2-BD59-A6C34878D82A}">
                    <a16:rowId xmlns:a16="http://schemas.microsoft.com/office/drawing/2014/main" val="10007"/>
                  </a:ext>
                </a:extLst>
              </a:tr>
              <a:tr h="220002">
                <a:tc>
                  <a:txBody>
                    <a:bodyPr/>
                    <a:lstStyle/>
                    <a:p>
                      <a:pPr marL="0" marR="0" lvl="0" indent="0" algn="ctr">
                        <a:lnSpc>
                          <a:spcPct val="115000"/>
                        </a:lnSpc>
                        <a:spcBef>
                          <a:spcPts val="600"/>
                        </a:spcBef>
                        <a:spcAft>
                          <a:spcPts val="0"/>
                        </a:spcAft>
                        <a:buFont typeface="+mj-lt"/>
                        <a:buNone/>
                      </a:pPr>
                      <a:r>
                        <a:rPr lang="en-US" sz="1200" dirty="0">
                          <a:effectLst/>
                        </a:rPr>
                        <a:t>8.</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Govt. Nominee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8"/>
                  </a:ext>
                </a:extLst>
              </a:tr>
              <a:tr h="220002">
                <a:tc>
                  <a:txBody>
                    <a:bodyPr/>
                    <a:lstStyle/>
                    <a:p>
                      <a:pPr marL="0" marR="0" lvl="0" indent="0" algn="ctr">
                        <a:lnSpc>
                          <a:spcPct val="115000"/>
                        </a:lnSpc>
                        <a:spcBef>
                          <a:spcPts val="600"/>
                        </a:spcBef>
                        <a:spcAft>
                          <a:spcPts val="0"/>
                        </a:spcAft>
                        <a:buFont typeface="+mj-lt"/>
                        <a:buNone/>
                      </a:pPr>
                      <a:r>
                        <a:rPr lang="en-US" sz="1200" dirty="0">
                          <a:effectLst/>
                        </a:rPr>
                        <a:t>9.</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Govt. Nominee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9"/>
                  </a:ext>
                </a:extLst>
              </a:tr>
              <a:tr h="220002">
                <a:tc>
                  <a:txBody>
                    <a:bodyPr/>
                    <a:lstStyle/>
                    <a:p>
                      <a:pPr marL="0" marR="0" lvl="0" indent="0" algn="ctr">
                        <a:lnSpc>
                          <a:spcPct val="115000"/>
                        </a:lnSpc>
                        <a:spcBef>
                          <a:spcPts val="600"/>
                        </a:spcBef>
                        <a:spcAft>
                          <a:spcPts val="0"/>
                        </a:spcAft>
                        <a:buFont typeface="+mj-lt"/>
                        <a:buNone/>
                      </a:pPr>
                      <a:r>
                        <a:rPr lang="en-US" sz="1200" dirty="0">
                          <a:effectLst/>
                        </a:rPr>
                        <a:t>10.</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10"/>
                  </a:ext>
                </a:extLst>
              </a:tr>
              <a:tr h="220002">
                <a:tc>
                  <a:txBody>
                    <a:bodyPr/>
                    <a:lstStyle/>
                    <a:p>
                      <a:pPr marL="0" marR="0" lvl="0" indent="0" algn="ctr">
                        <a:lnSpc>
                          <a:spcPct val="115000"/>
                        </a:lnSpc>
                        <a:spcBef>
                          <a:spcPts val="600"/>
                        </a:spcBef>
                        <a:spcAft>
                          <a:spcPts val="0"/>
                        </a:spcAft>
                        <a:buFont typeface="+mj-lt"/>
                        <a:buNone/>
                      </a:pPr>
                      <a:r>
                        <a:rPr lang="en-US" sz="1200" dirty="0">
                          <a:effectLst/>
                        </a:rPr>
                        <a:t>11.</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11"/>
                  </a:ext>
                </a:extLst>
              </a:tr>
              <a:tr h="194705">
                <a:tc>
                  <a:txBody>
                    <a:bodyPr/>
                    <a:lstStyle/>
                    <a:p>
                      <a:pPr marL="0" marR="0" lvl="0" indent="0" algn="ctr">
                        <a:lnSpc>
                          <a:spcPct val="115000"/>
                        </a:lnSpc>
                        <a:spcBef>
                          <a:spcPts val="600"/>
                        </a:spcBef>
                        <a:spcAft>
                          <a:spcPts val="0"/>
                        </a:spcAft>
                        <a:buFont typeface="+mj-lt"/>
                        <a:buNone/>
                      </a:pPr>
                      <a:r>
                        <a:rPr lang="en-US" sz="1200" dirty="0">
                          <a:effectLst/>
                        </a:rPr>
                        <a:t>12.</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rPr>
                        <a:t>Independent</a:t>
                      </a:r>
                      <a:r>
                        <a:rPr lang="en-US" sz="1200" baseline="0" dirty="0">
                          <a:effectLst/>
                        </a:rPr>
                        <a: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12"/>
                  </a:ext>
                </a:extLst>
              </a:tr>
            </a:tbl>
          </a:graphicData>
        </a:graphic>
      </p:graphicFrame>
      <p:cxnSp>
        <p:nvCxnSpPr>
          <p:cNvPr id="6" name="Straight Connector 5"/>
          <p:cNvCxnSpPr/>
          <p:nvPr/>
        </p:nvCxnSpPr>
        <p:spPr>
          <a:xfrm>
            <a:off x="439793" y="1189280"/>
            <a:ext cx="639710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651728" y="1048710"/>
            <a:ext cx="1973235" cy="215444"/>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NTPC Ltd.</a:t>
            </a:r>
            <a:endParaRPr lang="en-IN" sz="1400" b="1" dirty="0">
              <a:solidFill>
                <a:srgbClr val="313131"/>
              </a:solidFill>
            </a:endParaRPr>
          </a:p>
        </p:txBody>
      </p:sp>
      <p:graphicFrame>
        <p:nvGraphicFramePr>
          <p:cNvPr id="9" name="Table 8"/>
          <p:cNvGraphicFramePr>
            <a:graphicFrameLocks noGrp="1"/>
          </p:cNvGraphicFramePr>
          <p:nvPr/>
        </p:nvGraphicFramePr>
        <p:xfrm>
          <a:off x="439793" y="4777626"/>
          <a:ext cx="6397107" cy="2492604"/>
        </p:xfrm>
        <a:graphic>
          <a:graphicData uri="http://schemas.openxmlformats.org/drawingml/2006/table">
            <a:tbl>
              <a:tblPr firstRow="1" firstCol="1" bandRow="1">
                <a:tableStyleId>{1FECB4D8-DB02-4DC6-A0A2-4F2EBAE1DC90}</a:tableStyleId>
              </a:tblPr>
              <a:tblGrid>
                <a:gridCol w="856074">
                  <a:extLst>
                    <a:ext uri="{9D8B030D-6E8A-4147-A177-3AD203B41FA5}">
                      <a16:colId xmlns:a16="http://schemas.microsoft.com/office/drawing/2014/main" val="20000"/>
                    </a:ext>
                  </a:extLst>
                </a:gridCol>
                <a:gridCol w="2577785">
                  <a:extLst>
                    <a:ext uri="{9D8B030D-6E8A-4147-A177-3AD203B41FA5}">
                      <a16:colId xmlns:a16="http://schemas.microsoft.com/office/drawing/2014/main" val="20001"/>
                    </a:ext>
                  </a:extLst>
                </a:gridCol>
                <a:gridCol w="2963248">
                  <a:extLst>
                    <a:ext uri="{9D8B030D-6E8A-4147-A177-3AD203B41FA5}">
                      <a16:colId xmlns:a16="http://schemas.microsoft.com/office/drawing/2014/main" val="20002"/>
                    </a:ext>
                  </a:extLst>
                </a:gridCol>
              </a:tblGrid>
              <a:tr h="246312">
                <a:tc>
                  <a:txBody>
                    <a:bodyPr/>
                    <a:lstStyle/>
                    <a:p>
                      <a:pPr marL="0" marR="0" algn="ctr" defTabSz="1008400" rtl="0" eaLnBrk="1" latinLnBrk="0" hangingPunct="1">
                        <a:lnSpc>
                          <a:spcPct val="115000"/>
                        </a:lnSpc>
                        <a:spcBef>
                          <a:spcPts val="0"/>
                        </a:spcBef>
                        <a:spcAft>
                          <a:spcPts val="0"/>
                        </a:spcAft>
                      </a:pPr>
                      <a:r>
                        <a:rPr lang="en-US" sz="1200" kern="1200" dirty="0">
                          <a:effectLst/>
                          <a:latin typeface="+mj-lt"/>
                        </a:rPr>
                        <a:t>Sn. No</a:t>
                      </a:r>
                      <a:endParaRPr lang="en-US" sz="1200" b="1" kern="1200" dirty="0">
                        <a:solidFill>
                          <a:srgbClr val="FFFFFF"/>
                        </a:solidFill>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200" dirty="0">
                          <a:effectLst/>
                          <a:latin typeface="+mj-lt"/>
                        </a:rPr>
                        <a:t>Board of Directors</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200" dirty="0">
                          <a:effectLst/>
                          <a:latin typeface="+mj-lt"/>
                        </a:rPr>
                        <a:t>Major Board Committees</a:t>
                      </a:r>
                      <a:endParaRPr lang="en-US" sz="1200" dirty="0">
                        <a:effectLst/>
                        <a:latin typeface="+mj-lt"/>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1.</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Chairman (Independent)</a:t>
                      </a:r>
                      <a:endParaRPr lang="en-US" sz="1200" dirty="0">
                        <a:effectLst/>
                        <a:latin typeface="+mj-lt"/>
                        <a:ea typeface="Arial" panose="020B0604020202020204" pitchFamily="34" charset="0"/>
                        <a:cs typeface="Arial" panose="020B0604020202020204" pitchFamily="34" charset="0"/>
                      </a:endParaRPr>
                    </a:p>
                  </a:txBody>
                  <a:tcPr marL="68580" marR="68580" marT="0" marB="0"/>
                </a:tc>
                <a:tc rowSpan="9">
                  <a:txBody>
                    <a:bodyPr/>
                    <a:lstStyle/>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latin typeface="+mj-lt"/>
                          <a:ea typeface="Arial" panose="020B0604020202020204" pitchFamily="34" charset="0"/>
                          <a:cs typeface="Arial" panose="020B0604020202020204" pitchFamily="34" charset="0"/>
                        </a:rPr>
                        <a:t>Control &amp; Risk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latin typeface="+mj-lt"/>
                          <a:ea typeface="Arial" panose="020B0604020202020204" pitchFamily="34" charset="0"/>
                          <a:cs typeface="Arial" panose="020B0604020202020204" pitchFamily="34" charset="0"/>
                        </a:rPr>
                        <a:t>Nomination &amp; Compensation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latin typeface="+mj-lt"/>
                          <a:ea typeface="Arial" panose="020B0604020202020204" pitchFamily="34" charset="0"/>
                          <a:cs typeface="Arial" panose="020B0604020202020204" pitchFamily="34" charset="0"/>
                        </a:rPr>
                        <a:t>Related Parties Committee</a:t>
                      </a:r>
                    </a:p>
                    <a:p>
                      <a:pPr marL="285750" marR="0" indent="-285750" algn="l">
                        <a:lnSpc>
                          <a:spcPct val="100000"/>
                        </a:lnSpc>
                        <a:spcBef>
                          <a:spcPts val="600"/>
                        </a:spcBef>
                        <a:spcAft>
                          <a:spcPts val="0"/>
                        </a:spcAft>
                        <a:buFont typeface="Arial" panose="020B0604020202020204" pitchFamily="34" charset="0"/>
                        <a:buChar char="•"/>
                      </a:pPr>
                      <a:r>
                        <a:rPr lang="en-US" sz="1200" baseline="0" dirty="0">
                          <a:effectLst/>
                          <a:latin typeface="+mj-lt"/>
                          <a:ea typeface="Arial" panose="020B0604020202020204" pitchFamily="34" charset="0"/>
                          <a:cs typeface="Arial" panose="020B0604020202020204" pitchFamily="34" charset="0"/>
                        </a:rPr>
                        <a:t>Corporate Governance &amp; Sustainability Committee</a:t>
                      </a:r>
                    </a:p>
                  </a:txBody>
                  <a:tcPr marL="68580" marR="68580" marT="0" marB="0"/>
                </a:tc>
                <a:extLst>
                  <a:ext uri="{0D108BD9-81ED-4DB2-BD59-A6C34878D82A}">
                    <a16:rowId xmlns:a16="http://schemas.microsoft.com/office/drawing/2014/main" val="10001"/>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2.</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CEO &amp; General Manager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2"/>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3.</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Non-executive</a:t>
                      </a:r>
                      <a:r>
                        <a:rPr lang="en-US" sz="1200" baseline="0" dirty="0">
                          <a:effectLst/>
                          <a:latin typeface="+mj-lt"/>
                        </a:rPr>
                        <a:t> </a:t>
                      </a:r>
                      <a:r>
                        <a:rPr lang="en-US" sz="1200" dirty="0">
                          <a:effectLst/>
                          <a:latin typeface="+mj-lt"/>
                        </a:rPr>
                        <a:t>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3"/>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4.</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4"/>
                  </a:ext>
                </a:extLst>
              </a:tr>
              <a:tr h="275796">
                <a:tc>
                  <a:txBody>
                    <a:bodyPr/>
                    <a:lstStyle/>
                    <a:p>
                      <a:pPr marL="0" marR="0" lvl="0" indent="0" algn="ctr">
                        <a:lnSpc>
                          <a:spcPct val="115000"/>
                        </a:lnSpc>
                        <a:spcBef>
                          <a:spcPts val="0"/>
                        </a:spcBef>
                        <a:spcAft>
                          <a:spcPts val="0"/>
                        </a:spcAft>
                        <a:buFont typeface="+mj-lt"/>
                        <a:buNone/>
                      </a:pPr>
                      <a:r>
                        <a:rPr lang="en-US" sz="1200" dirty="0">
                          <a:effectLst/>
                          <a:latin typeface="+mj-lt"/>
                        </a:rPr>
                        <a:t>5.</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lvl="0" indent="0" algn="ctr" defTabSz="1008400" rtl="0" eaLnBrk="1" fontAlgn="auto" latinLnBrk="0" hangingPunct="1">
                        <a:lnSpc>
                          <a:spcPct val="115000"/>
                        </a:lnSpc>
                        <a:spcBef>
                          <a:spcPts val="600"/>
                        </a:spcBef>
                        <a:spcAft>
                          <a:spcPts val="0"/>
                        </a:spcAft>
                        <a:buClrTx/>
                        <a:buSzTx/>
                        <a:buFontTx/>
                        <a:buNone/>
                        <a:tabLst/>
                        <a:defRPr/>
                      </a:pPr>
                      <a:r>
                        <a:rPr lang="en-US" sz="1200" kern="1200" dirty="0">
                          <a:solidFill>
                            <a:schemeClr val="dk1"/>
                          </a:solidFill>
                          <a:effectLst/>
                          <a:latin typeface="+mn-lt"/>
                          <a:ea typeface="+mn-ea"/>
                          <a:cs typeface="+mn-cs"/>
                        </a:rPr>
                        <a:t>Non-ex &amp; Independent Director</a:t>
                      </a:r>
                      <a:endParaRPr lang="en-US" sz="1200" kern="1200" dirty="0">
                        <a:solidFill>
                          <a:schemeClr val="dk1"/>
                        </a:solidFill>
                        <a:effectLst/>
                        <a:latin typeface="+mn-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5"/>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6.</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6"/>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7.</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7"/>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8.</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tcPr>
                </a:tc>
                <a:extLst>
                  <a:ext uri="{0D108BD9-81ED-4DB2-BD59-A6C34878D82A}">
                    <a16:rowId xmlns:a16="http://schemas.microsoft.com/office/drawing/2014/main" val="10008"/>
                  </a:ext>
                </a:extLst>
              </a:tr>
              <a:tr h="246312">
                <a:tc>
                  <a:txBody>
                    <a:bodyPr/>
                    <a:lstStyle/>
                    <a:p>
                      <a:pPr marL="0" marR="0" lvl="0" indent="0" algn="ctr">
                        <a:lnSpc>
                          <a:spcPct val="115000"/>
                        </a:lnSpc>
                        <a:spcBef>
                          <a:spcPts val="0"/>
                        </a:spcBef>
                        <a:spcAft>
                          <a:spcPts val="0"/>
                        </a:spcAft>
                        <a:buFont typeface="+mj-lt"/>
                        <a:buNone/>
                      </a:pPr>
                      <a:r>
                        <a:rPr lang="en-US" sz="1200" dirty="0">
                          <a:effectLst/>
                          <a:latin typeface="+mj-lt"/>
                        </a:rPr>
                        <a:t>9.</a:t>
                      </a:r>
                      <a:endParaRPr lang="en-US" sz="1200" dirty="0">
                        <a:effectLst/>
                        <a:latin typeface="+mj-lt"/>
                        <a:ea typeface="Arial" panose="020B0604020202020204" pitchFamily="34" charset="0"/>
                        <a:cs typeface="Arial" panose="020B0604020202020204" pitchFamily="34" charset="0"/>
                      </a:endParaRPr>
                    </a:p>
                  </a:txBody>
                  <a:tcPr marL="68580" marR="68580" marT="0" marB="0"/>
                </a:tc>
                <a:tc>
                  <a:txBody>
                    <a:bodyPr/>
                    <a:lstStyle/>
                    <a:p>
                      <a:pPr marL="0" marR="0" algn="ctr">
                        <a:lnSpc>
                          <a:spcPct val="115000"/>
                        </a:lnSpc>
                        <a:spcBef>
                          <a:spcPts val="600"/>
                        </a:spcBef>
                        <a:spcAft>
                          <a:spcPts val="0"/>
                        </a:spcAft>
                      </a:pPr>
                      <a:r>
                        <a:rPr lang="en-US" sz="1200" dirty="0">
                          <a:effectLst/>
                          <a:latin typeface="+mj-lt"/>
                        </a:rPr>
                        <a:t>Non-ex &amp; Independent Director</a:t>
                      </a:r>
                      <a:endParaRPr lang="en-US" sz="1200" dirty="0">
                        <a:effectLst/>
                        <a:latin typeface="+mj-lt"/>
                        <a:ea typeface="Arial" panose="020B0604020202020204" pitchFamily="34" charset="0"/>
                        <a:cs typeface="Arial" panose="020B0604020202020204" pitchFamily="34" charset="0"/>
                      </a:endParaRPr>
                    </a:p>
                  </a:txBody>
                  <a:tcPr marL="68580" marR="68580" marT="0" marB="0"/>
                </a:tc>
                <a:tc vMerge="1">
                  <a:txBody>
                    <a:bodyPr/>
                    <a:lstStyle/>
                    <a:p>
                      <a:pPr marL="0" marR="0" algn="ctr">
                        <a:lnSpc>
                          <a:spcPct val="115000"/>
                        </a:lnSpc>
                        <a:spcBef>
                          <a:spcPts val="0"/>
                        </a:spcBef>
                        <a:spcAft>
                          <a:spcPts val="0"/>
                        </a:spcAft>
                      </a:pPr>
                      <a:endParaRPr lang="en-US" sz="1400" dirty="0">
                        <a:effectLst/>
                        <a:latin typeface="+mj-lt"/>
                        <a:ea typeface="Arial" panose="020B0604020202020204" pitchFamily="34" charset="0"/>
                        <a:cs typeface="Arial" panose="020B0604020202020204" pitchFamily="34" charset="0"/>
                      </a:endParaRPr>
                    </a:p>
                  </a:txBody>
                  <a:tcPr marL="68580" marR="68580" marT="0" marB="0">
                    <a:lnL w="12700" cap="flat" cmpd="sng" algn="ctr">
                      <a:solidFill>
                        <a:srgbClr val="52CEFF"/>
                      </a:solidFill>
                      <a:prstDash val="solid"/>
                      <a:round/>
                      <a:headEnd type="none" w="med" len="med"/>
                      <a:tailEnd type="none" w="med" len="med"/>
                    </a:lnL>
                    <a:lnR w="12700" cap="flat" cmpd="sng" algn="ctr">
                      <a:solidFill>
                        <a:srgbClr val="52CEFF"/>
                      </a:solidFill>
                      <a:prstDash val="solid"/>
                      <a:round/>
                      <a:headEnd type="none" w="med" len="med"/>
                      <a:tailEnd type="none" w="med" len="med"/>
                    </a:lnR>
                    <a:lnT w="12700" cap="flat" cmpd="sng" algn="ctr">
                      <a:solidFill>
                        <a:srgbClr val="52CEFF"/>
                      </a:solidFill>
                      <a:prstDash val="solid"/>
                      <a:round/>
                      <a:headEnd type="none" w="med" len="med"/>
                      <a:tailEnd type="none" w="med" len="med"/>
                    </a:lnT>
                    <a:lnB w="12700" cap="flat" cmpd="sng" algn="ctr">
                      <a:solidFill>
                        <a:srgbClr val="52CEFF"/>
                      </a:solidFill>
                      <a:prstDash val="solid"/>
                      <a:round/>
                      <a:headEnd type="none" w="med" len="med"/>
                      <a:tailEnd type="none" w="med" len="med"/>
                    </a:lnB>
                    <a:solidFill>
                      <a:srgbClr val="C5EEFF"/>
                    </a:solidFill>
                  </a:tcPr>
                </a:tc>
                <a:extLst>
                  <a:ext uri="{0D108BD9-81ED-4DB2-BD59-A6C34878D82A}">
                    <a16:rowId xmlns:a16="http://schemas.microsoft.com/office/drawing/2014/main" val="10009"/>
                  </a:ext>
                </a:extLst>
              </a:tr>
            </a:tbl>
          </a:graphicData>
        </a:graphic>
      </p:graphicFrame>
      <p:cxnSp>
        <p:nvCxnSpPr>
          <p:cNvPr id="10" name="Straight Connector 9"/>
          <p:cNvCxnSpPr/>
          <p:nvPr/>
        </p:nvCxnSpPr>
        <p:spPr>
          <a:xfrm>
            <a:off x="439793" y="4552461"/>
            <a:ext cx="639710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66118" y="4436568"/>
            <a:ext cx="4652787" cy="215444"/>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ENEL (Italy based MNC with GTD operations)</a:t>
            </a:r>
            <a:endParaRPr lang="en-IN" sz="1400" b="1" dirty="0">
              <a:solidFill>
                <a:srgbClr val="313131"/>
              </a:solidFill>
            </a:endParaRPr>
          </a:p>
        </p:txBody>
      </p:sp>
      <p:sp>
        <p:nvSpPr>
          <p:cNvPr id="12" name="Isosceles Triangle 11"/>
          <p:cNvSpPr/>
          <p:nvPr/>
        </p:nvSpPr>
        <p:spPr bwMode="gray">
          <a:xfrm rot="5400000">
            <a:off x="4256082" y="4078427"/>
            <a:ext cx="6080950" cy="302656"/>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prstClr val="white"/>
              </a:solidFill>
            </a:endParaRPr>
          </a:p>
        </p:txBody>
      </p:sp>
      <p:sp>
        <p:nvSpPr>
          <p:cNvPr id="13" name="TextBox 12"/>
          <p:cNvSpPr txBox="1"/>
          <p:nvPr/>
        </p:nvSpPr>
        <p:spPr>
          <a:xfrm>
            <a:off x="7863224" y="1938098"/>
            <a:ext cx="2362520" cy="553998"/>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Board size ranging from 9 - 12</a:t>
            </a:r>
          </a:p>
        </p:txBody>
      </p:sp>
      <p:sp>
        <p:nvSpPr>
          <p:cNvPr id="14" name="Oval 13"/>
          <p:cNvSpPr/>
          <p:nvPr/>
        </p:nvSpPr>
        <p:spPr bwMode="gray">
          <a:xfrm>
            <a:off x="7522542" y="2025183"/>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1</a:t>
            </a:r>
          </a:p>
        </p:txBody>
      </p:sp>
      <p:sp>
        <p:nvSpPr>
          <p:cNvPr id="15" name="TextBox 14"/>
          <p:cNvSpPr txBox="1"/>
          <p:nvPr/>
        </p:nvSpPr>
        <p:spPr>
          <a:xfrm>
            <a:off x="7863224" y="3941401"/>
            <a:ext cx="2362520" cy="738664"/>
          </a:xfrm>
          <a:prstGeom prst="rect">
            <a:avLst/>
          </a:prstGeom>
          <a:solidFill>
            <a:schemeClr val="accent3">
              <a:lumMod val="20000"/>
              <a:lumOff val="80000"/>
            </a:schemeClr>
          </a:solidFill>
        </p:spPr>
        <p:txBody>
          <a:bodyPr wrap="square" lIns="91440" tIns="91440" rIns="91440" bIns="91440" rtlCol="0">
            <a:spAutoFit/>
          </a:bodyPr>
          <a:lstStyle>
            <a:defPPr>
              <a:defRPr lang="en-US"/>
            </a:defPPr>
            <a:lvl1pPr algn="just">
              <a:spcBef>
                <a:spcPts val="600"/>
              </a:spcBef>
              <a:buSzPct val="100000"/>
              <a:defRPr sz="1400" b="1">
                <a:latin typeface="+mj-lt"/>
                <a:ea typeface="Arial" panose="020B0604020202020204" pitchFamily="34" charset="0"/>
                <a:cs typeface="Arial" panose="020B0604020202020204" pitchFamily="34" charset="0"/>
              </a:defRPr>
            </a:lvl1pPr>
          </a:lstStyle>
          <a:p>
            <a:r>
              <a:rPr lang="en-US" sz="1200" dirty="0">
                <a:solidFill>
                  <a:prstClr val="black"/>
                </a:solidFill>
              </a:rPr>
              <a:t>Independent Directors comprising of 30% - 80% of Board</a:t>
            </a:r>
          </a:p>
        </p:txBody>
      </p:sp>
      <p:sp>
        <p:nvSpPr>
          <p:cNvPr id="16" name="Oval 15"/>
          <p:cNvSpPr/>
          <p:nvPr/>
        </p:nvSpPr>
        <p:spPr bwMode="gray">
          <a:xfrm>
            <a:off x="7522542" y="4120819"/>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2</a:t>
            </a:r>
          </a:p>
        </p:txBody>
      </p:sp>
      <p:sp>
        <p:nvSpPr>
          <p:cNvPr id="17" name="TextBox 16"/>
          <p:cNvSpPr txBox="1"/>
          <p:nvPr/>
        </p:nvSpPr>
        <p:spPr>
          <a:xfrm>
            <a:off x="7852218" y="6079614"/>
            <a:ext cx="2362520"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Board Committees focusing on Risk Mitigation &amp; Compliance</a:t>
            </a:r>
          </a:p>
        </p:txBody>
      </p:sp>
      <p:sp>
        <p:nvSpPr>
          <p:cNvPr id="18" name="Oval 17"/>
          <p:cNvSpPr/>
          <p:nvPr/>
        </p:nvSpPr>
        <p:spPr bwMode="gray">
          <a:xfrm>
            <a:off x="7522542" y="6257436"/>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3</a:t>
            </a:r>
          </a:p>
        </p:txBody>
      </p:sp>
    </p:spTree>
    <p:extLst>
      <p:ext uri="{BB962C8B-B14F-4D97-AF65-F5344CB8AC3E}">
        <p14:creationId xmlns:p14="http://schemas.microsoft.com/office/powerpoint/2010/main" val="155248309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439793" y="350131"/>
            <a:ext cx="9933400" cy="368439"/>
          </a:xfrm>
        </p:spPr>
        <p:txBody>
          <a:bodyPr/>
          <a:lstStyle/>
          <a:p>
            <a:r>
              <a:rPr lang="en-US" b="1" dirty="0"/>
              <a:t>Globally firms have </a:t>
            </a:r>
            <a:r>
              <a:rPr lang="en-US" b="1" dirty="0" err="1"/>
              <a:t>BoD</a:t>
            </a:r>
            <a:r>
              <a:rPr lang="en-US" b="1" dirty="0"/>
              <a:t> from diversified fields; Holding Company may follow similar structure as its peers for Corporate Governance</a:t>
            </a:r>
            <a:endParaRPr lang="en-IN" b="1" dirty="0"/>
          </a:p>
        </p:txBody>
      </p:sp>
      <p:graphicFrame>
        <p:nvGraphicFramePr>
          <p:cNvPr id="7" name="Table 6"/>
          <p:cNvGraphicFramePr>
            <a:graphicFrameLocks noGrp="1"/>
          </p:cNvGraphicFramePr>
          <p:nvPr/>
        </p:nvGraphicFramePr>
        <p:xfrm>
          <a:off x="429722" y="1599037"/>
          <a:ext cx="4331880" cy="2885149"/>
        </p:xfrm>
        <a:graphic>
          <a:graphicData uri="http://schemas.openxmlformats.org/drawingml/2006/table">
            <a:tbl>
              <a:tblPr firstRow="1" firstCol="1" bandRow="1">
                <a:tableStyleId>{1FECB4D8-DB02-4DC6-A0A2-4F2EBAE1DC90}</a:tableStyleId>
              </a:tblPr>
              <a:tblGrid>
                <a:gridCol w="1673086">
                  <a:extLst>
                    <a:ext uri="{9D8B030D-6E8A-4147-A177-3AD203B41FA5}">
                      <a16:colId xmlns:a16="http://schemas.microsoft.com/office/drawing/2014/main" val="20000"/>
                    </a:ext>
                  </a:extLst>
                </a:gridCol>
                <a:gridCol w="2658794">
                  <a:extLst>
                    <a:ext uri="{9D8B030D-6E8A-4147-A177-3AD203B41FA5}">
                      <a16:colId xmlns:a16="http://schemas.microsoft.com/office/drawing/2014/main" val="20001"/>
                    </a:ext>
                  </a:extLst>
                </a:gridCol>
              </a:tblGrid>
              <a:tr h="198229">
                <a:tc>
                  <a:txBody>
                    <a:bodyPr/>
                    <a:lstStyle/>
                    <a:p>
                      <a:pPr algn="just">
                        <a:spcAft>
                          <a:spcPts val="600"/>
                        </a:spcAft>
                      </a:pPr>
                      <a:r>
                        <a:rPr lang="en-US" sz="1100" dirty="0">
                          <a:effectLst/>
                        </a:rPr>
                        <a:t>Directors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tc>
                  <a:txBody>
                    <a:bodyPr/>
                    <a:lstStyle/>
                    <a:p>
                      <a:pPr algn="just">
                        <a:spcAft>
                          <a:spcPts val="600"/>
                        </a:spcAft>
                      </a:pPr>
                      <a:r>
                        <a:rPr lang="en-US" sz="1100" dirty="0">
                          <a:effectLst/>
                        </a:rPr>
                        <a:t>Competency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10000"/>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Thermal Generation</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1"/>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Finance</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2"/>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3</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Human Resources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3"/>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4</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Commercial</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4"/>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5</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Thermal Generation</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5"/>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6</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Administration (IAS)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6"/>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7</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Energy Policy Planning</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7"/>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8</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Finance</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8"/>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9</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Administration (IAS)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9"/>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10</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Administration (IAS)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0"/>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Human Resources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1"/>
                  </a:ext>
                </a:extLst>
              </a:tr>
              <a:tr h="223910">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Sustainability</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2"/>
                  </a:ext>
                </a:extLst>
              </a:tr>
            </a:tbl>
          </a:graphicData>
        </a:graphic>
      </p:graphicFrame>
      <p:cxnSp>
        <p:nvCxnSpPr>
          <p:cNvPr id="9" name="Straight Connector 8"/>
          <p:cNvCxnSpPr/>
          <p:nvPr/>
        </p:nvCxnSpPr>
        <p:spPr>
          <a:xfrm>
            <a:off x="439791" y="1227865"/>
            <a:ext cx="978595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483852" y="1111790"/>
            <a:ext cx="3845280" cy="215444"/>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Competencies of Board Members</a:t>
            </a:r>
            <a:endParaRPr lang="en-IN" sz="1400" b="1" dirty="0">
              <a:solidFill>
                <a:srgbClr val="313131"/>
              </a:solidFill>
            </a:endParaRPr>
          </a:p>
        </p:txBody>
      </p:sp>
      <p:sp>
        <p:nvSpPr>
          <p:cNvPr id="12" name="Rectangle 11"/>
          <p:cNvSpPr/>
          <p:nvPr/>
        </p:nvSpPr>
        <p:spPr>
          <a:xfrm>
            <a:off x="598396" y="1281525"/>
            <a:ext cx="4014669" cy="283539"/>
          </a:xfrm>
          <a:prstGeom prst="rect">
            <a:avLst/>
          </a:prstGeom>
        </p:spPr>
        <p:txBody>
          <a:bodyPr>
            <a:spAutoFit/>
          </a:bodyPr>
          <a:lstStyle/>
          <a:p>
            <a:pPr algn="ctr">
              <a:lnSpc>
                <a:spcPct val="115000"/>
              </a:lnSpc>
            </a:pPr>
            <a:r>
              <a:rPr lang="en-US" sz="1200" b="1" i="1" dirty="0">
                <a:solidFill>
                  <a:prstClr val="black"/>
                </a:solidFill>
                <a:ea typeface="Arial" panose="020B0604020202020204" pitchFamily="34" charset="0"/>
                <a:cs typeface="Arial" panose="020B0604020202020204" pitchFamily="34" charset="0"/>
              </a:rPr>
              <a:t>NTPC Ltd.</a:t>
            </a:r>
          </a:p>
        </p:txBody>
      </p:sp>
      <p:graphicFrame>
        <p:nvGraphicFramePr>
          <p:cNvPr id="13" name="Table 12"/>
          <p:cNvGraphicFramePr>
            <a:graphicFrameLocks noGrp="1"/>
          </p:cNvGraphicFramePr>
          <p:nvPr/>
        </p:nvGraphicFramePr>
        <p:xfrm>
          <a:off x="5893864" y="1599038"/>
          <a:ext cx="4331880" cy="2919119"/>
        </p:xfrm>
        <a:graphic>
          <a:graphicData uri="http://schemas.openxmlformats.org/drawingml/2006/table">
            <a:tbl>
              <a:tblPr firstRow="1" firstCol="1" bandRow="1">
                <a:tableStyleId>{1FECB4D8-DB02-4DC6-A0A2-4F2EBAE1DC90}</a:tableStyleId>
              </a:tblPr>
              <a:tblGrid>
                <a:gridCol w="1673086">
                  <a:extLst>
                    <a:ext uri="{9D8B030D-6E8A-4147-A177-3AD203B41FA5}">
                      <a16:colId xmlns:a16="http://schemas.microsoft.com/office/drawing/2014/main" val="20000"/>
                    </a:ext>
                  </a:extLst>
                </a:gridCol>
                <a:gridCol w="2658794">
                  <a:extLst>
                    <a:ext uri="{9D8B030D-6E8A-4147-A177-3AD203B41FA5}">
                      <a16:colId xmlns:a16="http://schemas.microsoft.com/office/drawing/2014/main" val="20001"/>
                    </a:ext>
                  </a:extLst>
                </a:gridCol>
              </a:tblGrid>
              <a:tr h="185063">
                <a:tc>
                  <a:txBody>
                    <a:bodyPr/>
                    <a:lstStyle/>
                    <a:p>
                      <a:pPr algn="just">
                        <a:spcAft>
                          <a:spcPts val="600"/>
                        </a:spcAft>
                      </a:pPr>
                      <a:r>
                        <a:rPr lang="en-US" sz="1100" dirty="0">
                          <a:effectLst/>
                        </a:rPr>
                        <a:t>Directors</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tc>
                  <a:txBody>
                    <a:bodyPr/>
                    <a:lstStyle/>
                    <a:p>
                      <a:pPr algn="just">
                        <a:spcAft>
                          <a:spcPts val="600"/>
                        </a:spcAft>
                      </a:pPr>
                      <a:r>
                        <a:rPr lang="en-US" sz="1100" dirty="0">
                          <a:effectLst/>
                        </a:rPr>
                        <a:t>Competency</a:t>
                      </a:r>
                      <a:endParaRPr lang="en-IN" sz="1100" dirty="0">
                        <a:effectLst/>
                        <a:latin typeface="Calibri" panose="020F0502020204030204" pitchFamily="34" charset="0"/>
                        <a:ea typeface="Times"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10000"/>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1"/>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Strategy</a:t>
                      </a:r>
                      <a:endParaRPr lang="en-IN" sz="1200" b="0" kern="120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2"/>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3</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Economics</a:t>
                      </a:r>
                      <a:endParaRPr lang="en-IN" sz="1200" b="0" kern="120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3"/>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4</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Economics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4"/>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5</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Legal and Public Policy</a:t>
                      </a:r>
                      <a:endParaRPr lang="en-IN" sz="1200" b="0" kern="120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5"/>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6</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6"/>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7</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Legal and Regulatory</a:t>
                      </a:r>
                      <a:endParaRPr lang="en-IN" sz="1200" b="0" kern="120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7"/>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8</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Economics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8"/>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9</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a:solidFill>
                            <a:schemeClr val="dk1"/>
                          </a:solidFill>
                          <a:effectLst/>
                          <a:latin typeface="+mn-lt"/>
                          <a:ea typeface="+mn-ea"/>
                          <a:cs typeface="+mn-cs"/>
                        </a:rPr>
                        <a:t>Administration</a:t>
                      </a:r>
                      <a:endParaRPr lang="en-IN" sz="1200" b="0" kern="120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09"/>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10</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Legal</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0"/>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11</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1"/>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12</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Economics</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2"/>
                  </a:ext>
                </a:extLst>
              </a:tr>
              <a:tr h="209038">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Director 13</a:t>
                      </a:r>
                      <a:endParaRPr lang="en-IN" sz="1200" b="0" kern="1200" dirty="0">
                        <a:solidFill>
                          <a:schemeClr val="dk1"/>
                        </a:solidFill>
                        <a:effectLst/>
                        <a:latin typeface="+mn-lt"/>
                        <a:ea typeface="+mn-ea"/>
                        <a:cs typeface="+mn-cs"/>
                      </a:endParaRPr>
                    </a:p>
                  </a:txBody>
                  <a:tcPr marL="68580" marR="68580" marT="0" marB="0" anchor="b"/>
                </a:tc>
                <a:tc>
                  <a:txBody>
                    <a:bodyPr/>
                    <a:lstStyle/>
                    <a:p>
                      <a:pPr marL="0" marR="0" algn="l" defTabSz="1008400" rtl="0" eaLnBrk="1" latinLnBrk="0" hangingPunct="1">
                        <a:lnSpc>
                          <a:spcPct val="115000"/>
                        </a:lnSpc>
                        <a:spcBef>
                          <a:spcPts val="600"/>
                        </a:spcBef>
                        <a:spcAft>
                          <a:spcPts val="0"/>
                        </a:spcAft>
                      </a:pPr>
                      <a:r>
                        <a:rPr lang="en-US" sz="1200" b="0" kern="1200" dirty="0">
                          <a:solidFill>
                            <a:schemeClr val="dk1"/>
                          </a:solidFill>
                          <a:effectLst/>
                          <a:latin typeface="+mn-lt"/>
                          <a:ea typeface="+mn-ea"/>
                          <a:cs typeface="+mn-cs"/>
                        </a:rPr>
                        <a:t>Strategy</a:t>
                      </a:r>
                      <a:endParaRPr lang="en-IN" sz="1200" b="0" kern="1200" dirty="0">
                        <a:solidFill>
                          <a:schemeClr val="dk1"/>
                        </a:solidFill>
                        <a:effectLst/>
                        <a:latin typeface="+mn-lt"/>
                        <a:ea typeface="+mn-ea"/>
                        <a:cs typeface="+mn-cs"/>
                      </a:endParaRPr>
                    </a:p>
                  </a:txBody>
                  <a:tcPr marL="68580" marR="68580" marT="0" marB="0" anchor="b"/>
                </a:tc>
                <a:extLst>
                  <a:ext uri="{0D108BD9-81ED-4DB2-BD59-A6C34878D82A}">
                    <a16:rowId xmlns:a16="http://schemas.microsoft.com/office/drawing/2014/main" val="10013"/>
                  </a:ext>
                </a:extLst>
              </a:tr>
            </a:tbl>
          </a:graphicData>
        </a:graphic>
      </p:graphicFrame>
      <p:sp>
        <p:nvSpPr>
          <p:cNvPr id="14" name="Rectangle 13"/>
          <p:cNvSpPr/>
          <p:nvPr/>
        </p:nvSpPr>
        <p:spPr>
          <a:xfrm>
            <a:off x="6052469" y="1282705"/>
            <a:ext cx="4014669" cy="283539"/>
          </a:xfrm>
          <a:prstGeom prst="rect">
            <a:avLst/>
          </a:prstGeom>
        </p:spPr>
        <p:txBody>
          <a:bodyPr>
            <a:spAutoFit/>
          </a:bodyPr>
          <a:lstStyle/>
          <a:p>
            <a:pPr algn="ctr">
              <a:lnSpc>
                <a:spcPct val="115000"/>
              </a:lnSpc>
            </a:pPr>
            <a:r>
              <a:rPr lang="en-US" sz="1200" b="1" i="1" dirty="0">
                <a:solidFill>
                  <a:prstClr val="black"/>
                </a:solidFill>
                <a:ea typeface="Arial" panose="020B0604020202020204" pitchFamily="34" charset="0"/>
                <a:cs typeface="Arial" panose="020B0604020202020204" pitchFamily="34" charset="0"/>
              </a:rPr>
              <a:t>Iberdrola S.A (Spain)</a:t>
            </a:r>
          </a:p>
        </p:txBody>
      </p:sp>
      <p:cxnSp>
        <p:nvCxnSpPr>
          <p:cNvPr id="16" name="Straight Connector 15"/>
          <p:cNvCxnSpPr/>
          <p:nvPr/>
        </p:nvCxnSpPr>
        <p:spPr>
          <a:xfrm>
            <a:off x="364963" y="4689605"/>
            <a:ext cx="97859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483852" y="4565213"/>
            <a:ext cx="3317908" cy="215444"/>
          </a:xfrm>
          <a:prstGeom prst="rect">
            <a:avLst/>
          </a:prstGeom>
          <a:solidFill>
            <a:schemeClr val="bg1"/>
          </a:solidFill>
        </p:spPr>
        <p:txBody>
          <a:bodyPr wrap="square" lIns="0" tIns="0" rIns="0" bIns="0" rtlCol="0">
            <a:spAutoFit/>
          </a:bodyPr>
          <a:lstStyle/>
          <a:p>
            <a:pPr algn="ctr">
              <a:buSzPct val="100000"/>
            </a:pPr>
            <a:r>
              <a:rPr lang="en-US" sz="1400" b="1" dirty="0">
                <a:solidFill>
                  <a:srgbClr val="313131"/>
                </a:solidFill>
              </a:rPr>
              <a:t>Key Recommendations</a:t>
            </a:r>
          </a:p>
        </p:txBody>
      </p:sp>
      <p:sp>
        <p:nvSpPr>
          <p:cNvPr id="18" name="TextBox 17"/>
          <p:cNvSpPr txBox="1"/>
          <p:nvPr/>
        </p:nvSpPr>
        <p:spPr>
          <a:xfrm>
            <a:off x="727428" y="4925695"/>
            <a:ext cx="9445268" cy="553998"/>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US" sz="1200" b="1" dirty="0">
                <a:solidFill>
                  <a:prstClr val="black"/>
                </a:solidFill>
                <a:ea typeface="Arial" panose="020B0604020202020204" pitchFamily="34" charset="0"/>
                <a:cs typeface="Arial" panose="020B0604020202020204" pitchFamily="34" charset="0"/>
              </a:rPr>
              <a:t>In line with regulatory requirements of Bangladesh and structure of leading entities worldwide, BPDB Holding Company may have a Board Strength of 12 members</a:t>
            </a:r>
          </a:p>
        </p:txBody>
      </p:sp>
      <p:sp>
        <p:nvSpPr>
          <p:cNvPr id="19" name="Oval 18"/>
          <p:cNvSpPr/>
          <p:nvPr/>
        </p:nvSpPr>
        <p:spPr bwMode="gray">
          <a:xfrm>
            <a:off x="386746" y="5012780"/>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1</a:t>
            </a:r>
          </a:p>
        </p:txBody>
      </p:sp>
      <p:sp>
        <p:nvSpPr>
          <p:cNvPr id="20" name="TextBox 19"/>
          <p:cNvSpPr txBox="1"/>
          <p:nvPr/>
        </p:nvSpPr>
        <p:spPr>
          <a:xfrm>
            <a:off x="727428" y="5715781"/>
            <a:ext cx="9445268" cy="738664"/>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IN" sz="1200" b="1" dirty="0">
                <a:solidFill>
                  <a:prstClr val="black"/>
                </a:solidFill>
                <a:ea typeface="Arial" panose="020B0604020202020204" pitchFamily="34" charset="0"/>
                <a:cs typeface="Arial" panose="020B0604020202020204" pitchFamily="34" charset="0"/>
              </a:rPr>
              <a:t>The Board should have representation by Independent Directors and have a mix of diverse skill-sets including power Generation, Distribution, Power Markets, Finance, Economics, Strategy, Legal, Administration, Planning etc. </a:t>
            </a:r>
            <a:endParaRPr lang="en-US" sz="1200" b="1" dirty="0">
              <a:solidFill>
                <a:prstClr val="black"/>
              </a:solidFill>
              <a:ea typeface="Arial" panose="020B0604020202020204" pitchFamily="34" charset="0"/>
              <a:cs typeface="Arial" panose="020B0604020202020204" pitchFamily="34" charset="0"/>
            </a:endParaRPr>
          </a:p>
        </p:txBody>
      </p:sp>
      <p:sp>
        <p:nvSpPr>
          <p:cNvPr id="21" name="Oval 20"/>
          <p:cNvSpPr/>
          <p:nvPr/>
        </p:nvSpPr>
        <p:spPr bwMode="gray">
          <a:xfrm>
            <a:off x="386746" y="5892272"/>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2</a:t>
            </a:r>
          </a:p>
        </p:txBody>
      </p:sp>
      <p:sp>
        <p:nvSpPr>
          <p:cNvPr id="22" name="TextBox 21"/>
          <p:cNvSpPr txBox="1"/>
          <p:nvPr/>
        </p:nvSpPr>
        <p:spPr>
          <a:xfrm>
            <a:off x="727428" y="6677111"/>
            <a:ext cx="9445268" cy="553998"/>
          </a:xfrm>
          <a:prstGeom prst="rect">
            <a:avLst/>
          </a:prstGeom>
          <a:solidFill>
            <a:schemeClr val="accent3">
              <a:lumMod val="20000"/>
              <a:lumOff val="80000"/>
            </a:schemeClr>
          </a:solidFill>
        </p:spPr>
        <p:txBody>
          <a:bodyPr wrap="square" lIns="91440" tIns="91440" rIns="91440" bIns="91440" rtlCol="0">
            <a:spAutoFit/>
          </a:bodyPr>
          <a:lstStyle/>
          <a:p>
            <a:pPr algn="just">
              <a:spcBef>
                <a:spcPts val="600"/>
              </a:spcBef>
              <a:buSzPct val="100000"/>
            </a:pPr>
            <a:r>
              <a:rPr lang="en-IN" sz="1200" b="1" dirty="0">
                <a:solidFill>
                  <a:prstClr val="black"/>
                </a:solidFill>
                <a:ea typeface="Arial" panose="020B0604020202020204" pitchFamily="34" charset="0"/>
                <a:cs typeface="Arial" panose="020B0604020202020204" pitchFamily="34" charset="0"/>
              </a:rPr>
              <a:t>The Board of Directors must form Audit &amp; Governance Committees to ensure risk oversight and compliance to all governance policies applicable to the holding company</a:t>
            </a:r>
            <a:endParaRPr lang="en-US" sz="1200" b="1" dirty="0">
              <a:solidFill>
                <a:prstClr val="black"/>
              </a:solidFill>
              <a:ea typeface="Arial" panose="020B0604020202020204" pitchFamily="34" charset="0"/>
              <a:cs typeface="Arial" panose="020B0604020202020204" pitchFamily="34" charset="0"/>
            </a:endParaRPr>
          </a:p>
        </p:txBody>
      </p:sp>
      <p:sp>
        <p:nvSpPr>
          <p:cNvPr id="23" name="Oval 22"/>
          <p:cNvSpPr/>
          <p:nvPr/>
        </p:nvSpPr>
        <p:spPr bwMode="gray">
          <a:xfrm>
            <a:off x="386746" y="6764196"/>
            <a:ext cx="381600" cy="379827"/>
          </a:xfrm>
          <a:prstGeom prst="ellipse">
            <a:avLst/>
          </a:prstGeom>
          <a:solidFill>
            <a:schemeClr val="accent1">
              <a:lumMod val="60000"/>
              <a:lumOff val="40000"/>
            </a:schemeClr>
          </a:solidFill>
          <a:ln w="19050" algn="ctr">
            <a:solidFill>
              <a:schemeClr val="accent1">
                <a:lumMod val="60000"/>
                <a:lumOff val="4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prstClr val="white"/>
                </a:solidFill>
              </a:rPr>
              <a:t>3</a:t>
            </a:r>
          </a:p>
        </p:txBody>
      </p:sp>
    </p:spTree>
    <p:extLst>
      <p:ext uri="{BB962C8B-B14F-4D97-AF65-F5344CB8AC3E}">
        <p14:creationId xmlns:p14="http://schemas.microsoft.com/office/powerpoint/2010/main" val="203520964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Blank">
  <a:themeElements>
    <a:clrScheme name="Deloitte">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1B4789E1-CCA9-4D5D-8C09-15410A4FDF18}">
  <ds:schemaRefs>
    <ds:schemaRef ds:uri="http://schemas.microsoft.com/sharepoint/events"/>
  </ds:schemaRefs>
</ds:datastoreItem>
</file>

<file path=customXml/itemProps2.xml><?xml version="1.0" encoding="utf-8"?>
<ds:datastoreItem xmlns:ds="http://schemas.openxmlformats.org/officeDocument/2006/customXml" ds:itemID="{952BA92D-CBF5-4DB3-8A66-F7A39FC8F60E}"/>
</file>

<file path=customXml/itemProps3.xml><?xml version="1.0" encoding="utf-8"?>
<ds:datastoreItem xmlns:ds="http://schemas.openxmlformats.org/officeDocument/2006/customXml" ds:itemID="{5840D739-5959-49AC-92D7-192AF482ED8E}">
  <ds:schemaRefs>
    <ds:schemaRef ds:uri="http://schemas.microsoft.com/sharepoint/v3/contenttype/forms"/>
  </ds:schemaRefs>
</ds:datastoreItem>
</file>

<file path=customXml/itemProps4.xml><?xml version="1.0" encoding="utf-8"?>
<ds:datastoreItem xmlns:ds="http://schemas.openxmlformats.org/officeDocument/2006/customXml" ds:itemID="{4E4BF101-9CF0-4E56-886B-DA00D1617B30}">
  <ds:schemaRefs>
    <ds:schemaRef ds:uri="http://schemas.openxmlformats.org/package/2006/metadata/core-properties"/>
    <ds:schemaRef ds:uri="http://purl.org/dc/terms/"/>
    <ds:schemaRef ds:uri="7D1768DD-F29E-4DC2-9191-F2636B9FA92C"/>
    <ds:schemaRef ds:uri="http://schemas.microsoft.com/office/infopath/2007/PartnerControls"/>
    <ds:schemaRef ds:uri="http://purl.org/dc/elements/1.1/"/>
    <ds:schemaRef ds:uri="http://schemas.microsoft.com/office/2006/documentManagement/types"/>
    <ds:schemaRef ds:uri="http://schemas.microsoft.com/sharepoint/v3"/>
    <ds:schemaRef ds:uri="5a51c775-c49c-428b-8c1e-2f89178d00f4"/>
    <ds:schemaRef ds:uri="http://schemas.microsoft.com/office/2006/metadata/properties"/>
    <ds:schemaRef ds:uri="8DD08C88-CC4C-4D35-9129-A70DAA36BE5E"/>
    <ds:schemaRef ds:uri="83DDB362-4C05-4E52-A8D9-EF2F47978B8D"/>
    <ds:schemaRef ds:uri="b5436aa2-eb82-4c80-a3a6-ee54fd8cf274"/>
    <ds:schemaRef ds:uri="39C40E9B-856B-46A7-8793-65A6FC1828D8"/>
    <ds:schemaRef ds:uri="http://www.w3.org/XML/1998/namespace"/>
    <ds:schemaRef ds:uri="http://purl.org/dc/dcmitype/"/>
    <ds:schemaRef ds:uri="6fb8bfa5-8fea-4f93-ae50-985cd647ba13"/>
  </ds:schemaRefs>
</ds:datastoreItem>
</file>

<file path=docProps/app.xml><?xml version="1.0" encoding="utf-8"?>
<Properties xmlns="http://schemas.openxmlformats.org/officeDocument/2006/extended-properties" xmlns:vt="http://schemas.openxmlformats.org/officeDocument/2006/docPropsVTypes">
  <Template/>
  <TotalTime>43613</TotalTime>
  <Words>5778</Words>
  <Application>Microsoft Office PowerPoint</Application>
  <PresentationFormat>Custom</PresentationFormat>
  <Paragraphs>898</Paragraphs>
  <Slides>48</Slides>
  <Notes>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48</vt:i4>
      </vt:variant>
    </vt:vector>
  </HeadingPairs>
  <TitlesOfParts>
    <vt:vector size="57" baseType="lpstr">
      <vt:lpstr>Arial</vt:lpstr>
      <vt:lpstr>Calibri</vt:lpstr>
      <vt:lpstr>Symbol</vt:lpstr>
      <vt:lpstr>Times New Roman</vt:lpstr>
      <vt:lpstr>Verdana</vt:lpstr>
      <vt:lpstr>Wingdings 2</vt:lpstr>
      <vt:lpstr>1_Deloitte 16_9 onscreen</vt:lpstr>
      <vt:lpstr>Blank</vt:lpstr>
      <vt:lpstr>think-cell Slide</vt:lpstr>
      <vt:lpstr>PowerPoint Presentation</vt:lpstr>
      <vt:lpstr>Table of contents</vt:lpstr>
      <vt:lpstr>PowerPoint Presentation</vt:lpstr>
      <vt:lpstr>Scope of work</vt:lpstr>
      <vt:lpstr>PowerPoint Presentation</vt:lpstr>
      <vt:lpstr>Govt. Loans, lower bulk supply collection ratio and non-integrated sector planning has affected the performance of BPDB</vt:lpstr>
      <vt:lpstr>PowerPoint Presentation</vt:lpstr>
      <vt:lpstr>The sector trends aided by the policies require financial sustainability and integrated planning &amp; nodal management</vt:lpstr>
      <vt:lpstr>PowerPoint Presentation</vt:lpstr>
      <vt:lpstr>Proposed structural options &amp; evaluation summary for holding company</vt:lpstr>
      <vt:lpstr>Selected Structural option for establishing BPDB as a Holding Company</vt:lpstr>
      <vt:lpstr>Financial assessment of selected reform model and opportunity to unlock value for the holding company</vt:lpstr>
      <vt:lpstr>PowerPoint Presentation</vt:lpstr>
      <vt:lpstr>Proposed High-Level Functional / Departmental Organogram of Holding Company</vt:lpstr>
      <vt:lpstr>Proposed strengthening of functional areas</vt:lpstr>
      <vt:lpstr>Proposed new functional areas for holding company</vt:lpstr>
      <vt:lpstr>PowerPoint Presentation</vt:lpstr>
      <vt:lpstr>Preliminary proposed touchpoints of Holding Company and Subsidiaries</vt:lpstr>
      <vt:lpstr>Proposed High Level Relationship for Planning &amp; Development</vt:lpstr>
      <vt:lpstr>Proposed High Level Relationship for Financial Management</vt:lpstr>
      <vt:lpstr>Proposed High Level Relationship for Monitoring &amp; Accountability</vt:lpstr>
      <vt:lpstr>Proposed High Level Relationship for HR &amp; other Specialized Areas</vt:lpstr>
      <vt:lpstr>PowerPoint Presentation</vt:lpstr>
      <vt:lpstr>Key actions to ensure sustainability of Holding Company</vt:lpstr>
      <vt:lpstr>Benefits of proposed high-level value enablers &amp; functional strengthening measures</vt:lpstr>
      <vt:lpstr>Key performance improvement targets for generation and bulk supply business &amp; the concomitant savings</vt:lpstr>
      <vt:lpstr>Key performance improvement targets for distribution business &amp; the concomitant savings</vt:lpstr>
      <vt:lpstr>PowerPoint Presentation</vt:lpstr>
      <vt:lpstr>Immediate implementation steps and priority areas</vt:lpstr>
      <vt:lpstr>PowerPoint Presentation</vt:lpstr>
      <vt:lpstr>High-level implementation plan for reform of BPDB as a holding company</vt:lpstr>
      <vt:lpstr>PowerPoint Presentation</vt:lpstr>
      <vt:lpstr>As-is manpower arrangement of BPDB</vt:lpstr>
      <vt:lpstr>BPDB must undertake a comprehensive manpower assessment exercise to determine optimum manpower of holding company</vt:lpstr>
      <vt:lpstr>PowerPoint Presentation</vt:lpstr>
      <vt:lpstr>Key objectives and basic framework for benchmarking of compensation framework for holding company employees</vt:lpstr>
      <vt:lpstr>PowerPoint Presentation</vt:lpstr>
      <vt:lpstr>The Government Vision &amp; Policy along with existing regulations provide the framework for Corporate Governance in Bangladesh</vt:lpstr>
      <vt:lpstr>Key board governance practices followed in power sectors in Bangladesh and globally</vt:lpstr>
      <vt:lpstr>High Level recommendations for Board Governance of Holding Company</vt:lpstr>
      <vt:lpstr>The Board of Directors will need to address key immediate priority areas for effective functioning of Holding Company</vt:lpstr>
      <vt:lpstr>PowerPoint Presentation</vt:lpstr>
      <vt:lpstr>PowerPoint Presentation</vt:lpstr>
      <vt:lpstr>High level compensation comparison of BPDB, EGCB, NWZPDCL, PGCB</vt:lpstr>
      <vt:lpstr>Summary of compensation comparison and high-level guiding principles for compensation benchmarking for holding company</vt:lpstr>
      <vt:lpstr>Board Governance practices in Bangladesh Utilities conform to Corporate Governance Framework </vt:lpstr>
      <vt:lpstr>Board Governance practices globally include higher representation of independent directors and focus on risk mitigation and compliance</vt:lpstr>
      <vt:lpstr>Globally firms have BoD from diversified fields; Holding Company may follow similar structure as its peers for Corporate Governance</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Khiroria, Adit (IN - Kolkata)</dc:creator>
  <cp:lastModifiedBy>Khiroria, Adit</cp:lastModifiedBy>
  <cp:revision>6642</cp:revision>
  <cp:lastPrinted>2017-03-01T11:55:08Z</cp:lastPrinted>
  <dcterms:created xsi:type="dcterms:W3CDTF">2016-06-13T07:02:02Z</dcterms:created>
  <dcterms:modified xsi:type="dcterms:W3CDTF">2024-12-04T05:49:10Z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_dlc_DocIdItemGuid">
    <vt:lpwstr>5a3771e1-9eac-4107-aab8-cb01ed80b2ad</vt:lpwstr>
  </property>
  <property fmtid="{D5CDD505-2E9C-101B-9397-08002B2CF9AE}" pid="4" name="Local Content Type">
    <vt:lpwstr/>
  </property>
  <property fmtid="{D5CDD505-2E9C-101B-9397-08002B2CF9AE}" pid="5" name="TaxKeyword">
    <vt:lpwstr/>
  </property>
  <property fmtid="{D5CDD505-2E9C-101B-9397-08002B2CF9AE}" pid="6" name="Geography">
    <vt:lpwstr>18;#India (52387)|a87c33bf-1037-46ea-adf3-4e511a076333</vt:lpwstr>
  </property>
  <property fmtid="{D5CDD505-2E9C-101B-9397-08002B2CF9AE}" pid="7" name="Global Client Services">
    <vt:lpwstr/>
  </property>
  <property fmtid="{D5CDD505-2E9C-101B-9397-08002B2CF9AE}" pid="8" name="Local Industry">
    <vt:lpwstr/>
  </property>
  <property fmtid="{D5CDD505-2E9C-101B-9397-08002B2CF9AE}" pid="9" name="Global Industry">
    <vt:lpwstr/>
  </property>
  <property fmtid="{D5CDD505-2E9C-101B-9397-08002B2CF9AE}" pid="10" name="Global Content Type">
    <vt:lpwstr/>
  </property>
  <property fmtid="{D5CDD505-2E9C-101B-9397-08002B2CF9AE}" pid="11" name="LanguageB">
    <vt:lpwstr>2;#English|b169a262-1aaa-4ccb-9acf-78a36c1d9bab</vt:lpwstr>
  </property>
  <property fmtid="{D5CDD505-2E9C-101B-9397-08002B2CF9AE}" pid="12" name="Local Client Services">
    <vt:lpwstr/>
  </property>
  <property fmtid="{D5CDD505-2E9C-101B-9397-08002B2CF9AE}" pid="13" name="MSIP_Label_ea60d57e-af5b-4752-ac57-3e4f28ca11dc_Enabled">
    <vt:lpwstr>true</vt:lpwstr>
  </property>
  <property fmtid="{D5CDD505-2E9C-101B-9397-08002B2CF9AE}" pid="14" name="MSIP_Label_ea60d57e-af5b-4752-ac57-3e4f28ca11dc_SetDate">
    <vt:lpwstr>2024-12-04T05:49:10Z</vt:lpwstr>
  </property>
  <property fmtid="{D5CDD505-2E9C-101B-9397-08002B2CF9AE}" pid="15" name="MSIP_Label_ea60d57e-af5b-4752-ac57-3e4f28ca11dc_Method">
    <vt:lpwstr>Standard</vt:lpwstr>
  </property>
  <property fmtid="{D5CDD505-2E9C-101B-9397-08002B2CF9AE}" pid="16" name="MSIP_Label_ea60d57e-af5b-4752-ac57-3e4f28ca11dc_Name">
    <vt:lpwstr>ea60d57e-af5b-4752-ac57-3e4f28ca11dc</vt:lpwstr>
  </property>
  <property fmtid="{D5CDD505-2E9C-101B-9397-08002B2CF9AE}" pid="17" name="MSIP_Label_ea60d57e-af5b-4752-ac57-3e4f28ca11dc_SiteId">
    <vt:lpwstr>36da45f1-dd2c-4d1f-af13-5abe46b99921</vt:lpwstr>
  </property>
  <property fmtid="{D5CDD505-2E9C-101B-9397-08002B2CF9AE}" pid="18" name="MSIP_Label_ea60d57e-af5b-4752-ac57-3e4f28ca11dc_ActionId">
    <vt:lpwstr>08b4a87a-34d7-48f6-9054-ecf133345176</vt:lpwstr>
  </property>
  <property fmtid="{D5CDD505-2E9C-101B-9397-08002B2CF9AE}" pid="19" name="MSIP_Label_ea60d57e-af5b-4752-ac57-3e4f28ca11dc_ContentBits">
    <vt:lpwstr>0</vt:lpwstr>
  </property>
</Properties>
</file>