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2.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theme/theme3.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theme/theme4.xml" ContentType="application/vnd.openxmlformats-officedocument.them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theme/theme5.xml" ContentType="application/vnd.openxmlformats-officedocument.them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6.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notesSlides/notesSlide1.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charts/chart5.xml" ContentType="application/vnd.openxmlformats-officedocument.drawingml.chart+xml"/>
  <Override PartName="/ppt/charts/chart6.xml" ContentType="application/vnd.openxmlformats-officedocument.drawingml.chart+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3.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charts/chart13.xml" ContentType="application/vnd.openxmlformats-officedocument.drawingml.chart+xml"/>
  <Override PartName="/ppt/charts/chart14.xml" ContentType="application/vnd.openxmlformats-officedocument.drawingml.chart+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notesSlides/notesSlide4.xml" ContentType="application/vnd.openxmlformats-officedocument.presentationml.notesSlide+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77.xml" ContentType="application/vnd.openxmlformats-officedocument.presentationml.tags+xml"/>
  <Override PartName="/ppt/notesSlides/notesSlide6.xml" ContentType="application/vnd.openxmlformats-officedocument.presentationml.notesSlide+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charts/chart15.xml" ContentType="application/vnd.openxmlformats-officedocument.drawingml.chart+xml"/>
  <Override PartName="/ppt/charts/chart16.xml" ContentType="application/vnd.openxmlformats-officedocument.drawingml.chart+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charts/chart17.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991" r:id="rId4"/>
    <p:sldMasterId id="2147485133" r:id="rId5"/>
    <p:sldMasterId id="2147485216" r:id="rId6"/>
    <p:sldMasterId id="2147485285" r:id="rId7"/>
    <p:sldMasterId id="2147485356" r:id="rId8"/>
  </p:sldMasterIdLst>
  <p:notesMasterIdLst>
    <p:notesMasterId r:id="rId34"/>
  </p:notesMasterIdLst>
  <p:sldIdLst>
    <p:sldId id="622" r:id="rId9"/>
    <p:sldId id="599" r:id="rId10"/>
    <p:sldId id="521" r:id="rId11"/>
    <p:sldId id="602" r:id="rId12"/>
    <p:sldId id="603" r:id="rId13"/>
    <p:sldId id="604" r:id="rId14"/>
    <p:sldId id="605" r:id="rId15"/>
    <p:sldId id="609" r:id="rId16"/>
    <p:sldId id="606" r:id="rId17"/>
    <p:sldId id="610" r:id="rId18"/>
    <p:sldId id="623" r:id="rId19"/>
    <p:sldId id="631" r:id="rId20"/>
    <p:sldId id="633" r:id="rId21"/>
    <p:sldId id="634" r:id="rId22"/>
    <p:sldId id="637" r:id="rId23"/>
    <p:sldId id="636" r:id="rId24"/>
    <p:sldId id="638" r:id="rId25"/>
    <p:sldId id="639" r:id="rId26"/>
    <p:sldId id="641" r:id="rId27"/>
    <p:sldId id="640" r:id="rId28"/>
    <p:sldId id="621" r:id="rId29"/>
    <p:sldId id="642" r:id="rId30"/>
    <p:sldId id="481" r:id="rId31"/>
    <p:sldId id="607" r:id="rId32"/>
    <p:sldId id="608" r:id="rId33"/>
  </p:sldIdLst>
  <p:sldSz cx="12192000" cy="6858000"/>
  <p:notesSz cx="6858000" cy="91440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3A2B0CE-7651-4DB4-821B-945D93574373}">
          <p14:sldIdLst>
            <p14:sldId id="622"/>
            <p14:sldId id="599"/>
            <p14:sldId id="521"/>
            <p14:sldId id="602"/>
            <p14:sldId id="603"/>
            <p14:sldId id="604"/>
            <p14:sldId id="605"/>
            <p14:sldId id="609"/>
            <p14:sldId id="606"/>
            <p14:sldId id="610"/>
            <p14:sldId id="623"/>
            <p14:sldId id="631"/>
            <p14:sldId id="633"/>
            <p14:sldId id="634"/>
            <p14:sldId id="637"/>
            <p14:sldId id="636"/>
            <p14:sldId id="638"/>
            <p14:sldId id="639"/>
            <p14:sldId id="641"/>
            <p14:sldId id="640"/>
            <p14:sldId id="621"/>
            <p14:sldId id="642"/>
            <p14:sldId id="481"/>
            <p14:sldId id="607"/>
            <p14:sldId id="60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Mani, Siddharth" initials="MS [2]" lastIdx="2" clrIdx="6">
    <p:extLst>
      <p:ext uri="{19B8F6BF-5375-455C-9EA6-DF929625EA0E}">
        <p15:presenceInfo xmlns:p15="http://schemas.microsoft.com/office/powerpoint/2012/main" userId="S::simani@deloitte.com::ea703a10-db50-4df5-bf72-1a564ac3e541" providerId="AD"/>
      </p:ext>
    </p:extLst>
  </p:cmAuthor>
  <p:cmAuthor id="1" name="Kulkarni, Rajeev" initials="KR" lastIdx="42" clrIdx="0">
    <p:extLst>
      <p:ext uri="{19B8F6BF-5375-455C-9EA6-DF929625EA0E}">
        <p15:presenceInfo xmlns:p15="http://schemas.microsoft.com/office/powerpoint/2012/main" userId="S-1-5-21-776561741-1482476501-682003330-326525" providerId="AD"/>
      </p:ext>
    </p:extLst>
  </p:cmAuthor>
  <p:cmAuthor id="8" name="Khiroria, Adit" initials="KA" lastIdx="4" clrIdx="7">
    <p:extLst>
      <p:ext uri="{19B8F6BF-5375-455C-9EA6-DF929625EA0E}">
        <p15:presenceInfo xmlns:p15="http://schemas.microsoft.com/office/powerpoint/2012/main" userId="S::akhiroria@deloitte.com::125b7d01-0557-4756-b3b5-aac8221948e3" providerId="AD"/>
      </p:ext>
    </p:extLst>
  </p:cmAuthor>
  <p:cmAuthor id="2" name="Bandyopadhyay, Anirban P" initials="BAP" lastIdx="22" clrIdx="1">
    <p:extLst>
      <p:ext uri="{19B8F6BF-5375-455C-9EA6-DF929625EA0E}">
        <p15:presenceInfo xmlns:p15="http://schemas.microsoft.com/office/powerpoint/2012/main" userId="S-1-5-21-776561741-1482476501-682003330-717514" providerId="AD"/>
      </p:ext>
    </p:extLst>
  </p:cmAuthor>
  <p:cmAuthor id="3" name="Hariharan, P." initials="HP" lastIdx="63" clrIdx="2">
    <p:extLst>
      <p:ext uri="{19B8F6BF-5375-455C-9EA6-DF929625EA0E}">
        <p15:presenceInfo xmlns:p15="http://schemas.microsoft.com/office/powerpoint/2012/main" userId="S-1-5-21-776561741-1482476501-682003330-27913" providerId="AD"/>
      </p:ext>
    </p:extLst>
  </p:cmAuthor>
  <p:cmAuthor id="4" name="Patni, Surbhi" initials="PS" lastIdx="1" clrIdx="3">
    <p:extLst>
      <p:ext uri="{19B8F6BF-5375-455C-9EA6-DF929625EA0E}">
        <p15:presenceInfo xmlns:p15="http://schemas.microsoft.com/office/powerpoint/2012/main" userId="S-1-5-21-776561741-1482476501-682003330-780562" providerId="AD"/>
      </p:ext>
    </p:extLst>
  </p:cmAuthor>
  <p:cmAuthor id="5" name="Mani, Siddharth" initials="MS" lastIdx="2" clrIdx="4">
    <p:extLst>
      <p:ext uri="{19B8F6BF-5375-455C-9EA6-DF929625EA0E}">
        <p15:presenceInfo xmlns:p15="http://schemas.microsoft.com/office/powerpoint/2012/main" userId="S-1-5-21-776561741-1482476501-682003330-605679" providerId="AD"/>
      </p:ext>
    </p:extLst>
  </p:cmAuthor>
  <p:cmAuthor id="6" name="Hariharan, P." initials="HP [2]" lastIdx="25" clrIdx="5">
    <p:extLst>
      <p:ext uri="{19B8F6BF-5375-455C-9EA6-DF929625EA0E}">
        <p15:presenceInfo xmlns:p15="http://schemas.microsoft.com/office/powerpoint/2012/main" userId="S::phariharan@deloitte.com::e1113b81-c672-4010-8bf3-3bb1a1ab885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7EDEE"/>
    <a:srgbClr val="E8F5CF"/>
    <a:srgbClr val="0D8390"/>
    <a:srgbClr val="0076A8"/>
    <a:srgbClr val="E8F6CF"/>
    <a:srgbClr val="AEB5A1"/>
    <a:srgbClr val="F2F2F2"/>
    <a:srgbClr val="89CE0C"/>
    <a:srgbClr val="26890D"/>
    <a:srgbClr val="43B0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2398" autoAdjust="0"/>
  </p:normalViewPr>
  <p:slideViewPr>
    <p:cSldViewPr snapToGrid="0">
      <p:cViewPr varScale="1">
        <p:scale>
          <a:sx n="58" d="100"/>
          <a:sy n="58" d="100"/>
        </p:scale>
        <p:origin x="92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theme" Target="theme/theme1.xml"/><Relationship Id="rId21" Type="http://schemas.openxmlformats.org/officeDocument/2006/relationships/slide" Target="slides/slide13.xml"/><Relationship Id="rId34" Type="http://schemas.openxmlformats.org/officeDocument/2006/relationships/notesMaster" Target="notesMasters/notesMaster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tags" Target="tags/tag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iroria, Adit" userId="125b7d01-0557-4756-b3b5-aac8221948e3" providerId="ADAL" clId="{9305CE23-2A33-461A-AF20-20278871E779}"/>
    <pc:docChg chg="custSel">
      <pc:chgData name="Khiroria, Adit" userId="125b7d01-0557-4756-b3b5-aac8221948e3" providerId="ADAL" clId="{9305CE23-2A33-461A-AF20-20278871E779}" dt="2025-06-25T15:30:42.981" v="1" actId="1592"/>
      <pc:docMkLst>
        <pc:docMk/>
      </pc:docMkLst>
      <pc:sldChg chg="delCm">
        <pc:chgData name="Khiroria, Adit" userId="125b7d01-0557-4756-b3b5-aac8221948e3" providerId="ADAL" clId="{9305CE23-2A33-461A-AF20-20278871E779}" dt="2025-06-25T15:30:42.981" v="1" actId="1592"/>
        <pc:sldMkLst>
          <pc:docMk/>
          <pc:sldMk cId="588977231" sldId="631"/>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Binary_Worksheet9.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Binary_Worksheet10.xlsb"/></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Binary_Worksheet11.xlsb"/></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Binary_Worksheet12.xlsb"/></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Binary_Worksheet13.xlsb"/></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Binary_Worksheet14.xlsb"/></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Binary_Worksheet15.xlsb"/></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Binary_Worksheet16.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2958057395143488E-2"/>
          <c:y val="5.3997923156801658E-2"/>
          <c:w val="0.95408388520971299"/>
          <c:h val="0.89200415368639663"/>
        </c:manualLayout>
      </c:layout>
      <c:barChart>
        <c:barDir val="col"/>
        <c:grouping val="stacked"/>
        <c:varyColors val="0"/>
        <c:ser>
          <c:idx val="0"/>
          <c:order val="0"/>
          <c:spPr>
            <a:solidFill>
              <a:srgbClr val="86BC25"/>
            </a:solidFill>
            <a:ln>
              <a:noFill/>
            </a:ln>
          </c:spPr>
          <c:invertIfNegative val="0"/>
          <c:val>
            <c:numRef>
              <c:f>Sheet1!$A$1:$C$1</c:f>
              <c:numCache>
                <c:formatCode>General</c:formatCode>
                <c:ptCount val="3"/>
                <c:pt idx="0">
                  <c:v>3921406.8319999995</c:v>
                </c:pt>
                <c:pt idx="1">
                  <c:v>7842813.6639999989</c:v>
                </c:pt>
                <c:pt idx="2">
                  <c:v>11204019.52</c:v>
                </c:pt>
              </c:numCache>
            </c:numRef>
          </c:val>
          <c:extLst>
            <c:ext xmlns:c16="http://schemas.microsoft.com/office/drawing/2014/chart" uri="{C3380CC4-5D6E-409C-BE32-E72D297353CC}">
              <c16:uniqueId val="{00000000-EE4B-438D-8A53-BCD3092831B1}"/>
            </c:ext>
          </c:extLst>
        </c:ser>
        <c:dLbls>
          <c:showLegendKey val="0"/>
          <c:showVal val="0"/>
          <c:showCatName val="0"/>
          <c:showSerName val="0"/>
          <c:showPercent val="0"/>
          <c:showBubbleSize val="0"/>
        </c:dLbls>
        <c:gapWidth val="150"/>
        <c:overlap val="100"/>
        <c:axId val="1789249935"/>
        <c:axId val="1"/>
      </c:barChart>
      <c:catAx>
        <c:axId val="1789249935"/>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11204019.52"/>
          <c:min val="0"/>
        </c:scaling>
        <c:delete val="1"/>
        <c:axPos val="l"/>
        <c:numFmt formatCode="General" sourceLinked="1"/>
        <c:majorTickMark val="out"/>
        <c:minorTickMark val="none"/>
        <c:tickLblPos val="nextTo"/>
        <c:crossAx val="1789249935"/>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1032863849765258E-2"/>
          <c:y val="4.7619047619047616E-2"/>
          <c:w val="0.8779342723004695"/>
          <c:h val="0.90476190476190477"/>
        </c:manualLayout>
      </c:layout>
      <c:barChart>
        <c:barDir val="col"/>
        <c:grouping val="stacked"/>
        <c:varyColors val="0"/>
        <c:ser>
          <c:idx val="0"/>
          <c:order val="0"/>
          <c:spPr>
            <a:solidFill>
              <a:srgbClr val="005587"/>
            </a:solidFill>
            <a:ln>
              <a:noFill/>
            </a:ln>
          </c:spPr>
          <c:invertIfNegative val="0"/>
          <c:val>
            <c:numRef>
              <c:f>Sheet1!$A$1</c:f>
              <c:numCache>
                <c:formatCode>General</c:formatCode>
                <c:ptCount val="1"/>
                <c:pt idx="0">
                  <c:v>101396376.65599997</c:v>
                </c:pt>
              </c:numCache>
            </c:numRef>
          </c:val>
          <c:extLst>
            <c:ext xmlns:c16="http://schemas.microsoft.com/office/drawing/2014/chart" uri="{C3380CC4-5D6E-409C-BE32-E72D297353CC}">
              <c16:uniqueId val="{00000000-D709-4424-860E-5259D89CDDF0}"/>
            </c:ext>
          </c:extLst>
        </c:ser>
        <c:dLbls>
          <c:showLegendKey val="0"/>
          <c:showVal val="0"/>
          <c:showCatName val="0"/>
          <c:showSerName val="0"/>
          <c:showPercent val="0"/>
          <c:showBubbleSize val="0"/>
        </c:dLbls>
        <c:gapWidth val="150"/>
        <c:overlap val="100"/>
        <c:axId val="1897427199"/>
        <c:axId val="1"/>
      </c:barChart>
      <c:catAx>
        <c:axId val="1897427199"/>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101396376.65599997"/>
          <c:min val="0"/>
        </c:scaling>
        <c:delete val="1"/>
        <c:axPos val="l"/>
        <c:numFmt formatCode="General" sourceLinked="1"/>
        <c:majorTickMark val="out"/>
        <c:minorTickMark val="none"/>
        <c:tickLblPos val="nextTo"/>
        <c:crossAx val="1897427199"/>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412877082395318E-2"/>
          <c:y val="5.3997923156801658E-2"/>
          <c:w val="0.95317424583520938"/>
          <c:h val="0.89200415368639663"/>
        </c:manualLayout>
      </c:layout>
      <c:barChart>
        <c:barDir val="col"/>
        <c:grouping val="stacked"/>
        <c:varyColors val="0"/>
        <c:ser>
          <c:idx val="0"/>
          <c:order val="0"/>
          <c:spPr>
            <a:solidFill>
              <a:srgbClr val="86BC25"/>
            </a:solidFill>
            <a:ln>
              <a:noFill/>
            </a:ln>
          </c:spPr>
          <c:invertIfNegative val="0"/>
          <c:val>
            <c:numRef>
              <c:f>Sheet1!$A$1:$C$1</c:f>
              <c:numCache>
                <c:formatCode>General</c:formatCode>
                <c:ptCount val="3"/>
                <c:pt idx="0">
                  <c:v>1880796.6240000001</c:v>
                </c:pt>
                <c:pt idx="1">
                  <c:v>3761593.2480000001</c:v>
                </c:pt>
                <c:pt idx="2">
                  <c:v>5373704.6400000006</c:v>
                </c:pt>
              </c:numCache>
            </c:numRef>
          </c:val>
          <c:extLst>
            <c:ext xmlns:c16="http://schemas.microsoft.com/office/drawing/2014/chart" uri="{C3380CC4-5D6E-409C-BE32-E72D297353CC}">
              <c16:uniqueId val="{00000000-856F-478D-9D07-7685DBEBCAAE}"/>
            </c:ext>
          </c:extLst>
        </c:ser>
        <c:dLbls>
          <c:showLegendKey val="0"/>
          <c:showVal val="0"/>
          <c:showCatName val="0"/>
          <c:showSerName val="0"/>
          <c:showPercent val="0"/>
          <c:showBubbleSize val="0"/>
        </c:dLbls>
        <c:gapWidth val="150"/>
        <c:overlap val="100"/>
        <c:axId val="1789237135"/>
        <c:axId val="1"/>
      </c:barChart>
      <c:catAx>
        <c:axId val="1789237135"/>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5373704.6400000006"/>
          <c:min val="0"/>
        </c:scaling>
        <c:delete val="1"/>
        <c:axPos val="l"/>
        <c:numFmt formatCode="General" sourceLinked="1"/>
        <c:majorTickMark val="out"/>
        <c:minorTickMark val="none"/>
        <c:tickLblPos val="nextTo"/>
        <c:crossAx val="1789237135"/>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1032863849765258E-2"/>
          <c:y val="4.7619047619047616E-2"/>
          <c:w val="0.8779342723004695"/>
          <c:h val="0.90476190476190477"/>
        </c:manualLayout>
      </c:layout>
      <c:barChart>
        <c:barDir val="col"/>
        <c:grouping val="stacked"/>
        <c:varyColors val="0"/>
        <c:ser>
          <c:idx val="0"/>
          <c:order val="0"/>
          <c:spPr>
            <a:solidFill>
              <a:srgbClr val="005587"/>
            </a:solidFill>
            <a:ln>
              <a:noFill/>
            </a:ln>
          </c:spPr>
          <c:invertIfNegative val="0"/>
          <c:val>
            <c:numRef>
              <c:f>Sheet1!$A$1</c:f>
              <c:numCache>
                <c:formatCode>General</c:formatCode>
                <c:ptCount val="1"/>
                <c:pt idx="0">
                  <c:v>48632026.992000006</c:v>
                </c:pt>
              </c:numCache>
            </c:numRef>
          </c:val>
          <c:extLst>
            <c:ext xmlns:c16="http://schemas.microsoft.com/office/drawing/2014/chart" uri="{C3380CC4-5D6E-409C-BE32-E72D297353CC}">
              <c16:uniqueId val="{00000000-EC53-4A9C-A92A-F88427021CC7}"/>
            </c:ext>
          </c:extLst>
        </c:ser>
        <c:dLbls>
          <c:showLegendKey val="0"/>
          <c:showVal val="0"/>
          <c:showCatName val="0"/>
          <c:showSerName val="0"/>
          <c:showPercent val="0"/>
          <c:showBubbleSize val="0"/>
        </c:dLbls>
        <c:gapWidth val="150"/>
        <c:overlap val="100"/>
        <c:axId val="1789244735"/>
        <c:axId val="1"/>
      </c:barChart>
      <c:catAx>
        <c:axId val="1789244735"/>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48632026.992000006"/>
          <c:min val="0"/>
        </c:scaling>
        <c:delete val="1"/>
        <c:axPos val="l"/>
        <c:numFmt formatCode="General" sourceLinked="1"/>
        <c:majorTickMark val="out"/>
        <c:minorTickMark val="none"/>
        <c:tickLblPos val="nextTo"/>
        <c:crossAx val="1789244735"/>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963133640552997E-2"/>
          <c:y val="5.3997923156801658E-2"/>
          <c:w val="0.95207373271889406"/>
          <c:h val="0.89200415368639663"/>
        </c:manualLayout>
      </c:layout>
      <c:barChart>
        <c:barDir val="col"/>
        <c:grouping val="stacked"/>
        <c:varyColors val="0"/>
        <c:ser>
          <c:idx val="0"/>
          <c:order val="0"/>
          <c:spPr>
            <a:solidFill>
              <a:srgbClr val="046A38"/>
            </a:solidFill>
            <a:ln>
              <a:noFill/>
            </a:ln>
          </c:spPr>
          <c:invertIfNegative val="0"/>
          <c:val>
            <c:numRef>
              <c:f>Sheet1!$A$1:$C$1</c:f>
              <c:numCache>
                <c:formatCode>General</c:formatCode>
                <c:ptCount val="3"/>
                <c:pt idx="0">
                  <c:v>8690373.2597499993</c:v>
                </c:pt>
                <c:pt idx="1">
                  <c:v>17380746.519499999</c:v>
                </c:pt>
                <c:pt idx="2">
                  <c:v>24829637.884999998</c:v>
                </c:pt>
              </c:numCache>
            </c:numRef>
          </c:val>
          <c:extLst>
            <c:ext xmlns:c16="http://schemas.microsoft.com/office/drawing/2014/chart" uri="{C3380CC4-5D6E-409C-BE32-E72D297353CC}">
              <c16:uniqueId val="{00000000-1B6F-4C02-8BCB-3AE87E6576DA}"/>
            </c:ext>
          </c:extLst>
        </c:ser>
        <c:ser>
          <c:idx val="1"/>
          <c:order val="1"/>
          <c:spPr>
            <a:solidFill>
              <a:srgbClr val="86BC25"/>
            </a:solidFill>
            <a:ln>
              <a:noFill/>
            </a:ln>
          </c:spPr>
          <c:invertIfNegative val="0"/>
          <c:val>
            <c:numRef>
              <c:f>Sheet1!$A$2:$C$2</c:f>
              <c:numCache>
                <c:formatCode>General</c:formatCode>
                <c:ptCount val="3"/>
                <c:pt idx="0">
                  <c:v>2995347.8100000005</c:v>
                </c:pt>
                <c:pt idx="1">
                  <c:v>5990695.620000001</c:v>
                </c:pt>
                <c:pt idx="2">
                  <c:v>8558136.6000000015</c:v>
                </c:pt>
              </c:numCache>
            </c:numRef>
          </c:val>
          <c:extLst>
            <c:ext xmlns:c16="http://schemas.microsoft.com/office/drawing/2014/chart" uri="{C3380CC4-5D6E-409C-BE32-E72D297353CC}">
              <c16:uniqueId val="{00000001-1B6F-4C02-8BCB-3AE87E6576DA}"/>
            </c:ext>
          </c:extLst>
        </c:ser>
        <c:dLbls>
          <c:showLegendKey val="0"/>
          <c:showVal val="0"/>
          <c:showCatName val="0"/>
          <c:showSerName val="0"/>
          <c:showPercent val="0"/>
          <c:showBubbleSize val="0"/>
        </c:dLbls>
        <c:gapWidth val="150"/>
        <c:overlap val="100"/>
        <c:axId val="1494715567"/>
        <c:axId val="1"/>
      </c:barChart>
      <c:catAx>
        <c:axId val="1494715567"/>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33387774.484999999"/>
          <c:min val="0"/>
        </c:scaling>
        <c:delete val="1"/>
        <c:axPos val="l"/>
        <c:numFmt formatCode="General" sourceLinked="1"/>
        <c:majorTickMark val="out"/>
        <c:minorTickMark val="none"/>
        <c:tickLblPos val="nextTo"/>
        <c:crossAx val="1494715567"/>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1032863849765258E-2"/>
          <c:y val="4.7619047619047616E-2"/>
          <c:w val="0.8779342723004695"/>
          <c:h val="0.90476190476190477"/>
        </c:manualLayout>
      </c:layout>
      <c:barChart>
        <c:barDir val="col"/>
        <c:grouping val="stacked"/>
        <c:varyColors val="0"/>
        <c:ser>
          <c:idx val="0"/>
          <c:order val="0"/>
          <c:spPr>
            <a:solidFill>
              <a:srgbClr val="005587"/>
            </a:solidFill>
            <a:ln>
              <a:noFill/>
            </a:ln>
          </c:spPr>
          <c:invertIfNegative val="0"/>
          <c:val>
            <c:numRef>
              <c:f>Sheet1!$A$1</c:f>
              <c:numCache>
                <c:formatCode>General</c:formatCode>
                <c:ptCount val="1"/>
                <c:pt idx="0">
                  <c:v>302159359.08925009</c:v>
                </c:pt>
              </c:numCache>
            </c:numRef>
          </c:val>
          <c:extLst>
            <c:ext xmlns:c16="http://schemas.microsoft.com/office/drawing/2014/chart" uri="{C3380CC4-5D6E-409C-BE32-E72D297353CC}">
              <c16:uniqueId val="{00000000-856F-4717-9180-D9B8A9C6FDB7}"/>
            </c:ext>
          </c:extLst>
        </c:ser>
        <c:dLbls>
          <c:showLegendKey val="0"/>
          <c:showVal val="0"/>
          <c:showCatName val="0"/>
          <c:showSerName val="0"/>
          <c:showPercent val="0"/>
          <c:showBubbleSize val="0"/>
        </c:dLbls>
        <c:gapWidth val="150"/>
        <c:overlap val="100"/>
        <c:axId val="1416384895"/>
        <c:axId val="1"/>
      </c:barChart>
      <c:catAx>
        <c:axId val="1416384895"/>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302159359.08925009"/>
          <c:min val="0"/>
        </c:scaling>
        <c:delete val="1"/>
        <c:axPos val="l"/>
        <c:numFmt formatCode="General" sourceLinked="1"/>
        <c:majorTickMark val="out"/>
        <c:minorTickMark val="none"/>
        <c:tickLblPos val="nextTo"/>
        <c:crossAx val="1416384895"/>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529411764705882E-2"/>
          <c:y val="5.3997923156801658E-2"/>
          <c:w val="0.95294117647058818"/>
          <c:h val="0.89200415368639663"/>
        </c:manualLayout>
      </c:layout>
      <c:barChart>
        <c:barDir val="col"/>
        <c:grouping val="stacked"/>
        <c:varyColors val="0"/>
        <c:ser>
          <c:idx val="0"/>
          <c:order val="0"/>
          <c:spPr>
            <a:solidFill>
              <a:srgbClr val="046A38"/>
            </a:solidFill>
            <a:ln>
              <a:noFill/>
            </a:ln>
          </c:spPr>
          <c:invertIfNegative val="0"/>
          <c:val>
            <c:numRef>
              <c:f>Sheet1!$A$1:$C$1</c:f>
              <c:numCache>
                <c:formatCode>General</c:formatCode>
                <c:ptCount val="3"/>
                <c:pt idx="0">
                  <c:v>24139925.726</c:v>
                </c:pt>
                <c:pt idx="1">
                  <c:v>48279851.452</c:v>
                </c:pt>
                <c:pt idx="2">
                  <c:v>68971216.359999999</c:v>
                </c:pt>
              </c:numCache>
            </c:numRef>
          </c:val>
          <c:extLst>
            <c:ext xmlns:c16="http://schemas.microsoft.com/office/drawing/2014/chart" uri="{C3380CC4-5D6E-409C-BE32-E72D297353CC}">
              <c16:uniqueId val="{00000000-769F-4DF4-8315-3ECF4E744C7C}"/>
            </c:ext>
          </c:extLst>
        </c:ser>
        <c:ser>
          <c:idx val="1"/>
          <c:order val="1"/>
          <c:spPr>
            <a:solidFill>
              <a:srgbClr val="86BC25"/>
            </a:solidFill>
            <a:ln>
              <a:noFill/>
            </a:ln>
          </c:spPr>
          <c:invertIfNegative val="0"/>
          <c:val>
            <c:numRef>
              <c:f>Sheet1!$A$2:$C$2</c:f>
              <c:numCache>
                <c:formatCode>General</c:formatCode>
                <c:ptCount val="3"/>
                <c:pt idx="0">
                  <c:v>2995347.8099999987</c:v>
                </c:pt>
                <c:pt idx="1">
                  <c:v>5990695.6199999973</c:v>
                </c:pt>
                <c:pt idx="2">
                  <c:v>8558136.599999994</c:v>
                </c:pt>
              </c:numCache>
            </c:numRef>
          </c:val>
          <c:extLst>
            <c:ext xmlns:c16="http://schemas.microsoft.com/office/drawing/2014/chart" uri="{C3380CC4-5D6E-409C-BE32-E72D297353CC}">
              <c16:uniqueId val="{00000001-769F-4DF4-8315-3ECF4E744C7C}"/>
            </c:ext>
          </c:extLst>
        </c:ser>
        <c:dLbls>
          <c:showLegendKey val="0"/>
          <c:showVal val="0"/>
          <c:showCatName val="0"/>
          <c:showSerName val="0"/>
          <c:showPercent val="0"/>
          <c:showBubbleSize val="0"/>
        </c:dLbls>
        <c:gapWidth val="150"/>
        <c:overlap val="100"/>
        <c:axId val="814531375"/>
        <c:axId val="1"/>
      </c:barChart>
      <c:catAx>
        <c:axId val="814531375"/>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77529352.959999993"/>
          <c:min val="0"/>
        </c:scaling>
        <c:delete val="1"/>
        <c:axPos val="l"/>
        <c:numFmt formatCode="General" sourceLinked="1"/>
        <c:majorTickMark val="out"/>
        <c:minorTickMark val="none"/>
        <c:tickLblPos val="nextTo"/>
        <c:crossAx val="814531375"/>
        <c:crosses val="min"/>
        <c:crossBetween val="between"/>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1032863849765258E-2"/>
          <c:y val="4.7619047619047616E-2"/>
          <c:w val="0.8779342723004695"/>
          <c:h val="0.90476190476190477"/>
        </c:manualLayout>
      </c:layout>
      <c:barChart>
        <c:barDir val="col"/>
        <c:grouping val="stacked"/>
        <c:varyColors val="0"/>
        <c:ser>
          <c:idx val="0"/>
          <c:order val="0"/>
          <c:spPr>
            <a:solidFill>
              <a:srgbClr val="005587"/>
            </a:solidFill>
            <a:ln>
              <a:noFill/>
            </a:ln>
          </c:spPr>
          <c:invertIfNegative val="0"/>
          <c:val>
            <c:numRef>
              <c:f>Sheet1!$A$1</c:f>
              <c:numCache>
                <c:formatCode>General</c:formatCode>
                <c:ptCount val="1"/>
                <c:pt idx="0">
                  <c:v>701640644.28800023</c:v>
                </c:pt>
              </c:numCache>
            </c:numRef>
          </c:val>
          <c:extLst>
            <c:ext xmlns:c16="http://schemas.microsoft.com/office/drawing/2014/chart" uri="{C3380CC4-5D6E-409C-BE32-E72D297353CC}">
              <c16:uniqueId val="{00000000-8F3F-4156-8A79-439515ACB942}"/>
            </c:ext>
          </c:extLst>
        </c:ser>
        <c:dLbls>
          <c:showLegendKey val="0"/>
          <c:showVal val="0"/>
          <c:showCatName val="0"/>
          <c:showSerName val="0"/>
          <c:showPercent val="0"/>
          <c:showBubbleSize val="0"/>
        </c:dLbls>
        <c:gapWidth val="150"/>
        <c:overlap val="100"/>
        <c:axId val="1543187679"/>
        <c:axId val="1"/>
      </c:barChart>
      <c:catAx>
        <c:axId val="1543187679"/>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701640644.28800023"/>
          <c:min val="0"/>
        </c:scaling>
        <c:delete val="1"/>
        <c:axPos val="l"/>
        <c:numFmt formatCode="General" sourceLinked="1"/>
        <c:majorTickMark val="out"/>
        <c:minorTickMark val="none"/>
        <c:tickLblPos val="nextTo"/>
        <c:crossAx val="1543187679"/>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578190533253445E-2"/>
          <c:y val="4.0372670807453416E-2"/>
          <c:w val="0.96884361893349313"/>
          <c:h val="0.91925465838509313"/>
        </c:manualLayout>
      </c:layout>
      <c:barChart>
        <c:barDir val="col"/>
        <c:grouping val="stacked"/>
        <c:varyColors val="0"/>
        <c:ser>
          <c:idx val="0"/>
          <c:order val="0"/>
          <c:spPr>
            <a:solidFill>
              <a:srgbClr val="86BC25"/>
            </a:solidFill>
            <a:ln>
              <a:noFill/>
            </a:ln>
          </c:spPr>
          <c:invertIfNegative val="0"/>
          <c:val>
            <c:numRef>
              <c:f>Sheet1!$A$1:$J$1</c:f>
              <c:numCache>
                <c:formatCode>General</c:formatCode>
                <c:ptCount val="10"/>
                <c:pt idx="0">
                  <c:v>11685721.06975</c:v>
                </c:pt>
                <c:pt idx="1">
                  <c:v>23371442.1395</c:v>
                </c:pt>
                <c:pt idx="2">
                  <c:v>33387774.484999999</c:v>
                </c:pt>
                <c:pt idx="3">
                  <c:v>33387774.484999999</c:v>
                </c:pt>
                <c:pt idx="4">
                  <c:v>33387774.484999999</c:v>
                </c:pt>
                <c:pt idx="5">
                  <c:v>33387774.484999999</c:v>
                </c:pt>
                <c:pt idx="6">
                  <c:v>33387774.484999999</c:v>
                </c:pt>
                <c:pt idx="7">
                  <c:v>33387774.484999999</c:v>
                </c:pt>
                <c:pt idx="8">
                  <c:v>33387774.484999999</c:v>
                </c:pt>
                <c:pt idx="9">
                  <c:v>33387774.484999999</c:v>
                </c:pt>
              </c:numCache>
            </c:numRef>
          </c:val>
          <c:extLst>
            <c:ext xmlns:c16="http://schemas.microsoft.com/office/drawing/2014/chart" uri="{C3380CC4-5D6E-409C-BE32-E72D297353CC}">
              <c16:uniqueId val="{00000000-658F-4097-8F28-A6CEB3219C44}"/>
            </c:ext>
          </c:extLst>
        </c:ser>
        <c:ser>
          <c:idx val="1"/>
          <c:order val="1"/>
          <c:spPr>
            <a:solidFill>
              <a:srgbClr val="046A38"/>
            </a:solidFill>
            <a:ln>
              <a:noFill/>
            </a:ln>
          </c:spPr>
          <c:invertIfNegative val="0"/>
          <c:val>
            <c:numRef>
              <c:f>Sheet1!$A$2:$J$2</c:f>
              <c:numCache>
                <c:formatCode>General</c:formatCode>
                <c:ptCount val="10"/>
                <c:pt idx="0">
                  <c:v>1880796.6239999998</c:v>
                </c:pt>
                <c:pt idx="1">
                  <c:v>3761593.2479999997</c:v>
                </c:pt>
                <c:pt idx="2">
                  <c:v>5373704.6400000006</c:v>
                </c:pt>
                <c:pt idx="3">
                  <c:v>5373704.6400000006</c:v>
                </c:pt>
                <c:pt idx="4">
                  <c:v>5373704.6400000006</c:v>
                </c:pt>
                <c:pt idx="5">
                  <c:v>5373704.6400000006</c:v>
                </c:pt>
                <c:pt idx="6">
                  <c:v>5373704.6400000006</c:v>
                </c:pt>
                <c:pt idx="7">
                  <c:v>5373704.6400000006</c:v>
                </c:pt>
                <c:pt idx="8">
                  <c:v>5373704.6400000006</c:v>
                </c:pt>
                <c:pt idx="9">
                  <c:v>5373704.6400000006</c:v>
                </c:pt>
              </c:numCache>
            </c:numRef>
          </c:val>
          <c:extLst>
            <c:ext xmlns:c16="http://schemas.microsoft.com/office/drawing/2014/chart" uri="{C3380CC4-5D6E-409C-BE32-E72D297353CC}">
              <c16:uniqueId val="{00000001-658F-4097-8F28-A6CEB3219C44}"/>
            </c:ext>
          </c:extLst>
        </c:ser>
        <c:ser>
          <c:idx val="2"/>
          <c:order val="2"/>
          <c:spPr>
            <a:solidFill>
              <a:srgbClr val="62B5E5"/>
            </a:solidFill>
            <a:ln>
              <a:noFill/>
            </a:ln>
          </c:spPr>
          <c:invertIfNegative val="0"/>
          <c:val>
            <c:numRef>
              <c:f>Sheet1!$A$3:$J$3</c:f>
              <c:numCache>
                <c:formatCode>General</c:formatCode>
                <c:ptCount val="10"/>
                <c:pt idx="0">
                  <c:v>3921406.8320000004</c:v>
                </c:pt>
                <c:pt idx="1">
                  <c:v>7842813.6640000008</c:v>
                </c:pt>
                <c:pt idx="2">
                  <c:v>11204019.519999996</c:v>
                </c:pt>
                <c:pt idx="3">
                  <c:v>11204019.519999996</c:v>
                </c:pt>
                <c:pt idx="4">
                  <c:v>11204019.519999996</c:v>
                </c:pt>
                <c:pt idx="5">
                  <c:v>11204019.519999996</c:v>
                </c:pt>
                <c:pt idx="6">
                  <c:v>11204019.519999996</c:v>
                </c:pt>
                <c:pt idx="7">
                  <c:v>11204019.519999996</c:v>
                </c:pt>
                <c:pt idx="8">
                  <c:v>11204019.519999996</c:v>
                </c:pt>
                <c:pt idx="9">
                  <c:v>11204019.519999996</c:v>
                </c:pt>
              </c:numCache>
            </c:numRef>
          </c:val>
          <c:extLst>
            <c:ext xmlns:c16="http://schemas.microsoft.com/office/drawing/2014/chart" uri="{C3380CC4-5D6E-409C-BE32-E72D297353CC}">
              <c16:uniqueId val="{00000002-658F-4097-8F28-A6CEB3219C44}"/>
            </c:ext>
          </c:extLst>
        </c:ser>
        <c:dLbls>
          <c:showLegendKey val="0"/>
          <c:showVal val="0"/>
          <c:showCatName val="0"/>
          <c:showSerName val="0"/>
          <c:showPercent val="0"/>
          <c:showBubbleSize val="0"/>
        </c:dLbls>
        <c:gapWidth val="80"/>
        <c:overlap val="100"/>
        <c:axId val="1789238735"/>
        <c:axId val="1"/>
      </c:barChart>
      <c:catAx>
        <c:axId val="1789238735"/>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000">
                <a:latin typeface="+mn-lt"/>
                <a:ea typeface="+mn-ea"/>
                <a:cs typeface="+mn-cs"/>
              </a:defRPr>
            </a:pPr>
            <a:endParaRPr lang="en-US"/>
          </a:p>
        </c:txPr>
        <c:crossAx val="1"/>
        <c:crosses val="min"/>
        <c:auto val="0"/>
        <c:lblAlgn val="ctr"/>
        <c:lblOffset val="100"/>
        <c:noMultiLvlLbl val="0"/>
      </c:catAx>
      <c:valAx>
        <c:axId val="1"/>
        <c:scaling>
          <c:orientation val="minMax"/>
          <c:max val="49965498.644999996"/>
          <c:min val="0"/>
        </c:scaling>
        <c:delete val="1"/>
        <c:axPos val="l"/>
        <c:numFmt formatCode="General" sourceLinked="1"/>
        <c:majorTickMark val="out"/>
        <c:minorTickMark val="none"/>
        <c:tickLblPos val="nextTo"/>
        <c:crossAx val="1789238735"/>
        <c:crosses val="min"/>
        <c:crossBetween val="between"/>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0365358592692828E-2"/>
          <c:y val="5.4852320675105488E-2"/>
          <c:w val="0.85926928281461434"/>
          <c:h val="0.89029535864978904"/>
        </c:manualLayout>
      </c:layout>
      <c:barChart>
        <c:barDir val="col"/>
        <c:grouping val="stacked"/>
        <c:varyColors val="0"/>
        <c:ser>
          <c:idx val="0"/>
          <c:order val="0"/>
          <c:spPr>
            <a:solidFill>
              <a:schemeClr val="accent5"/>
            </a:solidFill>
            <a:ln>
              <a:noFill/>
            </a:ln>
          </c:spPr>
          <c:invertIfNegative val="0"/>
          <c:val>
            <c:numRef>
              <c:f>Sheet1!$A$1</c:f>
              <c:numCache>
                <c:formatCode>General</c:formatCode>
                <c:ptCount val="1"/>
                <c:pt idx="0">
                  <c:v>452187762.73725009</c:v>
                </c:pt>
              </c:numCache>
            </c:numRef>
          </c:val>
          <c:extLst>
            <c:ext xmlns:c16="http://schemas.microsoft.com/office/drawing/2014/chart" uri="{C3380CC4-5D6E-409C-BE32-E72D297353CC}">
              <c16:uniqueId val="{00000000-4CCE-49DD-B2B3-559B678F75B6}"/>
            </c:ext>
          </c:extLst>
        </c:ser>
        <c:dLbls>
          <c:showLegendKey val="0"/>
          <c:showVal val="0"/>
          <c:showCatName val="0"/>
          <c:showSerName val="0"/>
          <c:showPercent val="0"/>
          <c:showBubbleSize val="0"/>
        </c:dLbls>
        <c:gapWidth val="150"/>
        <c:overlap val="100"/>
        <c:axId val="1689750223"/>
        <c:axId val="1"/>
      </c:barChart>
      <c:catAx>
        <c:axId val="1689750223"/>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452187762.73725009"/>
          <c:min val="0"/>
        </c:scaling>
        <c:delete val="1"/>
        <c:axPos val="l"/>
        <c:numFmt formatCode="General" sourceLinked="1"/>
        <c:majorTickMark val="out"/>
        <c:minorTickMark val="none"/>
        <c:tickLblPos val="nextTo"/>
        <c:crossAx val="1689750223"/>
        <c:crosses val="min"/>
        <c:crossBetween val="between"/>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3376123234916559E-2"/>
          <c:y val="4.0372670807453416E-2"/>
          <c:w val="0.93324775353016687"/>
          <c:h val="0.91925465838509313"/>
        </c:manualLayout>
      </c:layout>
      <c:barChart>
        <c:barDir val="col"/>
        <c:grouping val="stacked"/>
        <c:varyColors val="0"/>
        <c:ser>
          <c:idx val="0"/>
          <c:order val="0"/>
          <c:spPr>
            <a:solidFill>
              <a:srgbClr val="041E42"/>
            </a:solidFill>
            <a:ln>
              <a:noFill/>
            </a:ln>
          </c:spPr>
          <c:invertIfNegative val="0"/>
          <c:val>
            <c:numRef>
              <c:f>Sheet1!$A$1:$C$1</c:f>
              <c:numCache>
                <c:formatCode>General</c:formatCode>
                <c:ptCount val="3"/>
                <c:pt idx="0">
                  <c:v>15449552.466250002</c:v>
                </c:pt>
                <c:pt idx="1">
                  <c:v>30899104.932500005</c:v>
                </c:pt>
                <c:pt idx="2">
                  <c:v>44141578.475000009</c:v>
                </c:pt>
              </c:numCache>
            </c:numRef>
          </c:val>
          <c:extLst>
            <c:ext xmlns:c16="http://schemas.microsoft.com/office/drawing/2014/chart" uri="{C3380CC4-5D6E-409C-BE32-E72D297353CC}">
              <c16:uniqueId val="{00000000-6BE7-46A0-84F0-E61849B182A7}"/>
            </c:ext>
          </c:extLst>
        </c:ser>
        <c:dLbls>
          <c:showLegendKey val="0"/>
          <c:showVal val="0"/>
          <c:showCatName val="0"/>
          <c:showSerName val="0"/>
          <c:showPercent val="0"/>
          <c:showBubbleSize val="0"/>
        </c:dLbls>
        <c:gapWidth val="150"/>
        <c:overlap val="100"/>
        <c:axId val="1559547439"/>
        <c:axId val="1"/>
      </c:barChart>
      <c:catAx>
        <c:axId val="1559547439"/>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44141578.475000009"/>
          <c:min val="0"/>
        </c:scaling>
        <c:delete val="1"/>
        <c:axPos val="l"/>
        <c:numFmt formatCode="General" sourceLinked="1"/>
        <c:majorTickMark val="out"/>
        <c:minorTickMark val="none"/>
        <c:tickLblPos val="nextTo"/>
        <c:crossAx val="1559547439"/>
        <c:crosses val="min"/>
        <c:crossBetween val="between"/>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0365358592692828E-2"/>
          <c:y val="3.6186499652052888E-2"/>
          <c:w val="0.85926928281461434"/>
          <c:h val="0.92762700069589421"/>
        </c:manualLayout>
      </c:layout>
      <c:barChart>
        <c:barDir val="col"/>
        <c:grouping val="stacked"/>
        <c:varyColors val="0"/>
        <c:ser>
          <c:idx val="0"/>
          <c:order val="0"/>
          <c:spPr>
            <a:solidFill>
              <a:srgbClr val="005587"/>
            </a:solidFill>
            <a:ln>
              <a:noFill/>
            </a:ln>
          </c:spPr>
          <c:invertIfNegative val="0"/>
          <c:val>
            <c:numRef>
              <c:f>Sheet1!$A$1</c:f>
              <c:numCache>
                <c:formatCode>General</c:formatCode>
                <c:ptCount val="1"/>
                <c:pt idx="0">
                  <c:v>1557326270.6450005</c:v>
                </c:pt>
              </c:numCache>
            </c:numRef>
          </c:val>
          <c:extLst>
            <c:ext xmlns:c16="http://schemas.microsoft.com/office/drawing/2014/chart" uri="{C3380CC4-5D6E-409C-BE32-E72D297353CC}">
              <c16:uniqueId val="{00000000-97E5-46CC-8ACD-FA1B9E594A29}"/>
            </c:ext>
          </c:extLst>
        </c:ser>
        <c:dLbls>
          <c:showLegendKey val="0"/>
          <c:showVal val="0"/>
          <c:showCatName val="0"/>
          <c:showSerName val="0"/>
          <c:showPercent val="0"/>
          <c:showBubbleSize val="0"/>
        </c:dLbls>
        <c:gapWidth val="150"/>
        <c:overlap val="100"/>
        <c:axId val="1729271391"/>
        <c:axId val="1"/>
      </c:barChart>
      <c:catAx>
        <c:axId val="1729271391"/>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1557326270.6450005"/>
          <c:min val="0"/>
        </c:scaling>
        <c:delete val="1"/>
        <c:axPos val="l"/>
        <c:numFmt formatCode="General" sourceLinked="1"/>
        <c:majorTickMark val="out"/>
        <c:minorTickMark val="none"/>
        <c:tickLblPos val="nextTo"/>
        <c:crossAx val="1729271391"/>
        <c:crosses val="min"/>
        <c:crossBetween val="between"/>
      </c:valAx>
    </c:plotArea>
    <c:plotVisOnly val="0"/>
    <c:dispBlanksAs val="gap"/>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673234811165846E-2"/>
          <c:y val="6.235011990407674E-2"/>
          <c:w val="0.97865353037766833"/>
          <c:h val="0.87529976019184652"/>
        </c:manualLayout>
      </c:layout>
      <c:barChart>
        <c:barDir val="col"/>
        <c:grouping val="stacked"/>
        <c:varyColors val="0"/>
        <c:ser>
          <c:idx val="0"/>
          <c:order val="0"/>
          <c:spPr>
            <a:solidFill>
              <a:srgbClr val="86BC25"/>
            </a:solidFill>
            <a:ln>
              <a:noFill/>
            </a:ln>
          </c:spPr>
          <c:invertIfNegative val="0"/>
          <c:dPt>
            <c:idx val="0"/>
            <c:invertIfNegative val="0"/>
            <c:bubble3D val="0"/>
            <c:spPr>
              <a:solidFill>
                <a:srgbClr val="62B5E5"/>
              </a:solidFill>
              <a:ln>
                <a:noFill/>
              </a:ln>
            </c:spPr>
            <c:extLst>
              <c:ext xmlns:c16="http://schemas.microsoft.com/office/drawing/2014/chart" uri="{C3380CC4-5D6E-409C-BE32-E72D297353CC}">
                <c16:uniqueId val="{00000000-AB59-4FC3-89D4-94E2B40FF1EB}"/>
              </c:ext>
            </c:extLst>
          </c:dPt>
          <c:val>
            <c:numRef>
              <c:f>Sheet1!$A$1:$J$1</c:f>
              <c:numCache>
                <c:formatCode>General</c:formatCode>
                <c:ptCount val="10"/>
                <c:pt idx="0">
                  <c:v>312338</c:v>
                </c:pt>
                <c:pt idx="1">
                  <c:v>174000</c:v>
                </c:pt>
                <c:pt idx="2">
                  <c:v>174000</c:v>
                </c:pt>
                <c:pt idx="3">
                  <c:v>174000</c:v>
                </c:pt>
                <c:pt idx="4">
                  <c:v>174000</c:v>
                </c:pt>
                <c:pt idx="5">
                  <c:v>174000</c:v>
                </c:pt>
                <c:pt idx="6">
                  <c:v>174000</c:v>
                </c:pt>
                <c:pt idx="7">
                  <c:v>174000</c:v>
                </c:pt>
                <c:pt idx="8">
                  <c:v>174000</c:v>
                </c:pt>
                <c:pt idx="9">
                  <c:v>174000</c:v>
                </c:pt>
              </c:numCache>
            </c:numRef>
          </c:val>
          <c:extLst>
            <c:ext xmlns:c16="http://schemas.microsoft.com/office/drawing/2014/chart" uri="{C3380CC4-5D6E-409C-BE32-E72D297353CC}">
              <c16:uniqueId val="{00000001-AB59-4FC3-89D4-94E2B40FF1EB}"/>
            </c:ext>
          </c:extLst>
        </c:ser>
        <c:ser>
          <c:idx val="1"/>
          <c:order val="1"/>
          <c:spPr>
            <a:solidFill>
              <a:srgbClr val="046A38"/>
            </a:solidFill>
            <a:ln>
              <a:noFill/>
            </a:ln>
          </c:spPr>
          <c:invertIfNegative val="0"/>
          <c:dPt>
            <c:idx val="0"/>
            <c:invertIfNegative val="0"/>
            <c:bubble3D val="0"/>
            <c:spPr>
              <a:solidFill>
                <a:srgbClr val="012169"/>
              </a:solidFill>
              <a:ln>
                <a:noFill/>
              </a:ln>
            </c:spPr>
            <c:extLst>
              <c:ext xmlns:c16="http://schemas.microsoft.com/office/drawing/2014/chart" uri="{C3380CC4-5D6E-409C-BE32-E72D297353CC}">
                <c16:uniqueId val="{00000002-AB59-4FC3-89D4-94E2B40FF1EB}"/>
              </c:ext>
            </c:extLst>
          </c:dPt>
          <c:dPt>
            <c:idx val="5"/>
            <c:invertIfNegative val="0"/>
            <c:bubble3D val="0"/>
            <c:spPr>
              <a:solidFill>
                <a:srgbClr val="62B5E5"/>
              </a:solidFill>
              <a:ln>
                <a:noFill/>
              </a:ln>
            </c:spPr>
            <c:extLst>
              <c:ext xmlns:c16="http://schemas.microsoft.com/office/drawing/2014/chart" uri="{C3380CC4-5D6E-409C-BE32-E72D297353CC}">
                <c16:uniqueId val="{00000003-AB59-4FC3-89D4-94E2B40FF1EB}"/>
              </c:ext>
            </c:extLst>
          </c:dPt>
          <c:dPt>
            <c:idx val="6"/>
            <c:invertIfNegative val="0"/>
            <c:bubble3D val="0"/>
            <c:spPr>
              <a:solidFill>
                <a:srgbClr val="62B5E5"/>
              </a:solidFill>
              <a:ln>
                <a:noFill/>
              </a:ln>
            </c:spPr>
            <c:extLst>
              <c:ext xmlns:c16="http://schemas.microsoft.com/office/drawing/2014/chart" uri="{C3380CC4-5D6E-409C-BE32-E72D297353CC}">
                <c16:uniqueId val="{00000004-AB59-4FC3-89D4-94E2B40FF1EB}"/>
              </c:ext>
            </c:extLst>
          </c:dPt>
          <c:dPt>
            <c:idx val="7"/>
            <c:invertIfNegative val="0"/>
            <c:bubble3D val="0"/>
            <c:spPr>
              <a:solidFill>
                <a:srgbClr val="62B5E5"/>
              </a:solidFill>
              <a:ln>
                <a:noFill/>
              </a:ln>
            </c:spPr>
            <c:extLst>
              <c:ext xmlns:c16="http://schemas.microsoft.com/office/drawing/2014/chart" uri="{C3380CC4-5D6E-409C-BE32-E72D297353CC}">
                <c16:uniqueId val="{00000005-AB59-4FC3-89D4-94E2B40FF1EB}"/>
              </c:ext>
            </c:extLst>
          </c:dPt>
          <c:dPt>
            <c:idx val="8"/>
            <c:invertIfNegative val="0"/>
            <c:bubble3D val="0"/>
            <c:spPr>
              <a:solidFill>
                <a:srgbClr val="62B5E5"/>
              </a:solidFill>
              <a:ln>
                <a:noFill/>
              </a:ln>
            </c:spPr>
            <c:extLst>
              <c:ext xmlns:c16="http://schemas.microsoft.com/office/drawing/2014/chart" uri="{C3380CC4-5D6E-409C-BE32-E72D297353CC}">
                <c16:uniqueId val="{00000006-AB59-4FC3-89D4-94E2B40FF1EB}"/>
              </c:ext>
            </c:extLst>
          </c:dPt>
          <c:val>
            <c:numRef>
              <c:f>Sheet1!$A$2:$J$2</c:f>
              <c:numCache>
                <c:formatCode>General</c:formatCode>
                <c:ptCount val="10"/>
                <c:pt idx="0">
                  <c:v>4736920</c:v>
                </c:pt>
                <c:pt idx="1">
                  <c:v>288000</c:v>
                </c:pt>
                <c:pt idx="2">
                  <c:v>288000</c:v>
                </c:pt>
                <c:pt idx="3">
                  <c:v>288000</c:v>
                </c:pt>
                <c:pt idx="4">
                  <c:v>288000</c:v>
                </c:pt>
                <c:pt idx="5">
                  <c:v>312338</c:v>
                </c:pt>
                <c:pt idx="6">
                  <c:v>312338</c:v>
                </c:pt>
                <c:pt idx="7">
                  <c:v>312338</c:v>
                </c:pt>
                <c:pt idx="8">
                  <c:v>312338</c:v>
                </c:pt>
              </c:numCache>
            </c:numRef>
          </c:val>
          <c:extLst>
            <c:ext xmlns:c16="http://schemas.microsoft.com/office/drawing/2014/chart" uri="{C3380CC4-5D6E-409C-BE32-E72D297353CC}">
              <c16:uniqueId val="{00000007-AB59-4FC3-89D4-94E2B40FF1EB}"/>
            </c:ext>
          </c:extLst>
        </c:ser>
        <c:ser>
          <c:idx val="2"/>
          <c:order val="2"/>
          <c:spPr>
            <a:solidFill>
              <a:srgbClr val="62B5E5"/>
            </a:solidFill>
            <a:ln>
              <a:noFill/>
            </a:ln>
          </c:spPr>
          <c:invertIfNegative val="0"/>
          <c:val>
            <c:numRef>
              <c:f>Sheet1!$A$3:$J$3</c:f>
              <c:numCache>
                <c:formatCode>General</c:formatCode>
                <c:ptCount val="10"/>
                <c:pt idx="1">
                  <c:v>312338</c:v>
                </c:pt>
                <c:pt idx="2">
                  <c:v>312338</c:v>
                </c:pt>
                <c:pt idx="3">
                  <c:v>312338</c:v>
                </c:pt>
                <c:pt idx="4">
                  <c:v>312338</c:v>
                </c:pt>
              </c:numCache>
            </c:numRef>
          </c:val>
          <c:extLst>
            <c:ext xmlns:c16="http://schemas.microsoft.com/office/drawing/2014/chart" uri="{C3380CC4-5D6E-409C-BE32-E72D297353CC}">
              <c16:uniqueId val="{00000008-AB59-4FC3-89D4-94E2B40FF1EB}"/>
            </c:ext>
          </c:extLst>
        </c:ser>
        <c:dLbls>
          <c:showLegendKey val="0"/>
          <c:showVal val="0"/>
          <c:showCatName val="0"/>
          <c:showSerName val="0"/>
          <c:showPercent val="0"/>
          <c:showBubbleSize val="0"/>
        </c:dLbls>
        <c:gapWidth val="80"/>
        <c:overlap val="100"/>
        <c:axId val="802862495"/>
        <c:axId val="1"/>
      </c:barChart>
      <c:catAx>
        <c:axId val="802862495"/>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mn-cs"/>
              </a:defRPr>
            </a:pPr>
            <a:endParaRPr lang="en-US"/>
          </a:p>
        </c:txPr>
        <c:crossAx val="1"/>
        <c:crosses val="min"/>
        <c:auto val="0"/>
        <c:lblAlgn val="ctr"/>
        <c:lblOffset val="100"/>
        <c:noMultiLvlLbl val="0"/>
      </c:catAx>
      <c:valAx>
        <c:axId val="1"/>
        <c:scaling>
          <c:orientation val="minMax"/>
          <c:max val="5049258"/>
          <c:min val="0"/>
        </c:scaling>
        <c:delete val="1"/>
        <c:axPos val="l"/>
        <c:numFmt formatCode="General" sourceLinked="1"/>
        <c:majorTickMark val="out"/>
        <c:minorTickMark val="none"/>
        <c:tickLblPos val="nextTo"/>
        <c:crossAx val="802862495"/>
        <c:crosses val="min"/>
        <c:crossBetween val="between"/>
      </c:valAx>
    </c:plotArea>
    <c:plotVisOnly val="0"/>
    <c:dispBlanksAs val="gap"/>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0365358592692828E-2"/>
          <c:y val="5.4852320675105488E-2"/>
          <c:w val="0.85926928281461434"/>
          <c:h val="0.89029535864978904"/>
        </c:manualLayout>
      </c:layout>
      <c:barChart>
        <c:barDir val="col"/>
        <c:grouping val="stacked"/>
        <c:varyColors val="0"/>
        <c:ser>
          <c:idx val="0"/>
          <c:order val="0"/>
          <c:spPr>
            <a:solidFill>
              <a:schemeClr val="accent5"/>
            </a:solidFill>
            <a:ln>
              <a:noFill/>
            </a:ln>
          </c:spPr>
          <c:invertIfNegative val="0"/>
          <c:val>
            <c:numRef>
              <c:f>Sheet1!$A$1</c:f>
              <c:numCache>
                <c:formatCode>General</c:formatCode>
                <c:ptCount val="1"/>
                <c:pt idx="0">
                  <c:v>10265965.600000003</c:v>
                </c:pt>
              </c:numCache>
            </c:numRef>
          </c:val>
          <c:extLst>
            <c:ext xmlns:c16="http://schemas.microsoft.com/office/drawing/2014/chart" uri="{C3380CC4-5D6E-409C-BE32-E72D297353CC}">
              <c16:uniqueId val="{00000000-04CF-44A9-9B6B-9962242F0001}"/>
            </c:ext>
          </c:extLst>
        </c:ser>
        <c:dLbls>
          <c:showLegendKey val="0"/>
          <c:showVal val="0"/>
          <c:showCatName val="0"/>
          <c:showSerName val="0"/>
          <c:showPercent val="0"/>
          <c:showBubbleSize val="0"/>
        </c:dLbls>
        <c:gapWidth val="150"/>
        <c:overlap val="100"/>
        <c:axId val="802875295"/>
        <c:axId val="1"/>
      </c:barChart>
      <c:catAx>
        <c:axId val="802875295"/>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10265965.600000003"/>
          <c:min val="0"/>
        </c:scaling>
        <c:delete val="1"/>
        <c:axPos val="l"/>
        <c:numFmt formatCode="General" sourceLinked="1"/>
        <c:majorTickMark val="out"/>
        <c:minorTickMark val="none"/>
        <c:tickLblPos val="nextTo"/>
        <c:crossAx val="802875295"/>
        <c:crosses val="min"/>
        <c:crossBetween val="between"/>
      </c:valAx>
    </c:plotArea>
    <c:plotVisOnly val="0"/>
    <c:dispBlanksAs val="gap"/>
    <c:showDLblsOverMax val="1"/>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61892901618929E-2"/>
          <c:y val="5.0387596899224806E-2"/>
          <c:w val="0.96762141967621418"/>
          <c:h val="0.89922480620155043"/>
        </c:manualLayout>
      </c:layout>
      <c:barChart>
        <c:barDir val="col"/>
        <c:grouping val="stacked"/>
        <c:varyColors val="0"/>
        <c:ser>
          <c:idx val="0"/>
          <c:order val="0"/>
          <c:spPr>
            <a:solidFill>
              <a:schemeClr val="accent1"/>
            </a:solidFill>
            <a:ln>
              <a:noFill/>
            </a:ln>
          </c:spPr>
          <c:invertIfNegative val="0"/>
          <c:dPt>
            <c:idx val="0"/>
            <c:invertIfNegative val="0"/>
            <c:bubble3D val="0"/>
            <c:spPr>
              <a:solidFill>
                <a:schemeClr val="hlink"/>
              </a:solidFill>
              <a:ln>
                <a:noFill/>
              </a:ln>
            </c:spPr>
            <c:extLst>
              <c:ext xmlns:c16="http://schemas.microsoft.com/office/drawing/2014/chart" uri="{C3380CC4-5D6E-409C-BE32-E72D297353CC}">
                <c16:uniqueId val="{00000000-1E1C-46D2-B7C5-5EE2F19C0E06}"/>
              </c:ext>
            </c:extLst>
          </c:dPt>
          <c:val>
            <c:numRef>
              <c:f>Sheet1!$A$1:$D$1</c:f>
              <c:numCache>
                <c:formatCode>General</c:formatCode>
                <c:ptCount val="4"/>
                <c:pt idx="0">
                  <c:v>2.21</c:v>
                </c:pt>
                <c:pt idx="1">
                  <c:v>2.33</c:v>
                </c:pt>
                <c:pt idx="2">
                  <c:v>3.5700000000000003</c:v>
                </c:pt>
                <c:pt idx="3">
                  <c:v>11.600000000000001</c:v>
                </c:pt>
              </c:numCache>
            </c:numRef>
          </c:val>
          <c:extLst>
            <c:ext xmlns:c16="http://schemas.microsoft.com/office/drawing/2014/chart" uri="{C3380CC4-5D6E-409C-BE32-E72D297353CC}">
              <c16:uniqueId val="{00000001-1E1C-46D2-B7C5-5EE2F19C0E06}"/>
            </c:ext>
          </c:extLst>
        </c:ser>
        <c:dLbls>
          <c:showLegendKey val="0"/>
          <c:showVal val="0"/>
          <c:showCatName val="0"/>
          <c:showSerName val="0"/>
          <c:showPercent val="0"/>
          <c:showBubbleSize val="0"/>
        </c:dLbls>
        <c:gapWidth val="150"/>
        <c:overlap val="100"/>
        <c:axId val="834426159"/>
        <c:axId val="1"/>
      </c:barChart>
      <c:catAx>
        <c:axId val="834426159"/>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11.600000000000001"/>
          <c:min val="0"/>
        </c:scaling>
        <c:delete val="1"/>
        <c:axPos val="l"/>
        <c:numFmt formatCode="General" sourceLinked="1"/>
        <c:majorTickMark val="out"/>
        <c:minorTickMark val="none"/>
        <c:tickLblPos val="nextTo"/>
        <c:crossAx val="834426159"/>
        <c:crosses val="min"/>
        <c:crossBetween val="between"/>
      </c:valAx>
    </c:plotArea>
    <c:plotVisOnly val="0"/>
    <c:dispBlanksAs val="gap"/>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6159105034182723E-2"/>
          <c:y val="5.0387596899224806E-2"/>
          <c:w val="0.96768178993163456"/>
          <c:h val="0.89922480620155043"/>
        </c:manualLayout>
      </c:layout>
      <c:barChart>
        <c:barDir val="col"/>
        <c:grouping val="stacked"/>
        <c:varyColors val="0"/>
        <c:ser>
          <c:idx val="0"/>
          <c:order val="0"/>
          <c:spPr>
            <a:solidFill>
              <a:srgbClr val="86BC25"/>
            </a:solidFill>
            <a:ln>
              <a:noFill/>
            </a:ln>
          </c:spPr>
          <c:invertIfNegative val="0"/>
          <c:dPt>
            <c:idx val="0"/>
            <c:invertIfNegative val="0"/>
            <c:bubble3D val="0"/>
            <c:spPr>
              <a:solidFill>
                <a:schemeClr val="hlink"/>
              </a:solidFill>
              <a:ln>
                <a:noFill/>
              </a:ln>
            </c:spPr>
            <c:extLst>
              <c:ext xmlns:c16="http://schemas.microsoft.com/office/drawing/2014/chart" uri="{C3380CC4-5D6E-409C-BE32-E72D297353CC}">
                <c16:uniqueId val="{00000000-2735-4FD5-9FD5-06B294707D4D}"/>
              </c:ext>
            </c:extLst>
          </c:dPt>
          <c:val>
            <c:numRef>
              <c:f>Sheet1!$A$1:$D$1</c:f>
              <c:numCache>
                <c:formatCode>General</c:formatCode>
                <c:ptCount val="4"/>
                <c:pt idx="0">
                  <c:v>11.55</c:v>
                </c:pt>
                <c:pt idx="1">
                  <c:v>15.36</c:v>
                </c:pt>
                <c:pt idx="2">
                  <c:v>6.83</c:v>
                </c:pt>
                <c:pt idx="3">
                  <c:v>1.38</c:v>
                </c:pt>
              </c:numCache>
            </c:numRef>
          </c:val>
          <c:extLst>
            <c:ext xmlns:c16="http://schemas.microsoft.com/office/drawing/2014/chart" uri="{C3380CC4-5D6E-409C-BE32-E72D297353CC}">
              <c16:uniqueId val="{00000001-2735-4FD5-9FD5-06B294707D4D}"/>
            </c:ext>
          </c:extLst>
        </c:ser>
        <c:dLbls>
          <c:showLegendKey val="0"/>
          <c:showVal val="0"/>
          <c:showCatName val="0"/>
          <c:showSerName val="0"/>
          <c:showPercent val="0"/>
          <c:showBubbleSize val="0"/>
        </c:dLbls>
        <c:gapWidth val="150"/>
        <c:overlap val="100"/>
        <c:axId val="327861903"/>
        <c:axId val="1"/>
      </c:barChart>
      <c:catAx>
        <c:axId val="327861903"/>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200">
                <a:latin typeface="+mn-lt"/>
                <a:ea typeface="+mn-ea"/>
                <a:cs typeface="Calibri Light"/>
              </a:defRPr>
            </a:pPr>
            <a:endParaRPr lang="en-US"/>
          </a:p>
        </c:txPr>
        <c:crossAx val="1"/>
        <c:crosses val="min"/>
        <c:auto val="0"/>
        <c:lblAlgn val="ctr"/>
        <c:lblOffset val="100"/>
        <c:noMultiLvlLbl val="0"/>
      </c:catAx>
      <c:valAx>
        <c:axId val="1"/>
        <c:scaling>
          <c:orientation val="minMax"/>
          <c:max val="15.36"/>
          <c:min val="0"/>
        </c:scaling>
        <c:delete val="1"/>
        <c:axPos val="l"/>
        <c:numFmt formatCode="General" sourceLinked="1"/>
        <c:majorTickMark val="out"/>
        <c:minorTickMark val="none"/>
        <c:tickLblPos val="nextTo"/>
        <c:crossAx val="327861903"/>
        <c:crosses val="min"/>
        <c:crossBetween val="between"/>
      </c:valAx>
    </c:plotArea>
    <c:plotVisOnly val="0"/>
    <c:dispBlanksAs val="gap"/>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253616200578592E-2"/>
          <c:y val="0.11606510969568294"/>
          <c:w val="0.97492767598842811"/>
          <c:h val="0.84713375796178347"/>
        </c:manualLayout>
      </c:layout>
      <c:barChart>
        <c:barDir val="col"/>
        <c:grouping val="stacked"/>
        <c:varyColors val="0"/>
        <c:ser>
          <c:idx val="0"/>
          <c:order val="0"/>
          <c:spPr>
            <a:solidFill>
              <a:schemeClr val="accent1"/>
            </a:solidFill>
            <a:ln>
              <a:noFill/>
            </a:ln>
          </c:spPr>
          <c:invertIfNegative val="0"/>
          <c:dPt>
            <c:idx val="0"/>
            <c:invertIfNegative val="0"/>
            <c:bubble3D val="0"/>
            <c:spPr>
              <a:solidFill>
                <a:schemeClr val="hlink"/>
              </a:solidFill>
              <a:ln>
                <a:noFill/>
              </a:ln>
            </c:spPr>
            <c:extLst>
              <c:ext xmlns:c16="http://schemas.microsoft.com/office/drawing/2014/chart" uri="{C3380CC4-5D6E-409C-BE32-E72D297353CC}">
                <c16:uniqueId val="{00000000-F692-420B-A48A-CEAA1B0C61EA}"/>
              </c:ext>
            </c:extLst>
          </c:dPt>
          <c:dLbls>
            <c:dLbl>
              <c:idx val="0"/>
              <c:layout>
                <c:manualLayout>
                  <c:x val="0"/>
                  <c:y val="-0.39278131634819535"/>
                </c:manualLayout>
              </c:layout>
              <c:numFmt formatCode="#,##0.00;&quot;-&quot;#,##0.00" sourceLinked="0"/>
              <c:spPr>
                <a:noFill/>
                <a:ln>
                  <a:noFill/>
                </a:ln>
              </c:spPr>
              <c:txPr>
                <a:bodyPr wrap="none"/>
                <a:lstStyle/>
                <a:p>
                  <a:pPr>
                    <a:defRPr sz="14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692-420B-A48A-CEAA1B0C61EA}"/>
                </c:ext>
              </c:extLst>
            </c:dLbl>
            <c:dLbl>
              <c:idx val="1"/>
              <c:layout>
                <c:manualLayout>
                  <c:x val="0"/>
                  <c:y val="-0.31634819532908703"/>
                </c:manualLayout>
              </c:layout>
              <c:numFmt formatCode="#,##0.00;&quot;-&quot;#,##0.00" sourceLinked="0"/>
              <c:spPr>
                <a:noFill/>
                <a:ln>
                  <a:noFill/>
                </a:ln>
              </c:spPr>
              <c:txPr>
                <a:bodyPr wrap="none"/>
                <a:lstStyle/>
                <a:p>
                  <a:pPr>
                    <a:defRPr sz="14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692-420B-A48A-CEAA1B0C61EA}"/>
                </c:ext>
              </c:extLst>
            </c:dLbl>
            <c:dLbl>
              <c:idx val="2"/>
              <c:layout>
                <c:manualLayout>
                  <c:x val="0"/>
                  <c:y val="-0.48266100495399861"/>
                </c:manualLayout>
              </c:layout>
              <c:numFmt formatCode="#,##0.00;&quot;-&quot;#,##0.00" sourceLinked="0"/>
              <c:spPr>
                <a:noFill/>
                <a:ln>
                  <a:noFill/>
                </a:ln>
              </c:spPr>
              <c:txPr>
                <a:bodyPr wrap="none"/>
                <a:lstStyle/>
                <a:p>
                  <a:pPr>
                    <a:defRPr sz="14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692-420B-A48A-CEAA1B0C61EA}"/>
                </c:ext>
              </c:extLst>
            </c:dLbl>
            <c:dLbl>
              <c:idx val="3"/>
              <c:layout>
                <c:manualLayout>
                  <c:x val="0"/>
                  <c:y val="-0.418966737438075"/>
                </c:manualLayout>
              </c:layout>
              <c:numFmt formatCode="#,##0.00;&quot;-&quot;#,##0.00" sourceLinked="0"/>
              <c:spPr>
                <a:noFill/>
                <a:ln>
                  <a:noFill/>
                </a:ln>
              </c:spPr>
              <c:txPr>
                <a:bodyPr wrap="none"/>
                <a:lstStyle/>
                <a:p>
                  <a:pPr>
                    <a:defRPr sz="14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692-420B-A48A-CEAA1B0C61EA}"/>
                </c:ext>
              </c:extLst>
            </c:dLbl>
            <c:dLbl>
              <c:idx val="4"/>
              <c:layout>
                <c:manualLayout>
                  <c:x val="0"/>
                  <c:y val="-0.3765038924274593"/>
                </c:manualLayout>
              </c:layout>
              <c:numFmt formatCode="#,##0.00;&quot;-&quot;#,##0.00" sourceLinked="0"/>
              <c:spPr>
                <a:noFill/>
                <a:ln>
                  <a:noFill/>
                </a:ln>
              </c:spPr>
              <c:txPr>
                <a:bodyPr wrap="none"/>
                <a:lstStyle/>
                <a:p>
                  <a:pPr>
                    <a:defRPr sz="14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692-420B-A48A-CEAA1B0C61EA}"/>
                </c:ext>
              </c:extLst>
            </c:dLbl>
            <c:dLbl>
              <c:idx val="5"/>
              <c:layout>
                <c:manualLayout>
                  <c:x val="0"/>
                  <c:y val="-0.36093418259023352"/>
                </c:manualLayout>
              </c:layout>
              <c:numFmt formatCode="#,##0.00;&quot;-&quot;#,##0.00" sourceLinked="0"/>
              <c:spPr>
                <a:noFill/>
                <a:ln>
                  <a:noFill/>
                </a:ln>
              </c:spPr>
              <c:txPr>
                <a:bodyPr wrap="none"/>
                <a:lstStyle/>
                <a:p>
                  <a:pPr>
                    <a:defRPr sz="1400">
                      <a:solidFill>
                        <a:schemeClr val="tx1"/>
                      </a:solidFill>
                      <a:latin typeface="+mn-lt"/>
                      <a:ea typeface="+mn-ea"/>
                      <a:cs typeface="Calibri Ligh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F692-420B-A48A-CEAA1B0C61E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Sheet1!$A$1:$F$1</c:f>
              <c:numCache>
                <c:formatCode>General</c:formatCode>
                <c:ptCount val="6"/>
                <c:pt idx="0">
                  <c:v>3.89</c:v>
                </c:pt>
                <c:pt idx="1">
                  <c:v>3</c:v>
                </c:pt>
                <c:pt idx="2">
                  <c:v>4.9400000000000004</c:v>
                </c:pt>
                <c:pt idx="3">
                  <c:v>4.2</c:v>
                </c:pt>
                <c:pt idx="4">
                  <c:v>3.7</c:v>
                </c:pt>
                <c:pt idx="5">
                  <c:v>3.53</c:v>
                </c:pt>
              </c:numCache>
            </c:numRef>
          </c:val>
          <c:extLst>
            <c:ext xmlns:c16="http://schemas.microsoft.com/office/drawing/2014/chart" uri="{C3380CC4-5D6E-409C-BE32-E72D297353CC}">
              <c16:uniqueId val="{00000006-F692-420B-A48A-CEAA1B0C61EA}"/>
            </c:ext>
          </c:extLst>
        </c:ser>
        <c:dLbls>
          <c:showLegendKey val="0"/>
          <c:showVal val="0"/>
          <c:showCatName val="0"/>
          <c:showSerName val="0"/>
          <c:showPercent val="0"/>
          <c:showBubbleSize val="0"/>
        </c:dLbls>
        <c:gapWidth val="150"/>
        <c:overlap val="100"/>
        <c:axId val="300188543"/>
        <c:axId val="1"/>
      </c:barChart>
      <c:catAx>
        <c:axId val="300188543"/>
        <c:scaling>
          <c:orientation val="minMax"/>
        </c:scaling>
        <c:delete val="0"/>
        <c:axPos val="b"/>
        <c:majorGridlines>
          <c:spPr>
            <a:ln>
              <a:noFill/>
            </a:ln>
          </c:spPr>
        </c:majorGridlines>
        <c:majorTickMark val="out"/>
        <c:minorTickMark val="none"/>
        <c:tickLblPos val="none"/>
        <c:spPr>
          <a:ln w="9525" algn="ctr">
            <a:solidFill>
              <a:schemeClr val="tx1"/>
            </a:solidFill>
            <a:prstDash val="solid"/>
          </a:ln>
        </c:spPr>
        <c:txPr>
          <a:bodyPr wrap="none"/>
          <a:lstStyle/>
          <a:p>
            <a:pPr>
              <a:defRPr sz="1400">
                <a:latin typeface="+mn-lt"/>
                <a:ea typeface="+mn-ea"/>
                <a:cs typeface="Calibri Light"/>
              </a:defRPr>
            </a:pPr>
            <a:endParaRPr lang="en-US"/>
          </a:p>
        </c:txPr>
        <c:crossAx val="1"/>
        <c:crosses val="min"/>
        <c:auto val="0"/>
        <c:lblAlgn val="ctr"/>
        <c:lblOffset val="100"/>
        <c:noMultiLvlLbl val="0"/>
      </c:catAx>
      <c:valAx>
        <c:axId val="1"/>
        <c:scaling>
          <c:orientation val="minMax"/>
          <c:max val="4.9400000000000004"/>
          <c:min val="0"/>
        </c:scaling>
        <c:delete val="1"/>
        <c:axPos val="l"/>
        <c:numFmt formatCode="General" sourceLinked="1"/>
        <c:majorTickMark val="out"/>
        <c:minorTickMark val="none"/>
        <c:tickLblPos val="nextTo"/>
        <c:crossAx val="300188543"/>
        <c:crosses val="min"/>
        <c:crossBetween val="between"/>
      </c:valAx>
    </c:plotArea>
    <c:plotVisOnly val="0"/>
    <c:dispBlanksAs val="gap"/>
    <c:showDLblsOverMax val="1"/>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9AB403-C5EC-47AA-BB8B-938D09B1891A}" type="doc">
      <dgm:prSet loTypeId="urn:microsoft.com/office/officeart/2005/8/layout/lProcess2" loCatId="list" qsTypeId="urn:microsoft.com/office/officeart/2005/8/quickstyle/simple1" qsCatId="simple" csTypeId="urn:microsoft.com/office/officeart/2005/8/colors/colorful1" csCatId="colorful" phldr="1"/>
      <dgm:spPr/>
      <dgm:t>
        <a:bodyPr/>
        <a:lstStyle/>
        <a:p>
          <a:endParaRPr lang="en-US"/>
        </a:p>
      </dgm:t>
    </dgm:pt>
    <dgm:pt modelId="{317E1E3D-508B-44C8-BFAC-345B6AD5EA3B}">
      <dgm:prSet phldrT="[Text]" custT="1"/>
      <dgm:spPr/>
      <dgm:t>
        <a:bodyPr/>
        <a:lstStyle/>
        <a:p>
          <a:r>
            <a:rPr lang="en-US" sz="1800" b="1" dirty="0"/>
            <a:t>Step 1 – Selection of ERP Modules for STELCO</a:t>
          </a:r>
        </a:p>
      </dgm:t>
    </dgm:pt>
    <dgm:pt modelId="{B95003C1-4163-45FD-83DB-1A057172991A}" type="parTrans" cxnId="{F6A63342-9368-42B3-B8DD-E5F03AB77AD5}">
      <dgm:prSet/>
      <dgm:spPr/>
      <dgm:t>
        <a:bodyPr/>
        <a:lstStyle/>
        <a:p>
          <a:endParaRPr lang="en-US" sz="1400" b="1"/>
        </a:p>
      </dgm:t>
    </dgm:pt>
    <dgm:pt modelId="{C054FD97-F3F6-4A4D-8C35-7B70C365EE92}" type="sibTrans" cxnId="{F6A63342-9368-42B3-B8DD-E5F03AB77AD5}">
      <dgm:prSet/>
      <dgm:spPr/>
      <dgm:t>
        <a:bodyPr/>
        <a:lstStyle/>
        <a:p>
          <a:endParaRPr lang="en-US" sz="1400" b="1"/>
        </a:p>
      </dgm:t>
    </dgm:pt>
    <dgm:pt modelId="{891BBA7D-C301-4B18-A76D-0799E08DB340}">
      <dgm:prSet phldrT="[Text]" custT="1"/>
      <dgm:spPr/>
      <dgm:t>
        <a:bodyPr/>
        <a:lstStyle/>
        <a:p>
          <a:pPr algn="ctr"/>
          <a:r>
            <a:rPr lang="en-US" sz="1400" b="1" dirty="0"/>
            <a:t>Which ERP modules?</a:t>
          </a:r>
        </a:p>
      </dgm:t>
    </dgm:pt>
    <dgm:pt modelId="{79B9A33F-93ED-4147-B6FE-9769D12D9DB6}" type="parTrans" cxnId="{5CEAFD2D-3F43-4D01-957F-341B433B70DC}">
      <dgm:prSet/>
      <dgm:spPr/>
      <dgm:t>
        <a:bodyPr/>
        <a:lstStyle/>
        <a:p>
          <a:endParaRPr lang="en-US" sz="1400" b="1"/>
        </a:p>
      </dgm:t>
    </dgm:pt>
    <dgm:pt modelId="{26D3F530-B545-4058-9384-357F011B64DD}" type="sibTrans" cxnId="{5CEAFD2D-3F43-4D01-957F-341B433B70DC}">
      <dgm:prSet/>
      <dgm:spPr/>
      <dgm:t>
        <a:bodyPr/>
        <a:lstStyle/>
        <a:p>
          <a:endParaRPr lang="en-US" sz="1400" b="1"/>
        </a:p>
      </dgm:t>
    </dgm:pt>
    <dgm:pt modelId="{90FD2834-26AE-46D1-92B8-A726DA228518}">
      <dgm:prSet phldrT="[Text]" custT="1"/>
      <dgm:spPr/>
      <dgm:t>
        <a:bodyPr/>
        <a:lstStyle/>
        <a:p>
          <a:r>
            <a:rPr lang="en-US" sz="1800" b="1" dirty="0"/>
            <a:t>Step 2 – Selection of Add-on Modules / TPS for STELCO</a:t>
          </a:r>
        </a:p>
      </dgm:t>
    </dgm:pt>
    <dgm:pt modelId="{36046DA6-3E4E-4356-B4F2-9223D117395D}" type="parTrans" cxnId="{1004322E-905B-458B-B2CE-F2037BFECE70}">
      <dgm:prSet/>
      <dgm:spPr/>
      <dgm:t>
        <a:bodyPr/>
        <a:lstStyle/>
        <a:p>
          <a:endParaRPr lang="en-US" sz="1400" b="1"/>
        </a:p>
      </dgm:t>
    </dgm:pt>
    <dgm:pt modelId="{0D3D111A-D164-486F-A6D8-699C4F790B45}" type="sibTrans" cxnId="{1004322E-905B-458B-B2CE-F2037BFECE70}">
      <dgm:prSet/>
      <dgm:spPr/>
      <dgm:t>
        <a:bodyPr/>
        <a:lstStyle/>
        <a:p>
          <a:endParaRPr lang="en-US" sz="1400" b="1"/>
        </a:p>
      </dgm:t>
    </dgm:pt>
    <dgm:pt modelId="{EB2465BF-9FF9-496A-8AEE-C6F905DD10CF}">
      <dgm:prSet phldrT="[Text]" custT="1"/>
      <dgm:spPr/>
      <dgm:t>
        <a:bodyPr/>
        <a:lstStyle/>
        <a:p>
          <a:pPr algn="ctr"/>
          <a:r>
            <a:rPr lang="en-US" sz="1400" b="1" dirty="0"/>
            <a:t>Which Add-on ERP modules / Third Party solutions?</a:t>
          </a:r>
        </a:p>
      </dgm:t>
    </dgm:pt>
    <dgm:pt modelId="{4FC7A70A-D591-4641-9CB4-276108C76B60}" type="parTrans" cxnId="{3890B3DF-3A4B-4357-BC90-28189309EFA2}">
      <dgm:prSet/>
      <dgm:spPr/>
      <dgm:t>
        <a:bodyPr/>
        <a:lstStyle/>
        <a:p>
          <a:endParaRPr lang="en-US" sz="1400" b="1"/>
        </a:p>
      </dgm:t>
    </dgm:pt>
    <dgm:pt modelId="{63175746-8C55-4907-BAE3-1636169E29E7}" type="sibTrans" cxnId="{3890B3DF-3A4B-4357-BC90-28189309EFA2}">
      <dgm:prSet/>
      <dgm:spPr/>
      <dgm:t>
        <a:bodyPr/>
        <a:lstStyle/>
        <a:p>
          <a:endParaRPr lang="en-US" sz="1400" b="1"/>
        </a:p>
      </dgm:t>
    </dgm:pt>
    <dgm:pt modelId="{12004461-DF7E-4332-9D40-7A4E823D2D9F}">
      <dgm:prSet phldrT="[Text]" custT="1"/>
      <dgm:spPr/>
      <dgm:t>
        <a:bodyPr/>
        <a:lstStyle/>
        <a:p>
          <a:r>
            <a:rPr lang="en-US" sz="1800" b="1" dirty="0"/>
            <a:t>Step 3 – Decide on roll out plan across STECLO</a:t>
          </a:r>
        </a:p>
      </dgm:t>
    </dgm:pt>
    <dgm:pt modelId="{42680426-80D6-4468-AEB3-515F599089FC}" type="parTrans" cxnId="{08D35312-70A3-47D7-AFF9-31E092FF8E4D}">
      <dgm:prSet/>
      <dgm:spPr/>
      <dgm:t>
        <a:bodyPr/>
        <a:lstStyle/>
        <a:p>
          <a:endParaRPr lang="en-US" sz="1400" b="1"/>
        </a:p>
      </dgm:t>
    </dgm:pt>
    <dgm:pt modelId="{52CF7C27-04B6-4168-9563-8DCE1B6293DC}" type="sibTrans" cxnId="{08D35312-70A3-47D7-AFF9-31E092FF8E4D}">
      <dgm:prSet/>
      <dgm:spPr/>
      <dgm:t>
        <a:bodyPr/>
        <a:lstStyle/>
        <a:p>
          <a:endParaRPr lang="en-US" sz="1400" b="1"/>
        </a:p>
      </dgm:t>
    </dgm:pt>
    <dgm:pt modelId="{5D498E36-8F12-4163-BD8D-51EF10E25D2B}">
      <dgm:prSet custT="1"/>
      <dgm:spPr/>
      <dgm:t>
        <a:bodyPr/>
        <a:lstStyle/>
        <a:p>
          <a:r>
            <a:rPr lang="en-US" altLang="ja-JP" sz="1400" b="1" dirty="0">
              <a:ea typeface="ＭＳ Ｐゴシック" pitchFamily="50" charset="-128"/>
            </a:rPr>
            <a:t>Only Male?</a:t>
          </a:r>
        </a:p>
      </dgm:t>
    </dgm:pt>
    <dgm:pt modelId="{E384BF50-66F7-49E8-BC32-7731723FCEEC}" type="parTrans" cxnId="{C9CA96C6-8963-4EE8-80F7-84C82081F8D1}">
      <dgm:prSet/>
      <dgm:spPr/>
      <dgm:t>
        <a:bodyPr/>
        <a:lstStyle/>
        <a:p>
          <a:endParaRPr lang="en-US" sz="1400" b="1"/>
        </a:p>
      </dgm:t>
    </dgm:pt>
    <dgm:pt modelId="{D774984A-F0E5-4206-A3BB-640B407A856D}" type="sibTrans" cxnId="{C9CA96C6-8963-4EE8-80F7-84C82081F8D1}">
      <dgm:prSet/>
      <dgm:spPr/>
      <dgm:t>
        <a:bodyPr/>
        <a:lstStyle/>
        <a:p>
          <a:endParaRPr lang="en-US" sz="1400" b="1"/>
        </a:p>
      </dgm:t>
    </dgm:pt>
    <dgm:pt modelId="{73D103FA-401E-4B28-8FE2-B764F85C2CAC}">
      <dgm:prSet custT="1"/>
      <dgm:spPr/>
      <dgm:t>
        <a:bodyPr/>
        <a:lstStyle/>
        <a:p>
          <a:r>
            <a:rPr lang="en-US" altLang="ja-JP" sz="1800" b="1" dirty="0">
              <a:ea typeface="ＭＳ Ｐゴシック" pitchFamily="50" charset="-128"/>
            </a:rPr>
            <a:t>Step 4 – Decide ERP / Add-on Module Deployment Strategy</a:t>
          </a:r>
        </a:p>
      </dgm:t>
    </dgm:pt>
    <dgm:pt modelId="{20BE85B9-91D6-4656-A4AB-26E574B7CCBC}" type="parTrans" cxnId="{3B9F6B51-243F-4628-AD93-C22A7F228EA2}">
      <dgm:prSet/>
      <dgm:spPr/>
      <dgm:t>
        <a:bodyPr/>
        <a:lstStyle/>
        <a:p>
          <a:endParaRPr lang="en-US" sz="1400" b="1"/>
        </a:p>
      </dgm:t>
    </dgm:pt>
    <dgm:pt modelId="{7A5111BD-466F-4CCE-AAFC-962953791B2F}" type="sibTrans" cxnId="{3B9F6B51-243F-4628-AD93-C22A7F228EA2}">
      <dgm:prSet/>
      <dgm:spPr/>
      <dgm:t>
        <a:bodyPr/>
        <a:lstStyle/>
        <a:p>
          <a:endParaRPr lang="en-US" sz="1400" b="1"/>
        </a:p>
      </dgm:t>
    </dgm:pt>
    <dgm:pt modelId="{8E187BD1-28B4-436D-ABFE-3A6220C28A92}">
      <dgm:prSet custT="1"/>
      <dgm:spPr/>
      <dgm:t>
        <a:bodyPr/>
        <a:lstStyle/>
        <a:p>
          <a:r>
            <a:rPr lang="en-US" altLang="ja-JP" sz="1400" b="1" dirty="0">
              <a:ea typeface="ＭＳ Ｐゴシック" pitchFamily="50" charset="-128"/>
            </a:rPr>
            <a:t>On Cloud ?</a:t>
          </a:r>
        </a:p>
      </dgm:t>
    </dgm:pt>
    <dgm:pt modelId="{EBFF8FDC-4DA6-4064-800D-327D39F72B8B}" type="parTrans" cxnId="{71BA0A93-6121-4EB6-B66E-AD8D98DB083C}">
      <dgm:prSet/>
      <dgm:spPr/>
      <dgm:t>
        <a:bodyPr/>
        <a:lstStyle/>
        <a:p>
          <a:endParaRPr lang="en-US" sz="1400" b="1"/>
        </a:p>
      </dgm:t>
    </dgm:pt>
    <dgm:pt modelId="{490E75D8-242E-4703-8CD6-28A243ACDC60}" type="sibTrans" cxnId="{71BA0A93-6121-4EB6-B66E-AD8D98DB083C}">
      <dgm:prSet/>
      <dgm:spPr/>
      <dgm:t>
        <a:bodyPr/>
        <a:lstStyle/>
        <a:p>
          <a:endParaRPr lang="en-US" sz="1400" b="1"/>
        </a:p>
      </dgm:t>
    </dgm:pt>
    <dgm:pt modelId="{49F42864-947E-40E7-B2A1-BBF8A9C61EE2}">
      <dgm:prSet custT="1"/>
      <dgm:spPr/>
      <dgm:t>
        <a:bodyPr/>
        <a:lstStyle/>
        <a:p>
          <a:r>
            <a:rPr lang="en-US" altLang="ja-JP" sz="1400" b="1" dirty="0">
              <a:ea typeface="ＭＳ Ｐゴシック" pitchFamily="50" charset="-128"/>
            </a:rPr>
            <a:t> On Premise?</a:t>
          </a:r>
        </a:p>
      </dgm:t>
    </dgm:pt>
    <dgm:pt modelId="{D562F546-F151-4687-9C01-C3473D09E7D8}" type="parTrans" cxnId="{7B56455B-A1C2-4CB3-832D-DFC83560A3CA}">
      <dgm:prSet/>
      <dgm:spPr/>
      <dgm:t>
        <a:bodyPr/>
        <a:lstStyle/>
        <a:p>
          <a:endParaRPr lang="en-US" sz="1400" b="1"/>
        </a:p>
      </dgm:t>
    </dgm:pt>
    <dgm:pt modelId="{F9EF375A-BAC0-4D42-B2A0-4591359A684A}" type="sibTrans" cxnId="{7B56455B-A1C2-4CB3-832D-DFC83560A3CA}">
      <dgm:prSet/>
      <dgm:spPr/>
      <dgm:t>
        <a:bodyPr/>
        <a:lstStyle/>
        <a:p>
          <a:endParaRPr lang="en-US" sz="1400" b="1"/>
        </a:p>
      </dgm:t>
    </dgm:pt>
    <dgm:pt modelId="{A0BF9CD6-21E2-4DAC-9296-3B192B3EDAAD}">
      <dgm:prSet custT="1"/>
      <dgm:spPr/>
      <dgm:t>
        <a:bodyPr/>
        <a:lstStyle/>
        <a:p>
          <a:r>
            <a:rPr lang="en-US" altLang="ja-JP" sz="1400" b="1" dirty="0">
              <a:ea typeface="ＭＳ Ｐゴシック" pitchFamily="50" charset="-128"/>
            </a:rPr>
            <a:t>Male  and all islands together?</a:t>
          </a:r>
        </a:p>
      </dgm:t>
    </dgm:pt>
    <dgm:pt modelId="{8B6E7400-04BA-4DEC-97F2-F12AAA269C65}" type="sibTrans" cxnId="{7720517C-42AA-463C-8352-4AB9516F6E83}">
      <dgm:prSet/>
      <dgm:spPr/>
      <dgm:t>
        <a:bodyPr/>
        <a:lstStyle/>
        <a:p>
          <a:endParaRPr lang="en-US" sz="1400" b="1"/>
        </a:p>
      </dgm:t>
    </dgm:pt>
    <dgm:pt modelId="{5EB1670F-610D-4F70-AAAA-CBCC71851B3A}" type="parTrans" cxnId="{7720517C-42AA-463C-8352-4AB9516F6E83}">
      <dgm:prSet/>
      <dgm:spPr/>
      <dgm:t>
        <a:bodyPr/>
        <a:lstStyle/>
        <a:p>
          <a:endParaRPr lang="en-US" sz="1400" b="1"/>
        </a:p>
      </dgm:t>
    </dgm:pt>
    <dgm:pt modelId="{0FEA197C-1103-4CEF-8270-DAD1368CF855}">
      <dgm:prSet custT="1"/>
      <dgm:spPr/>
      <dgm:t>
        <a:bodyPr/>
        <a:lstStyle/>
        <a:p>
          <a:r>
            <a:rPr lang="en-US" altLang="ja-JP" sz="1400" b="1" dirty="0">
              <a:ea typeface="ＭＳ Ｐゴシック" pitchFamily="50" charset="-128"/>
            </a:rPr>
            <a:t>Male first and all islands later?</a:t>
          </a:r>
        </a:p>
      </dgm:t>
    </dgm:pt>
    <dgm:pt modelId="{03AF9B1B-599C-48A3-941F-51B3A626E3A7}" type="sibTrans" cxnId="{1CB2C3C5-35A9-4D84-B528-D97A1FB59065}">
      <dgm:prSet/>
      <dgm:spPr/>
      <dgm:t>
        <a:bodyPr/>
        <a:lstStyle/>
        <a:p>
          <a:endParaRPr lang="en-US" sz="1400" b="1"/>
        </a:p>
      </dgm:t>
    </dgm:pt>
    <dgm:pt modelId="{34164555-9714-4E65-8715-B6378383C3C0}" type="parTrans" cxnId="{1CB2C3C5-35A9-4D84-B528-D97A1FB59065}">
      <dgm:prSet/>
      <dgm:spPr/>
      <dgm:t>
        <a:bodyPr/>
        <a:lstStyle/>
        <a:p>
          <a:endParaRPr lang="en-US" sz="1400" b="1"/>
        </a:p>
      </dgm:t>
    </dgm:pt>
    <dgm:pt modelId="{96773ED7-7605-4101-B5A1-2D36686AD6E8}">
      <dgm:prSet custT="1"/>
      <dgm:spPr/>
      <dgm:t>
        <a:bodyPr/>
        <a:lstStyle/>
        <a:p>
          <a:r>
            <a:rPr lang="en-US" altLang="ja-JP" sz="1800" b="1" dirty="0">
              <a:ea typeface="ＭＳ Ｐゴシック" pitchFamily="50" charset="-128"/>
            </a:rPr>
            <a:t>Step 5 – Decide Hardware and IT Infrastructure Deployment Strategy</a:t>
          </a:r>
        </a:p>
      </dgm:t>
    </dgm:pt>
    <dgm:pt modelId="{EB10FBF0-A68E-4108-8412-7E1840AD5647}" type="parTrans" cxnId="{946E1557-1CDB-44B1-982F-A52EDCC4E1CF}">
      <dgm:prSet/>
      <dgm:spPr/>
      <dgm:t>
        <a:bodyPr/>
        <a:lstStyle/>
        <a:p>
          <a:endParaRPr lang="en-US" sz="1400" b="1"/>
        </a:p>
      </dgm:t>
    </dgm:pt>
    <dgm:pt modelId="{98B1C267-EB01-45A4-B0E8-9BB79506FCE1}" type="sibTrans" cxnId="{946E1557-1CDB-44B1-982F-A52EDCC4E1CF}">
      <dgm:prSet/>
      <dgm:spPr/>
      <dgm:t>
        <a:bodyPr/>
        <a:lstStyle/>
        <a:p>
          <a:endParaRPr lang="en-US" sz="1400" b="1"/>
        </a:p>
      </dgm:t>
    </dgm:pt>
    <dgm:pt modelId="{D6666D12-441B-44F9-9162-1DF7ECBB8D0B}">
      <dgm:prSet custT="1"/>
      <dgm:spPr/>
      <dgm:t>
        <a:bodyPr/>
        <a:lstStyle/>
        <a:p>
          <a:r>
            <a:rPr lang="en-US" altLang="ja-JP" sz="1400" b="1" dirty="0">
              <a:ea typeface="ＭＳ Ｐゴシック" pitchFamily="50" charset="-128"/>
            </a:rPr>
            <a:t>On Premise?</a:t>
          </a:r>
        </a:p>
      </dgm:t>
    </dgm:pt>
    <dgm:pt modelId="{AA1FFD0D-BFCC-43B7-91F5-962FA86D5C6A}" type="parTrans" cxnId="{49557F8F-C8C9-4A22-BF74-E44546C7160F}">
      <dgm:prSet/>
      <dgm:spPr/>
      <dgm:t>
        <a:bodyPr/>
        <a:lstStyle/>
        <a:p>
          <a:endParaRPr lang="en-US" sz="1400" b="1"/>
        </a:p>
      </dgm:t>
    </dgm:pt>
    <dgm:pt modelId="{3737522D-4DC7-48FF-8BB2-845373C86527}" type="sibTrans" cxnId="{49557F8F-C8C9-4A22-BF74-E44546C7160F}">
      <dgm:prSet/>
      <dgm:spPr/>
      <dgm:t>
        <a:bodyPr/>
        <a:lstStyle/>
        <a:p>
          <a:endParaRPr lang="en-US" sz="1400" b="1"/>
        </a:p>
      </dgm:t>
    </dgm:pt>
    <dgm:pt modelId="{A40D2101-D76F-49FE-A068-66385193440C}">
      <dgm:prSet custT="1"/>
      <dgm:spPr/>
      <dgm:t>
        <a:bodyPr/>
        <a:lstStyle/>
        <a:p>
          <a:r>
            <a:rPr lang="en-US" altLang="ja-JP" sz="1400" b="1" dirty="0">
              <a:ea typeface="ＭＳ Ｐゴシック" pitchFamily="50" charset="-128"/>
            </a:rPr>
            <a:t>On Cloud?</a:t>
          </a:r>
        </a:p>
      </dgm:t>
    </dgm:pt>
    <dgm:pt modelId="{45F83D74-AB56-4861-8F3B-C4B9DB5A516D}" type="parTrans" cxnId="{15A2E69B-9A6D-43BA-B783-D7DF57AAB1F2}">
      <dgm:prSet/>
      <dgm:spPr/>
      <dgm:t>
        <a:bodyPr/>
        <a:lstStyle/>
        <a:p>
          <a:endParaRPr lang="en-US" sz="1400" b="1"/>
        </a:p>
      </dgm:t>
    </dgm:pt>
    <dgm:pt modelId="{299A1EB7-5677-4843-8C68-A71A57D4F748}" type="sibTrans" cxnId="{15A2E69B-9A6D-43BA-B783-D7DF57AAB1F2}">
      <dgm:prSet/>
      <dgm:spPr/>
      <dgm:t>
        <a:bodyPr/>
        <a:lstStyle/>
        <a:p>
          <a:endParaRPr lang="en-US" sz="1400" b="1"/>
        </a:p>
      </dgm:t>
    </dgm:pt>
    <dgm:pt modelId="{35C962A9-6443-4674-A7AB-653F9D728823}">
      <dgm:prSet phldrT="[Text]" custT="1"/>
      <dgm:spPr/>
      <dgm:t>
        <a:bodyPr/>
        <a:lstStyle/>
        <a:p>
          <a:pPr algn="ctr"/>
          <a:r>
            <a:rPr lang="en-US" sz="1400" b="1" dirty="0"/>
            <a:t>Phasing Strategy for the Modules?</a:t>
          </a:r>
        </a:p>
      </dgm:t>
    </dgm:pt>
    <dgm:pt modelId="{F94ECB6D-3FC3-492A-9298-56777A1DAC90}" type="parTrans" cxnId="{25255DD3-1D56-4A3E-AF99-36DBFBC697CC}">
      <dgm:prSet/>
      <dgm:spPr/>
      <dgm:t>
        <a:bodyPr/>
        <a:lstStyle/>
        <a:p>
          <a:endParaRPr lang="en-US" sz="1600" b="1"/>
        </a:p>
      </dgm:t>
    </dgm:pt>
    <dgm:pt modelId="{E1E2F2C3-F2F0-48C4-A406-21317BD04CD9}" type="sibTrans" cxnId="{25255DD3-1D56-4A3E-AF99-36DBFBC697CC}">
      <dgm:prSet/>
      <dgm:spPr/>
      <dgm:t>
        <a:bodyPr/>
        <a:lstStyle/>
        <a:p>
          <a:endParaRPr lang="en-US" sz="1600" b="1"/>
        </a:p>
      </dgm:t>
    </dgm:pt>
    <dgm:pt modelId="{85F84C29-B7E7-43A0-9E39-C270D34A3C6F}">
      <dgm:prSet phldrT="[Text]" custT="1"/>
      <dgm:spPr/>
      <dgm:t>
        <a:bodyPr/>
        <a:lstStyle/>
        <a:p>
          <a:pPr algn="ctr"/>
          <a:r>
            <a:rPr lang="en-US" sz="1400" b="1" dirty="0"/>
            <a:t>Phasing Strategy for the Modules / TPS?</a:t>
          </a:r>
        </a:p>
      </dgm:t>
    </dgm:pt>
    <dgm:pt modelId="{BBC875F9-5A00-4BEF-956C-EC3CC10985E5}" type="parTrans" cxnId="{6C863626-D9E3-46CF-8FCD-083831A43F66}">
      <dgm:prSet/>
      <dgm:spPr/>
      <dgm:t>
        <a:bodyPr/>
        <a:lstStyle/>
        <a:p>
          <a:endParaRPr lang="en-US" sz="1600" b="1"/>
        </a:p>
      </dgm:t>
    </dgm:pt>
    <dgm:pt modelId="{4071E20F-EF32-43D4-8D5F-EC13A1A47B62}" type="sibTrans" cxnId="{6C863626-D9E3-46CF-8FCD-083831A43F66}">
      <dgm:prSet/>
      <dgm:spPr/>
      <dgm:t>
        <a:bodyPr/>
        <a:lstStyle/>
        <a:p>
          <a:endParaRPr lang="en-US" sz="1600" b="1"/>
        </a:p>
      </dgm:t>
    </dgm:pt>
    <dgm:pt modelId="{B730BC6F-2D1C-46BC-8833-F8C404CD0F23}" type="pres">
      <dgm:prSet presAssocID="{4E9AB403-C5EC-47AA-BB8B-938D09B1891A}" presName="theList" presStyleCnt="0">
        <dgm:presLayoutVars>
          <dgm:dir/>
          <dgm:animLvl val="lvl"/>
          <dgm:resizeHandles val="exact"/>
        </dgm:presLayoutVars>
      </dgm:prSet>
      <dgm:spPr/>
    </dgm:pt>
    <dgm:pt modelId="{DE064DA5-C53C-471F-AD32-56ABE41BE180}" type="pres">
      <dgm:prSet presAssocID="{317E1E3D-508B-44C8-BFAC-345B6AD5EA3B}" presName="compNode" presStyleCnt="0"/>
      <dgm:spPr/>
    </dgm:pt>
    <dgm:pt modelId="{3629CE3A-DD4C-4B41-8511-6CB9860F7831}" type="pres">
      <dgm:prSet presAssocID="{317E1E3D-508B-44C8-BFAC-345B6AD5EA3B}" presName="aNode" presStyleLbl="bgShp" presStyleIdx="0" presStyleCnt="5"/>
      <dgm:spPr/>
    </dgm:pt>
    <dgm:pt modelId="{64AEC9B2-D893-47FA-B87A-9DD5AD5A5DBA}" type="pres">
      <dgm:prSet presAssocID="{317E1E3D-508B-44C8-BFAC-345B6AD5EA3B}" presName="textNode" presStyleLbl="bgShp" presStyleIdx="0" presStyleCnt="5"/>
      <dgm:spPr/>
    </dgm:pt>
    <dgm:pt modelId="{339E185A-434E-48EE-8F95-49B07DF8E5C6}" type="pres">
      <dgm:prSet presAssocID="{317E1E3D-508B-44C8-BFAC-345B6AD5EA3B}" presName="compChildNode" presStyleCnt="0"/>
      <dgm:spPr/>
    </dgm:pt>
    <dgm:pt modelId="{2D5800C9-D926-4B3F-9E64-5BBF4F3A1D20}" type="pres">
      <dgm:prSet presAssocID="{317E1E3D-508B-44C8-BFAC-345B6AD5EA3B}" presName="theInnerList" presStyleCnt="0"/>
      <dgm:spPr/>
    </dgm:pt>
    <dgm:pt modelId="{9A88C26F-8724-4BF7-92F8-541EC3B34371}" type="pres">
      <dgm:prSet presAssocID="{891BBA7D-C301-4B18-A76D-0799E08DB340}" presName="childNode" presStyleLbl="node1" presStyleIdx="0" presStyleCnt="11">
        <dgm:presLayoutVars>
          <dgm:bulletEnabled val="1"/>
        </dgm:presLayoutVars>
      </dgm:prSet>
      <dgm:spPr/>
    </dgm:pt>
    <dgm:pt modelId="{825F9C07-DA6D-4FA7-A0A4-C5F40F0DB8A7}" type="pres">
      <dgm:prSet presAssocID="{891BBA7D-C301-4B18-A76D-0799E08DB340}" presName="aSpace2" presStyleCnt="0"/>
      <dgm:spPr/>
    </dgm:pt>
    <dgm:pt modelId="{F7DD683C-101B-4936-B94B-BD9CCA0BB069}" type="pres">
      <dgm:prSet presAssocID="{35C962A9-6443-4674-A7AB-653F9D728823}" presName="childNode" presStyleLbl="node1" presStyleIdx="1" presStyleCnt="11">
        <dgm:presLayoutVars>
          <dgm:bulletEnabled val="1"/>
        </dgm:presLayoutVars>
      </dgm:prSet>
      <dgm:spPr/>
    </dgm:pt>
    <dgm:pt modelId="{0A28AB5D-3C1B-4E69-A75D-F608C9488D2F}" type="pres">
      <dgm:prSet presAssocID="{317E1E3D-508B-44C8-BFAC-345B6AD5EA3B}" presName="aSpace" presStyleCnt="0"/>
      <dgm:spPr/>
    </dgm:pt>
    <dgm:pt modelId="{04D9DE64-0712-499E-901C-206623F78A4A}" type="pres">
      <dgm:prSet presAssocID="{90FD2834-26AE-46D1-92B8-A726DA228518}" presName="compNode" presStyleCnt="0"/>
      <dgm:spPr/>
    </dgm:pt>
    <dgm:pt modelId="{E263546C-2492-48B6-86CD-1E86CDB52B22}" type="pres">
      <dgm:prSet presAssocID="{90FD2834-26AE-46D1-92B8-A726DA228518}" presName="aNode" presStyleLbl="bgShp" presStyleIdx="1" presStyleCnt="5"/>
      <dgm:spPr/>
    </dgm:pt>
    <dgm:pt modelId="{999F6AF4-DF0C-428B-9288-A56BCE805910}" type="pres">
      <dgm:prSet presAssocID="{90FD2834-26AE-46D1-92B8-A726DA228518}" presName="textNode" presStyleLbl="bgShp" presStyleIdx="1" presStyleCnt="5"/>
      <dgm:spPr/>
    </dgm:pt>
    <dgm:pt modelId="{DFFE4D03-6B5A-4856-804B-CEC273EEE253}" type="pres">
      <dgm:prSet presAssocID="{90FD2834-26AE-46D1-92B8-A726DA228518}" presName="compChildNode" presStyleCnt="0"/>
      <dgm:spPr/>
    </dgm:pt>
    <dgm:pt modelId="{3CCC14C1-435C-41F7-A9CD-31D7CDD950DB}" type="pres">
      <dgm:prSet presAssocID="{90FD2834-26AE-46D1-92B8-A726DA228518}" presName="theInnerList" presStyleCnt="0"/>
      <dgm:spPr/>
    </dgm:pt>
    <dgm:pt modelId="{5E48FE2F-EBC1-4CB2-9031-6BC389D80259}" type="pres">
      <dgm:prSet presAssocID="{EB2465BF-9FF9-496A-8AEE-C6F905DD10CF}" presName="childNode" presStyleLbl="node1" presStyleIdx="2" presStyleCnt="11">
        <dgm:presLayoutVars>
          <dgm:bulletEnabled val="1"/>
        </dgm:presLayoutVars>
      </dgm:prSet>
      <dgm:spPr/>
    </dgm:pt>
    <dgm:pt modelId="{DD42DD0F-0D31-4F36-B9C8-017DC29688F7}" type="pres">
      <dgm:prSet presAssocID="{EB2465BF-9FF9-496A-8AEE-C6F905DD10CF}" presName="aSpace2" presStyleCnt="0"/>
      <dgm:spPr/>
    </dgm:pt>
    <dgm:pt modelId="{8628125B-9512-40E7-A8D9-165D46AB00F7}" type="pres">
      <dgm:prSet presAssocID="{85F84C29-B7E7-43A0-9E39-C270D34A3C6F}" presName="childNode" presStyleLbl="node1" presStyleIdx="3" presStyleCnt="11">
        <dgm:presLayoutVars>
          <dgm:bulletEnabled val="1"/>
        </dgm:presLayoutVars>
      </dgm:prSet>
      <dgm:spPr/>
    </dgm:pt>
    <dgm:pt modelId="{0B1DCF43-EECB-4035-9094-4688376C119D}" type="pres">
      <dgm:prSet presAssocID="{90FD2834-26AE-46D1-92B8-A726DA228518}" presName="aSpace" presStyleCnt="0"/>
      <dgm:spPr/>
    </dgm:pt>
    <dgm:pt modelId="{328CBF57-30A8-40D6-BCD4-27DA96EA42DB}" type="pres">
      <dgm:prSet presAssocID="{12004461-DF7E-4332-9D40-7A4E823D2D9F}" presName="compNode" presStyleCnt="0"/>
      <dgm:spPr/>
    </dgm:pt>
    <dgm:pt modelId="{2917371C-C2B2-46EA-BA1C-AD905553BAC5}" type="pres">
      <dgm:prSet presAssocID="{12004461-DF7E-4332-9D40-7A4E823D2D9F}" presName="aNode" presStyleLbl="bgShp" presStyleIdx="2" presStyleCnt="5"/>
      <dgm:spPr/>
    </dgm:pt>
    <dgm:pt modelId="{AE7834A5-6FF8-4DFD-9007-48DBE57CE5E4}" type="pres">
      <dgm:prSet presAssocID="{12004461-DF7E-4332-9D40-7A4E823D2D9F}" presName="textNode" presStyleLbl="bgShp" presStyleIdx="2" presStyleCnt="5"/>
      <dgm:spPr/>
    </dgm:pt>
    <dgm:pt modelId="{AFBD51D3-90A8-492C-B72B-69A4E657AA6F}" type="pres">
      <dgm:prSet presAssocID="{12004461-DF7E-4332-9D40-7A4E823D2D9F}" presName="compChildNode" presStyleCnt="0"/>
      <dgm:spPr/>
    </dgm:pt>
    <dgm:pt modelId="{FA7E8D2C-9ECF-4FD3-9475-6393CECEF20C}" type="pres">
      <dgm:prSet presAssocID="{12004461-DF7E-4332-9D40-7A4E823D2D9F}" presName="theInnerList" presStyleCnt="0"/>
      <dgm:spPr/>
    </dgm:pt>
    <dgm:pt modelId="{780D505C-843C-4452-89B4-DC83BEFE6CBB}" type="pres">
      <dgm:prSet presAssocID="{5D498E36-8F12-4163-BD8D-51EF10E25D2B}" presName="childNode" presStyleLbl="node1" presStyleIdx="4" presStyleCnt="11">
        <dgm:presLayoutVars>
          <dgm:bulletEnabled val="1"/>
        </dgm:presLayoutVars>
      </dgm:prSet>
      <dgm:spPr/>
    </dgm:pt>
    <dgm:pt modelId="{1F58A3BA-FF2B-4BD3-9620-FCD88F6F748E}" type="pres">
      <dgm:prSet presAssocID="{5D498E36-8F12-4163-BD8D-51EF10E25D2B}" presName="aSpace2" presStyleCnt="0"/>
      <dgm:spPr/>
    </dgm:pt>
    <dgm:pt modelId="{1798A412-DAB3-43FE-8B80-EB6EC1329F84}" type="pres">
      <dgm:prSet presAssocID="{A0BF9CD6-21E2-4DAC-9296-3B192B3EDAAD}" presName="childNode" presStyleLbl="node1" presStyleIdx="5" presStyleCnt="11">
        <dgm:presLayoutVars>
          <dgm:bulletEnabled val="1"/>
        </dgm:presLayoutVars>
      </dgm:prSet>
      <dgm:spPr/>
    </dgm:pt>
    <dgm:pt modelId="{67B7A406-C17B-45FA-920E-AE6646141DF7}" type="pres">
      <dgm:prSet presAssocID="{A0BF9CD6-21E2-4DAC-9296-3B192B3EDAAD}" presName="aSpace2" presStyleCnt="0"/>
      <dgm:spPr/>
    </dgm:pt>
    <dgm:pt modelId="{3E48DEDD-8B8C-4AE6-B1C5-E8509CE6029C}" type="pres">
      <dgm:prSet presAssocID="{0FEA197C-1103-4CEF-8270-DAD1368CF855}" presName="childNode" presStyleLbl="node1" presStyleIdx="6" presStyleCnt="11">
        <dgm:presLayoutVars>
          <dgm:bulletEnabled val="1"/>
        </dgm:presLayoutVars>
      </dgm:prSet>
      <dgm:spPr/>
    </dgm:pt>
    <dgm:pt modelId="{BA6DC773-E017-4EF3-B7B0-3300FCBEF68F}" type="pres">
      <dgm:prSet presAssocID="{12004461-DF7E-4332-9D40-7A4E823D2D9F}" presName="aSpace" presStyleCnt="0"/>
      <dgm:spPr/>
    </dgm:pt>
    <dgm:pt modelId="{5663264A-68D3-486D-8D59-A7B0D89F7FDA}" type="pres">
      <dgm:prSet presAssocID="{73D103FA-401E-4B28-8FE2-B764F85C2CAC}" presName="compNode" presStyleCnt="0"/>
      <dgm:spPr/>
    </dgm:pt>
    <dgm:pt modelId="{450CBEC4-2B1A-4A56-9499-3C9AF0DDDDE3}" type="pres">
      <dgm:prSet presAssocID="{73D103FA-401E-4B28-8FE2-B764F85C2CAC}" presName="aNode" presStyleLbl="bgShp" presStyleIdx="3" presStyleCnt="5"/>
      <dgm:spPr/>
    </dgm:pt>
    <dgm:pt modelId="{7D3B97FE-950E-4CB9-8954-15B8981E2B10}" type="pres">
      <dgm:prSet presAssocID="{73D103FA-401E-4B28-8FE2-B764F85C2CAC}" presName="textNode" presStyleLbl="bgShp" presStyleIdx="3" presStyleCnt="5"/>
      <dgm:spPr/>
    </dgm:pt>
    <dgm:pt modelId="{3F66EFDB-E209-4CA9-B94F-EE854784F368}" type="pres">
      <dgm:prSet presAssocID="{73D103FA-401E-4B28-8FE2-B764F85C2CAC}" presName="compChildNode" presStyleCnt="0"/>
      <dgm:spPr/>
    </dgm:pt>
    <dgm:pt modelId="{23B062FB-A9D1-4623-A828-24F9869B9816}" type="pres">
      <dgm:prSet presAssocID="{73D103FA-401E-4B28-8FE2-B764F85C2CAC}" presName="theInnerList" presStyleCnt="0"/>
      <dgm:spPr/>
    </dgm:pt>
    <dgm:pt modelId="{D05B5A5F-5FAB-40F4-8920-31DC5AF6A32E}" type="pres">
      <dgm:prSet presAssocID="{49F42864-947E-40E7-B2A1-BBF8A9C61EE2}" presName="childNode" presStyleLbl="node1" presStyleIdx="7" presStyleCnt="11">
        <dgm:presLayoutVars>
          <dgm:bulletEnabled val="1"/>
        </dgm:presLayoutVars>
      </dgm:prSet>
      <dgm:spPr/>
    </dgm:pt>
    <dgm:pt modelId="{3DFBF6D0-A540-4B31-848E-7CA0AF6ABAD4}" type="pres">
      <dgm:prSet presAssocID="{49F42864-947E-40E7-B2A1-BBF8A9C61EE2}" presName="aSpace2" presStyleCnt="0"/>
      <dgm:spPr/>
    </dgm:pt>
    <dgm:pt modelId="{B245E81E-E3E2-4BFC-AA19-F5DD570830A4}" type="pres">
      <dgm:prSet presAssocID="{8E187BD1-28B4-436D-ABFE-3A6220C28A92}" presName="childNode" presStyleLbl="node1" presStyleIdx="8" presStyleCnt="11">
        <dgm:presLayoutVars>
          <dgm:bulletEnabled val="1"/>
        </dgm:presLayoutVars>
      </dgm:prSet>
      <dgm:spPr/>
    </dgm:pt>
    <dgm:pt modelId="{A35680A2-89D9-4D34-9CB1-7CC55EFAD95C}" type="pres">
      <dgm:prSet presAssocID="{73D103FA-401E-4B28-8FE2-B764F85C2CAC}" presName="aSpace" presStyleCnt="0"/>
      <dgm:spPr/>
    </dgm:pt>
    <dgm:pt modelId="{18BBF0BD-0DF6-4885-B220-F8D0E6533963}" type="pres">
      <dgm:prSet presAssocID="{96773ED7-7605-4101-B5A1-2D36686AD6E8}" presName="compNode" presStyleCnt="0"/>
      <dgm:spPr/>
    </dgm:pt>
    <dgm:pt modelId="{4B27CCBF-F1ED-4CAF-8CC7-B728507CE8DD}" type="pres">
      <dgm:prSet presAssocID="{96773ED7-7605-4101-B5A1-2D36686AD6E8}" presName="aNode" presStyleLbl="bgShp" presStyleIdx="4" presStyleCnt="5"/>
      <dgm:spPr/>
    </dgm:pt>
    <dgm:pt modelId="{ACB16F17-070F-4D95-B1E9-D6D7CF572406}" type="pres">
      <dgm:prSet presAssocID="{96773ED7-7605-4101-B5A1-2D36686AD6E8}" presName="textNode" presStyleLbl="bgShp" presStyleIdx="4" presStyleCnt="5"/>
      <dgm:spPr/>
    </dgm:pt>
    <dgm:pt modelId="{21BDC582-EFAE-4971-9133-99068E7B889B}" type="pres">
      <dgm:prSet presAssocID="{96773ED7-7605-4101-B5A1-2D36686AD6E8}" presName="compChildNode" presStyleCnt="0"/>
      <dgm:spPr/>
    </dgm:pt>
    <dgm:pt modelId="{F1923D61-A0B7-4D2E-BA78-F2AACAE0D381}" type="pres">
      <dgm:prSet presAssocID="{96773ED7-7605-4101-B5A1-2D36686AD6E8}" presName="theInnerList" presStyleCnt="0"/>
      <dgm:spPr/>
    </dgm:pt>
    <dgm:pt modelId="{8F8FBC84-7220-46C2-A044-68F3A3EC8BDB}" type="pres">
      <dgm:prSet presAssocID="{D6666D12-441B-44F9-9162-1DF7ECBB8D0B}" presName="childNode" presStyleLbl="node1" presStyleIdx="9" presStyleCnt="11">
        <dgm:presLayoutVars>
          <dgm:bulletEnabled val="1"/>
        </dgm:presLayoutVars>
      </dgm:prSet>
      <dgm:spPr/>
    </dgm:pt>
    <dgm:pt modelId="{BD2586C1-7F42-4745-BA42-8F804D8FB538}" type="pres">
      <dgm:prSet presAssocID="{D6666D12-441B-44F9-9162-1DF7ECBB8D0B}" presName="aSpace2" presStyleCnt="0"/>
      <dgm:spPr/>
    </dgm:pt>
    <dgm:pt modelId="{9BF3CA60-0C90-45F1-8D4C-97EA93392D35}" type="pres">
      <dgm:prSet presAssocID="{A40D2101-D76F-49FE-A068-66385193440C}" presName="childNode" presStyleLbl="node1" presStyleIdx="10" presStyleCnt="11">
        <dgm:presLayoutVars>
          <dgm:bulletEnabled val="1"/>
        </dgm:presLayoutVars>
      </dgm:prSet>
      <dgm:spPr/>
    </dgm:pt>
  </dgm:ptLst>
  <dgm:cxnLst>
    <dgm:cxn modelId="{63CA6E0E-1E4F-4352-B0E8-269997427BEC}" type="presOf" srcId="{891BBA7D-C301-4B18-A76D-0799E08DB340}" destId="{9A88C26F-8724-4BF7-92F8-541EC3B34371}" srcOrd="0" destOrd="0" presId="urn:microsoft.com/office/officeart/2005/8/layout/lProcess2"/>
    <dgm:cxn modelId="{08D35312-70A3-47D7-AFF9-31E092FF8E4D}" srcId="{4E9AB403-C5EC-47AA-BB8B-938D09B1891A}" destId="{12004461-DF7E-4332-9D40-7A4E823D2D9F}" srcOrd="2" destOrd="0" parTransId="{42680426-80D6-4468-AEB3-515F599089FC}" sibTransId="{52CF7C27-04B6-4168-9563-8DCE1B6293DC}"/>
    <dgm:cxn modelId="{EC1CEC1A-1FBE-4A42-8B55-D48CAA6219D2}" type="presOf" srcId="{317E1E3D-508B-44C8-BFAC-345B6AD5EA3B}" destId="{64AEC9B2-D893-47FA-B87A-9DD5AD5A5DBA}" srcOrd="1" destOrd="0" presId="urn:microsoft.com/office/officeart/2005/8/layout/lProcess2"/>
    <dgm:cxn modelId="{6C863626-D9E3-46CF-8FCD-083831A43F66}" srcId="{90FD2834-26AE-46D1-92B8-A726DA228518}" destId="{85F84C29-B7E7-43A0-9E39-C270D34A3C6F}" srcOrd="1" destOrd="0" parTransId="{BBC875F9-5A00-4BEF-956C-EC3CC10985E5}" sibTransId="{4071E20F-EF32-43D4-8D5F-EC13A1A47B62}"/>
    <dgm:cxn modelId="{96420829-8D16-4246-81ED-58112BDC75CD}" type="presOf" srcId="{96773ED7-7605-4101-B5A1-2D36686AD6E8}" destId="{4B27CCBF-F1ED-4CAF-8CC7-B728507CE8DD}" srcOrd="0" destOrd="0" presId="urn:microsoft.com/office/officeart/2005/8/layout/lProcess2"/>
    <dgm:cxn modelId="{5CEAFD2D-3F43-4D01-957F-341B433B70DC}" srcId="{317E1E3D-508B-44C8-BFAC-345B6AD5EA3B}" destId="{891BBA7D-C301-4B18-A76D-0799E08DB340}" srcOrd="0" destOrd="0" parTransId="{79B9A33F-93ED-4147-B6FE-9769D12D9DB6}" sibTransId="{26D3F530-B545-4058-9384-357F011B64DD}"/>
    <dgm:cxn modelId="{1004322E-905B-458B-B2CE-F2037BFECE70}" srcId="{4E9AB403-C5EC-47AA-BB8B-938D09B1891A}" destId="{90FD2834-26AE-46D1-92B8-A726DA228518}" srcOrd="1" destOrd="0" parTransId="{36046DA6-3E4E-4356-B4F2-9223D117395D}" sibTransId="{0D3D111A-D164-486F-A6D8-699C4F790B45}"/>
    <dgm:cxn modelId="{FD10772E-07D3-430B-BF9B-18A216B80DD5}" type="presOf" srcId="{D6666D12-441B-44F9-9162-1DF7ECBB8D0B}" destId="{8F8FBC84-7220-46C2-A044-68F3A3EC8BDB}" srcOrd="0" destOrd="0" presId="urn:microsoft.com/office/officeart/2005/8/layout/lProcess2"/>
    <dgm:cxn modelId="{0C94053D-8DF1-4054-B88E-1511ECCBFDEF}" type="presOf" srcId="{0FEA197C-1103-4CEF-8270-DAD1368CF855}" destId="{3E48DEDD-8B8C-4AE6-B1C5-E8509CE6029C}" srcOrd="0" destOrd="0" presId="urn:microsoft.com/office/officeart/2005/8/layout/lProcess2"/>
    <dgm:cxn modelId="{7B56455B-A1C2-4CB3-832D-DFC83560A3CA}" srcId="{73D103FA-401E-4B28-8FE2-B764F85C2CAC}" destId="{49F42864-947E-40E7-B2A1-BBF8A9C61EE2}" srcOrd="0" destOrd="0" parTransId="{D562F546-F151-4687-9C01-C3473D09E7D8}" sibTransId="{F9EF375A-BAC0-4D42-B2A0-4591359A684A}"/>
    <dgm:cxn modelId="{F6A63342-9368-42B3-B8DD-E5F03AB77AD5}" srcId="{4E9AB403-C5EC-47AA-BB8B-938D09B1891A}" destId="{317E1E3D-508B-44C8-BFAC-345B6AD5EA3B}" srcOrd="0" destOrd="0" parTransId="{B95003C1-4163-45FD-83DB-1A057172991A}" sibTransId="{C054FD97-F3F6-4A4D-8C35-7B70C365EE92}"/>
    <dgm:cxn modelId="{46442743-F271-446A-8232-C899EE420247}" type="presOf" srcId="{317E1E3D-508B-44C8-BFAC-345B6AD5EA3B}" destId="{3629CE3A-DD4C-4B41-8511-6CB9860F7831}" srcOrd="0" destOrd="0" presId="urn:microsoft.com/office/officeart/2005/8/layout/lProcess2"/>
    <dgm:cxn modelId="{35F06467-2EA2-473C-9F0D-90CD5F46B8E4}" type="presOf" srcId="{EB2465BF-9FF9-496A-8AEE-C6F905DD10CF}" destId="{5E48FE2F-EBC1-4CB2-9031-6BC389D80259}" srcOrd="0" destOrd="0" presId="urn:microsoft.com/office/officeart/2005/8/layout/lProcess2"/>
    <dgm:cxn modelId="{48C34E68-1B24-4DC1-BF35-D6F676C6B40C}" type="presOf" srcId="{4E9AB403-C5EC-47AA-BB8B-938D09B1891A}" destId="{B730BC6F-2D1C-46BC-8833-F8C404CD0F23}" srcOrd="0" destOrd="0" presId="urn:microsoft.com/office/officeart/2005/8/layout/lProcess2"/>
    <dgm:cxn modelId="{8487C24C-AF1A-4F85-996D-7C0E9B714DD5}" type="presOf" srcId="{A0BF9CD6-21E2-4DAC-9296-3B192B3EDAAD}" destId="{1798A412-DAB3-43FE-8B80-EB6EC1329F84}" srcOrd="0" destOrd="0" presId="urn:microsoft.com/office/officeart/2005/8/layout/lProcess2"/>
    <dgm:cxn modelId="{7B360150-01F0-4A8E-A951-2911A281AF7C}" type="presOf" srcId="{8E187BD1-28B4-436D-ABFE-3A6220C28A92}" destId="{B245E81E-E3E2-4BFC-AA19-F5DD570830A4}" srcOrd="0" destOrd="0" presId="urn:microsoft.com/office/officeart/2005/8/layout/lProcess2"/>
    <dgm:cxn modelId="{6456ED70-9C14-487D-82D1-7EEC88EB1A70}" type="presOf" srcId="{49F42864-947E-40E7-B2A1-BBF8A9C61EE2}" destId="{D05B5A5F-5FAB-40F4-8920-31DC5AF6A32E}" srcOrd="0" destOrd="0" presId="urn:microsoft.com/office/officeart/2005/8/layout/lProcess2"/>
    <dgm:cxn modelId="{3B9F6B51-243F-4628-AD93-C22A7F228EA2}" srcId="{4E9AB403-C5EC-47AA-BB8B-938D09B1891A}" destId="{73D103FA-401E-4B28-8FE2-B764F85C2CAC}" srcOrd="3" destOrd="0" parTransId="{20BE85B9-91D6-4656-A4AB-26E574B7CCBC}" sibTransId="{7A5111BD-466F-4CCE-AAFC-962953791B2F}"/>
    <dgm:cxn modelId="{09A1CA76-4201-41AB-960D-45DC7D6B95A9}" type="presOf" srcId="{35C962A9-6443-4674-A7AB-653F9D728823}" destId="{F7DD683C-101B-4936-B94B-BD9CCA0BB069}" srcOrd="0" destOrd="0" presId="urn:microsoft.com/office/officeart/2005/8/layout/lProcess2"/>
    <dgm:cxn modelId="{946E1557-1CDB-44B1-982F-A52EDCC4E1CF}" srcId="{4E9AB403-C5EC-47AA-BB8B-938D09B1891A}" destId="{96773ED7-7605-4101-B5A1-2D36686AD6E8}" srcOrd="4" destOrd="0" parTransId="{EB10FBF0-A68E-4108-8412-7E1840AD5647}" sibTransId="{98B1C267-EB01-45A4-B0E8-9BB79506FCE1}"/>
    <dgm:cxn modelId="{7720517C-42AA-463C-8352-4AB9516F6E83}" srcId="{12004461-DF7E-4332-9D40-7A4E823D2D9F}" destId="{A0BF9CD6-21E2-4DAC-9296-3B192B3EDAAD}" srcOrd="1" destOrd="0" parTransId="{5EB1670F-610D-4F70-AAAA-CBCC71851B3A}" sibTransId="{8B6E7400-04BA-4DEC-97F2-F12AAA269C65}"/>
    <dgm:cxn modelId="{49557F8F-C8C9-4A22-BF74-E44546C7160F}" srcId="{96773ED7-7605-4101-B5A1-2D36686AD6E8}" destId="{D6666D12-441B-44F9-9162-1DF7ECBB8D0B}" srcOrd="0" destOrd="0" parTransId="{AA1FFD0D-BFCC-43B7-91F5-962FA86D5C6A}" sibTransId="{3737522D-4DC7-48FF-8BB2-845373C86527}"/>
    <dgm:cxn modelId="{170FC691-CEE8-4A84-8B42-079A6B7F7962}" type="presOf" srcId="{A40D2101-D76F-49FE-A068-66385193440C}" destId="{9BF3CA60-0C90-45F1-8D4C-97EA93392D35}" srcOrd="0" destOrd="0" presId="urn:microsoft.com/office/officeart/2005/8/layout/lProcess2"/>
    <dgm:cxn modelId="{71BA0A93-6121-4EB6-B66E-AD8D98DB083C}" srcId="{73D103FA-401E-4B28-8FE2-B764F85C2CAC}" destId="{8E187BD1-28B4-436D-ABFE-3A6220C28A92}" srcOrd="1" destOrd="0" parTransId="{EBFF8FDC-4DA6-4064-800D-327D39F72B8B}" sibTransId="{490E75D8-242E-4703-8CD6-28A243ACDC60}"/>
    <dgm:cxn modelId="{15A2E69B-9A6D-43BA-B783-D7DF57AAB1F2}" srcId="{96773ED7-7605-4101-B5A1-2D36686AD6E8}" destId="{A40D2101-D76F-49FE-A068-66385193440C}" srcOrd="1" destOrd="0" parTransId="{45F83D74-AB56-4861-8F3B-C4B9DB5A516D}" sibTransId="{299A1EB7-5677-4843-8C68-A71A57D4F748}"/>
    <dgm:cxn modelId="{53A3ED9D-88B9-487A-8111-9CA38E3AD01F}" type="presOf" srcId="{90FD2834-26AE-46D1-92B8-A726DA228518}" destId="{E263546C-2492-48B6-86CD-1E86CDB52B22}" srcOrd="0" destOrd="0" presId="urn:microsoft.com/office/officeart/2005/8/layout/lProcess2"/>
    <dgm:cxn modelId="{2626F3B1-1571-402E-A8AE-D75A782142C3}" type="presOf" srcId="{96773ED7-7605-4101-B5A1-2D36686AD6E8}" destId="{ACB16F17-070F-4D95-B1E9-D6D7CF572406}" srcOrd="1" destOrd="0" presId="urn:microsoft.com/office/officeart/2005/8/layout/lProcess2"/>
    <dgm:cxn modelId="{B346CCB2-1B08-40D8-9D20-31BE44E95ABD}" type="presOf" srcId="{12004461-DF7E-4332-9D40-7A4E823D2D9F}" destId="{2917371C-C2B2-46EA-BA1C-AD905553BAC5}" srcOrd="0" destOrd="0" presId="urn:microsoft.com/office/officeart/2005/8/layout/lProcess2"/>
    <dgm:cxn modelId="{1A93C7BD-63B4-4798-A30C-47584A09E440}" type="presOf" srcId="{73D103FA-401E-4B28-8FE2-B764F85C2CAC}" destId="{450CBEC4-2B1A-4A56-9499-3C9AF0DDDDE3}" srcOrd="0" destOrd="0" presId="urn:microsoft.com/office/officeart/2005/8/layout/lProcess2"/>
    <dgm:cxn modelId="{5E8646BE-7C16-4BB4-A963-47F4C4C35397}" type="presOf" srcId="{5D498E36-8F12-4163-BD8D-51EF10E25D2B}" destId="{780D505C-843C-4452-89B4-DC83BEFE6CBB}" srcOrd="0" destOrd="0" presId="urn:microsoft.com/office/officeart/2005/8/layout/lProcess2"/>
    <dgm:cxn modelId="{1CF463C2-ABCE-4B92-9693-32EFB989C712}" type="presOf" srcId="{12004461-DF7E-4332-9D40-7A4E823D2D9F}" destId="{AE7834A5-6FF8-4DFD-9007-48DBE57CE5E4}" srcOrd="1" destOrd="0" presId="urn:microsoft.com/office/officeart/2005/8/layout/lProcess2"/>
    <dgm:cxn modelId="{1CB2C3C5-35A9-4D84-B528-D97A1FB59065}" srcId="{12004461-DF7E-4332-9D40-7A4E823D2D9F}" destId="{0FEA197C-1103-4CEF-8270-DAD1368CF855}" srcOrd="2" destOrd="0" parTransId="{34164555-9714-4E65-8715-B6378383C3C0}" sibTransId="{03AF9B1B-599C-48A3-941F-51B3A626E3A7}"/>
    <dgm:cxn modelId="{BC867EC6-3979-4B7D-A6CC-8C4B2385C9ED}" type="presOf" srcId="{90FD2834-26AE-46D1-92B8-A726DA228518}" destId="{999F6AF4-DF0C-428B-9288-A56BCE805910}" srcOrd="1" destOrd="0" presId="urn:microsoft.com/office/officeart/2005/8/layout/lProcess2"/>
    <dgm:cxn modelId="{C9CA96C6-8963-4EE8-80F7-84C82081F8D1}" srcId="{12004461-DF7E-4332-9D40-7A4E823D2D9F}" destId="{5D498E36-8F12-4163-BD8D-51EF10E25D2B}" srcOrd="0" destOrd="0" parTransId="{E384BF50-66F7-49E8-BC32-7731723FCEEC}" sibTransId="{D774984A-F0E5-4206-A3BB-640B407A856D}"/>
    <dgm:cxn modelId="{25255DD3-1D56-4A3E-AF99-36DBFBC697CC}" srcId="{317E1E3D-508B-44C8-BFAC-345B6AD5EA3B}" destId="{35C962A9-6443-4674-A7AB-653F9D728823}" srcOrd="1" destOrd="0" parTransId="{F94ECB6D-3FC3-492A-9298-56777A1DAC90}" sibTransId="{E1E2F2C3-F2F0-48C4-A406-21317BD04CD9}"/>
    <dgm:cxn modelId="{3890B3DF-3A4B-4357-BC90-28189309EFA2}" srcId="{90FD2834-26AE-46D1-92B8-A726DA228518}" destId="{EB2465BF-9FF9-496A-8AEE-C6F905DD10CF}" srcOrd="0" destOrd="0" parTransId="{4FC7A70A-D591-4641-9CB4-276108C76B60}" sibTransId="{63175746-8C55-4907-BAE3-1636169E29E7}"/>
    <dgm:cxn modelId="{4504BEE1-B4DC-40F4-84F7-69523EF12A1C}" type="presOf" srcId="{73D103FA-401E-4B28-8FE2-B764F85C2CAC}" destId="{7D3B97FE-950E-4CB9-8954-15B8981E2B10}" srcOrd="1" destOrd="0" presId="urn:microsoft.com/office/officeart/2005/8/layout/lProcess2"/>
    <dgm:cxn modelId="{A122CDFD-938B-444F-929C-F63DAF5A0AD3}" type="presOf" srcId="{85F84C29-B7E7-43A0-9E39-C270D34A3C6F}" destId="{8628125B-9512-40E7-A8D9-165D46AB00F7}" srcOrd="0" destOrd="0" presId="urn:microsoft.com/office/officeart/2005/8/layout/lProcess2"/>
    <dgm:cxn modelId="{928D05C9-07D4-4D52-A689-14E31763A951}" type="presParOf" srcId="{B730BC6F-2D1C-46BC-8833-F8C404CD0F23}" destId="{DE064DA5-C53C-471F-AD32-56ABE41BE180}" srcOrd="0" destOrd="0" presId="urn:microsoft.com/office/officeart/2005/8/layout/lProcess2"/>
    <dgm:cxn modelId="{CD34F9CB-527B-4628-8B52-82AD33AD463B}" type="presParOf" srcId="{DE064DA5-C53C-471F-AD32-56ABE41BE180}" destId="{3629CE3A-DD4C-4B41-8511-6CB9860F7831}" srcOrd="0" destOrd="0" presId="urn:microsoft.com/office/officeart/2005/8/layout/lProcess2"/>
    <dgm:cxn modelId="{94FA3FD5-6BDF-42B6-B601-50A9A7B8275F}" type="presParOf" srcId="{DE064DA5-C53C-471F-AD32-56ABE41BE180}" destId="{64AEC9B2-D893-47FA-B87A-9DD5AD5A5DBA}" srcOrd="1" destOrd="0" presId="urn:microsoft.com/office/officeart/2005/8/layout/lProcess2"/>
    <dgm:cxn modelId="{8BBB4EC1-1E04-495E-9405-70814EE67EB7}" type="presParOf" srcId="{DE064DA5-C53C-471F-AD32-56ABE41BE180}" destId="{339E185A-434E-48EE-8F95-49B07DF8E5C6}" srcOrd="2" destOrd="0" presId="urn:microsoft.com/office/officeart/2005/8/layout/lProcess2"/>
    <dgm:cxn modelId="{19F0B805-D721-4E9D-9AAA-D06AA450394D}" type="presParOf" srcId="{339E185A-434E-48EE-8F95-49B07DF8E5C6}" destId="{2D5800C9-D926-4B3F-9E64-5BBF4F3A1D20}" srcOrd="0" destOrd="0" presId="urn:microsoft.com/office/officeart/2005/8/layout/lProcess2"/>
    <dgm:cxn modelId="{18F6EED3-713E-4B43-BCF9-A5524710BD84}" type="presParOf" srcId="{2D5800C9-D926-4B3F-9E64-5BBF4F3A1D20}" destId="{9A88C26F-8724-4BF7-92F8-541EC3B34371}" srcOrd="0" destOrd="0" presId="urn:microsoft.com/office/officeart/2005/8/layout/lProcess2"/>
    <dgm:cxn modelId="{F70E5635-5A54-411A-B933-846544FAB365}" type="presParOf" srcId="{2D5800C9-D926-4B3F-9E64-5BBF4F3A1D20}" destId="{825F9C07-DA6D-4FA7-A0A4-C5F40F0DB8A7}" srcOrd="1" destOrd="0" presId="urn:microsoft.com/office/officeart/2005/8/layout/lProcess2"/>
    <dgm:cxn modelId="{AFEE278C-A796-4FA8-9320-E3EC82C7220F}" type="presParOf" srcId="{2D5800C9-D926-4B3F-9E64-5BBF4F3A1D20}" destId="{F7DD683C-101B-4936-B94B-BD9CCA0BB069}" srcOrd="2" destOrd="0" presId="urn:microsoft.com/office/officeart/2005/8/layout/lProcess2"/>
    <dgm:cxn modelId="{750907C1-465C-42FB-A81E-A9151AD1C674}" type="presParOf" srcId="{B730BC6F-2D1C-46BC-8833-F8C404CD0F23}" destId="{0A28AB5D-3C1B-4E69-A75D-F608C9488D2F}" srcOrd="1" destOrd="0" presId="urn:microsoft.com/office/officeart/2005/8/layout/lProcess2"/>
    <dgm:cxn modelId="{2BB2C534-2184-452C-86A3-5854A9C188B9}" type="presParOf" srcId="{B730BC6F-2D1C-46BC-8833-F8C404CD0F23}" destId="{04D9DE64-0712-499E-901C-206623F78A4A}" srcOrd="2" destOrd="0" presId="urn:microsoft.com/office/officeart/2005/8/layout/lProcess2"/>
    <dgm:cxn modelId="{D5CA4BE3-7CF8-47BD-A9AC-36E702C1B65E}" type="presParOf" srcId="{04D9DE64-0712-499E-901C-206623F78A4A}" destId="{E263546C-2492-48B6-86CD-1E86CDB52B22}" srcOrd="0" destOrd="0" presId="urn:microsoft.com/office/officeart/2005/8/layout/lProcess2"/>
    <dgm:cxn modelId="{E3DDF238-7FA1-4A99-A258-93439C570390}" type="presParOf" srcId="{04D9DE64-0712-499E-901C-206623F78A4A}" destId="{999F6AF4-DF0C-428B-9288-A56BCE805910}" srcOrd="1" destOrd="0" presId="urn:microsoft.com/office/officeart/2005/8/layout/lProcess2"/>
    <dgm:cxn modelId="{8D266056-4829-4098-9968-C43B87330213}" type="presParOf" srcId="{04D9DE64-0712-499E-901C-206623F78A4A}" destId="{DFFE4D03-6B5A-4856-804B-CEC273EEE253}" srcOrd="2" destOrd="0" presId="urn:microsoft.com/office/officeart/2005/8/layout/lProcess2"/>
    <dgm:cxn modelId="{11A6D422-3B10-4DB1-9E5E-0141D01503B9}" type="presParOf" srcId="{DFFE4D03-6B5A-4856-804B-CEC273EEE253}" destId="{3CCC14C1-435C-41F7-A9CD-31D7CDD950DB}" srcOrd="0" destOrd="0" presId="urn:microsoft.com/office/officeart/2005/8/layout/lProcess2"/>
    <dgm:cxn modelId="{A4F7873B-DE20-44EB-8A59-E49A2B39F66E}" type="presParOf" srcId="{3CCC14C1-435C-41F7-A9CD-31D7CDD950DB}" destId="{5E48FE2F-EBC1-4CB2-9031-6BC389D80259}" srcOrd="0" destOrd="0" presId="urn:microsoft.com/office/officeart/2005/8/layout/lProcess2"/>
    <dgm:cxn modelId="{42592496-CE1F-4AF2-9D09-E2ED16D712DF}" type="presParOf" srcId="{3CCC14C1-435C-41F7-A9CD-31D7CDD950DB}" destId="{DD42DD0F-0D31-4F36-B9C8-017DC29688F7}" srcOrd="1" destOrd="0" presId="urn:microsoft.com/office/officeart/2005/8/layout/lProcess2"/>
    <dgm:cxn modelId="{14C9423F-37A7-4C15-84EF-A160F57FC08A}" type="presParOf" srcId="{3CCC14C1-435C-41F7-A9CD-31D7CDD950DB}" destId="{8628125B-9512-40E7-A8D9-165D46AB00F7}" srcOrd="2" destOrd="0" presId="urn:microsoft.com/office/officeart/2005/8/layout/lProcess2"/>
    <dgm:cxn modelId="{6895A8E5-EB2F-406A-81FE-08449B88983D}" type="presParOf" srcId="{B730BC6F-2D1C-46BC-8833-F8C404CD0F23}" destId="{0B1DCF43-EECB-4035-9094-4688376C119D}" srcOrd="3" destOrd="0" presId="urn:microsoft.com/office/officeart/2005/8/layout/lProcess2"/>
    <dgm:cxn modelId="{70C1E2E9-2820-4707-B67F-78A6F9A49902}" type="presParOf" srcId="{B730BC6F-2D1C-46BC-8833-F8C404CD0F23}" destId="{328CBF57-30A8-40D6-BCD4-27DA96EA42DB}" srcOrd="4" destOrd="0" presId="urn:microsoft.com/office/officeart/2005/8/layout/lProcess2"/>
    <dgm:cxn modelId="{29470CF7-DB8C-439E-9A75-5F60B79D0330}" type="presParOf" srcId="{328CBF57-30A8-40D6-BCD4-27DA96EA42DB}" destId="{2917371C-C2B2-46EA-BA1C-AD905553BAC5}" srcOrd="0" destOrd="0" presId="urn:microsoft.com/office/officeart/2005/8/layout/lProcess2"/>
    <dgm:cxn modelId="{7AC9C190-8161-4011-BB2A-AAF6BE647D10}" type="presParOf" srcId="{328CBF57-30A8-40D6-BCD4-27DA96EA42DB}" destId="{AE7834A5-6FF8-4DFD-9007-48DBE57CE5E4}" srcOrd="1" destOrd="0" presId="urn:microsoft.com/office/officeart/2005/8/layout/lProcess2"/>
    <dgm:cxn modelId="{64AF8A63-A1CE-47B1-A43F-319BDBEC35B3}" type="presParOf" srcId="{328CBF57-30A8-40D6-BCD4-27DA96EA42DB}" destId="{AFBD51D3-90A8-492C-B72B-69A4E657AA6F}" srcOrd="2" destOrd="0" presId="urn:microsoft.com/office/officeart/2005/8/layout/lProcess2"/>
    <dgm:cxn modelId="{A74DF9C8-769C-4DC9-AC7A-D4C3A0A57373}" type="presParOf" srcId="{AFBD51D3-90A8-492C-B72B-69A4E657AA6F}" destId="{FA7E8D2C-9ECF-4FD3-9475-6393CECEF20C}" srcOrd="0" destOrd="0" presId="urn:microsoft.com/office/officeart/2005/8/layout/lProcess2"/>
    <dgm:cxn modelId="{87FF635B-AAE8-4436-B295-BBA242191567}" type="presParOf" srcId="{FA7E8D2C-9ECF-4FD3-9475-6393CECEF20C}" destId="{780D505C-843C-4452-89B4-DC83BEFE6CBB}" srcOrd="0" destOrd="0" presId="urn:microsoft.com/office/officeart/2005/8/layout/lProcess2"/>
    <dgm:cxn modelId="{6032A6A6-832A-4108-9516-767E93D5A44C}" type="presParOf" srcId="{FA7E8D2C-9ECF-4FD3-9475-6393CECEF20C}" destId="{1F58A3BA-FF2B-4BD3-9620-FCD88F6F748E}" srcOrd="1" destOrd="0" presId="urn:microsoft.com/office/officeart/2005/8/layout/lProcess2"/>
    <dgm:cxn modelId="{0C83F78C-F970-4C0C-A3F2-3C669F93CFA6}" type="presParOf" srcId="{FA7E8D2C-9ECF-4FD3-9475-6393CECEF20C}" destId="{1798A412-DAB3-43FE-8B80-EB6EC1329F84}" srcOrd="2" destOrd="0" presId="urn:microsoft.com/office/officeart/2005/8/layout/lProcess2"/>
    <dgm:cxn modelId="{BE648C7F-7789-469C-943E-2D429B7C073A}" type="presParOf" srcId="{FA7E8D2C-9ECF-4FD3-9475-6393CECEF20C}" destId="{67B7A406-C17B-45FA-920E-AE6646141DF7}" srcOrd="3" destOrd="0" presId="urn:microsoft.com/office/officeart/2005/8/layout/lProcess2"/>
    <dgm:cxn modelId="{E89F9F7F-1BB8-46D3-A6B3-268A97DE7A9A}" type="presParOf" srcId="{FA7E8D2C-9ECF-4FD3-9475-6393CECEF20C}" destId="{3E48DEDD-8B8C-4AE6-B1C5-E8509CE6029C}" srcOrd="4" destOrd="0" presId="urn:microsoft.com/office/officeart/2005/8/layout/lProcess2"/>
    <dgm:cxn modelId="{EF8B1260-B278-4751-B740-64B271AB5B69}" type="presParOf" srcId="{B730BC6F-2D1C-46BC-8833-F8C404CD0F23}" destId="{BA6DC773-E017-4EF3-B7B0-3300FCBEF68F}" srcOrd="5" destOrd="0" presId="urn:microsoft.com/office/officeart/2005/8/layout/lProcess2"/>
    <dgm:cxn modelId="{70B51EFA-CDCC-466E-AD0F-3B5FF84B7DCB}" type="presParOf" srcId="{B730BC6F-2D1C-46BC-8833-F8C404CD0F23}" destId="{5663264A-68D3-486D-8D59-A7B0D89F7FDA}" srcOrd="6" destOrd="0" presId="urn:microsoft.com/office/officeart/2005/8/layout/lProcess2"/>
    <dgm:cxn modelId="{BF47C950-C6D9-4505-BE2F-225189CD61FA}" type="presParOf" srcId="{5663264A-68D3-486D-8D59-A7B0D89F7FDA}" destId="{450CBEC4-2B1A-4A56-9499-3C9AF0DDDDE3}" srcOrd="0" destOrd="0" presId="urn:microsoft.com/office/officeart/2005/8/layout/lProcess2"/>
    <dgm:cxn modelId="{17B01222-0B05-4A8C-852C-71964F514D06}" type="presParOf" srcId="{5663264A-68D3-486D-8D59-A7B0D89F7FDA}" destId="{7D3B97FE-950E-4CB9-8954-15B8981E2B10}" srcOrd="1" destOrd="0" presId="urn:microsoft.com/office/officeart/2005/8/layout/lProcess2"/>
    <dgm:cxn modelId="{1C28F515-C7AF-420B-A8BC-D60F8A2425A8}" type="presParOf" srcId="{5663264A-68D3-486D-8D59-A7B0D89F7FDA}" destId="{3F66EFDB-E209-4CA9-B94F-EE854784F368}" srcOrd="2" destOrd="0" presId="urn:microsoft.com/office/officeart/2005/8/layout/lProcess2"/>
    <dgm:cxn modelId="{A6850C96-6CF2-459B-A95E-8AC092DB63D2}" type="presParOf" srcId="{3F66EFDB-E209-4CA9-B94F-EE854784F368}" destId="{23B062FB-A9D1-4623-A828-24F9869B9816}" srcOrd="0" destOrd="0" presId="urn:microsoft.com/office/officeart/2005/8/layout/lProcess2"/>
    <dgm:cxn modelId="{5158DC61-28A6-4F6E-A7B0-AE2CAA48511E}" type="presParOf" srcId="{23B062FB-A9D1-4623-A828-24F9869B9816}" destId="{D05B5A5F-5FAB-40F4-8920-31DC5AF6A32E}" srcOrd="0" destOrd="0" presId="urn:microsoft.com/office/officeart/2005/8/layout/lProcess2"/>
    <dgm:cxn modelId="{53A71B14-41D5-4837-84E7-30596D794414}" type="presParOf" srcId="{23B062FB-A9D1-4623-A828-24F9869B9816}" destId="{3DFBF6D0-A540-4B31-848E-7CA0AF6ABAD4}" srcOrd="1" destOrd="0" presId="urn:microsoft.com/office/officeart/2005/8/layout/lProcess2"/>
    <dgm:cxn modelId="{1E62E4DC-FB4F-4FCA-970D-33524CD16AB8}" type="presParOf" srcId="{23B062FB-A9D1-4623-A828-24F9869B9816}" destId="{B245E81E-E3E2-4BFC-AA19-F5DD570830A4}" srcOrd="2" destOrd="0" presId="urn:microsoft.com/office/officeart/2005/8/layout/lProcess2"/>
    <dgm:cxn modelId="{9E60FE0D-BA9C-4506-B146-BDCE0FDD6584}" type="presParOf" srcId="{B730BC6F-2D1C-46BC-8833-F8C404CD0F23}" destId="{A35680A2-89D9-4D34-9CB1-7CC55EFAD95C}" srcOrd="7" destOrd="0" presId="urn:microsoft.com/office/officeart/2005/8/layout/lProcess2"/>
    <dgm:cxn modelId="{F7FB4BB6-5E8D-4573-AFC7-8EB45CC43AC2}" type="presParOf" srcId="{B730BC6F-2D1C-46BC-8833-F8C404CD0F23}" destId="{18BBF0BD-0DF6-4885-B220-F8D0E6533963}" srcOrd="8" destOrd="0" presId="urn:microsoft.com/office/officeart/2005/8/layout/lProcess2"/>
    <dgm:cxn modelId="{6B704FFC-7B79-47C1-854D-7D4A79B0E00F}" type="presParOf" srcId="{18BBF0BD-0DF6-4885-B220-F8D0E6533963}" destId="{4B27CCBF-F1ED-4CAF-8CC7-B728507CE8DD}" srcOrd="0" destOrd="0" presId="urn:microsoft.com/office/officeart/2005/8/layout/lProcess2"/>
    <dgm:cxn modelId="{57054285-2B24-403C-8B04-62CE1323189B}" type="presParOf" srcId="{18BBF0BD-0DF6-4885-B220-F8D0E6533963}" destId="{ACB16F17-070F-4D95-B1E9-D6D7CF572406}" srcOrd="1" destOrd="0" presId="urn:microsoft.com/office/officeart/2005/8/layout/lProcess2"/>
    <dgm:cxn modelId="{D949E196-DCC1-4A4C-A01E-C6DCE65FBBC2}" type="presParOf" srcId="{18BBF0BD-0DF6-4885-B220-F8D0E6533963}" destId="{21BDC582-EFAE-4971-9133-99068E7B889B}" srcOrd="2" destOrd="0" presId="urn:microsoft.com/office/officeart/2005/8/layout/lProcess2"/>
    <dgm:cxn modelId="{89E25302-0CBB-4908-9F84-E106BC56D44C}" type="presParOf" srcId="{21BDC582-EFAE-4971-9133-99068E7B889B}" destId="{F1923D61-A0B7-4D2E-BA78-F2AACAE0D381}" srcOrd="0" destOrd="0" presId="urn:microsoft.com/office/officeart/2005/8/layout/lProcess2"/>
    <dgm:cxn modelId="{35C3F2E9-223C-4D27-8397-F770C083B0E8}" type="presParOf" srcId="{F1923D61-A0B7-4D2E-BA78-F2AACAE0D381}" destId="{8F8FBC84-7220-46C2-A044-68F3A3EC8BDB}" srcOrd="0" destOrd="0" presId="urn:microsoft.com/office/officeart/2005/8/layout/lProcess2"/>
    <dgm:cxn modelId="{578AF310-951F-4B56-B43D-27042A036543}" type="presParOf" srcId="{F1923D61-A0B7-4D2E-BA78-F2AACAE0D381}" destId="{BD2586C1-7F42-4745-BA42-8F804D8FB538}" srcOrd="1" destOrd="0" presId="urn:microsoft.com/office/officeart/2005/8/layout/lProcess2"/>
    <dgm:cxn modelId="{B2DACB17-86E1-43BB-BD92-B58504043CBE}" type="presParOf" srcId="{F1923D61-A0B7-4D2E-BA78-F2AACAE0D381}" destId="{9BF3CA60-0C90-45F1-8D4C-97EA93392D35}" srcOrd="2"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29CE3A-DD4C-4B41-8511-6CB9860F7831}">
      <dsp:nvSpPr>
        <dsp:cNvPr id="0" name=""/>
        <dsp:cNvSpPr/>
      </dsp:nvSpPr>
      <dsp:spPr>
        <a:xfrm>
          <a:off x="6009" y="0"/>
          <a:ext cx="2108807" cy="49739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Step 1 – Selection of ERP Modules for STELCO</a:t>
          </a:r>
        </a:p>
      </dsp:txBody>
      <dsp:txXfrm>
        <a:off x="6009" y="0"/>
        <a:ext cx="2108807" cy="1492180"/>
      </dsp:txXfrm>
    </dsp:sp>
    <dsp:sp modelId="{9A88C26F-8724-4BF7-92F8-541EC3B34371}">
      <dsp:nvSpPr>
        <dsp:cNvPr id="0" name=""/>
        <dsp:cNvSpPr/>
      </dsp:nvSpPr>
      <dsp:spPr>
        <a:xfrm>
          <a:off x="216890" y="1493638"/>
          <a:ext cx="1687046" cy="149970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b="1" kern="1200" dirty="0"/>
            <a:t>Which ERP modules?</a:t>
          </a:r>
        </a:p>
      </dsp:txBody>
      <dsp:txXfrm>
        <a:off x="260815" y="1537563"/>
        <a:ext cx="1599196" cy="1411859"/>
      </dsp:txXfrm>
    </dsp:sp>
    <dsp:sp modelId="{F7DD683C-101B-4936-B94B-BD9CCA0BB069}">
      <dsp:nvSpPr>
        <dsp:cNvPr id="0" name=""/>
        <dsp:cNvSpPr/>
      </dsp:nvSpPr>
      <dsp:spPr>
        <a:xfrm>
          <a:off x="216890" y="3224072"/>
          <a:ext cx="1687046" cy="1499709"/>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b="1" kern="1200" dirty="0"/>
            <a:t>Phasing Strategy for the Modules?</a:t>
          </a:r>
        </a:p>
      </dsp:txBody>
      <dsp:txXfrm>
        <a:off x="260815" y="3267997"/>
        <a:ext cx="1599196" cy="1411859"/>
      </dsp:txXfrm>
    </dsp:sp>
    <dsp:sp modelId="{E263546C-2492-48B6-86CD-1E86CDB52B22}">
      <dsp:nvSpPr>
        <dsp:cNvPr id="0" name=""/>
        <dsp:cNvSpPr/>
      </dsp:nvSpPr>
      <dsp:spPr>
        <a:xfrm>
          <a:off x="2272977" y="0"/>
          <a:ext cx="2108807" cy="49739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Step 2 – Selection of Add-on Modules / TPS for STELCO</a:t>
          </a:r>
        </a:p>
      </dsp:txBody>
      <dsp:txXfrm>
        <a:off x="2272977" y="0"/>
        <a:ext cx="2108807" cy="1492180"/>
      </dsp:txXfrm>
    </dsp:sp>
    <dsp:sp modelId="{5E48FE2F-EBC1-4CB2-9031-6BC389D80259}">
      <dsp:nvSpPr>
        <dsp:cNvPr id="0" name=""/>
        <dsp:cNvSpPr/>
      </dsp:nvSpPr>
      <dsp:spPr>
        <a:xfrm>
          <a:off x="2483858" y="1493638"/>
          <a:ext cx="1687046" cy="1499709"/>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b="1" kern="1200" dirty="0"/>
            <a:t>Which Add-on ERP modules / Third Party solutions?</a:t>
          </a:r>
        </a:p>
      </dsp:txBody>
      <dsp:txXfrm>
        <a:off x="2527783" y="1537563"/>
        <a:ext cx="1599196" cy="1411859"/>
      </dsp:txXfrm>
    </dsp:sp>
    <dsp:sp modelId="{8628125B-9512-40E7-A8D9-165D46AB00F7}">
      <dsp:nvSpPr>
        <dsp:cNvPr id="0" name=""/>
        <dsp:cNvSpPr/>
      </dsp:nvSpPr>
      <dsp:spPr>
        <a:xfrm>
          <a:off x="2483858" y="3224072"/>
          <a:ext cx="1687046" cy="1499709"/>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sz="1400" b="1" kern="1200" dirty="0"/>
            <a:t>Phasing Strategy for the Modules / TPS?</a:t>
          </a:r>
        </a:p>
      </dsp:txBody>
      <dsp:txXfrm>
        <a:off x="2527783" y="3267997"/>
        <a:ext cx="1599196" cy="1411859"/>
      </dsp:txXfrm>
    </dsp:sp>
    <dsp:sp modelId="{2917371C-C2B2-46EA-BA1C-AD905553BAC5}">
      <dsp:nvSpPr>
        <dsp:cNvPr id="0" name=""/>
        <dsp:cNvSpPr/>
      </dsp:nvSpPr>
      <dsp:spPr>
        <a:xfrm>
          <a:off x="4539946" y="0"/>
          <a:ext cx="2108807" cy="49739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Step 3 – Decide on roll out plan across STECLO</a:t>
          </a:r>
        </a:p>
      </dsp:txBody>
      <dsp:txXfrm>
        <a:off x="4539946" y="0"/>
        <a:ext cx="2108807" cy="1492180"/>
      </dsp:txXfrm>
    </dsp:sp>
    <dsp:sp modelId="{780D505C-843C-4452-89B4-DC83BEFE6CBB}">
      <dsp:nvSpPr>
        <dsp:cNvPr id="0" name=""/>
        <dsp:cNvSpPr/>
      </dsp:nvSpPr>
      <dsp:spPr>
        <a:xfrm>
          <a:off x="4750826" y="1492605"/>
          <a:ext cx="1687046" cy="977179"/>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altLang="ja-JP" sz="1400" b="1" kern="1200" dirty="0">
              <a:ea typeface="ＭＳ Ｐゴシック" pitchFamily="50" charset="-128"/>
            </a:rPr>
            <a:t>Only Male?</a:t>
          </a:r>
        </a:p>
      </dsp:txBody>
      <dsp:txXfrm>
        <a:off x="4779447" y="1521226"/>
        <a:ext cx="1629804" cy="919937"/>
      </dsp:txXfrm>
    </dsp:sp>
    <dsp:sp modelId="{1798A412-DAB3-43FE-8B80-EB6EC1329F84}">
      <dsp:nvSpPr>
        <dsp:cNvPr id="0" name=""/>
        <dsp:cNvSpPr/>
      </dsp:nvSpPr>
      <dsp:spPr>
        <a:xfrm>
          <a:off x="4750826" y="2620120"/>
          <a:ext cx="1687046" cy="97717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altLang="ja-JP" sz="1400" b="1" kern="1200" dirty="0">
              <a:ea typeface="ＭＳ Ｐゴシック" pitchFamily="50" charset="-128"/>
            </a:rPr>
            <a:t>Male  and all islands together?</a:t>
          </a:r>
        </a:p>
      </dsp:txBody>
      <dsp:txXfrm>
        <a:off x="4779447" y="2648741"/>
        <a:ext cx="1629804" cy="919937"/>
      </dsp:txXfrm>
    </dsp:sp>
    <dsp:sp modelId="{3E48DEDD-8B8C-4AE6-B1C5-E8509CE6029C}">
      <dsp:nvSpPr>
        <dsp:cNvPr id="0" name=""/>
        <dsp:cNvSpPr/>
      </dsp:nvSpPr>
      <dsp:spPr>
        <a:xfrm>
          <a:off x="4750826" y="3747634"/>
          <a:ext cx="1687046" cy="977179"/>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altLang="ja-JP" sz="1400" b="1" kern="1200" dirty="0">
              <a:ea typeface="ＭＳ Ｐゴシック" pitchFamily="50" charset="-128"/>
            </a:rPr>
            <a:t>Male first and all islands later?</a:t>
          </a:r>
        </a:p>
      </dsp:txBody>
      <dsp:txXfrm>
        <a:off x="4779447" y="3776255"/>
        <a:ext cx="1629804" cy="919937"/>
      </dsp:txXfrm>
    </dsp:sp>
    <dsp:sp modelId="{450CBEC4-2B1A-4A56-9499-3C9AF0DDDDE3}">
      <dsp:nvSpPr>
        <dsp:cNvPr id="0" name=""/>
        <dsp:cNvSpPr/>
      </dsp:nvSpPr>
      <dsp:spPr>
        <a:xfrm>
          <a:off x="6806914" y="0"/>
          <a:ext cx="2108807" cy="49739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ja-JP" sz="1800" b="1" kern="1200" dirty="0">
              <a:ea typeface="ＭＳ Ｐゴシック" pitchFamily="50" charset="-128"/>
            </a:rPr>
            <a:t>Step 4 – Decide ERP / Add-on Module Deployment Strategy</a:t>
          </a:r>
        </a:p>
      </dsp:txBody>
      <dsp:txXfrm>
        <a:off x="6806914" y="0"/>
        <a:ext cx="2108807" cy="1492180"/>
      </dsp:txXfrm>
    </dsp:sp>
    <dsp:sp modelId="{D05B5A5F-5FAB-40F4-8920-31DC5AF6A32E}">
      <dsp:nvSpPr>
        <dsp:cNvPr id="0" name=""/>
        <dsp:cNvSpPr/>
      </dsp:nvSpPr>
      <dsp:spPr>
        <a:xfrm>
          <a:off x="7017795" y="1493638"/>
          <a:ext cx="1687046" cy="1499709"/>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altLang="ja-JP" sz="1400" b="1" kern="1200" dirty="0">
              <a:ea typeface="ＭＳ Ｐゴシック" pitchFamily="50" charset="-128"/>
            </a:rPr>
            <a:t> On Premise?</a:t>
          </a:r>
        </a:p>
      </dsp:txBody>
      <dsp:txXfrm>
        <a:off x="7061720" y="1537563"/>
        <a:ext cx="1599196" cy="1411859"/>
      </dsp:txXfrm>
    </dsp:sp>
    <dsp:sp modelId="{B245E81E-E3E2-4BFC-AA19-F5DD570830A4}">
      <dsp:nvSpPr>
        <dsp:cNvPr id="0" name=""/>
        <dsp:cNvSpPr/>
      </dsp:nvSpPr>
      <dsp:spPr>
        <a:xfrm>
          <a:off x="7017795" y="3224072"/>
          <a:ext cx="1687046" cy="1499709"/>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altLang="ja-JP" sz="1400" b="1" kern="1200" dirty="0">
              <a:ea typeface="ＭＳ Ｐゴシック" pitchFamily="50" charset="-128"/>
            </a:rPr>
            <a:t>On Cloud ?</a:t>
          </a:r>
        </a:p>
      </dsp:txBody>
      <dsp:txXfrm>
        <a:off x="7061720" y="3267997"/>
        <a:ext cx="1599196" cy="1411859"/>
      </dsp:txXfrm>
    </dsp:sp>
    <dsp:sp modelId="{4B27CCBF-F1ED-4CAF-8CC7-B728507CE8DD}">
      <dsp:nvSpPr>
        <dsp:cNvPr id="0" name=""/>
        <dsp:cNvSpPr/>
      </dsp:nvSpPr>
      <dsp:spPr>
        <a:xfrm>
          <a:off x="9073882" y="0"/>
          <a:ext cx="2108807" cy="49739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ja-JP" sz="1800" b="1" kern="1200" dirty="0">
              <a:ea typeface="ＭＳ Ｐゴシック" pitchFamily="50" charset="-128"/>
            </a:rPr>
            <a:t>Step 5 – Decide Hardware and IT Infrastructure Deployment Strategy</a:t>
          </a:r>
        </a:p>
      </dsp:txBody>
      <dsp:txXfrm>
        <a:off x="9073882" y="0"/>
        <a:ext cx="2108807" cy="1492180"/>
      </dsp:txXfrm>
    </dsp:sp>
    <dsp:sp modelId="{8F8FBC84-7220-46C2-A044-68F3A3EC8BDB}">
      <dsp:nvSpPr>
        <dsp:cNvPr id="0" name=""/>
        <dsp:cNvSpPr/>
      </dsp:nvSpPr>
      <dsp:spPr>
        <a:xfrm>
          <a:off x="9284763" y="1493638"/>
          <a:ext cx="1687046" cy="1499709"/>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altLang="ja-JP" sz="1400" b="1" kern="1200" dirty="0">
              <a:ea typeface="ＭＳ Ｐゴシック" pitchFamily="50" charset="-128"/>
            </a:rPr>
            <a:t>On Premise?</a:t>
          </a:r>
        </a:p>
      </dsp:txBody>
      <dsp:txXfrm>
        <a:off x="9328688" y="1537563"/>
        <a:ext cx="1599196" cy="1411859"/>
      </dsp:txXfrm>
    </dsp:sp>
    <dsp:sp modelId="{9BF3CA60-0C90-45F1-8D4C-97EA93392D35}">
      <dsp:nvSpPr>
        <dsp:cNvPr id="0" name=""/>
        <dsp:cNvSpPr/>
      </dsp:nvSpPr>
      <dsp:spPr>
        <a:xfrm>
          <a:off x="9284763" y="3224072"/>
          <a:ext cx="1687046" cy="149970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marL="0" lvl="0" indent="0" algn="ctr" defTabSz="622300">
            <a:lnSpc>
              <a:spcPct val="90000"/>
            </a:lnSpc>
            <a:spcBef>
              <a:spcPct val="0"/>
            </a:spcBef>
            <a:spcAft>
              <a:spcPct val="35000"/>
            </a:spcAft>
            <a:buNone/>
          </a:pPr>
          <a:r>
            <a:rPr lang="en-US" altLang="ja-JP" sz="1400" b="1" kern="1200" dirty="0">
              <a:ea typeface="ＭＳ Ｐゴシック" pitchFamily="50" charset="-128"/>
            </a:rPr>
            <a:t>On Cloud?</a:t>
          </a:r>
        </a:p>
      </dsp:txBody>
      <dsp:txXfrm>
        <a:off x="9328688" y="3267997"/>
        <a:ext cx="1599196" cy="1411859"/>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F8DC-B907-45F4-A6D9-B23ADD889BF6}" type="datetimeFigureOut">
              <a:rPr lang="en-IN" smtClean="0"/>
              <a:t>25-06-2025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9B7263-A17B-4449-900E-FD8687FAD364}" type="slidenum">
              <a:rPr lang="en-IN" smtClean="0"/>
              <a:t>‹#›</a:t>
            </a:fld>
            <a:endParaRPr lang="en-IN"/>
          </a:p>
        </p:txBody>
      </p:sp>
    </p:spTree>
    <p:extLst>
      <p:ext uri="{BB962C8B-B14F-4D97-AF65-F5344CB8AC3E}">
        <p14:creationId xmlns:p14="http://schemas.microsoft.com/office/powerpoint/2010/main" val="3677650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9B7263-A17B-4449-900E-FD8687FAD364}" type="slidenum">
              <a:rPr lang="en-IN" smtClean="0"/>
              <a:t>2</a:t>
            </a:fld>
            <a:endParaRPr lang="en-IN"/>
          </a:p>
        </p:txBody>
      </p:sp>
    </p:spTree>
    <p:extLst>
      <p:ext uri="{BB962C8B-B14F-4D97-AF65-F5344CB8AC3E}">
        <p14:creationId xmlns:p14="http://schemas.microsoft.com/office/powerpoint/2010/main" val="533071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2162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6696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9B7263-A17B-4449-900E-FD8687FAD364}" type="slidenum">
              <a:rPr lang="en-IN" smtClean="0"/>
              <a:t>19</a:t>
            </a:fld>
            <a:endParaRPr lang="en-IN"/>
          </a:p>
        </p:txBody>
      </p:sp>
    </p:spTree>
    <p:extLst>
      <p:ext uri="{BB962C8B-B14F-4D97-AF65-F5344CB8AC3E}">
        <p14:creationId xmlns:p14="http://schemas.microsoft.com/office/powerpoint/2010/main" val="3716088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7464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03449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3.emf"/><Relationship Id="rId4" Type="http://schemas.openxmlformats.org/officeDocument/2006/relationships/oleObject" Target="../embeddings/oleObject4.bin"/></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3.emf"/><Relationship Id="rId4" Type="http://schemas.openxmlformats.org/officeDocument/2006/relationships/oleObject" Target="../embeddings/oleObject5.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3.emf"/><Relationship Id="rId4" Type="http://schemas.openxmlformats.org/officeDocument/2006/relationships/oleObject" Target="../embeddings/oleObject6.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3.emf"/><Relationship Id="rId4" Type="http://schemas.openxmlformats.org/officeDocument/2006/relationships/oleObject" Target="../embeddings/oleObject7.bin"/></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3.emf"/><Relationship Id="rId4" Type="http://schemas.openxmlformats.org/officeDocument/2006/relationships/oleObject" Target="../embeddings/oleObject8.bin"/></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3.emf"/><Relationship Id="rId4" Type="http://schemas.openxmlformats.org/officeDocument/2006/relationships/oleObject" Target="../embeddings/oleObject10.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3.emf"/><Relationship Id="rId4" Type="http://schemas.openxmlformats.org/officeDocument/2006/relationships/oleObject" Target="../embeddings/oleObject11.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3.emf"/><Relationship Id="rId4" Type="http://schemas.openxmlformats.org/officeDocument/2006/relationships/oleObject" Target="../embeddings/oleObject12.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3.emf"/><Relationship Id="rId4" Type="http://schemas.openxmlformats.org/officeDocument/2006/relationships/oleObject" Target="../embeddings/oleObject13.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3.emf"/><Relationship Id="rId4" Type="http://schemas.openxmlformats.org/officeDocument/2006/relationships/oleObject" Target="../embeddings/oleObject14.bin"/></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3.emf"/><Relationship Id="rId4" Type="http://schemas.openxmlformats.org/officeDocument/2006/relationships/oleObject" Target="../embeddings/oleObject15.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3.emf"/><Relationship Id="rId4" Type="http://schemas.openxmlformats.org/officeDocument/2006/relationships/oleObject" Target="../embeddings/oleObject16.bin"/></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3.emf"/><Relationship Id="rId4" Type="http://schemas.openxmlformats.org/officeDocument/2006/relationships/oleObject" Target="../embeddings/oleObject18.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3.emf"/><Relationship Id="rId4" Type="http://schemas.openxmlformats.org/officeDocument/2006/relationships/oleObject" Target="../embeddings/oleObject19.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3.emf"/><Relationship Id="rId4" Type="http://schemas.openxmlformats.org/officeDocument/2006/relationships/oleObject" Target="../embeddings/oleObject20.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image" Target="../media/image3.emf"/><Relationship Id="rId4" Type="http://schemas.openxmlformats.org/officeDocument/2006/relationships/oleObject" Target="../embeddings/oleObject21.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3.emf"/><Relationship Id="rId4" Type="http://schemas.openxmlformats.org/officeDocument/2006/relationships/oleObject" Target="../embeddings/oleObject22.bin"/></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3.emf"/><Relationship Id="rId4" Type="http://schemas.openxmlformats.org/officeDocument/2006/relationships/oleObject" Target="../embeddings/oleObject23.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3.emf"/><Relationship Id="rId4" Type="http://schemas.openxmlformats.org/officeDocument/2006/relationships/oleObject" Target="../embeddings/oleObject24.bin"/></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3.emf"/><Relationship Id="rId4" Type="http://schemas.openxmlformats.org/officeDocument/2006/relationships/oleObject" Target="../embeddings/oleObject26.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image" Target="../media/image3.emf"/><Relationship Id="rId4" Type="http://schemas.openxmlformats.org/officeDocument/2006/relationships/oleObject" Target="../embeddings/oleObject27.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3.emf"/><Relationship Id="rId4" Type="http://schemas.openxmlformats.org/officeDocument/2006/relationships/oleObject" Target="../embeddings/oleObject28.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image" Target="../media/image3.emf"/><Relationship Id="rId4" Type="http://schemas.openxmlformats.org/officeDocument/2006/relationships/oleObject" Target="../embeddings/oleObject29.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image" Target="../media/image3.emf"/><Relationship Id="rId4" Type="http://schemas.openxmlformats.org/officeDocument/2006/relationships/oleObject" Target="../embeddings/oleObject30.bin"/></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3.emf"/><Relationship Id="rId4" Type="http://schemas.openxmlformats.org/officeDocument/2006/relationships/oleObject" Target="../embeddings/oleObject31.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image" Target="../media/image3.emf"/><Relationship Id="rId4" Type="http://schemas.openxmlformats.org/officeDocument/2006/relationships/oleObject" Target="../embeddings/oleObject32.bin"/></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3.emf"/><Relationship Id="rId4" Type="http://schemas.openxmlformats.org/officeDocument/2006/relationships/oleObject" Target="../embeddings/oleObject34.bin"/></Relationships>
</file>

<file path=ppt/slideLayouts/_rels/slideLayout292.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image" Target="../media/image3.emf"/><Relationship Id="rId4" Type="http://schemas.openxmlformats.org/officeDocument/2006/relationships/oleObject" Target="../embeddings/oleObject35.bin"/></Relationships>
</file>

<file path=ppt/slideLayouts/_rels/slideLayout293.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73.xml"/><Relationship Id="rId1" Type="http://schemas.openxmlformats.org/officeDocument/2006/relationships/tags" Target="../tags/tag72.xml"/><Relationship Id="rId5" Type="http://schemas.openxmlformats.org/officeDocument/2006/relationships/image" Target="../media/image3.emf"/><Relationship Id="rId4" Type="http://schemas.openxmlformats.org/officeDocument/2006/relationships/oleObject" Target="../embeddings/oleObject36.bin"/></Relationships>
</file>

<file path=ppt/slideLayouts/_rels/slideLayout294.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75.xml"/><Relationship Id="rId1" Type="http://schemas.openxmlformats.org/officeDocument/2006/relationships/tags" Target="../tags/tag74.xml"/><Relationship Id="rId5" Type="http://schemas.openxmlformats.org/officeDocument/2006/relationships/image" Target="../media/image3.emf"/><Relationship Id="rId4" Type="http://schemas.openxmlformats.org/officeDocument/2006/relationships/oleObject" Target="../embeddings/oleObject37.bin"/></Relationships>
</file>

<file path=ppt/slideLayouts/_rels/slideLayout295.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image" Target="../media/image3.emf"/><Relationship Id="rId4" Type="http://schemas.openxmlformats.org/officeDocument/2006/relationships/oleObject" Target="../embeddings/oleObject38.bin"/></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8.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79.xml"/><Relationship Id="rId1" Type="http://schemas.openxmlformats.org/officeDocument/2006/relationships/tags" Target="../tags/tag78.xml"/><Relationship Id="rId5" Type="http://schemas.openxmlformats.org/officeDocument/2006/relationships/image" Target="../media/image3.emf"/><Relationship Id="rId4" Type="http://schemas.openxmlformats.org/officeDocument/2006/relationships/oleObject" Target="../embeddings/oleObject39.bin"/></Relationships>
</file>

<file path=ppt/slideLayouts/_rels/slideLayout29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image" Target="../media/image3.emf"/><Relationship Id="rId4" Type="http://schemas.openxmlformats.org/officeDocument/2006/relationships/oleObject" Target="../embeddings/oleObject40.bin"/></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5.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8111074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2028805719"/>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9052313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156381687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1988113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360671139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487141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14762644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426047219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61967528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412705370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65528664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6340510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4357785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01098509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94799195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48147697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dirty="0"/>
              <a:t>Click to add title</a:t>
            </a:r>
          </a:p>
        </p:txBody>
      </p:sp>
    </p:spTree>
    <p:extLst>
      <p:ext uri="{BB962C8B-B14F-4D97-AF65-F5344CB8AC3E}">
        <p14:creationId xmlns:p14="http://schemas.microsoft.com/office/powerpoint/2010/main" val="101980679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517455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a:lstStyle>
            <a:lvl1pPr>
              <a:defRPr sz="2176"/>
            </a:lvl1pPr>
          </a:lstStyle>
          <a:p>
            <a:r>
              <a:rPr lang="en-US" noProof="0" dirty="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682755877"/>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dirty="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8689854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4564017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7545559"/>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96626303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2643048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98756989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2" y="2125013"/>
            <a:ext cx="5349128"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75778310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dirty="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158798687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51123653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44785156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8780848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163510591"/>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4" y="1700217"/>
            <a:ext cx="3695699" cy="1971675"/>
          </a:xfrm>
        </p:spPr>
        <p:txBody>
          <a:bodyPr/>
          <a:lstStyle/>
          <a:p>
            <a:r>
              <a:rPr lang="en-US" noProof="0" dirty="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dirty="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dirty="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6326860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2907077994"/>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86207369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1892137702"/>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452846841"/>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44673013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997997926"/>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92476268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3120566015"/>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5518605"/>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324226075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147524178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261453695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123328202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0996805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89117172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30568392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90180142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44297487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931567647"/>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032618236"/>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142821374"/>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937898860"/>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89999811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920886537"/>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86378933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54119635"/>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84260652"/>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085218748"/>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17314328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443967305"/>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330216269"/>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3493275547"/>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899945368"/>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952048716"/>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dirty="0"/>
              <a:t>Insert sponsorship mark here</a:t>
            </a:r>
            <a:endParaRPr lang="en-GB" dirty="0"/>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41126787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36364246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406313993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37677824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69905016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65311317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55414809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300509669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64675097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33978559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65548063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473548532"/>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017132906"/>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137773513"/>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252736791"/>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367842605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dirty="0"/>
              <a:t>Click to add title</a:t>
            </a:r>
          </a:p>
        </p:txBody>
      </p:sp>
    </p:spTree>
    <p:extLst>
      <p:ext uri="{BB962C8B-B14F-4D97-AF65-F5344CB8AC3E}">
        <p14:creationId xmlns:p14="http://schemas.microsoft.com/office/powerpoint/2010/main" val="3559412171"/>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596798602"/>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a:lstStyle>
            <a:lvl1pPr>
              <a:defRPr sz="2176"/>
            </a:lvl1pPr>
          </a:lstStyle>
          <a:p>
            <a:r>
              <a:rPr lang="en-US" noProof="0" dirty="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451436996"/>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dirty="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313827149"/>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441402272"/>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474411858"/>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289788151"/>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115409131"/>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911968588"/>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2" y="2125013"/>
            <a:ext cx="5349128"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409326805"/>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dirty="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1059278166"/>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802023863"/>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30830879"/>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806390448"/>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238847226"/>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4" y="1700217"/>
            <a:ext cx="3695699" cy="1971675"/>
          </a:xfrm>
        </p:spPr>
        <p:txBody>
          <a:bodyPr/>
          <a:lstStyle/>
          <a:p>
            <a:r>
              <a:rPr lang="en-US" noProof="0" dirty="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dirty="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dirty="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558755162"/>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2954049002"/>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101230810"/>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614500780"/>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298695579"/>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021003638"/>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899901308"/>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30250639"/>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2087751744"/>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2932167"/>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4710953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1253286208"/>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30168143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73499823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83639474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57796796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45177599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77989713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86881461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8446833"/>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47993375"/>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375482802"/>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412767527"/>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4263140319"/>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13514945"/>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876215069"/>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67981681"/>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046462206"/>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833087376"/>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65306136"/>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470696655"/>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88295953"/>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4219828183"/>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168539812"/>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003073404"/>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dirty="0"/>
              <a:t>Insert sponsorship mark here</a:t>
            </a:r>
            <a:endParaRPr lang="en-GB" dirty="0"/>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168741470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MAIN DTTILLP TEMPLAT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1"/>
            <a:ext cx="11162350" cy="757255"/>
          </a:xfrm>
          <a:prstGeom prst="rect">
            <a:avLst/>
          </a:prstGeom>
        </p:spPr>
        <p:txBody>
          <a:bodyPr lIns="0" tIns="0" rIns="0" bIns="0">
            <a:noAutofit/>
          </a:bodyPr>
          <a:lstStyle>
            <a:lvl1pPr marL="0" indent="0">
              <a:buNone/>
              <a:defRPr sz="1632" b="0">
                <a:solidFill>
                  <a:schemeClr val="tx2">
                    <a:lumMod val="60000"/>
                    <a:lumOff val="40000"/>
                  </a:schemeClr>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50"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
        <p:nvSpPr>
          <p:cNvPr id="8" name="Text Placeholder 18"/>
          <p:cNvSpPr>
            <a:spLocks noGrp="1"/>
          </p:cNvSpPr>
          <p:nvPr>
            <p:ph idx="1"/>
          </p:nvPr>
        </p:nvSpPr>
        <p:spPr>
          <a:xfrm>
            <a:off x="501651" y="1528798"/>
            <a:ext cx="11165416" cy="4850401"/>
          </a:xfrm>
          <a:prstGeom prst="rect">
            <a:avLst/>
          </a:prstGeom>
        </p:spPr>
        <p:txBody>
          <a:bodyPr vert="horz" lIns="0" tIns="0" rIns="0" bIns="0" rtlCol="0">
            <a:noAutofit/>
          </a:bodyPr>
          <a:lstStyle>
            <a:lvl1pPr>
              <a:spcAft>
                <a:spcPts val="907"/>
              </a:spcAft>
              <a:defRPr sz="997"/>
            </a:lvl1pPr>
            <a:lvl2pPr>
              <a:spcAft>
                <a:spcPts val="907"/>
              </a:spcAft>
              <a:defRPr sz="997"/>
            </a:lvl2pPr>
            <a:lvl3pPr>
              <a:spcAft>
                <a:spcPts val="907"/>
              </a:spcAft>
              <a:defRPr sz="997"/>
            </a:lvl3pPr>
            <a:lvl4pPr>
              <a:spcAft>
                <a:spcPts val="907"/>
              </a:spcAft>
              <a:defRPr sz="997"/>
            </a:lvl4pPr>
            <a:lvl5pPr>
              <a:spcAft>
                <a:spcPts val="907"/>
              </a:spcAft>
              <a:defRPr sz="997"/>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58234664"/>
      </p:ext>
    </p:extLst>
  </p:cSld>
  <p:clrMapOvr>
    <a:masterClrMapping/>
  </p:clrMapOvr>
  <p:transition>
    <p:fade/>
  </p:transition>
  <p:extLst>
    <p:ext uri="{DCECCB84-F9BA-43D5-87BE-67443E8EF086}">
      <p15:sldGuideLst xmlns:p15="http://schemas.microsoft.com/office/powerpoint/2012/main">
        <p15:guide id="1" orient="horz" pos="980">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798715474"/>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1765447293"/>
      </p:ext>
    </p:extLst>
  </p:cSld>
  <p:clrMapOvr>
    <a:masterClrMapping/>
  </p:clrMapOvr>
  <p:transition>
    <p:fade/>
  </p:transition>
  <p:hf hdr="0" dt="0"/>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374274703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3801590624"/>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90771040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315996714"/>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15313047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375960195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93294825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19234625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59101810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63990648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808917603"/>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3623417512"/>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911133328"/>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323063362"/>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82786561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dirty="0"/>
              <a:t>Click to add title</a:t>
            </a:r>
          </a:p>
        </p:txBody>
      </p:sp>
    </p:spTree>
    <p:extLst>
      <p:ext uri="{BB962C8B-B14F-4D97-AF65-F5344CB8AC3E}">
        <p14:creationId xmlns:p14="http://schemas.microsoft.com/office/powerpoint/2010/main" val="1424615738"/>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976822388"/>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a:lstStyle>
            <a:lvl1pPr>
              <a:defRPr sz="2176"/>
            </a:lvl1pPr>
          </a:lstStyle>
          <a:p>
            <a:r>
              <a:rPr lang="en-US" noProof="0" dirty="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50767036"/>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dirty="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757248398"/>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03603804"/>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612119033"/>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629833968"/>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911786092"/>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56709319"/>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2" y="2125013"/>
            <a:ext cx="5349128"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4018929189"/>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dirty="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1282998490"/>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896964675"/>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70484843"/>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038788105"/>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5867060"/>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4" y="1700217"/>
            <a:ext cx="3695699" cy="1971675"/>
          </a:xfrm>
        </p:spPr>
        <p:txBody>
          <a:bodyPr/>
          <a:lstStyle/>
          <a:p>
            <a:r>
              <a:rPr lang="en-US" noProof="0" dirty="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dirty="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dirty="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470693169"/>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3151994868"/>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616774998"/>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1495794368"/>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974972460"/>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581970805"/>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3530088031"/>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405487931"/>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2232969771"/>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618809"/>
      </p:ext>
    </p:extLst>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20144986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57331341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273805594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1381069840"/>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42970423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71183811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81145498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92907841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56220360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835951742"/>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593090456"/>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086066771"/>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689126363"/>
      </p:ext>
    </p:extLst>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006206883"/>
      </p:ext>
    </p:extLst>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352730867"/>
      </p:ext>
    </p:extLst>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382167162"/>
      </p:ext>
    </p:extLst>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46558913"/>
      </p:ext>
    </p:extLst>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211973602"/>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92309644"/>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921201540"/>
      </p:ext>
    </p:extLst>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475918287"/>
      </p:ext>
    </p:extLst>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34963184"/>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964955607"/>
      </p:ext>
    </p:extLst>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898412601"/>
      </p:ext>
    </p:extLst>
  </p:cSld>
  <p:clrMapOvr>
    <a:masterClrMapping/>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893735351"/>
      </p:ext>
    </p:extLst>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dirty="0"/>
              <a:t>Insert sponsorship mark here</a:t>
            </a:r>
            <a:endParaRPr lang="en-GB" dirty="0"/>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1094187891"/>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58283451"/>
      </p:ext>
    </p:extLst>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1732314979"/>
      </p:ext>
    </p:extLst>
  </p:cSld>
  <p:clrMapOvr>
    <a:masterClrMapping/>
  </p:clrMapOvr>
  <p:transition>
    <p:fade/>
  </p:transition>
  <p:hf hdr="0" dt="0"/>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tx1"/>
        </a:solidFill>
        <a:effectLst/>
      </p:bgPr>
    </p:bg>
    <p:spTree>
      <p:nvGrpSpPr>
        <p:cNvPr id="1" name=""/>
        <p:cNvGrpSpPr/>
        <p:nvPr/>
      </p:nvGrpSpPr>
      <p:grpSpPr>
        <a:xfrm>
          <a:off x="0" y="0"/>
          <a:ext cx="0" cy="0"/>
          <a:chOff x="0" y="0"/>
          <a:chExt cx="0" cy="0"/>
        </a:xfrm>
      </p:grpSpPr>
      <p:grpSp>
        <p:nvGrpSpPr>
          <p:cNvPr id="38" name="Group 37"/>
          <p:cNvGrpSpPr>
            <a:grpSpLocks noChangeAspect="1"/>
          </p:cNvGrpSpPr>
          <p:nvPr userDrawn="1"/>
        </p:nvGrpSpPr>
        <p:grpSpPr>
          <a:xfrm>
            <a:off x="475325" y="457761"/>
            <a:ext cx="1998000" cy="374400"/>
            <a:chOff x="398463" y="404813"/>
            <a:chExt cx="1627187" cy="307976"/>
          </a:xfrm>
          <a:solidFill>
            <a:schemeClr val="tx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3"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4"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831023321"/>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userDrawn="1">
  <p:cSld name="MAIN DTTILLP TEMPLAT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1"/>
            <a:ext cx="11162350" cy="757255"/>
          </a:xfrm>
          <a:prstGeom prst="rect">
            <a:avLst/>
          </a:prstGeom>
        </p:spPr>
        <p:txBody>
          <a:bodyPr lIns="0" tIns="0" rIns="0" bIns="0">
            <a:noAutofit/>
          </a:bodyPr>
          <a:lstStyle>
            <a:lvl1pPr marL="0" indent="0">
              <a:buNone/>
              <a:defRPr sz="1632" b="0">
                <a:solidFill>
                  <a:schemeClr val="tx2">
                    <a:lumMod val="60000"/>
                    <a:lumOff val="40000"/>
                  </a:schemeClr>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50"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
        <p:nvSpPr>
          <p:cNvPr id="8" name="Text Placeholder 18"/>
          <p:cNvSpPr>
            <a:spLocks noGrp="1"/>
          </p:cNvSpPr>
          <p:nvPr>
            <p:ph idx="1"/>
          </p:nvPr>
        </p:nvSpPr>
        <p:spPr>
          <a:xfrm>
            <a:off x="501651" y="1528798"/>
            <a:ext cx="11165416" cy="4850401"/>
          </a:xfrm>
          <a:prstGeom prst="rect">
            <a:avLst/>
          </a:prstGeom>
        </p:spPr>
        <p:txBody>
          <a:bodyPr vert="horz" lIns="0" tIns="0" rIns="0" bIns="0" rtlCol="0">
            <a:noAutofit/>
          </a:bodyPr>
          <a:lstStyle>
            <a:lvl1pPr>
              <a:spcAft>
                <a:spcPts val="907"/>
              </a:spcAft>
              <a:defRPr sz="997"/>
            </a:lvl1pPr>
            <a:lvl2pPr>
              <a:spcAft>
                <a:spcPts val="907"/>
              </a:spcAft>
              <a:defRPr sz="997"/>
            </a:lvl2pPr>
            <a:lvl3pPr>
              <a:spcAft>
                <a:spcPts val="907"/>
              </a:spcAft>
              <a:defRPr sz="997"/>
            </a:lvl3pPr>
            <a:lvl4pPr>
              <a:spcAft>
                <a:spcPts val="907"/>
              </a:spcAft>
              <a:defRPr sz="997"/>
            </a:lvl4pPr>
            <a:lvl5pPr>
              <a:spcAft>
                <a:spcPts val="907"/>
              </a:spcAft>
              <a:defRPr sz="997"/>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916384274"/>
      </p:ext>
    </p:extLst>
  </p:cSld>
  <p:clrMapOvr>
    <a:masterClrMapping/>
  </p:clrMapOvr>
  <p:transition>
    <p:fade/>
  </p:transition>
  <p:extLst>
    <p:ext uri="{DCECCB84-F9BA-43D5-87BE-67443E8EF086}">
      <p15:sldGuideLst xmlns:p15="http://schemas.microsoft.com/office/powerpoint/2012/main">
        <p15:guide id="1" orient="horz" pos="980">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140817830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2302755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16020677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421753060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73510646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52938532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33719767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5879505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99432702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63684027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308276117"/>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227909823"/>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954883558"/>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529388650"/>
      </p:ext>
    </p:extLst>
  </p:cSld>
  <p:clrMapOvr>
    <a:masterClrMapping/>
  </p:clrMapOvr>
  <p:transition>
    <p:fade/>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360954240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dirty="0"/>
              <a:t>Click to add title</a:t>
            </a:r>
          </a:p>
        </p:txBody>
      </p:sp>
    </p:spTree>
    <p:extLst>
      <p:ext uri="{BB962C8B-B14F-4D97-AF65-F5344CB8AC3E}">
        <p14:creationId xmlns:p14="http://schemas.microsoft.com/office/powerpoint/2010/main" val="3866994098"/>
      </p:ext>
    </p:extLst>
  </p:cSld>
  <p:clrMapOvr>
    <a:masterClrMapping/>
  </p:clrMapOvr>
  <p:transition>
    <p:fade/>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81439894"/>
      </p:ext>
    </p:extLst>
  </p:cSld>
  <p:clrMapOvr>
    <a:masterClrMapping/>
  </p:clrMapOvr>
  <p:transition>
    <p:fade/>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a:lstStyle>
            <a:lvl1pPr>
              <a:defRPr sz="2176"/>
            </a:lvl1pPr>
          </a:lstStyle>
          <a:p>
            <a:r>
              <a:rPr lang="en-US" noProof="0" dirty="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32333903"/>
      </p:ext>
    </p:extLst>
  </p:cSld>
  <p:clrMapOvr>
    <a:masterClrMapping/>
  </p:clrMapOvr>
  <p:transition>
    <p:fade/>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dirty="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296870792"/>
      </p:ext>
    </p:extLst>
  </p:cSld>
  <p:clrMapOvr>
    <a:masterClrMapping/>
  </p:clrMapOvr>
  <p:transition>
    <p:fade/>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601803267"/>
      </p:ext>
    </p:extLst>
  </p:cSld>
  <p:clrMapOvr>
    <a:masterClrMapping/>
  </p:clrMapOvr>
  <p:transition>
    <p:fade/>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464832199"/>
      </p:ext>
    </p:extLst>
  </p:cSld>
  <p:clrMapOvr>
    <a:masterClrMapping/>
  </p:clrMapOvr>
  <p:transition>
    <p:fade/>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540149442"/>
      </p:ext>
    </p:extLst>
  </p:cSld>
  <p:clrMapOvr>
    <a:masterClrMapping/>
  </p:clrMapOvr>
  <p:transition>
    <p:fade/>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10287426"/>
      </p:ext>
    </p:extLst>
  </p:cSld>
  <p:clrMapOvr>
    <a:masterClrMapping/>
  </p:clrMapOvr>
  <p:transition>
    <p:fade/>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97785325"/>
      </p:ext>
    </p:extLst>
  </p:cSld>
  <p:clrMapOvr>
    <a:masterClrMapping/>
  </p:clrMapOvr>
  <p:transition>
    <p:fade/>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2" y="2125013"/>
            <a:ext cx="5349128"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854687412"/>
      </p:ext>
    </p:extLst>
  </p:cSld>
  <p:clrMapOvr>
    <a:masterClrMapping/>
  </p:clrMapOvr>
  <p:transition>
    <p:fade/>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dirty="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2931789452"/>
      </p:ext>
    </p:extLst>
  </p:cSld>
  <p:clrMapOvr>
    <a:masterClrMapping/>
  </p:clrMapOvr>
  <p:transition>
    <p:fade/>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84207985"/>
      </p:ext>
    </p:extLst>
  </p:cSld>
  <p:clrMapOvr>
    <a:masterClrMapping/>
  </p:clrMapOvr>
  <p:transition>
    <p:fade/>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383999609"/>
      </p:ext>
    </p:extLst>
  </p:cSld>
  <p:clrMapOvr>
    <a:masterClrMapping/>
  </p:clrMapOvr>
  <p:transition>
    <p:fade/>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643760522"/>
      </p:ext>
    </p:extLst>
  </p:cSld>
  <p:clrMapOvr>
    <a:masterClrMapping/>
  </p:clrMapOvr>
  <p:transition>
    <p:fade/>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14787891"/>
      </p:ext>
    </p:extLst>
  </p:cSld>
  <p:clrMapOvr>
    <a:masterClrMapping/>
  </p:clrMapOvr>
  <p:transition>
    <p:fade/>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4" y="1700217"/>
            <a:ext cx="3695699" cy="1971675"/>
          </a:xfrm>
        </p:spPr>
        <p:txBody>
          <a:bodyPr/>
          <a:lstStyle/>
          <a:p>
            <a:r>
              <a:rPr lang="en-US" noProof="0" dirty="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dirty="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dirty="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07272607"/>
      </p:ext>
    </p:extLst>
  </p:cSld>
  <p:clrMapOvr>
    <a:masterClrMapping/>
  </p:clrMapOvr>
  <p:transition>
    <p:fade/>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95553393"/>
      </p:ext>
    </p:extLst>
  </p:cSld>
  <p:clrMapOvr>
    <a:masterClrMapping/>
  </p:clrMapOvr>
  <p:transition>
    <p:fade/>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330186393"/>
      </p:ext>
    </p:extLst>
  </p:cSld>
  <p:clrMapOvr>
    <a:masterClrMapping/>
  </p:clrMapOvr>
  <p:transition>
    <p:fade/>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3566706402"/>
      </p:ext>
    </p:extLst>
  </p:cSld>
  <p:clrMapOvr>
    <a:masterClrMapping/>
  </p:clrMapOvr>
  <p:transition>
    <p:fade/>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713066775"/>
      </p:ext>
    </p:extLst>
  </p:cSld>
  <p:clrMapOvr>
    <a:masterClrMapping/>
  </p:clrMapOvr>
  <p:transition>
    <p:fade/>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954778546"/>
      </p:ext>
    </p:extLst>
  </p:cSld>
  <p:clrMapOvr>
    <a:masterClrMapping/>
  </p:clrMapOvr>
  <p:transition>
    <p:fade/>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4014166500"/>
      </p:ext>
    </p:extLst>
  </p:cSld>
  <p:clrMapOvr>
    <a:masterClrMapping/>
  </p:clrMapOvr>
  <p:transition>
    <p:fade/>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54939285"/>
      </p:ext>
    </p:extLst>
  </p:cSld>
  <p:clrMapOvr>
    <a:masterClrMapping/>
  </p:clrMapOvr>
  <p:transition>
    <p:fade/>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2695894357"/>
      </p:ext>
    </p:extLst>
  </p:cSld>
  <p:clrMapOvr>
    <a:masterClrMapping/>
  </p:clrMapOvr>
  <p:transition>
    <p:fade/>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6301798"/>
      </p:ext>
    </p:extLst>
  </p:cSld>
  <p:clrMapOvr>
    <a:masterClrMapping/>
  </p:clrMapOvr>
  <p:transition>
    <p:fade/>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15411486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218237902"/>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24581737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292001569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63007238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60628928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47631943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62783020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45264869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770359835"/>
      </p:ext>
    </p:extLst>
  </p:cSld>
  <p:clrMapOvr>
    <a:masterClrMapping/>
  </p:clrMapOvr>
  <p:transition>
    <p:fade/>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948756767"/>
      </p:ext>
    </p:extLst>
  </p:cSld>
  <p:clrMapOvr>
    <a:masterClrMapping/>
  </p:clrMapOvr>
  <p:transition>
    <p:fade/>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802382960"/>
      </p:ext>
    </p:extLst>
  </p:cSld>
  <p:clrMapOvr>
    <a:masterClrMapping/>
  </p:clrMapOvr>
  <p:transition>
    <p:fade/>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348188477"/>
      </p:ext>
    </p:extLst>
  </p:cSld>
  <p:clrMapOvr>
    <a:masterClrMapping/>
  </p:clrMapOvr>
  <p:transition>
    <p:fade/>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378577977"/>
      </p:ext>
    </p:extLst>
  </p:cSld>
  <p:clrMapOvr>
    <a:masterClrMapping/>
  </p:clrMapOvr>
  <p:transition>
    <p:fade/>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81491987"/>
      </p:ext>
    </p:extLst>
  </p:cSld>
  <p:clrMapOvr>
    <a:masterClrMapping/>
  </p:clrMapOvr>
  <p:transition>
    <p:fade/>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35896023"/>
      </p:ext>
    </p:extLst>
  </p:cSld>
  <p:clrMapOvr>
    <a:masterClrMapping/>
  </p:clrMapOvr>
  <p:transition>
    <p:fade/>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808759731"/>
      </p:ext>
    </p:extLst>
  </p:cSld>
  <p:clrMapOvr>
    <a:masterClrMapping/>
  </p:clrMapOvr>
  <p:transition>
    <p:fade/>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559640384"/>
      </p:ext>
    </p:extLst>
  </p:cSld>
  <p:clrMapOvr>
    <a:masterClrMapping/>
  </p:clrMapOvr>
  <p:transition>
    <p:fade/>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28165537"/>
      </p:ext>
    </p:extLst>
  </p:cSld>
  <p:clrMapOvr>
    <a:masterClrMapping/>
  </p:clrMapOvr>
  <p:transition>
    <p:fade/>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23849893"/>
      </p:ext>
    </p:extLst>
  </p:cSld>
  <p:clrMapOvr>
    <a:masterClrMapping/>
  </p:clrMapOvr>
  <p:transition>
    <p:fade/>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188686448"/>
      </p:ext>
    </p:extLst>
  </p:cSld>
  <p:clrMapOvr>
    <a:masterClrMapping/>
  </p:clrMapOvr>
  <p:transition>
    <p:fade/>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655580480"/>
      </p:ext>
    </p:extLst>
  </p:cSld>
  <p:clrMapOvr>
    <a:masterClrMapping/>
  </p:clrMapOvr>
  <p:transition>
    <p:fade/>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2142289737"/>
      </p:ext>
    </p:extLst>
  </p:cSld>
  <p:clrMapOvr>
    <a:masterClrMapping/>
  </p:clrMapOvr>
  <p:transition>
    <p:fade/>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699019611"/>
      </p:ext>
    </p:extLst>
  </p:cSld>
  <p:clrMapOvr>
    <a:masterClrMapping/>
  </p:clrMapOvr>
  <p:transition>
    <p:fade/>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494029177"/>
      </p:ext>
    </p:extLst>
  </p:cSld>
  <p:clrMapOvr>
    <a:masterClrMapping/>
  </p:clrMapOvr>
  <p:transition>
    <p:fade/>
  </p:transition>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dirty="0"/>
              <a:t>Insert sponsorship mark here</a:t>
            </a:r>
            <a:endParaRPr lang="en-GB" dirty="0"/>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2052564192"/>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720368989"/>
      </p:ext>
    </p:extLst>
  </p:cSld>
  <p:clrMapOvr>
    <a:masterClrMapping/>
  </p:clrMapOvr>
  <p:transition>
    <p:fade/>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1785468630"/>
      </p:ext>
    </p:extLst>
  </p:cSld>
  <p:clrMapOvr>
    <a:masterClrMapping/>
  </p:clrMapOvr>
  <p:transition>
    <p:fade/>
  </p:transition>
  <p:hf hdr="0" dt="0"/>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6500488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379729430"/>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18358010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dirty="0">
                <a:solidFill>
                  <a:prstClr val="white"/>
                </a:solidFill>
              </a:endParaRPr>
            </a:p>
          </p:txBody>
        </p:sp>
      </p:grpSp>
    </p:spTree>
    <p:extLst>
      <p:ext uri="{BB962C8B-B14F-4D97-AF65-F5344CB8AC3E}">
        <p14:creationId xmlns:p14="http://schemas.microsoft.com/office/powerpoint/2010/main" val="24890398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92125179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304518762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311543546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06651259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308089613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63799669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329559109"/>
      </p:ext>
    </p:extLst>
  </p:cSld>
  <p:clrMapOvr>
    <a:masterClrMapping/>
  </p:clrMapOvr>
  <p:transition>
    <p:fade/>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657227087"/>
      </p:ext>
    </p:extLst>
  </p:cSld>
  <p:clrMapOvr>
    <a:masterClrMapping/>
  </p:clrMapOvr>
  <p:transition>
    <p:fade/>
  </p:transition>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592738918"/>
      </p:ext>
    </p:extLst>
  </p:cSld>
  <p:clrMapOvr>
    <a:masterClrMapping/>
  </p:clrMapOvr>
  <p:transition>
    <p:fade/>
  </p:transition>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1754632609"/>
      </p:ext>
    </p:extLst>
  </p:cSld>
  <p:clrMapOvr>
    <a:masterClrMapping/>
  </p:clrMapOvr>
  <p:transition>
    <p:fade/>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94816845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dirty="0"/>
              <a:t>Click to add title</a:t>
            </a:r>
          </a:p>
        </p:txBody>
      </p:sp>
    </p:spTree>
    <p:extLst>
      <p:ext uri="{BB962C8B-B14F-4D97-AF65-F5344CB8AC3E}">
        <p14:creationId xmlns:p14="http://schemas.microsoft.com/office/powerpoint/2010/main" val="3759837265"/>
      </p:ext>
    </p:extLst>
  </p:cSld>
  <p:clrMapOvr>
    <a:masterClrMapping/>
  </p:clrMapOvr>
  <p:transition>
    <p:fade/>
  </p:transition>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84257358"/>
      </p:ext>
    </p:extLst>
  </p:cSld>
  <p:clrMapOvr>
    <a:masterClrMapping/>
  </p:clrMapOvr>
  <p:transition>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a:lstStyle>
            <a:lvl1pPr>
              <a:defRPr sz="2176"/>
            </a:lvl1pPr>
          </a:lstStyle>
          <a:p>
            <a:r>
              <a:rPr lang="en-US" noProof="0" dirty="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7054440"/>
      </p:ext>
    </p:extLst>
  </p:cSld>
  <p:clrMapOvr>
    <a:masterClrMapping/>
  </p:clrMapOvr>
  <p:transition>
    <p:fade/>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dirty="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5883039"/>
      </p:ext>
    </p:extLst>
  </p:cSld>
  <p:clrMapOvr>
    <a:masterClrMapping/>
  </p:clrMapOvr>
  <p:transition>
    <p:fade/>
  </p:transition>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998469333"/>
      </p:ext>
    </p:extLst>
  </p:cSld>
  <p:clrMapOvr>
    <a:masterClrMapping/>
  </p:clrMapOvr>
  <p:transition>
    <p:fade/>
  </p:transition>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745869606"/>
      </p:ext>
    </p:extLst>
  </p:cSld>
  <p:clrMapOvr>
    <a:masterClrMapping/>
  </p:clrMapOvr>
  <p:transition>
    <p:fade/>
  </p:transition>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327082019"/>
      </p:ext>
    </p:extLst>
  </p:cSld>
  <p:clrMapOvr>
    <a:masterClrMapping/>
  </p:clrMapOvr>
  <p:transition>
    <p:fade/>
  </p:transition>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98495654"/>
      </p:ext>
    </p:extLst>
  </p:cSld>
  <p:clrMapOvr>
    <a:masterClrMapping/>
  </p:clrMapOvr>
  <p:transition>
    <p:fade/>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039817360"/>
      </p:ext>
    </p:extLst>
  </p:cSld>
  <p:clrMapOvr>
    <a:masterClrMapping/>
  </p:clrMapOvr>
  <p:transition>
    <p:fade/>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2" y="2125013"/>
            <a:ext cx="5349128"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218798404"/>
      </p:ext>
    </p:extLst>
  </p:cSld>
  <p:clrMapOvr>
    <a:masterClrMapping/>
  </p:clrMapOvr>
  <p:transition>
    <p:fade/>
  </p:transition>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dirty="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3014559250"/>
      </p:ext>
    </p:extLst>
  </p:cSld>
  <p:clrMapOvr>
    <a:masterClrMapping/>
  </p:clrMapOvr>
  <p:transition>
    <p:fade/>
  </p:transition>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634784853"/>
      </p:ext>
    </p:extLst>
  </p:cSld>
  <p:clrMapOvr>
    <a:masterClrMapping/>
  </p:clrMapOvr>
  <p:transition>
    <p:fade/>
  </p:transition>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004965567"/>
      </p:ext>
    </p:extLst>
  </p:cSld>
  <p:clrMapOvr>
    <a:masterClrMapping/>
  </p:clrMapOvr>
  <p:transition>
    <p:fade/>
  </p:transition>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522487948"/>
      </p:ext>
    </p:extLst>
  </p:cSld>
  <p:clrMapOvr>
    <a:masterClrMapping/>
  </p:clrMapOvr>
  <p:transition>
    <p:fade/>
  </p:transition>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923930292"/>
      </p:ext>
    </p:extLst>
  </p:cSld>
  <p:clrMapOvr>
    <a:masterClrMapping/>
  </p:clrMapOvr>
  <p:transition>
    <p:fade/>
  </p:transition>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4" y="1700217"/>
            <a:ext cx="3695699" cy="1971675"/>
          </a:xfrm>
        </p:spPr>
        <p:txBody>
          <a:bodyPr/>
          <a:lstStyle/>
          <a:p>
            <a:r>
              <a:rPr lang="en-US" noProof="0" dirty="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dirty="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dirty="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649768221"/>
      </p:ext>
    </p:extLst>
  </p:cSld>
  <p:clrMapOvr>
    <a:masterClrMapping/>
  </p:clrMapOvr>
  <p:transition>
    <p:fade/>
  </p:transition>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1899436771"/>
      </p:ext>
    </p:extLst>
  </p:cSld>
  <p:clrMapOvr>
    <a:masterClrMapping/>
  </p:clrMapOvr>
  <p:transition>
    <p:fade/>
  </p:transition>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083696453"/>
      </p:ext>
    </p:extLst>
  </p:cSld>
  <p:clrMapOvr>
    <a:masterClrMapping/>
  </p:clrMapOvr>
  <p:transition>
    <p:fade/>
  </p:transition>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dirty="0">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998614731"/>
      </p:ext>
    </p:extLst>
  </p:cSld>
  <p:clrMapOvr>
    <a:masterClrMapping/>
  </p:clrMapOvr>
  <p:transition>
    <p:fade/>
  </p:transition>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dirty="0">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956620335"/>
      </p:ext>
    </p:extLst>
  </p:cSld>
  <p:clrMapOvr>
    <a:masterClrMapping/>
  </p:clrMapOvr>
  <p:transition>
    <p:fade/>
  </p:transition>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984695230"/>
      </p:ext>
    </p:extLst>
  </p:cSld>
  <p:clrMapOvr>
    <a:masterClrMapping/>
  </p:clrMapOvr>
  <p:transition>
    <p:fade/>
  </p:transition>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dirty="0">
                <a:solidFill>
                  <a:prstClr val="white"/>
                </a:solidFill>
              </a:rPr>
              <a:t>Presentation title</a:t>
            </a:r>
            <a:br>
              <a:rPr lang="en-US" sz="818" dirty="0">
                <a:solidFill>
                  <a:prstClr val="white"/>
                </a:solidFill>
              </a:rPr>
            </a:br>
            <a:r>
              <a:rPr lang="en-US" sz="818" dirty="0">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dirty="0">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dirty="0">
              <a:solidFill>
                <a:prstClr val="white"/>
              </a:solidFill>
            </a:endParaRPr>
          </a:p>
        </p:txBody>
      </p:sp>
    </p:spTree>
    <p:extLst>
      <p:ext uri="{BB962C8B-B14F-4D97-AF65-F5344CB8AC3E}">
        <p14:creationId xmlns:p14="http://schemas.microsoft.com/office/powerpoint/2010/main" val="2611517773"/>
      </p:ext>
    </p:extLst>
  </p:cSld>
  <p:clrMapOvr>
    <a:masterClrMapping/>
  </p:clrMapOvr>
  <p:transition>
    <p:fade/>
  </p:transition>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37968525"/>
      </p:ext>
    </p:extLst>
  </p:cSld>
  <p:clrMapOvr>
    <a:masterClrMapping/>
  </p:clrMapOvr>
  <p:transition>
    <p:fade/>
  </p:transition>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3941844712"/>
      </p:ext>
    </p:extLst>
  </p:cSld>
  <p:clrMapOvr>
    <a:masterClrMapping/>
  </p:clrMapOvr>
  <p:transition>
    <p:fade/>
  </p:transition>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907528"/>
      </p:ext>
    </p:extLst>
  </p:cSld>
  <p:clrMapOvr>
    <a:masterClrMapping/>
  </p:clrMapOvr>
  <p:transition>
    <p:fade/>
  </p:transition>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29857893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314319253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24805766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dirty="0">
                <a:solidFill>
                  <a:schemeClr val="bg1"/>
                </a:solidFill>
              </a:endParaRPr>
            </a:p>
          </p:txBody>
        </p:sp>
      </p:grpSp>
    </p:spTree>
    <p:extLst>
      <p:ext uri="{BB962C8B-B14F-4D97-AF65-F5344CB8AC3E}">
        <p14:creationId xmlns:p14="http://schemas.microsoft.com/office/powerpoint/2010/main" val="151488198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64318426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27219526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12464301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72956897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21234752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480443642"/>
      </p:ext>
    </p:extLst>
  </p:cSld>
  <p:clrMapOvr>
    <a:masterClrMapping/>
  </p:clrMapOvr>
  <p:transition>
    <p:fade/>
  </p:transition>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463414810"/>
      </p:ext>
    </p:extLst>
  </p:cSld>
  <p:clrMapOvr>
    <a:masterClrMapping/>
  </p:clrMapOvr>
  <p:transition>
    <p:fade/>
  </p:transition>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3162210163"/>
      </p:ext>
    </p:extLst>
  </p:cSld>
  <p:clrMapOvr>
    <a:masterClrMapping/>
  </p:clrMapOvr>
  <p:transition>
    <p:fade/>
  </p:transition>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1819468366"/>
      </p:ext>
    </p:extLst>
  </p:cSld>
  <p:clrMapOvr>
    <a:masterClrMapping/>
  </p:clrMapOvr>
  <p:transition>
    <p:fade/>
  </p:transition>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197260019"/>
      </p:ext>
    </p:extLst>
  </p:cSld>
  <p:clrMapOvr>
    <a:masterClrMapping/>
  </p:clrMapOvr>
  <p:transition>
    <p:fade/>
  </p:transition>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713250334"/>
      </p:ext>
    </p:extLst>
  </p:cSld>
  <p:clrMapOvr>
    <a:masterClrMapping/>
  </p:clrMapOvr>
  <p:transition>
    <p:fade/>
  </p:transition>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16226111"/>
      </p:ext>
    </p:extLst>
  </p:cSld>
  <p:clrMapOvr>
    <a:masterClrMapping/>
  </p:clrMapOvr>
  <p:transition>
    <p:fade/>
  </p:transition>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82321905"/>
      </p:ext>
    </p:extLst>
  </p:cSld>
  <p:clrMapOvr>
    <a:masterClrMapping/>
  </p:clrMapOvr>
  <p:transition>
    <p:fade/>
  </p:transition>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873086269"/>
      </p:ext>
    </p:extLst>
  </p:cSld>
  <p:clrMapOvr>
    <a:masterClrMapping/>
  </p:clrMapOvr>
  <p:transition>
    <p:fade/>
  </p:transition>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468433548"/>
      </p:ext>
    </p:extLst>
  </p:cSld>
  <p:clrMapOvr>
    <a:masterClrMapping/>
  </p:clrMapOvr>
  <p:transition>
    <p:fade/>
  </p:transition>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989617283"/>
      </p:ext>
    </p:extLst>
  </p:cSld>
  <p:clrMapOvr>
    <a:masterClrMapping/>
  </p:clrMapOvr>
  <p:transition>
    <p:fade/>
  </p:transition>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endParaRPr lang="en-US" noProof="0" dirty="0"/>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654316625"/>
      </p:ext>
    </p:extLst>
  </p:cSld>
  <p:clrMapOvr>
    <a:masterClrMapping/>
  </p:clrMapOvr>
  <p:transition>
    <p:fade/>
  </p:transition>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466173070"/>
      </p:ext>
    </p:extLst>
  </p:cSld>
  <p:clrMapOvr>
    <a:masterClrMapping/>
  </p:clrMapOvr>
  <p:transition>
    <p:fade/>
  </p:transition>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dirty="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dirty="0">
                <a:solidFill>
                  <a:schemeClr val="bg1"/>
                </a:solidFill>
              </a:rPr>
              <a:t>Co-brand</a:t>
            </a:r>
            <a:br>
              <a:rPr lang="en-US" sz="1509" noProof="0" dirty="0">
                <a:solidFill>
                  <a:schemeClr val="bg1"/>
                </a:solidFill>
              </a:rPr>
            </a:br>
            <a:r>
              <a:rPr lang="en-US" sz="1509" noProof="0" dirty="0">
                <a:solidFill>
                  <a:schemeClr val="bg1"/>
                </a:solidFill>
              </a:rPr>
              <a:t>Logo</a:t>
            </a:r>
          </a:p>
          <a:p>
            <a:endParaRPr lang="en-US" noProof="0" dirty="0"/>
          </a:p>
        </p:txBody>
      </p:sp>
    </p:spTree>
    <p:extLst>
      <p:ext uri="{BB962C8B-B14F-4D97-AF65-F5344CB8AC3E}">
        <p14:creationId xmlns:p14="http://schemas.microsoft.com/office/powerpoint/2010/main" val="3576905972"/>
      </p:ext>
    </p:extLst>
  </p:cSld>
  <p:clrMapOvr>
    <a:masterClrMapping/>
  </p:clrMapOvr>
  <p:transition>
    <p:fade/>
  </p:transition>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endParaRPr lang="en-US" noProof="0" dirty="0"/>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689602476"/>
      </p:ext>
    </p:extLst>
  </p:cSld>
  <p:clrMapOvr>
    <a:masterClrMapping/>
  </p:clrMapOvr>
  <p:transition>
    <p:fade/>
  </p:transition>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dirty="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dirty="0">
                <a:solidFill>
                  <a:schemeClr val="bg1"/>
                </a:solidFill>
              </a:rPr>
              <a:t>Presentation title</a:t>
            </a:r>
            <a:br>
              <a:rPr lang="en-US" sz="818" noProof="0" dirty="0">
                <a:solidFill>
                  <a:schemeClr val="bg1"/>
                </a:solidFill>
              </a:rPr>
            </a:br>
            <a:r>
              <a:rPr lang="en-US" sz="818" noProof="0" dirty="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dirty="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dirty="0">
              <a:solidFill>
                <a:schemeClr val="bg1"/>
              </a:solidFill>
            </a:endParaRPr>
          </a:p>
        </p:txBody>
      </p:sp>
    </p:spTree>
    <p:extLst>
      <p:ext uri="{BB962C8B-B14F-4D97-AF65-F5344CB8AC3E}">
        <p14:creationId xmlns:p14="http://schemas.microsoft.com/office/powerpoint/2010/main" val="2940799953"/>
      </p:ext>
    </p:extLst>
  </p:cSld>
  <p:clrMapOvr>
    <a:masterClrMapping/>
  </p:clrMapOvr>
  <p:transition>
    <p:fade/>
  </p:transition>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dirty="0"/>
              <a:t>Insert sponsorship mark here</a:t>
            </a:r>
            <a:endParaRPr lang="en-GB" dirty="0"/>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1714443887"/>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userDrawn="1">
  <p:cSld name="1_End slide">
    <p:bg>
      <p:bgPr>
        <a:solidFill>
          <a:schemeClr val="tx1"/>
        </a:solidFill>
        <a:effectLst/>
      </p:bgPr>
    </p:bg>
    <p:spTree>
      <p:nvGrpSpPr>
        <p:cNvPr id="1" name=""/>
        <p:cNvGrpSpPr/>
        <p:nvPr/>
      </p:nvGrpSpPr>
      <p:grpSpPr>
        <a:xfrm>
          <a:off x="0" y="0"/>
          <a:ext cx="0" cy="0"/>
          <a:chOff x="0" y="0"/>
          <a:chExt cx="0" cy="0"/>
        </a:xfrm>
      </p:grpSpPr>
      <p:grpSp>
        <p:nvGrpSpPr>
          <p:cNvPr id="38" name="Group 37"/>
          <p:cNvGrpSpPr>
            <a:grpSpLocks noChangeAspect="1"/>
          </p:cNvGrpSpPr>
          <p:nvPr userDrawn="1"/>
        </p:nvGrpSpPr>
        <p:grpSpPr>
          <a:xfrm>
            <a:off x="475325" y="457761"/>
            <a:ext cx="1998000" cy="374400"/>
            <a:chOff x="398463" y="404813"/>
            <a:chExt cx="1627187" cy="307976"/>
          </a:xfrm>
          <a:solidFill>
            <a:schemeClr val="tx1"/>
          </a:solidFill>
        </p:grpSpPr>
        <p:sp>
          <p:nvSpPr>
            <p:cNvPr id="3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3"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4"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38079314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94.xml"/><Relationship Id="rId21" Type="http://schemas.openxmlformats.org/officeDocument/2006/relationships/slideLayout" Target="../slideLayouts/slideLayout89.xml"/><Relationship Id="rId42" Type="http://schemas.openxmlformats.org/officeDocument/2006/relationships/slideLayout" Target="../slideLayouts/slideLayout110.xml"/><Relationship Id="rId47" Type="http://schemas.openxmlformats.org/officeDocument/2006/relationships/slideLayout" Target="../slideLayouts/slideLayout115.xml"/><Relationship Id="rId63" Type="http://schemas.openxmlformats.org/officeDocument/2006/relationships/slideLayout" Target="../slideLayouts/slideLayout131.xml"/><Relationship Id="rId68" Type="http://schemas.openxmlformats.org/officeDocument/2006/relationships/theme" Target="../theme/theme2.xml"/><Relationship Id="rId7" Type="http://schemas.openxmlformats.org/officeDocument/2006/relationships/slideLayout" Target="../slideLayouts/slideLayout75.xml"/><Relationship Id="rId71" Type="http://schemas.openxmlformats.org/officeDocument/2006/relationships/oleObject" Target="../embeddings/oleObject9.bin"/><Relationship Id="rId2" Type="http://schemas.openxmlformats.org/officeDocument/2006/relationships/slideLayout" Target="../slideLayouts/slideLayout70.xml"/><Relationship Id="rId16" Type="http://schemas.openxmlformats.org/officeDocument/2006/relationships/slideLayout" Target="../slideLayouts/slideLayout84.xml"/><Relationship Id="rId29" Type="http://schemas.openxmlformats.org/officeDocument/2006/relationships/slideLayout" Target="../slideLayouts/slideLayout97.xml"/><Relationship Id="rId11" Type="http://schemas.openxmlformats.org/officeDocument/2006/relationships/slideLayout" Target="../slideLayouts/slideLayout79.xml"/><Relationship Id="rId24" Type="http://schemas.openxmlformats.org/officeDocument/2006/relationships/slideLayout" Target="../slideLayouts/slideLayout92.xml"/><Relationship Id="rId32" Type="http://schemas.openxmlformats.org/officeDocument/2006/relationships/slideLayout" Target="../slideLayouts/slideLayout100.xml"/><Relationship Id="rId37" Type="http://schemas.openxmlformats.org/officeDocument/2006/relationships/slideLayout" Target="../slideLayouts/slideLayout105.xml"/><Relationship Id="rId40" Type="http://schemas.openxmlformats.org/officeDocument/2006/relationships/slideLayout" Target="../slideLayouts/slideLayout108.xml"/><Relationship Id="rId45" Type="http://schemas.openxmlformats.org/officeDocument/2006/relationships/slideLayout" Target="../slideLayouts/slideLayout113.xml"/><Relationship Id="rId53" Type="http://schemas.openxmlformats.org/officeDocument/2006/relationships/slideLayout" Target="../slideLayouts/slideLayout121.xml"/><Relationship Id="rId58" Type="http://schemas.openxmlformats.org/officeDocument/2006/relationships/slideLayout" Target="../slideLayouts/slideLayout126.xml"/><Relationship Id="rId66" Type="http://schemas.openxmlformats.org/officeDocument/2006/relationships/slideLayout" Target="../slideLayouts/slideLayout134.xml"/><Relationship Id="rId5" Type="http://schemas.openxmlformats.org/officeDocument/2006/relationships/slideLayout" Target="../slideLayouts/slideLayout73.xml"/><Relationship Id="rId61" Type="http://schemas.openxmlformats.org/officeDocument/2006/relationships/slideLayout" Target="../slideLayouts/slideLayout129.xml"/><Relationship Id="rId19" Type="http://schemas.openxmlformats.org/officeDocument/2006/relationships/slideLayout" Target="../slideLayouts/slideLayout87.xml"/><Relationship Id="rId14" Type="http://schemas.openxmlformats.org/officeDocument/2006/relationships/slideLayout" Target="../slideLayouts/slideLayout82.xml"/><Relationship Id="rId22" Type="http://schemas.openxmlformats.org/officeDocument/2006/relationships/slideLayout" Target="../slideLayouts/slideLayout90.xml"/><Relationship Id="rId27" Type="http://schemas.openxmlformats.org/officeDocument/2006/relationships/slideLayout" Target="../slideLayouts/slideLayout95.xml"/><Relationship Id="rId30" Type="http://schemas.openxmlformats.org/officeDocument/2006/relationships/slideLayout" Target="../slideLayouts/slideLayout98.xml"/><Relationship Id="rId35" Type="http://schemas.openxmlformats.org/officeDocument/2006/relationships/slideLayout" Target="../slideLayouts/slideLayout103.xml"/><Relationship Id="rId43" Type="http://schemas.openxmlformats.org/officeDocument/2006/relationships/slideLayout" Target="../slideLayouts/slideLayout111.xml"/><Relationship Id="rId48" Type="http://schemas.openxmlformats.org/officeDocument/2006/relationships/slideLayout" Target="../slideLayouts/slideLayout116.xml"/><Relationship Id="rId56" Type="http://schemas.openxmlformats.org/officeDocument/2006/relationships/slideLayout" Target="../slideLayouts/slideLayout124.xml"/><Relationship Id="rId64" Type="http://schemas.openxmlformats.org/officeDocument/2006/relationships/slideLayout" Target="../slideLayouts/slideLayout132.xml"/><Relationship Id="rId69" Type="http://schemas.openxmlformats.org/officeDocument/2006/relationships/tags" Target="../tags/tag18.xml"/><Relationship Id="rId8" Type="http://schemas.openxmlformats.org/officeDocument/2006/relationships/slideLayout" Target="../slideLayouts/slideLayout76.xml"/><Relationship Id="rId51" Type="http://schemas.openxmlformats.org/officeDocument/2006/relationships/slideLayout" Target="../slideLayouts/slideLayout119.xml"/><Relationship Id="rId72" Type="http://schemas.openxmlformats.org/officeDocument/2006/relationships/image" Target="../media/image1.emf"/><Relationship Id="rId3" Type="http://schemas.openxmlformats.org/officeDocument/2006/relationships/slideLayout" Target="../slideLayouts/slideLayout71.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5" Type="http://schemas.openxmlformats.org/officeDocument/2006/relationships/slideLayout" Target="../slideLayouts/slideLayout93.xml"/><Relationship Id="rId33" Type="http://schemas.openxmlformats.org/officeDocument/2006/relationships/slideLayout" Target="../slideLayouts/slideLayout101.xml"/><Relationship Id="rId38" Type="http://schemas.openxmlformats.org/officeDocument/2006/relationships/slideLayout" Target="../slideLayouts/slideLayout106.xml"/><Relationship Id="rId46" Type="http://schemas.openxmlformats.org/officeDocument/2006/relationships/slideLayout" Target="../slideLayouts/slideLayout114.xml"/><Relationship Id="rId59" Type="http://schemas.openxmlformats.org/officeDocument/2006/relationships/slideLayout" Target="../slideLayouts/slideLayout127.xml"/><Relationship Id="rId67" Type="http://schemas.openxmlformats.org/officeDocument/2006/relationships/slideLayout" Target="../slideLayouts/slideLayout135.xml"/><Relationship Id="rId20" Type="http://schemas.openxmlformats.org/officeDocument/2006/relationships/slideLayout" Target="../slideLayouts/slideLayout88.xml"/><Relationship Id="rId41" Type="http://schemas.openxmlformats.org/officeDocument/2006/relationships/slideLayout" Target="../slideLayouts/slideLayout109.xml"/><Relationship Id="rId54" Type="http://schemas.openxmlformats.org/officeDocument/2006/relationships/slideLayout" Target="../slideLayouts/slideLayout122.xml"/><Relationship Id="rId62" Type="http://schemas.openxmlformats.org/officeDocument/2006/relationships/slideLayout" Target="../slideLayouts/slideLayout130.xml"/><Relationship Id="rId70" Type="http://schemas.openxmlformats.org/officeDocument/2006/relationships/tags" Target="../tags/tag19.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5" Type="http://schemas.openxmlformats.org/officeDocument/2006/relationships/slideLayout" Target="../slideLayouts/slideLayout83.xml"/><Relationship Id="rId23" Type="http://schemas.openxmlformats.org/officeDocument/2006/relationships/slideLayout" Target="../slideLayouts/slideLayout91.xml"/><Relationship Id="rId28" Type="http://schemas.openxmlformats.org/officeDocument/2006/relationships/slideLayout" Target="../slideLayouts/slideLayout96.xml"/><Relationship Id="rId36" Type="http://schemas.openxmlformats.org/officeDocument/2006/relationships/slideLayout" Target="../slideLayouts/slideLayout104.xml"/><Relationship Id="rId49" Type="http://schemas.openxmlformats.org/officeDocument/2006/relationships/slideLayout" Target="../slideLayouts/slideLayout117.xml"/><Relationship Id="rId57" Type="http://schemas.openxmlformats.org/officeDocument/2006/relationships/slideLayout" Target="../slideLayouts/slideLayout125.xml"/><Relationship Id="rId10" Type="http://schemas.openxmlformats.org/officeDocument/2006/relationships/slideLayout" Target="../slideLayouts/slideLayout78.xml"/><Relationship Id="rId31" Type="http://schemas.openxmlformats.org/officeDocument/2006/relationships/slideLayout" Target="../slideLayouts/slideLayout99.xml"/><Relationship Id="rId44" Type="http://schemas.openxmlformats.org/officeDocument/2006/relationships/slideLayout" Target="../slideLayouts/slideLayout112.xml"/><Relationship Id="rId52" Type="http://schemas.openxmlformats.org/officeDocument/2006/relationships/slideLayout" Target="../slideLayouts/slideLayout120.xml"/><Relationship Id="rId60" Type="http://schemas.openxmlformats.org/officeDocument/2006/relationships/slideLayout" Target="../slideLayouts/slideLayout128.xml"/><Relationship Id="rId65" Type="http://schemas.openxmlformats.org/officeDocument/2006/relationships/slideLayout" Target="../slideLayouts/slideLayout133.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3" Type="http://schemas.openxmlformats.org/officeDocument/2006/relationships/slideLayout" Target="../slideLayouts/slideLayout81.xml"/><Relationship Id="rId18" Type="http://schemas.openxmlformats.org/officeDocument/2006/relationships/slideLayout" Target="../slideLayouts/slideLayout86.xml"/><Relationship Id="rId39" Type="http://schemas.openxmlformats.org/officeDocument/2006/relationships/slideLayout" Target="../slideLayouts/slideLayout107.xml"/><Relationship Id="rId34" Type="http://schemas.openxmlformats.org/officeDocument/2006/relationships/slideLayout" Target="../slideLayouts/slideLayout102.xml"/><Relationship Id="rId50" Type="http://schemas.openxmlformats.org/officeDocument/2006/relationships/slideLayout" Target="../slideLayouts/slideLayout118.xml"/><Relationship Id="rId55" Type="http://schemas.openxmlformats.org/officeDocument/2006/relationships/slideLayout" Target="../slideLayouts/slideLayout123.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61.xml"/><Relationship Id="rId21" Type="http://schemas.openxmlformats.org/officeDocument/2006/relationships/slideLayout" Target="../slideLayouts/slideLayout156.xml"/><Relationship Id="rId42" Type="http://schemas.openxmlformats.org/officeDocument/2006/relationships/slideLayout" Target="../slideLayouts/slideLayout177.xml"/><Relationship Id="rId47" Type="http://schemas.openxmlformats.org/officeDocument/2006/relationships/slideLayout" Target="../slideLayouts/slideLayout182.xml"/><Relationship Id="rId63" Type="http://schemas.openxmlformats.org/officeDocument/2006/relationships/slideLayout" Target="../slideLayouts/slideLayout198.xml"/><Relationship Id="rId68" Type="http://schemas.openxmlformats.org/officeDocument/2006/relationships/slideLayout" Target="../slideLayouts/slideLayout203.xml"/><Relationship Id="rId2" Type="http://schemas.openxmlformats.org/officeDocument/2006/relationships/slideLayout" Target="../slideLayouts/slideLayout137.xml"/><Relationship Id="rId16" Type="http://schemas.openxmlformats.org/officeDocument/2006/relationships/slideLayout" Target="../slideLayouts/slideLayout151.xml"/><Relationship Id="rId29" Type="http://schemas.openxmlformats.org/officeDocument/2006/relationships/slideLayout" Target="../slideLayouts/slideLayout164.xml"/><Relationship Id="rId11" Type="http://schemas.openxmlformats.org/officeDocument/2006/relationships/slideLayout" Target="../slideLayouts/slideLayout146.xml"/><Relationship Id="rId24" Type="http://schemas.openxmlformats.org/officeDocument/2006/relationships/slideLayout" Target="../slideLayouts/slideLayout159.xml"/><Relationship Id="rId32" Type="http://schemas.openxmlformats.org/officeDocument/2006/relationships/slideLayout" Target="../slideLayouts/slideLayout167.xml"/><Relationship Id="rId37" Type="http://schemas.openxmlformats.org/officeDocument/2006/relationships/slideLayout" Target="../slideLayouts/slideLayout172.xml"/><Relationship Id="rId40" Type="http://schemas.openxmlformats.org/officeDocument/2006/relationships/slideLayout" Target="../slideLayouts/slideLayout175.xml"/><Relationship Id="rId45" Type="http://schemas.openxmlformats.org/officeDocument/2006/relationships/slideLayout" Target="../slideLayouts/slideLayout180.xml"/><Relationship Id="rId53" Type="http://schemas.openxmlformats.org/officeDocument/2006/relationships/slideLayout" Target="../slideLayouts/slideLayout188.xml"/><Relationship Id="rId58" Type="http://schemas.openxmlformats.org/officeDocument/2006/relationships/slideLayout" Target="../slideLayouts/slideLayout193.xml"/><Relationship Id="rId66" Type="http://schemas.openxmlformats.org/officeDocument/2006/relationships/slideLayout" Target="../slideLayouts/slideLayout201.xml"/><Relationship Id="rId5" Type="http://schemas.openxmlformats.org/officeDocument/2006/relationships/slideLayout" Target="../slideLayouts/slideLayout140.xml"/><Relationship Id="rId61" Type="http://schemas.openxmlformats.org/officeDocument/2006/relationships/slideLayout" Target="../slideLayouts/slideLayout196.xml"/><Relationship Id="rId19" Type="http://schemas.openxmlformats.org/officeDocument/2006/relationships/slideLayout" Target="../slideLayouts/slideLayout154.xml"/><Relationship Id="rId14" Type="http://schemas.openxmlformats.org/officeDocument/2006/relationships/slideLayout" Target="../slideLayouts/slideLayout149.xml"/><Relationship Id="rId22" Type="http://schemas.openxmlformats.org/officeDocument/2006/relationships/slideLayout" Target="../slideLayouts/slideLayout157.xml"/><Relationship Id="rId27" Type="http://schemas.openxmlformats.org/officeDocument/2006/relationships/slideLayout" Target="../slideLayouts/slideLayout162.xml"/><Relationship Id="rId30" Type="http://schemas.openxmlformats.org/officeDocument/2006/relationships/slideLayout" Target="../slideLayouts/slideLayout165.xml"/><Relationship Id="rId35" Type="http://schemas.openxmlformats.org/officeDocument/2006/relationships/slideLayout" Target="../slideLayouts/slideLayout170.xml"/><Relationship Id="rId43" Type="http://schemas.openxmlformats.org/officeDocument/2006/relationships/slideLayout" Target="../slideLayouts/slideLayout178.xml"/><Relationship Id="rId48" Type="http://schemas.openxmlformats.org/officeDocument/2006/relationships/slideLayout" Target="../slideLayouts/slideLayout183.xml"/><Relationship Id="rId56" Type="http://schemas.openxmlformats.org/officeDocument/2006/relationships/slideLayout" Target="../slideLayouts/slideLayout191.xml"/><Relationship Id="rId64" Type="http://schemas.openxmlformats.org/officeDocument/2006/relationships/slideLayout" Target="../slideLayouts/slideLayout199.xml"/><Relationship Id="rId69" Type="http://schemas.openxmlformats.org/officeDocument/2006/relationships/theme" Target="../theme/theme3.xml"/><Relationship Id="rId8" Type="http://schemas.openxmlformats.org/officeDocument/2006/relationships/slideLayout" Target="../slideLayouts/slideLayout143.xml"/><Relationship Id="rId51" Type="http://schemas.openxmlformats.org/officeDocument/2006/relationships/slideLayout" Target="../slideLayouts/slideLayout186.xml"/><Relationship Id="rId72" Type="http://schemas.openxmlformats.org/officeDocument/2006/relationships/oleObject" Target="../embeddings/oleObject17.bin"/><Relationship Id="rId3" Type="http://schemas.openxmlformats.org/officeDocument/2006/relationships/slideLayout" Target="../slideLayouts/slideLayout138.xml"/><Relationship Id="rId12" Type="http://schemas.openxmlformats.org/officeDocument/2006/relationships/slideLayout" Target="../slideLayouts/slideLayout147.xml"/><Relationship Id="rId17" Type="http://schemas.openxmlformats.org/officeDocument/2006/relationships/slideLayout" Target="../slideLayouts/slideLayout152.xml"/><Relationship Id="rId25" Type="http://schemas.openxmlformats.org/officeDocument/2006/relationships/slideLayout" Target="../slideLayouts/slideLayout160.xml"/><Relationship Id="rId33" Type="http://schemas.openxmlformats.org/officeDocument/2006/relationships/slideLayout" Target="../slideLayouts/slideLayout168.xml"/><Relationship Id="rId38" Type="http://schemas.openxmlformats.org/officeDocument/2006/relationships/slideLayout" Target="../slideLayouts/slideLayout173.xml"/><Relationship Id="rId46" Type="http://schemas.openxmlformats.org/officeDocument/2006/relationships/slideLayout" Target="../slideLayouts/slideLayout181.xml"/><Relationship Id="rId59" Type="http://schemas.openxmlformats.org/officeDocument/2006/relationships/slideLayout" Target="../slideLayouts/slideLayout194.xml"/><Relationship Id="rId67" Type="http://schemas.openxmlformats.org/officeDocument/2006/relationships/slideLayout" Target="../slideLayouts/slideLayout202.xml"/><Relationship Id="rId20" Type="http://schemas.openxmlformats.org/officeDocument/2006/relationships/slideLayout" Target="../slideLayouts/slideLayout155.xml"/><Relationship Id="rId41" Type="http://schemas.openxmlformats.org/officeDocument/2006/relationships/slideLayout" Target="../slideLayouts/slideLayout176.xml"/><Relationship Id="rId54" Type="http://schemas.openxmlformats.org/officeDocument/2006/relationships/slideLayout" Target="../slideLayouts/slideLayout189.xml"/><Relationship Id="rId62" Type="http://schemas.openxmlformats.org/officeDocument/2006/relationships/slideLayout" Target="../slideLayouts/slideLayout197.xml"/><Relationship Id="rId70" Type="http://schemas.openxmlformats.org/officeDocument/2006/relationships/tags" Target="../tags/tag34.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5" Type="http://schemas.openxmlformats.org/officeDocument/2006/relationships/slideLayout" Target="../slideLayouts/slideLayout150.xml"/><Relationship Id="rId23" Type="http://schemas.openxmlformats.org/officeDocument/2006/relationships/slideLayout" Target="../slideLayouts/slideLayout158.xml"/><Relationship Id="rId28" Type="http://schemas.openxmlformats.org/officeDocument/2006/relationships/slideLayout" Target="../slideLayouts/slideLayout163.xml"/><Relationship Id="rId36" Type="http://schemas.openxmlformats.org/officeDocument/2006/relationships/slideLayout" Target="../slideLayouts/slideLayout171.xml"/><Relationship Id="rId49" Type="http://schemas.openxmlformats.org/officeDocument/2006/relationships/slideLayout" Target="../slideLayouts/slideLayout184.xml"/><Relationship Id="rId57" Type="http://schemas.openxmlformats.org/officeDocument/2006/relationships/slideLayout" Target="../slideLayouts/slideLayout192.xml"/><Relationship Id="rId10" Type="http://schemas.openxmlformats.org/officeDocument/2006/relationships/slideLayout" Target="../slideLayouts/slideLayout145.xml"/><Relationship Id="rId31" Type="http://schemas.openxmlformats.org/officeDocument/2006/relationships/slideLayout" Target="../slideLayouts/slideLayout166.xml"/><Relationship Id="rId44" Type="http://schemas.openxmlformats.org/officeDocument/2006/relationships/slideLayout" Target="../slideLayouts/slideLayout179.xml"/><Relationship Id="rId52" Type="http://schemas.openxmlformats.org/officeDocument/2006/relationships/slideLayout" Target="../slideLayouts/slideLayout187.xml"/><Relationship Id="rId60" Type="http://schemas.openxmlformats.org/officeDocument/2006/relationships/slideLayout" Target="../slideLayouts/slideLayout195.xml"/><Relationship Id="rId65" Type="http://schemas.openxmlformats.org/officeDocument/2006/relationships/slideLayout" Target="../slideLayouts/slideLayout200.xml"/><Relationship Id="rId73" Type="http://schemas.openxmlformats.org/officeDocument/2006/relationships/image" Target="../media/image1.emf"/><Relationship Id="rId4" Type="http://schemas.openxmlformats.org/officeDocument/2006/relationships/slideLayout" Target="../slideLayouts/slideLayout139.xml"/><Relationship Id="rId9" Type="http://schemas.openxmlformats.org/officeDocument/2006/relationships/slideLayout" Target="../slideLayouts/slideLayout144.xml"/><Relationship Id="rId13" Type="http://schemas.openxmlformats.org/officeDocument/2006/relationships/slideLayout" Target="../slideLayouts/slideLayout148.xml"/><Relationship Id="rId18" Type="http://schemas.openxmlformats.org/officeDocument/2006/relationships/slideLayout" Target="../slideLayouts/slideLayout153.xml"/><Relationship Id="rId39" Type="http://schemas.openxmlformats.org/officeDocument/2006/relationships/slideLayout" Target="../slideLayouts/slideLayout174.xml"/><Relationship Id="rId34" Type="http://schemas.openxmlformats.org/officeDocument/2006/relationships/slideLayout" Target="../slideLayouts/slideLayout169.xml"/><Relationship Id="rId50" Type="http://schemas.openxmlformats.org/officeDocument/2006/relationships/slideLayout" Target="../slideLayouts/slideLayout185.xml"/><Relationship Id="rId55" Type="http://schemas.openxmlformats.org/officeDocument/2006/relationships/slideLayout" Target="../slideLayouts/slideLayout190.xml"/><Relationship Id="rId7" Type="http://schemas.openxmlformats.org/officeDocument/2006/relationships/slideLayout" Target="../slideLayouts/slideLayout142.xml"/><Relationship Id="rId71" Type="http://schemas.openxmlformats.org/officeDocument/2006/relationships/tags" Target="../tags/tag35.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229.xml"/><Relationship Id="rId21" Type="http://schemas.openxmlformats.org/officeDocument/2006/relationships/slideLayout" Target="../slideLayouts/slideLayout224.xml"/><Relationship Id="rId42" Type="http://schemas.openxmlformats.org/officeDocument/2006/relationships/slideLayout" Target="../slideLayouts/slideLayout245.xml"/><Relationship Id="rId47" Type="http://schemas.openxmlformats.org/officeDocument/2006/relationships/slideLayout" Target="../slideLayouts/slideLayout250.xml"/><Relationship Id="rId63" Type="http://schemas.openxmlformats.org/officeDocument/2006/relationships/slideLayout" Target="../slideLayouts/slideLayout266.xml"/><Relationship Id="rId68" Type="http://schemas.openxmlformats.org/officeDocument/2006/relationships/slideLayout" Target="../slideLayouts/slideLayout271.xml"/><Relationship Id="rId2" Type="http://schemas.openxmlformats.org/officeDocument/2006/relationships/slideLayout" Target="../slideLayouts/slideLayout205.xml"/><Relationship Id="rId16" Type="http://schemas.openxmlformats.org/officeDocument/2006/relationships/slideLayout" Target="../slideLayouts/slideLayout219.xml"/><Relationship Id="rId29" Type="http://schemas.openxmlformats.org/officeDocument/2006/relationships/slideLayout" Target="../slideLayouts/slideLayout232.xml"/><Relationship Id="rId11" Type="http://schemas.openxmlformats.org/officeDocument/2006/relationships/slideLayout" Target="../slideLayouts/slideLayout214.xml"/><Relationship Id="rId24" Type="http://schemas.openxmlformats.org/officeDocument/2006/relationships/slideLayout" Target="../slideLayouts/slideLayout227.xml"/><Relationship Id="rId32" Type="http://schemas.openxmlformats.org/officeDocument/2006/relationships/slideLayout" Target="../slideLayouts/slideLayout235.xml"/><Relationship Id="rId37" Type="http://schemas.openxmlformats.org/officeDocument/2006/relationships/slideLayout" Target="../slideLayouts/slideLayout240.xml"/><Relationship Id="rId40" Type="http://schemas.openxmlformats.org/officeDocument/2006/relationships/slideLayout" Target="../slideLayouts/slideLayout243.xml"/><Relationship Id="rId45" Type="http://schemas.openxmlformats.org/officeDocument/2006/relationships/slideLayout" Target="../slideLayouts/slideLayout248.xml"/><Relationship Id="rId53" Type="http://schemas.openxmlformats.org/officeDocument/2006/relationships/slideLayout" Target="../slideLayouts/slideLayout256.xml"/><Relationship Id="rId58" Type="http://schemas.openxmlformats.org/officeDocument/2006/relationships/slideLayout" Target="../slideLayouts/slideLayout261.xml"/><Relationship Id="rId66" Type="http://schemas.openxmlformats.org/officeDocument/2006/relationships/slideLayout" Target="../slideLayouts/slideLayout269.xml"/><Relationship Id="rId74" Type="http://schemas.openxmlformats.org/officeDocument/2006/relationships/oleObject" Target="../embeddings/oleObject25.bin"/><Relationship Id="rId5" Type="http://schemas.openxmlformats.org/officeDocument/2006/relationships/slideLayout" Target="../slideLayouts/slideLayout208.xml"/><Relationship Id="rId61" Type="http://schemas.openxmlformats.org/officeDocument/2006/relationships/slideLayout" Target="../slideLayouts/slideLayout264.xml"/><Relationship Id="rId19" Type="http://schemas.openxmlformats.org/officeDocument/2006/relationships/slideLayout" Target="../slideLayouts/slideLayout222.xml"/><Relationship Id="rId14" Type="http://schemas.openxmlformats.org/officeDocument/2006/relationships/slideLayout" Target="../slideLayouts/slideLayout217.xml"/><Relationship Id="rId22" Type="http://schemas.openxmlformats.org/officeDocument/2006/relationships/slideLayout" Target="../slideLayouts/slideLayout225.xml"/><Relationship Id="rId27" Type="http://schemas.openxmlformats.org/officeDocument/2006/relationships/slideLayout" Target="../slideLayouts/slideLayout230.xml"/><Relationship Id="rId30" Type="http://schemas.openxmlformats.org/officeDocument/2006/relationships/slideLayout" Target="../slideLayouts/slideLayout233.xml"/><Relationship Id="rId35" Type="http://schemas.openxmlformats.org/officeDocument/2006/relationships/slideLayout" Target="../slideLayouts/slideLayout238.xml"/><Relationship Id="rId43" Type="http://schemas.openxmlformats.org/officeDocument/2006/relationships/slideLayout" Target="../slideLayouts/slideLayout246.xml"/><Relationship Id="rId48" Type="http://schemas.openxmlformats.org/officeDocument/2006/relationships/slideLayout" Target="../slideLayouts/slideLayout251.xml"/><Relationship Id="rId56" Type="http://schemas.openxmlformats.org/officeDocument/2006/relationships/slideLayout" Target="../slideLayouts/slideLayout259.xml"/><Relationship Id="rId64" Type="http://schemas.openxmlformats.org/officeDocument/2006/relationships/slideLayout" Target="../slideLayouts/slideLayout267.xml"/><Relationship Id="rId69" Type="http://schemas.openxmlformats.org/officeDocument/2006/relationships/slideLayout" Target="../slideLayouts/slideLayout272.xml"/><Relationship Id="rId8" Type="http://schemas.openxmlformats.org/officeDocument/2006/relationships/slideLayout" Target="../slideLayouts/slideLayout211.xml"/><Relationship Id="rId51" Type="http://schemas.openxmlformats.org/officeDocument/2006/relationships/slideLayout" Target="../slideLayouts/slideLayout254.xml"/><Relationship Id="rId72" Type="http://schemas.openxmlformats.org/officeDocument/2006/relationships/tags" Target="../tags/tag50.xml"/><Relationship Id="rId3" Type="http://schemas.openxmlformats.org/officeDocument/2006/relationships/slideLayout" Target="../slideLayouts/slideLayout206.xml"/><Relationship Id="rId12" Type="http://schemas.openxmlformats.org/officeDocument/2006/relationships/slideLayout" Target="../slideLayouts/slideLayout215.xml"/><Relationship Id="rId17" Type="http://schemas.openxmlformats.org/officeDocument/2006/relationships/slideLayout" Target="../slideLayouts/slideLayout220.xml"/><Relationship Id="rId25" Type="http://schemas.openxmlformats.org/officeDocument/2006/relationships/slideLayout" Target="../slideLayouts/slideLayout228.xml"/><Relationship Id="rId33" Type="http://schemas.openxmlformats.org/officeDocument/2006/relationships/slideLayout" Target="../slideLayouts/slideLayout236.xml"/><Relationship Id="rId38" Type="http://schemas.openxmlformats.org/officeDocument/2006/relationships/slideLayout" Target="../slideLayouts/slideLayout241.xml"/><Relationship Id="rId46" Type="http://schemas.openxmlformats.org/officeDocument/2006/relationships/slideLayout" Target="../slideLayouts/slideLayout249.xml"/><Relationship Id="rId59" Type="http://schemas.openxmlformats.org/officeDocument/2006/relationships/slideLayout" Target="../slideLayouts/slideLayout262.xml"/><Relationship Id="rId67" Type="http://schemas.openxmlformats.org/officeDocument/2006/relationships/slideLayout" Target="../slideLayouts/slideLayout270.xml"/><Relationship Id="rId20" Type="http://schemas.openxmlformats.org/officeDocument/2006/relationships/slideLayout" Target="../slideLayouts/slideLayout223.xml"/><Relationship Id="rId41" Type="http://schemas.openxmlformats.org/officeDocument/2006/relationships/slideLayout" Target="../slideLayouts/slideLayout244.xml"/><Relationship Id="rId54" Type="http://schemas.openxmlformats.org/officeDocument/2006/relationships/slideLayout" Target="../slideLayouts/slideLayout257.xml"/><Relationship Id="rId62" Type="http://schemas.openxmlformats.org/officeDocument/2006/relationships/slideLayout" Target="../slideLayouts/slideLayout265.xml"/><Relationship Id="rId70" Type="http://schemas.openxmlformats.org/officeDocument/2006/relationships/slideLayout" Target="../slideLayouts/slideLayout273.xml"/><Relationship Id="rId75" Type="http://schemas.openxmlformats.org/officeDocument/2006/relationships/image" Target="../media/image1.emf"/><Relationship Id="rId1" Type="http://schemas.openxmlformats.org/officeDocument/2006/relationships/slideLayout" Target="../slideLayouts/slideLayout204.xml"/><Relationship Id="rId6" Type="http://schemas.openxmlformats.org/officeDocument/2006/relationships/slideLayout" Target="../slideLayouts/slideLayout209.xml"/><Relationship Id="rId15" Type="http://schemas.openxmlformats.org/officeDocument/2006/relationships/slideLayout" Target="../slideLayouts/slideLayout218.xml"/><Relationship Id="rId23" Type="http://schemas.openxmlformats.org/officeDocument/2006/relationships/slideLayout" Target="../slideLayouts/slideLayout226.xml"/><Relationship Id="rId28" Type="http://schemas.openxmlformats.org/officeDocument/2006/relationships/slideLayout" Target="../slideLayouts/slideLayout231.xml"/><Relationship Id="rId36" Type="http://schemas.openxmlformats.org/officeDocument/2006/relationships/slideLayout" Target="../slideLayouts/slideLayout239.xml"/><Relationship Id="rId49" Type="http://schemas.openxmlformats.org/officeDocument/2006/relationships/slideLayout" Target="../slideLayouts/slideLayout252.xml"/><Relationship Id="rId57" Type="http://schemas.openxmlformats.org/officeDocument/2006/relationships/slideLayout" Target="../slideLayouts/slideLayout260.xml"/><Relationship Id="rId10" Type="http://schemas.openxmlformats.org/officeDocument/2006/relationships/slideLayout" Target="../slideLayouts/slideLayout213.xml"/><Relationship Id="rId31" Type="http://schemas.openxmlformats.org/officeDocument/2006/relationships/slideLayout" Target="../slideLayouts/slideLayout234.xml"/><Relationship Id="rId44" Type="http://schemas.openxmlformats.org/officeDocument/2006/relationships/slideLayout" Target="../slideLayouts/slideLayout247.xml"/><Relationship Id="rId52" Type="http://schemas.openxmlformats.org/officeDocument/2006/relationships/slideLayout" Target="../slideLayouts/slideLayout255.xml"/><Relationship Id="rId60" Type="http://schemas.openxmlformats.org/officeDocument/2006/relationships/slideLayout" Target="../slideLayouts/slideLayout263.xml"/><Relationship Id="rId65" Type="http://schemas.openxmlformats.org/officeDocument/2006/relationships/slideLayout" Target="../slideLayouts/slideLayout268.xml"/><Relationship Id="rId73" Type="http://schemas.openxmlformats.org/officeDocument/2006/relationships/tags" Target="../tags/tag51.xml"/><Relationship Id="rId4" Type="http://schemas.openxmlformats.org/officeDocument/2006/relationships/slideLayout" Target="../slideLayouts/slideLayout207.xml"/><Relationship Id="rId9" Type="http://schemas.openxmlformats.org/officeDocument/2006/relationships/slideLayout" Target="../slideLayouts/slideLayout212.xml"/><Relationship Id="rId13" Type="http://schemas.openxmlformats.org/officeDocument/2006/relationships/slideLayout" Target="../slideLayouts/slideLayout216.xml"/><Relationship Id="rId18" Type="http://schemas.openxmlformats.org/officeDocument/2006/relationships/slideLayout" Target="../slideLayouts/slideLayout221.xml"/><Relationship Id="rId39" Type="http://schemas.openxmlformats.org/officeDocument/2006/relationships/slideLayout" Target="../slideLayouts/slideLayout242.xml"/><Relationship Id="rId34" Type="http://schemas.openxmlformats.org/officeDocument/2006/relationships/slideLayout" Target="../slideLayouts/slideLayout237.xml"/><Relationship Id="rId50" Type="http://schemas.openxmlformats.org/officeDocument/2006/relationships/slideLayout" Target="../slideLayouts/slideLayout253.xml"/><Relationship Id="rId55" Type="http://schemas.openxmlformats.org/officeDocument/2006/relationships/slideLayout" Target="../slideLayouts/slideLayout258.xml"/><Relationship Id="rId7" Type="http://schemas.openxmlformats.org/officeDocument/2006/relationships/slideLayout" Target="../slideLayouts/slideLayout210.xml"/><Relationship Id="rId71"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299.xml"/><Relationship Id="rId21" Type="http://schemas.openxmlformats.org/officeDocument/2006/relationships/slideLayout" Target="../slideLayouts/slideLayout294.xml"/><Relationship Id="rId42" Type="http://schemas.openxmlformats.org/officeDocument/2006/relationships/slideLayout" Target="../slideLayouts/slideLayout315.xml"/><Relationship Id="rId47" Type="http://schemas.openxmlformats.org/officeDocument/2006/relationships/slideLayout" Target="../slideLayouts/slideLayout320.xml"/><Relationship Id="rId63" Type="http://schemas.openxmlformats.org/officeDocument/2006/relationships/slideLayout" Target="../slideLayouts/slideLayout336.xml"/><Relationship Id="rId68" Type="http://schemas.openxmlformats.org/officeDocument/2006/relationships/slideLayout" Target="../slideLayouts/slideLayout341.xml"/><Relationship Id="rId2" Type="http://schemas.openxmlformats.org/officeDocument/2006/relationships/slideLayout" Target="../slideLayouts/slideLayout275.xml"/><Relationship Id="rId16" Type="http://schemas.openxmlformats.org/officeDocument/2006/relationships/slideLayout" Target="../slideLayouts/slideLayout289.xml"/><Relationship Id="rId29" Type="http://schemas.openxmlformats.org/officeDocument/2006/relationships/slideLayout" Target="../slideLayouts/slideLayout302.xml"/><Relationship Id="rId11" Type="http://schemas.openxmlformats.org/officeDocument/2006/relationships/slideLayout" Target="../slideLayouts/slideLayout284.xml"/><Relationship Id="rId24" Type="http://schemas.openxmlformats.org/officeDocument/2006/relationships/slideLayout" Target="../slideLayouts/slideLayout297.xml"/><Relationship Id="rId32" Type="http://schemas.openxmlformats.org/officeDocument/2006/relationships/slideLayout" Target="../slideLayouts/slideLayout305.xml"/><Relationship Id="rId37" Type="http://schemas.openxmlformats.org/officeDocument/2006/relationships/slideLayout" Target="../slideLayouts/slideLayout310.xml"/><Relationship Id="rId40" Type="http://schemas.openxmlformats.org/officeDocument/2006/relationships/slideLayout" Target="../slideLayouts/slideLayout313.xml"/><Relationship Id="rId45" Type="http://schemas.openxmlformats.org/officeDocument/2006/relationships/slideLayout" Target="../slideLayouts/slideLayout318.xml"/><Relationship Id="rId53" Type="http://schemas.openxmlformats.org/officeDocument/2006/relationships/slideLayout" Target="../slideLayouts/slideLayout326.xml"/><Relationship Id="rId58" Type="http://schemas.openxmlformats.org/officeDocument/2006/relationships/slideLayout" Target="../slideLayouts/slideLayout331.xml"/><Relationship Id="rId66" Type="http://schemas.openxmlformats.org/officeDocument/2006/relationships/slideLayout" Target="../slideLayouts/slideLayout339.xml"/><Relationship Id="rId74" Type="http://schemas.openxmlformats.org/officeDocument/2006/relationships/image" Target="../media/image1.emf"/><Relationship Id="rId5" Type="http://schemas.openxmlformats.org/officeDocument/2006/relationships/slideLayout" Target="../slideLayouts/slideLayout278.xml"/><Relationship Id="rId61" Type="http://schemas.openxmlformats.org/officeDocument/2006/relationships/slideLayout" Target="../slideLayouts/slideLayout334.xml"/><Relationship Id="rId19" Type="http://schemas.openxmlformats.org/officeDocument/2006/relationships/slideLayout" Target="../slideLayouts/slideLayout292.xml"/><Relationship Id="rId14" Type="http://schemas.openxmlformats.org/officeDocument/2006/relationships/slideLayout" Target="../slideLayouts/slideLayout287.xml"/><Relationship Id="rId22" Type="http://schemas.openxmlformats.org/officeDocument/2006/relationships/slideLayout" Target="../slideLayouts/slideLayout295.xml"/><Relationship Id="rId27" Type="http://schemas.openxmlformats.org/officeDocument/2006/relationships/slideLayout" Target="../slideLayouts/slideLayout300.xml"/><Relationship Id="rId30" Type="http://schemas.openxmlformats.org/officeDocument/2006/relationships/slideLayout" Target="../slideLayouts/slideLayout303.xml"/><Relationship Id="rId35" Type="http://schemas.openxmlformats.org/officeDocument/2006/relationships/slideLayout" Target="../slideLayouts/slideLayout308.xml"/><Relationship Id="rId43" Type="http://schemas.openxmlformats.org/officeDocument/2006/relationships/slideLayout" Target="../slideLayouts/slideLayout316.xml"/><Relationship Id="rId48" Type="http://schemas.openxmlformats.org/officeDocument/2006/relationships/slideLayout" Target="../slideLayouts/slideLayout321.xml"/><Relationship Id="rId56" Type="http://schemas.openxmlformats.org/officeDocument/2006/relationships/slideLayout" Target="../slideLayouts/slideLayout329.xml"/><Relationship Id="rId64" Type="http://schemas.openxmlformats.org/officeDocument/2006/relationships/slideLayout" Target="../slideLayouts/slideLayout337.xml"/><Relationship Id="rId69" Type="http://schemas.openxmlformats.org/officeDocument/2006/relationships/slideLayout" Target="../slideLayouts/slideLayout342.xml"/><Relationship Id="rId8" Type="http://schemas.openxmlformats.org/officeDocument/2006/relationships/slideLayout" Target="../slideLayouts/slideLayout281.xml"/><Relationship Id="rId51" Type="http://schemas.openxmlformats.org/officeDocument/2006/relationships/slideLayout" Target="../slideLayouts/slideLayout324.xml"/><Relationship Id="rId72" Type="http://schemas.openxmlformats.org/officeDocument/2006/relationships/tags" Target="../tags/tag67.xml"/><Relationship Id="rId3" Type="http://schemas.openxmlformats.org/officeDocument/2006/relationships/slideLayout" Target="../slideLayouts/slideLayout276.xml"/><Relationship Id="rId12" Type="http://schemas.openxmlformats.org/officeDocument/2006/relationships/slideLayout" Target="../slideLayouts/slideLayout285.xml"/><Relationship Id="rId17" Type="http://schemas.openxmlformats.org/officeDocument/2006/relationships/slideLayout" Target="../slideLayouts/slideLayout290.xml"/><Relationship Id="rId25" Type="http://schemas.openxmlformats.org/officeDocument/2006/relationships/slideLayout" Target="../slideLayouts/slideLayout298.xml"/><Relationship Id="rId33" Type="http://schemas.openxmlformats.org/officeDocument/2006/relationships/slideLayout" Target="../slideLayouts/slideLayout306.xml"/><Relationship Id="rId38" Type="http://schemas.openxmlformats.org/officeDocument/2006/relationships/slideLayout" Target="../slideLayouts/slideLayout311.xml"/><Relationship Id="rId46" Type="http://schemas.openxmlformats.org/officeDocument/2006/relationships/slideLayout" Target="../slideLayouts/slideLayout319.xml"/><Relationship Id="rId59" Type="http://schemas.openxmlformats.org/officeDocument/2006/relationships/slideLayout" Target="../slideLayouts/slideLayout332.xml"/><Relationship Id="rId67" Type="http://schemas.openxmlformats.org/officeDocument/2006/relationships/slideLayout" Target="../slideLayouts/slideLayout340.xml"/><Relationship Id="rId20" Type="http://schemas.openxmlformats.org/officeDocument/2006/relationships/slideLayout" Target="../slideLayouts/slideLayout293.xml"/><Relationship Id="rId41" Type="http://schemas.openxmlformats.org/officeDocument/2006/relationships/slideLayout" Target="../slideLayouts/slideLayout314.xml"/><Relationship Id="rId54" Type="http://schemas.openxmlformats.org/officeDocument/2006/relationships/slideLayout" Target="../slideLayouts/slideLayout327.xml"/><Relationship Id="rId62" Type="http://schemas.openxmlformats.org/officeDocument/2006/relationships/slideLayout" Target="../slideLayouts/slideLayout335.xml"/><Relationship Id="rId70" Type="http://schemas.openxmlformats.org/officeDocument/2006/relationships/theme" Target="../theme/theme5.xml"/><Relationship Id="rId1" Type="http://schemas.openxmlformats.org/officeDocument/2006/relationships/slideLayout" Target="../slideLayouts/slideLayout274.xml"/><Relationship Id="rId6" Type="http://schemas.openxmlformats.org/officeDocument/2006/relationships/slideLayout" Target="../slideLayouts/slideLayout279.xml"/><Relationship Id="rId15" Type="http://schemas.openxmlformats.org/officeDocument/2006/relationships/slideLayout" Target="../slideLayouts/slideLayout288.xml"/><Relationship Id="rId23" Type="http://schemas.openxmlformats.org/officeDocument/2006/relationships/slideLayout" Target="../slideLayouts/slideLayout296.xml"/><Relationship Id="rId28" Type="http://schemas.openxmlformats.org/officeDocument/2006/relationships/slideLayout" Target="../slideLayouts/slideLayout301.xml"/><Relationship Id="rId36" Type="http://schemas.openxmlformats.org/officeDocument/2006/relationships/slideLayout" Target="../slideLayouts/slideLayout309.xml"/><Relationship Id="rId49" Type="http://schemas.openxmlformats.org/officeDocument/2006/relationships/slideLayout" Target="../slideLayouts/slideLayout322.xml"/><Relationship Id="rId57" Type="http://schemas.openxmlformats.org/officeDocument/2006/relationships/slideLayout" Target="../slideLayouts/slideLayout330.xml"/><Relationship Id="rId10" Type="http://schemas.openxmlformats.org/officeDocument/2006/relationships/slideLayout" Target="../slideLayouts/slideLayout283.xml"/><Relationship Id="rId31" Type="http://schemas.openxmlformats.org/officeDocument/2006/relationships/slideLayout" Target="../slideLayouts/slideLayout304.xml"/><Relationship Id="rId44" Type="http://schemas.openxmlformats.org/officeDocument/2006/relationships/slideLayout" Target="../slideLayouts/slideLayout317.xml"/><Relationship Id="rId52" Type="http://schemas.openxmlformats.org/officeDocument/2006/relationships/slideLayout" Target="../slideLayouts/slideLayout325.xml"/><Relationship Id="rId60" Type="http://schemas.openxmlformats.org/officeDocument/2006/relationships/slideLayout" Target="../slideLayouts/slideLayout333.xml"/><Relationship Id="rId65" Type="http://schemas.openxmlformats.org/officeDocument/2006/relationships/slideLayout" Target="../slideLayouts/slideLayout338.xml"/><Relationship Id="rId73" Type="http://schemas.openxmlformats.org/officeDocument/2006/relationships/oleObject" Target="../embeddings/oleObject33.bin"/><Relationship Id="rId4" Type="http://schemas.openxmlformats.org/officeDocument/2006/relationships/slideLayout" Target="../slideLayouts/slideLayout277.xml"/><Relationship Id="rId9" Type="http://schemas.openxmlformats.org/officeDocument/2006/relationships/slideLayout" Target="../slideLayouts/slideLayout282.xml"/><Relationship Id="rId13" Type="http://schemas.openxmlformats.org/officeDocument/2006/relationships/slideLayout" Target="../slideLayouts/slideLayout286.xml"/><Relationship Id="rId18" Type="http://schemas.openxmlformats.org/officeDocument/2006/relationships/slideLayout" Target="../slideLayouts/slideLayout291.xml"/><Relationship Id="rId39" Type="http://schemas.openxmlformats.org/officeDocument/2006/relationships/slideLayout" Target="../slideLayouts/slideLayout312.xml"/><Relationship Id="rId34" Type="http://schemas.openxmlformats.org/officeDocument/2006/relationships/slideLayout" Target="../slideLayouts/slideLayout307.xml"/><Relationship Id="rId50" Type="http://schemas.openxmlformats.org/officeDocument/2006/relationships/slideLayout" Target="../slideLayouts/slideLayout323.xml"/><Relationship Id="rId55" Type="http://schemas.openxmlformats.org/officeDocument/2006/relationships/slideLayout" Target="../slideLayouts/slideLayout328.xml"/><Relationship Id="rId7" Type="http://schemas.openxmlformats.org/officeDocument/2006/relationships/slideLayout" Target="../slideLayouts/slideLayout280.xml"/><Relationship Id="rId71" Type="http://schemas.openxmlformats.org/officeDocument/2006/relationships/tags" Target="../tags/tag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0"/>
            </p:custDataLst>
            <p:extLst>
              <p:ext uri="{D42A27DB-BD31-4B8C-83A1-F6EECF244321}">
                <p14:modId xmlns:p14="http://schemas.microsoft.com/office/powerpoint/2010/main" val="329872651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2" imgW="270" imgH="270" progId="TCLayout.ActiveDocument.1">
                  <p:embed/>
                </p:oleObj>
              </mc:Choice>
              <mc:Fallback>
                <p:oleObj name="think-cell Slide" r:id="rId72" imgW="270" imgH="270" progId="TCLayout.ActiveDocument.1">
                  <p:embed/>
                  <p:pic>
                    <p:nvPicPr>
                      <p:cNvPr id="4" name="Object 3" hidden="1"/>
                      <p:cNvPicPr/>
                      <p:nvPr/>
                    </p:nvPicPr>
                    <p:blipFill>
                      <a:blip r:embed="rId73"/>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46DD24C-B7DA-406C-A5F3-6D587075C149}"/>
              </a:ext>
            </a:extLst>
          </p:cNvPr>
          <p:cNvSpPr/>
          <p:nvPr userDrawn="1">
            <p:custDataLst>
              <p:tags r:id="rId71"/>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335184" y="6477000"/>
            <a:ext cx="4896560" cy="2769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Pct val="100000"/>
              <a:buFont typeface="Arial"/>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ERP Feasibility and Cost Benefit Analysis Report</a:t>
            </a:r>
          </a:p>
          <a:p>
            <a:pPr marL="0" indent="0" algn="r">
              <a:spcBef>
                <a:spcPts val="0"/>
              </a:spcBef>
              <a:buSzPct val="100000"/>
              <a:buFont typeface="Arial"/>
              <a:buNone/>
            </a:pPr>
            <a:endParaRPr lang="en-US" sz="900" dirty="0"/>
          </a:p>
        </p:txBody>
      </p:sp>
      <p:sp>
        <p:nvSpPr>
          <p:cNvPr id="18" name="Copyright"/>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2020 Deloitte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a:t>
            </a:r>
            <a:r>
              <a:rPr lang="fr-FR" sz="900" noProof="0" dirty="0" err="1">
                <a:solidFill>
                  <a:schemeClr val="tx1"/>
                </a:solidFill>
                <a:latin typeface="Calibri" panose="020F0502020204030204" pitchFamily="34" charset="0"/>
                <a:cs typeface="Calibri" panose="020F0502020204030204" pitchFamily="34" charset="0"/>
              </a:rPr>
              <a:t>India</a:t>
            </a:r>
            <a:r>
              <a:rPr lang="fr-FR" sz="900" noProof="0" dirty="0">
                <a:solidFill>
                  <a:schemeClr val="tx1"/>
                </a:solidFill>
                <a:latin typeface="Calibri" panose="020F0502020204030204" pitchFamily="34" charset="0"/>
                <a:cs typeface="Calibri" panose="020F0502020204030204" pitchFamily="34" charset="0"/>
              </a:rPr>
              <a:t>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63577"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3414128804"/>
      </p:ext>
    </p:extLst>
  </p:cSld>
  <p:clrMap bg1="lt1" tx1="dk1" bg2="lt2" tx2="dk2" accent1="accent1" accent2="accent2" accent3="accent3" accent4="accent4" accent5="accent5" accent6="accent6" hlink="hlink" folHlink="folHlink"/>
  <p:sldLayoutIdLst>
    <p:sldLayoutId id="2147485023" r:id="rId1"/>
    <p:sldLayoutId id="2147485024" r:id="rId2"/>
    <p:sldLayoutId id="2147485050" r:id="rId3"/>
    <p:sldLayoutId id="2147485051" r:id="rId4"/>
    <p:sldLayoutId id="2147485052" r:id="rId5"/>
    <p:sldLayoutId id="2147485053" r:id="rId6"/>
    <p:sldLayoutId id="2147485054" r:id="rId7"/>
    <p:sldLayoutId id="2147485055" r:id="rId8"/>
    <p:sldLayoutId id="2147485056" r:id="rId9"/>
    <p:sldLayoutId id="2147485057" r:id="rId10"/>
    <p:sldLayoutId id="2147485058" r:id="rId11"/>
    <p:sldLayoutId id="2147485059" r:id="rId12"/>
    <p:sldLayoutId id="2147485060" r:id="rId13"/>
    <p:sldLayoutId id="2147485061" r:id="rId14"/>
    <p:sldLayoutId id="2147485062" r:id="rId15"/>
    <p:sldLayoutId id="2147485063" r:id="rId16"/>
    <p:sldLayoutId id="2147485064" r:id="rId17"/>
    <p:sldLayoutId id="2147485065" r:id="rId18"/>
    <p:sldLayoutId id="2147485066" r:id="rId19"/>
    <p:sldLayoutId id="2147485067" r:id="rId20"/>
    <p:sldLayoutId id="2147485068" r:id="rId21"/>
    <p:sldLayoutId id="2147485069" r:id="rId22"/>
    <p:sldLayoutId id="2147485070" r:id="rId23"/>
    <p:sldLayoutId id="2147485071" r:id="rId24"/>
    <p:sldLayoutId id="2147485072" r:id="rId25"/>
    <p:sldLayoutId id="2147485073" r:id="rId26"/>
    <p:sldLayoutId id="2147485074" r:id="rId27"/>
    <p:sldLayoutId id="2147485075" r:id="rId28"/>
    <p:sldLayoutId id="2147485076" r:id="rId29"/>
    <p:sldLayoutId id="2147485077" r:id="rId30"/>
    <p:sldLayoutId id="2147485078" r:id="rId31"/>
    <p:sldLayoutId id="2147485079" r:id="rId32"/>
    <p:sldLayoutId id="2147485080" r:id="rId33"/>
    <p:sldLayoutId id="2147485081" r:id="rId34"/>
    <p:sldLayoutId id="2147485082" r:id="rId35"/>
    <p:sldLayoutId id="2147485083" r:id="rId36"/>
    <p:sldLayoutId id="2147485084" r:id="rId37"/>
    <p:sldLayoutId id="2147485085" r:id="rId38"/>
    <p:sldLayoutId id="2147485086" r:id="rId39"/>
    <p:sldLayoutId id="2147485087" r:id="rId40"/>
    <p:sldLayoutId id="2147485088" r:id="rId41"/>
    <p:sldLayoutId id="2147485089" r:id="rId42"/>
    <p:sldLayoutId id="2147485090" r:id="rId43"/>
    <p:sldLayoutId id="2147485091" r:id="rId44"/>
    <p:sldLayoutId id="2147485092" r:id="rId45"/>
    <p:sldLayoutId id="2147485093" r:id="rId46"/>
    <p:sldLayoutId id="2147485094" r:id="rId47"/>
    <p:sldLayoutId id="2147485095" r:id="rId48"/>
    <p:sldLayoutId id="2147485096" r:id="rId49"/>
    <p:sldLayoutId id="2147485097" r:id="rId50"/>
    <p:sldLayoutId id="2147485098" r:id="rId51"/>
    <p:sldLayoutId id="2147485100" r:id="rId52"/>
    <p:sldLayoutId id="2147485101" r:id="rId53"/>
    <p:sldLayoutId id="2147485102" r:id="rId54"/>
    <p:sldLayoutId id="2147485103" r:id="rId55"/>
    <p:sldLayoutId id="2147485105" r:id="rId56"/>
    <p:sldLayoutId id="2147485106" r:id="rId57"/>
    <p:sldLayoutId id="2147485107" r:id="rId58"/>
    <p:sldLayoutId id="2147485108" r:id="rId59"/>
    <p:sldLayoutId id="2147485109" r:id="rId60"/>
    <p:sldLayoutId id="2147485112" r:id="rId61"/>
    <p:sldLayoutId id="2147485113" r:id="rId62"/>
    <p:sldLayoutId id="2147485119" r:id="rId63"/>
    <p:sldLayoutId id="2147485122" r:id="rId64"/>
    <p:sldLayoutId id="2147485123" r:id="rId65"/>
    <p:sldLayoutId id="2147485124" r:id="rId66"/>
    <p:sldLayoutId id="2147485126" r:id="rId67"/>
    <p:sldLayoutId id="2147485130" r:id="rId68"/>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9"/>
            </p:custDataLst>
            <p:extLst>
              <p:ext uri="{D42A27DB-BD31-4B8C-83A1-F6EECF244321}">
                <p14:modId xmlns:p14="http://schemas.microsoft.com/office/powerpoint/2010/main" val="3863347546"/>
              </p:ext>
            </p:extLst>
          </p:nvPr>
        </p:nvGraphicFramePr>
        <p:xfrm>
          <a:off x="2120" y="1589"/>
          <a:ext cx="2116" cy="1587"/>
        </p:xfrm>
        <a:graphic>
          <a:graphicData uri="http://schemas.openxmlformats.org/presentationml/2006/ole">
            <mc:AlternateContent xmlns:mc="http://schemas.openxmlformats.org/markup-compatibility/2006">
              <mc:Choice xmlns:v="urn:schemas-microsoft-com:vml" Requires="v">
                <p:oleObj name="think-cell Slide" r:id="rId71" imgW="270" imgH="270" progId="TCLayout.ActiveDocument.1">
                  <p:embed/>
                </p:oleObj>
              </mc:Choice>
              <mc:Fallback>
                <p:oleObj name="think-cell Slide" r:id="rId71" imgW="270" imgH="270" progId="TCLayout.ActiveDocument.1">
                  <p:embed/>
                  <p:pic>
                    <p:nvPicPr>
                      <p:cNvPr id="4" name="Object 3" hidden="1"/>
                      <p:cNvPicPr/>
                      <p:nvPr/>
                    </p:nvPicPr>
                    <p:blipFill>
                      <a:blip r:embed="rId72"/>
                      <a:stretch>
                        <a:fillRect/>
                      </a:stretch>
                    </p:blipFill>
                    <p:spPr>
                      <a:xfrm>
                        <a:off x="2120" y="1589"/>
                        <a:ext cx="2116" cy="1587"/>
                      </a:xfrm>
                      <a:prstGeom prst="rect">
                        <a:avLst/>
                      </a:prstGeom>
                    </p:spPr>
                  </p:pic>
                </p:oleObj>
              </mc:Fallback>
            </mc:AlternateContent>
          </a:graphicData>
        </a:graphic>
      </p:graphicFrame>
      <p:sp>
        <p:nvSpPr>
          <p:cNvPr id="6" name="Rectangle 5" hidden="1"/>
          <p:cNvSpPr/>
          <p:nvPr userDrawn="1">
            <p:custDataLst>
              <p:tags r:id="rId70"/>
            </p:custDataLst>
          </p:nvPr>
        </p:nvSpPr>
        <p:spPr bwMode="gray">
          <a:xfrm>
            <a:off x="0" y="0"/>
            <a:ext cx="181078" cy="143955"/>
          </a:xfrm>
          <a:prstGeom prst="rect">
            <a:avLst/>
          </a:prstGeom>
          <a:solidFill>
            <a:schemeClr val="accent3"/>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buFont typeface="Wingdings 2" pitchFamily="18" charset="2"/>
              <a:buNone/>
            </a:pPr>
            <a:endParaRPr lang="en-US" sz="2282"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1" y="317501"/>
            <a:ext cx="11188699"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282959" y="6656743"/>
            <a:ext cx="5355168" cy="201260"/>
          </a:xfrm>
          <a:prstGeom prst="rect">
            <a:avLst/>
          </a:prstGeom>
          <a:noFill/>
        </p:spPr>
        <p:txBody>
          <a:bodyPr wrap="square" lIns="0" tIns="0" rIns="0" bIns="0" rtlCol="0">
            <a:noAutofit/>
          </a:bodyPr>
          <a:lstStyle/>
          <a:p>
            <a:pPr>
              <a:spcBef>
                <a:spcPts val="755"/>
              </a:spcBef>
              <a:buSzPct val="100000"/>
              <a:buFont typeface="Arial"/>
              <a:buNone/>
            </a:pPr>
            <a:r>
              <a:rPr lang="fr-FR" sz="798" dirty="0">
                <a:solidFill>
                  <a:prstClr val="black"/>
                </a:solidFill>
              </a:rPr>
              <a:t>© 2020 Deloitte Touche Tohmatsu India LLP</a:t>
            </a:r>
          </a:p>
        </p:txBody>
      </p:sp>
      <p:sp>
        <p:nvSpPr>
          <p:cNvPr id="19" name="Text Placeholder 18"/>
          <p:cNvSpPr>
            <a:spLocks noGrp="1"/>
          </p:cNvSpPr>
          <p:nvPr>
            <p:ph type="body" idx="1"/>
          </p:nvPr>
        </p:nvSpPr>
        <p:spPr>
          <a:xfrm>
            <a:off x="501651" y="1665292"/>
            <a:ext cx="11188699" cy="4716462"/>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617888" y="6657342"/>
            <a:ext cx="307974" cy="100027"/>
          </a:xfrm>
          <a:prstGeom prst="rect">
            <a:avLst/>
          </a:prstGeom>
          <a:noFill/>
        </p:spPr>
        <p:txBody>
          <a:bodyPr wrap="square" lIns="0" tIns="0" rIns="0" bIns="0" rtlCol="0">
            <a:noAutofit/>
          </a:bodyPr>
          <a:lstStyle/>
          <a:p>
            <a:pPr algn="r">
              <a:spcBef>
                <a:spcPts val="755"/>
              </a:spcBef>
              <a:buSzPct val="100000"/>
              <a:buFont typeface="Arial"/>
              <a:buNone/>
            </a:pPr>
            <a:fld id="{C58DF478-B544-4ED8-9ED4-6A2648E2D233}" type="slidenum">
              <a:rPr lang="en-US" sz="798" smtClean="0">
                <a:solidFill>
                  <a:prstClr val="black"/>
                </a:solidFill>
              </a:rPr>
              <a:pPr algn="r">
                <a:spcBef>
                  <a:spcPts val="755"/>
                </a:spcBef>
                <a:buSzPct val="100000"/>
                <a:buFont typeface="Arial"/>
                <a:buNone/>
              </a:pPr>
              <a:t>‹#›</a:t>
            </a:fld>
            <a:endParaRPr lang="en-US" sz="798" dirty="0">
              <a:solidFill>
                <a:prstClr val="black"/>
              </a:solidFill>
            </a:endParaRPr>
          </a:p>
        </p:txBody>
      </p:sp>
    </p:spTree>
    <p:extLst>
      <p:ext uri="{BB962C8B-B14F-4D97-AF65-F5344CB8AC3E}">
        <p14:creationId xmlns:p14="http://schemas.microsoft.com/office/powerpoint/2010/main" val="3940311843"/>
      </p:ext>
    </p:extLst>
  </p:cSld>
  <p:clrMap bg1="lt1" tx1="dk1" bg2="lt2" tx2="dk2" accent1="accent1" accent2="accent2" accent3="accent3" accent4="accent4" accent5="accent5" accent6="accent6" hlink="hlink" folHlink="folHlink"/>
  <p:sldLayoutIdLst>
    <p:sldLayoutId id="2147485134" r:id="rId1"/>
    <p:sldLayoutId id="2147485135" r:id="rId2"/>
    <p:sldLayoutId id="2147485136" r:id="rId3"/>
    <p:sldLayoutId id="2147485137" r:id="rId4"/>
    <p:sldLayoutId id="2147485138" r:id="rId5"/>
    <p:sldLayoutId id="2147485139" r:id="rId6"/>
    <p:sldLayoutId id="2147485140" r:id="rId7"/>
    <p:sldLayoutId id="2147485141" r:id="rId8"/>
    <p:sldLayoutId id="2147485142" r:id="rId9"/>
    <p:sldLayoutId id="2147485143" r:id="rId10"/>
    <p:sldLayoutId id="2147485144" r:id="rId11"/>
    <p:sldLayoutId id="2147485145" r:id="rId12"/>
    <p:sldLayoutId id="2147485146" r:id="rId13"/>
    <p:sldLayoutId id="2147485147" r:id="rId14"/>
    <p:sldLayoutId id="2147485148" r:id="rId15"/>
    <p:sldLayoutId id="2147485149" r:id="rId16"/>
    <p:sldLayoutId id="2147485150" r:id="rId17"/>
    <p:sldLayoutId id="2147485151" r:id="rId18"/>
    <p:sldLayoutId id="2147485152" r:id="rId19"/>
    <p:sldLayoutId id="2147485153" r:id="rId20"/>
    <p:sldLayoutId id="2147485154" r:id="rId21"/>
    <p:sldLayoutId id="2147485155" r:id="rId22"/>
    <p:sldLayoutId id="2147485156" r:id="rId23"/>
    <p:sldLayoutId id="2147485157" r:id="rId24"/>
    <p:sldLayoutId id="2147485158" r:id="rId25"/>
    <p:sldLayoutId id="2147485159" r:id="rId26"/>
    <p:sldLayoutId id="2147485160" r:id="rId27"/>
    <p:sldLayoutId id="2147485161" r:id="rId28"/>
    <p:sldLayoutId id="2147485162" r:id="rId29"/>
    <p:sldLayoutId id="2147485163" r:id="rId30"/>
    <p:sldLayoutId id="2147485164" r:id="rId31"/>
    <p:sldLayoutId id="2147485165" r:id="rId32"/>
    <p:sldLayoutId id="2147485166" r:id="rId33"/>
    <p:sldLayoutId id="2147485167" r:id="rId34"/>
    <p:sldLayoutId id="2147485168" r:id="rId35"/>
    <p:sldLayoutId id="2147485169" r:id="rId36"/>
    <p:sldLayoutId id="2147485170" r:id="rId37"/>
    <p:sldLayoutId id="2147485171" r:id="rId38"/>
    <p:sldLayoutId id="2147485172" r:id="rId39"/>
    <p:sldLayoutId id="2147485173" r:id="rId40"/>
    <p:sldLayoutId id="2147485174" r:id="rId41"/>
    <p:sldLayoutId id="2147485175" r:id="rId42"/>
    <p:sldLayoutId id="2147485176" r:id="rId43"/>
    <p:sldLayoutId id="2147485177" r:id="rId44"/>
    <p:sldLayoutId id="2147485178" r:id="rId45"/>
    <p:sldLayoutId id="2147485179" r:id="rId46"/>
    <p:sldLayoutId id="2147485180" r:id="rId47"/>
    <p:sldLayoutId id="2147485181" r:id="rId48"/>
    <p:sldLayoutId id="2147485182" r:id="rId49"/>
    <p:sldLayoutId id="2147485184" r:id="rId50"/>
    <p:sldLayoutId id="2147485185" r:id="rId51"/>
    <p:sldLayoutId id="2147485186" r:id="rId52"/>
    <p:sldLayoutId id="2147485187" r:id="rId53"/>
    <p:sldLayoutId id="2147485189" r:id="rId54"/>
    <p:sldLayoutId id="2147485190" r:id="rId55"/>
    <p:sldLayoutId id="2147485191" r:id="rId56"/>
    <p:sldLayoutId id="2147485192" r:id="rId57"/>
    <p:sldLayoutId id="2147485193" r:id="rId58"/>
    <p:sldLayoutId id="2147485196" r:id="rId59"/>
    <p:sldLayoutId id="2147485197" r:id="rId60"/>
    <p:sldLayoutId id="2147485203" r:id="rId61"/>
    <p:sldLayoutId id="2147485206" r:id="rId62"/>
    <p:sldLayoutId id="2147485207" r:id="rId63"/>
    <p:sldLayoutId id="2147485208" r:id="rId64"/>
    <p:sldLayoutId id="2147485210" r:id="rId65"/>
    <p:sldLayoutId id="2147485214" r:id="rId66"/>
    <p:sldLayoutId id="2147485215" r:id="rId67"/>
  </p:sldLayoutIdLst>
  <p:transition>
    <p:fade/>
  </p:transition>
  <p:hf hdr="0" dt="0"/>
  <p:txStyles>
    <p:titleStyle>
      <a:lvl1pPr algn="l" defTabSz="1150154" rtl="0" eaLnBrk="1" latinLnBrk="0" hangingPunct="1">
        <a:spcBef>
          <a:spcPct val="0"/>
        </a:spcBef>
        <a:buNone/>
        <a:defRPr sz="2282" kern="1200">
          <a:solidFill>
            <a:schemeClr val="tx1"/>
          </a:solidFill>
          <a:latin typeface="+mj-lt"/>
          <a:ea typeface="+mj-ea"/>
          <a:cs typeface="+mj-cs"/>
        </a:defRPr>
      </a:lvl1pPr>
    </p:titleStyle>
    <p:body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p:bodyStyle>
    <p:otherStyle>
      <a:defPPr>
        <a:defRPr lang="en-US"/>
      </a:defPPr>
      <a:lvl1pPr marL="0" algn="l" defTabSz="1150154" rtl="0" eaLnBrk="1" latinLnBrk="0" hangingPunct="1">
        <a:defRPr sz="2264" kern="1200">
          <a:solidFill>
            <a:schemeClr val="tx1"/>
          </a:solidFill>
          <a:latin typeface="+mn-lt"/>
          <a:ea typeface="+mn-ea"/>
          <a:cs typeface="+mn-cs"/>
        </a:defRPr>
      </a:lvl1pPr>
      <a:lvl2pPr marL="575077" algn="l" defTabSz="1150154" rtl="0" eaLnBrk="1" latinLnBrk="0" hangingPunct="1">
        <a:defRPr sz="2264" kern="1200">
          <a:solidFill>
            <a:schemeClr val="tx1"/>
          </a:solidFill>
          <a:latin typeface="+mn-lt"/>
          <a:ea typeface="+mn-ea"/>
          <a:cs typeface="+mn-cs"/>
        </a:defRPr>
      </a:lvl2pPr>
      <a:lvl3pPr marL="1150154" algn="l" defTabSz="1150154" rtl="0" eaLnBrk="1" latinLnBrk="0" hangingPunct="1">
        <a:defRPr sz="2264" kern="1200">
          <a:solidFill>
            <a:schemeClr val="tx1"/>
          </a:solidFill>
          <a:latin typeface="+mn-lt"/>
          <a:ea typeface="+mn-ea"/>
          <a:cs typeface="+mn-cs"/>
        </a:defRPr>
      </a:lvl3pPr>
      <a:lvl4pPr marL="1725231" algn="l" defTabSz="1150154" rtl="0" eaLnBrk="1" latinLnBrk="0" hangingPunct="1">
        <a:defRPr sz="2264" kern="1200">
          <a:solidFill>
            <a:schemeClr val="tx1"/>
          </a:solidFill>
          <a:latin typeface="+mn-lt"/>
          <a:ea typeface="+mn-ea"/>
          <a:cs typeface="+mn-cs"/>
        </a:defRPr>
      </a:lvl4pPr>
      <a:lvl5pPr marL="2300309" algn="l" defTabSz="1150154" rtl="0" eaLnBrk="1" latinLnBrk="0" hangingPunct="1">
        <a:defRPr sz="2264" kern="1200">
          <a:solidFill>
            <a:schemeClr val="tx1"/>
          </a:solidFill>
          <a:latin typeface="+mn-lt"/>
          <a:ea typeface="+mn-ea"/>
          <a:cs typeface="+mn-cs"/>
        </a:defRPr>
      </a:lvl5pPr>
      <a:lvl6pPr marL="2875386" algn="l" defTabSz="1150154" rtl="0" eaLnBrk="1" latinLnBrk="0" hangingPunct="1">
        <a:defRPr sz="2264" kern="1200">
          <a:solidFill>
            <a:schemeClr val="tx1"/>
          </a:solidFill>
          <a:latin typeface="+mn-lt"/>
          <a:ea typeface="+mn-ea"/>
          <a:cs typeface="+mn-cs"/>
        </a:defRPr>
      </a:lvl6pPr>
      <a:lvl7pPr marL="3450463" algn="l" defTabSz="1150154" rtl="0" eaLnBrk="1" latinLnBrk="0" hangingPunct="1">
        <a:defRPr sz="2264" kern="1200">
          <a:solidFill>
            <a:schemeClr val="tx1"/>
          </a:solidFill>
          <a:latin typeface="+mn-lt"/>
          <a:ea typeface="+mn-ea"/>
          <a:cs typeface="+mn-cs"/>
        </a:defRPr>
      </a:lvl7pPr>
      <a:lvl8pPr marL="4025540" algn="l" defTabSz="1150154" rtl="0" eaLnBrk="1" latinLnBrk="0" hangingPunct="1">
        <a:defRPr sz="2264" kern="1200">
          <a:solidFill>
            <a:schemeClr val="tx1"/>
          </a:solidFill>
          <a:latin typeface="+mn-lt"/>
          <a:ea typeface="+mn-ea"/>
          <a:cs typeface="+mn-cs"/>
        </a:defRPr>
      </a:lvl8pPr>
      <a:lvl9pPr marL="4600616" algn="l" defTabSz="1150154" rtl="0" eaLnBrk="1" latinLnBrk="0" hangingPunct="1">
        <a:defRPr sz="22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348">
          <p15:clr>
            <a:srgbClr val="F26B43"/>
          </p15:clr>
        </p15:guide>
        <p15:guide id="3" pos="8131">
          <p15:clr>
            <a:srgbClr val="F26B43"/>
          </p15:clr>
        </p15:guide>
        <p15:guide id="4" orient="horz" pos="219">
          <p15:clr>
            <a:srgbClr val="F26B43"/>
          </p15:clr>
        </p15:guide>
        <p15:guide id="5" orient="horz" pos="115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0"/>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2" imgW="270" imgH="270" progId="TCLayout.ActiveDocument.1">
                  <p:embed/>
                </p:oleObj>
              </mc:Choice>
              <mc:Fallback>
                <p:oleObj name="think-cell Slide" r:id="rId72" imgW="270" imgH="270" progId="TCLayout.ActiveDocument.1">
                  <p:embed/>
                  <p:pic>
                    <p:nvPicPr>
                      <p:cNvPr id="4" name="Object 3" hidden="1"/>
                      <p:cNvPicPr/>
                      <p:nvPr/>
                    </p:nvPicPr>
                    <p:blipFill>
                      <a:blip r:embed="rId73"/>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46DD24C-B7DA-406C-A5F3-6D587075C149}"/>
              </a:ext>
            </a:extLst>
          </p:cNvPr>
          <p:cNvSpPr/>
          <p:nvPr userDrawn="1">
            <p:custDataLst>
              <p:tags r:id="rId71"/>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335184" y="6477000"/>
            <a:ext cx="4896560" cy="138499"/>
          </a:xfrm>
          <a:prstGeom prst="rect">
            <a:avLst/>
          </a:prstGeom>
          <a:noFill/>
        </p:spPr>
        <p:txBody>
          <a:bodyPr wrap="square" lIns="0" tIns="0" rIns="0" bIns="0" rtlCol="0">
            <a:spAutoFit/>
          </a:bodyPr>
          <a:lstStyle/>
          <a:p>
            <a:pPr marL="0" marR="0" lvl="0" indent="0" algn="r" defTabSz="9144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ERP Feasibility and Cost Benefit Analysis Report</a:t>
            </a:r>
          </a:p>
        </p:txBody>
      </p:sp>
      <p:sp>
        <p:nvSpPr>
          <p:cNvPr id="18" name="Copyright"/>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2020 Deloitte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a:t>
            </a:r>
            <a:r>
              <a:rPr lang="fr-FR" sz="900" noProof="0" dirty="0" err="1">
                <a:solidFill>
                  <a:schemeClr val="tx1"/>
                </a:solidFill>
                <a:latin typeface="Calibri" panose="020F0502020204030204" pitchFamily="34" charset="0"/>
                <a:cs typeface="Calibri" panose="020F0502020204030204" pitchFamily="34" charset="0"/>
              </a:rPr>
              <a:t>India</a:t>
            </a:r>
            <a:r>
              <a:rPr lang="fr-FR" sz="900" noProof="0" dirty="0">
                <a:solidFill>
                  <a:schemeClr val="tx1"/>
                </a:solidFill>
                <a:latin typeface="Calibri" panose="020F0502020204030204" pitchFamily="34" charset="0"/>
                <a:cs typeface="Calibri" panose="020F0502020204030204" pitchFamily="34" charset="0"/>
              </a:rPr>
              <a:t>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63577"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96250824"/>
      </p:ext>
    </p:extLst>
  </p:cSld>
  <p:clrMap bg1="lt1" tx1="dk1" bg2="lt2" tx2="dk2" accent1="accent1" accent2="accent2" accent3="accent3" accent4="accent4" accent5="accent5" accent6="accent6" hlink="hlink" folHlink="folHlink"/>
  <p:sldLayoutIdLst>
    <p:sldLayoutId id="2147485217" r:id="rId1"/>
    <p:sldLayoutId id="2147485218" r:id="rId2"/>
    <p:sldLayoutId id="2147485219" r:id="rId3"/>
    <p:sldLayoutId id="2147485220" r:id="rId4"/>
    <p:sldLayoutId id="2147485221" r:id="rId5"/>
    <p:sldLayoutId id="2147485222" r:id="rId6"/>
    <p:sldLayoutId id="2147485223" r:id="rId7"/>
    <p:sldLayoutId id="2147485224" r:id="rId8"/>
    <p:sldLayoutId id="2147485225" r:id="rId9"/>
    <p:sldLayoutId id="2147485226" r:id="rId10"/>
    <p:sldLayoutId id="2147485227" r:id="rId11"/>
    <p:sldLayoutId id="2147485228" r:id="rId12"/>
    <p:sldLayoutId id="2147485229" r:id="rId13"/>
    <p:sldLayoutId id="2147485230" r:id="rId14"/>
    <p:sldLayoutId id="2147485231" r:id="rId15"/>
    <p:sldLayoutId id="2147485232" r:id="rId16"/>
    <p:sldLayoutId id="2147485233" r:id="rId17"/>
    <p:sldLayoutId id="2147485234" r:id="rId18"/>
    <p:sldLayoutId id="2147485235" r:id="rId19"/>
    <p:sldLayoutId id="2147485236" r:id="rId20"/>
    <p:sldLayoutId id="2147485237" r:id="rId21"/>
    <p:sldLayoutId id="2147485238" r:id="rId22"/>
    <p:sldLayoutId id="2147485239" r:id="rId23"/>
    <p:sldLayoutId id="2147485240" r:id="rId24"/>
    <p:sldLayoutId id="2147485241" r:id="rId25"/>
    <p:sldLayoutId id="2147485242" r:id="rId26"/>
    <p:sldLayoutId id="2147485243" r:id="rId27"/>
    <p:sldLayoutId id="2147485244" r:id="rId28"/>
    <p:sldLayoutId id="2147485245" r:id="rId29"/>
    <p:sldLayoutId id="2147485246" r:id="rId30"/>
    <p:sldLayoutId id="2147485247" r:id="rId31"/>
    <p:sldLayoutId id="2147485248" r:id="rId32"/>
    <p:sldLayoutId id="2147485249" r:id="rId33"/>
    <p:sldLayoutId id="2147485250" r:id="rId34"/>
    <p:sldLayoutId id="2147485251" r:id="rId35"/>
    <p:sldLayoutId id="2147485252" r:id="rId36"/>
    <p:sldLayoutId id="2147485253" r:id="rId37"/>
    <p:sldLayoutId id="2147485254" r:id="rId38"/>
    <p:sldLayoutId id="2147485255" r:id="rId39"/>
    <p:sldLayoutId id="2147485256" r:id="rId40"/>
    <p:sldLayoutId id="2147485257" r:id="rId41"/>
    <p:sldLayoutId id="2147485258" r:id="rId42"/>
    <p:sldLayoutId id="2147485259" r:id="rId43"/>
    <p:sldLayoutId id="2147485260" r:id="rId44"/>
    <p:sldLayoutId id="2147485261" r:id="rId45"/>
    <p:sldLayoutId id="2147485262" r:id="rId46"/>
    <p:sldLayoutId id="2147485263" r:id="rId47"/>
    <p:sldLayoutId id="2147485264" r:id="rId48"/>
    <p:sldLayoutId id="2147485265" r:id="rId49"/>
    <p:sldLayoutId id="2147485266" r:id="rId50"/>
    <p:sldLayoutId id="2147485267" r:id="rId51"/>
    <p:sldLayoutId id="2147485268" r:id="rId52"/>
    <p:sldLayoutId id="2147485269" r:id="rId53"/>
    <p:sldLayoutId id="2147485270" r:id="rId54"/>
    <p:sldLayoutId id="2147485271" r:id="rId55"/>
    <p:sldLayoutId id="2147485272" r:id="rId56"/>
    <p:sldLayoutId id="2147485273" r:id="rId57"/>
    <p:sldLayoutId id="2147485274" r:id="rId58"/>
    <p:sldLayoutId id="2147485275" r:id="rId59"/>
    <p:sldLayoutId id="2147485276" r:id="rId60"/>
    <p:sldLayoutId id="2147485277" r:id="rId61"/>
    <p:sldLayoutId id="2147485278" r:id="rId62"/>
    <p:sldLayoutId id="2147485279" r:id="rId63"/>
    <p:sldLayoutId id="2147485280" r:id="rId64"/>
    <p:sldLayoutId id="2147485281" r:id="rId65"/>
    <p:sldLayoutId id="2147485282" r:id="rId66"/>
    <p:sldLayoutId id="2147485283" r:id="rId67"/>
    <p:sldLayoutId id="2147485284" r:id="rId68"/>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2"/>
            </p:custDataLst>
            <p:extLst>
              <p:ext uri="{D42A27DB-BD31-4B8C-83A1-F6EECF244321}">
                <p14:modId xmlns:p14="http://schemas.microsoft.com/office/powerpoint/2010/main" val="113234165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4" imgW="270" imgH="270" progId="TCLayout.ActiveDocument.1">
                  <p:embed/>
                </p:oleObj>
              </mc:Choice>
              <mc:Fallback>
                <p:oleObj name="think-cell Slide" r:id="rId74" imgW="270" imgH="270" progId="TCLayout.ActiveDocument.1">
                  <p:embed/>
                  <p:pic>
                    <p:nvPicPr>
                      <p:cNvPr id="4" name="Object 3" hidden="1"/>
                      <p:cNvPicPr/>
                      <p:nvPr/>
                    </p:nvPicPr>
                    <p:blipFill>
                      <a:blip r:embed="rId75"/>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77A6D44-03D8-4B5C-A44F-DFA19D29D686}"/>
              </a:ext>
            </a:extLst>
          </p:cNvPr>
          <p:cNvSpPr/>
          <p:nvPr userDrawn="1">
            <p:custDataLst>
              <p:tags r:id="rId73"/>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335184" y="6477000"/>
            <a:ext cx="4896560" cy="2769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Pct val="100000"/>
              <a:buFont typeface="Arial"/>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ERP Feasibility and Cost Benefit Analysis Report</a:t>
            </a:r>
          </a:p>
          <a:p>
            <a:pPr marL="0" indent="0" algn="r">
              <a:spcBef>
                <a:spcPts val="0"/>
              </a:spcBef>
              <a:buSzPct val="100000"/>
              <a:buFont typeface="Arial"/>
              <a:buNone/>
            </a:pPr>
            <a:endParaRPr lang="en-US" sz="900" dirty="0"/>
          </a:p>
        </p:txBody>
      </p:sp>
      <p:sp>
        <p:nvSpPr>
          <p:cNvPr id="18" name="Copyright"/>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2020 Deloitte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a:t>
            </a:r>
            <a:r>
              <a:rPr lang="fr-FR" sz="900" noProof="0" dirty="0" err="1">
                <a:solidFill>
                  <a:schemeClr val="tx1"/>
                </a:solidFill>
                <a:latin typeface="Calibri" panose="020F0502020204030204" pitchFamily="34" charset="0"/>
                <a:cs typeface="Calibri" panose="020F0502020204030204" pitchFamily="34" charset="0"/>
              </a:rPr>
              <a:t>India</a:t>
            </a:r>
            <a:r>
              <a:rPr lang="fr-FR" sz="900" noProof="0" dirty="0">
                <a:solidFill>
                  <a:schemeClr val="tx1"/>
                </a:solidFill>
                <a:latin typeface="Calibri" panose="020F0502020204030204" pitchFamily="34" charset="0"/>
                <a:cs typeface="Calibri" panose="020F0502020204030204" pitchFamily="34" charset="0"/>
              </a:rPr>
              <a:t>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63577"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1759691238"/>
      </p:ext>
    </p:extLst>
  </p:cSld>
  <p:clrMap bg1="lt1" tx1="dk1" bg2="lt2" tx2="dk2" accent1="accent1" accent2="accent2" accent3="accent3" accent4="accent4" accent5="accent5" accent6="accent6" hlink="hlink" folHlink="folHlink"/>
  <p:sldLayoutIdLst>
    <p:sldLayoutId id="2147485286" r:id="rId1"/>
    <p:sldLayoutId id="2147485287" r:id="rId2"/>
    <p:sldLayoutId id="2147485288" r:id="rId3"/>
    <p:sldLayoutId id="2147485289" r:id="rId4"/>
    <p:sldLayoutId id="2147485290" r:id="rId5"/>
    <p:sldLayoutId id="2147485291" r:id="rId6"/>
    <p:sldLayoutId id="2147485292" r:id="rId7"/>
    <p:sldLayoutId id="2147485293" r:id="rId8"/>
    <p:sldLayoutId id="2147485294" r:id="rId9"/>
    <p:sldLayoutId id="2147485295" r:id="rId10"/>
    <p:sldLayoutId id="2147485296" r:id="rId11"/>
    <p:sldLayoutId id="2147485297" r:id="rId12"/>
    <p:sldLayoutId id="2147485298" r:id="rId13"/>
    <p:sldLayoutId id="2147485299" r:id="rId14"/>
    <p:sldLayoutId id="2147485300" r:id="rId15"/>
    <p:sldLayoutId id="2147485301" r:id="rId16"/>
    <p:sldLayoutId id="2147485302" r:id="rId17"/>
    <p:sldLayoutId id="2147485303" r:id="rId18"/>
    <p:sldLayoutId id="2147485304" r:id="rId19"/>
    <p:sldLayoutId id="2147485305" r:id="rId20"/>
    <p:sldLayoutId id="2147485306" r:id="rId21"/>
    <p:sldLayoutId id="2147485307" r:id="rId22"/>
    <p:sldLayoutId id="2147485308" r:id="rId23"/>
    <p:sldLayoutId id="2147485309" r:id="rId24"/>
    <p:sldLayoutId id="2147485310" r:id="rId25"/>
    <p:sldLayoutId id="2147485311" r:id="rId26"/>
    <p:sldLayoutId id="2147485312" r:id="rId27"/>
    <p:sldLayoutId id="2147485313" r:id="rId28"/>
    <p:sldLayoutId id="2147485314" r:id="rId29"/>
    <p:sldLayoutId id="2147485315" r:id="rId30"/>
    <p:sldLayoutId id="2147485316" r:id="rId31"/>
    <p:sldLayoutId id="2147485317" r:id="rId32"/>
    <p:sldLayoutId id="2147485318" r:id="rId33"/>
    <p:sldLayoutId id="2147485319" r:id="rId34"/>
    <p:sldLayoutId id="2147485320" r:id="rId35"/>
    <p:sldLayoutId id="2147485321" r:id="rId36"/>
    <p:sldLayoutId id="2147485322" r:id="rId37"/>
    <p:sldLayoutId id="2147485323" r:id="rId38"/>
    <p:sldLayoutId id="2147485324" r:id="rId39"/>
    <p:sldLayoutId id="2147485325" r:id="rId40"/>
    <p:sldLayoutId id="2147485326" r:id="rId41"/>
    <p:sldLayoutId id="2147485327" r:id="rId42"/>
    <p:sldLayoutId id="2147485328" r:id="rId43"/>
    <p:sldLayoutId id="2147485329" r:id="rId44"/>
    <p:sldLayoutId id="2147485330" r:id="rId45"/>
    <p:sldLayoutId id="2147485331" r:id="rId46"/>
    <p:sldLayoutId id="2147485332" r:id="rId47"/>
    <p:sldLayoutId id="2147485333" r:id="rId48"/>
    <p:sldLayoutId id="2147485334" r:id="rId49"/>
    <p:sldLayoutId id="2147485335" r:id="rId50"/>
    <p:sldLayoutId id="2147485336" r:id="rId51"/>
    <p:sldLayoutId id="2147485337" r:id="rId52"/>
    <p:sldLayoutId id="2147485338" r:id="rId53"/>
    <p:sldLayoutId id="2147485339" r:id="rId54"/>
    <p:sldLayoutId id="2147485340" r:id="rId55"/>
    <p:sldLayoutId id="2147485341" r:id="rId56"/>
    <p:sldLayoutId id="2147485342" r:id="rId57"/>
    <p:sldLayoutId id="2147485343" r:id="rId58"/>
    <p:sldLayoutId id="2147485344" r:id="rId59"/>
    <p:sldLayoutId id="2147485345" r:id="rId60"/>
    <p:sldLayoutId id="2147485346" r:id="rId61"/>
    <p:sldLayoutId id="2147485347" r:id="rId62"/>
    <p:sldLayoutId id="2147485348" r:id="rId63"/>
    <p:sldLayoutId id="2147485349" r:id="rId64"/>
    <p:sldLayoutId id="2147485350" r:id="rId65"/>
    <p:sldLayoutId id="2147485351" r:id="rId66"/>
    <p:sldLayoutId id="2147485352" r:id="rId67"/>
    <p:sldLayoutId id="2147485353" r:id="rId68"/>
    <p:sldLayoutId id="2147485354" r:id="rId69"/>
    <p:sldLayoutId id="2147485355" r:id="rId70"/>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1"/>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3" imgW="270" imgH="270" progId="TCLayout.ActiveDocument.1">
                  <p:embed/>
                </p:oleObj>
              </mc:Choice>
              <mc:Fallback>
                <p:oleObj name="think-cell Slide" r:id="rId73" imgW="270" imgH="270" progId="TCLayout.ActiveDocument.1">
                  <p:embed/>
                  <p:pic>
                    <p:nvPicPr>
                      <p:cNvPr id="4" name="Object 3" hidden="1"/>
                      <p:cNvPicPr/>
                      <p:nvPr/>
                    </p:nvPicPr>
                    <p:blipFill>
                      <a:blip r:embed="rId74"/>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846DD24C-B7DA-406C-A5F3-6D587075C149}"/>
              </a:ext>
            </a:extLst>
          </p:cNvPr>
          <p:cNvSpPr/>
          <p:nvPr userDrawn="1">
            <p:custDataLst>
              <p:tags r:id="rId7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dirty="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335184" y="6477000"/>
            <a:ext cx="4896560" cy="138499"/>
          </a:xfrm>
          <a:prstGeom prst="rect">
            <a:avLst/>
          </a:prstGeom>
          <a:noFill/>
        </p:spPr>
        <p:txBody>
          <a:bodyPr wrap="square" lIns="0" tIns="0" rIns="0" bIns="0" rtlCol="0">
            <a:spAutoFit/>
          </a:bodyPr>
          <a:lstStyle/>
          <a:p>
            <a:pPr marL="0" marR="0" lvl="0" indent="0" algn="r" defTabSz="9144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ERP Feasibility and Cost Benefit Analysis Report</a:t>
            </a:r>
          </a:p>
        </p:txBody>
      </p:sp>
      <p:sp>
        <p:nvSpPr>
          <p:cNvPr id="18" name="Copyright"/>
          <p:cNvSpPr txBox="1"/>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tx1"/>
                </a:solidFill>
                <a:latin typeface="Calibri" panose="020F0502020204030204" pitchFamily="34" charset="0"/>
                <a:cs typeface="Calibri" panose="020F0502020204030204" pitchFamily="34" charset="0"/>
              </a:rPr>
              <a:t>© 2020 Deloitte Touche </a:t>
            </a:r>
            <a:r>
              <a:rPr lang="fr-FR" sz="900" noProof="0" dirty="0" err="1">
                <a:solidFill>
                  <a:schemeClr val="tx1"/>
                </a:solidFill>
                <a:latin typeface="Calibri" panose="020F0502020204030204" pitchFamily="34" charset="0"/>
                <a:cs typeface="Calibri" panose="020F0502020204030204" pitchFamily="34" charset="0"/>
              </a:rPr>
              <a:t>Tohmatsu</a:t>
            </a:r>
            <a:r>
              <a:rPr lang="fr-FR" sz="900" noProof="0" dirty="0">
                <a:solidFill>
                  <a:schemeClr val="tx1"/>
                </a:solidFill>
                <a:latin typeface="Calibri" panose="020F0502020204030204" pitchFamily="34" charset="0"/>
                <a:cs typeface="Calibri" panose="020F0502020204030204" pitchFamily="34" charset="0"/>
              </a:rPr>
              <a:t> </a:t>
            </a:r>
            <a:r>
              <a:rPr lang="fr-FR" sz="900" noProof="0" dirty="0" err="1">
                <a:solidFill>
                  <a:schemeClr val="tx1"/>
                </a:solidFill>
                <a:latin typeface="Calibri" panose="020F0502020204030204" pitchFamily="34" charset="0"/>
                <a:cs typeface="Calibri" panose="020F0502020204030204" pitchFamily="34" charset="0"/>
              </a:rPr>
              <a:t>India</a:t>
            </a:r>
            <a:r>
              <a:rPr lang="fr-FR" sz="900" noProof="0" dirty="0">
                <a:solidFill>
                  <a:schemeClr val="tx1"/>
                </a:solidFill>
                <a:latin typeface="Calibri" panose="020F0502020204030204" pitchFamily="34" charset="0"/>
                <a:cs typeface="Calibri" panose="020F0502020204030204" pitchFamily="34" charset="0"/>
              </a:rPr>
              <a:t>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63577"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dirty="0"/>
          </a:p>
        </p:txBody>
      </p:sp>
    </p:spTree>
    <p:extLst>
      <p:ext uri="{BB962C8B-B14F-4D97-AF65-F5344CB8AC3E}">
        <p14:creationId xmlns:p14="http://schemas.microsoft.com/office/powerpoint/2010/main" val="4034352334"/>
      </p:ext>
    </p:extLst>
  </p:cSld>
  <p:clrMap bg1="lt1" tx1="dk1" bg2="lt2" tx2="dk2" accent1="accent1" accent2="accent2" accent3="accent3" accent4="accent4" accent5="accent5" accent6="accent6" hlink="hlink" folHlink="folHlink"/>
  <p:sldLayoutIdLst>
    <p:sldLayoutId id="2147485357" r:id="rId1"/>
    <p:sldLayoutId id="2147485358" r:id="rId2"/>
    <p:sldLayoutId id="2147485359" r:id="rId3"/>
    <p:sldLayoutId id="2147485360" r:id="rId4"/>
    <p:sldLayoutId id="2147485361" r:id="rId5"/>
    <p:sldLayoutId id="2147485362" r:id="rId6"/>
    <p:sldLayoutId id="2147485363" r:id="rId7"/>
    <p:sldLayoutId id="2147485364" r:id="rId8"/>
    <p:sldLayoutId id="2147485365" r:id="rId9"/>
    <p:sldLayoutId id="2147485366" r:id="rId10"/>
    <p:sldLayoutId id="2147485367" r:id="rId11"/>
    <p:sldLayoutId id="2147485368" r:id="rId12"/>
    <p:sldLayoutId id="2147485369" r:id="rId13"/>
    <p:sldLayoutId id="2147485370" r:id="rId14"/>
    <p:sldLayoutId id="2147485371" r:id="rId15"/>
    <p:sldLayoutId id="2147485372" r:id="rId16"/>
    <p:sldLayoutId id="2147485373" r:id="rId17"/>
    <p:sldLayoutId id="2147485374" r:id="rId18"/>
    <p:sldLayoutId id="2147485375" r:id="rId19"/>
    <p:sldLayoutId id="2147485376" r:id="rId20"/>
    <p:sldLayoutId id="2147485377" r:id="rId21"/>
    <p:sldLayoutId id="2147485378" r:id="rId22"/>
    <p:sldLayoutId id="2147485379" r:id="rId23"/>
    <p:sldLayoutId id="2147485380" r:id="rId24"/>
    <p:sldLayoutId id="2147485381" r:id="rId25"/>
    <p:sldLayoutId id="2147485382" r:id="rId26"/>
    <p:sldLayoutId id="2147485383" r:id="rId27"/>
    <p:sldLayoutId id="2147485384" r:id="rId28"/>
    <p:sldLayoutId id="2147485385" r:id="rId29"/>
    <p:sldLayoutId id="2147485386" r:id="rId30"/>
    <p:sldLayoutId id="2147485387" r:id="rId31"/>
    <p:sldLayoutId id="2147485388" r:id="rId32"/>
    <p:sldLayoutId id="2147485389" r:id="rId33"/>
    <p:sldLayoutId id="2147485390" r:id="rId34"/>
    <p:sldLayoutId id="2147485391" r:id="rId35"/>
    <p:sldLayoutId id="2147485392" r:id="rId36"/>
    <p:sldLayoutId id="2147485393" r:id="rId37"/>
    <p:sldLayoutId id="2147485394" r:id="rId38"/>
    <p:sldLayoutId id="2147485395" r:id="rId39"/>
    <p:sldLayoutId id="2147485396" r:id="rId40"/>
    <p:sldLayoutId id="2147485397" r:id="rId41"/>
    <p:sldLayoutId id="2147485398" r:id="rId42"/>
    <p:sldLayoutId id="2147485399" r:id="rId43"/>
    <p:sldLayoutId id="2147485400" r:id="rId44"/>
    <p:sldLayoutId id="2147485401" r:id="rId45"/>
    <p:sldLayoutId id="2147485402" r:id="rId46"/>
    <p:sldLayoutId id="2147485403" r:id="rId47"/>
    <p:sldLayoutId id="2147485404" r:id="rId48"/>
    <p:sldLayoutId id="2147485405" r:id="rId49"/>
    <p:sldLayoutId id="2147485406" r:id="rId50"/>
    <p:sldLayoutId id="2147485407" r:id="rId51"/>
    <p:sldLayoutId id="2147485408" r:id="rId52"/>
    <p:sldLayoutId id="2147485409" r:id="rId53"/>
    <p:sldLayoutId id="2147485410" r:id="rId54"/>
    <p:sldLayoutId id="2147485411" r:id="rId55"/>
    <p:sldLayoutId id="2147485412" r:id="rId56"/>
    <p:sldLayoutId id="2147485413" r:id="rId57"/>
    <p:sldLayoutId id="2147485414" r:id="rId58"/>
    <p:sldLayoutId id="2147485415" r:id="rId59"/>
    <p:sldLayoutId id="2147485416" r:id="rId60"/>
    <p:sldLayoutId id="2147485417" r:id="rId61"/>
    <p:sldLayoutId id="2147485418" r:id="rId62"/>
    <p:sldLayoutId id="2147485419" r:id="rId63"/>
    <p:sldLayoutId id="2147485420" r:id="rId64"/>
    <p:sldLayoutId id="2147485421" r:id="rId65"/>
    <p:sldLayoutId id="2147485422" r:id="rId66"/>
    <p:sldLayoutId id="2147485423" r:id="rId67"/>
    <p:sldLayoutId id="2147485424" r:id="rId68"/>
    <p:sldLayoutId id="2147485425" r:id="rId69"/>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07.xml"/><Relationship Id="rId1" Type="http://schemas.openxmlformats.org/officeDocument/2006/relationships/tags" Target="../tags/tag82.xml"/><Relationship Id="rId5" Type="http://schemas.openxmlformats.org/officeDocument/2006/relationships/image" Target="../media/image6.emf"/><Relationship Id="rId4" Type="http://schemas.openxmlformats.org/officeDocument/2006/relationships/oleObject" Target="../embeddings/oleObject4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83.xml"/><Relationship Id="rId5" Type="http://schemas.openxmlformats.org/officeDocument/2006/relationships/image" Target="../media/image7.emf"/><Relationship Id="rId4" Type="http://schemas.openxmlformats.org/officeDocument/2006/relationships/oleObject" Target="../embeddings/oleObject42.bin"/></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5.xml"/><Relationship Id="rId1" Type="http://schemas.openxmlformats.org/officeDocument/2006/relationships/tags" Target="../tags/tag84.xml"/><Relationship Id="rId5" Type="http://schemas.openxmlformats.org/officeDocument/2006/relationships/image" Target="../media/image6.emf"/><Relationship Id="rId4" Type="http://schemas.openxmlformats.org/officeDocument/2006/relationships/oleObject" Target="../embeddings/oleObject43.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137.xml"/><Relationship Id="rId1" Type="http://schemas.openxmlformats.org/officeDocument/2006/relationships/tags" Target="../tags/tag85.x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tags" Target="../tags/tag98.xml"/><Relationship Id="rId18" Type="http://schemas.openxmlformats.org/officeDocument/2006/relationships/chart" Target="../charts/chart2.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tags" Target="../tags/tag97.xml"/><Relationship Id="rId17" Type="http://schemas.openxmlformats.org/officeDocument/2006/relationships/chart" Target="../charts/chart1.xml"/><Relationship Id="rId2" Type="http://schemas.openxmlformats.org/officeDocument/2006/relationships/tags" Target="../tags/tag87.xml"/><Relationship Id="rId16" Type="http://schemas.openxmlformats.org/officeDocument/2006/relationships/image" Target="../media/image7.emf"/><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tags" Target="../tags/tag96.xml"/><Relationship Id="rId5" Type="http://schemas.openxmlformats.org/officeDocument/2006/relationships/tags" Target="../tags/tag90.xml"/><Relationship Id="rId15" Type="http://schemas.openxmlformats.org/officeDocument/2006/relationships/oleObject" Target="../embeddings/oleObject45.bin"/><Relationship Id="rId10" Type="http://schemas.openxmlformats.org/officeDocument/2006/relationships/tags" Target="../tags/tag95.xml"/><Relationship Id="rId4" Type="http://schemas.openxmlformats.org/officeDocument/2006/relationships/tags" Target="../tags/tag89.xml"/><Relationship Id="rId9" Type="http://schemas.openxmlformats.org/officeDocument/2006/relationships/tags" Target="../tags/tag94.xml"/><Relationship Id="rId14" Type="http://schemas.openxmlformats.org/officeDocument/2006/relationships/slideLayout" Target="../slideLayouts/slideLayout137.xml"/></Relationships>
</file>

<file path=ppt/slides/_rels/slide6.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tags" Target="../tags/tag111.xml"/><Relationship Id="rId18" Type="http://schemas.openxmlformats.org/officeDocument/2006/relationships/slide" Target="slide24.xml"/><Relationship Id="rId3" Type="http://schemas.openxmlformats.org/officeDocument/2006/relationships/tags" Target="../tags/tag101.xml"/><Relationship Id="rId7" Type="http://schemas.openxmlformats.org/officeDocument/2006/relationships/tags" Target="../tags/tag105.xml"/><Relationship Id="rId12" Type="http://schemas.openxmlformats.org/officeDocument/2006/relationships/tags" Target="../tags/tag110.xml"/><Relationship Id="rId17" Type="http://schemas.openxmlformats.org/officeDocument/2006/relationships/image" Target="../media/image7.emf"/><Relationship Id="rId2" Type="http://schemas.openxmlformats.org/officeDocument/2006/relationships/tags" Target="../tags/tag100.xml"/><Relationship Id="rId16" Type="http://schemas.openxmlformats.org/officeDocument/2006/relationships/oleObject" Target="../embeddings/oleObject46.bin"/><Relationship Id="rId20" Type="http://schemas.openxmlformats.org/officeDocument/2006/relationships/chart" Target="../charts/chart4.xml"/><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5" Type="http://schemas.openxmlformats.org/officeDocument/2006/relationships/tags" Target="../tags/tag103.xml"/><Relationship Id="rId15" Type="http://schemas.openxmlformats.org/officeDocument/2006/relationships/notesSlide" Target="../notesSlides/notesSlide2.xml"/><Relationship Id="rId10" Type="http://schemas.openxmlformats.org/officeDocument/2006/relationships/tags" Target="../tags/tag108.xml"/><Relationship Id="rId19" Type="http://schemas.openxmlformats.org/officeDocument/2006/relationships/chart" Target="../charts/chart3.xml"/><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slideLayout" Target="../slideLayouts/slideLayout137.xml"/></Relationships>
</file>

<file path=ppt/slides/_rels/slide7.xml.rels><?xml version="1.0" encoding="UTF-8" standalone="yes"?>
<Relationships xmlns="http://schemas.openxmlformats.org/package/2006/relationships"><Relationship Id="rId8" Type="http://schemas.openxmlformats.org/officeDocument/2006/relationships/tags" Target="../tags/tag119.xml"/><Relationship Id="rId13" Type="http://schemas.openxmlformats.org/officeDocument/2006/relationships/tags" Target="../tags/tag124.xml"/><Relationship Id="rId18" Type="http://schemas.openxmlformats.org/officeDocument/2006/relationships/tags" Target="../tags/tag129.xml"/><Relationship Id="rId26" Type="http://schemas.openxmlformats.org/officeDocument/2006/relationships/chart" Target="../charts/chart5.xml"/><Relationship Id="rId3" Type="http://schemas.openxmlformats.org/officeDocument/2006/relationships/tags" Target="../tags/tag114.xml"/><Relationship Id="rId21" Type="http://schemas.openxmlformats.org/officeDocument/2006/relationships/tags" Target="../tags/tag132.xml"/><Relationship Id="rId7" Type="http://schemas.openxmlformats.org/officeDocument/2006/relationships/tags" Target="../tags/tag118.xml"/><Relationship Id="rId12" Type="http://schemas.openxmlformats.org/officeDocument/2006/relationships/tags" Target="../tags/tag123.xml"/><Relationship Id="rId17" Type="http://schemas.openxmlformats.org/officeDocument/2006/relationships/tags" Target="../tags/tag128.xml"/><Relationship Id="rId25" Type="http://schemas.openxmlformats.org/officeDocument/2006/relationships/slide" Target="slide25.xml"/><Relationship Id="rId2" Type="http://schemas.openxmlformats.org/officeDocument/2006/relationships/tags" Target="../tags/tag113.xml"/><Relationship Id="rId16" Type="http://schemas.openxmlformats.org/officeDocument/2006/relationships/tags" Target="../tags/tag127.xml"/><Relationship Id="rId20" Type="http://schemas.openxmlformats.org/officeDocument/2006/relationships/tags" Target="../tags/tag131.xml"/><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tags" Target="../tags/tag122.xml"/><Relationship Id="rId24" Type="http://schemas.openxmlformats.org/officeDocument/2006/relationships/image" Target="../media/image7.emf"/><Relationship Id="rId5" Type="http://schemas.openxmlformats.org/officeDocument/2006/relationships/tags" Target="../tags/tag116.xml"/><Relationship Id="rId15" Type="http://schemas.openxmlformats.org/officeDocument/2006/relationships/tags" Target="../tags/tag126.xml"/><Relationship Id="rId23" Type="http://schemas.openxmlformats.org/officeDocument/2006/relationships/oleObject" Target="../embeddings/oleObject47.bin"/><Relationship Id="rId10" Type="http://schemas.openxmlformats.org/officeDocument/2006/relationships/tags" Target="../tags/tag121.xml"/><Relationship Id="rId19" Type="http://schemas.openxmlformats.org/officeDocument/2006/relationships/tags" Target="../tags/tag130.xml"/><Relationship Id="rId4" Type="http://schemas.openxmlformats.org/officeDocument/2006/relationships/tags" Target="../tags/tag115.xml"/><Relationship Id="rId9" Type="http://schemas.openxmlformats.org/officeDocument/2006/relationships/tags" Target="../tags/tag120.xml"/><Relationship Id="rId14" Type="http://schemas.openxmlformats.org/officeDocument/2006/relationships/tags" Target="../tags/tag125.xml"/><Relationship Id="rId22" Type="http://schemas.openxmlformats.org/officeDocument/2006/relationships/slideLayout" Target="../slideLayouts/slideLayout137.xml"/><Relationship Id="rId27" Type="http://schemas.openxmlformats.org/officeDocument/2006/relationships/chart" Target="../charts/chart6.xml"/></Relationships>
</file>

<file path=ppt/slides/_rels/slide8.xml.rels><?xml version="1.0" encoding="UTF-8" standalone="yes"?>
<Relationships xmlns="http://schemas.openxmlformats.org/package/2006/relationships"><Relationship Id="rId8" Type="http://schemas.openxmlformats.org/officeDocument/2006/relationships/tags" Target="../tags/tag140.xml"/><Relationship Id="rId13" Type="http://schemas.openxmlformats.org/officeDocument/2006/relationships/tags" Target="../tags/tag145.xml"/><Relationship Id="rId18" Type="http://schemas.openxmlformats.org/officeDocument/2006/relationships/tags" Target="../tags/tag150.xml"/><Relationship Id="rId26" Type="http://schemas.openxmlformats.org/officeDocument/2006/relationships/slide" Target="slide25.xml"/><Relationship Id="rId3" Type="http://schemas.openxmlformats.org/officeDocument/2006/relationships/tags" Target="../tags/tag135.xml"/><Relationship Id="rId21" Type="http://schemas.openxmlformats.org/officeDocument/2006/relationships/tags" Target="../tags/tag153.xml"/><Relationship Id="rId7" Type="http://schemas.openxmlformats.org/officeDocument/2006/relationships/tags" Target="../tags/tag139.xml"/><Relationship Id="rId12" Type="http://schemas.openxmlformats.org/officeDocument/2006/relationships/tags" Target="../tags/tag144.xml"/><Relationship Id="rId17" Type="http://schemas.openxmlformats.org/officeDocument/2006/relationships/tags" Target="../tags/tag149.xml"/><Relationship Id="rId25" Type="http://schemas.openxmlformats.org/officeDocument/2006/relationships/image" Target="../media/image7.emf"/><Relationship Id="rId2" Type="http://schemas.openxmlformats.org/officeDocument/2006/relationships/tags" Target="../tags/tag134.xml"/><Relationship Id="rId16" Type="http://schemas.openxmlformats.org/officeDocument/2006/relationships/tags" Target="../tags/tag148.xml"/><Relationship Id="rId20" Type="http://schemas.openxmlformats.org/officeDocument/2006/relationships/tags" Target="../tags/tag152.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tags" Target="../tags/tag143.xml"/><Relationship Id="rId24" Type="http://schemas.openxmlformats.org/officeDocument/2006/relationships/oleObject" Target="../embeddings/oleObject48.bin"/><Relationship Id="rId5" Type="http://schemas.openxmlformats.org/officeDocument/2006/relationships/tags" Target="../tags/tag137.xml"/><Relationship Id="rId15" Type="http://schemas.openxmlformats.org/officeDocument/2006/relationships/tags" Target="../tags/tag147.xml"/><Relationship Id="rId23" Type="http://schemas.openxmlformats.org/officeDocument/2006/relationships/notesSlide" Target="../notesSlides/notesSlide3.xml"/><Relationship Id="rId28" Type="http://schemas.openxmlformats.org/officeDocument/2006/relationships/chart" Target="../charts/chart8.xml"/><Relationship Id="rId10" Type="http://schemas.openxmlformats.org/officeDocument/2006/relationships/tags" Target="../tags/tag142.xml"/><Relationship Id="rId19" Type="http://schemas.openxmlformats.org/officeDocument/2006/relationships/tags" Target="../tags/tag151.xml"/><Relationship Id="rId4" Type="http://schemas.openxmlformats.org/officeDocument/2006/relationships/tags" Target="../tags/tag136.xml"/><Relationship Id="rId9" Type="http://schemas.openxmlformats.org/officeDocument/2006/relationships/tags" Target="../tags/tag141.xml"/><Relationship Id="rId14" Type="http://schemas.openxmlformats.org/officeDocument/2006/relationships/tags" Target="../tags/tag146.xml"/><Relationship Id="rId22" Type="http://schemas.openxmlformats.org/officeDocument/2006/relationships/slideLayout" Target="../slideLayouts/slideLayout137.xml"/><Relationship Id="rId27" Type="http://schemas.openxmlformats.org/officeDocument/2006/relationships/chart" Target="../charts/chart7.xml"/></Relationships>
</file>

<file path=ppt/slides/_rels/slide9.xml.rels><?xml version="1.0" encoding="UTF-8" standalone="yes"?>
<Relationships xmlns="http://schemas.openxmlformats.org/package/2006/relationships"><Relationship Id="rId26" Type="http://schemas.openxmlformats.org/officeDocument/2006/relationships/tags" Target="../tags/tag179.xml"/><Relationship Id="rId21" Type="http://schemas.openxmlformats.org/officeDocument/2006/relationships/tags" Target="../tags/tag174.xml"/><Relationship Id="rId42" Type="http://schemas.openxmlformats.org/officeDocument/2006/relationships/tags" Target="../tags/tag195.xml"/><Relationship Id="rId47" Type="http://schemas.openxmlformats.org/officeDocument/2006/relationships/tags" Target="../tags/tag200.xml"/><Relationship Id="rId63" Type="http://schemas.openxmlformats.org/officeDocument/2006/relationships/tags" Target="../tags/tag216.xml"/><Relationship Id="rId68" Type="http://schemas.openxmlformats.org/officeDocument/2006/relationships/tags" Target="../tags/tag221.xml"/><Relationship Id="rId84" Type="http://schemas.openxmlformats.org/officeDocument/2006/relationships/chart" Target="../charts/chart11.xml"/><Relationship Id="rId16" Type="http://schemas.openxmlformats.org/officeDocument/2006/relationships/tags" Target="../tags/tag169.xml"/><Relationship Id="rId11" Type="http://schemas.openxmlformats.org/officeDocument/2006/relationships/tags" Target="../tags/tag164.xml"/><Relationship Id="rId32" Type="http://schemas.openxmlformats.org/officeDocument/2006/relationships/tags" Target="../tags/tag185.xml"/><Relationship Id="rId37" Type="http://schemas.openxmlformats.org/officeDocument/2006/relationships/tags" Target="../tags/tag190.xml"/><Relationship Id="rId53" Type="http://schemas.openxmlformats.org/officeDocument/2006/relationships/tags" Target="../tags/tag206.xml"/><Relationship Id="rId58" Type="http://schemas.openxmlformats.org/officeDocument/2006/relationships/tags" Target="../tags/tag211.xml"/><Relationship Id="rId74" Type="http://schemas.openxmlformats.org/officeDocument/2006/relationships/tags" Target="../tags/tag227.xml"/><Relationship Id="rId79" Type="http://schemas.openxmlformats.org/officeDocument/2006/relationships/slideLayout" Target="../slideLayouts/slideLayout137.xml"/><Relationship Id="rId5" Type="http://schemas.openxmlformats.org/officeDocument/2006/relationships/tags" Target="../tags/tag158.xml"/><Relationship Id="rId19" Type="http://schemas.openxmlformats.org/officeDocument/2006/relationships/tags" Target="../tags/tag172.xml"/><Relationship Id="rId14" Type="http://schemas.openxmlformats.org/officeDocument/2006/relationships/tags" Target="../tags/tag167.xml"/><Relationship Id="rId22" Type="http://schemas.openxmlformats.org/officeDocument/2006/relationships/tags" Target="../tags/tag175.xml"/><Relationship Id="rId27" Type="http://schemas.openxmlformats.org/officeDocument/2006/relationships/tags" Target="../tags/tag180.xml"/><Relationship Id="rId30" Type="http://schemas.openxmlformats.org/officeDocument/2006/relationships/tags" Target="../tags/tag183.xml"/><Relationship Id="rId35" Type="http://schemas.openxmlformats.org/officeDocument/2006/relationships/tags" Target="../tags/tag188.xml"/><Relationship Id="rId43" Type="http://schemas.openxmlformats.org/officeDocument/2006/relationships/tags" Target="../tags/tag196.xml"/><Relationship Id="rId48" Type="http://schemas.openxmlformats.org/officeDocument/2006/relationships/tags" Target="../tags/tag201.xml"/><Relationship Id="rId56" Type="http://schemas.openxmlformats.org/officeDocument/2006/relationships/tags" Target="../tags/tag209.xml"/><Relationship Id="rId64" Type="http://schemas.openxmlformats.org/officeDocument/2006/relationships/tags" Target="../tags/tag217.xml"/><Relationship Id="rId69" Type="http://schemas.openxmlformats.org/officeDocument/2006/relationships/tags" Target="../tags/tag222.xml"/><Relationship Id="rId77" Type="http://schemas.openxmlformats.org/officeDocument/2006/relationships/tags" Target="../tags/tag230.xml"/><Relationship Id="rId8" Type="http://schemas.openxmlformats.org/officeDocument/2006/relationships/tags" Target="../tags/tag161.xml"/><Relationship Id="rId51" Type="http://schemas.openxmlformats.org/officeDocument/2006/relationships/tags" Target="../tags/tag204.xml"/><Relationship Id="rId72" Type="http://schemas.openxmlformats.org/officeDocument/2006/relationships/tags" Target="../tags/tag225.xml"/><Relationship Id="rId80" Type="http://schemas.openxmlformats.org/officeDocument/2006/relationships/oleObject" Target="../embeddings/oleObject49.bin"/><Relationship Id="rId85" Type="http://schemas.openxmlformats.org/officeDocument/2006/relationships/chart" Target="../charts/chart12.xml"/><Relationship Id="rId3" Type="http://schemas.openxmlformats.org/officeDocument/2006/relationships/tags" Target="../tags/tag156.xml"/><Relationship Id="rId12" Type="http://schemas.openxmlformats.org/officeDocument/2006/relationships/tags" Target="../tags/tag165.xml"/><Relationship Id="rId17" Type="http://schemas.openxmlformats.org/officeDocument/2006/relationships/tags" Target="../tags/tag170.xml"/><Relationship Id="rId25" Type="http://schemas.openxmlformats.org/officeDocument/2006/relationships/tags" Target="../tags/tag178.xml"/><Relationship Id="rId33" Type="http://schemas.openxmlformats.org/officeDocument/2006/relationships/tags" Target="../tags/tag186.xml"/><Relationship Id="rId38" Type="http://schemas.openxmlformats.org/officeDocument/2006/relationships/tags" Target="../tags/tag191.xml"/><Relationship Id="rId46" Type="http://schemas.openxmlformats.org/officeDocument/2006/relationships/tags" Target="../tags/tag199.xml"/><Relationship Id="rId59" Type="http://schemas.openxmlformats.org/officeDocument/2006/relationships/tags" Target="../tags/tag212.xml"/><Relationship Id="rId67" Type="http://schemas.openxmlformats.org/officeDocument/2006/relationships/tags" Target="../tags/tag220.xml"/><Relationship Id="rId20" Type="http://schemas.openxmlformats.org/officeDocument/2006/relationships/tags" Target="../tags/tag173.xml"/><Relationship Id="rId41" Type="http://schemas.openxmlformats.org/officeDocument/2006/relationships/tags" Target="../tags/tag194.xml"/><Relationship Id="rId54" Type="http://schemas.openxmlformats.org/officeDocument/2006/relationships/tags" Target="../tags/tag207.xml"/><Relationship Id="rId62" Type="http://schemas.openxmlformats.org/officeDocument/2006/relationships/tags" Target="../tags/tag215.xml"/><Relationship Id="rId70" Type="http://schemas.openxmlformats.org/officeDocument/2006/relationships/tags" Target="../tags/tag223.xml"/><Relationship Id="rId75" Type="http://schemas.openxmlformats.org/officeDocument/2006/relationships/tags" Target="../tags/tag228.xml"/><Relationship Id="rId83" Type="http://schemas.openxmlformats.org/officeDocument/2006/relationships/chart" Target="../charts/chart10.xml"/><Relationship Id="rId1" Type="http://schemas.openxmlformats.org/officeDocument/2006/relationships/tags" Target="../tags/tag154.xml"/><Relationship Id="rId6" Type="http://schemas.openxmlformats.org/officeDocument/2006/relationships/tags" Target="../tags/tag159.xml"/><Relationship Id="rId15" Type="http://schemas.openxmlformats.org/officeDocument/2006/relationships/tags" Target="../tags/tag168.xml"/><Relationship Id="rId23" Type="http://schemas.openxmlformats.org/officeDocument/2006/relationships/tags" Target="../tags/tag176.xml"/><Relationship Id="rId28" Type="http://schemas.openxmlformats.org/officeDocument/2006/relationships/tags" Target="../tags/tag181.xml"/><Relationship Id="rId36" Type="http://schemas.openxmlformats.org/officeDocument/2006/relationships/tags" Target="../tags/tag189.xml"/><Relationship Id="rId49" Type="http://schemas.openxmlformats.org/officeDocument/2006/relationships/tags" Target="../tags/tag202.xml"/><Relationship Id="rId57" Type="http://schemas.openxmlformats.org/officeDocument/2006/relationships/tags" Target="../tags/tag210.xml"/><Relationship Id="rId10" Type="http://schemas.openxmlformats.org/officeDocument/2006/relationships/tags" Target="../tags/tag163.xml"/><Relationship Id="rId31" Type="http://schemas.openxmlformats.org/officeDocument/2006/relationships/tags" Target="../tags/tag184.xml"/><Relationship Id="rId44" Type="http://schemas.openxmlformats.org/officeDocument/2006/relationships/tags" Target="../tags/tag197.xml"/><Relationship Id="rId52" Type="http://schemas.openxmlformats.org/officeDocument/2006/relationships/tags" Target="../tags/tag205.xml"/><Relationship Id="rId60" Type="http://schemas.openxmlformats.org/officeDocument/2006/relationships/tags" Target="../tags/tag213.xml"/><Relationship Id="rId65" Type="http://schemas.openxmlformats.org/officeDocument/2006/relationships/tags" Target="../tags/tag218.xml"/><Relationship Id="rId73" Type="http://schemas.openxmlformats.org/officeDocument/2006/relationships/tags" Target="../tags/tag226.xml"/><Relationship Id="rId78" Type="http://schemas.openxmlformats.org/officeDocument/2006/relationships/tags" Target="../tags/tag231.xml"/><Relationship Id="rId81" Type="http://schemas.openxmlformats.org/officeDocument/2006/relationships/image" Target="../media/image7.emf"/><Relationship Id="rId4" Type="http://schemas.openxmlformats.org/officeDocument/2006/relationships/tags" Target="../tags/tag157.xml"/><Relationship Id="rId9" Type="http://schemas.openxmlformats.org/officeDocument/2006/relationships/tags" Target="../tags/tag162.xml"/><Relationship Id="rId13" Type="http://schemas.openxmlformats.org/officeDocument/2006/relationships/tags" Target="../tags/tag166.xml"/><Relationship Id="rId18" Type="http://schemas.openxmlformats.org/officeDocument/2006/relationships/tags" Target="../tags/tag171.xml"/><Relationship Id="rId39" Type="http://schemas.openxmlformats.org/officeDocument/2006/relationships/tags" Target="../tags/tag192.xml"/><Relationship Id="rId34" Type="http://schemas.openxmlformats.org/officeDocument/2006/relationships/tags" Target="../tags/tag187.xml"/><Relationship Id="rId50" Type="http://schemas.openxmlformats.org/officeDocument/2006/relationships/tags" Target="../tags/tag203.xml"/><Relationship Id="rId55" Type="http://schemas.openxmlformats.org/officeDocument/2006/relationships/tags" Target="../tags/tag208.xml"/><Relationship Id="rId76" Type="http://schemas.openxmlformats.org/officeDocument/2006/relationships/tags" Target="../tags/tag229.xml"/><Relationship Id="rId7" Type="http://schemas.openxmlformats.org/officeDocument/2006/relationships/tags" Target="../tags/tag160.xml"/><Relationship Id="rId71" Type="http://schemas.openxmlformats.org/officeDocument/2006/relationships/tags" Target="../tags/tag224.xml"/><Relationship Id="rId2" Type="http://schemas.openxmlformats.org/officeDocument/2006/relationships/tags" Target="../tags/tag155.xml"/><Relationship Id="rId29" Type="http://schemas.openxmlformats.org/officeDocument/2006/relationships/tags" Target="../tags/tag182.xml"/><Relationship Id="rId24" Type="http://schemas.openxmlformats.org/officeDocument/2006/relationships/tags" Target="../tags/tag177.xml"/><Relationship Id="rId40" Type="http://schemas.openxmlformats.org/officeDocument/2006/relationships/tags" Target="../tags/tag193.xml"/><Relationship Id="rId45" Type="http://schemas.openxmlformats.org/officeDocument/2006/relationships/tags" Target="../tags/tag198.xml"/><Relationship Id="rId66" Type="http://schemas.openxmlformats.org/officeDocument/2006/relationships/tags" Target="../tags/tag219.xml"/><Relationship Id="rId61" Type="http://schemas.openxmlformats.org/officeDocument/2006/relationships/tags" Target="../tags/tag214.xml"/><Relationship Id="rId82" Type="http://schemas.openxmlformats.org/officeDocument/2006/relationships/chart" Target="../charts/chart9.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137.xml"/><Relationship Id="rId1" Type="http://schemas.openxmlformats.org/officeDocument/2006/relationships/tags" Target="../tags/tag232.xml"/><Relationship Id="rId4" Type="http://schemas.openxmlformats.org/officeDocument/2006/relationships/image" Target="../media/image7.emf"/></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35.xml"/><Relationship Id="rId1" Type="http://schemas.openxmlformats.org/officeDocument/2006/relationships/tags" Target="../tags/tag233.xml"/><Relationship Id="rId5" Type="http://schemas.openxmlformats.org/officeDocument/2006/relationships/image" Target="../media/image6.emf"/><Relationship Id="rId4" Type="http://schemas.openxmlformats.org/officeDocument/2006/relationships/oleObject" Target="../embeddings/oleObject51.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137.xml"/><Relationship Id="rId1" Type="http://schemas.openxmlformats.org/officeDocument/2006/relationships/tags" Target="../tags/tag234.xml"/><Relationship Id="rId4" Type="http://schemas.openxmlformats.org/officeDocument/2006/relationships/image" Target="../media/image7.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137.xml"/><Relationship Id="rId1" Type="http://schemas.openxmlformats.org/officeDocument/2006/relationships/tags" Target="../tags/tag235.x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137.xml"/><Relationship Id="rId1" Type="http://schemas.openxmlformats.org/officeDocument/2006/relationships/tags" Target="../tags/tag236.xml"/><Relationship Id="rId4" Type="http://schemas.openxmlformats.org/officeDocument/2006/relationships/image" Target="../media/image7.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137.xml"/><Relationship Id="rId1" Type="http://schemas.openxmlformats.org/officeDocument/2006/relationships/tags" Target="../tags/tag237.xml"/><Relationship Id="rId4" Type="http://schemas.openxmlformats.org/officeDocument/2006/relationships/image" Target="../media/image7.emf"/></Relationships>
</file>

<file path=ppt/slides/_rels/slide16.xml.rels><?xml version="1.0" encoding="UTF-8" standalone="yes"?>
<Relationships xmlns="http://schemas.openxmlformats.org/package/2006/relationships"><Relationship Id="rId13" Type="http://schemas.openxmlformats.org/officeDocument/2006/relationships/tags" Target="../tags/tag250.xml"/><Relationship Id="rId18" Type="http://schemas.openxmlformats.org/officeDocument/2006/relationships/tags" Target="../tags/tag255.xml"/><Relationship Id="rId26" Type="http://schemas.openxmlformats.org/officeDocument/2006/relationships/tags" Target="../tags/tag263.xml"/><Relationship Id="rId21" Type="http://schemas.openxmlformats.org/officeDocument/2006/relationships/tags" Target="../tags/tag258.xml"/><Relationship Id="rId34" Type="http://schemas.openxmlformats.org/officeDocument/2006/relationships/slideLayout" Target="../slideLayouts/slideLayout137.xml"/><Relationship Id="rId7" Type="http://schemas.openxmlformats.org/officeDocument/2006/relationships/tags" Target="../tags/tag244.xml"/><Relationship Id="rId12" Type="http://schemas.openxmlformats.org/officeDocument/2006/relationships/tags" Target="../tags/tag249.xml"/><Relationship Id="rId17" Type="http://schemas.openxmlformats.org/officeDocument/2006/relationships/tags" Target="../tags/tag254.xml"/><Relationship Id="rId25" Type="http://schemas.openxmlformats.org/officeDocument/2006/relationships/tags" Target="../tags/tag262.xml"/><Relationship Id="rId33" Type="http://schemas.openxmlformats.org/officeDocument/2006/relationships/tags" Target="../tags/tag270.xml"/><Relationship Id="rId38" Type="http://schemas.openxmlformats.org/officeDocument/2006/relationships/chart" Target="../charts/chart14.xml"/><Relationship Id="rId2" Type="http://schemas.openxmlformats.org/officeDocument/2006/relationships/tags" Target="../tags/tag239.xml"/><Relationship Id="rId16" Type="http://schemas.openxmlformats.org/officeDocument/2006/relationships/tags" Target="../tags/tag253.xml"/><Relationship Id="rId20" Type="http://schemas.openxmlformats.org/officeDocument/2006/relationships/tags" Target="../tags/tag257.xml"/><Relationship Id="rId29" Type="http://schemas.openxmlformats.org/officeDocument/2006/relationships/tags" Target="../tags/tag266.xml"/><Relationship Id="rId1" Type="http://schemas.openxmlformats.org/officeDocument/2006/relationships/tags" Target="../tags/tag238.xml"/><Relationship Id="rId6" Type="http://schemas.openxmlformats.org/officeDocument/2006/relationships/tags" Target="../tags/tag243.xml"/><Relationship Id="rId11" Type="http://schemas.openxmlformats.org/officeDocument/2006/relationships/tags" Target="../tags/tag248.xml"/><Relationship Id="rId24" Type="http://schemas.openxmlformats.org/officeDocument/2006/relationships/tags" Target="../tags/tag261.xml"/><Relationship Id="rId32" Type="http://schemas.openxmlformats.org/officeDocument/2006/relationships/tags" Target="../tags/tag269.xml"/><Relationship Id="rId37" Type="http://schemas.openxmlformats.org/officeDocument/2006/relationships/chart" Target="../charts/chart13.xml"/><Relationship Id="rId5" Type="http://schemas.openxmlformats.org/officeDocument/2006/relationships/tags" Target="../tags/tag242.xml"/><Relationship Id="rId15" Type="http://schemas.openxmlformats.org/officeDocument/2006/relationships/tags" Target="../tags/tag252.xml"/><Relationship Id="rId23" Type="http://schemas.openxmlformats.org/officeDocument/2006/relationships/tags" Target="../tags/tag260.xml"/><Relationship Id="rId28" Type="http://schemas.openxmlformats.org/officeDocument/2006/relationships/tags" Target="../tags/tag265.xml"/><Relationship Id="rId36" Type="http://schemas.openxmlformats.org/officeDocument/2006/relationships/image" Target="../media/image7.emf"/><Relationship Id="rId10" Type="http://schemas.openxmlformats.org/officeDocument/2006/relationships/tags" Target="../tags/tag247.xml"/><Relationship Id="rId19" Type="http://schemas.openxmlformats.org/officeDocument/2006/relationships/tags" Target="../tags/tag256.xml"/><Relationship Id="rId31" Type="http://schemas.openxmlformats.org/officeDocument/2006/relationships/tags" Target="../tags/tag268.xml"/><Relationship Id="rId4" Type="http://schemas.openxmlformats.org/officeDocument/2006/relationships/tags" Target="../tags/tag241.xml"/><Relationship Id="rId9" Type="http://schemas.openxmlformats.org/officeDocument/2006/relationships/tags" Target="../tags/tag246.xml"/><Relationship Id="rId14" Type="http://schemas.openxmlformats.org/officeDocument/2006/relationships/tags" Target="../tags/tag251.xml"/><Relationship Id="rId22" Type="http://schemas.openxmlformats.org/officeDocument/2006/relationships/tags" Target="../tags/tag259.xml"/><Relationship Id="rId27" Type="http://schemas.openxmlformats.org/officeDocument/2006/relationships/tags" Target="../tags/tag264.xml"/><Relationship Id="rId30" Type="http://schemas.openxmlformats.org/officeDocument/2006/relationships/tags" Target="../tags/tag267.xml"/><Relationship Id="rId35" Type="http://schemas.openxmlformats.org/officeDocument/2006/relationships/oleObject" Target="../embeddings/oleObject56.bin"/><Relationship Id="rId8" Type="http://schemas.openxmlformats.org/officeDocument/2006/relationships/tags" Target="../tags/tag245.xml"/><Relationship Id="rId3" Type="http://schemas.openxmlformats.org/officeDocument/2006/relationships/tags" Target="../tags/tag240.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137.xml"/><Relationship Id="rId1" Type="http://schemas.openxmlformats.org/officeDocument/2006/relationships/tags" Target="../tags/tag271.xml"/><Relationship Id="rId4" Type="http://schemas.openxmlformats.org/officeDocument/2006/relationships/image" Target="../media/image7.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137.xml"/><Relationship Id="rId1" Type="http://schemas.openxmlformats.org/officeDocument/2006/relationships/tags" Target="../tags/tag272.xml"/><Relationship Id="rId4" Type="http://schemas.openxmlformats.org/officeDocument/2006/relationships/image" Target="../media/image7.e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7.xml"/><Relationship Id="rId1" Type="http://schemas.openxmlformats.org/officeDocument/2006/relationships/tags" Target="../tags/tag273.xml"/><Relationship Id="rId5" Type="http://schemas.openxmlformats.org/officeDocument/2006/relationships/image" Target="../media/image7.emf"/><Relationship Id="rId4" Type="http://schemas.openxmlformats.org/officeDocument/2006/relationships/oleObject" Target="../embeddings/oleObject59.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137.xml"/><Relationship Id="rId1" Type="http://schemas.openxmlformats.org/officeDocument/2006/relationships/tags" Target="../tags/tag274.xml"/><Relationship Id="rId4" Type="http://schemas.openxmlformats.org/officeDocument/2006/relationships/image" Target="../media/image7.emf"/></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slideLayout" Target="../slideLayouts/slideLayout137.xml"/><Relationship Id="rId7" Type="http://schemas.openxmlformats.org/officeDocument/2006/relationships/diagramData" Target="../diagrams/data1.xml"/><Relationship Id="rId2" Type="http://schemas.openxmlformats.org/officeDocument/2006/relationships/tags" Target="../tags/tag276.xml"/><Relationship Id="rId1" Type="http://schemas.openxmlformats.org/officeDocument/2006/relationships/tags" Target="../tags/tag275.xml"/><Relationship Id="rId6" Type="http://schemas.openxmlformats.org/officeDocument/2006/relationships/image" Target="../media/image3.emf"/><Relationship Id="rId11" Type="http://schemas.microsoft.com/office/2007/relationships/diagramDrawing" Target="../diagrams/drawing1.xml"/><Relationship Id="rId5" Type="http://schemas.openxmlformats.org/officeDocument/2006/relationships/oleObject" Target="../embeddings/oleObject61.bin"/><Relationship Id="rId10" Type="http://schemas.openxmlformats.org/officeDocument/2006/relationships/diagramColors" Target="../diagrams/colors1.xml"/><Relationship Id="rId4" Type="http://schemas.openxmlformats.org/officeDocument/2006/relationships/notesSlide" Target="../notesSlides/notesSlide5.xml"/><Relationship Id="rId9"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137.xml"/><Relationship Id="rId1" Type="http://schemas.openxmlformats.org/officeDocument/2006/relationships/tags" Target="../tags/tag277.xml"/><Relationship Id="rId4" Type="http://schemas.openxmlformats.org/officeDocument/2006/relationships/image" Target="../media/image7.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2.xml"/></Relationships>
</file>

<file path=ppt/slides/_rels/slide24.xml.rels><?xml version="1.0" encoding="UTF-8" standalone="yes"?>
<Relationships xmlns="http://schemas.openxmlformats.org/package/2006/relationships"><Relationship Id="rId8" Type="http://schemas.openxmlformats.org/officeDocument/2006/relationships/tags" Target="../tags/tag285.xml"/><Relationship Id="rId13" Type="http://schemas.openxmlformats.org/officeDocument/2006/relationships/tags" Target="../tags/tag290.xml"/><Relationship Id="rId18" Type="http://schemas.openxmlformats.org/officeDocument/2006/relationships/tags" Target="../tags/tag295.xml"/><Relationship Id="rId26" Type="http://schemas.openxmlformats.org/officeDocument/2006/relationships/slideLayout" Target="../slideLayouts/slideLayout137.xml"/><Relationship Id="rId3" Type="http://schemas.openxmlformats.org/officeDocument/2006/relationships/tags" Target="../tags/tag280.xml"/><Relationship Id="rId21" Type="http://schemas.openxmlformats.org/officeDocument/2006/relationships/tags" Target="../tags/tag298.xml"/><Relationship Id="rId7" Type="http://schemas.openxmlformats.org/officeDocument/2006/relationships/tags" Target="../tags/tag284.xml"/><Relationship Id="rId12" Type="http://schemas.openxmlformats.org/officeDocument/2006/relationships/tags" Target="../tags/tag289.xml"/><Relationship Id="rId17" Type="http://schemas.openxmlformats.org/officeDocument/2006/relationships/tags" Target="../tags/tag294.xml"/><Relationship Id="rId25" Type="http://schemas.openxmlformats.org/officeDocument/2006/relationships/tags" Target="../tags/tag302.xml"/><Relationship Id="rId2" Type="http://schemas.openxmlformats.org/officeDocument/2006/relationships/tags" Target="../tags/tag279.xml"/><Relationship Id="rId16" Type="http://schemas.openxmlformats.org/officeDocument/2006/relationships/tags" Target="../tags/tag293.xml"/><Relationship Id="rId20" Type="http://schemas.openxmlformats.org/officeDocument/2006/relationships/tags" Target="../tags/tag297.xml"/><Relationship Id="rId29" Type="http://schemas.openxmlformats.org/officeDocument/2006/relationships/chart" Target="../charts/chart15.xml"/><Relationship Id="rId1" Type="http://schemas.openxmlformats.org/officeDocument/2006/relationships/tags" Target="../tags/tag278.xml"/><Relationship Id="rId6" Type="http://schemas.openxmlformats.org/officeDocument/2006/relationships/tags" Target="../tags/tag283.xml"/><Relationship Id="rId11" Type="http://schemas.openxmlformats.org/officeDocument/2006/relationships/tags" Target="../tags/tag288.xml"/><Relationship Id="rId24" Type="http://schemas.openxmlformats.org/officeDocument/2006/relationships/tags" Target="../tags/tag301.xml"/><Relationship Id="rId5" Type="http://schemas.openxmlformats.org/officeDocument/2006/relationships/tags" Target="../tags/tag282.xml"/><Relationship Id="rId15" Type="http://schemas.openxmlformats.org/officeDocument/2006/relationships/tags" Target="../tags/tag292.xml"/><Relationship Id="rId23" Type="http://schemas.openxmlformats.org/officeDocument/2006/relationships/tags" Target="../tags/tag300.xml"/><Relationship Id="rId28" Type="http://schemas.openxmlformats.org/officeDocument/2006/relationships/image" Target="../media/image7.emf"/><Relationship Id="rId10" Type="http://schemas.openxmlformats.org/officeDocument/2006/relationships/tags" Target="../tags/tag287.xml"/><Relationship Id="rId19" Type="http://schemas.openxmlformats.org/officeDocument/2006/relationships/tags" Target="../tags/tag296.xml"/><Relationship Id="rId4" Type="http://schemas.openxmlformats.org/officeDocument/2006/relationships/tags" Target="../tags/tag281.xml"/><Relationship Id="rId9" Type="http://schemas.openxmlformats.org/officeDocument/2006/relationships/tags" Target="../tags/tag286.xml"/><Relationship Id="rId14" Type="http://schemas.openxmlformats.org/officeDocument/2006/relationships/tags" Target="../tags/tag291.xml"/><Relationship Id="rId22" Type="http://schemas.openxmlformats.org/officeDocument/2006/relationships/tags" Target="../tags/tag299.xml"/><Relationship Id="rId27" Type="http://schemas.openxmlformats.org/officeDocument/2006/relationships/oleObject" Target="../embeddings/oleObject63.bin"/><Relationship Id="rId30" Type="http://schemas.openxmlformats.org/officeDocument/2006/relationships/chart" Target="../charts/chart16.xml"/></Relationships>
</file>

<file path=ppt/slides/_rels/slide25.xml.rels><?xml version="1.0" encoding="UTF-8" standalone="yes"?>
<Relationships xmlns="http://schemas.openxmlformats.org/package/2006/relationships"><Relationship Id="rId8" Type="http://schemas.openxmlformats.org/officeDocument/2006/relationships/tags" Target="../tags/tag310.xml"/><Relationship Id="rId13" Type="http://schemas.openxmlformats.org/officeDocument/2006/relationships/tags" Target="../tags/tag315.xml"/><Relationship Id="rId18" Type="http://schemas.openxmlformats.org/officeDocument/2006/relationships/chart" Target="../charts/chart17.xml"/><Relationship Id="rId3" Type="http://schemas.openxmlformats.org/officeDocument/2006/relationships/tags" Target="../tags/tag305.xml"/><Relationship Id="rId7" Type="http://schemas.openxmlformats.org/officeDocument/2006/relationships/tags" Target="../tags/tag309.xml"/><Relationship Id="rId12" Type="http://schemas.openxmlformats.org/officeDocument/2006/relationships/tags" Target="../tags/tag314.xml"/><Relationship Id="rId17" Type="http://schemas.openxmlformats.org/officeDocument/2006/relationships/image" Target="../media/image7.emf"/><Relationship Id="rId2" Type="http://schemas.openxmlformats.org/officeDocument/2006/relationships/tags" Target="../tags/tag304.xml"/><Relationship Id="rId16" Type="http://schemas.openxmlformats.org/officeDocument/2006/relationships/oleObject" Target="../embeddings/oleObject64.bin"/><Relationship Id="rId1" Type="http://schemas.openxmlformats.org/officeDocument/2006/relationships/tags" Target="../tags/tag303.xml"/><Relationship Id="rId6" Type="http://schemas.openxmlformats.org/officeDocument/2006/relationships/tags" Target="../tags/tag308.xml"/><Relationship Id="rId11" Type="http://schemas.openxmlformats.org/officeDocument/2006/relationships/tags" Target="../tags/tag313.xml"/><Relationship Id="rId5" Type="http://schemas.openxmlformats.org/officeDocument/2006/relationships/tags" Target="../tags/tag307.xml"/><Relationship Id="rId15" Type="http://schemas.openxmlformats.org/officeDocument/2006/relationships/slideLayout" Target="../slideLayouts/slideLayout137.xml"/><Relationship Id="rId10" Type="http://schemas.openxmlformats.org/officeDocument/2006/relationships/tags" Target="../tags/tag312.xml"/><Relationship Id="rId4" Type="http://schemas.openxmlformats.org/officeDocument/2006/relationships/tags" Target="../tags/tag306.xml"/><Relationship Id="rId9" Type="http://schemas.openxmlformats.org/officeDocument/2006/relationships/tags" Target="../tags/tag311.xml"/><Relationship Id="rId14" Type="http://schemas.openxmlformats.org/officeDocument/2006/relationships/tags" Target="../tags/tag3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680" y="1440"/>
                        <a:ext cx="1440" cy="1440"/>
                      </a:xfrm>
                      <a:prstGeom prst="rect">
                        <a:avLst/>
                      </a:prstGeom>
                    </p:spPr>
                  </p:pic>
                </p:oleObj>
              </mc:Fallback>
            </mc:AlternateContent>
          </a:graphicData>
        </a:graphic>
      </p:graphicFrame>
      <p:sp>
        <p:nvSpPr>
          <p:cNvPr id="16" name="Rectangle 15"/>
          <p:cNvSpPr/>
          <p:nvPr/>
        </p:nvSpPr>
        <p:spPr bwMode="gray">
          <a:xfrm>
            <a:off x="-20685" y="3"/>
            <a:ext cx="12212685" cy="6857998"/>
          </a:xfrm>
          <a:prstGeom prst="rect">
            <a:avLst/>
          </a:prstGeom>
          <a:solidFill>
            <a:schemeClr val="tx1">
              <a:alpha val="80000"/>
            </a:schemeClr>
          </a:solid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15" name="Group 14"/>
          <p:cNvGrpSpPr>
            <a:grpSpLocks noChangeAspect="1"/>
          </p:cNvGrpSpPr>
          <p:nvPr/>
        </p:nvGrpSpPr>
        <p:grpSpPr>
          <a:xfrm>
            <a:off x="475325" y="457761"/>
            <a:ext cx="1998000" cy="374400"/>
            <a:chOff x="398463" y="404813"/>
            <a:chExt cx="1627187" cy="307976"/>
          </a:xfrm>
          <a:solidFill>
            <a:schemeClr val="tx1"/>
          </a:solidFill>
        </p:grpSpPr>
        <p:sp>
          <p:nvSpPr>
            <p:cNvPr id="1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dirty="0">
                <a:ln>
                  <a:noFill/>
                </a:ln>
                <a:solidFill>
                  <a:prstClr val="white"/>
                </a:solidFill>
                <a:effectLst/>
                <a:uLnTx/>
                <a:uFillTx/>
                <a:latin typeface="Calibri"/>
                <a:ea typeface="+mn-ea"/>
                <a:cs typeface="+mn-cs"/>
              </a:endParaRPr>
            </a:p>
          </p:txBody>
        </p:sp>
        <p:sp>
          <p:nvSpPr>
            <p:cNvPr id="24"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dirty="0">
                <a:ln>
                  <a:noFill/>
                </a:ln>
                <a:solidFill>
                  <a:prstClr val="white"/>
                </a:solidFill>
                <a:effectLst/>
                <a:uLnTx/>
                <a:uFillTx/>
                <a:latin typeface="Calibri"/>
                <a:ea typeface="+mn-ea"/>
                <a:cs typeface="+mn-cs"/>
              </a:endParaRPr>
            </a:p>
          </p:txBody>
        </p:sp>
        <p:sp>
          <p:nvSpPr>
            <p:cNvPr id="2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dirty="0">
                <a:ln>
                  <a:noFill/>
                </a:ln>
                <a:solidFill>
                  <a:prstClr val="white"/>
                </a:solidFill>
                <a:effectLst/>
                <a:uLnTx/>
                <a:uFillTx/>
                <a:latin typeface="Calibri"/>
                <a:ea typeface="+mn-ea"/>
                <a:cs typeface="+mn-cs"/>
              </a:endParaRPr>
            </a:p>
          </p:txBody>
        </p:sp>
        <p:sp>
          <p:nvSpPr>
            <p:cNvPr id="2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29" name="Subtitle 1"/>
          <p:cNvSpPr txBox="1">
            <a:spLocks/>
          </p:cNvSpPr>
          <p:nvPr/>
        </p:nvSpPr>
        <p:spPr>
          <a:xfrm>
            <a:off x="557695" y="4227965"/>
            <a:ext cx="8534236" cy="1159684"/>
          </a:xfrm>
          <a:prstGeom prst="rect">
            <a:avLst/>
          </a:prstGeom>
        </p:spPr>
        <p:txBody>
          <a:bodyPr vert="horz" lIns="0" tIns="0" rIns="0" bIns="0" rtlCol="0">
            <a:noAutofit/>
          </a:bodyPr>
          <a:lstStyle>
            <a:lvl1pPr marL="0" indent="0" algn="l" defTabSz="914400" rtl="0" eaLnBrk="1" latinLnBrk="0" hangingPunct="1">
              <a:spcBef>
                <a:spcPts val="0"/>
              </a:spcBef>
              <a:spcAft>
                <a:spcPts val="907"/>
              </a:spcAft>
              <a:buSzPct val="100000"/>
              <a:buFontTx/>
              <a:buNone/>
              <a:defRPr sz="997"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907"/>
              </a:spcAft>
              <a:buClrTx/>
              <a:buSzPct val="100000"/>
              <a:buFont typeface="Arial" panose="020B0604020202020204" pitchFamily="34" charset="0"/>
              <a:buChar char="•"/>
              <a:defRPr lang="en-US" sz="997" b="1" kern="120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907"/>
              </a:spcAft>
              <a:buClrTx/>
              <a:buSzPct val="100000"/>
              <a:buFont typeface="Arial" panose="020B0604020202020204" pitchFamily="34" charset="0"/>
              <a:buChar char="−"/>
              <a:defRPr lang="en-US" sz="997" kern="120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907"/>
              </a:spcAft>
              <a:buClrTx/>
              <a:buSzPct val="100000"/>
              <a:buFont typeface="Arial" panose="020B0604020202020204" pitchFamily="34" charset="0"/>
              <a:buChar char="◦"/>
              <a:defRPr lang="en-US" sz="997" kern="1200" baseline="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907"/>
              </a:spcAft>
              <a:buClrTx/>
              <a:buSzPct val="100000"/>
              <a:buFont typeface="Arial" panose="020B0604020202020204" pitchFamily="34" charset="0"/>
              <a:buChar char="−"/>
              <a:tabLst/>
              <a:defRPr lang="en-US" sz="997" kern="1200" baseline="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907"/>
              </a:spcAft>
              <a:buClrTx/>
              <a:buSzPct val="100000"/>
              <a:buFontTx/>
              <a:buNone/>
              <a:tabLst/>
              <a:defRPr/>
            </a:pPr>
            <a:r>
              <a:rPr kumimoji="0" lang="en-US" sz="2800" b="1"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rPr>
              <a:t>Consultancy Service for Enterprise Resource Planning </a:t>
            </a:r>
          </a:p>
          <a:p>
            <a:pPr marL="0" marR="0" lvl="0" indent="0" algn="just" defTabSz="914400" rtl="0" eaLnBrk="1" fontAlgn="auto" latinLnBrk="0" hangingPunct="1">
              <a:lnSpc>
                <a:spcPct val="100000"/>
              </a:lnSpc>
              <a:spcBef>
                <a:spcPts val="0"/>
              </a:spcBef>
              <a:spcAft>
                <a:spcPts val="907"/>
              </a:spcAft>
              <a:buClrTx/>
              <a:buSzPct val="100000"/>
              <a:buFontTx/>
              <a:buNone/>
              <a:tabLst/>
              <a:defRPr/>
            </a:pPr>
            <a:r>
              <a:rPr kumimoji="0" lang="en-US" sz="2400" b="1" i="1"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rPr>
              <a:t>State Electric Company Limited, Maldives</a:t>
            </a:r>
            <a:endParaRPr kumimoji="0" lang="en-US" sz="2800" b="1" i="1"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30" name="Text Placeholder 2"/>
          <p:cNvSpPr>
            <a:spLocks noGrp="1"/>
          </p:cNvSpPr>
          <p:nvPr>
            <p:ph type="body" sz="quarter" idx="4294967295"/>
          </p:nvPr>
        </p:nvSpPr>
        <p:spPr>
          <a:xfrm>
            <a:off x="569712" y="6040365"/>
            <a:ext cx="3031417" cy="381699"/>
          </a:xfrm>
          <a:prstGeom prst="rect">
            <a:avLst/>
          </a:prstGeom>
        </p:spPr>
        <p:txBody>
          <a:bodyPr/>
          <a:lstStyle/>
          <a:p>
            <a:r>
              <a:rPr lang="en-IN" sz="1400" b="1" dirty="0">
                <a:solidFill>
                  <a:schemeClr val="bg1"/>
                </a:solidFill>
              </a:rPr>
              <a:t>April 2021</a:t>
            </a:r>
          </a:p>
        </p:txBody>
      </p:sp>
      <p:sp>
        <p:nvSpPr>
          <p:cNvPr id="31" name="Text Placeholder 2"/>
          <p:cNvSpPr txBox="1">
            <a:spLocks/>
          </p:cNvSpPr>
          <p:nvPr/>
        </p:nvSpPr>
        <p:spPr>
          <a:xfrm>
            <a:off x="557694" y="5622642"/>
            <a:ext cx="10389705" cy="564429"/>
          </a:xfrm>
          <a:prstGeom prst="rect">
            <a:avLst/>
          </a:prstGeom>
        </p:spPr>
        <p:txBody>
          <a:bodyPr vert="horz" lIns="0" tIns="0" rIns="0" bIns="0" rtlCol="0">
            <a:noAutofit/>
          </a:bodyPr>
          <a:lstStyle>
            <a:lvl1pPr marL="0" indent="0" algn="l" defTabSz="914464" rtl="0" eaLnBrk="1" latinLnBrk="0" hangingPunct="1">
              <a:spcBef>
                <a:spcPts val="0"/>
              </a:spcBef>
              <a:spcAft>
                <a:spcPts val="0"/>
              </a:spcAft>
              <a:buSzPct val="100000"/>
              <a:buFont typeface="Arial" panose="020B0604020202020204" pitchFamily="34" charset="0"/>
              <a:buNone/>
              <a:defRPr sz="1001" b="0" kern="1200">
                <a:solidFill>
                  <a:schemeClr val="bg1"/>
                </a:solidFill>
                <a:latin typeface="+mn-lt"/>
                <a:ea typeface="+mn-ea"/>
                <a:cs typeface="+mn-cs"/>
              </a:defRPr>
            </a:lvl1pPr>
            <a:lvl2pPr marL="0" indent="0" algn="l" defTabSz="914464" rtl="0" eaLnBrk="1" latinLnBrk="0" hangingPunct="1">
              <a:spcBef>
                <a:spcPts val="0"/>
              </a:spcBef>
              <a:spcAft>
                <a:spcPts val="1001"/>
              </a:spcAft>
              <a:buClrTx/>
              <a:buSzPct val="100000"/>
              <a:buFont typeface="Arial"/>
              <a:buNone/>
              <a:defRPr lang="en-US" sz="907" b="1" kern="1200">
                <a:solidFill>
                  <a:schemeClr val="bg1"/>
                </a:solidFill>
                <a:latin typeface="+mn-lt"/>
                <a:ea typeface="+mn-ea"/>
                <a:cs typeface="+mn-cs"/>
              </a:defRPr>
            </a:lvl2pPr>
            <a:lvl3pPr marL="176413" indent="-176413" algn="l" defTabSz="914464" rtl="0" eaLnBrk="1" latinLnBrk="0" hangingPunct="1">
              <a:spcBef>
                <a:spcPts val="0"/>
              </a:spcBef>
              <a:spcAft>
                <a:spcPts val="1001"/>
              </a:spcAft>
              <a:buClrTx/>
              <a:buSzPct val="100000"/>
              <a:buFont typeface="Arial" panose="020B0604020202020204" pitchFamily="34" charset="0"/>
              <a:buChar char="•"/>
              <a:defRPr lang="en-US" sz="907" kern="1200">
                <a:solidFill>
                  <a:schemeClr val="bg1"/>
                </a:solidFill>
                <a:latin typeface="+mn-lt"/>
                <a:ea typeface="+mn-ea"/>
                <a:cs typeface="+mn-cs"/>
              </a:defRPr>
            </a:lvl3pPr>
            <a:lvl4pPr marL="356425" indent="-176413" algn="l" defTabSz="914464" rtl="0" eaLnBrk="1" latinLnBrk="0" hangingPunct="1">
              <a:spcBef>
                <a:spcPts val="0"/>
              </a:spcBef>
              <a:spcAft>
                <a:spcPts val="1001"/>
              </a:spcAft>
              <a:buClrTx/>
              <a:buSzPct val="100000"/>
              <a:buFont typeface="Verdana" panose="020B0604030504040204" pitchFamily="34" charset="0"/>
              <a:buChar char="−"/>
              <a:defRPr lang="en-US" sz="907" kern="1200" baseline="0">
                <a:solidFill>
                  <a:schemeClr val="bg1"/>
                </a:solidFill>
                <a:latin typeface="+mn-lt"/>
                <a:ea typeface="+mn-ea"/>
                <a:cs typeface="+mn-cs"/>
              </a:defRPr>
            </a:lvl4pPr>
            <a:lvl5pPr marL="532838" indent="-176413" algn="l" defTabSz="798568" rtl="0" eaLnBrk="1" latinLnBrk="0" hangingPunct="1">
              <a:spcBef>
                <a:spcPts val="0"/>
              </a:spcBef>
              <a:spcAft>
                <a:spcPts val="1001"/>
              </a:spcAft>
              <a:buClrTx/>
              <a:buSzPct val="100000"/>
              <a:buFont typeface="Verdana" panose="020B0604030504040204" pitchFamily="34" charset="0"/>
              <a:buChar char="−"/>
              <a:tabLst/>
              <a:defRPr lang="en-US" sz="907" kern="1200" baseline="0">
                <a:solidFill>
                  <a:schemeClr val="bg1"/>
                </a:solidFill>
                <a:latin typeface="+mn-lt"/>
                <a:ea typeface="+mn-ea"/>
                <a:cs typeface="+mn-cs"/>
              </a:defRPr>
            </a:lvl5pPr>
            <a:lvl6pPr marL="532838" indent="-176413" algn="l" defTabSz="914464" rtl="0" eaLnBrk="1" latinLnBrk="0" hangingPunct="1">
              <a:spcBef>
                <a:spcPts val="0"/>
              </a:spcBef>
              <a:spcAft>
                <a:spcPts val="1001"/>
              </a:spcAft>
              <a:buFont typeface="Verdana" panose="020B0604030504040204" pitchFamily="34" charset="0"/>
              <a:buChar char="−"/>
              <a:defRPr sz="1200" kern="1200" baseline="0">
                <a:solidFill>
                  <a:schemeClr val="tx1"/>
                </a:solidFill>
                <a:latin typeface="+mn-lt"/>
                <a:ea typeface="+mn-ea"/>
                <a:cs typeface="+mn-cs"/>
              </a:defRPr>
            </a:lvl6pPr>
            <a:lvl7pPr marL="532838" indent="-176413" algn="l" defTabSz="914464" rtl="0" eaLnBrk="1" latinLnBrk="0" hangingPunct="1">
              <a:spcBef>
                <a:spcPts val="0"/>
              </a:spcBef>
              <a:spcAft>
                <a:spcPts val="1001"/>
              </a:spcAft>
              <a:buFont typeface="Verdana" panose="020B0604030504040204" pitchFamily="34" charset="0"/>
              <a:buChar char="−"/>
              <a:defRPr sz="1200" kern="1200">
                <a:solidFill>
                  <a:schemeClr val="tx1"/>
                </a:solidFill>
                <a:latin typeface="+mn-lt"/>
                <a:ea typeface="+mn-ea"/>
                <a:cs typeface="+mn-cs"/>
              </a:defRPr>
            </a:lvl7pPr>
            <a:lvl8pPr marL="532838" indent="-176413" algn="l" defTabSz="914464" rtl="0" eaLnBrk="1" latinLnBrk="0" hangingPunct="1">
              <a:spcBef>
                <a:spcPts val="0"/>
              </a:spcBef>
              <a:spcAft>
                <a:spcPts val="1001"/>
              </a:spcAft>
              <a:buFont typeface="Verdana" panose="020B0604030504040204" pitchFamily="34" charset="0"/>
              <a:buChar char="−"/>
              <a:defRPr sz="1200" kern="1200" baseline="0">
                <a:solidFill>
                  <a:schemeClr val="tx1"/>
                </a:solidFill>
                <a:latin typeface="+mn-lt"/>
                <a:ea typeface="+mn-ea"/>
                <a:cs typeface="+mn-cs"/>
              </a:defRPr>
            </a:lvl8pPr>
            <a:lvl9pPr marL="532838" indent="-176413" algn="l" defTabSz="914464" rtl="0" eaLnBrk="1" latinLnBrk="0" hangingPunct="1">
              <a:spcBef>
                <a:spcPts val="0"/>
              </a:spcBef>
              <a:spcAft>
                <a:spcPts val="1001"/>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ERP Feasibility and Cost Benefit Analysis Report</a:t>
            </a:r>
          </a:p>
        </p:txBody>
      </p:sp>
    </p:spTree>
    <p:extLst>
      <p:ext uri="{BB962C8B-B14F-4D97-AF65-F5344CB8AC3E}">
        <p14:creationId xmlns:p14="http://schemas.microsoft.com/office/powerpoint/2010/main" val="414986957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55B10ABB-E9A4-4736-A870-78C42B8FBF9F}"/>
              </a:ext>
            </a:extLst>
          </p:cNvPr>
          <p:cNvGraphicFramePr>
            <a:graphicFrameLocks noChangeAspect="1"/>
          </p:cNvGraphicFramePr>
          <p:nvPr>
            <p:custDataLst>
              <p:tags r:id="rId1"/>
            </p:custDataLst>
            <p:extLst>
              <p:ext uri="{D42A27DB-BD31-4B8C-83A1-F6EECF244321}">
                <p14:modId xmlns:p14="http://schemas.microsoft.com/office/powerpoint/2010/main" val="968459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8" name="Object 7" hidden="1">
                        <a:extLst>
                          <a:ext uri="{FF2B5EF4-FFF2-40B4-BE49-F238E27FC236}">
                            <a16:creationId xmlns:a16="http://schemas.microsoft.com/office/drawing/2014/main" id="{55B10ABB-E9A4-4736-A870-78C42B8FBF9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Oval 7">
            <a:extLst>
              <a:ext uri="{FF2B5EF4-FFF2-40B4-BE49-F238E27FC236}">
                <a16:creationId xmlns:a16="http://schemas.microsoft.com/office/drawing/2014/main" id="{6D018DFC-9ED8-47D2-B5E4-5D940F01FA60}"/>
              </a:ext>
            </a:extLst>
          </p:cNvPr>
          <p:cNvSpPr>
            <a:spLocks noChangeArrowheads="1"/>
          </p:cNvSpPr>
          <p:nvPr/>
        </p:nvSpPr>
        <p:spPr bwMode="blackWhite">
          <a:xfrm>
            <a:off x="3032577" y="2238929"/>
            <a:ext cx="2240816" cy="2241381"/>
          </a:xfrm>
          <a:prstGeom prst="ellipse">
            <a:avLst/>
          </a:prstGeom>
          <a:solidFill>
            <a:srgbClr val="005587"/>
          </a:solidFill>
          <a:ln w="12700">
            <a:solidFill>
              <a:schemeClr val="bg1"/>
            </a:solidFill>
            <a:round/>
            <a:headEnd/>
            <a:tailEnd/>
          </a:ln>
        </p:spPr>
        <p:txBody>
          <a:bodyPr wrap="none" lIns="0" tIns="0" rIns="0" bIns="36000" anchor="ctr"/>
          <a:lstStyle/>
          <a:p>
            <a:pPr algn="ctr"/>
            <a:r>
              <a:rPr lang="en-US" sz="1050" b="1" dirty="0">
                <a:solidFill>
                  <a:schemeClr val="bg1"/>
                </a:solidFill>
              </a:rPr>
              <a:t>Intangible Investments</a:t>
            </a:r>
          </a:p>
          <a:p>
            <a:pPr marL="117475" indent="-117475">
              <a:spcAft>
                <a:spcPts val="300"/>
              </a:spcAft>
              <a:buFont typeface="Arial" panose="020B0604020202020204" pitchFamily="34" charset="0"/>
              <a:buChar char="•"/>
            </a:pPr>
            <a:r>
              <a:rPr lang="en-US" sz="1050" dirty="0">
                <a:solidFill>
                  <a:schemeClr val="bg1"/>
                </a:solidFill>
              </a:rPr>
              <a:t>Disruption in day to day work</a:t>
            </a:r>
          </a:p>
          <a:p>
            <a:pPr marL="117475" indent="-117475">
              <a:spcAft>
                <a:spcPts val="300"/>
              </a:spcAft>
              <a:buFont typeface="Arial" panose="020B0604020202020204" pitchFamily="34" charset="0"/>
              <a:buChar char="•"/>
            </a:pPr>
            <a:r>
              <a:rPr lang="en-US" sz="1050" dirty="0">
                <a:solidFill>
                  <a:schemeClr val="bg1"/>
                </a:solidFill>
              </a:rPr>
              <a:t>Change Management Program</a:t>
            </a:r>
          </a:p>
          <a:p>
            <a:pPr marL="117475" indent="-117475">
              <a:spcAft>
                <a:spcPts val="300"/>
              </a:spcAft>
              <a:buFont typeface="Arial" panose="020B0604020202020204" pitchFamily="34" charset="0"/>
              <a:buChar char="•"/>
            </a:pPr>
            <a:r>
              <a:rPr lang="en-US" sz="1050" dirty="0">
                <a:solidFill>
                  <a:schemeClr val="bg1"/>
                </a:solidFill>
              </a:rPr>
              <a:t>Project Cost Overruns </a:t>
            </a:r>
          </a:p>
          <a:p>
            <a:pPr>
              <a:spcAft>
                <a:spcPts val="300"/>
              </a:spcAft>
            </a:pPr>
            <a:r>
              <a:rPr lang="en-US" sz="1050" dirty="0">
                <a:solidFill>
                  <a:schemeClr val="bg1"/>
                </a:solidFill>
              </a:rPr>
              <a:t>   (Avoidable with Deloitte PMC)</a:t>
            </a:r>
          </a:p>
          <a:p>
            <a:pPr marL="117475" indent="-117475">
              <a:spcAft>
                <a:spcPts val="300"/>
              </a:spcAft>
              <a:buFont typeface="Arial" panose="020B0604020202020204" pitchFamily="34" charset="0"/>
              <a:buChar char="•"/>
            </a:pPr>
            <a:r>
              <a:rPr lang="en-US" sz="1050" dirty="0">
                <a:solidFill>
                  <a:schemeClr val="bg1"/>
                </a:solidFill>
              </a:rPr>
              <a:t>Increased Transparency and </a:t>
            </a:r>
          </a:p>
          <a:p>
            <a:pPr>
              <a:spcAft>
                <a:spcPts val="300"/>
              </a:spcAft>
            </a:pPr>
            <a:r>
              <a:rPr lang="en-US" sz="1050" dirty="0">
                <a:solidFill>
                  <a:schemeClr val="bg1"/>
                </a:solidFill>
              </a:rPr>
              <a:t>    Employee Resistance</a:t>
            </a:r>
          </a:p>
          <a:p>
            <a:pPr marL="117475" indent="-117475">
              <a:spcAft>
                <a:spcPts val="300"/>
              </a:spcAft>
              <a:buFont typeface="Arial" panose="020B0604020202020204" pitchFamily="34" charset="0"/>
              <a:buChar char="•"/>
            </a:pPr>
            <a:r>
              <a:rPr lang="en-US" sz="1050" dirty="0">
                <a:solidFill>
                  <a:schemeClr val="bg1"/>
                </a:solidFill>
              </a:rPr>
              <a:t>Cost of future upgrades</a:t>
            </a:r>
          </a:p>
        </p:txBody>
      </p:sp>
      <p:sp>
        <p:nvSpPr>
          <p:cNvPr id="2" name="Text Placeholder 1">
            <a:extLst>
              <a:ext uri="{FF2B5EF4-FFF2-40B4-BE49-F238E27FC236}">
                <a16:creationId xmlns:a16="http://schemas.microsoft.com/office/drawing/2014/main" id="{23A328D0-E4C1-4AA7-984D-4F1CE6327D8C}"/>
              </a:ext>
            </a:extLst>
          </p:cNvPr>
          <p:cNvSpPr>
            <a:spLocks noGrp="1"/>
          </p:cNvSpPr>
          <p:nvPr>
            <p:ph type="body" sz="quarter" idx="13"/>
          </p:nvPr>
        </p:nvSpPr>
        <p:spPr/>
        <p:txBody>
          <a:bodyPr/>
          <a:lstStyle/>
          <a:p>
            <a:r>
              <a:rPr lang="en-US" dirty="0"/>
              <a:t>Selection of ERP Modules and Add on will lead to identification of tangible and intangible benefits of STELCO</a:t>
            </a:r>
          </a:p>
        </p:txBody>
      </p:sp>
      <p:sp>
        <p:nvSpPr>
          <p:cNvPr id="5" name="Title 4">
            <a:extLst>
              <a:ext uri="{FF2B5EF4-FFF2-40B4-BE49-F238E27FC236}">
                <a16:creationId xmlns:a16="http://schemas.microsoft.com/office/drawing/2014/main" id="{448D1022-EF62-4289-8204-8F73168E21F8}"/>
              </a:ext>
            </a:extLst>
          </p:cNvPr>
          <p:cNvSpPr>
            <a:spLocks noGrp="1"/>
          </p:cNvSpPr>
          <p:nvPr>
            <p:ph type="title"/>
          </p:nvPr>
        </p:nvSpPr>
        <p:spPr/>
        <p:txBody>
          <a:bodyPr vert="horz"/>
          <a:lstStyle/>
          <a:p>
            <a:r>
              <a:rPr lang="en-US" dirty="0"/>
              <a:t>Benefits for Implementing ERP System and Add-on Modules</a:t>
            </a:r>
          </a:p>
        </p:txBody>
      </p:sp>
      <p:sp>
        <p:nvSpPr>
          <p:cNvPr id="21" name="Rectangle 8">
            <a:extLst>
              <a:ext uri="{FF2B5EF4-FFF2-40B4-BE49-F238E27FC236}">
                <a16:creationId xmlns:a16="http://schemas.microsoft.com/office/drawing/2014/main" id="{3DCAC9A5-27CF-4A1E-B1CB-DA1E0DFE7A3A}"/>
              </a:ext>
            </a:extLst>
          </p:cNvPr>
          <p:cNvSpPr>
            <a:spLocks noChangeArrowheads="1"/>
          </p:cNvSpPr>
          <p:nvPr/>
        </p:nvSpPr>
        <p:spPr bwMode="auto">
          <a:xfrm>
            <a:off x="2481860" y="1248131"/>
            <a:ext cx="7228280" cy="292388"/>
          </a:xfrm>
          <a:prstGeom prst="rect">
            <a:avLst/>
          </a:prstGeom>
          <a:noFill/>
          <a:ln w="9525">
            <a:noFill/>
            <a:miter lim="800000"/>
            <a:headEnd/>
            <a:tailEnd/>
          </a:ln>
        </p:spPr>
        <p:txBody>
          <a:bodyPr wrap="square" lIns="0" tIns="0" rIns="0" bIns="0" anchor="b" anchorCtr="0">
            <a:spAutoFit/>
          </a:bodyPr>
          <a:lstStyle/>
          <a:p>
            <a:pPr algn="ctr" defTabSz="787400">
              <a:lnSpc>
                <a:spcPct val="95000"/>
              </a:lnSpc>
              <a:spcBef>
                <a:spcPct val="80000"/>
              </a:spcBef>
              <a:buClr>
                <a:schemeClr val="tx1"/>
              </a:buClr>
            </a:pPr>
            <a:r>
              <a:rPr lang="en-US" sz="2000" b="1" i="1" u="sng" dirty="0"/>
              <a:t>ERP Implementation provides both Tangible and Intangible benefits</a:t>
            </a:r>
          </a:p>
        </p:txBody>
      </p:sp>
      <p:grpSp>
        <p:nvGrpSpPr>
          <p:cNvPr id="30" name="Group 29">
            <a:extLst>
              <a:ext uri="{FF2B5EF4-FFF2-40B4-BE49-F238E27FC236}">
                <a16:creationId xmlns:a16="http://schemas.microsoft.com/office/drawing/2014/main" id="{38283B33-B4C3-4701-B1F2-A8B83842F37C}"/>
              </a:ext>
            </a:extLst>
          </p:cNvPr>
          <p:cNvGrpSpPr/>
          <p:nvPr/>
        </p:nvGrpSpPr>
        <p:grpSpPr>
          <a:xfrm>
            <a:off x="881745" y="1866770"/>
            <a:ext cx="10561200" cy="4286476"/>
            <a:chOff x="881745" y="1866770"/>
            <a:chExt cx="10561200" cy="4286476"/>
          </a:xfrm>
        </p:grpSpPr>
        <p:sp>
          <p:nvSpPr>
            <p:cNvPr id="16" name="Freeform 3">
              <a:extLst>
                <a:ext uri="{FF2B5EF4-FFF2-40B4-BE49-F238E27FC236}">
                  <a16:creationId xmlns:a16="http://schemas.microsoft.com/office/drawing/2014/main" id="{43FF50CD-7C1C-4118-9637-873830EAD83C}"/>
                </a:ext>
              </a:extLst>
            </p:cNvPr>
            <p:cNvSpPr>
              <a:spLocks/>
            </p:cNvSpPr>
            <p:nvPr/>
          </p:nvSpPr>
          <p:spPr bwMode="blackWhite">
            <a:xfrm>
              <a:off x="5325430" y="5254277"/>
              <a:ext cx="1217542" cy="596205"/>
            </a:xfrm>
            <a:custGeom>
              <a:avLst/>
              <a:gdLst>
                <a:gd name="T0" fmla="*/ 0 w 321"/>
                <a:gd name="T1" fmla="*/ 2147483647 h 241"/>
                <a:gd name="T2" fmla="*/ 2147483647 w 321"/>
                <a:gd name="T3" fmla="*/ 2147483647 h 241"/>
                <a:gd name="T4" fmla="*/ 2147483647 w 321"/>
                <a:gd name="T5" fmla="*/ 0 h 241"/>
                <a:gd name="T6" fmla="*/ 0 w 321"/>
                <a:gd name="T7" fmla="*/ 2147483647 h 241"/>
                <a:gd name="T8" fmla="*/ 0 60000 65536"/>
                <a:gd name="T9" fmla="*/ 0 60000 65536"/>
                <a:gd name="T10" fmla="*/ 0 60000 65536"/>
                <a:gd name="T11" fmla="*/ 0 60000 65536"/>
                <a:gd name="T12" fmla="*/ 0 w 321"/>
                <a:gd name="T13" fmla="*/ 0 h 241"/>
                <a:gd name="T14" fmla="*/ 321 w 321"/>
                <a:gd name="T15" fmla="*/ 241 h 241"/>
              </a:gdLst>
              <a:ahLst/>
              <a:cxnLst>
                <a:cxn ang="T8">
                  <a:pos x="T0" y="T1"/>
                </a:cxn>
                <a:cxn ang="T9">
                  <a:pos x="T2" y="T3"/>
                </a:cxn>
                <a:cxn ang="T10">
                  <a:pos x="T4" y="T5"/>
                </a:cxn>
                <a:cxn ang="T11">
                  <a:pos x="T6" y="T7"/>
                </a:cxn>
              </a:cxnLst>
              <a:rect l="T12" t="T13" r="T14" b="T15"/>
              <a:pathLst>
                <a:path w="321" h="241">
                  <a:moveTo>
                    <a:pt x="0" y="240"/>
                  </a:moveTo>
                  <a:lnTo>
                    <a:pt x="320" y="240"/>
                  </a:lnTo>
                  <a:lnTo>
                    <a:pt x="160" y="0"/>
                  </a:lnTo>
                  <a:lnTo>
                    <a:pt x="0" y="240"/>
                  </a:lnTo>
                </a:path>
              </a:pathLst>
            </a:custGeom>
            <a:solidFill>
              <a:schemeClr val="tx1"/>
            </a:solidFill>
            <a:ln w="12700" cap="rnd">
              <a:solidFill>
                <a:schemeClr val="bg1"/>
              </a:solidFill>
              <a:round/>
              <a:headEnd/>
              <a:tailEnd/>
            </a:ln>
          </p:spPr>
          <p:txBody>
            <a:bodyPr lIns="36000" tIns="36000" rIns="36000" bIns="36000"/>
            <a:lstStyle/>
            <a:p>
              <a:pPr>
                <a:defRPr/>
              </a:pPr>
              <a:endParaRPr lang="en-US" dirty="0"/>
            </a:p>
          </p:txBody>
        </p:sp>
        <p:sp>
          <p:nvSpPr>
            <p:cNvPr id="17" name="Freeform 4">
              <a:extLst>
                <a:ext uri="{FF2B5EF4-FFF2-40B4-BE49-F238E27FC236}">
                  <a16:creationId xmlns:a16="http://schemas.microsoft.com/office/drawing/2014/main" id="{C71C380C-B50A-47D6-9655-4A139DD8501A}"/>
                </a:ext>
              </a:extLst>
            </p:cNvPr>
            <p:cNvSpPr>
              <a:spLocks/>
            </p:cNvSpPr>
            <p:nvPr/>
          </p:nvSpPr>
          <p:spPr bwMode="blackWhite">
            <a:xfrm>
              <a:off x="881745" y="4180251"/>
              <a:ext cx="9829760" cy="1752022"/>
            </a:xfrm>
            <a:custGeom>
              <a:avLst/>
              <a:gdLst>
                <a:gd name="T0" fmla="*/ 2147483647 w 2599"/>
                <a:gd name="T1" fmla="*/ 0 h 704"/>
                <a:gd name="T2" fmla="*/ 0 w 2599"/>
                <a:gd name="T3" fmla="*/ 2147483647 h 704"/>
                <a:gd name="T4" fmla="*/ 2147483647 w 2599"/>
                <a:gd name="T5" fmla="*/ 2147483647 h 704"/>
                <a:gd name="T6" fmla="*/ 2147483647 w 2599"/>
                <a:gd name="T7" fmla="*/ 2147483647 h 704"/>
                <a:gd name="T8" fmla="*/ 2147483647 w 2599"/>
                <a:gd name="T9" fmla="*/ 0 h 704"/>
                <a:gd name="T10" fmla="*/ 0 60000 65536"/>
                <a:gd name="T11" fmla="*/ 0 60000 65536"/>
                <a:gd name="T12" fmla="*/ 0 60000 65536"/>
                <a:gd name="T13" fmla="*/ 0 60000 65536"/>
                <a:gd name="T14" fmla="*/ 0 60000 65536"/>
                <a:gd name="T15" fmla="*/ 0 w 2599"/>
                <a:gd name="T16" fmla="*/ 0 h 704"/>
                <a:gd name="T17" fmla="*/ 2599 w 2599"/>
                <a:gd name="T18" fmla="*/ 704 h 704"/>
              </a:gdLst>
              <a:ahLst/>
              <a:cxnLst>
                <a:cxn ang="T10">
                  <a:pos x="T0" y="T1"/>
                </a:cxn>
                <a:cxn ang="T11">
                  <a:pos x="T2" y="T3"/>
                </a:cxn>
                <a:cxn ang="T12">
                  <a:pos x="T4" y="T5"/>
                </a:cxn>
                <a:cxn ang="T13">
                  <a:pos x="T6" y="T7"/>
                </a:cxn>
                <a:cxn ang="T14">
                  <a:pos x="T8" y="T9"/>
                </a:cxn>
              </a:cxnLst>
              <a:rect l="T15" t="T16" r="T17" b="T18"/>
              <a:pathLst>
                <a:path w="2599" h="704">
                  <a:moveTo>
                    <a:pt x="16" y="0"/>
                  </a:moveTo>
                  <a:lnTo>
                    <a:pt x="0" y="72"/>
                  </a:lnTo>
                  <a:lnTo>
                    <a:pt x="2582" y="703"/>
                  </a:lnTo>
                  <a:lnTo>
                    <a:pt x="2598" y="631"/>
                  </a:lnTo>
                  <a:lnTo>
                    <a:pt x="16" y="0"/>
                  </a:lnTo>
                </a:path>
              </a:pathLst>
            </a:custGeom>
            <a:solidFill>
              <a:schemeClr val="tx1"/>
            </a:solidFill>
            <a:ln w="12700" cap="rnd">
              <a:solidFill>
                <a:schemeClr val="bg1"/>
              </a:solidFill>
              <a:round/>
              <a:headEnd/>
              <a:tailEnd/>
            </a:ln>
          </p:spPr>
          <p:txBody>
            <a:bodyPr lIns="36000" tIns="36000" rIns="36000" bIns="36000"/>
            <a:lstStyle/>
            <a:p>
              <a:pPr>
                <a:defRPr/>
              </a:pPr>
              <a:endParaRPr lang="en-US" dirty="0"/>
            </a:p>
          </p:txBody>
        </p:sp>
        <p:sp>
          <p:nvSpPr>
            <p:cNvPr id="18" name="Oval 5">
              <a:extLst>
                <a:ext uri="{FF2B5EF4-FFF2-40B4-BE49-F238E27FC236}">
                  <a16:creationId xmlns:a16="http://schemas.microsoft.com/office/drawing/2014/main" id="{B1902E3D-1F87-418A-8884-877513AFD381}"/>
                </a:ext>
              </a:extLst>
            </p:cNvPr>
            <p:cNvSpPr>
              <a:spLocks noChangeArrowheads="1"/>
            </p:cNvSpPr>
            <p:nvPr/>
          </p:nvSpPr>
          <p:spPr bwMode="blackWhite">
            <a:xfrm>
              <a:off x="8783013" y="2991361"/>
              <a:ext cx="2659932" cy="2652441"/>
            </a:xfrm>
            <a:prstGeom prst="ellipse">
              <a:avLst/>
            </a:prstGeom>
            <a:solidFill>
              <a:schemeClr val="accent3"/>
            </a:solidFill>
            <a:ln w="12700">
              <a:solidFill>
                <a:schemeClr val="bg1"/>
              </a:solidFill>
              <a:round/>
              <a:headEnd/>
              <a:tailEnd/>
            </a:ln>
          </p:spPr>
          <p:txBody>
            <a:bodyPr wrap="square" lIns="91440" tIns="91440" rIns="91440" bIns="91440" anchor="ctr"/>
            <a:lstStyle/>
            <a:p>
              <a:pPr algn="ctr"/>
              <a:endParaRPr lang="en-US" sz="1200" dirty="0">
                <a:solidFill>
                  <a:schemeClr val="bg1"/>
                </a:solidFill>
              </a:endParaRPr>
            </a:p>
          </p:txBody>
        </p:sp>
        <p:sp>
          <p:nvSpPr>
            <p:cNvPr id="19" name="Arc 6">
              <a:extLst>
                <a:ext uri="{FF2B5EF4-FFF2-40B4-BE49-F238E27FC236}">
                  <a16:creationId xmlns:a16="http://schemas.microsoft.com/office/drawing/2014/main" id="{9914E4C2-85C2-4CC6-AC72-6AD5FE62E535}"/>
                </a:ext>
              </a:extLst>
            </p:cNvPr>
            <p:cNvSpPr>
              <a:spLocks/>
            </p:cNvSpPr>
            <p:nvPr/>
          </p:nvSpPr>
          <p:spPr bwMode="blackWhite">
            <a:xfrm>
              <a:off x="1139695" y="2893180"/>
              <a:ext cx="1552785" cy="2076985"/>
            </a:xfrm>
            <a:custGeom>
              <a:avLst/>
              <a:gdLst>
                <a:gd name="T0" fmla="*/ 0 w 20759"/>
                <a:gd name="T1" fmla="*/ 2147483647 h 20020"/>
                <a:gd name="T2" fmla="*/ 2147483647 w 20759"/>
                <a:gd name="T3" fmla="*/ 0 h 20020"/>
                <a:gd name="T4" fmla="*/ 2147483647 w 20759"/>
                <a:gd name="T5" fmla="*/ 2147483647 h 20020"/>
                <a:gd name="T6" fmla="*/ 0 60000 65536"/>
                <a:gd name="T7" fmla="*/ 0 60000 65536"/>
                <a:gd name="T8" fmla="*/ 0 60000 65536"/>
                <a:gd name="T9" fmla="*/ 0 w 20759"/>
                <a:gd name="T10" fmla="*/ 0 h 20020"/>
                <a:gd name="T11" fmla="*/ 20759 w 20759"/>
                <a:gd name="T12" fmla="*/ 20020 h 20020"/>
              </a:gdLst>
              <a:ahLst/>
              <a:cxnLst>
                <a:cxn ang="T6">
                  <a:pos x="T0" y="T1"/>
                </a:cxn>
                <a:cxn ang="T7">
                  <a:pos x="T2" y="T3"/>
                </a:cxn>
                <a:cxn ang="T8">
                  <a:pos x="T4" y="T5"/>
                </a:cxn>
              </a:cxnLst>
              <a:rect l="T9" t="T10" r="T11" b="T12"/>
              <a:pathLst>
                <a:path w="20759" h="20020" fill="none" extrusionOk="0">
                  <a:moveTo>
                    <a:pt x="0" y="14051"/>
                  </a:moveTo>
                  <a:cubicBezTo>
                    <a:pt x="1834" y="7672"/>
                    <a:pt x="6499" y="2491"/>
                    <a:pt x="12650" y="-1"/>
                  </a:cubicBezTo>
                </a:path>
                <a:path w="20759" h="20020" stroke="0" extrusionOk="0">
                  <a:moveTo>
                    <a:pt x="0" y="14051"/>
                  </a:moveTo>
                  <a:cubicBezTo>
                    <a:pt x="1834" y="7672"/>
                    <a:pt x="6499" y="2491"/>
                    <a:pt x="12650" y="-1"/>
                  </a:cubicBezTo>
                  <a:lnTo>
                    <a:pt x="20759" y="20020"/>
                  </a:lnTo>
                  <a:close/>
                </a:path>
              </a:pathLst>
            </a:custGeom>
            <a:noFill/>
            <a:ln w="28575" cap="rnd">
              <a:solidFill>
                <a:schemeClr val="bg1">
                  <a:lumMod val="50000"/>
                </a:schemeClr>
              </a:solidFill>
              <a:prstDash val="sysDot"/>
              <a:round/>
              <a:headEnd type="none" w="sm" len="sm"/>
              <a:tailEnd type="none" w="sm" len="sm"/>
            </a:ln>
          </p:spPr>
          <p:txBody>
            <a:bodyPr wrap="none" lIns="36000" tIns="36000" rIns="36000" bIns="36000" anchor="ctr"/>
            <a:lstStyle/>
            <a:p>
              <a:pPr algn="ctr">
                <a:defRPr/>
              </a:pPr>
              <a:endParaRPr lang="en-US" sz="1400" dirty="0"/>
            </a:p>
          </p:txBody>
        </p:sp>
        <p:grpSp>
          <p:nvGrpSpPr>
            <p:cNvPr id="24" name="Group 23">
              <a:extLst>
                <a:ext uri="{FF2B5EF4-FFF2-40B4-BE49-F238E27FC236}">
                  <a16:creationId xmlns:a16="http://schemas.microsoft.com/office/drawing/2014/main" id="{122572F0-7F1A-49D9-970A-733473F9F666}"/>
                </a:ext>
              </a:extLst>
            </p:cNvPr>
            <p:cNvGrpSpPr/>
            <p:nvPr/>
          </p:nvGrpSpPr>
          <p:grpSpPr>
            <a:xfrm>
              <a:off x="1493405" y="1866770"/>
              <a:ext cx="1669525" cy="1669945"/>
              <a:chOff x="1818618" y="1790577"/>
              <a:chExt cx="1316737" cy="1317068"/>
            </a:xfrm>
            <a:solidFill>
              <a:srgbClr val="00B0F0"/>
            </a:solidFill>
          </p:grpSpPr>
          <p:sp>
            <p:nvSpPr>
              <p:cNvPr id="20" name="Oval 7">
                <a:extLst>
                  <a:ext uri="{FF2B5EF4-FFF2-40B4-BE49-F238E27FC236}">
                    <a16:creationId xmlns:a16="http://schemas.microsoft.com/office/drawing/2014/main" id="{E56B3F7F-89D3-4141-AF0D-E341FDEC40BE}"/>
                  </a:ext>
                </a:extLst>
              </p:cNvPr>
              <p:cNvSpPr>
                <a:spLocks noChangeArrowheads="1"/>
              </p:cNvSpPr>
              <p:nvPr/>
            </p:nvSpPr>
            <p:spPr bwMode="blackWhite">
              <a:xfrm>
                <a:off x="1818619" y="1790577"/>
                <a:ext cx="1316736" cy="1317068"/>
              </a:xfrm>
              <a:prstGeom prst="ellipse">
                <a:avLst/>
              </a:prstGeom>
              <a:grpFill/>
              <a:ln w="12700">
                <a:solidFill>
                  <a:schemeClr val="bg1"/>
                </a:solidFill>
                <a:round/>
                <a:headEnd/>
                <a:tailEnd/>
              </a:ln>
            </p:spPr>
            <p:txBody>
              <a:bodyPr wrap="none" lIns="36000" tIns="36000" rIns="36000" bIns="36000" anchor="ctr"/>
              <a:lstStyle/>
              <a:p>
                <a:pPr algn="ctr"/>
                <a:endParaRPr lang="en-US" sz="1400" dirty="0"/>
              </a:p>
            </p:txBody>
          </p:sp>
          <p:sp>
            <p:nvSpPr>
              <p:cNvPr id="22" name="Rectangle 21">
                <a:extLst>
                  <a:ext uri="{FF2B5EF4-FFF2-40B4-BE49-F238E27FC236}">
                    <a16:creationId xmlns:a16="http://schemas.microsoft.com/office/drawing/2014/main" id="{3FD0304A-3E2D-4E6A-A0FC-5DFF78159A4B}"/>
                  </a:ext>
                </a:extLst>
              </p:cNvPr>
              <p:cNvSpPr/>
              <p:nvPr/>
            </p:nvSpPr>
            <p:spPr>
              <a:xfrm>
                <a:off x="1818618" y="2179370"/>
                <a:ext cx="1316737" cy="710015"/>
              </a:xfrm>
              <a:prstGeom prst="rect">
                <a:avLst/>
              </a:prstGeom>
              <a:noFill/>
            </p:spPr>
            <p:txBody>
              <a:bodyPr wrap="square">
                <a:spAutoFit/>
              </a:bodyPr>
              <a:lstStyle/>
              <a:p>
                <a:pPr algn="ctr"/>
                <a:r>
                  <a:rPr lang="en-US" sz="1050" b="1" dirty="0">
                    <a:solidFill>
                      <a:schemeClr val="bg1"/>
                    </a:solidFill>
                  </a:rPr>
                  <a:t>Tangible Investments</a:t>
                </a:r>
              </a:p>
              <a:p>
                <a:pPr algn="ctr"/>
                <a:endParaRPr lang="en-US" sz="1050" dirty="0">
                  <a:solidFill>
                    <a:schemeClr val="bg1"/>
                  </a:solidFill>
                </a:endParaRPr>
              </a:p>
              <a:p>
                <a:pPr algn="ctr"/>
                <a:r>
                  <a:rPr lang="en-US" sz="1050" dirty="0">
                    <a:solidFill>
                      <a:schemeClr val="bg1"/>
                    </a:solidFill>
                  </a:rPr>
                  <a:t>Software, Hardware, Resources, Support, Training</a:t>
                </a:r>
              </a:p>
            </p:txBody>
          </p:sp>
        </p:grpSp>
        <p:sp>
          <p:nvSpPr>
            <p:cNvPr id="25" name="Oval 5">
              <a:extLst>
                <a:ext uri="{FF2B5EF4-FFF2-40B4-BE49-F238E27FC236}">
                  <a16:creationId xmlns:a16="http://schemas.microsoft.com/office/drawing/2014/main" id="{6CC7326F-99AB-497F-920B-7A7F86050196}"/>
                </a:ext>
              </a:extLst>
            </p:cNvPr>
            <p:cNvSpPr>
              <a:spLocks noChangeArrowheads="1"/>
            </p:cNvSpPr>
            <p:nvPr/>
          </p:nvSpPr>
          <p:spPr bwMode="blackWhite">
            <a:xfrm>
              <a:off x="6672550" y="3123025"/>
              <a:ext cx="2144096" cy="2138059"/>
            </a:xfrm>
            <a:prstGeom prst="ellipse">
              <a:avLst/>
            </a:prstGeom>
            <a:solidFill>
              <a:schemeClr val="accent5"/>
            </a:solidFill>
            <a:ln w="12700">
              <a:solidFill>
                <a:schemeClr val="bg1"/>
              </a:solidFill>
              <a:round/>
              <a:headEnd/>
              <a:tailEnd/>
            </a:ln>
          </p:spPr>
          <p:txBody>
            <a:bodyPr wrap="square" lIns="91440" tIns="91440" rIns="91440" bIns="91440" anchor="ctr"/>
            <a:lstStyle/>
            <a:p>
              <a:pPr algn="ctr"/>
              <a:endParaRPr lang="en-US" sz="1200" dirty="0">
                <a:solidFill>
                  <a:schemeClr val="bg1"/>
                </a:solidFill>
              </a:endParaRPr>
            </a:p>
          </p:txBody>
        </p:sp>
        <p:sp>
          <p:nvSpPr>
            <p:cNvPr id="26" name="Rectangle 25">
              <a:extLst>
                <a:ext uri="{FF2B5EF4-FFF2-40B4-BE49-F238E27FC236}">
                  <a16:creationId xmlns:a16="http://schemas.microsoft.com/office/drawing/2014/main" id="{F8A93E49-AF89-476B-95B0-F54E20E91F2C}"/>
                </a:ext>
              </a:extLst>
            </p:cNvPr>
            <p:cNvSpPr/>
            <p:nvPr/>
          </p:nvSpPr>
          <p:spPr>
            <a:xfrm>
              <a:off x="6873197" y="3357381"/>
              <a:ext cx="1845027" cy="1754326"/>
            </a:xfrm>
            <a:prstGeom prst="rect">
              <a:avLst/>
            </a:prstGeom>
          </p:spPr>
          <p:txBody>
            <a:bodyPr wrap="square">
              <a:spAutoFit/>
            </a:bodyPr>
            <a:lstStyle/>
            <a:p>
              <a:pPr algn="ctr"/>
              <a:r>
                <a:rPr lang="en-US" sz="1200" dirty="0">
                  <a:solidFill>
                    <a:schemeClr val="bg1"/>
                  </a:solidFill>
                </a:rPr>
                <a:t>Indicative Tangible Benefits</a:t>
              </a:r>
            </a:p>
            <a:p>
              <a:pPr marL="171450" indent="-171450">
                <a:buFont typeface="Arial" panose="020B0604020202020204" pitchFamily="34" charset="0"/>
                <a:buChar char="•"/>
              </a:pPr>
              <a:r>
                <a:rPr lang="en-US" sz="1200" dirty="0">
                  <a:solidFill>
                    <a:schemeClr val="bg1"/>
                  </a:solidFill>
                </a:rPr>
                <a:t>Optimum Inventory Level</a:t>
              </a:r>
            </a:p>
            <a:p>
              <a:pPr marL="171450" indent="-171450">
                <a:buFont typeface="Arial" panose="020B0604020202020204" pitchFamily="34" charset="0"/>
                <a:buChar char="•"/>
              </a:pPr>
              <a:r>
                <a:rPr lang="en-US" sz="1200" dirty="0">
                  <a:solidFill>
                    <a:schemeClr val="bg1"/>
                  </a:solidFill>
                </a:rPr>
                <a:t>Reduced Proc. Costs</a:t>
              </a:r>
            </a:p>
            <a:p>
              <a:pPr marL="171450" indent="-171450">
                <a:buFont typeface="Arial" panose="020B0604020202020204" pitchFamily="34" charset="0"/>
                <a:buChar char="•"/>
              </a:pPr>
              <a:r>
                <a:rPr lang="en-US" sz="1200" dirty="0">
                  <a:solidFill>
                    <a:schemeClr val="bg1"/>
                  </a:solidFill>
                </a:rPr>
                <a:t>Better manpower utilization</a:t>
              </a:r>
            </a:p>
            <a:p>
              <a:pPr marL="171450" indent="-171450">
                <a:buFont typeface="Arial" panose="020B0604020202020204" pitchFamily="34" charset="0"/>
                <a:buChar char="•"/>
              </a:pPr>
              <a:r>
                <a:rPr lang="en-US" sz="1200" dirty="0">
                  <a:solidFill>
                    <a:schemeClr val="bg1"/>
                  </a:solidFill>
                </a:rPr>
                <a:t>Better Revenue Realization</a:t>
              </a:r>
            </a:p>
          </p:txBody>
        </p:sp>
        <p:sp>
          <p:nvSpPr>
            <p:cNvPr id="27" name="Rectangle 26">
              <a:extLst>
                <a:ext uri="{FF2B5EF4-FFF2-40B4-BE49-F238E27FC236}">
                  <a16:creationId xmlns:a16="http://schemas.microsoft.com/office/drawing/2014/main" id="{9E3E7F83-EE90-421C-A20B-5DE44564880C}"/>
                </a:ext>
              </a:extLst>
            </p:cNvPr>
            <p:cNvSpPr/>
            <p:nvPr/>
          </p:nvSpPr>
          <p:spPr>
            <a:xfrm>
              <a:off x="9017471" y="3366701"/>
              <a:ext cx="2243034" cy="1938992"/>
            </a:xfrm>
            <a:prstGeom prst="rect">
              <a:avLst/>
            </a:prstGeom>
          </p:spPr>
          <p:txBody>
            <a:bodyPr wrap="square">
              <a:spAutoFit/>
            </a:bodyPr>
            <a:lstStyle/>
            <a:p>
              <a:pPr algn="ctr"/>
              <a:r>
                <a:rPr lang="en-US" sz="1200" dirty="0">
                  <a:solidFill>
                    <a:schemeClr val="bg1"/>
                  </a:solidFill>
                </a:rPr>
                <a:t>Indicative Intangible Benefits</a:t>
              </a:r>
            </a:p>
            <a:p>
              <a:pPr marL="171450" indent="-171450">
                <a:buFont typeface="Arial" panose="020B0604020202020204" pitchFamily="34" charset="0"/>
                <a:buChar char="•"/>
              </a:pPr>
              <a:r>
                <a:rPr lang="en-US" sz="1200" dirty="0">
                  <a:solidFill>
                    <a:schemeClr val="bg1"/>
                  </a:solidFill>
                </a:rPr>
                <a:t>Quicker and better decision making</a:t>
              </a:r>
            </a:p>
            <a:p>
              <a:pPr marL="171450" indent="-171450">
                <a:buFont typeface="Arial" panose="020B0604020202020204" pitchFamily="34" charset="0"/>
                <a:buChar char="•"/>
              </a:pPr>
              <a:r>
                <a:rPr lang="en-US" sz="1200" dirty="0">
                  <a:solidFill>
                    <a:schemeClr val="bg1"/>
                  </a:solidFill>
                </a:rPr>
                <a:t>Improved MIS reporting and system tracking</a:t>
              </a:r>
            </a:p>
            <a:p>
              <a:pPr marL="171450" indent="-171450">
                <a:buFont typeface="Arial" panose="020B0604020202020204" pitchFamily="34" charset="0"/>
                <a:buChar char="•"/>
              </a:pPr>
              <a:r>
                <a:rPr lang="en-US" sz="1200" dirty="0">
                  <a:solidFill>
                    <a:schemeClr val="bg1"/>
                  </a:solidFill>
                </a:rPr>
                <a:t>Improved Customer Service</a:t>
              </a:r>
            </a:p>
            <a:p>
              <a:pPr marL="171450" indent="-171450">
                <a:buFont typeface="Arial" panose="020B0604020202020204" pitchFamily="34" charset="0"/>
                <a:buChar char="•"/>
              </a:pPr>
              <a:r>
                <a:rPr lang="en-US" sz="1200" dirty="0">
                  <a:solidFill>
                    <a:schemeClr val="bg1"/>
                  </a:solidFill>
                </a:rPr>
                <a:t>Integrated business processes reducing turnaround times</a:t>
              </a:r>
            </a:p>
            <a:p>
              <a:pPr marL="171450" indent="-171450">
                <a:buFont typeface="Arial" panose="020B0604020202020204" pitchFamily="34" charset="0"/>
                <a:buChar char="•"/>
              </a:pPr>
              <a:r>
                <a:rPr lang="en-US" sz="1200" dirty="0">
                  <a:solidFill>
                    <a:schemeClr val="bg1"/>
                  </a:solidFill>
                </a:rPr>
                <a:t>Ability to initiate business analytics</a:t>
              </a:r>
            </a:p>
          </p:txBody>
        </p:sp>
        <p:sp>
          <p:nvSpPr>
            <p:cNvPr id="28" name="Rectangle 27">
              <a:extLst>
                <a:ext uri="{FF2B5EF4-FFF2-40B4-BE49-F238E27FC236}">
                  <a16:creationId xmlns:a16="http://schemas.microsoft.com/office/drawing/2014/main" id="{8BC7F424-23B6-4E6E-B4F9-9906C2A0BE28}"/>
                </a:ext>
              </a:extLst>
            </p:cNvPr>
            <p:cNvSpPr/>
            <p:nvPr/>
          </p:nvSpPr>
          <p:spPr bwMode="gray">
            <a:xfrm rot="546570">
              <a:off x="1026541" y="4781221"/>
              <a:ext cx="3334336" cy="379956"/>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Investment</a:t>
              </a:r>
            </a:p>
          </p:txBody>
        </p:sp>
        <p:sp>
          <p:nvSpPr>
            <p:cNvPr id="29" name="Rectangle 28">
              <a:extLst>
                <a:ext uri="{FF2B5EF4-FFF2-40B4-BE49-F238E27FC236}">
                  <a16:creationId xmlns:a16="http://schemas.microsoft.com/office/drawing/2014/main" id="{593021AD-5F7E-49F4-A765-06856A51B71D}"/>
                </a:ext>
              </a:extLst>
            </p:cNvPr>
            <p:cNvSpPr/>
            <p:nvPr/>
          </p:nvSpPr>
          <p:spPr bwMode="gray">
            <a:xfrm rot="546570">
              <a:off x="7252261" y="5773290"/>
              <a:ext cx="3334336" cy="379956"/>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Benefits</a:t>
              </a:r>
            </a:p>
          </p:txBody>
        </p:sp>
      </p:grpSp>
    </p:spTree>
    <p:extLst>
      <p:ext uri="{BB962C8B-B14F-4D97-AF65-F5344CB8AC3E}">
        <p14:creationId xmlns:p14="http://schemas.microsoft.com/office/powerpoint/2010/main" val="24513532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166065058"/>
              </p:ext>
            </p:ext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680" y="1440"/>
                        <a:ext cx="1440" cy="1440"/>
                      </a:xfrm>
                      <a:prstGeom prst="rect">
                        <a:avLst/>
                      </a:prstGeom>
                    </p:spPr>
                  </p:pic>
                </p:oleObj>
              </mc:Fallback>
            </mc:AlternateContent>
          </a:graphicData>
        </a:graphic>
      </p:graphicFrame>
      <p:grpSp>
        <p:nvGrpSpPr>
          <p:cNvPr id="33" name="Group 32"/>
          <p:cNvGrpSpPr/>
          <p:nvPr/>
        </p:nvGrpSpPr>
        <p:grpSpPr>
          <a:xfrm>
            <a:off x="240" y="5282635"/>
            <a:ext cx="12191518" cy="1057096"/>
            <a:chOff x="0" y="5314915"/>
            <a:chExt cx="13444535" cy="1676400"/>
          </a:xfrm>
        </p:grpSpPr>
        <p:sp>
          <p:nvSpPr>
            <p:cNvPr id="34" name="Hexagon 33"/>
            <p:cNvSpPr/>
            <p:nvPr/>
          </p:nvSpPr>
          <p:spPr bwMode="gray">
            <a:xfrm>
              <a:off x="2234089" y="5314915"/>
              <a:ext cx="8976360" cy="1676400"/>
            </a:xfrm>
            <a:prstGeom prst="hexagon">
              <a:avLst/>
            </a:prstGeom>
            <a:gradFill>
              <a:gsLst>
                <a:gs pos="0">
                  <a:schemeClr val="accent1">
                    <a:alpha val="95000"/>
                  </a:schemeClr>
                </a:gs>
                <a:gs pos="100000">
                  <a:srgbClr val="0097A9">
                    <a:alpha val="60000"/>
                  </a:srgbClr>
                </a:gs>
              </a:gsLst>
              <a:lin ang="0" scaled="0"/>
            </a:grad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35" name="Group 34"/>
            <p:cNvGrpSpPr/>
            <p:nvPr/>
          </p:nvGrpSpPr>
          <p:grpSpPr>
            <a:xfrm>
              <a:off x="10903266" y="5513021"/>
              <a:ext cx="2541269" cy="1280188"/>
              <a:chOff x="10903266" y="5513021"/>
              <a:chExt cx="2541269" cy="1280188"/>
            </a:xfrm>
          </p:grpSpPr>
          <p:sp>
            <p:nvSpPr>
              <p:cNvPr id="43" name="Chevron 42"/>
              <p:cNvSpPr/>
              <p:nvPr/>
            </p:nvSpPr>
            <p:spPr bwMode="gray">
              <a:xfrm rot="10800000" flipH="1">
                <a:off x="10903266" y="5513021"/>
                <a:ext cx="457201" cy="1280188"/>
              </a:xfrm>
              <a:prstGeom prst="chevron">
                <a:avLst>
                  <a:gd name="adj" fmla="val 70202"/>
                </a:avLst>
              </a:prstGeom>
              <a:solidFill>
                <a:schemeClr val="accent5">
                  <a:alpha val="80000"/>
                </a:schemeClr>
              </a:solid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44" name="Group 43"/>
              <p:cNvGrpSpPr/>
              <p:nvPr/>
            </p:nvGrpSpPr>
            <p:grpSpPr>
              <a:xfrm>
                <a:off x="11301887" y="6041668"/>
                <a:ext cx="2142648" cy="227052"/>
                <a:chOff x="11338560" y="6041668"/>
                <a:chExt cx="2047717" cy="227052"/>
              </a:xfrm>
              <a:solidFill>
                <a:schemeClr val="accent5">
                  <a:alpha val="80000"/>
                </a:schemeClr>
              </a:solidFill>
            </p:grpSpPr>
            <p:sp>
              <p:nvSpPr>
                <p:cNvPr id="45" name="Rectangle 44"/>
                <p:cNvSpPr/>
                <p:nvPr/>
              </p:nvSpPr>
              <p:spPr bwMode="gray">
                <a:xfrm>
                  <a:off x="11390019" y="6041669"/>
                  <a:ext cx="1996258" cy="227051"/>
                </a:xfrm>
                <a:prstGeom prst="rect">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46" name="Group 45"/>
                <p:cNvGrpSpPr/>
                <p:nvPr/>
              </p:nvGrpSpPr>
              <p:grpSpPr>
                <a:xfrm>
                  <a:off x="11338560" y="6041668"/>
                  <a:ext cx="51458" cy="227052"/>
                  <a:chOff x="11778615" y="5998513"/>
                  <a:chExt cx="116958" cy="357524"/>
                </a:xfrm>
                <a:grpFill/>
              </p:grpSpPr>
              <p:sp>
                <p:nvSpPr>
                  <p:cNvPr id="47" name="Right Triangle 46"/>
                  <p:cNvSpPr/>
                  <p:nvPr/>
                </p:nvSpPr>
                <p:spPr bwMode="gray">
                  <a:xfrm rot="10800000" flipV="1">
                    <a:off x="11778615" y="6173078"/>
                    <a:ext cx="116958" cy="182959"/>
                  </a:xfrm>
                  <a:prstGeom prst="rtTriangle">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sp>
                <p:nvSpPr>
                  <p:cNvPr id="48" name="Right Triangle 47"/>
                  <p:cNvSpPr/>
                  <p:nvPr/>
                </p:nvSpPr>
                <p:spPr bwMode="gray">
                  <a:xfrm rot="10800000">
                    <a:off x="11778615" y="5998513"/>
                    <a:ext cx="116958" cy="174565"/>
                  </a:xfrm>
                  <a:prstGeom prst="rtTriangle">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grpSp>
        </p:grpSp>
        <p:grpSp>
          <p:nvGrpSpPr>
            <p:cNvPr id="36" name="Group 35"/>
            <p:cNvGrpSpPr/>
            <p:nvPr/>
          </p:nvGrpSpPr>
          <p:grpSpPr>
            <a:xfrm flipH="1">
              <a:off x="0" y="5513021"/>
              <a:ext cx="2541269" cy="1280188"/>
              <a:chOff x="10903266" y="5513021"/>
              <a:chExt cx="2541269" cy="1280188"/>
            </a:xfrm>
            <a:solidFill>
              <a:schemeClr val="accent1">
                <a:alpha val="80000"/>
              </a:schemeClr>
            </a:solidFill>
          </p:grpSpPr>
          <p:sp>
            <p:nvSpPr>
              <p:cNvPr id="37" name="Chevron 36"/>
              <p:cNvSpPr/>
              <p:nvPr/>
            </p:nvSpPr>
            <p:spPr bwMode="gray">
              <a:xfrm rot="10800000" flipH="1">
                <a:off x="10903266" y="5513021"/>
                <a:ext cx="457201" cy="1280188"/>
              </a:xfrm>
              <a:prstGeom prst="chevron">
                <a:avLst>
                  <a:gd name="adj" fmla="val 70202"/>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38" name="Group 37"/>
              <p:cNvGrpSpPr/>
              <p:nvPr/>
            </p:nvGrpSpPr>
            <p:grpSpPr>
              <a:xfrm>
                <a:off x="11301887" y="6041668"/>
                <a:ext cx="2142648" cy="227052"/>
                <a:chOff x="11338560" y="6041668"/>
                <a:chExt cx="2047717" cy="227052"/>
              </a:xfrm>
              <a:grpFill/>
            </p:grpSpPr>
            <p:sp>
              <p:nvSpPr>
                <p:cNvPr id="39" name="Rectangle 38"/>
                <p:cNvSpPr/>
                <p:nvPr/>
              </p:nvSpPr>
              <p:spPr bwMode="gray">
                <a:xfrm>
                  <a:off x="11390019" y="6041669"/>
                  <a:ext cx="1996258" cy="227051"/>
                </a:xfrm>
                <a:prstGeom prst="rect">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40" name="Group 39"/>
                <p:cNvGrpSpPr/>
                <p:nvPr/>
              </p:nvGrpSpPr>
              <p:grpSpPr>
                <a:xfrm>
                  <a:off x="11338560" y="6041668"/>
                  <a:ext cx="51458" cy="227052"/>
                  <a:chOff x="11778615" y="5998513"/>
                  <a:chExt cx="116958" cy="357524"/>
                </a:xfrm>
                <a:grpFill/>
              </p:grpSpPr>
              <p:sp>
                <p:nvSpPr>
                  <p:cNvPr id="41" name="Right Triangle 40"/>
                  <p:cNvSpPr/>
                  <p:nvPr/>
                </p:nvSpPr>
                <p:spPr bwMode="gray">
                  <a:xfrm rot="10800000" flipV="1">
                    <a:off x="11778615" y="6173078"/>
                    <a:ext cx="116958" cy="182959"/>
                  </a:xfrm>
                  <a:prstGeom prst="rtTriangle">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sp>
                <p:nvSpPr>
                  <p:cNvPr id="42" name="Right Triangle 41"/>
                  <p:cNvSpPr/>
                  <p:nvPr/>
                </p:nvSpPr>
                <p:spPr bwMode="gray">
                  <a:xfrm rot="10800000">
                    <a:off x="11778615" y="5998513"/>
                    <a:ext cx="116958" cy="174565"/>
                  </a:xfrm>
                  <a:prstGeom prst="rtTriangle">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grpSp>
        </p:grpSp>
      </p:grpSp>
      <p:sp>
        <p:nvSpPr>
          <p:cNvPr id="49" name="Text Placeholder 12"/>
          <p:cNvSpPr>
            <a:spLocks noGrp="1"/>
          </p:cNvSpPr>
          <p:nvPr>
            <p:ph type="body" sz="quarter" idx="4294967295"/>
          </p:nvPr>
        </p:nvSpPr>
        <p:spPr>
          <a:xfrm>
            <a:off x="2030408" y="5598406"/>
            <a:ext cx="8139771" cy="498083"/>
          </a:xfrm>
          <a:prstGeom prst="rect">
            <a:avLst/>
          </a:prstGeom>
        </p:spPr>
        <p:txBody>
          <a:bodyPr/>
          <a:lstStyle/>
          <a:p>
            <a:pPr algn="ctr"/>
            <a:r>
              <a:rPr lang="en-US" sz="2176" b="1" dirty="0"/>
              <a:t>Benefit Analysis</a:t>
            </a:r>
          </a:p>
        </p:txBody>
      </p:sp>
    </p:spTree>
    <p:extLst>
      <p:ext uri="{BB962C8B-B14F-4D97-AF65-F5344CB8AC3E}">
        <p14:creationId xmlns:p14="http://schemas.microsoft.com/office/powerpoint/2010/main" val="216814118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F8626F80-32EA-4C8C-916C-191184E4D266}"/>
              </a:ext>
            </a:extLst>
          </p:cNvPr>
          <p:cNvSpPr/>
          <p:nvPr/>
        </p:nvSpPr>
        <p:spPr bwMode="gray">
          <a:xfrm>
            <a:off x="517187" y="1243377"/>
            <a:ext cx="11188701" cy="311484"/>
          </a:xfrm>
          <a:prstGeom prst="rect">
            <a:avLst/>
          </a:prstGeom>
          <a:solidFill>
            <a:schemeClr val="tx1">
              <a:lumMod val="65000"/>
              <a:lumOff val="35000"/>
            </a:schemeClr>
          </a:solidFill>
          <a:ln w="19050" algn="ctr">
            <a:noFill/>
            <a:miter lim="800000"/>
            <a:headEnd/>
            <a:tailEnd/>
          </a:ln>
        </p:spPr>
        <p:txBody>
          <a:bodyPr wrap="square" lIns="0" tIns="0" rIns="0" bIns="0" rtlCol="0" anchor="ctr"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Verdana" panose="020B0604030504040204" pitchFamily="34" charset="0"/>
                <a:ea typeface="+mn-ea"/>
                <a:cs typeface="+mn-cs"/>
              </a:rPr>
              <a:t>STELCO – ERP Tangible Benefit Analysis</a:t>
            </a:r>
          </a:p>
        </p:txBody>
      </p:sp>
      <p:sp>
        <p:nvSpPr>
          <p:cNvPr id="8" name="Rectangle 7">
            <a:extLst>
              <a:ext uri="{FF2B5EF4-FFF2-40B4-BE49-F238E27FC236}">
                <a16:creationId xmlns:a16="http://schemas.microsoft.com/office/drawing/2014/main" id="{02B955D2-19A6-41EB-B171-DA3A4CE7EB2F}"/>
              </a:ext>
            </a:extLst>
          </p:cNvPr>
          <p:cNvSpPr/>
          <p:nvPr/>
        </p:nvSpPr>
        <p:spPr bwMode="gray">
          <a:xfrm>
            <a:off x="517187" y="1682496"/>
            <a:ext cx="8304140" cy="4754880"/>
          </a:xfrm>
          <a:prstGeom prst="rect">
            <a:avLst/>
          </a:prstGeom>
          <a:noFill/>
          <a:ln w="3175" algn="ctr">
            <a:solidFill>
              <a:schemeClr val="bg1">
                <a:lumMod val="7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9" name="Rounded Rectangle 4">
            <a:extLst>
              <a:ext uri="{FF2B5EF4-FFF2-40B4-BE49-F238E27FC236}">
                <a16:creationId xmlns:a16="http://schemas.microsoft.com/office/drawing/2014/main" id="{3356FEE2-FFAD-480B-A682-5D75AF9B1839}"/>
              </a:ext>
            </a:extLst>
          </p:cNvPr>
          <p:cNvSpPr/>
          <p:nvPr/>
        </p:nvSpPr>
        <p:spPr bwMode="gray">
          <a:xfrm>
            <a:off x="679329" y="1830745"/>
            <a:ext cx="2323281" cy="2103630"/>
          </a:xfrm>
          <a:prstGeom prst="roundRect">
            <a:avLst>
              <a:gd name="adj" fmla="val 7754"/>
            </a:avLst>
          </a:prstGeom>
          <a:solidFill>
            <a:schemeClr val="bg1">
              <a:lumMod val="85000"/>
              <a:alpha val="50000"/>
            </a:schemeClr>
          </a:solidFill>
          <a:ln w="19050" algn="ctr">
            <a:noFill/>
            <a:miter lim="800000"/>
            <a:headEnd/>
            <a:tailEnd/>
          </a:ln>
          <a:scene3d>
            <a:camera prst="orthographicFront"/>
            <a:lightRig rig="threePt" dir="t"/>
          </a:scene3d>
          <a:sp3d>
            <a:bevelT/>
          </a:sp3d>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TextBox 9">
            <a:extLst>
              <a:ext uri="{FF2B5EF4-FFF2-40B4-BE49-F238E27FC236}">
                <a16:creationId xmlns:a16="http://schemas.microsoft.com/office/drawing/2014/main" id="{255B3933-BA01-4938-96AE-9D1A98D52D48}"/>
              </a:ext>
            </a:extLst>
          </p:cNvPr>
          <p:cNvSpPr txBox="1"/>
          <p:nvPr/>
        </p:nvSpPr>
        <p:spPr>
          <a:xfrm>
            <a:off x="943882" y="1930235"/>
            <a:ext cx="1794175" cy="276999"/>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43B02A"/>
                </a:solidFill>
                <a:effectLst/>
                <a:uLnTx/>
                <a:uFillTx/>
                <a:latin typeface="Calibri"/>
                <a:ea typeface="Verdana" panose="020B0604030504040204" pitchFamily="34" charset="0"/>
                <a:cs typeface="Verdana" panose="020B0604030504040204" pitchFamily="34" charset="0"/>
              </a:rPr>
              <a:t>Procurement Management</a:t>
            </a:r>
            <a:endParaRPr kumimoji="0" lang="en-IN" sz="1200" b="1" i="1" u="none" strike="noStrike" kern="1200" cap="none" spc="0" normalizeH="0" baseline="0" noProof="0" dirty="0">
              <a:ln>
                <a:noFill/>
              </a:ln>
              <a:solidFill>
                <a:srgbClr val="43B02A"/>
              </a:solidFill>
              <a:effectLst/>
              <a:uLnTx/>
              <a:uFillTx/>
              <a:latin typeface="Calibri"/>
              <a:ea typeface="Verdana" panose="020B0604030504040204" pitchFamily="34" charset="0"/>
              <a:cs typeface="Verdana" panose="020B0604030504040204" pitchFamily="34" charset="0"/>
            </a:endParaRPr>
          </a:p>
        </p:txBody>
      </p:sp>
      <p:sp>
        <p:nvSpPr>
          <p:cNvPr id="11" name="TextBox 10">
            <a:extLst>
              <a:ext uri="{FF2B5EF4-FFF2-40B4-BE49-F238E27FC236}">
                <a16:creationId xmlns:a16="http://schemas.microsoft.com/office/drawing/2014/main" id="{53613620-B444-4BDB-B06C-8FEBB115E67F}"/>
              </a:ext>
            </a:extLst>
          </p:cNvPr>
          <p:cNvSpPr txBox="1"/>
          <p:nvPr/>
        </p:nvSpPr>
        <p:spPr>
          <a:xfrm>
            <a:off x="679329" y="3009553"/>
            <a:ext cx="2290986" cy="9387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2C5234"/>
                </a:solidFill>
                <a:effectLst/>
                <a:uLnTx/>
                <a:uFillTx/>
                <a:latin typeface="Calibri"/>
                <a:ea typeface="Verdana" panose="020B0604030504040204" pitchFamily="34" charset="0"/>
                <a:cs typeface="Verdana" panose="020B0604030504040204" pitchFamily="34" charset="0"/>
              </a:rPr>
              <a:t>Benefits derived out of saving costs in the PO processing mechanism - includes execution of bid / award process and creation / approval / communication of PO.</a:t>
            </a:r>
            <a:endParaRPr kumimoji="0" lang="en-IN" sz="1100" b="0" i="1" u="none" strike="noStrike" kern="1200" cap="none" spc="0" normalizeH="0" baseline="0" noProof="0" dirty="0">
              <a:ln>
                <a:noFill/>
              </a:ln>
              <a:solidFill>
                <a:srgbClr val="2C5234"/>
              </a:solidFill>
              <a:effectLst/>
              <a:uLnTx/>
              <a:uFillTx/>
              <a:latin typeface="Calibri"/>
              <a:ea typeface="Verdana" panose="020B0604030504040204" pitchFamily="34" charset="0"/>
              <a:cs typeface="Verdana" panose="020B0604030504040204" pitchFamily="34" charset="0"/>
            </a:endParaRPr>
          </a:p>
        </p:txBody>
      </p:sp>
      <p:sp>
        <p:nvSpPr>
          <p:cNvPr id="12" name="Rounded Rectangle 82">
            <a:extLst>
              <a:ext uri="{FF2B5EF4-FFF2-40B4-BE49-F238E27FC236}">
                <a16:creationId xmlns:a16="http://schemas.microsoft.com/office/drawing/2014/main" id="{12F91416-6505-46FC-A2BD-8F2659B91503}"/>
              </a:ext>
            </a:extLst>
          </p:cNvPr>
          <p:cNvSpPr/>
          <p:nvPr/>
        </p:nvSpPr>
        <p:spPr bwMode="gray">
          <a:xfrm>
            <a:off x="3486901" y="1806605"/>
            <a:ext cx="2323281" cy="2103630"/>
          </a:xfrm>
          <a:prstGeom prst="roundRect">
            <a:avLst>
              <a:gd name="adj" fmla="val 7754"/>
            </a:avLst>
          </a:prstGeom>
          <a:solidFill>
            <a:schemeClr val="bg1">
              <a:lumMod val="85000"/>
              <a:alpha val="50000"/>
            </a:schemeClr>
          </a:solidFill>
          <a:ln w="19050" algn="ctr">
            <a:noFill/>
            <a:miter lim="800000"/>
            <a:headEnd/>
            <a:tailEnd/>
          </a:ln>
          <a:scene3d>
            <a:camera prst="orthographicFront"/>
            <a:lightRig rig="threePt" dir="t"/>
          </a:scene3d>
          <a:sp3d>
            <a:bevelT/>
          </a:sp3d>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3FDB165A-388A-4FDD-A707-01FB7C91EA89}"/>
              </a:ext>
            </a:extLst>
          </p:cNvPr>
          <p:cNvSpPr txBox="1"/>
          <p:nvPr/>
        </p:nvSpPr>
        <p:spPr>
          <a:xfrm>
            <a:off x="3751454" y="1930235"/>
            <a:ext cx="1794175" cy="276999"/>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26890D"/>
                </a:solidFill>
                <a:effectLst/>
                <a:uLnTx/>
                <a:uFillTx/>
                <a:latin typeface="Calibri"/>
                <a:ea typeface="Verdana" panose="020B0604030504040204" pitchFamily="34" charset="0"/>
                <a:cs typeface="Verdana" panose="020B0604030504040204" pitchFamily="34" charset="0"/>
              </a:rPr>
              <a:t>Inventory Management</a:t>
            </a:r>
            <a:endParaRPr kumimoji="0" lang="en-IN" sz="1200" b="1" i="1" u="none" strike="noStrike" kern="1200" cap="none" spc="0" normalizeH="0" baseline="0" noProof="0" dirty="0">
              <a:ln>
                <a:noFill/>
              </a:ln>
              <a:solidFill>
                <a:srgbClr val="26890D"/>
              </a:solidFill>
              <a:effectLst/>
              <a:uLnTx/>
              <a:uFillTx/>
              <a:latin typeface="Calibri"/>
              <a:ea typeface="Verdana" panose="020B0604030504040204" pitchFamily="34" charset="0"/>
              <a:cs typeface="Verdana" panose="020B0604030504040204" pitchFamily="34" charset="0"/>
            </a:endParaRPr>
          </a:p>
        </p:txBody>
      </p:sp>
      <p:sp>
        <p:nvSpPr>
          <p:cNvPr id="14" name="TextBox 13">
            <a:extLst>
              <a:ext uri="{FF2B5EF4-FFF2-40B4-BE49-F238E27FC236}">
                <a16:creationId xmlns:a16="http://schemas.microsoft.com/office/drawing/2014/main" id="{ABD700C9-BD44-47C9-AEC4-F634516C5926}"/>
              </a:ext>
            </a:extLst>
          </p:cNvPr>
          <p:cNvSpPr txBox="1"/>
          <p:nvPr/>
        </p:nvSpPr>
        <p:spPr>
          <a:xfrm>
            <a:off x="3509627" y="3009553"/>
            <a:ext cx="232003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2C5234"/>
                </a:solidFill>
                <a:effectLst/>
                <a:uLnTx/>
                <a:uFillTx/>
                <a:latin typeface="Calibri"/>
                <a:ea typeface="Verdana" panose="020B0604030504040204" pitchFamily="34" charset="0"/>
                <a:cs typeface="Verdana" panose="020B0604030504040204" pitchFamily="34" charset="0"/>
              </a:rPr>
              <a:t>Benefits derived out of saving costs in the inventory management and reduction in working capital requirement</a:t>
            </a:r>
            <a:endParaRPr kumimoji="0" lang="en-IN" sz="1100" b="0" i="1" u="none" strike="noStrike" kern="1200" cap="none" spc="0" normalizeH="0" baseline="0" noProof="0" dirty="0">
              <a:ln>
                <a:noFill/>
              </a:ln>
              <a:solidFill>
                <a:srgbClr val="2C5234"/>
              </a:solidFill>
              <a:effectLst/>
              <a:uLnTx/>
              <a:uFillTx/>
              <a:latin typeface="Calibri"/>
              <a:ea typeface="Verdana" panose="020B0604030504040204" pitchFamily="34" charset="0"/>
              <a:cs typeface="Verdana" panose="020B0604030504040204" pitchFamily="34" charset="0"/>
            </a:endParaRPr>
          </a:p>
        </p:txBody>
      </p:sp>
      <p:sp>
        <p:nvSpPr>
          <p:cNvPr id="15" name="Rounded Rectangle 83">
            <a:extLst>
              <a:ext uri="{FF2B5EF4-FFF2-40B4-BE49-F238E27FC236}">
                <a16:creationId xmlns:a16="http://schemas.microsoft.com/office/drawing/2014/main" id="{6733A75C-9696-4210-A725-DA98F8F5D489}"/>
              </a:ext>
            </a:extLst>
          </p:cNvPr>
          <p:cNvSpPr/>
          <p:nvPr/>
        </p:nvSpPr>
        <p:spPr bwMode="gray">
          <a:xfrm>
            <a:off x="6326166" y="1806605"/>
            <a:ext cx="2323281" cy="2103630"/>
          </a:xfrm>
          <a:prstGeom prst="roundRect">
            <a:avLst>
              <a:gd name="adj" fmla="val 7754"/>
            </a:avLst>
          </a:prstGeom>
          <a:solidFill>
            <a:schemeClr val="bg1">
              <a:lumMod val="85000"/>
              <a:alpha val="50000"/>
            </a:schemeClr>
          </a:solidFill>
          <a:ln w="19050" algn="ctr">
            <a:noFill/>
            <a:miter lim="800000"/>
            <a:headEnd/>
            <a:tailEnd/>
          </a:ln>
          <a:scene3d>
            <a:camera prst="orthographicFront"/>
            <a:lightRig rig="threePt" dir="t"/>
          </a:scene3d>
          <a:sp3d>
            <a:bevelT/>
          </a:sp3d>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B6CAA921-B1A0-4F0A-BB3D-DD32182FC084}"/>
              </a:ext>
            </a:extLst>
          </p:cNvPr>
          <p:cNvSpPr txBox="1"/>
          <p:nvPr/>
        </p:nvSpPr>
        <p:spPr>
          <a:xfrm>
            <a:off x="6350540" y="1930235"/>
            <a:ext cx="2298906" cy="276999"/>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046A38"/>
                </a:solidFill>
                <a:effectLst/>
                <a:uLnTx/>
                <a:uFillTx/>
                <a:latin typeface="Calibri"/>
                <a:ea typeface="Verdana" panose="020B0604030504040204" pitchFamily="34" charset="0"/>
                <a:cs typeface="Verdana" panose="020B0604030504040204" pitchFamily="34" charset="0"/>
              </a:rPr>
              <a:t>Generation Efficiency</a:t>
            </a:r>
            <a:endParaRPr kumimoji="0" lang="en-IN" sz="1200" b="1" i="1" u="none" strike="noStrike" kern="1200" cap="none" spc="0" normalizeH="0" baseline="0" noProof="0" dirty="0">
              <a:ln>
                <a:noFill/>
              </a:ln>
              <a:solidFill>
                <a:srgbClr val="046A38"/>
              </a:solidFill>
              <a:effectLst/>
              <a:uLnTx/>
              <a:uFillTx/>
              <a:latin typeface="Calibri"/>
              <a:ea typeface="Verdana" panose="020B0604030504040204" pitchFamily="34" charset="0"/>
              <a:cs typeface="Verdana" panose="020B0604030504040204" pitchFamily="34" charset="0"/>
            </a:endParaRPr>
          </a:p>
        </p:txBody>
      </p:sp>
      <p:sp>
        <p:nvSpPr>
          <p:cNvPr id="17" name="TextBox 16">
            <a:extLst>
              <a:ext uri="{FF2B5EF4-FFF2-40B4-BE49-F238E27FC236}">
                <a16:creationId xmlns:a16="http://schemas.microsoft.com/office/drawing/2014/main" id="{A7C5145E-E2D9-4BAE-BA4B-75356F8D507B}"/>
              </a:ext>
            </a:extLst>
          </p:cNvPr>
          <p:cNvSpPr txBox="1"/>
          <p:nvPr/>
        </p:nvSpPr>
        <p:spPr>
          <a:xfrm>
            <a:off x="6326166" y="3009553"/>
            <a:ext cx="2290986"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2C5234"/>
                </a:solidFill>
                <a:effectLst/>
                <a:uLnTx/>
                <a:uFillTx/>
                <a:latin typeface="Calibri"/>
                <a:ea typeface="Verdana" panose="020B0604030504040204" pitchFamily="34" charset="0"/>
                <a:cs typeface="Verdana" panose="020B0604030504040204" pitchFamily="34" charset="0"/>
              </a:rPr>
              <a:t>Benefits derived out of saving costs due to the improvement in generation efficiency - fuel savings, reduced downtime etc.</a:t>
            </a:r>
            <a:endParaRPr kumimoji="0" lang="en-IN" sz="1100" b="0" i="1" u="none" strike="noStrike" kern="1200" cap="none" spc="0" normalizeH="0" baseline="0" noProof="0" dirty="0">
              <a:ln>
                <a:noFill/>
              </a:ln>
              <a:solidFill>
                <a:srgbClr val="2C5234"/>
              </a:solidFill>
              <a:effectLst/>
              <a:uLnTx/>
              <a:uFillTx/>
              <a:latin typeface="Calibri"/>
              <a:ea typeface="Verdana" panose="020B0604030504040204" pitchFamily="34" charset="0"/>
              <a:cs typeface="Verdana" panose="020B0604030504040204" pitchFamily="34" charset="0"/>
            </a:endParaRPr>
          </a:p>
        </p:txBody>
      </p:sp>
      <p:sp>
        <p:nvSpPr>
          <p:cNvPr id="18" name="Rounded Rectangle 86">
            <a:extLst>
              <a:ext uri="{FF2B5EF4-FFF2-40B4-BE49-F238E27FC236}">
                <a16:creationId xmlns:a16="http://schemas.microsoft.com/office/drawing/2014/main" id="{C0D21456-2AB8-4C86-B603-1976B8A95C7A}"/>
              </a:ext>
            </a:extLst>
          </p:cNvPr>
          <p:cNvSpPr/>
          <p:nvPr/>
        </p:nvSpPr>
        <p:spPr bwMode="gray">
          <a:xfrm>
            <a:off x="3416916" y="4314824"/>
            <a:ext cx="2490871" cy="2103630"/>
          </a:xfrm>
          <a:prstGeom prst="roundRect">
            <a:avLst>
              <a:gd name="adj" fmla="val 7754"/>
            </a:avLst>
          </a:prstGeom>
          <a:solidFill>
            <a:schemeClr val="bg1">
              <a:lumMod val="85000"/>
              <a:alpha val="50000"/>
            </a:schemeClr>
          </a:solidFill>
          <a:ln w="19050" algn="ctr">
            <a:noFill/>
            <a:miter lim="800000"/>
            <a:headEnd/>
            <a:tailEnd/>
          </a:ln>
          <a:scene3d>
            <a:camera prst="orthographicFront"/>
            <a:lightRig rig="threePt" dir="t"/>
          </a:scene3d>
          <a:sp3d>
            <a:bevelT/>
          </a:sp3d>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TextBox 18">
            <a:extLst>
              <a:ext uri="{FF2B5EF4-FFF2-40B4-BE49-F238E27FC236}">
                <a16:creationId xmlns:a16="http://schemas.microsoft.com/office/drawing/2014/main" id="{CD1C0BB4-71B0-44D2-8A44-1D9EE2E9F2C8}"/>
              </a:ext>
            </a:extLst>
          </p:cNvPr>
          <p:cNvSpPr txBox="1"/>
          <p:nvPr/>
        </p:nvSpPr>
        <p:spPr>
          <a:xfrm>
            <a:off x="3584840" y="4450217"/>
            <a:ext cx="2155023"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0176A7"/>
                </a:solidFill>
                <a:effectLst/>
                <a:uLnTx/>
                <a:uFillTx/>
                <a:latin typeface="Calibri"/>
                <a:ea typeface="Verdana" panose="020B0604030504040204" pitchFamily="34" charset="0"/>
                <a:cs typeface="Verdana" panose="020B0604030504040204" pitchFamily="34" charset="0"/>
              </a:rPr>
              <a:t>Legacy License Cost Avoidance</a:t>
            </a:r>
            <a:endParaRPr kumimoji="0" lang="en-IN" sz="1200" b="1" i="1" u="none" strike="noStrike" kern="1200" cap="none" spc="0" normalizeH="0" baseline="0" noProof="0" dirty="0">
              <a:ln>
                <a:noFill/>
              </a:ln>
              <a:solidFill>
                <a:srgbClr val="0176A7"/>
              </a:solidFill>
              <a:effectLst/>
              <a:uLnTx/>
              <a:uFillTx/>
              <a:latin typeface="Calibri"/>
              <a:ea typeface="Verdana" panose="020B0604030504040204" pitchFamily="34" charset="0"/>
              <a:cs typeface="Verdana" panose="020B0604030504040204" pitchFamily="34" charset="0"/>
            </a:endParaRPr>
          </a:p>
        </p:txBody>
      </p:sp>
      <p:sp>
        <p:nvSpPr>
          <p:cNvPr id="20" name="TextBox 19">
            <a:extLst>
              <a:ext uri="{FF2B5EF4-FFF2-40B4-BE49-F238E27FC236}">
                <a16:creationId xmlns:a16="http://schemas.microsoft.com/office/drawing/2014/main" id="{29DA9672-4D2E-425C-AB65-7BE7A1B5F2CE}"/>
              </a:ext>
            </a:extLst>
          </p:cNvPr>
          <p:cNvSpPr txBox="1"/>
          <p:nvPr/>
        </p:nvSpPr>
        <p:spPr>
          <a:xfrm>
            <a:off x="3487509" y="5438241"/>
            <a:ext cx="2360389" cy="9387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2C5234"/>
                </a:solidFill>
                <a:effectLst/>
                <a:uLnTx/>
                <a:uFillTx/>
                <a:latin typeface="Calibri"/>
                <a:ea typeface="Verdana" panose="020B0604030504040204" pitchFamily="34" charset="0"/>
                <a:cs typeface="Verdana" panose="020B0604030504040204" pitchFamily="34" charset="0"/>
              </a:rPr>
              <a:t>Benefits derived out of implementing ERP based solution leading to avoidance of subscription / maintenance contracts of existing solutions</a:t>
            </a:r>
            <a:endParaRPr kumimoji="0" lang="en-IN" sz="1100" b="0" i="1" u="none" strike="noStrike" kern="1200" cap="none" spc="0" normalizeH="0" baseline="0" noProof="0" dirty="0">
              <a:ln>
                <a:noFill/>
              </a:ln>
              <a:solidFill>
                <a:srgbClr val="2C5234"/>
              </a:solidFill>
              <a:effectLst/>
              <a:uLnTx/>
              <a:uFillTx/>
              <a:latin typeface="Calibri"/>
              <a:ea typeface="Verdana" panose="020B0604030504040204" pitchFamily="34" charset="0"/>
              <a:cs typeface="Verdana" panose="020B0604030504040204" pitchFamily="34" charset="0"/>
            </a:endParaRPr>
          </a:p>
        </p:txBody>
      </p:sp>
      <p:sp>
        <p:nvSpPr>
          <p:cNvPr id="24" name="Plus 115">
            <a:extLst>
              <a:ext uri="{FF2B5EF4-FFF2-40B4-BE49-F238E27FC236}">
                <a16:creationId xmlns:a16="http://schemas.microsoft.com/office/drawing/2014/main" id="{45A52F6F-B60A-46DB-9BD2-26E461CE674D}"/>
              </a:ext>
            </a:extLst>
          </p:cNvPr>
          <p:cNvSpPr/>
          <p:nvPr/>
        </p:nvSpPr>
        <p:spPr>
          <a:xfrm>
            <a:off x="3072622" y="2616692"/>
            <a:ext cx="351799" cy="360000"/>
          </a:xfrm>
          <a:prstGeom prst="mathPlus">
            <a:avLst/>
          </a:prstGeom>
          <a:solidFill>
            <a:schemeClr val="bg1">
              <a:lumMod val="65000"/>
            </a:schemeClr>
          </a:solidFill>
          <a:ln w="12700" cap="flat" cmpd="sng" algn="ctr">
            <a:solidFill>
              <a:sysClr val="window" lastClr="FFFFFF">
                <a:lumMod val="50000"/>
              </a:sysClr>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5" name="Plus 116">
            <a:extLst>
              <a:ext uri="{FF2B5EF4-FFF2-40B4-BE49-F238E27FC236}">
                <a16:creationId xmlns:a16="http://schemas.microsoft.com/office/drawing/2014/main" id="{ECBD61D9-5142-4C7B-97E6-EE91F5B61CBC}"/>
              </a:ext>
            </a:extLst>
          </p:cNvPr>
          <p:cNvSpPr/>
          <p:nvPr/>
        </p:nvSpPr>
        <p:spPr>
          <a:xfrm>
            <a:off x="5907787" y="2616692"/>
            <a:ext cx="351799" cy="360000"/>
          </a:xfrm>
          <a:prstGeom prst="mathPlus">
            <a:avLst/>
          </a:prstGeom>
          <a:solidFill>
            <a:schemeClr val="bg1">
              <a:lumMod val="65000"/>
            </a:schemeClr>
          </a:solidFill>
          <a:ln w="12700" cap="flat" cmpd="sng" algn="ctr">
            <a:solidFill>
              <a:sysClr val="window" lastClr="FFFFFF">
                <a:lumMod val="50000"/>
              </a:sysClr>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6BD91B55-AD86-4AE5-B513-3F301BEFADF1}"/>
              </a:ext>
            </a:extLst>
          </p:cNvPr>
          <p:cNvSpPr/>
          <p:nvPr/>
        </p:nvSpPr>
        <p:spPr bwMode="gray">
          <a:xfrm>
            <a:off x="597970" y="1720039"/>
            <a:ext cx="264841" cy="271015"/>
          </a:xfrm>
          <a:prstGeom prst="ellipse">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1200" cap="none" spc="0" normalizeH="0" baseline="0" noProof="0" dirty="0">
                <a:ln>
                  <a:noFill/>
                </a:ln>
                <a:solidFill>
                  <a:prstClr val="white"/>
                </a:solidFill>
                <a:effectLst/>
                <a:uLnTx/>
                <a:uFillTx/>
                <a:latin typeface="Calibri"/>
                <a:ea typeface="+mn-ea"/>
                <a:cs typeface="+mn-cs"/>
              </a:rPr>
              <a:t>1</a:t>
            </a:r>
          </a:p>
        </p:txBody>
      </p:sp>
      <p:sp>
        <p:nvSpPr>
          <p:cNvPr id="28" name="Oval 27">
            <a:extLst>
              <a:ext uri="{FF2B5EF4-FFF2-40B4-BE49-F238E27FC236}">
                <a16:creationId xmlns:a16="http://schemas.microsoft.com/office/drawing/2014/main" id="{2FCF3D75-83A6-43F5-ACBB-3361BFEE77DC}"/>
              </a:ext>
            </a:extLst>
          </p:cNvPr>
          <p:cNvSpPr/>
          <p:nvPr/>
        </p:nvSpPr>
        <p:spPr bwMode="gray">
          <a:xfrm>
            <a:off x="3371555" y="1720039"/>
            <a:ext cx="264841" cy="271015"/>
          </a:xfrm>
          <a:prstGeom prst="ellipse">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1200" cap="none" spc="0" normalizeH="0" baseline="0" noProof="0" dirty="0">
                <a:ln>
                  <a:noFill/>
                </a:ln>
                <a:solidFill>
                  <a:prstClr val="white"/>
                </a:solidFill>
                <a:effectLst/>
                <a:uLnTx/>
                <a:uFillTx/>
                <a:latin typeface="Calibri"/>
                <a:ea typeface="+mn-ea"/>
                <a:cs typeface="+mn-cs"/>
              </a:rPr>
              <a:t>2</a:t>
            </a:r>
          </a:p>
        </p:txBody>
      </p:sp>
      <p:sp>
        <p:nvSpPr>
          <p:cNvPr id="29" name="Oval 28">
            <a:extLst>
              <a:ext uri="{FF2B5EF4-FFF2-40B4-BE49-F238E27FC236}">
                <a16:creationId xmlns:a16="http://schemas.microsoft.com/office/drawing/2014/main" id="{461CCC33-AA27-4251-9069-A73FB9639422}"/>
              </a:ext>
            </a:extLst>
          </p:cNvPr>
          <p:cNvSpPr/>
          <p:nvPr/>
        </p:nvSpPr>
        <p:spPr bwMode="gray">
          <a:xfrm>
            <a:off x="6193745" y="1720039"/>
            <a:ext cx="264841" cy="271015"/>
          </a:xfrm>
          <a:prstGeom prst="ellipse">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1200" cap="none" spc="0" normalizeH="0" baseline="0" noProof="0" dirty="0">
                <a:ln>
                  <a:noFill/>
                </a:ln>
                <a:solidFill>
                  <a:prstClr val="white"/>
                </a:solidFill>
                <a:effectLst/>
                <a:uLnTx/>
                <a:uFillTx/>
                <a:latin typeface="Calibri"/>
                <a:ea typeface="+mn-ea"/>
                <a:cs typeface="+mn-cs"/>
              </a:rPr>
              <a:t>3</a:t>
            </a:r>
          </a:p>
        </p:txBody>
      </p:sp>
      <p:sp>
        <p:nvSpPr>
          <p:cNvPr id="30" name="Oval 29">
            <a:extLst>
              <a:ext uri="{FF2B5EF4-FFF2-40B4-BE49-F238E27FC236}">
                <a16:creationId xmlns:a16="http://schemas.microsoft.com/office/drawing/2014/main" id="{D38D943D-3685-4FB3-A596-2DC351866FC8}"/>
              </a:ext>
            </a:extLst>
          </p:cNvPr>
          <p:cNvSpPr/>
          <p:nvPr/>
        </p:nvSpPr>
        <p:spPr bwMode="gray">
          <a:xfrm>
            <a:off x="3303710" y="4250075"/>
            <a:ext cx="264841" cy="271015"/>
          </a:xfrm>
          <a:prstGeom prst="ellipse">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1200" cap="none" spc="0" normalizeH="0" baseline="0" noProof="0" dirty="0">
                <a:ln>
                  <a:noFill/>
                </a:ln>
                <a:solidFill>
                  <a:prstClr val="white"/>
                </a:solidFill>
                <a:effectLst/>
                <a:uLnTx/>
                <a:uFillTx/>
                <a:latin typeface="Calibri"/>
                <a:ea typeface="+mn-ea"/>
                <a:cs typeface="+mn-cs"/>
              </a:rPr>
              <a:t>4</a:t>
            </a:r>
          </a:p>
        </p:txBody>
      </p:sp>
      <p:sp>
        <p:nvSpPr>
          <p:cNvPr id="32" name="Equal 122">
            <a:extLst>
              <a:ext uri="{FF2B5EF4-FFF2-40B4-BE49-F238E27FC236}">
                <a16:creationId xmlns:a16="http://schemas.microsoft.com/office/drawing/2014/main" id="{78330258-D88E-4233-8A83-2C89AB3CD826}"/>
              </a:ext>
            </a:extLst>
          </p:cNvPr>
          <p:cNvSpPr/>
          <p:nvPr/>
        </p:nvSpPr>
        <p:spPr>
          <a:xfrm>
            <a:off x="8919376" y="3750566"/>
            <a:ext cx="312765" cy="401885"/>
          </a:xfrm>
          <a:prstGeom prst="mathEqual">
            <a:avLst/>
          </a:prstGeom>
          <a:solidFill>
            <a:schemeClr val="bg1">
              <a:lumMod val="65000"/>
            </a:schemeClr>
          </a:solidFill>
          <a:ln w="12700" cap="flat" cmpd="sng" algn="ctr">
            <a:solidFill>
              <a:sysClr val="window" lastClr="FFFFFF">
                <a:lumMod val="5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84F239F6-3B13-4BDA-B6F0-2783C9F0D884}"/>
              </a:ext>
            </a:extLst>
          </p:cNvPr>
          <p:cNvSpPr/>
          <p:nvPr/>
        </p:nvSpPr>
        <p:spPr bwMode="gray">
          <a:xfrm>
            <a:off x="9337311" y="1682496"/>
            <a:ext cx="2363123" cy="4754880"/>
          </a:xfrm>
          <a:prstGeom prst="rect">
            <a:avLst/>
          </a:prstGeom>
          <a:noFill/>
          <a:ln w="3175" algn="ctr">
            <a:solidFill>
              <a:schemeClr val="bg1">
                <a:lumMod val="75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34" name="Rounded Rectangle 124">
            <a:extLst>
              <a:ext uri="{FF2B5EF4-FFF2-40B4-BE49-F238E27FC236}">
                <a16:creationId xmlns:a16="http://schemas.microsoft.com/office/drawing/2014/main" id="{60B7562B-E894-4B7F-AA7C-A91BD3E41E49}"/>
              </a:ext>
            </a:extLst>
          </p:cNvPr>
          <p:cNvSpPr/>
          <p:nvPr/>
        </p:nvSpPr>
        <p:spPr bwMode="gray">
          <a:xfrm>
            <a:off x="9454599" y="2326618"/>
            <a:ext cx="2145510" cy="3194970"/>
          </a:xfrm>
          <a:prstGeom prst="roundRect">
            <a:avLst>
              <a:gd name="adj" fmla="val 7754"/>
            </a:avLst>
          </a:prstGeom>
          <a:solidFill>
            <a:srgbClr val="86BC25">
              <a:alpha val="50000"/>
            </a:srgbClr>
          </a:solidFill>
          <a:ln w="19050" algn="ctr">
            <a:noFill/>
            <a:miter lim="800000"/>
            <a:headEnd/>
            <a:tailEnd/>
          </a:ln>
          <a:scene3d>
            <a:camera prst="orthographicFront"/>
            <a:lightRig rig="threePt" dir="t"/>
          </a:scene3d>
          <a:sp3d>
            <a:bevelT/>
          </a:sp3d>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35" name="TextBox 34">
            <a:extLst>
              <a:ext uri="{FF2B5EF4-FFF2-40B4-BE49-F238E27FC236}">
                <a16:creationId xmlns:a16="http://schemas.microsoft.com/office/drawing/2014/main" id="{1BED481D-3F4E-4285-A37C-28B7542571F0}"/>
              </a:ext>
            </a:extLst>
          </p:cNvPr>
          <p:cNvSpPr txBox="1"/>
          <p:nvPr/>
        </p:nvSpPr>
        <p:spPr>
          <a:xfrm>
            <a:off x="9599239" y="2532251"/>
            <a:ext cx="1856228"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0176A7"/>
                </a:solidFill>
                <a:effectLst/>
                <a:uLnTx/>
                <a:uFillTx/>
                <a:latin typeface="Calibri"/>
                <a:ea typeface="Verdana" panose="020B0604030504040204" pitchFamily="34" charset="0"/>
                <a:cs typeface="Verdana" panose="020B0604030504040204" pitchFamily="34" charset="0"/>
              </a:rPr>
              <a:t>Tangible Benefits</a:t>
            </a:r>
          </a:p>
        </p:txBody>
      </p:sp>
      <p:sp>
        <p:nvSpPr>
          <p:cNvPr id="36" name="TextBox 35">
            <a:extLst>
              <a:ext uri="{FF2B5EF4-FFF2-40B4-BE49-F238E27FC236}">
                <a16:creationId xmlns:a16="http://schemas.microsoft.com/office/drawing/2014/main" id="{E884ED27-2C79-4683-A856-4CF150216095}"/>
              </a:ext>
            </a:extLst>
          </p:cNvPr>
          <p:cNvSpPr txBox="1"/>
          <p:nvPr/>
        </p:nvSpPr>
        <p:spPr>
          <a:xfrm>
            <a:off x="9442073" y="4032851"/>
            <a:ext cx="2179779"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2C5234"/>
                </a:solidFill>
                <a:effectLst/>
                <a:uLnTx/>
                <a:uFillTx/>
                <a:latin typeface="Calibri"/>
                <a:ea typeface="Verdana" panose="020B0604030504040204" pitchFamily="34" charset="0"/>
                <a:cs typeface="Verdana" panose="020B0604030504040204" pitchFamily="34" charset="0"/>
              </a:rPr>
              <a:t>Roll out of ERP Based Solutions to provide direct cost savings, increase in revenue over a 10-year horizon (estimated)</a:t>
            </a:r>
            <a:endParaRPr kumimoji="0" lang="en-IN" sz="1100" b="0" i="1" u="none" strike="noStrike" kern="1200" cap="none" spc="0" normalizeH="0" baseline="0" noProof="0" dirty="0">
              <a:ln>
                <a:noFill/>
              </a:ln>
              <a:solidFill>
                <a:srgbClr val="2C5234"/>
              </a:solidFill>
              <a:effectLst/>
              <a:uLnTx/>
              <a:uFillTx/>
              <a:latin typeface="Calibri"/>
              <a:ea typeface="Verdana" panose="020B0604030504040204" pitchFamily="34" charset="0"/>
              <a:cs typeface="Verdana" panose="020B0604030504040204" pitchFamily="34" charset="0"/>
            </a:endParaRPr>
          </a:p>
        </p:txBody>
      </p:sp>
      <p:grpSp>
        <p:nvGrpSpPr>
          <p:cNvPr id="44" name="Group 387">
            <a:extLst>
              <a:ext uri="{FF2B5EF4-FFF2-40B4-BE49-F238E27FC236}">
                <a16:creationId xmlns:a16="http://schemas.microsoft.com/office/drawing/2014/main" id="{53AA13D5-9947-4A36-9959-FD3EAC865F72}"/>
              </a:ext>
            </a:extLst>
          </p:cNvPr>
          <p:cNvGrpSpPr>
            <a:grpSpLocks noChangeAspect="1"/>
          </p:cNvGrpSpPr>
          <p:nvPr/>
        </p:nvGrpSpPr>
        <p:grpSpPr bwMode="auto">
          <a:xfrm>
            <a:off x="10228323" y="3203289"/>
            <a:ext cx="598058" cy="612000"/>
            <a:chOff x="7354" y="1520"/>
            <a:chExt cx="340" cy="340"/>
          </a:xfrm>
          <a:solidFill>
            <a:srgbClr val="0D7CAB"/>
          </a:solidFill>
        </p:grpSpPr>
        <p:sp>
          <p:nvSpPr>
            <p:cNvPr id="45" name="Freeform 388">
              <a:extLst>
                <a:ext uri="{FF2B5EF4-FFF2-40B4-BE49-F238E27FC236}">
                  <a16:creationId xmlns:a16="http://schemas.microsoft.com/office/drawing/2014/main" id="{A5281636-D04D-4FFA-B079-DF857C725E37}"/>
                </a:ext>
              </a:extLst>
            </p:cNvPr>
            <p:cNvSpPr>
              <a:spLocks noEditPoints="1"/>
            </p:cNvSpPr>
            <p:nvPr/>
          </p:nvSpPr>
          <p:spPr bwMode="auto">
            <a:xfrm>
              <a:off x="7418" y="1619"/>
              <a:ext cx="212" cy="141"/>
            </a:xfrm>
            <a:custGeom>
              <a:avLst/>
              <a:gdLst>
                <a:gd name="T0" fmla="*/ 64 w 320"/>
                <a:gd name="T1" fmla="*/ 0 h 213"/>
                <a:gd name="T2" fmla="*/ 10 w 320"/>
                <a:gd name="T3" fmla="*/ 0 h 213"/>
                <a:gd name="T4" fmla="*/ 0 w 320"/>
                <a:gd name="T5" fmla="*/ 11 h 213"/>
                <a:gd name="T6" fmla="*/ 0 w 320"/>
                <a:gd name="T7" fmla="*/ 64 h 213"/>
                <a:gd name="T8" fmla="*/ 10 w 320"/>
                <a:gd name="T9" fmla="*/ 75 h 213"/>
                <a:gd name="T10" fmla="*/ 64 w 320"/>
                <a:gd name="T11" fmla="*/ 75 h 213"/>
                <a:gd name="T12" fmla="*/ 74 w 320"/>
                <a:gd name="T13" fmla="*/ 64 h 213"/>
                <a:gd name="T14" fmla="*/ 74 w 320"/>
                <a:gd name="T15" fmla="*/ 11 h 213"/>
                <a:gd name="T16" fmla="*/ 64 w 320"/>
                <a:gd name="T17" fmla="*/ 0 h 213"/>
                <a:gd name="T18" fmla="*/ 53 w 320"/>
                <a:gd name="T19" fmla="*/ 53 h 213"/>
                <a:gd name="T20" fmla="*/ 21 w 320"/>
                <a:gd name="T21" fmla="*/ 53 h 213"/>
                <a:gd name="T22" fmla="*/ 21 w 320"/>
                <a:gd name="T23" fmla="*/ 21 h 213"/>
                <a:gd name="T24" fmla="*/ 53 w 320"/>
                <a:gd name="T25" fmla="*/ 21 h 213"/>
                <a:gd name="T26" fmla="*/ 53 w 320"/>
                <a:gd name="T27" fmla="*/ 53 h 213"/>
                <a:gd name="T28" fmla="*/ 117 w 320"/>
                <a:gd name="T29" fmla="*/ 11 h 213"/>
                <a:gd name="T30" fmla="*/ 128 w 320"/>
                <a:gd name="T31" fmla="*/ 0 h 213"/>
                <a:gd name="T32" fmla="*/ 309 w 320"/>
                <a:gd name="T33" fmla="*/ 0 h 213"/>
                <a:gd name="T34" fmla="*/ 320 w 320"/>
                <a:gd name="T35" fmla="*/ 11 h 213"/>
                <a:gd name="T36" fmla="*/ 309 w 320"/>
                <a:gd name="T37" fmla="*/ 21 h 213"/>
                <a:gd name="T38" fmla="*/ 128 w 320"/>
                <a:gd name="T39" fmla="*/ 21 h 213"/>
                <a:gd name="T40" fmla="*/ 117 w 320"/>
                <a:gd name="T41" fmla="*/ 11 h 213"/>
                <a:gd name="T42" fmla="*/ 320 w 320"/>
                <a:gd name="T43" fmla="*/ 64 h 213"/>
                <a:gd name="T44" fmla="*/ 309 w 320"/>
                <a:gd name="T45" fmla="*/ 75 h 213"/>
                <a:gd name="T46" fmla="*/ 128 w 320"/>
                <a:gd name="T47" fmla="*/ 75 h 213"/>
                <a:gd name="T48" fmla="*/ 117 w 320"/>
                <a:gd name="T49" fmla="*/ 64 h 213"/>
                <a:gd name="T50" fmla="*/ 128 w 320"/>
                <a:gd name="T51" fmla="*/ 53 h 213"/>
                <a:gd name="T52" fmla="*/ 309 w 320"/>
                <a:gd name="T53" fmla="*/ 53 h 213"/>
                <a:gd name="T54" fmla="*/ 320 w 320"/>
                <a:gd name="T55" fmla="*/ 64 h 213"/>
                <a:gd name="T56" fmla="*/ 64 w 320"/>
                <a:gd name="T57" fmla="*/ 139 h 213"/>
                <a:gd name="T58" fmla="*/ 10 w 320"/>
                <a:gd name="T59" fmla="*/ 139 h 213"/>
                <a:gd name="T60" fmla="*/ 0 w 320"/>
                <a:gd name="T61" fmla="*/ 149 h 213"/>
                <a:gd name="T62" fmla="*/ 0 w 320"/>
                <a:gd name="T63" fmla="*/ 203 h 213"/>
                <a:gd name="T64" fmla="*/ 10 w 320"/>
                <a:gd name="T65" fmla="*/ 213 h 213"/>
                <a:gd name="T66" fmla="*/ 64 w 320"/>
                <a:gd name="T67" fmla="*/ 213 h 213"/>
                <a:gd name="T68" fmla="*/ 74 w 320"/>
                <a:gd name="T69" fmla="*/ 203 h 213"/>
                <a:gd name="T70" fmla="*/ 74 w 320"/>
                <a:gd name="T71" fmla="*/ 149 h 213"/>
                <a:gd name="T72" fmla="*/ 64 w 320"/>
                <a:gd name="T73" fmla="*/ 139 h 213"/>
                <a:gd name="T74" fmla="*/ 53 w 320"/>
                <a:gd name="T75" fmla="*/ 192 h 213"/>
                <a:gd name="T76" fmla="*/ 21 w 320"/>
                <a:gd name="T77" fmla="*/ 192 h 213"/>
                <a:gd name="T78" fmla="*/ 21 w 320"/>
                <a:gd name="T79" fmla="*/ 160 h 213"/>
                <a:gd name="T80" fmla="*/ 53 w 320"/>
                <a:gd name="T81" fmla="*/ 160 h 213"/>
                <a:gd name="T82" fmla="*/ 53 w 320"/>
                <a:gd name="T83" fmla="*/ 192 h 213"/>
                <a:gd name="T84" fmla="*/ 320 w 320"/>
                <a:gd name="T85" fmla="*/ 149 h 213"/>
                <a:gd name="T86" fmla="*/ 309 w 320"/>
                <a:gd name="T87" fmla="*/ 160 h 213"/>
                <a:gd name="T88" fmla="*/ 128 w 320"/>
                <a:gd name="T89" fmla="*/ 160 h 213"/>
                <a:gd name="T90" fmla="*/ 117 w 320"/>
                <a:gd name="T91" fmla="*/ 149 h 213"/>
                <a:gd name="T92" fmla="*/ 128 w 320"/>
                <a:gd name="T93" fmla="*/ 139 h 213"/>
                <a:gd name="T94" fmla="*/ 309 w 320"/>
                <a:gd name="T95" fmla="*/ 139 h 213"/>
                <a:gd name="T96" fmla="*/ 320 w 320"/>
                <a:gd name="T97" fmla="*/ 149 h 213"/>
                <a:gd name="T98" fmla="*/ 320 w 320"/>
                <a:gd name="T99" fmla="*/ 203 h 213"/>
                <a:gd name="T100" fmla="*/ 309 w 320"/>
                <a:gd name="T101" fmla="*/ 213 h 213"/>
                <a:gd name="T102" fmla="*/ 128 w 320"/>
                <a:gd name="T103" fmla="*/ 213 h 213"/>
                <a:gd name="T104" fmla="*/ 117 w 320"/>
                <a:gd name="T105" fmla="*/ 203 h 213"/>
                <a:gd name="T106" fmla="*/ 128 w 320"/>
                <a:gd name="T107" fmla="*/ 192 h 213"/>
                <a:gd name="T108" fmla="*/ 309 w 320"/>
                <a:gd name="T109" fmla="*/ 192 h 213"/>
                <a:gd name="T110" fmla="*/ 320 w 320"/>
                <a:gd name="T111" fmla="*/ 20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0" h="213">
                  <a:moveTo>
                    <a:pt x="64" y="0"/>
                  </a:moveTo>
                  <a:cubicBezTo>
                    <a:pt x="10" y="0"/>
                    <a:pt x="10" y="0"/>
                    <a:pt x="10" y="0"/>
                  </a:cubicBezTo>
                  <a:cubicBezTo>
                    <a:pt x="4" y="0"/>
                    <a:pt x="0" y="5"/>
                    <a:pt x="0" y="11"/>
                  </a:cubicBezTo>
                  <a:cubicBezTo>
                    <a:pt x="0" y="64"/>
                    <a:pt x="0" y="64"/>
                    <a:pt x="0" y="64"/>
                  </a:cubicBezTo>
                  <a:cubicBezTo>
                    <a:pt x="0" y="70"/>
                    <a:pt x="4" y="75"/>
                    <a:pt x="10" y="75"/>
                  </a:cubicBezTo>
                  <a:cubicBezTo>
                    <a:pt x="64" y="75"/>
                    <a:pt x="64" y="75"/>
                    <a:pt x="64" y="75"/>
                  </a:cubicBezTo>
                  <a:cubicBezTo>
                    <a:pt x="70" y="75"/>
                    <a:pt x="74" y="70"/>
                    <a:pt x="74" y="64"/>
                  </a:cubicBezTo>
                  <a:cubicBezTo>
                    <a:pt x="74" y="11"/>
                    <a:pt x="74" y="11"/>
                    <a:pt x="74" y="11"/>
                  </a:cubicBezTo>
                  <a:cubicBezTo>
                    <a:pt x="74" y="5"/>
                    <a:pt x="70" y="0"/>
                    <a:pt x="64" y="0"/>
                  </a:cubicBezTo>
                  <a:close/>
                  <a:moveTo>
                    <a:pt x="53" y="53"/>
                  </a:moveTo>
                  <a:cubicBezTo>
                    <a:pt x="21" y="53"/>
                    <a:pt x="21" y="53"/>
                    <a:pt x="21" y="53"/>
                  </a:cubicBezTo>
                  <a:cubicBezTo>
                    <a:pt x="21" y="21"/>
                    <a:pt x="21" y="21"/>
                    <a:pt x="21" y="21"/>
                  </a:cubicBezTo>
                  <a:cubicBezTo>
                    <a:pt x="53" y="21"/>
                    <a:pt x="53" y="21"/>
                    <a:pt x="53" y="21"/>
                  </a:cubicBezTo>
                  <a:lnTo>
                    <a:pt x="53" y="53"/>
                  </a:lnTo>
                  <a:close/>
                  <a:moveTo>
                    <a:pt x="117" y="11"/>
                  </a:moveTo>
                  <a:cubicBezTo>
                    <a:pt x="117" y="5"/>
                    <a:pt x="122" y="0"/>
                    <a:pt x="128" y="0"/>
                  </a:cubicBezTo>
                  <a:cubicBezTo>
                    <a:pt x="309" y="0"/>
                    <a:pt x="309" y="0"/>
                    <a:pt x="309" y="0"/>
                  </a:cubicBezTo>
                  <a:cubicBezTo>
                    <a:pt x="315" y="0"/>
                    <a:pt x="320" y="5"/>
                    <a:pt x="320" y="11"/>
                  </a:cubicBezTo>
                  <a:cubicBezTo>
                    <a:pt x="320" y="17"/>
                    <a:pt x="315" y="21"/>
                    <a:pt x="309" y="21"/>
                  </a:cubicBezTo>
                  <a:cubicBezTo>
                    <a:pt x="128" y="21"/>
                    <a:pt x="128" y="21"/>
                    <a:pt x="128" y="21"/>
                  </a:cubicBezTo>
                  <a:cubicBezTo>
                    <a:pt x="122" y="21"/>
                    <a:pt x="117" y="17"/>
                    <a:pt x="117" y="11"/>
                  </a:cubicBezTo>
                  <a:close/>
                  <a:moveTo>
                    <a:pt x="320" y="64"/>
                  </a:moveTo>
                  <a:cubicBezTo>
                    <a:pt x="320" y="70"/>
                    <a:pt x="315" y="75"/>
                    <a:pt x="309" y="75"/>
                  </a:cubicBezTo>
                  <a:cubicBezTo>
                    <a:pt x="128" y="75"/>
                    <a:pt x="128" y="75"/>
                    <a:pt x="128" y="75"/>
                  </a:cubicBezTo>
                  <a:cubicBezTo>
                    <a:pt x="122" y="75"/>
                    <a:pt x="117" y="70"/>
                    <a:pt x="117" y="64"/>
                  </a:cubicBezTo>
                  <a:cubicBezTo>
                    <a:pt x="117" y="58"/>
                    <a:pt x="122" y="53"/>
                    <a:pt x="128" y="53"/>
                  </a:cubicBezTo>
                  <a:cubicBezTo>
                    <a:pt x="309" y="53"/>
                    <a:pt x="309" y="53"/>
                    <a:pt x="309" y="53"/>
                  </a:cubicBezTo>
                  <a:cubicBezTo>
                    <a:pt x="315" y="53"/>
                    <a:pt x="320" y="58"/>
                    <a:pt x="320" y="64"/>
                  </a:cubicBezTo>
                  <a:close/>
                  <a:moveTo>
                    <a:pt x="64" y="139"/>
                  </a:moveTo>
                  <a:cubicBezTo>
                    <a:pt x="10" y="139"/>
                    <a:pt x="10" y="139"/>
                    <a:pt x="10" y="139"/>
                  </a:cubicBezTo>
                  <a:cubicBezTo>
                    <a:pt x="4" y="139"/>
                    <a:pt x="0" y="143"/>
                    <a:pt x="0" y="149"/>
                  </a:cubicBezTo>
                  <a:cubicBezTo>
                    <a:pt x="0" y="203"/>
                    <a:pt x="0" y="203"/>
                    <a:pt x="0" y="203"/>
                  </a:cubicBezTo>
                  <a:cubicBezTo>
                    <a:pt x="0" y="209"/>
                    <a:pt x="4" y="213"/>
                    <a:pt x="10" y="213"/>
                  </a:cubicBezTo>
                  <a:cubicBezTo>
                    <a:pt x="64" y="213"/>
                    <a:pt x="64" y="213"/>
                    <a:pt x="64" y="213"/>
                  </a:cubicBezTo>
                  <a:cubicBezTo>
                    <a:pt x="70" y="213"/>
                    <a:pt x="74" y="209"/>
                    <a:pt x="74" y="203"/>
                  </a:cubicBezTo>
                  <a:cubicBezTo>
                    <a:pt x="74" y="149"/>
                    <a:pt x="74" y="149"/>
                    <a:pt x="74" y="149"/>
                  </a:cubicBezTo>
                  <a:cubicBezTo>
                    <a:pt x="74" y="143"/>
                    <a:pt x="70" y="139"/>
                    <a:pt x="64" y="139"/>
                  </a:cubicBezTo>
                  <a:close/>
                  <a:moveTo>
                    <a:pt x="53" y="192"/>
                  </a:moveTo>
                  <a:cubicBezTo>
                    <a:pt x="21" y="192"/>
                    <a:pt x="21" y="192"/>
                    <a:pt x="21" y="192"/>
                  </a:cubicBezTo>
                  <a:cubicBezTo>
                    <a:pt x="21" y="160"/>
                    <a:pt x="21" y="160"/>
                    <a:pt x="21" y="160"/>
                  </a:cubicBezTo>
                  <a:cubicBezTo>
                    <a:pt x="53" y="160"/>
                    <a:pt x="53" y="160"/>
                    <a:pt x="53" y="160"/>
                  </a:cubicBezTo>
                  <a:lnTo>
                    <a:pt x="53" y="192"/>
                  </a:lnTo>
                  <a:close/>
                  <a:moveTo>
                    <a:pt x="320" y="149"/>
                  </a:moveTo>
                  <a:cubicBezTo>
                    <a:pt x="320" y="155"/>
                    <a:pt x="315" y="160"/>
                    <a:pt x="309" y="160"/>
                  </a:cubicBezTo>
                  <a:cubicBezTo>
                    <a:pt x="128" y="160"/>
                    <a:pt x="128" y="160"/>
                    <a:pt x="128" y="160"/>
                  </a:cubicBezTo>
                  <a:cubicBezTo>
                    <a:pt x="122" y="160"/>
                    <a:pt x="117" y="155"/>
                    <a:pt x="117" y="149"/>
                  </a:cubicBezTo>
                  <a:cubicBezTo>
                    <a:pt x="117" y="143"/>
                    <a:pt x="122" y="139"/>
                    <a:pt x="128" y="139"/>
                  </a:cubicBezTo>
                  <a:cubicBezTo>
                    <a:pt x="309" y="139"/>
                    <a:pt x="309" y="139"/>
                    <a:pt x="309" y="139"/>
                  </a:cubicBezTo>
                  <a:cubicBezTo>
                    <a:pt x="315" y="139"/>
                    <a:pt x="320" y="143"/>
                    <a:pt x="320" y="149"/>
                  </a:cubicBezTo>
                  <a:close/>
                  <a:moveTo>
                    <a:pt x="320" y="203"/>
                  </a:moveTo>
                  <a:cubicBezTo>
                    <a:pt x="320" y="209"/>
                    <a:pt x="315" y="213"/>
                    <a:pt x="309" y="213"/>
                  </a:cubicBezTo>
                  <a:cubicBezTo>
                    <a:pt x="128" y="213"/>
                    <a:pt x="128" y="213"/>
                    <a:pt x="128" y="213"/>
                  </a:cubicBezTo>
                  <a:cubicBezTo>
                    <a:pt x="122" y="213"/>
                    <a:pt x="117" y="209"/>
                    <a:pt x="117" y="203"/>
                  </a:cubicBezTo>
                  <a:cubicBezTo>
                    <a:pt x="117" y="197"/>
                    <a:pt x="122" y="192"/>
                    <a:pt x="128" y="192"/>
                  </a:cubicBezTo>
                  <a:cubicBezTo>
                    <a:pt x="309" y="192"/>
                    <a:pt x="309" y="192"/>
                    <a:pt x="309" y="192"/>
                  </a:cubicBezTo>
                  <a:cubicBezTo>
                    <a:pt x="315" y="192"/>
                    <a:pt x="320" y="197"/>
                    <a:pt x="320" y="20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6" name="Freeform 389">
              <a:extLst>
                <a:ext uri="{FF2B5EF4-FFF2-40B4-BE49-F238E27FC236}">
                  <a16:creationId xmlns:a16="http://schemas.microsoft.com/office/drawing/2014/main" id="{0B6CCD90-72F6-4B42-B552-EDE7DF9FCF74}"/>
                </a:ext>
              </a:extLst>
            </p:cNvPr>
            <p:cNvSpPr>
              <a:spLocks noEditPoints="1"/>
            </p:cNvSpPr>
            <p:nvPr/>
          </p:nvSpPr>
          <p:spPr bwMode="auto">
            <a:xfrm>
              <a:off x="7354" y="152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We have focused our Tangible Benefit Assessment from Improvement in Procurement &amp; Inventory Management, Generation Efficiency and Cost Savings from retirement of Non-ERP Based Solutions at STELCO</a:t>
            </a:r>
            <a:endParaRPr lang="en-IN" b="1" dirty="0"/>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Cost Benefit Analysis – Tangible Benefit Assessment</a:t>
            </a:r>
            <a:endParaRPr lang="en-GB" dirty="0"/>
          </a:p>
        </p:txBody>
      </p:sp>
      <p:sp>
        <p:nvSpPr>
          <p:cNvPr id="63" name="Plus 116">
            <a:extLst>
              <a:ext uri="{FF2B5EF4-FFF2-40B4-BE49-F238E27FC236}">
                <a16:creationId xmlns:a16="http://schemas.microsoft.com/office/drawing/2014/main" id="{A7F06A7E-AC13-4E39-A2E5-4F24DB280415}"/>
              </a:ext>
            </a:extLst>
          </p:cNvPr>
          <p:cNvSpPr/>
          <p:nvPr/>
        </p:nvSpPr>
        <p:spPr>
          <a:xfrm>
            <a:off x="4450206" y="3939331"/>
            <a:ext cx="351799" cy="360000"/>
          </a:xfrm>
          <a:prstGeom prst="mathPlus">
            <a:avLst/>
          </a:prstGeom>
          <a:solidFill>
            <a:schemeClr val="bg1">
              <a:lumMod val="65000"/>
            </a:schemeClr>
          </a:solidFill>
          <a:ln w="12700" cap="flat" cmpd="sng" algn="ctr">
            <a:solidFill>
              <a:sysClr val="window" lastClr="FFFFFF">
                <a:lumMod val="50000"/>
              </a:sysClr>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nvGrpSpPr>
          <p:cNvPr id="67" name="Group 449">
            <a:extLst>
              <a:ext uri="{FF2B5EF4-FFF2-40B4-BE49-F238E27FC236}">
                <a16:creationId xmlns:a16="http://schemas.microsoft.com/office/drawing/2014/main" id="{758A5254-0EB4-45F3-A8E7-80AF2D8D4B78}"/>
              </a:ext>
            </a:extLst>
          </p:cNvPr>
          <p:cNvGrpSpPr>
            <a:grpSpLocks noChangeAspect="1"/>
          </p:cNvGrpSpPr>
          <p:nvPr/>
        </p:nvGrpSpPr>
        <p:grpSpPr bwMode="auto">
          <a:xfrm>
            <a:off x="1511453" y="2395666"/>
            <a:ext cx="605214" cy="605214"/>
            <a:chOff x="2732" y="1561"/>
            <a:chExt cx="340" cy="340"/>
          </a:xfrm>
          <a:solidFill>
            <a:schemeClr val="accent2"/>
          </a:solidFill>
        </p:grpSpPr>
        <p:sp>
          <p:nvSpPr>
            <p:cNvPr id="68" name="Freeform 450">
              <a:extLst>
                <a:ext uri="{FF2B5EF4-FFF2-40B4-BE49-F238E27FC236}">
                  <a16:creationId xmlns:a16="http://schemas.microsoft.com/office/drawing/2014/main" id="{EDAA7C78-B44B-4C9C-BB29-37690D296E3C}"/>
                </a:ext>
              </a:extLst>
            </p:cNvPr>
            <p:cNvSpPr>
              <a:spLocks noEditPoints="1"/>
            </p:cNvSpPr>
            <p:nvPr/>
          </p:nvSpPr>
          <p:spPr bwMode="auto">
            <a:xfrm>
              <a:off x="2732" y="156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Freeform 451">
              <a:extLst>
                <a:ext uri="{FF2B5EF4-FFF2-40B4-BE49-F238E27FC236}">
                  <a16:creationId xmlns:a16="http://schemas.microsoft.com/office/drawing/2014/main" id="{02D25C40-233B-4E11-8793-AA32098D3404}"/>
                </a:ext>
              </a:extLst>
            </p:cNvPr>
            <p:cNvSpPr>
              <a:spLocks noEditPoints="1"/>
            </p:cNvSpPr>
            <p:nvPr/>
          </p:nvSpPr>
          <p:spPr bwMode="auto">
            <a:xfrm>
              <a:off x="2795" y="1630"/>
              <a:ext cx="211" cy="207"/>
            </a:xfrm>
            <a:custGeom>
              <a:avLst/>
              <a:gdLst>
                <a:gd name="T0" fmla="*/ 132 w 318"/>
                <a:gd name="T1" fmla="*/ 312 h 312"/>
                <a:gd name="T2" fmla="*/ 124 w 318"/>
                <a:gd name="T3" fmla="*/ 309 h 312"/>
                <a:gd name="T4" fmla="*/ 4 w 318"/>
                <a:gd name="T5" fmla="*/ 188 h 312"/>
                <a:gd name="T6" fmla="*/ 4 w 318"/>
                <a:gd name="T7" fmla="*/ 173 h 312"/>
                <a:gd name="T8" fmla="*/ 173 w 318"/>
                <a:gd name="T9" fmla="*/ 4 h 312"/>
                <a:gd name="T10" fmla="*/ 182 w 318"/>
                <a:gd name="T11" fmla="*/ 0 h 312"/>
                <a:gd name="T12" fmla="*/ 292 w 318"/>
                <a:gd name="T13" fmla="*/ 11 h 312"/>
                <a:gd name="T14" fmla="*/ 302 w 318"/>
                <a:gd name="T15" fmla="*/ 20 h 312"/>
                <a:gd name="T16" fmla="*/ 317 w 318"/>
                <a:gd name="T17" fmla="*/ 125 h 312"/>
                <a:gd name="T18" fmla="*/ 314 w 318"/>
                <a:gd name="T19" fmla="*/ 134 h 312"/>
                <a:gd name="T20" fmla="*/ 140 w 318"/>
                <a:gd name="T21" fmla="*/ 309 h 312"/>
                <a:gd name="T22" fmla="*/ 132 w 318"/>
                <a:gd name="T23" fmla="*/ 312 h 312"/>
                <a:gd name="T24" fmla="*/ 26 w 318"/>
                <a:gd name="T25" fmla="*/ 180 h 312"/>
                <a:gd name="T26" fmla="*/ 132 w 318"/>
                <a:gd name="T27" fmla="*/ 286 h 312"/>
                <a:gd name="T28" fmla="*/ 295 w 318"/>
                <a:gd name="T29" fmla="*/ 123 h 312"/>
                <a:gd name="T30" fmla="*/ 282 w 318"/>
                <a:gd name="T31" fmla="*/ 31 h 312"/>
                <a:gd name="T32" fmla="*/ 185 w 318"/>
                <a:gd name="T33" fmla="*/ 22 h 312"/>
                <a:gd name="T34" fmla="*/ 26 w 318"/>
                <a:gd name="T35" fmla="*/ 180 h 312"/>
                <a:gd name="T36" fmla="*/ 245 w 318"/>
                <a:gd name="T37" fmla="*/ 67 h 312"/>
                <a:gd name="T38" fmla="*/ 214 w 318"/>
                <a:gd name="T39" fmla="*/ 67 h 312"/>
                <a:gd name="T40" fmla="*/ 214 w 318"/>
                <a:gd name="T41" fmla="*/ 98 h 312"/>
                <a:gd name="T42" fmla="*/ 245 w 318"/>
                <a:gd name="T43" fmla="*/ 98 h 312"/>
                <a:gd name="T44" fmla="*/ 245 w 318"/>
                <a:gd name="T45" fmla="*/ 67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8" h="312">
                  <a:moveTo>
                    <a:pt x="132" y="312"/>
                  </a:moveTo>
                  <a:cubicBezTo>
                    <a:pt x="129" y="312"/>
                    <a:pt x="127" y="311"/>
                    <a:pt x="124" y="309"/>
                  </a:cubicBezTo>
                  <a:cubicBezTo>
                    <a:pt x="4" y="188"/>
                    <a:pt x="4" y="188"/>
                    <a:pt x="4" y="188"/>
                  </a:cubicBezTo>
                  <a:cubicBezTo>
                    <a:pt x="0" y="184"/>
                    <a:pt x="0" y="177"/>
                    <a:pt x="4" y="173"/>
                  </a:cubicBezTo>
                  <a:cubicBezTo>
                    <a:pt x="173" y="4"/>
                    <a:pt x="173" y="4"/>
                    <a:pt x="173" y="4"/>
                  </a:cubicBezTo>
                  <a:cubicBezTo>
                    <a:pt x="175" y="1"/>
                    <a:pt x="178" y="0"/>
                    <a:pt x="182" y="0"/>
                  </a:cubicBezTo>
                  <a:cubicBezTo>
                    <a:pt x="292" y="11"/>
                    <a:pt x="292" y="11"/>
                    <a:pt x="292" y="11"/>
                  </a:cubicBezTo>
                  <a:cubicBezTo>
                    <a:pt x="297" y="11"/>
                    <a:pt x="301" y="15"/>
                    <a:pt x="302" y="20"/>
                  </a:cubicBezTo>
                  <a:cubicBezTo>
                    <a:pt x="317" y="125"/>
                    <a:pt x="317" y="125"/>
                    <a:pt x="317" y="125"/>
                  </a:cubicBezTo>
                  <a:cubicBezTo>
                    <a:pt x="318" y="128"/>
                    <a:pt x="316" y="132"/>
                    <a:pt x="314" y="134"/>
                  </a:cubicBezTo>
                  <a:cubicBezTo>
                    <a:pt x="140" y="309"/>
                    <a:pt x="140" y="309"/>
                    <a:pt x="140" y="309"/>
                  </a:cubicBezTo>
                  <a:cubicBezTo>
                    <a:pt x="137" y="311"/>
                    <a:pt x="135" y="312"/>
                    <a:pt x="132" y="312"/>
                  </a:cubicBezTo>
                  <a:close/>
                  <a:moveTo>
                    <a:pt x="26" y="180"/>
                  </a:moveTo>
                  <a:cubicBezTo>
                    <a:pt x="132" y="286"/>
                    <a:pt x="132" y="286"/>
                    <a:pt x="132" y="286"/>
                  </a:cubicBezTo>
                  <a:cubicBezTo>
                    <a:pt x="295" y="123"/>
                    <a:pt x="295" y="123"/>
                    <a:pt x="295" y="123"/>
                  </a:cubicBezTo>
                  <a:cubicBezTo>
                    <a:pt x="282" y="31"/>
                    <a:pt x="282" y="31"/>
                    <a:pt x="282" y="31"/>
                  </a:cubicBezTo>
                  <a:cubicBezTo>
                    <a:pt x="185" y="22"/>
                    <a:pt x="185" y="22"/>
                    <a:pt x="185" y="22"/>
                  </a:cubicBezTo>
                  <a:lnTo>
                    <a:pt x="26" y="180"/>
                  </a:lnTo>
                  <a:close/>
                  <a:moveTo>
                    <a:pt x="245" y="67"/>
                  </a:moveTo>
                  <a:cubicBezTo>
                    <a:pt x="236" y="58"/>
                    <a:pt x="222" y="58"/>
                    <a:pt x="214" y="67"/>
                  </a:cubicBezTo>
                  <a:cubicBezTo>
                    <a:pt x="205" y="75"/>
                    <a:pt x="205" y="89"/>
                    <a:pt x="214" y="98"/>
                  </a:cubicBezTo>
                  <a:cubicBezTo>
                    <a:pt x="222" y="106"/>
                    <a:pt x="236" y="106"/>
                    <a:pt x="245" y="98"/>
                  </a:cubicBezTo>
                  <a:cubicBezTo>
                    <a:pt x="253" y="89"/>
                    <a:pt x="253" y="75"/>
                    <a:pt x="245" y="6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0" name="Group 285">
            <a:extLst>
              <a:ext uri="{FF2B5EF4-FFF2-40B4-BE49-F238E27FC236}">
                <a16:creationId xmlns:a16="http://schemas.microsoft.com/office/drawing/2014/main" id="{B3A69DD0-ABC6-468D-823C-0BD829992D88}"/>
              </a:ext>
            </a:extLst>
          </p:cNvPr>
          <p:cNvGrpSpPr>
            <a:grpSpLocks noChangeAspect="1"/>
          </p:cNvGrpSpPr>
          <p:nvPr/>
        </p:nvGrpSpPr>
        <p:grpSpPr bwMode="auto">
          <a:xfrm>
            <a:off x="4328800" y="2394429"/>
            <a:ext cx="601929" cy="600164"/>
            <a:chOff x="388" y="758"/>
            <a:chExt cx="341" cy="340"/>
          </a:xfrm>
          <a:solidFill>
            <a:schemeClr val="accent3"/>
          </a:solidFill>
        </p:grpSpPr>
        <p:sp>
          <p:nvSpPr>
            <p:cNvPr id="71" name="Freeform 286">
              <a:extLst>
                <a:ext uri="{FF2B5EF4-FFF2-40B4-BE49-F238E27FC236}">
                  <a16:creationId xmlns:a16="http://schemas.microsoft.com/office/drawing/2014/main" id="{A1D419E5-179B-420E-8904-1F7713266C84}"/>
                </a:ext>
              </a:extLst>
            </p:cNvPr>
            <p:cNvSpPr>
              <a:spLocks noEditPoints="1"/>
            </p:cNvSpPr>
            <p:nvPr/>
          </p:nvSpPr>
          <p:spPr bwMode="auto">
            <a:xfrm>
              <a:off x="462" y="834"/>
              <a:ext cx="192" cy="192"/>
            </a:xfrm>
            <a:custGeom>
              <a:avLst/>
              <a:gdLst>
                <a:gd name="T0" fmla="*/ 43 w 289"/>
                <a:gd name="T1" fmla="*/ 289 h 289"/>
                <a:gd name="T2" fmla="*/ 13 w 289"/>
                <a:gd name="T3" fmla="*/ 276 h 289"/>
                <a:gd name="T4" fmla="*/ 0 w 289"/>
                <a:gd name="T5" fmla="*/ 246 h 289"/>
                <a:gd name="T6" fmla="*/ 13 w 289"/>
                <a:gd name="T7" fmla="*/ 216 h 289"/>
                <a:gd name="T8" fmla="*/ 118 w 289"/>
                <a:gd name="T9" fmla="*/ 111 h 289"/>
                <a:gd name="T10" fmla="*/ 140 w 289"/>
                <a:gd name="T11" fmla="*/ 29 h 289"/>
                <a:gd name="T12" fmla="*/ 156 w 289"/>
                <a:gd name="T13" fmla="*/ 16 h 289"/>
                <a:gd name="T14" fmla="*/ 229 w 289"/>
                <a:gd name="T15" fmla="*/ 9 h 289"/>
                <a:gd name="T16" fmla="*/ 235 w 289"/>
                <a:gd name="T17" fmla="*/ 16 h 289"/>
                <a:gd name="T18" fmla="*/ 233 w 289"/>
                <a:gd name="T19" fmla="*/ 26 h 289"/>
                <a:gd name="T20" fmla="*/ 194 w 289"/>
                <a:gd name="T21" fmla="*/ 65 h 289"/>
                <a:gd name="T22" fmla="*/ 208 w 289"/>
                <a:gd name="T23" fmla="*/ 81 h 289"/>
                <a:gd name="T24" fmla="*/ 224 w 289"/>
                <a:gd name="T25" fmla="*/ 95 h 289"/>
                <a:gd name="T26" fmla="*/ 263 w 289"/>
                <a:gd name="T27" fmla="*/ 56 h 289"/>
                <a:gd name="T28" fmla="*/ 273 w 289"/>
                <a:gd name="T29" fmla="*/ 54 h 289"/>
                <a:gd name="T30" fmla="*/ 280 w 289"/>
                <a:gd name="T31" fmla="*/ 60 h 289"/>
                <a:gd name="T32" fmla="*/ 273 w 289"/>
                <a:gd name="T33" fmla="*/ 133 h 289"/>
                <a:gd name="T34" fmla="*/ 273 w 289"/>
                <a:gd name="T35" fmla="*/ 133 h 289"/>
                <a:gd name="T36" fmla="*/ 260 w 289"/>
                <a:gd name="T37" fmla="*/ 149 h 289"/>
                <a:gd name="T38" fmla="*/ 178 w 289"/>
                <a:gd name="T39" fmla="*/ 171 h 289"/>
                <a:gd name="T40" fmla="*/ 73 w 289"/>
                <a:gd name="T41" fmla="*/ 276 h 289"/>
                <a:gd name="T42" fmla="*/ 43 w 289"/>
                <a:gd name="T43" fmla="*/ 289 h 289"/>
                <a:gd name="T44" fmla="*/ 200 w 289"/>
                <a:gd name="T45" fmla="*/ 25 h 289"/>
                <a:gd name="T46" fmla="*/ 167 w 289"/>
                <a:gd name="T47" fmla="*/ 34 h 289"/>
                <a:gd name="T48" fmla="*/ 155 w 289"/>
                <a:gd name="T49" fmla="*/ 44 h 289"/>
                <a:gd name="T50" fmla="*/ 140 w 289"/>
                <a:gd name="T51" fmla="*/ 110 h 289"/>
                <a:gd name="T52" fmla="*/ 137 w 289"/>
                <a:gd name="T53" fmla="*/ 122 h 289"/>
                <a:gd name="T54" fmla="*/ 28 w 289"/>
                <a:gd name="T55" fmla="*/ 231 h 289"/>
                <a:gd name="T56" fmla="*/ 22 w 289"/>
                <a:gd name="T57" fmla="*/ 246 h 289"/>
                <a:gd name="T58" fmla="*/ 28 w 289"/>
                <a:gd name="T59" fmla="*/ 261 h 289"/>
                <a:gd name="T60" fmla="*/ 58 w 289"/>
                <a:gd name="T61" fmla="*/ 261 h 289"/>
                <a:gd name="T62" fmla="*/ 167 w 289"/>
                <a:gd name="T63" fmla="*/ 152 h 289"/>
                <a:gd name="T64" fmla="*/ 179 w 289"/>
                <a:gd name="T65" fmla="*/ 149 h 289"/>
                <a:gd name="T66" fmla="*/ 245 w 289"/>
                <a:gd name="T67" fmla="*/ 134 h 289"/>
                <a:gd name="T68" fmla="*/ 255 w 289"/>
                <a:gd name="T69" fmla="*/ 122 h 289"/>
                <a:gd name="T70" fmla="*/ 255 w 289"/>
                <a:gd name="T71" fmla="*/ 122 h 289"/>
                <a:gd name="T72" fmla="*/ 264 w 289"/>
                <a:gd name="T73" fmla="*/ 85 h 289"/>
                <a:gd name="T74" fmla="*/ 232 w 289"/>
                <a:gd name="T75" fmla="*/ 117 h 289"/>
                <a:gd name="T76" fmla="*/ 219 w 289"/>
                <a:gd name="T77" fmla="*/ 118 h 289"/>
                <a:gd name="T78" fmla="*/ 192 w 289"/>
                <a:gd name="T79" fmla="*/ 96 h 289"/>
                <a:gd name="T80" fmla="*/ 171 w 289"/>
                <a:gd name="T81" fmla="*/ 70 h 289"/>
                <a:gd name="T82" fmla="*/ 172 w 289"/>
                <a:gd name="T83" fmla="*/ 56 h 289"/>
                <a:gd name="T84" fmla="*/ 204 w 289"/>
                <a:gd name="T85" fmla="*/ 25 h 289"/>
                <a:gd name="T86" fmla="*/ 200 w 289"/>
                <a:gd name="T87" fmla="*/ 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9" h="289">
                  <a:moveTo>
                    <a:pt x="43" y="289"/>
                  </a:moveTo>
                  <a:cubicBezTo>
                    <a:pt x="32" y="289"/>
                    <a:pt x="21" y="284"/>
                    <a:pt x="13" y="276"/>
                  </a:cubicBezTo>
                  <a:cubicBezTo>
                    <a:pt x="5" y="268"/>
                    <a:pt x="0" y="257"/>
                    <a:pt x="0" y="246"/>
                  </a:cubicBezTo>
                  <a:cubicBezTo>
                    <a:pt x="0" y="235"/>
                    <a:pt x="5" y="224"/>
                    <a:pt x="13" y="216"/>
                  </a:cubicBezTo>
                  <a:cubicBezTo>
                    <a:pt x="118" y="111"/>
                    <a:pt x="118" y="111"/>
                    <a:pt x="118" y="111"/>
                  </a:cubicBezTo>
                  <a:cubicBezTo>
                    <a:pt x="110" y="82"/>
                    <a:pt x="118" y="50"/>
                    <a:pt x="140" y="29"/>
                  </a:cubicBezTo>
                  <a:cubicBezTo>
                    <a:pt x="144" y="24"/>
                    <a:pt x="150" y="20"/>
                    <a:pt x="156" y="16"/>
                  </a:cubicBezTo>
                  <a:cubicBezTo>
                    <a:pt x="178" y="3"/>
                    <a:pt x="204" y="0"/>
                    <a:pt x="229" y="9"/>
                  </a:cubicBezTo>
                  <a:cubicBezTo>
                    <a:pt x="232" y="10"/>
                    <a:pt x="235" y="13"/>
                    <a:pt x="235" y="16"/>
                  </a:cubicBezTo>
                  <a:cubicBezTo>
                    <a:pt x="236" y="20"/>
                    <a:pt x="235" y="24"/>
                    <a:pt x="233" y="26"/>
                  </a:cubicBezTo>
                  <a:cubicBezTo>
                    <a:pt x="194" y="65"/>
                    <a:pt x="194" y="65"/>
                    <a:pt x="194" y="65"/>
                  </a:cubicBezTo>
                  <a:cubicBezTo>
                    <a:pt x="198" y="71"/>
                    <a:pt x="203" y="76"/>
                    <a:pt x="208" y="81"/>
                  </a:cubicBezTo>
                  <a:cubicBezTo>
                    <a:pt x="213" y="86"/>
                    <a:pt x="218" y="91"/>
                    <a:pt x="224" y="95"/>
                  </a:cubicBezTo>
                  <a:cubicBezTo>
                    <a:pt x="263" y="56"/>
                    <a:pt x="263" y="56"/>
                    <a:pt x="263" y="56"/>
                  </a:cubicBezTo>
                  <a:cubicBezTo>
                    <a:pt x="265" y="54"/>
                    <a:pt x="269" y="53"/>
                    <a:pt x="273" y="54"/>
                  </a:cubicBezTo>
                  <a:cubicBezTo>
                    <a:pt x="276" y="54"/>
                    <a:pt x="279" y="57"/>
                    <a:pt x="280" y="60"/>
                  </a:cubicBezTo>
                  <a:cubicBezTo>
                    <a:pt x="289" y="85"/>
                    <a:pt x="286" y="111"/>
                    <a:pt x="273" y="133"/>
                  </a:cubicBezTo>
                  <a:cubicBezTo>
                    <a:pt x="273" y="133"/>
                    <a:pt x="273" y="133"/>
                    <a:pt x="273" y="133"/>
                  </a:cubicBezTo>
                  <a:cubicBezTo>
                    <a:pt x="269" y="139"/>
                    <a:pt x="265" y="145"/>
                    <a:pt x="260" y="149"/>
                  </a:cubicBezTo>
                  <a:cubicBezTo>
                    <a:pt x="239" y="171"/>
                    <a:pt x="207" y="179"/>
                    <a:pt x="178" y="171"/>
                  </a:cubicBezTo>
                  <a:cubicBezTo>
                    <a:pt x="73" y="276"/>
                    <a:pt x="73" y="276"/>
                    <a:pt x="73" y="276"/>
                  </a:cubicBezTo>
                  <a:cubicBezTo>
                    <a:pt x="65" y="284"/>
                    <a:pt x="54" y="289"/>
                    <a:pt x="43" y="289"/>
                  </a:cubicBezTo>
                  <a:close/>
                  <a:moveTo>
                    <a:pt x="200" y="25"/>
                  </a:moveTo>
                  <a:cubicBezTo>
                    <a:pt x="188" y="25"/>
                    <a:pt x="177" y="28"/>
                    <a:pt x="167" y="34"/>
                  </a:cubicBezTo>
                  <a:cubicBezTo>
                    <a:pt x="162" y="37"/>
                    <a:pt x="158" y="40"/>
                    <a:pt x="155" y="44"/>
                  </a:cubicBezTo>
                  <a:cubicBezTo>
                    <a:pt x="137" y="61"/>
                    <a:pt x="132" y="87"/>
                    <a:pt x="140" y="110"/>
                  </a:cubicBezTo>
                  <a:cubicBezTo>
                    <a:pt x="141" y="114"/>
                    <a:pt x="140" y="119"/>
                    <a:pt x="137" y="122"/>
                  </a:cubicBezTo>
                  <a:cubicBezTo>
                    <a:pt x="28" y="231"/>
                    <a:pt x="28" y="231"/>
                    <a:pt x="28" y="231"/>
                  </a:cubicBezTo>
                  <a:cubicBezTo>
                    <a:pt x="24" y="235"/>
                    <a:pt x="22" y="240"/>
                    <a:pt x="22" y="246"/>
                  </a:cubicBezTo>
                  <a:cubicBezTo>
                    <a:pt x="22" y="252"/>
                    <a:pt x="24" y="257"/>
                    <a:pt x="28" y="261"/>
                  </a:cubicBezTo>
                  <a:cubicBezTo>
                    <a:pt x="36" y="269"/>
                    <a:pt x="50" y="269"/>
                    <a:pt x="58" y="261"/>
                  </a:cubicBezTo>
                  <a:cubicBezTo>
                    <a:pt x="167" y="152"/>
                    <a:pt x="167" y="152"/>
                    <a:pt x="167" y="152"/>
                  </a:cubicBezTo>
                  <a:cubicBezTo>
                    <a:pt x="170" y="149"/>
                    <a:pt x="175" y="148"/>
                    <a:pt x="179" y="149"/>
                  </a:cubicBezTo>
                  <a:cubicBezTo>
                    <a:pt x="202" y="157"/>
                    <a:pt x="228" y="152"/>
                    <a:pt x="245" y="134"/>
                  </a:cubicBezTo>
                  <a:cubicBezTo>
                    <a:pt x="249" y="131"/>
                    <a:pt x="252" y="127"/>
                    <a:pt x="255" y="122"/>
                  </a:cubicBezTo>
                  <a:cubicBezTo>
                    <a:pt x="255" y="122"/>
                    <a:pt x="255" y="122"/>
                    <a:pt x="255" y="122"/>
                  </a:cubicBezTo>
                  <a:cubicBezTo>
                    <a:pt x="261" y="111"/>
                    <a:pt x="265" y="98"/>
                    <a:pt x="264" y="85"/>
                  </a:cubicBezTo>
                  <a:cubicBezTo>
                    <a:pt x="232" y="117"/>
                    <a:pt x="232" y="117"/>
                    <a:pt x="232" y="117"/>
                  </a:cubicBezTo>
                  <a:cubicBezTo>
                    <a:pt x="229" y="120"/>
                    <a:pt x="223" y="121"/>
                    <a:pt x="219" y="118"/>
                  </a:cubicBezTo>
                  <a:cubicBezTo>
                    <a:pt x="210" y="112"/>
                    <a:pt x="201" y="105"/>
                    <a:pt x="192" y="96"/>
                  </a:cubicBezTo>
                  <a:cubicBezTo>
                    <a:pt x="184" y="88"/>
                    <a:pt x="177" y="79"/>
                    <a:pt x="171" y="70"/>
                  </a:cubicBezTo>
                  <a:cubicBezTo>
                    <a:pt x="168" y="66"/>
                    <a:pt x="169" y="60"/>
                    <a:pt x="172" y="56"/>
                  </a:cubicBezTo>
                  <a:cubicBezTo>
                    <a:pt x="204" y="25"/>
                    <a:pt x="204" y="25"/>
                    <a:pt x="204" y="25"/>
                  </a:cubicBezTo>
                  <a:cubicBezTo>
                    <a:pt x="202" y="25"/>
                    <a:pt x="201" y="25"/>
                    <a:pt x="200" y="2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2" name="Freeform 287">
              <a:extLst>
                <a:ext uri="{FF2B5EF4-FFF2-40B4-BE49-F238E27FC236}">
                  <a16:creationId xmlns:a16="http://schemas.microsoft.com/office/drawing/2014/main" id="{21E99EFB-CFFC-49F9-BB5D-99EF76B095CA}"/>
                </a:ext>
              </a:extLst>
            </p:cNvPr>
            <p:cNvSpPr>
              <a:spLocks noEditPoints="1"/>
            </p:cNvSpPr>
            <p:nvPr/>
          </p:nvSpPr>
          <p:spPr bwMode="auto">
            <a:xfrm>
              <a:off x="388" y="75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3" name="Group 188">
            <a:extLst>
              <a:ext uri="{FF2B5EF4-FFF2-40B4-BE49-F238E27FC236}">
                <a16:creationId xmlns:a16="http://schemas.microsoft.com/office/drawing/2014/main" id="{30CDE479-9D77-4E44-8CD8-3EC3EF3D4063}"/>
              </a:ext>
            </a:extLst>
          </p:cNvPr>
          <p:cNvGrpSpPr>
            <a:grpSpLocks noChangeAspect="1"/>
          </p:cNvGrpSpPr>
          <p:nvPr/>
        </p:nvGrpSpPr>
        <p:grpSpPr bwMode="auto">
          <a:xfrm>
            <a:off x="7199028" y="2394429"/>
            <a:ext cx="601929" cy="600164"/>
            <a:chOff x="394" y="389"/>
            <a:chExt cx="341" cy="340"/>
          </a:xfrm>
          <a:solidFill>
            <a:schemeClr val="accent4"/>
          </a:solidFill>
        </p:grpSpPr>
        <p:sp>
          <p:nvSpPr>
            <p:cNvPr id="74" name="Freeform 189">
              <a:extLst>
                <a:ext uri="{FF2B5EF4-FFF2-40B4-BE49-F238E27FC236}">
                  <a16:creationId xmlns:a16="http://schemas.microsoft.com/office/drawing/2014/main" id="{4656C7A1-CC65-4153-8EEC-DD0AE51EF3DE}"/>
                </a:ext>
              </a:extLst>
            </p:cNvPr>
            <p:cNvSpPr>
              <a:spLocks noEditPoints="1"/>
            </p:cNvSpPr>
            <p:nvPr/>
          </p:nvSpPr>
          <p:spPr bwMode="auto">
            <a:xfrm>
              <a:off x="394" y="389"/>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Freeform 190">
              <a:extLst>
                <a:ext uri="{FF2B5EF4-FFF2-40B4-BE49-F238E27FC236}">
                  <a16:creationId xmlns:a16="http://schemas.microsoft.com/office/drawing/2014/main" id="{C62EDC77-2C2A-480C-8829-ED962F813C11}"/>
                </a:ext>
              </a:extLst>
            </p:cNvPr>
            <p:cNvSpPr>
              <a:spLocks noEditPoints="1"/>
            </p:cNvSpPr>
            <p:nvPr/>
          </p:nvSpPr>
          <p:spPr bwMode="auto">
            <a:xfrm>
              <a:off x="536" y="453"/>
              <a:ext cx="56" cy="212"/>
            </a:xfrm>
            <a:custGeom>
              <a:avLst/>
              <a:gdLst>
                <a:gd name="T0" fmla="*/ 53 w 85"/>
                <a:gd name="T1" fmla="*/ 193 h 320"/>
                <a:gd name="T2" fmla="*/ 53 w 85"/>
                <a:gd name="T3" fmla="*/ 10 h 320"/>
                <a:gd name="T4" fmla="*/ 43 w 85"/>
                <a:gd name="T5" fmla="*/ 0 h 320"/>
                <a:gd name="T6" fmla="*/ 32 w 85"/>
                <a:gd name="T7" fmla="*/ 10 h 320"/>
                <a:gd name="T8" fmla="*/ 32 w 85"/>
                <a:gd name="T9" fmla="*/ 193 h 320"/>
                <a:gd name="T10" fmla="*/ 0 w 85"/>
                <a:gd name="T11" fmla="*/ 234 h 320"/>
                <a:gd name="T12" fmla="*/ 32 w 85"/>
                <a:gd name="T13" fmla="*/ 275 h 320"/>
                <a:gd name="T14" fmla="*/ 32 w 85"/>
                <a:gd name="T15" fmla="*/ 309 h 320"/>
                <a:gd name="T16" fmla="*/ 43 w 85"/>
                <a:gd name="T17" fmla="*/ 320 h 320"/>
                <a:gd name="T18" fmla="*/ 53 w 85"/>
                <a:gd name="T19" fmla="*/ 309 h 320"/>
                <a:gd name="T20" fmla="*/ 53 w 85"/>
                <a:gd name="T21" fmla="*/ 275 h 320"/>
                <a:gd name="T22" fmla="*/ 85 w 85"/>
                <a:gd name="T23" fmla="*/ 234 h 320"/>
                <a:gd name="T24" fmla="*/ 53 w 85"/>
                <a:gd name="T25" fmla="*/ 193 h 320"/>
                <a:gd name="T26" fmla="*/ 43 w 85"/>
                <a:gd name="T27" fmla="*/ 256 h 320"/>
                <a:gd name="T28" fmla="*/ 21 w 85"/>
                <a:gd name="T29" fmla="*/ 234 h 320"/>
                <a:gd name="T30" fmla="*/ 43 w 85"/>
                <a:gd name="T31" fmla="*/ 213 h 320"/>
                <a:gd name="T32" fmla="*/ 64 w 85"/>
                <a:gd name="T33" fmla="*/ 234 h 320"/>
                <a:gd name="T34" fmla="*/ 43 w 85"/>
                <a:gd name="T35" fmla="*/ 25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5" h="320">
                  <a:moveTo>
                    <a:pt x="53" y="193"/>
                  </a:moveTo>
                  <a:cubicBezTo>
                    <a:pt x="53" y="10"/>
                    <a:pt x="53" y="10"/>
                    <a:pt x="53" y="10"/>
                  </a:cubicBezTo>
                  <a:cubicBezTo>
                    <a:pt x="53" y="4"/>
                    <a:pt x="49" y="0"/>
                    <a:pt x="43" y="0"/>
                  </a:cubicBezTo>
                  <a:cubicBezTo>
                    <a:pt x="37" y="0"/>
                    <a:pt x="32" y="4"/>
                    <a:pt x="32" y="10"/>
                  </a:cubicBezTo>
                  <a:cubicBezTo>
                    <a:pt x="32" y="193"/>
                    <a:pt x="32" y="193"/>
                    <a:pt x="32" y="193"/>
                  </a:cubicBezTo>
                  <a:cubicBezTo>
                    <a:pt x="14" y="198"/>
                    <a:pt x="0" y="215"/>
                    <a:pt x="0" y="234"/>
                  </a:cubicBezTo>
                  <a:cubicBezTo>
                    <a:pt x="0" y="254"/>
                    <a:pt x="14" y="271"/>
                    <a:pt x="32" y="275"/>
                  </a:cubicBezTo>
                  <a:cubicBezTo>
                    <a:pt x="32" y="309"/>
                    <a:pt x="32" y="309"/>
                    <a:pt x="32" y="309"/>
                  </a:cubicBezTo>
                  <a:cubicBezTo>
                    <a:pt x="32" y="315"/>
                    <a:pt x="37" y="320"/>
                    <a:pt x="43" y="320"/>
                  </a:cubicBezTo>
                  <a:cubicBezTo>
                    <a:pt x="49" y="320"/>
                    <a:pt x="53" y="315"/>
                    <a:pt x="53" y="309"/>
                  </a:cubicBezTo>
                  <a:cubicBezTo>
                    <a:pt x="53" y="275"/>
                    <a:pt x="53" y="275"/>
                    <a:pt x="53" y="275"/>
                  </a:cubicBezTo>
                  <a:cubicBezTo>
                    <a:pt x="72" y="271"/>
                    <a:pt x="85" y="254"/>
                    <a:pt x="85" y="234"/>
                  </a:cubicBezTo>
                  <a:cubicBezTo>
                    <a:pt x="85" y="215"/>
                    <a:pt x="72" y="198"/>
                    <a:pt x="53" y="193"/>
                  </a:cubicBezTo>
                  <a:close/>
                  <a:moveTo>
                    <a:pt x="43" y="256"/>
                  </a:moveTo>
                  <a:cubicBezTo>
                    <a:pt x="31" y="256"/>
                    <a:pt x="21" y="246"/>
                    <a:pt x="21" y="234"/>
                  </a:cubicBezTo>
                  <a:cubicBezTo>
                    <a:pt x="21" y="223"/>
                    <a:pt x="31" y="213"/>
                    <a:pt x="43" y="213"/>
                  </a:cubicBezTo>
                  <a:cubicBezTo>
                    <a:pt x="54" y="213"/>
                    <a:pt x="64" y="223"/>
                    <a:pt x="64" y="234"/>
                  </a:cubicBezTo>
                  <a:cubicBezTo>
                    <a:pt x="64" y="246"/>
                    <a:pt x="54" y="256"/>
                    <a:pt x="43" y="25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6" name="Freeform 191">
              <a:extLst>
                <a:ext uri="{FF2B5EF4-FFF2-40B4-BE49-F238E27FC236}">
                  <a16:creationId xmlns:a16="http://schemas.microsoft.com/office/drawing/2014/main" id="{E86BEE16-945D-4FD5-97CB-28518D42291B}"/>
                </a:ext>
              </a:extLst>
            </p:cNvPr>
            <p:cNvSpPr>
              <a:spLocks noEditPoints="1"/>
            </p:cNvSpPr>
            <p:nvPr/>
          </p:nvSpPr>
          <p:spPr bwMode="auto">
            <a:xfrm>
              <a:off x="472" y="453"/>
              <a:ext cx="57" cy="212"/>
            </a:xfrm>
            <a:custGeom>
              <a:avLst/>
              <a:gdLst>
                <a:gd name="T0" fmla="*/ 53 w 85"/>
                <a:gd name="T1" fmla="*/ 44 h 320"/>
                <a:gd name="T2" fmla="*/ 53 w 85"/>
                <a:gd name="T3" fmla="*/ 10 h 320"/>
                <a:gd name="T4" fmla="*/ 43 w 85"/>
                <a:gd name="T5" fmla="*/ 0 h 320"/>
                <a:gd name="T6" fmla="*/ 32 w 85"/>
                <a:gd name="T7" fmla="*/ 10 h 320"/>
                <a:gd name="T8" fmla="*/ 32 w 85"/>
                <a:gd name="T9" fmla="*/ 44 h 320"/>
                <a:gd name="T10" fmla="*/ 0 w 85"/>
                <a:gd name="T11" fmla="*/ 85 h 320"/>
                <a:gd name="T12" fmla="*/ 32 w 85"/>
                <a:gd name="T13" fmla="*/ 126 h 320"/>
                <a:gd name="T14" fmla="*/ 32 w 85"/>
                <a:gd name="T15" fmla="*/ 309 h 320"/>
                <a:gd name="T16" fmla="*/ 43 w 85"/>
                <a:gd name="T17" fmla="*/ 320 h 320"/>
                <a:gd name="T18" fmla="*/ 53 w 85"/>
                <a:gd name="T19" fmla="*/ 309 h 320"/>
                <a:gd name="T20" fmla="*/ 53 w 85"/>
                <a:gd name="T21" fmla="*/ 126 h 320"/>
                <a:gd name="T22" fmla="*/ 85 w 85"/>
                <a:gd name="T23" fmla="*/ 85 h 320"/>
                <a:gd name="T24" fmla="*/ 53 w 85"/>
                <a:gd name="T25" fmla="*/ 44 h 320"/>
                <a:gd name="T26" fmla="*/ 43 w 85"/>
                <a:gd name="T27" fmla="*/ 106 h 320"/>
                <a:gd name="T28" fmla="*/ 21 w 85"/>
                <a:gd name="T29" fmla="*/ 85 h 320"/>
                <a:gd name="T30" fmla="*/ 43 w 85"/>
                <a:gd name="T31" fmla="*/ 64 h 320"/>
                <a:gd name="T32" fmla="*/ 64 w 85"/>
                <a:gd name="T33" fmla="*/ 85 h 320"/>
                <a:gd name="T34" fmla="*/ 43 w 85"/>
                <a:gd name="T35" fmla="*/ 10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5" h="320">
                  <a:moveTo>
                    <a:pt x="53" y="44"/>
                  </a:moveTo>
                  <a:cubicBezTo>
                    <a:pt x="53" y="10"/>
                    <a:pt x="53" y="10"/>
                    <a:pt x="53" y="10"/>
                  </a:cubicBezTo>
                  <a:cubicBezTo>
                    <a:pt x="53" y="4"/>
                    <a:pt x="49" y="0"/>
                    <a:pt x="43" y="0"/>
                  </a:cubicBezTo>
                  <a:cubicBezTo>
                    <a:pt x="37" y="0"/>
                    <a:pt x="32" y="4"/>
                    <a:pt x="32" y="10"/>
                  </a:cubicBezTo>
                  <a:cubicBezTo>
                    <a:pt x="32" y="44"/>
                    <a:pt x="32" y="44"/>
                    <a:pt x="32" y="44"/>
                  </a:cubicBezTo>
                  <a:cubicBezTo>
                    <a:pt x="14" y="49"/>
                    <a:pt x="0" y="65"/>
                    <a:pt x="0" y="85"/>
                  </a:cubicBezTo>
                  <a:cubicBezTo>
                    <a:pt x="0" y="105"/>
                    <a:pt x="14" y="121"/>
                    <a:pt x="32" y="126"/>
                  </a:cubicBezTo>
                  <a:cubicBezTo>
                    <a:pt x="32" y="309"/>
                    <a:pt x="32" y="309"/>
                    <a:pt x="32" y="309"/>
                  </a:cubicBezTo>
                  <a:cubicBezTo>
                    <a:pt x="32" y="315"/>
                    <a:pt x="37" y="320"/>
                    <a:pt x="43" y="320"/>
                  </a:cubicBezTo>
                  <a:cubicBezTo>
                    <a:pt x="49" y="320"/>
                    <a:pt x="53" y="315"/>
                    <a:pt x="53" y="309"/>
                  </a:cubicBezTo>
                  <a:cubicBezTo>
                    <a:pt x="53" y="126"/>
                    <a:pt x="53" y="126"/>
                    <a:pt x="53" y="126"/>
                  </a:cubicBezTo>
                  <a:cubicBezTo>
                    <a:pt x="72" y="121"/>
                    <a:pt x="85" y="105"/>
                    <a:pt x="85" y="85"/>
                  </a:cubicBezTo>
                  <a:cubicBezTo>
                    <a:pt x="85" y="65"/>
                    <a:pt x="72" y="49"/>
                    <a:pt x="53" y="44"/>
                  </a:cubicBezTo>
                  <a:close/>
                  <a:moveTo>
                    <a:pt x="43" y="106"/>
                  </a:moveTo>
                  <a:cubicBezTo>
                    <a:pt x="31" y="106"/>
                    <a:pt x="21" y="97"/>
                    <a:pt x="21" y="85"/>
                  </a:cubicBezTo>
                  <a:cubicBezTo>
                    <a:pt x="21" y="73"/>
                    <a:pt x="31" y="64"/>
                    <a:pt x="43" y="64"/>
                  </a:cubicBezTo>
                  <a:cubicBezTo>
                    <a:pt x="54" y="64"/>
                    <a:pt x="64" y="73"/>
                    <a:pt x="64" y="85"/>
                  </a:cubicBezTo>
                  <a:cubicBezTo>
                    <a:pt x="64" y="97"/>
                    <a:pt x="54" y="106"/>
                    <a:pt x="43" y="10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Freeform 192">
              <a:extLst>
                <a:ext uri="{FF2B5EF4-FFF2-40B4-BE49-F238E27FC236}">
                  <a16:creationId xmlns:a16="http://schemas.microsoft.com/office/drawing/2014/main" id="{9D053D4D-5676-42DB-9FB2-6D381B390DBF}"/>
                </a:ext>
              </a:extLst>
            </p:cNvPr>
            <p:cNvSpPr>
              <a:spLocks noEditPoints="1"/>
            </p:cNvSpPr>
            <p:nvPr/>
          </p:nvSpPr>
          <p:spPr bwMode="auto">
            <a:xfrm>
              <a:off x="600" y="453"/>
              <a:ext cx="56" cy="212"/>
            </a:xfrm>
            <a:custGeom>
              <a:avLst/>
              <a:gdLst>
                <a:gd name="T0" fmla="*/ 53 w 85"/>
                <a:gd name="T1" fmla="*/ 97 h 320"/>
                <a:gd name="T2" fmla="*/ 53 w 85"/>
                <a:gd name="T3" fmla="*/ 10 h 320"/>
                <a:gd name="T4" fmla="*/ 43 w 85"/>
                <a:gd name="T5" fmla="*/ 0 h 320"/>
                <a:gd name="T6" fmla="*/ 32 w 85"/>
                <a:gd name="T7" fmla="*/ 10 h 320"/>
                <a:gd name="T8" fmla="*/ 32 w 85"/>
                <a:gd name="T9" fmla="*/ 97 h 320"/>
                <a:gd name="T10" fmla="*/ 0 w 85"/>
                <a:gd name="T11" fmla="*/ 138 h 320"/>
                <a:gd name="T12" fmla="*/ 32 w 85"/>
                <a:gd name="T13" fmla="*/ 179 h 320"/>
                <a:gd name="T14" fmla="*/ 32 w 85"/>
                <a:gd name="T15" fmla="*/ 309 h 320"/>
                <a:gd name="T16" fmla="*/ 43 w 85"/>
                <a:gd name="T17" fmla="*/ 320 h 320"/>
                <a:gd name="T18" fmla="*/ 53 w 85"/>
                <a:gd name="T19" fmla="*/ 309 h 320"/>
                <a:gd name="T20" fmla="*/ 53 w 85"/>
                <a:gd name="T21" fmla="*/ 179 h 320"/>
                <a:gd name="T22" fmla="*/ 85 w 85"/>
                <a:gd name="T23" fmla="*/ 138 h 320"/>
                <a:gd name="T24" fmla="*/ 53 w 85"/>
                <a:gd name="T25" fmla="*/ 97 h 320"/>
                <a:gd name="T26" fmla="*/ 43 w 85"/>
                <a:gd name="T27" fmla="*/ 160 h 320"/>
                <a:gd name="T28" fmla="*/ 21 w 85"/>
                <a:gd name="T29" fmla="*/ 138 h 320"/>
                <a:gd name="T30" fmla="*/ 43 w 85"/>
                <a:gd name="T31" fmla="*/ 117 h 320"/>
                <a:gd name="T32" fmla="*/ 64 w 85"/>
                <a:gd name="T33" fmla="*/ 138 h 320"/>
                <a:gd name="T34" fmla="*/ 43 w 85"/>
                <a:gd name="T35" fmla="*/ 16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5" h="320">
                  <a:moveTo>
                    <a:pt x="53" y="97"/>
                  </a:moveTo>
                  <a:cubicBezTo>
                    <a:pt x="53" y="10"/>
                    <a:pt x="53" y="10"/>
                    <a:pt x="53" y="10"/>
                  </a:cubicBezTo>
                  <a:cubicBezTo>
                    <a:pt x="53" y="4"/>
                    <a:pt x="49" y="0"/>
                    <a:pt x="43" y="0"/>
                  </a:cubicBezTo>
                  <a:cubicBezTo>
                    <a:pt x="37" y="0"/>
                    <a:pt x="32" y="4"/>
                    <a:pt x="32" y="10"/>
                  </a:cubicBezTo>
                  <a:cubicBezTo>
                    <a:pt x="32" y="97"/>
                    <a:pt x="32" y="97"/>
                    <a:pt x="32" y="97"/>
                  </a:cubicBezTo>
                  <a:cubicBezTo>
                    <a:pt x="14" y="102"/>
                    <a:pt x="0" y="119"/>
                    <a:pt x="0" y="138"/>
                  </a:cubicBezTo>
                  <a:cubicBezTo>
                    <a:pt x="0" y="158"/>
                    <a:pt x="14" y="175"/>
                    <a:pt x="32" y="179"/>
                  </a:cubicBezTo>
                  <a:cubicBezTo>
                    <a:pt x="32" y="309"/>
                    <a:pt x="32" y="309"/>
                    <a:pt x="32" y="309"/>
                  </a:cubicBezTo>
                  <a:cubicBezTo>
                    <a:pt x="32" y="315"/>
                    <a:pt x="37" y="320"/>
                    <a:pt x="43" y="320"/>
                  </a:cubicBezTo>
                  <a:cubicBezTo>
                    <a:pt x="49" y="320"/>
                    <a:pt x="53" y="315"/>
                    <a:pt x="53" y="309"/>
                  </a:cubicBezTo>
                  <a:cubicBezTo>
                    <a:pt x="53" y="179"/>
                    <a:pt x="53" y="179"/>
                    <a:pt x="53" y="179"/>
                  </a:cubicBezTo>
                  <a:cubicBezTo>
                    <a:pt x="72" y="175"/>
                    <a:pt x="85" y="158"/>
                    <a:pt x="85" y="138"/>
                  </a:cubicBezTo>
                  <a:cubicBezTo>
                    <a:pt x="85" y="119"/>
                    <a:pt x="72" y="102"/>
                    <a:pt x="53" y="97"/>
                  </a:cubicBezTo>
                  <a:close/>
                  <a:moveTo>
                    <a:pt x="43" y="160"/>
                  </a:moveTo>
                  <a:cubicBezTo>
                    <a:pt x="31" y="160"/>
                    <a:pt x="21" y="150"/>
                    <a:pt x="21" y="138"/>
                  </a:cubicBezTo>
                  <a:cubicBezTo>
                    <a:pt x="21" y="127"/>
                    <a:pt x="31" y="117"/>
                    <a:pt x="43" y="117"/>
                  </a:cubicBezTo>
                  <a:cubicBezTo>
                    <a:pt x="54" y="117"/>
                    <a:pt x="64" y="127"/>
                    <a:pt x="64" y="138"/>
                  </a:cubicBezTo>
                  <a:cubicBezTo>
                    <a:pt x="64" y="150"/>
                    <a:pt x="54" y="160"/>
                    <a:pt x="43" y="16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77">
            <a:extLst>
              <a:ext uri="{FF2B5EF4-FFF2-40B4-BE49-F238E27FC236}">
                <a16:creationId xmlns:a16="http://schemas.microsoft.com/office/drawing/2014/main" id="{63C2C8C1-763A-4D78-BC0E-D420229B5053}"/>
              </a:ext>
            </a:extLst>
          </p:cNvPr>
          <p:cNvGrpSpPr>
            <a:grpSpLocks noChangeAspect="1"/>
          </p:cNvGrpSpPr>
          <p:nvPr/>
        </p:nvGrpSpPr>
        <p:grpSpPr bwMode="auto">
          <a:xfrm>
            <a:off x="4346065" y="4827386"/>
            <a:ext cx="573392" cy="573392"/>
            <a:chOff x="1121" y="2719"/>
            <a:chExt cx="340" cy="340"/>
          </a:xfrm>
          <a:solidFill>
            <a:schemeClr val="accent5"/>
          </a:solidFill>
        </p:grpSpPr>
        <p:sp>
          <p:nvSpPr>
            <p:cNvPr id="79" name="Freeform 778">
              <a:extLst>
                <a:ext uri="{FF2B5EF4-FFF2-40B4-BE49-F238E27FC236}">
                  <a16:creationId xmlns:a16="http://schemas.microsoft.com/office/drawing/2014/main" id="{3F1A816D-6E67-42E4-8E77-A620D800FDE0}"/>
                </a:ext>
              </a:extLst>
            </p:cNvPr>
            <p:cNvSpPr>
              <a:spLocks noEditPoints="1"/>
            </p:cNvSpPr>
            <p:nvPr/>
          </p:nvSpPr>
          <p:spPr bwMode="auto">
            <a:xfrm>
              <a:off x="1121" y="271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Freeform 779">
              <a:extLst>
                <a:ext uri="{FF2B5EF4-FFF2-40B4-BE49-F238E27FC236}">
                  <a16:creationId xmlns:a16="http://schemas.microsoft.com/office/drawing/2014/main" id="{261D6664-4834-47FD-A313-3CEBB436319C}"/>
                </a:ext>
              </a:extLst>
            </p:cNvPr>
            <p:cNvSpPr>
              <a:spLocks noEditPoints="1"/>
            </p:cNvSpPr>
            <p:nvPr/>
          </p:nvSpPr>
          <p:spPr bwMode="auto">
            <a:xfrm>
              <a:off x="1185" y="2804"/>
              <a:ext cx="212" cy="170"/>
            </a:xfrm>
            <a:custGeom>
              <a:avLst/>
              <a:gdLst>
                <a:gd name="T0" fmla="*/ 199 w 320"/>
                <a:gd name="T1" fmla="*/ 135 h 256"/>
                <a:gd name="T2" fmla="*/ 192 w 320"/>
                <a:gd name="T3" fmla="*/ 138 h 256"/>
                <a:gd name="T4" fmla="*/ 184 w 320"/>
                <a:gd name="T5" fmla="*/ 135 h 256"/>
                <a:gd name="T6" fmla="*/ 170 w 320"/>
                <a:gd name="T7" fmla="*/ 121 h 256"/>
                <a:gd name="T8" fmla="*/ 170 w 320"/>
                <a:gd name="T9" fmla="*/ 245 h 256"/>
                <a:gd name="T10" fmla="*/ 160 w 320"/>
                <a:gd name="T11" fmla="*/ 256 h 256"/>
                <a:gd name="T12" fmla="*/ 149 w 320"/>
                <a:gd name="T13" fmla="*/ 245 h 256"/>
                <a:gd name="T14" fmla="*/ 149 w 320"/>
                <a:gd name="T15" fmla="*/ 121 h 256"/>
                <a:gd name="T16" fmla="*/ 135 w 320"/>
                <a:gd name="T17" fmla="*/ 135 h 256"/>
                <a:gd name="T18" fmla="*/ 120 w 320"/>
                <a:gd name="T19" fmla="*/ 135 h 256"/>
                <a:gd name="T20" fmla="*/ 120 w 320"/>
                <a:gd name="T21" fmla="*/ 120 h 256"/>
                <a:gd name="T22" fmla="*/ 152 w 320"/>
                <a:gd name="T23" fmla="*/ 88 h 256"/>
                <a:gd name="T24" fmla="*/ 156 w 320"/>
                <a:gd name="T25" fmla="*/ 86 h 256"/>
                <a:gd name="T26" fmla="*/ 164 w 320"/>
                <a:gd name="T27" fmla="*/ 86 h 256"/>
                <a:gd name="T28" fmla="*/ 167 w 320"/>
                <a:gd name="T29" fmla="*/ 88 h 256"/>
                <a:gd name="T30" fmla="*/ 199 w 320"/>
                <a:gd name="T31" fmla="*/ 120 h 256"/>
                <a:gd name="T32" fmla="*/ 199 w 320"/>
                <a:gd name="T33" fmla="*/ 135 h 256"/>
                <a:gd name="T34" fmla="*/ 266 w 320"/>
                <a:gd name="T35" fmla="*/ 85 h 256"/>
                <a:gd name="T36" fmla="*/ 262 w 320"/>
                <a:gd name="T37" fmla="*/ 85 h 256"/>
                <a:gd name="T38" fmla="*/ 176 w 320"/>
                <a:gd name="T39" fmla="*/ 0 h 256"/>
                <a:gd name="T40" fmla="*/ 94 w 320"/>
                <a:gd name="T41" fmla="*/ 55 h 256"/>
                <a:gd name="T42" fmla="*/ 71 w 320"/>
                <a:gd name="T43" fmla="*/ 50 h 256"/>
                <a:gd name="T44" fmla="*/ 0 w 320"/>
                <a:gd name="T45" fmla="*/ 121 h 256"/>
                <a:gd name="T46" fmla="*/ 71 w 320"/>
                <a:gd name="T47" fmla="*/ 192 h 256"/>
                <a:gd name="T48" fmla="*/ 106 w 320"/>
                <a:gd name="T49" fmla="*/ 192 h 256"/>
                <a:gd name="T50" fmla="*/ 117 w 320"/>
                <a:gd name="T51" fmla="*/ 181 h 256"/>
                <a:gd name="T52" fmla="*/ 106 w 320"/>
                <a:gd name="T53" fmla="*/ 170 h 256"/>
                <a:gd name="T54" fmla="*/ 71 w 320"/>
                <a:gd name="T55" fmla="*/ 170 h 256"/>
                <a:gd name="T56" fmla="*/ 21 w 320"/>
                <a:gd name="T57" fmla="*/ 121 h 256"/>
                <a:gd name="T58" fmla="*/ 71 w 320"/>
                <a:gd name="T59" fmla="*/ 71 h 256"/>
                <a:gd name="T60" fmla="*/ 95 w 320"/>
                <a:gd name="T61" fmla="*/ 79 h 256"/>
                <a:gd name="T62" fmla="*/ 105 w 320"/>
                <a:gd name="T63" fmla="*/ 80 h 256"/>
                <a:gd name="T64" fmla="*/ 111 w 320"/>
                <a:gd name="T65" fmla="*/ 73 h 256"/>
                <a:gd name="T66" fmla="*/ 176 w 320"/>
                <a:gd name="T67" fmla="*/ 21 h 256"/>
                <a:gd name="T68" fmla="*/ 241 w 320"/>
                <a:gd name="T69" fmla="*/ 86 h 256"/>
                <a:gd name="T70" fmla="*/ 240 w 320"/>
                <a:gd name="T71" fmla="*/ 94 h 256"/>
                <a:gd name="T72" fmla="*/ 239 w 320"/>
                <a:gd name="T73" fmla="*/ 99 h 256"/>
                <a:gd name="T74" fmla="*/ 243 w 320"/>
                <a:gd name="T75" fmla="*/ 109 h 256"/>
                <a:gd name="T76" fmla="*/ 255 w 320"/>
                <a:gd name="T77" fmla="*/ 110 h 256"/>
                <a:gd name="T78" fmla="*/ 266 w 320"/>
                <a:gd name="T79" fmla="*/ 106 h 256"/>
                <a:gd name="T80" fmla="*/ 298 w 320"/>
                <a:gd name="T81" fmla="*/ 138 h 256"/>
                <a:gd name="T82" fmla="*/ 266 w 320"/>
                <a:gd name="T83" fmla="*/ 170 h 256"/>
                <a:gd name="T84" fmla="*/ 213 w 320"/>
                <a:gd name="T85" fmla="*/ 170 h 256"/>
                <a:gd name="T86" fmla="*/ 202 w 320"/>
                <a:gd name="T87" fmla="*/ 181 h 256"/>
                <a:gd name="T88" fmla="*/ 213 w 320"/>
                <a:gd name="T89" fmla="*/ 192 h 256"/>
                <a:gd name="T90" fmla="*/ 266 w 320"/>
                <a:gd name="T91" fmla="*/ 192 h 256"/>
                <a:gd name="T92" fmla="*/ 320 w 320"/>
                <a:gd name="T93" fmla="*/ 138 h 256"/>
                <a:gd name="T94" fmla="*/ 266 w 320"/>
                <a:gd name="T95" fmla="*/ 85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0" h="256">
                  <a:moveTo>
                    <a:pt x="199" y="135"/>
                  </a:moveTo>
                  <a:cubicBezTo>
                    <a:pt x="197" y="137"/>
                    <a:pt x="194" y="138"/>
                    <a:pt x="192" y="138"/>
                  </a:cubicBezTo>
                  <a:cubicBezTo>
                    <a:pt x="189" y="138"/>
                    <a:pt x="186" y="137"/>
                    <a:pt x="184" y="135"/>
                  </a:cubicBezTo>
                  <a:cubicBezTo>
                    <a:pt x="170" y="121"/>
                    <a:pt x="170" y="121"/>
                    <a:pt x="170" y="121"/>
                  </a:cubicBezTo>
                  <a:cubicBezTo>
                    <a:pt x="170" y="245"/>
                    <a:pt x="170" y="245"/>
                    <a:pt x="170" y="245"/>
                  </a:cubicBezTo>
                  <a:cubicBezTo>
                    <a:pt x="170" y="251"/>
                    <a:pt x="166" y="256"/>
                    <a:pt x="160" y="256"/>
                  </a:cubicBezTo>
                  <a:cubicBezTo>
                    <a:pt x="154" y="256"/>
                    <a:pt x="149" y="251"/>
                    <a:pt x="149" y="245"/>
                  </a:cubicBezTo>
                  <a:cubicBezTo>
                    <a:pt x="149" y="121"/>
                    <a:pt x="149" y="121"/>
                    <a:pt x="149" y="121"/>
                  </a:cubicBezTo>
                  <a:cubicBezTo>
                    <a:pt x="135" y="135"/>
                    <a:pt x="135" y="135"/>
                    <a:pt x="135" y="135"/>
                  </a:cubicBezTo>
                  <a:cubicBezTo>
                    <a:pt x="131" y="139"/>
                    <a:pt x="124" y="139"/>
                    <a:pt x="120" y="135"/>
                  </a:cubicBezTo>
                  <a:cubicBezTo>
                    <a:pt x="116" y="131"/>
                    <a:pt x="116" y="124"/>
                    <a:pt x="120" y="120"/>
                  </a:cubicBezTo>
                  <a:cubicBezTo>
                    <a:pt x="152" y="88"/>
                    <a:pt x="152" y="88"/>
                    <a:pt x="152" y="88"/>
                  </a:cubicBezTo>
                  <a:cubicBezTo>
                    <a:pt x="153" y="87"/>
                    <a:pt x="154" y="86"/>
                    <a:pt x="156" y="86"/>
                  </a:cubicBezTo>
                  <a:cubicBezTo>
                    <a:pt x="158" y="85"/>
                    <a:pt x="161" y="85"/>
                    <a:pt x="164" y="86"/>
                  </a:cubicBezTo>
                  <a:cubicBezTo>
                    <a:pt x="165" y="86"/>
                    <a:pt x="166" y="87"/>
                    <a:pt x="167" y="88"/>
                  </a:cubicBezTo>
                  <a:cubicBezTo>
                    <a:pt x="199" y="120"/>
                    <a:pt x="199" y="120"/>
                    <a:pt x="199" y="120"/>
                  </a:cubicBezTo>
                  <a:cubicBezTo>
                    <a:pt x="203" y="124"/>
                    <a:pt x="203" y="131"/>
                    <a:pt x="199" y="135"/>
                  </a:cubicBezTo>
                  <a:close/>
                  <a:moveTo>
                    <a:pt x="266" y="85"/>
                  </a:moveTo>
                  <a:cubicBezTo>
                    <a:pt x="265" y="85"/>
                    <a:pt x="264" y="85"/>
                    <a:pt x="262" y="85"/>
                  </a:cubicBezTo>
                  <a:cubicBezTo>
                    <a:pt x="262" y="38"/>
                    <a:pt x="223" y="0"/>
                    <a:pt x="176" y="0"/>
                  </a:cubicBezTo>
                  <a:cubicBezTo>
                    <a:pt x="139" y="0"/>
                    <a:pt x="107" y="22"/>
                    <a:pt x="94" y="55"/>
                  </a:cubicBezTo>
                  <a:cubicBezTo>
                    <a:pt x="87" y="52"/>
                    <a:pt x="80" y="50"/>
                    <a:pt x="71" y="50"/>
                  </a:cubicBezTo>
                  <a:cubicBezTo>
                    <a:pt x="31" y="50"/>
                    <a:pt x="0" y="82"/>
                    <a:pt x="0" y="121"/>
                  </a:cubicBezTo>
                  <a:cubicBezTo>
                    <a:pt x="0" y="160"/>
                    <a:pt x="31" y="192"/>
                    <a:pt x="71" y="192"/>
                  </a:cubicBezTo>
                  <a:cubicBezTo>
                    <a:pt x="106" y="192"/>
                    <a:pt x="106" y="192"/>
                    <a:pt x="106" y="192"/>
                  </a:cubicBezTo>
                  <a:cubicBezTo>
                    <a:pt x="112" y="192"/>
                    <a:pt x="117" y="187"/>
                    <a:pt x="117" y="181"/>
                  </a:cubicBezTo>
                  <a:cubicBezTo>
                    <a:pt x="117" y="175"/>
                    <a:pt x="112" y="170"/>
                    <a:pt x="106" y="170"/>
                  </a:cubicBezTo>
                  <a:cubicBezTo>
                    <a:pt x="71" y="170"/>
                    <a:pt x="71" y="170"/>
                    <a:pt x="71" y="170"/>
                  </a:cubicBezTo>
                  <a:cubicBezTo>
                    <a:pt x="43" y="170"/>
                    <a:pt x="21" y="148"/>
                    <a:pt x="21" y="121"/>
                  </a:cubicBezTo>
                  <a:cubicBezTo>
                    <a:pt x="21" y="93"/>
                    <a:pt x="43" y="71"/>
                    <a:pt x="71" y="71"/>
                  </a:cubicBezTo>
                  <a:cubicBezTo>
                    <a:pt x="80" y="71"/>
                    <a:pt x="87" y="74"/>
                    <a:pt x="95" y="79"/>
                  </a:cubicBezTo>
                  <a:cubicBezTo>
                    <a:pt x="98" y="81"/>
                    <a:pt x="101" y="82"/>
                    <a:pt x="105" y="80"/>
                  </a:cubicBezTo>
                  <a:cubicBezTo>
                    <a:pt x="108" y="79"/>
                    <a:pt x="110" y="76"/>
                    <a:pt x="111" y="73"/>
                  </a:cubicBezTo>
                  <a:cubicBezTo>
                    <a:pt x="117" y="43"/>
                    <a:pt x="145" y="21"/>
                    <a:pt x="176" y="21"/>
                  </a:cubicBezTo>
                  <a:cubicBezTo>
                    <a:pt x="212" y="21"/>
                    <a:pt x="241" y="50"/>
                    <a:pt x="241" y="86"/>
                  </a:cubicBezTo>
                  <a:cubicBezTo>
                    <a:pt x="241" y="89"/>
                    <a:pt x="240" y="91"/>
                    <a:pt x="240" y="94"/>
                  </a:cubicBezTo>
                  <a:cubicBezTo>
                    <a:pt x="240" y="96"/>
                    <a:pt x="240" y="97"/>
                    <a:pt x="239" y="99"/>
                  </a:cubicBezTo>
                  <a:cubicBezTo>
                    <a:pt x="238" y="103"/>
                    <a:pt x="240" y="107"/>
                    <a:pt x="243" y="109"/>
                  </a:cubicBezTo>
                  <a:cubicBezTo>
                    <a:pt x="247" y="112"/>
                    <a:pt x="251" y="112"/>
                    <a:pt x="255" y="110"/>
                  </a:cubicBezTo>
                  <a:cubicBezTo>
                    <a:pt x="261" y="107"/>
                    <a:pt x="265" y="106"/>
                    <a:pt x="266" y="106"/>
                  </a:cubicBezTo>
                  <a:cubicBezTo>
                    <a:pt x="284" y="106"/>
                    <a:pt x="298" y="121"/>
                    <a:pt x="298" y="138"/>
                  </a:cubicBezTo>
                  <a:cubicBezTo>
                    <a:pt x="298" y="156"/>
                    <a:pt x="284" y="170"/>
                    <a:pt x="266" y="170"/>
                  </a:cubicBezTo>
                  <a:cubicBezTo>
                    <a:pt x="213" y="170"/>
                    <a:pt x="213" y="170"/>
                    <a:pt x="213" y="170"/>
                  </a:cubicBezTo>
                  <a:cubicBezTo>
                    <a:pt x="207" y="170"/>
                    <a:pt x="202" y="175"/>
                    <a:pt x="202" y="181"/>
                  </a:cubicBezTo>
                  <a:cubicBezTo>
                    <a:pt x="202" y="187"/>
                    <a:pt x="207" y="192"/>
                    <a:pt x="213" y="192"/>
                  </a:cubicBezTo>
                  <a:cubicBezTo>
                    <a:pt x="266" y="192"/>
                    <a:pt x="266" y="192"/>
                    <a:pt x="266" y="192"/>
                  </a:cubicBezTo>
                  <a:cubicBezTo>
                    <a:pt x="296" y="192"/>
                    <a:pt x="320" y="168"/>
                    <a:pt x="320" y="138"/>
                  </a:cubicBezTo>
                  <a:cubicBezTo>
                    <a:pt x="320" y="109"/>
                    <a:pt x="296" y="85"/>
                    <a:pt x="266" y="8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11750991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98" imgH="499" progId="TCLayout.ActiveDocument.1">
                  <p:embed/>
                </p:oleObj>
              </mc:Choice>
              <mc:Fallback>
                <p:oleObj name="think-cell Slide" r:id="rId15"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Roll out of an Enterprise-Wide Central Procurement ERP Module will lead to lower turnaround time, better negotiating power and average reduction in procurement costs for STELCO</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1. Improvement in Procurement Management</a:t>
            </a:r>
            <a:endParaRPr lang="en-GB" dirty="0"/>
          </a:p>
        </p:txBody>
      </p:sp>
      <p:grpSp>
        <p:nvGrpSpPr>
          <p:cNvPr id="6" name="Group 5">
            <a:extLst>
              <a:ext uri="{FF2B5EF4-FFF2-40B4-BE49-F238E27FC236}">
                <a16:creationId xmlns:a16="http://schemas.microsoft.com/office/drawing/2014/main" id="{1993F2B0-0B69-4FA0-9772-106AC71070CB}"/>
              </a:ext>
            </a:extLst>
          </p:cNvPr>
          <p:cNvGrpSpPr/>
          <p:nvPr/>
        </p:nvGrpSpPr>
        <p:grpSpPr>
          <a:xfrm>
            <a:off x="9361171" y="1434006"/>
            <a:ext cx="2329180" cy="920574"/>
            <a:chOff x="9728749" y="1434006"/>
            <a:chExt cx="1961601" cy="637291"/>
          </a:xfrm>
        </p:grpSpPr>
        <p:sp>
          <p:nvSpPr>
            <p:cNvPr id="52" name="TextBox 51">
              <a:extLst>
                <a:ext uri="{FF2B5EF4-FFF2-40B4-BE49-F238E27FC236}">
                  <a16:creationId xmlns:a16="http://schemas.microsoft.com/office/drawing/2014/main" id="{82C1EFB3-50E8-46E8-A000-D76677138E9D}"/>
                </a:ext>
              </a:extLst>
            </p:cNvPr>
            <p:cNvSpPr txBox="1"/>
            <p:nvPr/>
          </p:nvSpPr>
          <p:spPr>
            <a:xfrm>
              <a:off x="9728749" y="1434006"/>
              <a:ext cx="1947215" cy="290963"/>
            </a:xfrm>
            <a:prstGeom prst="rect">
              <a:avLst/>
            </a:prstGeom>
            <a:solidFill>
              <a:schemeClr val="accent5"/>
            </a:solidFill>
            <a:ln>
              <a:solidFill>
                <a:schemeClr val="accent5"/>
              </a:solidFill>
            </a:ln>
          </p:spPr>
          <p:txBody>
            <a:bodyPr wrap="square" lIns="54000" tIns="54000" rIns="54000" bIns="5400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Calibri"/>
                  <a:ea typeface="+mn-ea"/>
                  <a:cs typeface="Arial" pitchFamily="34" charset="0"/>
                </a:rPr>
                <a:t>Potential Benefits (10 Years)</a:t>
              </a:r>
            </a:p>
          </p:txBody>
        </p:sp>
        <p:sp>
          <p:nvSpPr>
            <p:cNvPr id="53" name="TextBox 52">
              <a:extLst>
                <a:ext uri="{FF2B5EF4-FFF2-40B4-BE49-F238E27FC236}">
                  <a16:creationId xmlns:a16="http://schemas.microsoft.com/office/drawing/2014/main" id="{193B55FA-2DB1-441C-A3AB-4704A9A677DF}"/>
                </a:ext>
              </a:extLst>
            </p:cNvPr>
            <p:cNvSpPr txBox="1"/>
            <p:nvPr/>
          </p:nvSpPr>
          <p:spPr>
            <a:xfrm>
              <a:off x="9743135" y="1780334"/>
              <a:ext cx="1947215" cy="290963"/>
            </a:xfrm>
            <a:prstGeom prst="rect">
              <a:avLst/>
            </a:prstGeom>
            <a:solidFill>
              <a:srgbClr val="FFFFFF"/>
            </a:solidFill>
            <a:ln>
              <a:solidFill>
                <a:schemeClr val="accent4"/>
              </a:solidFill>
            </a:ln>
          </p:spPr>
          <p:txBody>
            <a:bodyPr wrap="square" lIns="0" tIns="54000" rIns="0" bIns="5400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dirty="0">
                  <a:ln>
                    <a:noFill/>
                  </a:ln>
                  <a:solidFill>
                    <a:srgbClr val="046A38"/>
                  </a:solidFill>
                  <a:effectLst/>
                  <a:uLnTx/>
                  <a:uFillTx/>
                  <a:latin typeface="Calibri"/>
                  <a:ea typeface="+mn-ea"/>
                  <a:cs typeface="Arial" pitchFamily="34" charset="0"/>
                </a:rPr>
                <a:t>101.4 Mn MVR / 6.6 Mn USD </a:t>
              </a:r>
            </a:p>
          </p:txBody>
        </p:sp>
      </p:grpSp>
      <p:sp>
        <p:nvSpPr>
          <p:cNvPr id="54" name="Rectangle 2">
            <a:extLst>
              <a:ext uri="{FF2B5EF4-FFF2-40B4-BE49-F238E27FC236}">
                <a16:creationId xmlns:a16="http://schemas.microsoft.com/office/drawing/2014/main" id="{92A38C71-E9B4-45F7-A0D3-1AE4CA8142B6}"/>
              </a:ext>
            </a:extLst>
          </p:cNvPr>
          <p:cNvSpPr>
            <a:spLocks noChangeArrowheads="1"/>
          </p:cNvSpPr>
          <p:nvPr/>
        </p:nvSpPr>
        <p:spPr bwMode="auto">
          <a:xfrm>
            <a:off x="501651" y="1408854"/>
            <a:ext cx="8665210" cy="945726"/>
          </a:xfrm>
          <a:prstGeom prst="rect">
            <a:avLst/>
          </a:prstGeom>
          <a:solidFill>
            <a:schemeClr val="bg1"/>
          </a:solidFill>
          <a:ln w="6350" algn="ctr">
            <a:solidFill>
              <a:schemeClr val="accent1"/>
            </a:solidFill>
            <a:miter lim="800000"/>
            <a:headEnd/>
            <a:tailEnd/>
          </a:ln>
        </p:spPr>
        <p:txBody>
          <a:bodyPr lIns="108000" tIns="36000" rIns="36000" bIns="36000" anchor="t"/>
          <a:lstStyle/>
          <a:p>
            <a:pPr marL="285750" marR="0" lvl="1" indent="-285750" algn="l" defTabSz="914400" rtl="0" eaLnBrk="1" fontAlgn="auto" latinLnBrk="0" hangingPunct="1">
              <a:lnSpc>
                <a:spcPct val="100000"/>
              </a:lnSpc>
              <a:spcBef>
                <a:spcPts val="0"/>
              </a:spcBef>
              <a:spcAft>
                <a:spcPts val="600"/>
              </a:spcAft>
              <a:buClr>
                <a:srgbClr val="007C92"/>
              </a:buClr>
              <a:buSzPct val="85000"/>
              <a:buFont typeface="Arial" panose="020B0604020202020204" pitchFamily="34" charset="0"/>
              <a:buChar char="•"/>
              <a:tabLst/>
              <a:defRPr/>
            </a:pPr>
            <a:r>
              <a:rPr kumimoji="0" lang="en-US" sz="1400" b="1" i="0" u="none" strike="noStrike" kern="1200" cap="none" spc="0" normalizeH="0" baseline="0" noProof="0" dirty="0">
                <a:ln>
                  <a:noFill/>
                </a:ln>
                <a:solidFill>
                  <a:srgbClr val="00338D"/>
                </a:solidFill>
                <a:effectLst/>
                <a:uLnTx/>
                <a:uFillTx/>
                <a:latin typeface="Calibri"/>
                <a:ea typeface="+mn-ea"/>
                <a:cs typeface="Arial" pitchFamily="34" charset="0"/>
              </a:rPr>
              <a:t>35 islands are involved in procurement function leading to increase in procurement requests, delays in procurement execution and small size of procurement orders.</a:t>
            </a:r>
          </a:p>
          <a:p>
            <a:pPr marL="285750" marR="0" lvl="1" indent="-285750" algn="l" defTabSz="914400" rtl="0" eaLnBrk="1" fontAlgn="auto" latinLnBrk="0" hangingPunct="1">
              <a:lnSpc>
                <a:spcPct val="100000"/>
              </a:lnSpc>
              <a:spcBef>
                <a:spcPts val="0"/>
              </a:spcBef>
              <a:spcAft>
                <a:spcPts val="600"/>
              </a:spcAft>
              <a:buClr>
                <a:srgbClr val="007C92"/>
              </a:buClr>
              <a:buSzPct val="85000"/>
              <a:buFont typeface="Arial" panose="020B0604020202020204" pitchFamily="34" charset="0"/>
              <a:buChar char="•"/>
              <a:tabLst/>
              <a:defRPr/>
            </a:pPr>
            <a:r>
              <a:rPr kumimoji="0" lang="en-GB" sz="1400" b="1" i="0" u="none" strike="noStrike" kern="1200" cap="none" spc="0" normalizeH="0" baseline="0" noProof="0" dirty="0">
                <a:ln>
                  <a:noFill/>
                </a:ln>
                <a:solidFill>
                  <a:srgbClr val="00338D"/>
                </a:solidFill>
                <a:effectLst/>
                <a:uLnTx/>
                <a:uFillTx/>
                <a:latin typeface="Calibri"/>
                <a:ea typeface="+mn-ea"/>
                <a:cs typeface="Arial" pitchFamily="34" charset="0"/>
              </a:rPr>
              <a:t>STELCO incurred an average Procurement Cost of 1.8 Bn MVR on R&amp;M, Fuel &amp; Lube Oil and Capital Expenditure in FY19 and FY18 </a:t>
            </a:r>
          </a:p>
        </p:txBody>
      </p:sp>
      <p:sp>
        <p:nvSpPr>
          <p:cNvPr id="60" name="Rectangle 10">
            <a:extLst>
              <a:ext uri="{FF2B5EF4-FFF2-40B4-BE49-F238E27FC236}">
                <a16:creationId xmlns:a16="http://schemas.microsoft.com/office/drawing/2014/main" id="{567C519C-35DE-4E98-9655-58DD83D96B71}"/>
              </a:ext>
            </a:extLst>
          </p:cNvPr>
          <p:cNvSpPr>
            <a:spLocks noChangeArrowheads="1"/>
          </p:cNvSpPr>
          <p:nvPr/>
        </p:nvSpPr>
        <p:spPr bwMode="auto">
          <a:xfrm>
            <a:off x="501649" y="2493778"/>
            <a:ext cx="5910581" cy="272292"/>
          </a:xfrm>
          <a:prstGeom prst="rect">
            <a:avLst/>
          </a:prstGeom>
          <a:solidFill>
            <a:schemeClr val="accent5">
              <a:alpha val="57000"/>
            </a:schemeClr>
          </a:solidFill>
          <a:ln w="6350">
            <a:solidFill>
              <a:srgbClr val="409DAD"/>
            </a:solidFill>
          </a:ln>
        </p:spPr>
        <p:txBody>
          <a:bodyPr vert="horz" lIns="0" tIns="0" rIns="0" bIns="0" rtlCol="0" anchor="ctr" anchorCtr="1">
            <a:norm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Calibri"/>
                <a:ea typeface="+mn-ea"/>
                <a:cs typeface="Arial" pitchFamily="34" charset="0"/>
              </a:rPr>
              <a:t>Savings Rationale</a:t>
            </a:r>
          </a:p>
        </p:txBody>
      </p:sp>
      <p:graphicFrame>
        <p:nvGraphicFramePr>
          <p:cNvPr id="21" name="Table 21">
            <a:extLst>
              <a:ext uri="{FF2B5EF4-FFF2-40B4-BE49-F238E27FC236}">
                <a16:creationId xmlns:a16="http://schemas.microsoft.com/office/drawing/2014/main" id="{8599F89E-C7B7-45AC-A256-04465166AF62}"/>
              </a:ext>
            </a:extLst>
          </p:cNvPr>
          <p:cNvGraphicFramePr>
            <a:graphicFrameLocks noGrp="1"/>
          </p:cNvGraphicFramePr>
          <p:nvPr/>
        </p:nvGraphicFramePr>
        <p:xfrm>
          <a:off x="501649" y="2921536"/>
          <a:ext cx="5910581" cy="2286000"/>
        </p:xfrm>
        <a:graphic>
          <a:graphicData uri="http://schemas.openxmlformats.org/drawingml/2006/table">
            <a:tbl>
              <a:tblPr firstRow="1" bandRow="1">
                <a:tableStyleId>{7DF18680-E054-41AD-8BC1-D1AEF772440D}</a:tableStyleId>
              </a:tblPr>
              <a:tblGrid>
                <a:gridCol w="1967229">
                  <a:extLst>
                    <a:ext uri="{9D8B030D-6E8A-4147-A177-3AD203B41FA5}">
                      <a16:colId xmlns:a16="http://schemas.microsoft.com/office/drawing/2014/main" val="22772272"/>
                    </a:ext>
                  </a:extLst>
                </a:gridCol>
                <a:gridCol w="1223010">
                  <a:extLst>
                    <a:ext uri="{9D8B030D-6E8A-4147-A177-3AD203B41FA5}">
                      <a16:colId xmlns:a16="http://schemas.microsoft.com/office/drawing/2014/main" val="1211298518"/>
                    </a:ext>
                  </a:extLst>
                </a:gridCol>
                <a:gridCol w="1108710">
                  <a:extLst>
                    <a:ext uri="{9D8B030D-6E8A-4147-A177-3AD203B41FA5}">
                      <a16:colId xmlns:a16="http://schemas.microsoft.com/office/drawing/2014/main" val="586944667"/>
                    </a:ext>
                  </a:extLst>
                </a:gridCol>
                <a:gridCol w="736148">
                  <a:extLst>
                    <a:ext uri="{9D8B030D-6E8A-4147-A177-3AD203B41FA5}">
                      <a16:colId xmlns:a16="http://schemas.microsoft.com/office/drawing/2014/main" val="3335756289"/>
                    </a:ext>
                  </a:extLst>
                </a:gridCol>
                <a:gridCol w="875484">
                  <a:extLst>
                    <a:ext uri="{9D8B030D-6E8A-4147-A177-3AD203B41FA5}">
                      <a16:colId xmlns:a16="http://schemas.microsoft.com/office/drawing/2014/main" val="2401458410"/>
                    </a:ext>
                  </a:extLst>
                </a:gridCol>
              </a:tblGrid>
              <a:tr h="189826">
                <a:tc rowSpan="2">
                  <a:txBody>
                    <a:bodyPr/>
                    <a:lstStyle/>
                    <a:p>
                      <a:r>
                        <a:rPr lang="en-US" sz="1200" dirty="0"/>
                        <a:t>Average Procurement Cost in FY19 and FY18</a:t>
                      </a:r>
                      <a:endParaRPr lang="en-US" sz="1200" dirty="0">
                        <a:latin typeface="+mn-lt"/>
                      </a:endParaRPr>
                    </a:p>
                  </a:txBody>
                  <a:tcPr marL="45720" marR="45720"/>
                </a:tc>
                <a:tc rowSpan="2">
                  <a:txBody>
                    <a:bodyPr/>
                    <a:lstStyle/>
                    <a:p>
                      <a:pPr algn="ctr"/>
                      <a:r>
                        <a:rPr lang="en-US" sz="1200" dirty="0"/>
                        <a:t>Amount MVR</a:t>
                      </a:r>
                      <a:endParaRPr lang="en-US" sz="1200" dirty="0">
                        <a:latin typeface="+mn-lt"/>
                      </a:endParaRPr>
                    </a:p>
                  </a:txBody>
                  <a:tcPr marL="45720" marR="45720"/>
                </a:tc>
                <a:tc rowSpan="2">
                  <a:txBody>
                    <a:bodyPr/>
                    <a:lstStyle/>
                    <a:p>
                      <a:r>
                        <a:rPr lang="en-US" sz="1200" dirty="0"/>
                        <a:t>Estimated PO issued in a Year</a:t>
                      </a:r>
                      <a:endParaRPr lang="en-US" sz="1200" dirty="0">
                        <a:latin typeface="+mn-lt"/>
                      </a:endParaRPr>
                    </a:p>
                  </a:txBody>
                  <a:tcPr marL="45720" marR="45720"/>
                </a:tc>
                <a:tc gridSpan="2">
                  <a:txBody>
                    <a:bodyPr/>
                    <a:lstStyle/>
                    <a:p>
                      <a:pPr algn="ctr"/>
                      <a:r>
                        <a:rPr lang="en-US" sz="1200" dirty="0"/>
                        <a:t>Efficiency Improvement </a:t>
                      </a:r>
                      <a:endParaRPr lang="en-US" sz="1200" dirty="0">
                        <a:latin typeface="+mn-lt"/>
                      </a:endParaRPr>
                    </a:p>
                  </a:txBody>
                  <a:tcPr marL="45720" marR="45720"/>
                </a:tc>
                <a:tc hMerge="1">
                  <a:txBody>
                    <a:bodyPr/>
                    <a:lstStyle/>
                    <a:p>
                      <a:endParaRPr lang="en-US" sz="1100" dirty="0">
                        <a:latin typeface="+mn-lt"/>
                      </a:endParaRPr>
                    </a:p>
                  </a:txBody>
                  <a:tcPr marL="45720" marR="45720"/>
                </a:tc>
                <a:extLst>
                  <a:ext uri="{0D108BD9-81ED-4DB2-BD59-A6C34878D82A}">
                    <a16:rowId xmlns:a16="http://schemas.microsoft.com/office/drawing/2014/main" val="1307465169"/>
                  </a:ext>
                </a:extLst>
              </a:tr>
              <a:tr h="18982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1200" b="1" dirty="0">
                          <a:solidFill>
                            <a:schemeClr val="bg1"/>
                          </a:solidFill>
                        </a:rPr>
                        <a:t>Low Case</a:t>
                      </a:r>
                      <a:endParaRPr lang="en-US" sz="1200" b="1" dirty="0">
                        <a:solidFill>
                          <a:schemeClr val="bg1"/>
                        </a:solidFill>
                        <a:latin typeface="+mn-lt"/>
                      </a:endParaRPr>
                    </a:p>
                  </a:txBody>
                  <a:tcPr marL="45720" marR="45720">
                    <a:solidFill>
                      <a:schemeClr val="accent5"/>
                    </a:solidFill>
                  </a:tcPr>
                </a:tc>
                <a:tc>
                  <a:txBody>
                    <a:bodyPr/>
                    <a:lstStyle/>
                    <a:p>
                      <a:pPr algn="ctr"/>
                      <a:r>
                        <a:rPr lang="en-US" sz="1200" b="1" dirty="0">
                          <a:solidFill>
                            <a:schemeClr val="bg1"/>
                          </a:solidFill>
                        </a:rPr>
                        <a:t>High Case</a:t>
                      </a:r>
                      <a:endParaRPr lang="en-US" sz="1200" b="1" dirty="0">
                        <a:solidFill>
                          <a:schemeClr val="bg1"/>
                        </a:solidFill>
                        <a:latin typeface="+mn-lt"/>
                      </a:endParaRPr>
                    </a:p>
                  </a:txBody>
                  <a:tcPr marL="45720" marR="45720">
                    <a:solidFill>
                      <a:schemeClr val="accent5"/>
                    </a:solidFill>
                  </a:tcPr>
                </a:tc>
                <a:extLst>
                  <a:ext uri="{0D108BD9-81ED-4DB2-BD59-A6C34878D82A}">
                    <a16:rowId xmlns:a16="http://schemas.microsoft.com/office/drawing/2014/main" val="3166931624"/>
                  </a:ext>
                </a:extLst>
              </a:tr>
              <a:tr h="316377">
                <a:tc>
                  <a:txBody>
                    <a:bodyPr/>
                    <a:lstStyle/>
                    <a:p>
                      <a:pPr marL="0" algn="l" defTabSz="914400" rtl="0" eaLnBrk="1" fontAlgn="ctr" latinLnBrk="0" hangingPunct="1"/>
                      <a:r>
                        <a:rPr lang="en-US" sz="1200" u="none" strike="noStrike" kern="1200" dirty="0">
                          <a:effectLst/>
                        </a:rPr>
                        <a:t>Average R&amp;M Expenditure  (Generation &amp; Distribution)</a:t>
                      </a:r>
                      <a:endParaRPr lang="en-US" sz="1200" b="0"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u="none" strike="noStrike" kern="1200" dirty="0">
                          <a:effectLst/>
                        </a:rPr>
                        <a:t>66,295,969 </a:t>
                      </a:r>
                      <a:endParaRPr lang="en-US" sz="1200" b="0" i="0" u="none" strike="noStrike" kern="1200" dirty="0">
                        <a:solidFill>
                          <a:srgbClr val="000000"/>
                        </a:solidFill>
                        <a:effectLst/>
                        <a:latin typeface="+mn-lt"/>
                        <a:ea typeface="+mn-ea"/>
                        <a:cs typeface="+mn-cs"/>
                      </a:endParaRPr>
                    </a:p>
                  </a:txBody>
                  <a:tcPr marL="7620" marR="7620" marT="7620" marB="0" anchor="ctr"/>
                </a:tc>
                <a:tc>
                  <a:txBody>
                    <a:bodyPr/>
                    <a:lstStyle/>
                    <a:p>
                      <a:pPr marL="0" algn="ctr" defTabSz="914400" rtl="0" eaLnBrk="1" fontAlgn="ctr" latinLnBrk="0" hangingPunct="1"/>
                      <a:r>
                        <a:rPr lang="en-US" sz="1200" u="none" strike="noStrike" kern="1200" dirty="0">
                          <a:effectLst/>
                        </a:rPr>
                        <a:t>2,100 </a:t>
                      </a:r>
                      <a:endParaRPr lang="en-US" sz="1200" b="0" i="0" u="none" strike="noStrike" kern="1200" dirty="0">
                        <a:solidFill>
                          <a:srgbClr val="000000"/>
                        </a:solidFill>
                        <a:effectLst/>
                        <a:latin typeface="+mn-lt"/>
                        <a:ea typeface="+mn-ea"/>
                        <a:cs typeface="+mn-cs"/>
                      </a:endParaRPr>
                    </a:p>
                  </a:txBody>
                  <a:tcPr marL="7620" marR="7620" marT="7620" marB="0" anchor="ctr"/>
                </a:tc>
                <a:tc>
                  <a:txBody>
                    <a:bodyPr/>
                    <a:lstStyle/>
                    <a:p>
                      <a:pPr algn="ctr" fontAlgn="ctr"/>
                      <a:r>
                        <a:rPr lang="en-US" sz="1200" u="none" strike="noStrike" dirty="0">
                          <a:effectLst/>
                        </a:rPr>
                        <a:t>0.25%</a:t>
                      </a:r>
                      <a:endParaRPr lang="en-US" sz="1200" b="0" i="0" u="none" strike="noStrike" dirty="0">
                        <a:solidFill>
                          <a:srgbClr val="000000"/>
                        </a:solidFill>
                        <a:effectLst/>
                        <a:latin typeface="+mn-lt"/>
                      </a:endParaRPr>
                    </a:p>
                  </a:txBody>
                  <a:tcPr marL="7620" marR="7620" marT="7620" marB="0" anchor="ctr"/>
                </a:tc>
                <a:tc>
                  <a:txBody>
                    <a:bodyPr/>
                    <a:lstStyle/>
                    <a:p>
                      <a:pPr algn="ctr" fontAlgn="ctr"/>
                      <a:r>
                        <a:rPr lang="en-US" sz="1200" u="none" strike="noStrike" dirty="0">
                          <a:effectLst/>
                        </a:rPr>
                        <a:t>0.50%</a:t>
                      </a:r>
                      <a:endParaRPr lang="en-US" sz="1200" b="0"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2297181138"/>
                  </a:ext>
                </a:extLst>
              </a:tr>
              <a:tr h="189826">
                <a:tc>
                  <a:txBody>
                    <a:bodyPr/>
                    <a:lstStyle/>
                    <a:p>
                      <a:pPr marL="0" algn="l" defTabSz="914400" rtl="0" eaLnBrk="1" fontAlgn="ctr" latinLnBrk="0" hangingPunct="1"/>
                      <a:r>
                        <a:rPr lang="en-US" sz="1200" u="none" strike="noStrike" kern="1200" dirty="0">
                          <a:effectLst/>
                        </a:rPr>
                        <a:t>Average Cost of Lubricant Oil</a:t>
                      </a:r>
                      <a:endParaRPr lang="en-US" sz="1200" b="0"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u="none" strike="noStrike" kern="1200">
                          <a:effectLst/>
                        </a:rPr>
                        <a:t>23,194,908 </a:t>
                      </a:r>
                      <a:endParaRPr lang="en-US" sz="1200" b="0" i="0" u="none" strike="noStrike" kern="1200">
                        <a:solidFill>
                          <a:srgbClr val="000000"/>
                        </a:solidFill>
                        <a:effectLst/>
                        <a:latin typeface="+mn-lt"/>
                        <a:ea typeface="+mn-ea"/>
                        <a:cs typeface="+mn-cs"/>
                      </a:endParaRPr>
                    </a:p>
                  </a:txBody>
                  <a:tcPr marL="7620" marR="7620" marT="7620" marB="0" anchor="ctr"/>
                </a:tc>
                <a:tc>
                  <a:txBody>
                    <a:bodyPr/>
                    <a:lstStyle/>
                    <a:p>
                      <a:pPr marL="0" algn="ctr" defTabSz="914400" rtl="0" eaLnBrk="1" fontAlgn="ctr" latinLnBrk="0" hangingPunct="1"/>
                      <a:r>
                        <a:rPr lang="en-US" sz="1200" u="none" strike="noStrike" kern="1200" dirty="0">
                          <a:effectLst/>
                        </a:rPr>
                        <a:t>420 </a:t>
                      </a:r>
                      <a:endParaRPr lang="en-US" sz="1200" b="0" i="0" u="none" strike="noStrike" kern="1200" dirty="0">
                        <a:solidFill>
                          <a:srgbClr val="000000"/>
                        </a:solidFill>
                        <a:effectLst/>
                        <a:latin typeface="+mn-lt"/>
                        <a:ea typeface="+mn-ea"/>
                        <a:cs typeface="+mn-cs"/>
                      </a:endParaRPr>
                    </a:p>
                  </a:txBody>
                  <a:tcPr marL="7620" marR="7620" marT="7620" marB="0" anchor="ctr"/>
                </a:tc>
                <a:tc>
                  <a:txBody>
                    <a:bodyPr/>
                    <a:lstStyle/>
                    <a:p>
                      <a:pPr algn="ctr" fontAlgn="ctr"/>
                      <a:r>
                        <a:rPr lang="en-US" sz="1200" u="none" strike="noStrike" dirty="0">
                          <a:effectLst/>
                        </a:rPr>
                        <a:t>0.50%</a:t>
                      </a:r>
                      <a:endParaRPr lang="en-US" sz="1200" b="0" i="0" u="none" strike="noStrike" dirty="0">
                        <a:solidFill>
                          <a:srgbClr val="000000"/>
                        </a:solidFill>
                        <a:effectLst/>
                        <a:latin typeface="+mn-lt"/>
                      </a:endParaRPr>
                    </a:p>
                  </a:txBody>
                  <a:tcPr marL="7620" marR="7620" marT="7620" marB="0" anchor="ctr"/>
                </a:tc>
                <a:tc>
                  <a:txBody>
                    <a:bodyPr/>
                    <a:lstStyle/>
                    <a:p>
                      <a:pPr algn="ctr" fontAlgn="ctr"/>
                      <a:r>
                        <a:rPr lang="en-US" sz="1200" u="none" strike="noStrike" dirty="0">
                          <a:effectLst/>
                        </a:rPr>
                        <a:t>0.75%</a:t>
                      </a:r>
                      <a:endParaRPr lang="en-US" sz="1200" b="0"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1509177413"/>
                  </a:ext>
                </a:extLst>
              </a:tr>
              <a:tr h="189826">
                <a:tc>
                  <a:txBody>
                    <a:bodyPr/>
                    <a:lstStyle/>
                    <a:p>
                      <a:pPr marL="0" algn="l" defTabSz="914400" rtl="0" eaLnBrk="1" fontAlgn="ctr" latinLnBrk="0" hangingPunct="1"/>
                      <a:r>
                        <a:rPr lang="en-US" sz="1200" u="none" strike="noStrike" kern="1200" dirty="0">
                          <a:effectLst/>
                        </a:rPr>
                        <a:t>Average Cost of Diesel</a:t>
                      </a:r>
                      <a:endParaRPr lang="en-US" sz="1200" b="0"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u="none" strike="noStrike" kern="1200">
                          <a:effectLst/>
                        </a:rPr>
                        <a:t>1,054,055,344 </a:t>
                      </a:r>
                      <a:endParaRPr lang="en-US" sz="1200" b="0" i="0" u="none" strike="noStrike" kern="1200">
                        <a:solidFill>
                          <a:srgbClr val="000000"/>
                        </a:solidFill>
                        <a:effectLst/>
                        <a:latin typeface="+mn-lt"/>
                        <a:ea typeface="+mn-ea"/>
                        <a:cs typeface="+mn-cs"/>
                      </a:endParaRPr>
                    </a:p>
                  </a:txBody>
                  <a:tcPr marL="7620" marR="7620" marT="7620" marB="0" anchor="ctr"/>
                </a:tc>
                <a:tc>
                  <a:txBody>
                    <a:bodyPr/>
                    <a:lstStyle/>
                    <a:p>
                      <a:pPr marL="0" algn="ctr" defTabSz="914400" rtl="0" eaLnBrk="1" fontAlgn="ctr" latinLnBrk="0" hangingPunct="1"/>
                      <a:r>
                        <a:rPr lang="en-US" sz="1200" u="none" strike="noStrike" kern="1200" dirty="0">
                          <a:effectLst/>
                        </a:rPr>
                        <a:t>420 </a:t>
                      </a:r>
                      <a:endParaRPr lang="en-US" sz="1200" b="0" i="0" u="none" strike="noStrike" kern="1200" dirty="0">
                        <a:solidFill>
                          <a:srgbClr val="000000"/>
                        </a:solidFill>
                        <a:effectLst/>
                        <a:latin typeface="+mn-lt"/>
                        <a:ea typeface="+mn-ea"/>
                        <a:cs typeface="+mn-cs"/>
                      </a:endParaRPr>
                    </a:p>
                  </a:txBody>
                  <a:tcPr marL="7620" marR="7620" marT="7620" marB="0" anchor="ctr"/>
                </a:tc>
                <a:tc>
                  <a:txBody>
                    <a:bodyPr/>
                    <a:lstStyle/>
                    <a:p>
                      <a:pPr algn="ctr" fontAlgn="ctr"/>
                      <a:r>
                        <a:rPr lang="en-US" sz="1200" u="none" strike="noStrike" dirty="0">
                          <a:effectLst/>
                        </a:rPr>
                        <a:t>0.50%</a:t>
                      </a:r>
                      <a:endParaRPr lang="en-US" sz="1200" b="0" i="0" u="none" strike="noStrike" dirty="0">
                        <a:solidFill>
                          <a:srgbClr val="000000"/>
                        </a:solidFill>
                        <a:effectLst/>
                        <a:latin typeface="+mn-lt"/>
                      </a:endParaRPr>
                    </a:p>
                  </a:txBody>
                  <a:tcPr marL="7620" marR="7620" marT="7620" marB="0" anchor="ctr"/>
                </a:tc>
                <a:tc>
                  <a:txBody>
                    <a:bodyPr/>
                    <a:lstStyle/>
                    <a:p>
                      <a:pPr algn="ctr" fontAlgn="ctr"/>
                      <a:r>
                        <a:rPr lang="en-US" sz="1200" u="none" strike="noStrike" dirty="0">
                          <a:effectLst/>
                        </a:rPr>
                        <a:t>0.75%</a:t>
                      </a:r>
                      <a:endParaRPr lang="en-US" sz="1200" b="0"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3991183976"/>
                  </a:ext>
                </a:extLst>
              </a:tr>
              <a:tr h="189826">
                <a:tc>
                  <a:txBody>
                    <a:bodyPr/>
                    <a:lstStyle/>
                    <a:p>
                      <a:pPr marL="0" algn="l" defTabSz="914400" rtl="0" eaLnBrk="1" fontAlgn="ctr" latinLnBrk="0" hangingPunct="1"/>
                      <a:r>
                        <a:rPr lang="en-US" sz="1200" u="none" strike="noStrike" kern="1200" dirty="0">
                          <a:effectLst/>
                        </a:rPr>
                        <a:t>Average Gross Asset Addition</a:t>
                      </a:r>
                      <a:endParaRPr lang="en-US" sz="1200" b="0"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u="none" strike="noStrike" kern="1200">
                          <a:effectLst/>
                        </a:rPr>
                        <a:t>665,240,233 </a:t>
                      </a:r>
                      <a:endParaRPr lang="en-US" sz="1200" b="0" i="0" u="none" strike="noStrike" kern="1200">
                        <a:solidFill>
                          <a:srgbClr val="000000"/>
                        </a:solidFill>
                        <a:effectLst/>
                        <a:latin typeface="+mn-lt"/>
                        <a:ea typeface="+mn-ea"/>
                        <a:cs typeface="+mn-cs"/>
                      </a:endParaRPr>
                    </a:p>
                  </a:txBody>
                  <a:tcPr marL="7620" marR="7620" marT="7620" marB="0" anchor="ctr"/>
                </a:tc>
                <a:tc>
                  <a:txBody>
                    <a:bodyPr/>
                    <a:lstStyle/>
                    <a:p>
                      <a:pPr marL="0" algn="ctr" defTabSz="914400" rtl="0" eaLnBrk="1" fontAlgn="ctr" latinLnBrk="0" hangingPunct="1"/>
                      <a:r>
                        <a:rPr lang="en-US" sz="1200" u="none" strike="noStrike" kern="1200" dirty="0">
                          <a:effectLst/>
                        </a:rPr>
                        <a:t>840 </a:t>
                      </a:r>
                      <a:endParaRPr lang="en-US" sz="1200" b="0" i="0" u="none" strike="noStrike" kern="1200" dirty="0">
                        <a:solidFill>
                          <a:srgbClr val="000000"/>
                        </a:solidFill>
                        <a:effectLst/>
                        <a:latin typeface="+mn-lt"/>
                        <a:ea typeface="+mn-ea"/>
                        <a:cs typeface="+mn-cs"/>
                      </a:endParaRPr>
                    </a:p>
                  </a:txBody>
                  <a:tcPr marL="7620" marR="7620" marT="7620" marB="0" anchor="ctr"/>
                </a:tc>
                <a:tc>
                  <a:txBody>
                    <a:bodyPr/>
                    <a:lstStyle/>
                    <a:p>
                      <a:pPr algn="ctr" fontAlgn="ctr"/>
                      <a:r>
                        <a:rPr lang="en-US" sz="1200" u="none" strike="noStrike" dirty="0">
                          <a:effectLst/>
                        </a:rPr>
                        <a:t>0.50%</a:t>
                      </a:r>
                      <a:endParaRPr lang="en-US" sz="1200" b="0" i="0" u="none" strike="noStrike" dirty="0">
                        <a:solidFill>
                          <a:srgbClr val="000000"/>
                        </a:solidFill>
                        <a:effectLst/>
                        <a:latin typeface="+mn-lt"/>
                      </a:endParaRPr>
                    </a:p>
                  </a:txBody>
                  <a:tcPr marL="7620" marR="7620" marT="7620" marB="0" anchor="ctr"/>
                </a:tc>
                <a:tc>
                  <a:txBody>
                    <a:bodyPr/>
                    <a:lstStyle/>
                    <a:p>
                      <a:pPr algn="ctr" fontAlgn="ctr"/>
                      <a:r>
                        <a:rPr lang="en-US" sz="1200" u="none" strike="noStrike" dirty="0">
                          <a:effectLst/>
                        </a:rPr>
                        <a:t>0.75%</a:t>
                      </a:r>
                      <a:endParaRPr lang="en-US" sz="1200" b="0"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118739862"/>
                  </a:ext>
                </a:extLst>
              </a:tr>
              <a:tr h="316377">
                <a:tc>
                  <a:txBody>
                    <a:bodyPr/>
                    <a:lstStyle/>
                    <a:p>
                      <a:pPr marL="0" algn="l" defTabSz="914400" rtl="0" eaLnBrk="1" fontAlgn="ctr" latinLnBrk="0" hangingPunct="1"/>
                      <a:r>
                        <a:rPr lang="en-US" sz="1200" u="none" strike="noStrike" kern="1200" dirty="0">
                          <a:effectLst/>
                        </a:rPr>
                        <a:t>Average R&amp;M Expenditure (Others)</a:t>
                      </a:r>
                      <a:endParaRPr lang="en-US" sz="1200" b="0"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u="none" strike="noStrike" kern="1200" dirty="0">
                          <a:effectLst/>
                        </a:rPr>
                        <a:t>17,291,765 </a:t>
                      </a:r>
                      <a:endParaRPr lang="en-US" sz="1200" b="0" i="0" u="none" strike="noStrike" kern="1200" dirty="0">
                        <a:solidFill>
                          <a:srgbClr val="000000"/>
                        </a:solidFill>
                        <a:effectLst/>
                        <a:latin typeface="+mn-lt"/>
                        <a:ea typeface="+mn-ea"/>
                        <a:cs typeface="+mn-cs"/>
                      </a:endParaRPr>
                    </a:p>
                  </a:txBody>
                  <a:tcPr marL="7620" marR="7620" marT="7620" marB="0" anchor="ctr"/>
                </a:tc>
                <a:tc>
                  <a:txBody>
                    <a:bodyPr/>
                    <a:lstStyle/>
                    <a:p>
                      <a:pPr marL="0" algn="ctr" defTabSz="914400" rtl="0" eaLnBrk="1" fontAlgn="ctr" latinLnBrk="0" hangingPunct="1"/>
                      <a:r>
                        <a:rPr lang="en-US" sz="1200" u="none" strike="noStrike" kern="1200" dirty="0">
                          <a:effectLst/>
                        </a:rPr>
                        <a:t>4,200 </a:t>
                      </a:r>
                      <a:endParaRPr lang="en-US" sz="1200" b="0" i="0" u="none" strike="noStrike" kern="1200" dirty="0">
                        <a:solidFill>
                          <a:srgbClr val="000000"/>
                        </a:solidFill>
                        <a:effectLst/>
                        <a:latin typeface="+mn-lt"/>
                        <a:ea typeface="+mn-ea"/>
                        <a:cs typeface="+mn-cs"/>
                      </a:endParaRPr>
                    </a:p>
                  </a:txBody>
                  <a:tcPr marL="7620" marR="7620" marT="7620" marB="0" anchor="ctr"/>
                </a:tc>
                <a:tc>
                  <a:txBody>
                    <a:bodyPr/>
                    <a:lstStyle/>
                    <a:p>
                      <a:pPr algn="ctr" fontAlgn="ctr"/>
                      <a:r>
                        <a:rPr lang="en-US" sz="1200" u="none" strike="noStrike" dirty="0">
                          <a:effectLst/>
                        </a:rPr>
                        <a:t>0.25%</a:t>
                      </a:r>
                      <a:endParaRPr lang="en-US" sz="1200" b="0" i="0" u="none" strike="noStrike" dirty="0">
                        <a:solidFill>
                          <a:srgbClr val="000000"/>
                        </a:solidFill>
                        <a:effectLst/>
                        <a:latin typeface="+mn-lt"/>
                      </a:endParaRPr>
                    </a:p>
                  </a:txBody>
                  <a:tcPr marL="7620" marR="7620" marT="7620" marB="0" anchor="ctr"/>
                </a:tc>
                <a:tc>
                  <a:txBody>
                    <a:bodyPr/>
                    <a:lstStyle/>
                    <a:p>
                      <a:pPr algn="ctr" fontAlgn="ctr"/>
                      <a:r>
                        <a:rPr lang="en-US" sz="1200" u="none" strike="noStrike" dirty="0">
                          <a:effectLst/>
                        </a:rPr>
                        <a:t>0.50%</a:t>
                      </a:r>
                      <a:endParaRPr lang="en-US" sz="1200" b="0"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1210577696"/>
                  </a:ext>
                </a:extLst>
              </a:tr>
            </a:tbl>
          </a:graphicData>
        </a:graphic>
      </p:graphicFrame>
      <p:sp>
        <p:nvSpPr>
          <p:cNvPr id="62" name="Rectangle 61">
            <a:extLst>
              <a:ext uri="{FF2B5EF4-FFF2-40B4-BE49-F238E27FC236}">
                <a16:creationId xmlns:a16="http://schemas.microsoft.com/office/drawing/2014/main" id="{6E4D92A2-2F95-4398-8F72-95C05BBF19AD}"/>
              </a:ext>
            </a:extLst>
          </p:cNvPr>
          <p:cNvSpPr/>
          <p:nvPr/>
        </p:nvSpPr>
        <p:spPr>
          <a:xfrm>
            <a:off x="501649" y="5207536"/>
            <a:ext cx="5910581" cy="1144929"/>
          </a:xfrm>
          <a:prstGeom prst="rect">
            <a:avLst/>
          </a:prstGeom>
        </p:spPr>
        <p:txBody>
          <a:bodyPr wrap="square">
            <a:spAutoFit/>
          </a:bodyPr>
          <a:lstStyle/>
          <a:p>
            <a:pPr marL="0" marR="0" lvl="1" indent="1588" algn="just" defTabSz="914400" rtl="0" eaLnBrk="1" fontAlgn="auto" latinLnBrk="0" hangingPunct="1">
              <a:lnSpc>
                <a:spcPct val="100000"/>
              </a:lnSpc>
              <a:spcBef>
                <a:spcPct val="3500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a:ea typeface="+mn-ea"/>
                <a:cs typeface="Arial" pitchFamily="34" charset="0"/>
              </a:rPr>
              <a:t>The savings rationale has been computed basis:</a:t>
            </a:r>
          </a:p>
          <a:p>
            <a:pPr marL="171450" marR="0" lvl="1" indent="-171450" algn="just" defTabSz="914400" rtl="0" eaLnBrk="1" fontAlgn="auto" latinLnBrk="0" hangingPunct="1">
              <a:lnSpc>
                <a:spcPct val="100000"/>
              </a:lnSpc>
              <a:spcBef>
                <a:spcPct val="350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a:ea typeface="+mn-ea"/>
                <a:cs typeface="Arial" pitchFamily="34" charset="0"/>
              </a:rPr>
              <a:t>By streamlining the procurement process using ERP module, STELCO can obtain economies of scale in procurement and reduce average procurement cost</a:t>
            </a:r>
          </a:p>
          <a:p>
            <a:pPr marL="171450" marR="0" lvl="1" indent="-171450" algn="just" defTabSz="914400" rtl="0" eaLnBrk="1" fontAlgn="auto" latinLnBrk="0" hangingPunct="1">
              <a:lnSpc>
                <a:spcPct val="100000"/>
              </a:lnSpc>
              <a:spcBef>
                <a:spcPct val="350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a:ea typeface="+mn-ea"/>
                <a:cs typeface="Arial" pitchFamily="34" charset="0"/>
              </a:rPr>
              <a:t>The savings have been estimated to be obtained over a 10 year horizon with 100% savings being achieved annually from Year 3 onwards</a:t>
            </a:r>
          </a:p>
        </p:txBody>
      </p:sp>
      <p:sp>
        <p:nvSpPr>
          <p:cNvPr id="64" name="Rectangle 10">
            <a:extLst>
              <a:ext uri="{FF2B5EF4-FFF2-40B4-BE49-F238E27FC236}">
                <a16:creationId xmlns:a16="http://schemas.microsoft.com/office/drawing/2014/main" id="{4CBAF1E2-7639-4710-9173-5D64928C671C}"/>
              </a:ext>
            </a:extLst>
          </p:cNvPr>
          <p:cNvSpPr>
            <a:spLocks noChangeArrowheads="1"/>
          </p:cNvSpPr>
          <p:nvPr/>
        </p:nvSpPr>
        <p:spPr bwMode="auto">
          <a:xfrm>
            <a:off x="6529069" y="2493778"/>
            <a:ext cx="5161281" cy="272292"/>
          </a:xfrm>
          <a:prstGeom prst="rect">
            <a:avLst/>
          </a:prstGeom>
          <a:solidFill>
            <a:schemeClr val="accent2">
              <a:alpha val="53000"/>
            </a:schemeClr>
          </a:solidFill>
          <a:ln w="6350">
            <a:solidFill>
              <a:srgbClr val="409DAD"/>
            </a:solidFill>
          </a:ln>
        </p:spPr>
        <p:txBody>
          <a:bodyPr vert="horz" lIns="0" tIns="0" rIns="0" bIns="0" rtlCol="0" anchor="ctr" anchorCtr="1">
            <a:norm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Calibri"/>
                <a:ea typeface="+mn-ea"/>
                <a:cs typeface="Arial" pitchFamily="34" charset="0"/>
              </a:rPr>
              <a:t>Savings Potential</a:t>
            </a:r>
          </a:p>
        </p:txBody>
      </p:sp>
      <p:graphicFrame>
        <p:nvGraphicFramePr>
          <p:cNvPr id="33" name="Table 21">
            <a:extLst>
              <a:ext uri="{FF2B5EF4-FFF2-40B4-BE49-F238E27FC236}">
                <a16:creationId xmlns:a16="http://schemas.microsoft.com/office/drawing/2014/main" id="{8C12963E-6F24-4C1C-A98B-3161EAC27338}"/>
              </a:ext>
            </a:extLst>
          </p:cNvPr>
          <p:cNvGraphicFramePr>
            <a:graphicFrameLocks noGrp="1"/>
          </p:cNvGraphicFramePr>
          <p:nvPr/>
        </p:nvGraphicFramePr>
        <p:xfrm>
          <a:off x="6529067" y="2921000"/>
          <a:ext cx="5144200" cy="695325"/>
        </p:xfrm>
        <a:graphic>
          <a:graphicData uri="http://schemas.openxmlformats.org/drawingml/2006/table">
            <a:tbl>
              <a:tblPr firstRow="1" bandRow="1">
                <a:tableStyleId>{21E4AEA4-8DFA-4A89-87EB-49C32662AFE0}</a:tableStyleId>
              </a:tblPr>
              <a:tblGrid>
                <a:gridCol w="896792">
                  <a:extLst>
                    <a:ext uri="{9D8B030D-6E8A-4147-A177-3AD203B41FA5}">
                      <a16:colId xmlns:a16="http://schemas.microsoft.com/office/drawing/2014/main" val="22772272"/>
                    </a:ext>
                  </a:extLst>
                </a:gridCol>
                <a:gridCol w="896792">
                  <a:extLst>
                    <a:ext uri="{9D8B030D-6E8A-4147-A177-3AD203B41FA5}">
                      <a16:colId xmlns:a16="http://schemas.microsoft.com/office/drawing/2014/main" val="2572693388"/>
                    </a:ext>
                  </a:extLst>
                </a:gridCol>
                <a:gridCol w="896792">
                  <a:extLst>
                    <a:ext uri="{9D8B030D-6E8A-4147-A177-3AD203B41FA5}">
                      <a16:colId xmlns:a16="http://schemas.microsoft.com/office/drawing/2014/main" val="951154567"/>
                    </a:ext>
                  </a:extLst>
                </a:gridCol>
                <a:gridCol w="896792">
                  <a:extLst>
                    <a:ext uri="{9D8B030D-6E8A-4147-A177-3AD203B41FA5}">
                      <a16:colId xmlns:a16="http://schemas.microsoft.com/office/drawing/2014/main" val="2788998700"/>
                    </a:ext>
                  </a:extLst>
                </a:gridCol>
                <a:gridCol w="896792">
                  <a:extLst>
                    <a:ext uri="{9D8B030D-6E8A-4147-A177-3AD203B41FA5}">
                      <a16:colId xmlns:a16="http://schemas.microsoft.com/office/drawing/2014/main" val="790048796"/>
                    </a:ext>
                  </a:extLst>
                </a:gridCol>
                <a:gridCol w="660240">
                  <a:extLst>
                    <a:ext uri="{9D8B030D-6E8A-4147-A177-3AD203B41FA5}">
                      <a16:colId xmlns:a16="http://schemas.microsoft.com/office/drawing/2014/main" val="2081733403"/>
                    </a:ext>
                  </a:extLst>
                </a:gridCol>
              </a:tblGrid>
              <a:tr h="379268">
                <a:tc gridSpan="6">
                  <a:txBody>
                    <a:bodyPr/>
                    <a:lstStyle/>
                    <a:p>
                      <a:pPr algn="ctr"/>
                      <a:r>
                        <a:rPr lang="en-US" sz="1200" dirty="0"/>
                        <a:t>Savings Realization (%) </a:t>
                      </a:r>
                      <a:endParaRPr lang="en-US" sz="1200" dirty="0">
                        <a:latin typeface="+mn-lt"/>
                      </a:endParaRPr>
                    </a:p>
                  </a:txBody>
                  <a:tcPr marL="45720" marR="45720"/>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307465169"/>
                  </a:ext>
                </a:extLst>
              </a:tr>
              <a:tr h="316057">
                <a:tc>
                  <a:txBody>
                    <a:bodyPr/>
                    <a:lstStyle/>
                    <a:p>
                      <a:pPr marL="0" algn="l" defTabSz="914400" rtl="0" eaLnBrk="1" fontAlgn="ctr" latinLnBrk="0" hangingPunct="1"/>
                      <a:r>
                        <a:rPr lang="en-US" sz="1200" b="1" u="none" strike="noStrike" kern="1200" dirty="0">
                          <a:effectLst/>
                        </a:rPr>
                        <a:t>Year 1</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u="none" strike="noStrike" kern="1200" dirty="0">
                          <a:effectLst/>
                        </a:rPr>
                        <a:t>35%</a:t>
                      </a:r>
                      <a:endParaRPr lang="en-US" sz="1200" b="1" i="0" u="none" strike="noStrike" kern="1200" dirty="0">
                        <a:solidFill>
                          <a:srgbClr val="000000"/>
                        </a:solidFill>
                        <a:effectLst/>
                        <a:latin typeface="+mn-lt"/>
                        <a:ea typeface="+mn-ea"/>
                        <a:cs typeface="+mn-cs"/>
                      </a:endParaRPr>
                    </a:p>
                  </a:txBody>
                  <a:tcPr marL="45720" marR="45720" anchor="ctr">
                    <a:solidFill>
                      <a:schemeClr val="accent1">
                        <a:lumMod val="20000"/>
                        <a:lumOff val="80000"/>
                      </a:schemeClr>
                    </a:solidFill>
                  </a:tcPr>
                </a:tc>
                <a:tc>
                  <a:txBody>
                    <a:bodyPr/>
                    <a:lstStyle/>
                    <a:p>
                      <a:pPr marL="0" algn="l" defTabSz="914400" rtl="0" eaLnBrk="1" fontAlgn="ctr" latinLnBrk="0" hangingPunct="1"/>
                      <a:r>
                        <a:rPr lang="en-US" sz="1200" b="1" u="none" strike="noStrike" kern="1200" dirty="0">
                          <a:effectLst/>
                        </a:rPr>
                        <a:t>Year 2</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i="0" u="none" strike="noStrike" kern="1200" dirty="0">
                          <a:solidFill>
                            <a:srgbClr val="000000"/>
                          </a:solidFill>
                          <a:effectLst/>
                          <a:latin typeface="+mn-lt"/>
                          <a:ea typeface="+mn-ea"/>
                          <a:cs typeface="+mn-cs"/>
                        </a:rPr>
                        <a:t>70%</a:t>
                      </a:r>
                    </a:p>
                  </a:txBody>
                  <a:tcPr marL="45720" marR="45720" anchor="ctr">
                    <a:solidFill>
                      <a:schemeClr val="accent1">
                        <a:lumMod val="20000"/>
                        <a:lumOff val="80000"/>
                      </a:schemeClr>
                    </a:solidFill>
                  </a:tcPr>
                </a:tc>
                <a:tc>
                  <a:txBody>
                    <a:bodyPr/>
                    <a:lstStyle/>
                    <a:p>
                      <a:pPr marL="0" algn="ctr" defTabSz="914400" rtl="0" eaLnBrk="1" fontAlgn="ctr" latinLnBrk="0" hangingPunct="1"/>
                      <a:r>
                        <a:rPr lang="en-US" sz="1200" b="1" u="none" strike="noStrike" kern="1200" dirty="0">
                          <a:effectLst/>
                        </a:rPr>
                        <a:t>Year 3-10</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i="0" u="none" strike="noStrike" kern="1200" dirty="0">
                          <a:solidFill>
                            <a:srgbClr val="000000"/>
                          </a:solidFill>
                          <a:effectLst/>
                          <a:latin typeface="+mn-lt"/>
                          <a:ea typeface="+mn-ea"/>
                          <a:cs typeface="+mn-cs"/>
                        </a:rPr>
                        <a:t>100%</a:t>
                      </a:r>
                    </a:p>
                  </a:txBody>
                  <a:tcPr marL="45720" marR="45720" anchor="ctr">
                    <a:solidFill>
                      <a:schemeClr val="accent1">
                        <a:lumMod val="20000"/>
                        <a:lumOff val="80000"/>
                      </a:schemeClr>
                    </a:solidFill>
                  </a:tcPr>
                </a:tc>
                <a:extLst>
                  <a:ext uri="{0D108BD9-81ED-4DB2-BD59-A6C34878D82A}">
                    <a16:rowId xmlns:a16="http://schemas.microsoft.com/office/drawing/2014/main" val="2297181138"/>
                  </a:ext>
                </a:extLst>
              </a:tr>
            </a:tbl>
          </a:graphicData>
        </a:graphic>
      </p:graphicFrame>
      <p:graphicFrame>
        <p:nvGraphicFramePr>
          <p:cNvPr id="67" name="Chart 66">
            <a:extLst>
              <a:ext uri="{FF2B5EF4-FFF2-40B4-BE49-F238E27FC236}">
                <a16:creationId xmlns:a16="http://schemas.microsoft.com/office/drawing/2014/main" id="{9DD2724B-18D3-4EDE-94B8-CA0B39D5D8CD}"/>
              </a:ext>
            </a:extLst>
          </p:cNvPr>
          <p:cNvGraphicFramePr/>
          <p:nvPr>
            <p:custDataLst>
              <p:tags r:id="rId2"/>
            </p:custDataLst>
          </p:nvPr>
        </p:nvGraphicFramePr>
        <p:xfrm>
          <a:off x="6446838" y="4227513"/>
          <a:ext cx="3595687" cy="1528762"/>
        </p:xfrm>
        <a:graphic>
          <a:graphicData uri="http://schemas.openxmlformats.org/drawingml/2006/chart">
            <c:chart xmlns:c="http://schemas.openxmlformats.org/drawingml/2006/chart" xmlns:r="http://schemas.openxmlformats.org/officeDocument/2006/relationships" r:id="rId17"/>
          </a:graphicData>
        </a:graphic>
      </p:graphicFrame>
      <p:sp>
        <p:nvSpPr>
          <p:cNvPr id="37" name="Text Placeholder 18">
            <a:extLst>
              <a:ext uri="{FF2B5EF4-FFF2-40B4-BE49-F238E27FC236}">
                <a16:creationId xmlns:a16="http://schemas.microsoft.com/office/drawing/2014/main" id="{F0CBB041-BB55-4E07-8AB3-381B7DC755B3}"/>
              </a:ext>
            </a:extLst>
          </p:cNvPr>
          <p:cNvSpPr>
            <a:spLocks noGrp="1"/>
          </p:cNvSpPr>
          <p:nvPr>
            <p:custDataLst>
              <p:tags r:id="rId3"/>
            </p:custDataLst>
          </p:nvPr>
        </p:nvSpPr>
        <p:spPr bwMode="gray">
          <a:xfrm>
            <a:off x="6940550" y="4987925"/>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B69E0706-4EF3-4E84-836C-594651D71D3D}" type="datetime'''3''''''''''.''''''''''''''9''''''''''''''2'''''''">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3.92</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41" name="Text Placeholder 18">
            <a:extLst>
              <a:ext uri="{FF2B5EF4-FFF2-40B4-BE49-F238E27FC236}">
                <a16:creationId xmlns:a16="http://schemas.microsoft.com/office/drawing/2014/main" id="{75E6F634-489A-4BEE-A952-C392D6308F37}"/>
              </a:ext>
            </a:extLst>
          </p:cNvPr>
          <p:cNvSpPr>
            <a:spLocks noGrp="1"/>
          </p:cNvSpPr>
          <p:nvPr>
            <p:custDataLst>
              <p:tags r:id="rId4"/>
            </p:custDataLst>
          </p:nvPr>
        </p:nvSpPr>
        <p:spPr bwMode="auto">
          <a:xfrm>
            <a:off x="7018338" y="5775325"/>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ED3451F5-9550-4CD5-A60C-E16A388C1B8C}" type="datetime'''''''Y''''''''''''''''''''''''''''''''1'''">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39" name="Text Placeholder 18">
            <a:extLst>
              <a:ext uri="{FF2B5EF4-FFF2-40B4-BE49-F238E27FC236}">
                <a16:creationId xmlns:a16="http://schemas.microsoft.com/office/drawing/2014/main" id="{A41A0741-4297-4723-B3C1-177F3F5F015F}"/>
              </a:ext>
            </a:extLst>
          </p:cNvPr>
          <p:cNvSpPr>
            <a:spLocks noGrp="1"/>
          </p:cNvSpPr>
          <p:nvPr>
            <p:custDataLst>
              <p:tags r:id="rId5"/>
            </p:custDataLst>
          </p:nvPr>
        </p:nvSpPr>
        <p:spPr bwMode="auto">
          <a:xfrm>
            <a:off x="9074149" y="5775325"/>
            <a:ext cx="63023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993C7EA0-2CC8-4DF7-A5C4-6682A8A0ADD0}" type="datetime'''''''''Y3-''''''''''10'''''' ''p''''.''a''''''''.'''">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Y3-10 p.a.</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42" name="Text Placeholder 18">
            <a:extLst>
              <a:ext uri="{FF2B5EF4-FFF2-40B4-BE49-F238E27FC236}">
                <a16:creationId xmlns:a16="http://schemas.microsoft.com/office/drawing/2014/main" id="{6BC0AE61-C510-4776-BB01-2BF7A161ECA7}"/>
              </a:ext>
            </a:extLst>
          </p:cNvPr>
          <p:cNvSpPr>
            <a:spLocks noGrp="1"/>
          </p:cNvSpPr>
          <p:nvPr>
            <p:custDataLst>
              <p:tags r:id="rId6"/>
            </p:custDataLst>
          </p:nvPr>
        </p:nvSpPr>
        <p:spPr bwMode="auto">
          <a:xfrm>
            <a:off x="8161338" y="5775325"/>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C8ACA037-B5BD-4EEA-B56D-86699B05A323}" type="datetime'''''''''''''''''''''''''''Y''''2'''''''''''''''''''''''''''">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Y2</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44" name="Text Placeholder 18">
            <a:extLst>
              <a:ext uri="{FF2B5EF4-FFF2-40B4-BE49-F238E27FC236}">
                <a16:creationId xmlns:a16="http://schemas.microsoft.com/office/drawing/2014/main" id="{94C15BFB-AE17-4D8A-A508-65A093135417}"/>
              </a:ext>
            </a:extLst>
          </p:cNvPr>
          <p:cNvSpPr>
            <a:spLocks noGrp="1"/>
          </p:cNvSpPr>
          <p:nvPr>
            <p:custDataLst>
              <p:tags r:id="rId7"/>
            </p:custDataLst>
          </p:nvPr>
        </p:nvSpPr>
        <p:spPr bwMode="gray">
          <a:xfrm>
            <a:off x="9188450" y="4102100"/>
            <a:ext cx="40005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570C0CFA-971D-4B2D-9866-FA50B6750A7F}" type="datetime'''''''''1''''''1''''''''.''2''''''''''''''''''''0'''''''''">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11.20</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36" name="Text Placeholder 18">
            <a:extLst>
              <a:ext uri="{FF2B5EF4-FFF2-40B4-BE49-F238E27FC236}">
                <a16:creationId xmlns:a16="http://schemas.microsoft.com/office/drawing/2014/main" id="{D0BA6264-AE8D-458F-931E-29EE161BF094}"/>
              </a:ext>
            </a:extLst>
          </p:cNvPr>
          <p:cNvSpPr>
            <a:spLocks noGrp="1"/>
          </p:cNvSpPr>
          <p:nvPr>
            <p:custDataLst>
              <p:tags r:id="rId8"/>
            </p:custDataLst>
          </p:nvPr>
        </p:nvSpPr>
        <p:spPr bwMode="gray">
          <a:xfrm>
            <a:off x="8083550" y="4511675"/>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B134D8FB-3212-49DA-8346-220F927BC0FC}" type="datetime'''''''''''7''''''.''8''''''''''''''''''''''4'''''''''''">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7.84</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45" name="Rectangle 44">
            <a:extLst>
              <a:ext uri="{FF2B5EF4-FFF2-40B4-BE49-F238E27FC236}">
                <a16:creationId xmlns:a16="http://schemas.microsoft.com/office/drawing/2014/main" id="{36C50A90-84B9-46BF-8861-C99626FC7A21}"/>
              </a:ext>
            </a:extLst>
          </p:cNvPr>
          <p:cNvSpPr/>
          <p:nvPr>
            <p:custDataLst>
              <p:tags r:id="rId9"/>
            </p:custDataLst>
          </p:nvPr>
        </p:nvSpPr>
        <p:spPr bwMode="auto">
          <a:xfrm>
            <a:off x="8502650" y="6186488"/>
            <a:ext cx="214313" cy="160338"/>
          </a:xfrm>
          <a:prstGeom prst="rect">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6" name="Text Placeholder 18">
            <a:extLst>
              <a:ext uri="{FF2B5EF4-FFF2-40B4-BE49-F238E27FC236}">
                <a16:creationId xmlns:a16="http://schemas.microsoft.com/office/drawing/2014/main" id="{8B5EF8E1-8D23-4C1A-B2B4-0094548FD51E}"/>
              </a:ext>
            </a:extLst>
          </p:cNvPr>
          <p:cNvSpPr>
            <a:spLocks noGrp="1"/>
          </p:cNvSpPr>
          <p:nvPr>
            <p:custDataLst>
              <p:tags r:id="rId10"/>
            </p:custDataLst>
          </p:nvPr>
        </p:nvSpPr>
        <p:spPr bwMode="auto">
          <a:xfrm>
            <a:off x="8767763" y="6181725"/>
            <a:ext cx="18335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3B7EC72F-6DC7-4CEF-9AB9-38206BEB4CA0}" type="datetime'Esti''m''ated'' S''a''v''''in''g''''s ''i''n'''' Mn M''''VR'''">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Estimated Savings in Mn MVR</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graphicFrame>
        <p:nvGraphicFramePr>
          <p:cNvPr id="65" name="Chart 64">
            <a:extLst>
              <a:ext uri="{FF2B5EF4-FFF2-40B4-BE49-F238E27FC236}">
                <a16:creationId xmlns:a16="http://schemas.microsoft.com/office/drawing/2014/main" id="{2A3B6D1F-16A5-4C90-BEFF-DCF4C1ABF006}"/>
              </a:ext>
            </a:extLst>
          </p:cNvPr>
          <p:cNvGraphicFramePr/>
          <p:nvPr>
            <p:custDataLst>
              <p:tags r:id="rId11"/>
            </p:custDataLst>
          </p:nvPr>
        </p:nvGraphicFramePr>
        <p:xfrm>
          <a:off x="10420350" y="4022725"/>
          <a:ext cx="1352550" cy="1733550"/>
        </p:xfrm>
        <a:graphic>
          <a:graphicData uri="http://schemas.openxmlformats.org/drawingml/2006/chart">
            <c:chart xmlns:c="http://schemas.openxmlformats.org/drawingml/2006/chart" xmlns:r="http://schemas.openxmlformats.org/officeDocument/2006/relationships" r:id="rId18"/>
          </a:graphicData>
        </a:graphic>
      </p:graphicFrame>
      <p:sp>
        <p:nvSpPr>
          <p:cNvPr id="48" name="Text Placeholder 18">
            <a:extLst>
              <a:ext uri="{FF2B5EF4-FFF2-40B4-BE49-F238E27FC236}">
                <a16:creationId xmlns:a16="http://schemas.microsoft.com/office/drawing/2014/main" id="{06F47610-C496-4367-868C-9FAC2747D938}"/>
              </a:ext>
            </a:extLst>
          </p:cNvPr>
          <p:cNvSpPr>
            <a:spLocks noGrp="1"/>
          </p:cNvSpPr>
          <p:nvPr>
            <p:custDataLst>
              <p:tags r:id="rId12"/>
            </p:custDataLst>
          </p:nvPr>
        </p:nvSpPr>
        <p:spPr bwMode="auto">
          <a:xfrm>
            <a:off x="10914063" y="5775325"/>
            <a:ext cx="36671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07D7F757-30BA-4059-84B7-7ADDE70BC4A3}" type="datetime'''''''''''''Y1''''''''''-''''''''''''1''0'''''''''''">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Y1-10</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49" name="Text Placeholder 18">
            <a:extLst>
              <a:ext uri="{FF2B5EF4-FFF2-40B4-BE49-F238E27FC236}">
                <a16:creationId xmlns:a16="http://schemas.microsoft.com/office/drawing/2014/main" id="{9601BD8A-7F3B-4086-ACEF-3CE75A0B69F2}"/>
              </a:ext>
            </a:extLst>
          </p:cNvPr>
          <p:cNvSpPr>
            <a:spLocks noGrp="1"/>
          </p:cNvSpPr>
          <p:nvPr>
            <p:custDataLst>
              <p:tags r:id="rId13"/>
            </p:custDataLst>
          </p:nvPr>
        </p:nvSpPr>
        <p:spPr bwMode="gray">
          <a:xfrm>
            <a:off x="10856913" y="3897313"/>
            <a:ext cx="48101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46D44623-8BF3-4056-A23E-9BFC4CCFCF05}" type="datetime'''''1''''''''''0''''''''''''''''''''''''1''''.''''''4''0'''''">
              <a:rPr kumimoji="0" lang="en-US" altLang="en-US" sz="1200" b="1"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101.40</a:t>
            </a:fld>
            <a:endParaRPr kumimoji="0" lang="en-US" sz="1200" b="1"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50" name="Isosceles Triangle 49">
            <a:extLst>
              <a:ext uri="{FF2B5EF4-FFF2-40B4-BE49-F238E27FC236}">
                <a16:creationId xmlns:a16="http://schemas.microsoft.com/office/drawing/2014/main" id="{E1A9BC8D-ABA8-4C99-B352-A55D3D27AD8F}"/>
              </a:ext>
            </a:extLst>
          </p:cNvPr>
          <p:cNvSpPr/>
          <p:nvPr/>
        </p:nvSpPr>
        <p:spPr bwMode="gray">
          <a:xfrm rot="5400000">
            <a:off x="9478963" y="4837113"/>
            <a:ext cx="1669706" cy="207963"/>
          </a:xfrm>
          <a:prstGeom prst="triangl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F1E11C78-71BE-466C-AEDC-24768AECA301}"/>
              </a:ext>
            </a:extLst>
          </p:cNvPr>
          <p:cNvSpPr txBox="1"/>
          <p:nvPr/>
        </p:nvSpPr>
        <p:spPr>
          <a:xfrm>
            <a:off x="501648" y="6622327"/>
            <a:ext cx="11115921"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srgbClr val="313131"/>
                </a:solidFill>
                <a:effectLst/>
                <a:uLnTx/>
                <a:uFillTx/>
                <a:latin typeface="Calibri"/>
                <a:ea typeface="+mn-ea"/>
                <a:cs typeface="+mn-cs"/>
              </a:rPr>
              <a:t>Note: 1.The Number of POs in a year have been estimated for 35 islands in 12 months considering 5,1,1,2 and 10 invoice issues per month for R&amp;M expenditure (G&amp;D), Lube Oil, Diesel, Asset Purchase and R&amp;M Expenditure (others) respectively.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srgbClr val="313131"/>
                </a:solidFill>
                <a:effectLst/>
                <a:uLnTx/>
                <a:uFillTx/>
                <a:latin typeface="Calibri"/>
                <a:ea typeface="+mn-ea"/>
                <a:cs typeface="+mn-cs"/>
              </a:rPr>
              <a:t>2. The  Potential Savings realized have been computed considering average of the estimated efficiency improvement in Low Case and High Case</a:t>
            </a:r>
          </a:p>
        </p:txBody>
      </p:sp>
    </p:spTree>
    <p:extLst>
      <p:ext uri="{BB962C8B-B14F-4D97-AF65-F5344CB8AC3E}">
        <p14:creationId xmlns:p14="http://schemas.microsoft.com/office/powerpoint/2010/main" val="57505819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98" imgH="499" progId="TCLayout.ActiveDocument.1">
                  <p:embed/>
                </p:oleObj>
              </mc:Choice>
              <mc:Fallback>
                <p:oleObj name="think-cell Slide" r:id="rId16"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Roll out of an Enterprise-Wide Central Inventory ERP Module will lead to lower slow moving inventory requirement, improved system visibility leading to optimum inventory stock and overall reduction in working capital finance</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2. Improvement in Inventory Management</a:t>
            </a:r>
            <a:endParaRPr lang="en-GB" dirty="0"/>
          </a:p>
        </p:txBody>
      </p:sp>
      <p:grpSp>
        <p:nvGrpSpPr>
          <p:cNvPr id="6" name="Group 5">
            <a:extLst>
              <a:ext uri="{FF2B5EF4-FFF2-40B4-BE49-F238E27FC236}">
                <a16:creationId xmlns:a16="http://schemas.microsoft.com/office/drawing/2014/main" id="{1993F2B0-0B69-4FA0-9772-106AC71070CB}"/>
              </a:ext>
            </a:extLst>
          </p:cNvPr>
          <p:cNvGrpSpPr/>
          <p:nvPr/>
        </p:nvGrpSpPr>
        <p:grpSpPr>
          <a:xfrm>
            <a:off x="9361171" y="1434006"/>
            <a:ext cx="2329180" cy="920574"/>
            <a:chOff x="9728749" y="1434006"/>
            <a:chExt cx="1961601" cy="637291"/>
          </a:xfrm>
        </p:grpSpPr>
        <p:sp>
          <p:nvSpPr>
            <p:cNvPr id="52" name="TextBox 51">
              <a:extLst>
                <a:ext uri="{FF2B5EF4-FFF2-40B4-BE49-F238E27FC236}">
                  <a16:creationId xmlns:a16="http://schemas.microsoft.com/office/drawing/2014/main" id="{82C1EFB3-50E8-46E8-A000-D76677138E9D}"/>
                </a:ext>
              </a:extLst>
            </p:cNvPr>
            <p:cNvSpPr txBox="1"/>
            <p:nvPr/>
          </p:nvSpPr>
          <p:spPr>
            <a:xfrm>
              <a:off x="9728749" y="1434006"/>
              <a:ext cx="1947215" cy="290963"/>
            </a:xfrm>
            <a:prstGeom prst="rect">
              <a:avLst/>
            </a:prstGeom>
            <a:solidFill>
              <a:schemeClr val="accent5"/>
            </a:solidFill>
            <a:ln>
              <a:solidFill>
                <a:schemeClr val="accent5"/>
              </a:solidFill>
            </a:ln>
          </p:spPr>
          <p:txBody>
            <a:bodyPr wrap="square" lIns="54000" tIns="54000" rIns="54000" bIns="5400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Calibri"/>
                  <a:ea typeface="+mn-ea"/>
                  <a:cs typeface="Arial" pitchFamily="34" charset="0"/>
                </a:rPr>
                <a:t>Potential Benefits (10 Years)</a:t>
              </a:r>
            </a:p>
          </p:txBody>
        </p:sp>
        <p:sp>
          <p:nvSpPr>
            <p:cNvPr id="53" name="TextBox 52">
              <a:extLst>
                <a:ext uri="{FF2B5EF4-FFF2-40B4-BE49-F238E27FC236}">
                  <a16:creationId xmlns:a16="http://schemas.microsoft.com/office/drawing/2014/main" id="{193B55FA-2DB1-441C-A3AB-4704A9A677DF}"/>
                </a:ext>
              </a:extLst>
            </p:cNvPr>
            <p:cNvSpPr txBox="1"/>
            <p:nvPr/>
          </p:nvSpPr>
          <p:spPr>
            <a:xfrm>
              <a:off x="9743135" y="1780334"/>
              <a:ext cx="1947215" cy="290963"/>
            </a:xfrm>
            <a:prstGeom prst="rect">
              <a:avLst/>
            </a:prstGeom>
            <a:solidFill>
              <a:srgbClr val="FFFFFF"/>
            </a:solidFill>
            <a:ln>
              <a:solidFill>
                <a:schemeClr val="accent4"/>
              </a:solidFill>
            </a:ln>
          </p:spPr>
          <p:txBody>
            <a:bodyPr wrap="square" lIns="0" tIns="54000" rIns="0" bIns="5400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dirty="0">
                  <a:ln>
                    <a:noFill/>
                  </a:ln>
                  <a:solidFill>
                    <a:srgbClr val="046A38"/>
                  </a:solidFill>
                  <a:effectLst/>
                  <a:uLnTx/>
                  <a:uFillTx/>
                  <a:latin typeface="Calibri"/>
                  <a:ea typeface="+mn-ea"/>
                  <a:cs typeface="Arial" pitchFamily="34" charset="0"/>
                </a:rPr>
                <a:t>48.6 Mn MVR / 3.2 Mn USD </a:t>
              </a:r>
            </a:p>
          </p:txBody>
        </p:sp>
      </p:grpSp>
      <p:sp>
        <p:nvSpPr>
          <p:cNvPr id="54" name="Rectangle 2">
            <a:extLst>
              <a:ext uri="{FF2B5EF4-FFF2-40B4-BE49-F238E27FC236}">
                <a16:creationId xmlns:a16="http://schemas.microsoft.com/office/drawing/2014/main" id="{92A38C71-E9B4-45F7-A0D3-1AE4CA8142B6}"/>
              </a:ext>
            </a:extLst>
          </p:cNvPr>
          <p:cNvSpPr>
            <a:spLocks noChangeArrowheads="1"/>
          </p:cNvSpPr>
          <p:nvPr/>
        </p:nvSpPr>
        <p:spPr bwMode="auto">
          <a:xfrm>
            <a:off x="501651" y="1408854"/>
            <a:ext cx="8665210" cy="945726"/>
          </a:xfrm>
          <a:prstGeom prst="rect">
            <a:avLst/>
          </a:prstGeom>
          <a:solidFill>
            <a:schemeClr val="bg1"/>
          </a:solidFill>
          <a:ln w="6350" algn="ctr">
            <a:solidFill>
              <a:schemeClr val="accent1"/>
            </a:solidFill>
            <a:miter lim="800000"/>
            <a:headEnd/>
            <a:tailEnd/>
          </a:ln>
        </p:spPr>
        <p:txBody>
          <a:bodyPr lIns="108000" tIns="36000" rIns="36000" bIns="36000" anchor="ctr"/>
          <a:lstStyle/>
          <a:p>
            <a:pPr marL="285750" marR="0" lvl="1" indent="-285750" algn="l" defTabSz="914400" rtl="0" eaLnBrk="1" fontAlgn="auto" latinLnBrk="0" hangingPunct="1">
              <a:lnSpc>
                <a:spcPct val="100000"/>
              </a:lnSpc>
              <a:spcBef>
                <a:spcPts val="0"/>
              </a:spcBef>
              <a:spcAft>
                <a:spcPts val="0"/>
              </a:spcAft>
              <a:buClr>
                <a:srgbClr val="007C92"/>
              </a:buClr>
              <a:buSzPct val="85000"/>
              <a:buFont typeface="Arial" panose="020B0604020202020204" pitchFamily="34" charset="0"/>
              <a:buChar char="•"/>
              <a:tabLst/>
              <a:defRPr/>
            </a:pPr>
            <a:r>
              <a:rPr kumimoji="0" lang="en-GB" sz="1400" b="1" i="0" u="none" strike="noStrike" kern="1200" cap="none" spc="0" normalizeH="0" baseline="0" noProof="0" dirty="0">
                <a:ln>
                  <a:noFill/>
                </a:ln>
                <a:solidFill>
                  <a:srgbClr val="00338D"/>
                </a:solidFill>
                <a:effectLst/>
                <a:uLnTx/>
                <a:uFillTx/>
                <a:latin typeface="Calibri"/>
                <a:ea typeface="+mn-ea"/>
                <a:cs typeface="Arial" pitchFamily="34" charset="0"/>
              </a:rPr>
              <a:t>STELCO kept an average 11.55% of its average sales in FY18 and FY19 as spares inventory (~212 Mn MVR), whereas its peer group entities have been able to maintain the same at 1.4%-7% (Click </a:t>
            </a:r>
            <a:r>
              <a:rPr kumimoji="0" lang="en-GB" sz="1400" b="1" i="0" u="none" strike="noStrike" kern="1200" cap="none" spc="0" normalizeH="0" baseline="0" noProof="0" dirty="0">
                <a:ln>
                  <a:noFill/>
                </a:ln>
                <a:solidFill>
                  <a:srgbClr val="00338D"/>
                </a:solidFill>
                <a:effectLst/>
                <a:uLnTx/>
                <a:uFillTx/>
                <a:latin typeface="Calibri"/>
                <a:ea typeface="+mn-ea"/>
                <a:cs typeface="Arial" pitchFamily="34" charset="0"/>
                <a:hlinkClick r:id="rId18" action="ppaction://hlinksldjump"/>
              </a:rPr>
              <a:t>Here</a:t>
            </a:r>
            <a:r>
              <a:rPr kumimoji="0" lang="en-GB" sz="1400" b="1" i="0" u="none" strike="noStrike" kern="1200" cap="none" spc="0" normalizeH="0" baseline="0" noProof="0" dirty="0">
                <a:ln>
                  <a:noFill/>
                </a:ln>
                <a:solidFill>
                  <a:srgbClr val="00338D"/>
                </a:solidFill>
                <a:effectLst/>
                <a:uLnTx/>
                <a:uFillTx/>
                <a:latin typeface="Calibri"/>
                <a:ea typeface="+mn-ea"/>
                <a:cs typeface="Arial" pitchFamily="34" charset="0"/>
              </a:rPr>
              <a:t> for Industry Benchmarking)</a:t>
            </a:r>
          </a:p>
        </p:txBody>
      </p:sp>
      <p:sp>
        <p:nvSpPr>
          <p:cNvPr id="60" name="Rectangle 10">
            <a:extLst>
              <a:ext uri="{FF2B5EF4-FFF2-40B4-BE49-F238E27FC236}">
                <a16:creationId xmlns:a16="http://schemas.microsoft.com/office/drawing/2014/main" id="{567C519C-35DE-4E98-9655-58DD83D96B71}"/>
              </a:ext>
            </a:extLst>
          </p:cNvPr>
          <p:cNvSpPr>
            <a:spLocks noChangeArrowheads="1"/>
          </p:cNvSpPr>
          <p:nvPr/>
        </p:nvSpPr>
        <p:spPr bwMode="auto">
          <a:xfrm>
            <a:off x="501649" y="2493778"/>
            <a:ext cx="5910581" cy="272292"/>
          </a:xfrm>
          <a:prstGeom prst="rect">
            <a:avLst/>
          </a:prstGeom>
          <a:solidFill>
            <a:schemeClr val="accent5">
              <a:alpha val="57000"/>
            </a:schemeClr>
          </a:solidFill>
          <a:ln w="6350">
            <a:solidFill>
              <a:srgbClr val="409DAD"/>
            </a:solidFill>
          </a:ln>
        </p:spPr>
        <p:txBody>
          <a:bodyPr vert="horz" lIns="0" tIns="0" rIns="0" bIns="0" rtlCol="0" anchor="ctr" anchorCtr="1">
            <a:norm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Calibri"/>
                <a:ea typeface="+mn-ea"/>
                <a:cs typeface="Arial" pitchFamily="34" charset="0"/>
              </a:rPr>
              <a:t>Savings Rationale</a:t>
            </a:r>
          </a:p>
        </p:txBody>
      </p:sp>
      <p:graphicFrame>
        <p:nvGraphicFramePr>
          <p:cNvPr id="21" name="Table 21">
            <a:extLst>
              <a:ext uri="{FF2B5EF4-FFF2-40B4-BE49-F238E27FC236}">
                <a16:creationId xmlns:a16="http://schemas.microsoft.com/office/drawing/2014/main" id="{8599F89E-C7B7-45AC-A256-04465166AF62}"/>
              </a:ext>
            </a:extLst>
          </p:cNvPr>
          <p:cNvGraphicFramePr>
            <a:graphicFrameLocks noGrp="1"/>
          </p:cNvGraphicFramePr>
          <p:nvPr/>
        </p:nvGraphicFramePr>
        <p:xfrm>
          <a:off x="501649" y="2921536"/>
          <a:ext cx="5910581" cy="1413657"/>
        </p:xfrm>
        <a:graphic>
          <a:graphicData uri="http://schemas.openxmlformats.org/drawingml/2006/table">
            <a:tbl>
              <a:tblPr firstRow="1" bandRow="1">
                <a:tableStyleId>{7DF18680-E054-41AD-8BC1-D1AEF772440D}</a:tableStyleId>
              </a:tblPr>
              <a:tblGrid>
                <a:gridCol w="2421445">
                  <a:extLst>
                    <a:ext uri="{9D8B030D-6E8A-4147-A177-3AD203B41FA5}">
                      <a16:colId xmlns:a16="http://schemas.microsoft.com/office/drawing/2014/main" val="22772272"/>
                    </a:ext>
                  </a:extLst>
                </a:gridCol>
                <a:gridCol w="1505392">
                  <a:extLst>
                    <a:ext uri="{9D8B030D-6E8A-4147-A177-3AD203B41FA5}">
                      <a16:colId xmlns:a16="http://schemas.microsoft.com/office/drawing/2014/main" val="1211298518"/>
                    </a:ext>
                  </a:extLst>
                </a:gridCol>
                <a:gridCol w="906118">
                  <a:extLst>
                    <a:ext uri="{9D8B030D-6E8A-4147-A177-3AD203B41FA5}">
                      <a16:colId xmlns:a16="http://schemas.microsoft.com/office/drawing/2014/main" val="3335756289"/>
                    </a:ext>
                  </a:extLst>
                </a:gridCol>
                <a:gridCol w="1077626">
                  <a:extLst>
                    <a:ext uri="{9D8B030D-6E8A-4147-A177-3AD203B41FA5}">
                      <a16:colId xmlns:a16="http://schemas.microsoft.com/office/drawing/2014/main" val="2401458410"/>
                    </a:ext>
                  </a:extLst>
                </a:gridCol>
              </a:tblGrid>
              <a:tr h="189826">
                <a:tc rowSpan="2">
                  <a:txBody>
                    <a:bodyPr/>
                    <a:lstStyle/>
                    <a:p>
                      <a:r>
                        <a:rPr lang="en-US" sz="1200" dirty="0"/>
                        <a:t>Average Inventory as % of Sales in FY19 and FY18</a:t>
                      </a:r>
                      <a:endParaRPr lang="en-US" sz="1200" dirty="0">
                        <a:latin typeface="+mn-lt"/>
                      </a:endParaRPr>
                    </a:p>
                  </a:txBody>
                  <a:tcPr/>
                </a:tc>
                <a:tc rowSpan="2">
                  <a:txBody>
                    <a:bodyPr/>
                    <a:lstStyle/>
                    <a:p>
                      <a:pPr algn="ctr"/>
                      <a:r>
                        <a:rPr lang="en-US" sz="1200" dirty="0"/>
                        <a:t>% of Sales</a:t>
                      </a:r>
                      <a:endParaRPr lang="en-US" sz="1200" dirty="0">
                        <a:latin typeface="+mn-lt"/>
                      </a:endParaRPr>
                    </a:p>
                  </a:txBody>
                  <a:tcPr/>
                </a:tc>
                <a:tc gridSpan="2">
                  <a:txBody>
                    <a:bodyPr/>
                    <a:lstStyle/>
                    <a:p>
                      <a:pPr algn="ctr"/>
                      <a:r>
                        <a:rPr lang="en-US" sz="1200" dirty="0"/>
                        <a:t>Efficiency Improvement </a:t>
                      </a:r>
                      <a:endParaRPr lang="en-US" sz="1200" dirty="0">
                        <a:latin typeface="+mn-lt"/>
                      </a:endParaRPr>
                    </a:p>
                  </a:txBody>
                  <a:tcPr/>
                </a:tc>
                <a:tc hMerge="1">
                  <a:txBody>
                    <a:bodyPr/>
                    <a:lstStyle/>
                    <a:p>
                      <a:endParaRPr lang="en-US" sz="1100" dirty="0">
                        <a:latin typeface="+mn-lt"/>
                      </a:endParaRPr>
                    </a:p>
                  </a:txBody>
                  <a:tcPr marL="45720" marR="45720"/>
                </a:tc>
                <a:extLst>
                  <a:ext uri="{0D108BD9-81ED-4DB2-BD59-A6C34878D82A}">
                    <a16:rowId xmlns:a16="http://schemas.microsoft.com/office/drawing/2014/main" val="1307465169"/>
                  </a:ext>
                </a:extLst>
              </a:tr>
              <a:tr h="189826">
                <a:tc vMerge="1">
                  <a:txBody>
                    <a:bodyPr/>
                    <a:lstStyle/>
                    <a:p>
                      <a:endParaRPr lang="en-US"/>
                    </a:p>
                  </a:txBody>
                  <a:tcPr/>
                </a:tc>
                <a:tc vMerge="1">
                  <a:txBody>
                    <a:bodyPr/>
                    <a:lstStyle/>
                    <a:p>
                      <a:endParaRPr lang="en-US"/>
                    </a:p>
                  </a:txBody>
                  <a:tcPr/>
                </a:tc>
                <a:tc>
                  <a:txBody>
                    <a:bodyPr/>
                    <a:lstStyle/>
                    <a:p>
                      <a:pPr algn="ctr"/>
                      <a:r>
                        <a:rPr lang="en-US" sz="1200" b="1" dirty="0">
                          <a:solidFill>
                            <a:schemeClr val="bg1"/>
                          </a:solidFill>
                        </a:rPr>
                        <a:t>Low Case</a:t>
                      </a:r>
                      <a:endParaRPr lang="en-US" sz="1200" b="1" dirty="0">
                        <a:solidFill>
                          <a:schemeClr val="bg1"/>
                        </a:solidFill>
                        <a:latin typeface="+mn-lt"/>
                      </a:endParaRPr>
                    </a:p>
                  </a:txBody>
                  <a:tcPr>
                    <a:solidFill>
                      <a:schemeClr val="accent5"/>
                    </a:solidFill>
                  </a:tcPr>
                </a:tc>
                <a:tc>
                  <a:txBody>
                    <a:bodyPr/>
                    <a:lstStyle/>
                    <a:p>
                      <a:pPr algn="ctr"/>
                      <a:r>
                        <a:rPr lang="en-US" sz="1200" b="1" dirty="0">
                          <a:solidFill>
                            <a:schemeClr val="bg1"/>
                          </a:solidFill>
                        </a:rPr>
                        <a:t>High Case</a:t>
                      </a:r>
                      <a:endParaRPr lang="en-US" sz="1200" b="1" dirty="0">
                        <a:solidFill>
                          <a:schemeClr val="bg1"/>
                        </a:solidFill>
                        <a:latin typeface="+mn-lt"/>
                      </a:endParaRPr>
                    </a:p>
                  </a:txBody>
                  <a:tcPr>
                    <a:solidFill>
                      <a:schemeClr val="accent5"/>
                    </a:solidFill>
                  </a:tcPr>
                </a:tc>
                <a:extLst>
                  <a:ext uri="{0D108BD9-81ED-4DB2-BD59-A6C34878D82A}">
                    <a16:rowId xmlns:a16="http://schemas.microsoft.com/office/drawing/2014/main" val="3166931624"/>
                  </a:ext>
                </a:extLst>
              </a:tr>
              <a:tr h="316377">
                <a:tc>
                  <a:txBody>
                    <a:bodyPr/>
                    <a:lstStyle/>
                    <a:p>
                      <a:pPr marL="0" algn="l" defTabSz="914400" rtl="0" eaLnBrk="1" fontAlgn="ctr" latinLnBrk="0" hangingPunct="1"/>
                      <a:r>
                        <a:rPr lang="en-US" sz="1200" b="0" i="0" u="none" strike="noStrike" kern="1200" dirty="0">
                          <a:solidFill>
                            <a:srgbClr val="000000"/>
                          </a:solidFill>
                          <a:effectLst/>
                          <a:latin typeface="+mn-lt"/>
                          <a:ea typeface="+mn-ea"/>
                          <a:cs typeface="+mn-cs"/>
                        </a:rPr>
                        <a:t>Fuel &amp; Lube Oil Inventory</a:t>
                      </a:r>
                    </a:p>
                  </a:txBody>
                  <a:tcPr anchor="ctr"/>
                </a:tc>
                <a:tc>
                  <a:txBody>
                    <a:bodyPr/>
                    <a:lstStyle/>
                    <a:p>
                      <a:pPr algn="ctr" fontAlgn="b"/>
                      <a:r>
                        <a:rPr lang="en-US" sz="1000" b="0" i="0" u="none" strike="noStrike" dirty="0">
                          <a:solidFill>
                            <a:srgbClr val="000000"/>
                          </a:solidFill>
                          <a:effectLst/>
                          <a:latin typeface="Verdana" panose="020B0604030504040204" pitchFamily="34" charset="0"/>
                        </a:rPr>
                        <a:t>2.21%</a:t>
                      </a:r>
                    </a:p>
                  </a:txBody>
                  <a:tcPr anchor="ctr"/>
                </a:tc>
                <a:tc>
                  <a:txBody>
                    <a:bodyPr/>
                    <a:lstStyle/>
                    <a:p>
                      <a:pPr algn="ctr" fontAlgn="ctr"/>
                      <a:r>
                        <a:rPr lang="en-US" sz="1000" b="0" i="0" u="none" strike="noStrike" dirty="0">
                          <a:solidFill>
                            <a:srgbClr val="000000"/>
                          </a:solidFill>
                          <a:effectLst/>
                          <a:latin typeface="Verdana" panose="020B0604030504040204" pitchFamily="34" charset="0"/>
                        </a:rPr>
                        <a:t>1.00%</a:t>
                      </a:r>
                    </a:p>
                  </a:txBody>
                  <a:tcPr marL="7620" marR="7620" marT="7620" marB="0" anchor="ctr"/>
                </a:tc>
                <a:tc>
                  <a:txBody>
                    <a:bodyPr/>
                    <a:lstStyle/>
                    <a:p>
                      <a:pPr algn="ctr" fontAlgn="ctr"/>
                      <a:r>
                        <a:rPr lang="en-US" sz="1000" b="0" i="0" u="none" strike="noStrike" dirty="0">
                          <a:solidFill>
                            <a:srgbClr val="000000"/>
                          </a:solidFill>
                          <a:effectLst/>
                          <a:latin typeface="Verdana" panose="020B0604030504040204" pitchFamily="34" charset="0"/>
                        </a:rPr>
                        <a:t>2.00%</a:t>
                      </a:r>
                    </a:p>
                  </a:txBody>
                  <a:tcPr marL="7620" marR="7620" marT="7620" marB="0" anchor="ctr"/>
                </a:tc>
                <a:extLst>
                  <a:ext uri="{0D108BD9-81ED-4DB2-BD59-A6C34878D82A}">
                    <a16:rowId xmlns:a16="http://schemas.microsoft.com/office/drawing/2014/main" val="2297181138"/>
                  </a:ext>
                </a:extLst>
              </a:tr>
              <a:tr h="189826">
                <a:tc>
                  <a:txBody>
                    <a:bodyPr/>
                    <a:lstStyle/>
                    <a:p>
                      <a:pPr marL="0" algn="l" defTabSz="914400" rtl="0" eaLnBrk="1" fontAlgn="ctr" latinLnBrk="0" hangingPunct="1"/>
                      <a:r>
                        <a:rPr lang="en-US" sz="1200" b="0" i="0" u="none" strike="noStrike" kern="1200" dirty="0">
                          <a:solidFill>
                            <a:srgbClr val="000000"/>
                          </a:solidFill>
                          <a:effectLst/>
                          <a:latin typeface="+mn-lt"/>
                          <a:ea typeface="+mn-ea"/>
                          <a:cs typeface="+mn-cs"/>
                        </a:rPr>
                        <a:t>Spares Inventory</a:t>
                      </a:r>
                    </a:p>
                  </a:txBody>
                  <a:tcPr anchor="ctr"/>
                </a:tc>
                <a:tc>
                  <a:txBody>
                    <a:bodyPr/>
                    <a:lstStyle/>
                    <a:p>
                      <a:pPr algn="ctr" fontAlgn="b"/>
                      <a:r>
                        <a:rPr lang="en-US" sz="1000" b="0" i="0" u="none" strike="noStrike" dirty="0">
                          <a:solidFill>
                            <a:srgbClr val="000000"/>
                          </a:solidFill>
                          <a:effectLst/>
                          <a:latin typeface="Verdana" panose="020B0604030504040204" pitchFamily="34" charset="0"/>
                        </a:rPr>
                        <a:t>11.55%</a:t>
                      </a:r>
                    </a:p>
                  </a:txBody>
                  <a:tcPr anchor="ctr"/>
                </a:tc>
                <a:tc>
                  <a:txBody>
                    <a:bodyPr/>
                    <a:lstStyle/>
                    <a:p>
                      <a:pPr marL="0" algn="ctr" defTabSz="914400" rtl="0" eaLnBrk="1" fontAlgn="ctr" latinLnBrk="0" hangingPunct="1"/>
                      <a:r>
                        <a:rPr lang="en-US" sz="1000" b="0" i="0" u="none" strike="noStrike" kern="1200" dirty="0">
                          <a:solidFill>
                            <a:srgbClr val="000000"/>
                          </a:solidFill>
                          <a:effectLst/>
                          <a:latin typeface="Verdana" panose="020B0604030504040204" pitchFamily="34" charset="0"/>
                          <a:ea typeface="+mn-ea"/>
                          <a:cs typeface="+mn-cs"/>
                        </a:rPr>
                        <a:t>20.00%</a:t>
                      </a:r>
                    </a:p>
                  </a:txBody>
                  <a:tcPr marL="7620" marR="7620" marT="7620" marB="0" anchor="ctr"/>
                </a:tc>
                <a:tc>
                  <a:txBody>
                    <a:bodyPr/>
                    <a:lstStyle/>
                    <a:p>
                      <a:pPr marL="0" algn="ctr" defTabSz="914400" rtl="0" eaLnBrk="1" fontAlgn="ctr" latinLnBrk="0" hangingPunct="1"/>
                      <a:r>
                        <a:rPr lang="en-US" sz="1000" b="0" i="0" u="none" strike="noStrike" kern="1200" dirty="0">
                          <a:solidFill>
                            <a:srgbClr val="000000"/>
                          </a:solidFill>
                          <a:effectLst/>
                          <a:latin typeface="Verdana" panose="020B0604030504040204" pitchFamily="34" charset="0"/>
                          <a:ea typeface="+mn-ea"/>
                          <a:cs typeface="+mn-cs"/>
                        </a:rPr>
                        <a:t>30.00%</a:t>
                      </a:r>
                    </a:p>
                  </a:txBody>
                  <a:tcPr marL="7620" marR="7620" marT="7620" marB="0" anchor="ctr"/>
                </a:tc>
                <a:extLst>
                  <a:ext uri="{0D108BD9-81ED-4DB2-BD59-A6C34878D82A}">
                    <a16:rowId xmlns:a16="http://schemas.microsoft.com/office/drawing/2014/main" val="1509177413"/>
                  </a:ext>
                </a:extLst>
              </a:tr>
              <a:tr h="189826">
                <a:tc>
                  <a:txBody>
                    <a:bodyPr/>
                    <a:lstStyle/>
                    <a:p>
                      <a:pPr marL="0" algn="l" defTabSz="914400" rtl="0" eaLnBrk="1" fontAlgn="ctr" latinLnBrk="0" hangingPunct="1"/>
                      <a:r>
                        <a:rPr lang="en-US" sz="1200" b="0" i="0" u="none" strike="noStrike" kern="1200" dirty="0">
                          <a:solidFill>
                            <a:srgbClr val="000000"/>
                          </a:solidFill>
                          <a:effectLst/>
                          <a:latin typeface="+mn-lt"/>
                          <a:ea typeface="+mn-ea"/>
                          <a:cs typeface="+mn-cs"/>
                        </a:rPr>
                        <a:t>Stationery Inventory</a:t>
                      </a:r>
                    </a:p>
                  </a:txBody>
                  <a:tcPr anchor="ctr"/>
                </a:tc>
                <a:tc>
                  <a:txBody>
                    <a:bodyPr/>
                    <a:lstStyle/>
                    <a:p>
                      <a:pPr algn="ctr" fontAlgn="b"/>
                      <a:r>
                        <a:rPr lang="en-US" sz="1000" b="0" i="0" u="none" strike="noStrike" dirty="0">
                          <a:solidFill>
                            <a:srgbClr val="000000"/>
                          </a:solidFill>
                          <a:effectLst/>
                          <a:latin typeface="Verdana" panose="020B0604030504040204" pitchFamily="34" charset="0"/>
                        </a:rPr>
                        <a:t>0.01%</a:t>
                      </a:r>
                    </a:p>
                  </a:txBody>
                  <a:tcPr anchor="ctr"/>
                </a:tc>
                <a:tc>
                  <a:txBody>
                    <a:bodyPr/>
                    <a:lstStyle/>
                    <a:p>
                      <a:pPr algn="ctr" fontAlgn="ctr"/>
                      <a:r>
                        <a:rPr lang="en-US" sz="1000" b="0" i="0" u="none" strike="noStrike" dirty="0">
                          <a:solidFill>
                            <a:srgbClr val="000000"/>
                          </a:solidFill>
                          <a:effectLst/>
                          <a:latin typeface="Verdana" panose="020B0604030504040204" pitchFamily="34" charset="0"/>
                        </a:rPr>
                        <a:t>5.00%</a:t>
                      </a:r>
                    </a:p>
                  </a:txBody>
                  <a:tcPr marL="7620" marR="7620" marT="7620" marB="0" anchor="ctr"/>
                </a:tc>
                <a:tc>
                  <a:txBody>
                    <a:bodyPr/>
                    <a:lstStyle/>
                    <a:p>
                      <a:pPr algn="ctr" fontAlgn="ctr"/>
                      <a:r>
                        <a:rPr lang="en-US" sz="1000" b="0" i="0" u="none" strike="noStrike" dirty="0">
                          <a:solidFill>
                            <a:srgbClr val="000000"/>
                          </a:solidFill>
                          <a:effectLst/>
                          <a:latin typeface="Verdana" panose="020B0604030504040204" pitchFamily="34" charset="0"/>
                        </a:rPr>
                        <a:t>10.00%</a:t>
                      </a:r>
                    </a:p>
                  </a:txBody>
                  <a:tcPr marL="7620" marR="7620" marT="7620" marB="0" anchor="ctr"/>
                </a:tc>
                <a:extLst>
                  <a:ext uri="{0D108BD9-81ED-4DB2-BD59-A6C34878D82A}">
                    <a16:rowId xmlns:a16="http://schemas.microsoft.com/office/drawing/2014/main" val="3991183976"/>
                  </a:ext>
                </a:extLst>
              </a:tr>
            </a:tbl>
          </a:graphicData>
        </a:graphic>
      </p:graphicFrame>
      <p:sp>
        <p:nvSpPr>
          <p:cNvPr id="62" name="Rectangle 61">
            <a:extLst>
              <a:ext uri="{FF2B5EF4-FFF2-40B4-BE49-F238E27FC236}">
                <a16:creationId xmlns:a16="http://schemas.microsoft.com/office/drawing/2014/main" id="{6E4D92A2-2F95-4398-8F72-95C05BBF19AD}"/>
              </a:ext>
            </a:extLst>
          </p:cNvPr>
          <p:cNvSpPr/>
          <p:nvPr/>
        </p:nvSpPr>
        <p:spPr>
          <a:xfrm>
            <a:off x="378452" y="4359521"/>
            <a:ext cx="5910581" cy="2132892"/>
          </a:xfrm>
          <a:prstGeom prst="rect">
            <a:avLst/>
          </a:prstGeom>
        </p:spPr>
        <p:txBody>
          <a:bodyPr wrap="square">
            <a:spAutoFit/>
          </a:bodyPr>
          <a:lstStyle/>
          <a:p>
            <a:pPr marL="0" marR="0" lvl="1" indent="1588" algn="just" defTabSz="914400" rtl="0" eaLnBrk="1" fontAlgn="auto" latinLnBrk="0" hangingPunct="1">
              <a:lnSpc>
                <a:spcPct val="100000"/>
              </a:lnSpc>
              <a:spcBef>
                <a:spcPct val="3500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a:ea typeface="+mn-ea"/>
                <a:cs typeface="Arial" pitchFamily="34" charset="0"/>
              </a:rPr>
              <a:t>The savings rationale has been computed basis:</a:t>
            </a:r>
          </a:p>
          <a:p>
            <a:pPr marL="171450" marR="0" lvl="1" indent="-171450" algn="just" defTabSz="914400" rtl="0" eaLnBrk="1" fontAlgn="auto" latinLnBrk="0" hangingPunct="1">
              <a:lnSpc>
                <a:spcPct val="100000"/>
              </a:lnSpc>
              <a:spcBef>
                <a:spcPct val="350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a:ea typeface="+mn-ea"/>
                <a:cs typeface="Arial" pitchFamily="34" charset="0"/>
              </a:rPr>
              <a:t>By streamlining the inventory management process, STELCO departments can use a single unified inventory interface for departmental and Central Stores, get real time visibility on  inventory requirements and manage re-ordering process to optimize cost levels</a:t>
            </a:r>
          </a:p>
          <a:p>
            <a:pPr marL="171450" marR="0" lvl="1" indent="-171450" algn="just" defTabSz="914400" rtl="0" eaLnBrk="1" fontAlgn="auto" latinLnBrk="0" hangingPunct="1">
              <a:lnSpc>
                <a:spcPct val="100000"/>
              </a:lnSpc>
              <a:spcBef>
                <a:spcPct val="350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a:ea typeface="+mn-ea"/>
                <a:cs typeface="Arial" pitchFamily="34" charset="0"/>
              </a:rPr>
              <a:t>Although STELCO’s fuel &amp; lube oil inventory management is already one of the best in class, we expect a marginal efficiency improvement of 1-2% due to streamlined inventory management.</a:t>
            </a:r>
          </a:p>
          <a:p>
            <a:pPr marL="171450" marR="0" lvl="1" indent="-171450" algn="just" defTabSz="914400" rtl="0" eaLnBrk="1" fontAlgn="auto" latinLnBrk="0" hangingPunct="1">
              <a:lnSpc>
                <a:spcPct val="100000"/>
              </a:lnSpc>
              <a:spcBef>
                <a:spcPct val="350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a:ea typeface="+mn-ea"/>
                <a:cs typeface="Arial" pitchFamily="34" charset="0"/>
              </a:rPr>
              <a:t>The savings have been estimated to be obtained over a 10 year horizon with 100% savings being achieved annually from Year 3 onwards considering 10% average interest rate on working capital finance</a:t>
            </a:r>
          </a:p>
        </p:txBody>
      </p:sp>
      <p:sp>
        <p:nvSpPr>
          <p:cNvPr id="64" name="Rectangle 10">
            <a:extLst>
              <a:ext uri="{FF2B5EF4-FFF2-40B4-BE49-F238E27FC236}">
                <a16:creationId xmlns:a16="http://schemas.microsoft.com/office/drawing/2014/main" id="{4CBAF1E2-7639-4710-9173-5D64928C671C}"/>
              </a:ext>
            </a:extLst>
          </p:cNvPr>
          <p:cNvSpPr>
            <a:spLocks noChangeArrowheads="1"/>
          </p:cNvSpPr>
          <p:nvPr/>
        </p:nvSpPr>
        <p:spPr bwMode="auto">
          <a:xfrm>
            <a:off x="6529069" y="2493778"/>
            <a:ext cx="5161281" cy="272292"/>
          </a:xfrm>
          <a:prstGeom prst="rect">
            <a:avLst/>
          </a:prstGeom>
          <a:solidFill>
            <a:schemeClr val="accent2">
              <a:alpha val="53000"/>
            </a:schemeClr>
          </a:solidFill>
          <a:ln w="6350">
            <a:solidFill>
              <a:srgbClr val="409DAD"/>
            </a:solidFill>
          </a:ln>
        </p:spPr>
        <p:txBody>
          <a:bodyPr vert="horz" lIns="0" tIns="0" rIns="0" bIns="0" rtlCol="0" anchor="ctr" anchorCtr="1">
            <a:norm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Calibri"/>
                <a:ea typeface="+mn-ea"/>
                <a:cs typeface="Arial" pitchFamily="34" charset="0"/>
              </a:rPr>
              <a:t>Savings Potential</a:t>
            </a:r>
          </a:p>
        </p:txBody>
      </p:sp>
      <p:graphicFrame>
        <p:nvGraphicFramePr>
          <p:cNvPr id="37" name="Chart 36">
            <a:extLst>
              <a:ext uri="{FF2B5EF4-FFF2-40B4-BE49-F238E27FC236}">
                <a16:creationId xmlns:a16="http://schemas.microsoft.com/office/drawing/2014/main" id="{55D0A8E0-E2FA-4235-BC1A-7676B4F01F03}"/>
              </a:ext>
            </a:extLst>
          </p:cNvPr>
          <p:cNvGraphicFramePr/>
          <p:nvPr>
            <p:custDataLst>
              <p:tags r:id="rId2"/>
            </p:custDataLst>
          </p:nvPr>
        </p:nvGraphicFramePr>
        <p:xfrm>
          <a:off x="6446838" y="4227513"/>
          <a:ext cx="3525837" cy="1528762"/>
        </p:xfrm>
        <a:graphic>
          <a:graphicData uri="http://schemas.openxmlformats.org/drawingml/2006/chart">
            <c:chart xmlns:c="http://schemas.openxmlformats.org/drawingml/2006/chart" xmlns:r="http://schemas.openxmlformats.org/officeDocument/2006/relationships" r:id="rId19"/>
          </a:graphicData>
        </a:graphic>
      </p:graphicFrame>
      <p:sp>
        <p:nvSpPr>
          <p:cNvPr id="65" name="Text Placeholder 18">
            <a:extLst>
              <a:ext uri="{FF2B5EF4-FFF2-40B4-BE49-F238E27FC236}">
                <a16:creationId xmlns:a16="http://schemas.microsoft.com/office/drawing/2014/main" id="{F13E4ABF-2F68-45EC-9BBB-F3A640F2CCD4}"/>
              </a:ext>
            </a:extLst>
          </p:cNvPr>
          <p:cNvSpPr>
            <a:spLocks noGrp="1"/>
          </p:cNvSpPr>
          <p:nvPr>
            <p:custDataLst>
              <p:tags r:id="rId3"/>
            </p:custDataLst>
          </p:nvPr>
        </p:nvSpPr>
        <p:spPr bwMode="gray">
          <a:xfrm>
            <a:off x="8048625" y="4511675"/>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E657963C-64C8-467F-B5BC-4889255AF032}" type="datetime'''3''''''''''''''.''''76'''''''''''''''''''''''''''">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3.76</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58" name="Text Placeholder 18">
            <a:extLst>
              <a:ext uri="{FF2B5EF4-FFF2-40B4-BE49-F238E27FC236}">
                <a16:creationId xmlns:a16="http://schemas.microsoft.com/office/drawing/2014/main" id="{2BA30073-B185-42D7-92A3-F5A356B1F249}"/>
              </a:ext>
            </a:extLst>
          </p:cNvPr>
          <p:cNvSpPr>
            <a:spLocks noGrp="1"/>
          </p:cNvSpPr>
          <p:nvPr>
            <p:custDataLst>
              <p:tags r:id="rId4"/>
            </p:custDataLst>
          </p:nvPr>
        </p:nvSpPr>
        <p:spPr bwMode="auto">
          <a:xfrm>
            <a:off x="7005638" y="5775325"/>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C7F1476C-E6C8-4ADD-830F-28CD7EFB2939}" type="datetime'Y1'''''''''''''''''''''''''''''''''''''''''''''''''''''''''''">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61" name="Text Placeholder 18">
            <a:extLst>
              <a:ext uri="{FF2B5EF4-FFF2-40B4-BE49-F238E27FC236}">
                <a16:creationId xmlns:a16="http://schemas.microsoft.com/office/drawing/2014/main" id="{6051CA32-7177-4705-BDC3-C0957126F736}"/>
              </a:ext>
            </a:extLst>
          </p:cNvPr>
          <p:cNvSpPr>
            <a:spLocks noGrp="1"/>
          </p:cNvSpPr>
          <p:nvPr>
            <p:custDataLst>
              <p:tags r:id="rId5"/>
            </p:custDataLst>
          </p:nvPr>
        </p:nvSpPr>
        <p:spPr bwMode="auto">
          <a:xfrm>
            <a:off x="8126413" y="5775325"/>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DC335FDC-C718-43D3-814A-705F3F6DE6D4}" type="datetime'''''Y''''''''''''''''2'''''''''''''''''''''''''''">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Y2</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51" name="Text Placeholder 18">
            <a:extLst>
              <a:ext uri="{FF2B5EF4-FFF2-40B4-BE49-F238E27FC236}">
                <a16:creationId xmlns:a16="http://schemas.microsoft.com/office/drawing/2014/main" id="{8742BAC0-6133-4A30-84F8-24AD96EFA067}"/>
              </a:ext>
            </a:extLst>
          </p:cNvPr>
          <p:cNvSpPr>
            <a:spLocks noGrp="1"/>
          </p:cNvSpPr>
          <p:nvPr>
            <p:custDataLst>
              <p:tags r:id="rId6"/>
            </p:custDataLst>
          </p:nvPr>
        </p:nvSpPr>
        <p:spPr bwMode="auto">
          <a:xfrm>
            <a:off x="9013825" y="5775325"/>
            <a:ext cx="63023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8855D7FE-030C-47C6-BAC1-3A147A373841}" type="datetime'''''''''Y''3-''10'''''''''' ''''''''''''p''.a''''''''''''.'">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Y3-10 p.a.</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67" name="Text Placeholder 18">
            <a:extLst>
              <a:ext uri="{FF2B5EF4-FFF2-40B4-BE49-F238E27FC236}">
                <a16:creationId xmlns:a16="http://schemas.microsoft.com/office/drawing/2014/main" id="{D2ABE17E-1472-44F7-A17A-EA14D08BC6BC}"/>
              </a:ext>
            </a:extLst>
          </p:cNvPr>
          <p:cNvSpPr>
            <a:spLocks noGrp="1"/>
          </p:cNvSpPr>
          <p:nvPr>
            <p:custDataLst>
              <p:tags r:id="rId7"/>
            </p:custDataLst>
          </p:nvPr>
        </p:nvSpPr>
        <p:spPr bwMode="gray">
          <a:xfrm>
            <a:off x="6927850" y="4987925"/>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01FBF3A1-859F-4E2C-9237-94C2601EB452}" type="datetime'''''''''''''''''1''.''''''''''''''8''8'''''''''''''''">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1.88</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55" name="Text Placeholder 18">
            <a:extLst>
              <a:ext uri="{FF2B5EF4-FFF2-40B4-BE49-F238E27FC236}">
                <a16:creationId xmlns:a16="http://schemas.microsoft.com/office/drawing/2014/main" id="{428A6529-6F6A-4A30-976A-E2958CD7E946}"/>
              </a:ext>
            </a:extLst>
          </p:cNvPr>
          <p:cNvSpPr>
            <a:spLocks noGrp="1"/>
          </p:cNvSpPr>
          <p:nvPr>
            <p:custDataLst>
              <p:tags r:id="rId8"/>
            </p:custDataLst>
          </p:nvPr>
        </p:nvSpPr>
        <p:spPr bwMode="gray">
          <a:xfrm>
            <a:off x="9167813" y="4102100"/>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F6225ADB-B459-4331-A9AA-B156A62C0358}" type="datetime'5''''''''.''''''''''37'''''''''''''''''''''">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5.37</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69" name="Rectangle 68">
            <a:extLst>
              <a:ext uri="{FF2B5EF4-FFF2-40B4-BE49-F238E27FC236}">
                <a16:creationId xmlns:a16="http://schemas.microsoft.com/office/drawing/2014/main" id="{1D9AE628-A9BA-4B3E-ADF8-9B6CED805B0A}"/>
              </a:ext>
            </a:extLst>
          </p:cNvPr>
          <p:cNvSpPr/>
          <p:nvPr>
            <p:custDataLst>
              <p:tags r:id="rId9"/>
            </p:custDataLst>
          </p:nvPr>
        </p:nvSpPr>
        <p:spPr bwMode="auto">
          <a:xfrm>
            <a:off x="8502650" y="6186488"/>
            <a:ext cx="214313" cy="160338"/>
          </a:xfrm>
          <a:prstGeom prst="rect">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0" name="Text Placeholder 18">
            <a:extLst>
              <a:ext uri="{FF2B5EF4-FFF2-40B4-BE49-F238E27FC236}">
                <a16:creationId xmlns:a16="http://schemas.microsoft.com/office/drawing/2014/main" id="{75927D8B-2867-4899-B14A-5CA647378B97}"/>
              </a:ext>
            </a:extLst>
          </p:cNvPr>
          <p:cNvSpPr>
            <a:spLocks noGrp="1"/>
          </p:cNvSpPr>
          <p:nvPr>
            <p:custDataLst>
              <p:tags r:id="rId10"/>
            </p:custDataLst>
          </p:nvPr>
        </p:nvSpPr>
        <p:spPr bwMode="auto">
          <a:xfrm>
            <a:off x="8767763" y="6181725"/>
            <a:ext cx="18335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1D1A7025-3678-4D7A-BDF9-52A38DDA0539}" type="datetime'E''''s''''tim''a''''t''''e''''d'' Savi''''n''gs in Mn MVR'''">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Estimated Savings in Mn MVR</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graphicFrame>
        <p:nvGraphicFramePr>
          <p:cNvPr id="38" name="Chart 37">
            <a:extLst>
              <a:ext uri="{FF2B5EF4-FFF2-40B4-BE49-F238E27FC236}">
                <a16:creationId xmlns:a16="http://schemas.microsoft.com/office/drawing/2014/main" id="{E252E1F5-7B5E-4F75-A075-4379CB5D5353}"/>
              </a:ext>
            </a:extLst>
          </p:cNvPr>
          <p:cNvGraphicFramePr/>
          <p:nvPr>
            <p:custDataLst>
              <p:tags r:id="rId11"/>
            </p:custDataLst>
          </p:nvPr>
        </p:nvGraphicFramePr>
        <p:xfrm>
          <a:off x="10420350" y="4022725"/>
          <a:ext cx="1352550" cy="1733550"/>
        </p:xfrm>
        <a:graphic>
          <a:graphicData uri="http://schemas.openxmlformats.org/drawingml/2006/chart">
            <c:chart xmlns:c="http://schemas.openxmlformats.org/drawingml/2006/chart" xmlns:r="http://schemas.openxmlformats.org/officeDocument/2006/relationships" r:id="rId20"/>
          </a:graphicData>
        </a:graphic>
      </p:graphicFrame>
      <p:sp>
        <p:nvSpPr>
          <p:cNvPr id="72" name="Text Placeholder 18">
            <a:extLst>
              <a:ext uri="{FF2B5EF4-FFF2-40B4-BE49-F238E27FC236}">
                <a16:creationId xmlns:a16="http://schemas.microsoft.com/office/drawing/2014/main" id="{3A341ED5-D94F-4C79-BE66-336073DE94B1}"/>
              </a:ext>
            </a:extLst>
          </p:cNvPr>
          <p:cNvSpPr>
            <a:spLocks noGrp="1"/>
          </p:cNvSpPr>
          <p:nvPr>
            <p:custDataLst>
              <p:tags r:id="rId12"/>
            </p:custDataLst>
          </p:nvPr>
        </p:nvSpPr>
        <p:spPr bwMode="auto">
          <a:xfrm>
            <a:off x="10914063" y="5775325"/>
            <a:ext cx="36671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DC3BEEA0-25AD-4C0E-91E9-C3311C344626}" type="datetime'''''Y''1''''''''-''''''''''''''''1''''''''''''''''0'''''">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Y1-10</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73" name="Text Placeholder 18">
            <a:extLst>
              <a:ext uri="{FF2B5EF4-FFF2-40B4-BE49-F238E27FC236}">
                <a16:creationId xmlns:a16="http://schemas.microsoft.com/office/drawing/2014/main" id="{0384D425-D568-43A6-A15D-0A9F5E3A91BC}"/>
              </a:ext>
            </a:extLst>
          </p:cNvPr>
          <p:cNvSpPr>
            <a:spLocks noGrp="1"/>
          </p:cNvSpPr>
          <p:nvPr>
            <p:custDataLst>
              <p:tags r:id="rId13"/>
            </p:custDataLst>
          </p:nvPr>
        </p:nvSpPr>
        <p:spPr bwMode="gray">
          <a:xfrm>
            <a:off x="10895013" y="3897313"/>
            <a:ext cx="40322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5AAD2D06-BAF8-4399-88B4-6745562D7F96}" type="datetime'''''''''''''''''4''8''.''''''''''''''6''''''''''''3'''''">
              <a:rPr kumimoji="0" lang="en-US" altLang="en-US" sz="1200" b="1"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48.63</a:t>
            </a:fld>
            <a:endParaRPr kumimoji="0" lang="en-US" sz="1200" b="1"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74" name="Isosceles Triangle 73">
            <a:extLst>
              <a:ext uri="{FF2B5EF4-FFF2-40B4-BE49-F238E27FC236}">
                <a16:creationId xmlns:a16="http://schemas.microsoft.com/office/drawing/2014/main" id="{11F19C46-BA3B-484B-A01E-2129810903B5}"/>
              </a:ext>
            </a:extLst>
          </p:cNvPr>
          <p:cNvSpPr/>
          <p:nvPr/>
        </p:nvSpPr>
        <p:spPr bwMode="gray">
          <a:xfrm rot="5400000">
            <a:off x="9478963" y="4837113"/>
            <a:ext cx="1669706" cy="207963"/>
          </a:xfrm>
          <a:prstGeom prst="triangl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9" name="TextBox 28">
            <a:extLst>
              <a:ext uri="{FF2B5EF4-FFF2-40B4-BE49-F238E27FC236}">
                <a16:creationId xmlns:a16="http://schemas.microsoft.com/office/drawing/2014/main" id="{9F0BAB1F-A316-4101-A51F-368833B0CA17}"/>
              </a:ext>
            </a:extLst>
          </p:cNvPr>
          <p:cNvSpPr txBox="1"/>
          <p:nvPr/>
        </p:nvSpPr>
        <p:spPr>
          <a:xfrm>
            <a:off x="501648" y="6622327"/>
            <a:ext cx="11115921"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srgbClr val="313131"/>
                </a:solidFill>
                <a:effectLst/>
                <a:uLnTx/>
                <a:uFillTx/>
                <a:latin typeface="Calibri"/>
                <a:ea typeface="+mn-ea"/>
                <a:cs typeface="+mn-cs"/>
              </a:rPr>
              <a:t>Note: 1. The  Potential Savings realized have been computed considering average of the estimated efficiency improvement in Low Case and High Case</a:t>
            </a:r>
          </a:p>
        </p:txBody>
      </p:sp>
      <p:graphicFrame>
        <p:nvGraphicFramePr>
          <p:cNvPr id="30" name="Table 21">
            <a:extLst>
              <a:ext uri="{FF2B5EF4-FFF2-40B4-BE49-F238E27FC236}">
                <a16:creationId xmlns:a16="http://schemas.microsoft.com/office/drawing/2014/main" id="{F0BE2B9D-7BCF-4055-8B48-87FAB71F515E}"/>
              </a:ext>
            </a:extLst>
          </p:cNvPr>
          <p:cNvGraphicFramePr>
            <a:graphicFrameLocks noGrp="1"/>
          </p:cNvGraphicFramePr>
          <p:nvPr/>
        </p:nvGraphicFramePr>
        <p:xfrm>
          <a:off x="6529067" y="2921000"/>
          <a:ext cx="5144200" cy="695325"/>
        </p:xfrm>
        <a:graphic>
          <a:graphicData uri="http://schemas.openxmlformats.org/drawingml/2006/table">
            <a:tbl>
              <a:tblPr firstRow="1" bandRow="1">
                <a:tableStyleId>{21E4AEA4-8DFA-4A89-87EB-49C32662AFE0}</a:tableStyleId>
              </a:tblPr>
              <a:tblGrid>
                <a:gridCol w="896792">
                  <a:extLst>
                    <a:ext uri="{9D8B030D-6E8A-4147-A177-3AD203B41FA5}">
                      <a16:colId xmlns:a16="http://schemas.microsoft.com/office/drawing/2014/main" val="22772272"/>
                    </a:ext>
                  </a:extLst>
                </a:gridCol>
                <a:gridCol w="896792">
                  <a:extLst>
                    <a:ext uri="{9D8B030D-6E8A-4147-A177-3AD203B41FA5}">
                      <a16:colId xmlns:a16="http://schemas.microsoft.com/office/drawing/2014/main" val="2572693388"/>
                    </a:ext>
                  </a:extLst>
                </a:gridCol>
                <a:gridCol w="896792">
                  <a:extLst>
                    <a:ext uri="{9D8B030D-6E8A-4147-A177-3AD203B41FA5}">
                      <a16:colId xmlns:a16="http://schemas.microsoft.com/office/drawing/2014/main" val="951154567"/>
                    </a:ext>
                  </a:extLst>
                </a:gridCol>
                <a:gridCol w="896792">
                  <a:extLst>
                    <a:ext uri="{9D8B030D-6E8A-4147-A177-3AD203B41FA5}">
                      <a16:colId xmlns:a16="http://schemas.microsoft.com/office/drawing/2014/main" val="2788998700"/>
                    </a:ext>
                  </a:extLst>
                </a:gridCol>
                <a:gridCol w="896792">
                  <a:extLst>
                    <a:ext uri="{9D8B030D-6E8A-4147-A177-3AD203B41FA5}">
                      <a16:colId xmlns:a16="http://schemas.microsoft.com/office/drawing/2014/main" val="790048796"/>
                    </a:ext>
                  </a:extLst>
                </a:gridCol>
                <a:gridCol w="660240">
                  <a:extLst>
                    <a:ext uri="{9D8B030D-6E8A-4147-A177-3AD203B41FA5}">
                      <a16:colId xmlns:a16="http://schemas.microsoft.com/office/drawing/2014/main" val="2081733403"/>
                    </a:ext>
                  </a:extLst>
                </a:gridCol>
              </a:tblGrid>
              <a:tr h="379268">
                <a:tc gridSpan="6">
                  <a:txBody>
                    <a:bodyPr/>
                    <a:lstStyle/>
                    <a:p>
                      <a:pPr algn="ctr"/>
                      <a:r>
                        <a:rPr lang="en-US" sz="1200" dirty="0"/>
                        <a:t>Savings Realization (%) </a:t>
                      </a:r>
                      <a:endParaRPr lang="en-US" sz="1200" dirty="0">
                        <a:latin typeface="+mn-lt"/>
                      </a:endParaRPr>
                    </a:p>
                  </a:txBody>
                  <a:tcPr marL="45720" marR="45720"/>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307465169"/>
                  </a:ext>
                </a:extLst>
              </a:tr>
              <a:tr h="316057">
                <a:tc>
                  <a:txBody>
                    <a:bodyPr/>
                    <a:lstStyle/>
                    <a:p>
                      <a:pPr marL="0" algn="l" defTabSz="914400" rtl="0" eaLnBrk="1" fontAlgn="ctr" latinLnBrk="0" hangingPunct="1"/>
                      <a:r>
                        <a:rPr lang="en-US" sz="1200" b="1" u="none" strike="noStrike" kern="1200" dirty="0">
                          <a:effectLst/>
                        </a:rPr>
                        <a:t>Year 1</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u="none" strike="noStrike" kern="1200" dirty="0">
                          <a:effectLst/>
                        </a:rPr>
                        <a:t>35%</a:t>
                      </a:r>
                      <a:endParaRPr lang="en-US" sz="1200" b="1" i="0" u="none" strike="noStrike" kern="1200" dirty="0">
                        <a:solidFill>
                          <a:srgbClr val="000000"/>
                        </a:solidFill>
                        <a:effectLst/>
                        <a:latin typeface="+mn-lt"/>
                        <a:ea typeface="+mn-ea"/>
                        <a:cs typeface="+mn-cs"/>
                      </a:endParaRPr>
                    </a:p>
                  </a:txBody>
                  <a:tcPr marL="45720" marR="45720" anchor="ctr">
                    <a:solidFill>
                      <a:schemeClr val="accent1">
                        <a:lumMod val="20000"/>
                        <a:lumOff val="80000"/>
                      </a:schemeClr>
                    </a:solidFill>
                  </a:tcPr>
                </a:tc>
                <a:tc>
                  <a:txBody>
                    <a:bodyPr/>
                    <a:lstStyle/>
                    <a:p>
                      <a:pPr marL="0" algn="l" defTabSz="914400" rtl="0" eaLnBrk="1" fontAlgn="ctr" latinLnBrk="0" hangingPunct="1"/>
                      <a:r>
                        <a:rPr lang="en-US" sz="1200" b="1" u="none" strike="noStrike" kern="1200" dirty="0">
                          <a:effectLst/>
                        </a:rPr>
                        <a:t>Year 2</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i="0" u="none" strike="noStrike" kern="1200" dirty="0">
                          <a:solidFill>
                            <a:srgbClr val="000000"/>
                          </a:solidFill>
                          <a:effectLst/>
                          <a:latin typeface="+mn-lt"/>
                          <a:ea typeface="+mn-ea"/>
                          <a:cs typeface="+mn-cs"/>
                        </a:rPr>
                        <a:t>70%</a:t>
                      </a:r>
                    </a:p>
                  </a:txBody>
                  <a:tcPr marL="45720" marR="45720" anchor="ctr">
                    <a:solidFill>
                      <a:schemeClr val="accent1">
                        <a:lumMod val="20000"/>
                        <a:lumOff val="80000"/>
                      </a:schemeClr>
                    </a:solidFill>
                  </a:tcPr>
                </a:tc>
                <a:tc>
                  <a:txBody>
                    <a:bodyPr/>
                    <a:lstStyle/>
                    <a:p>
                      <a:pPr marL="0" algn="ctr" defTabSz="914400" rtl="0" eaLnBrk="1" fontAlgn="ctr" latinLnBrk="0" hangingPunct="1"/>
                      <a:r>
                        <a:rPr lang="en-US" sz="1200" b="1" u="none" strike="noStrike" kern="1200" dirty="0">
                          <a:effectLst/>
                        </a:rPr>
                        <a:t>Year 3-10</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i="0" u="none" strike="noStrike" kern="1200" dirty="0">
                          <a:solidFill>
                            <a:srgbClr val="000000"/>
                          </a:solidFill>
                          <a:effectLst/>
                          <a:latin typeface="+mn-lt"/>
                          <a:ea typeface="+mn-ea"/>
                          <a:cs typeface="+mn-cs"/>
                        </a:rPr>
                        <a:t>100%</a:t>
                      </a:r>
                    </a:p>
                  </a:txBody>
                  <a:tcPr marL="45720" marR="45720" anchor="ctr">
                    <a:solidFill>
                      <a:schemeClr val="accent1">
                        <a:lumMod val="20000"/>
                        <a:lumOff val="80000"/>
                      </a:schemeClr>
                    </a:solidFill>
                  </a:tcPr>
                </a:tc>
                <a:extLst>
                  <a:ext uri="{0D108BD9-81ED-4DB2-BD59-A6C34878D82A}">
                    <a16:rowId xmlns:a16="http://schemas.microsoft.com/office/drawing/2014/main" val="2297181138"/>
                  </a:ext>
                </a:extLst>
              </a:tr>
            </a:tbl>
          </a:graphicData>
        </a:graphic>
      </p:graphicFrame>
    </p:spTree>
    <p:extLst>
      <p:ext uri="{BB962C8B-B14F-4D97-AF65-F5344CB8AC3E}">
        <p14:creationId xmlns:p14="http://schemas.microsoft.com/office/powerpoint/2010/main" val="423072360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498" imgH="499" progId="TCLayout.ActiveDocument.1">
                  <p:embed/>
                </p:oleObj>
              </mc:Choice>
              <mc:Fallback>
                <p:oleObj name="think-cell Slide" r:id="rId23"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Roll out of an Enterprise-Wide Procurement &amp; Maintenance Module will lead to timely turnaround of maintenance works, reduced outage hours leading to higher availability, generation from DG sets and increase in SHR efficiency</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3. a) Improvement in Generation Efficiency – Base Case</a:t>
            </a:r>
            <a:endParaRPr lang="en-GB" dirty="0"/>
          </a:p>
        </p:txBody>
      </p:sp>
      <p:grpSp>
        <p:nvGrpSpPr>
          <p:cNvPr id="6" name="Group 5">
            <a:extLst>
              <a:ext uri="{FF2B5EF4-FFF2-40B4-BE49-F238E27FC236}">
                <a16:creationId xmlns:a16="http://schemas.microsoft.com/office/drawing/2014/main" id="{1993F2B0-0B69-4FA0-9772-106AC71070CB}"/>
              </a:ext>
            </a:extLst>
          </p:cNvPr>
          <p:cNvGrpSpPr/>
          <p:nvPr/>
        </p:nvGrpSpPr>
        <p:grpSpPr>
          <a:xfrm>
            <a:off x="9361171" y="1434006"/>
            <a:ext cx="2329180" cy="920574"/>
            <a:chOff x="9728749" y="1434006"/>
            <a:chExt cx="1961601" cy="637291"/>
          </a:xfrm>
        </p:grpSpPr>
        <p:sp>
          <p:nvSpPr>
            <p:cNvPr id="52" name="TextBox 51">
              <a:extLst>
                <a:ext uri="{FF2B5EF4-FFF2-40B4-BE49-F238E27FC236}">
                  <a16:creationId xmlns:a16="http://schemas.microsoft.com/office/drawing/2014/main" id="{82C1EFB3-50E8-46E8-A000-D76677138E9D}"/>
                </a:ext>
              </a:extLst>
            </p:cNvPr>
            <p:cNvSpPr txBox="1"/>
            <p:nvPr/>
          </p:nvSpPr>
          <p:spPr>
            <a:xfrm>
              <a:off x="9728749" y="1434006"/>
              <a:ext cx="1947215" cy="290963"/>
            </a:xfrm>
            <a:prstGeom prst="rect">
              <a:avLst/>
            </a:prstGeom>
            <a:solidFill>
              <a:schemeClr val="accent5"/>
            </a:solidFill>
            <a:ln>
              <a:solidFill>
                <a:schemeClr val="accent5"/>
              </a:solidFill>
            </a:ln>
          </p:spPr>
          <p:txBody>
            <a:bodyPr wrap="square" lIns="54000" tIns="54000" rIns="54000" bIns="5400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Calibri"/>
                  <a:ea typeface="+mn-ea"/>
                  <a:cs typeface="Arial" pitchFamily="34" charset="0"/>
                </a:rPr>
                <a:t>Potential Benefits (10 Years)</a:t>
              </a:r>
            </a:p>
          </p:txBody>
        </p:sp>
        <p:sp>
          <p:nvSpPr>
            <p:cNvPr id="53" name="TextBox 52">
              <a:extLst>
                <a:ext uri="{FF2B5EF4-FFF2-40B4-BE49-F238E27FC236}">
                  <a16:creationId xmlns:a16="http://schemas.microsoft.com/office/drawing/2014/main" id="{193B55FA-2DB1-441C-A3AB-4704A9A677DF}"/>
                </a:ext>
              </a:extLst>
            </p:cNvPr>
            <p:cNvSpPr txBox="1"/>
            <p:nvPr/>
          </p:nvSpPr>
          <p:spPr>
            <a:xfrm>
              <a:off x="9743135" y="1780334"/>
              <a:ext cx="1947215" cy="290963"/>
            </a:xfrm>
            <a:prstGeom prst="rect">
              <a:avLst/>
            </a:prstGeom>
            <a:solidFill>
              <a:srgbClr val="FFFFFF"/>
            </a:solidFill>
            <a:ln>
              <a:solidFill>
                <a:schemeClr val="accent4"/>
              </a:solidFill>
            </a:ln>
          </p:spPr>
          <p:txBody>
            <a:bodyPr wrap="square" lIns="0" tIns="54000" rIns="0" bIns="5400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dirty="0">
                  <a:ln>
                    <a:noFill/>
                  </a:ln>
                  <a:solidFill>
                    <a:srgbClr val="046A38"/>
                  </a:solidFill>
                  <a:effectLst/>
                  <a:uLnTx/>
                  <a:uFillTx/>
                  <a:latin typeface="Calibri"/>
                  <a:ea typeface="+mn-ea"/>
                  <a:cs typeface="Arial" pitchFamily="34" charset="0"/>
                </a:rPr>
                <a:t>302 Mn MVR / 19.6 Mn USD </a:t>
              </a:r>
            </a:p>
          </p:txBody>
        </p:sp>
      </p:grpSp>
      <p:sp>
        <p:nvSpPr>
          <p:cNvPr id="54" name="Rectangle 2">
            <a:extLst>
              <a:ext uri="{FF2B5EF4-FFF2-40B4-BE49-F238E27FC236}">
                <a16:creationId xmlns:a16="http://schemas.microsoft.com/office/drawing/2014/main" id="{92A38C71-E9B4-45F7-A0D3-1AE4CA8142B6}"/>
              </a:ext>
            </a:extLst>
          </p:cNvPr>
          <p:cNvSpPr>
            <a:spLocks noChangeArrowheads="1"/>
          </p:cNvSpPr>
          <p:nvPr/>
        </p:nvSpPr>
        <p:spPr bwMode="auto">
          <a:xfrm>
            <a:off x="501651" y="1408854"/>
            <a:ext cx="8665210" cy="945726"/>
          </a:xfrm>
          <a:prstGeom prst="rect">
            <a:avLst/>
          </a:prstGeom>
          <a:solidFill>
            <a:schemeClr val="bg1"/>
          </a:solidFill>
          <a:ln w="6350" algn="ctr">
            <a:solidFill>
              <a:schemeClr val="accent1"/>
            </a:solidFill>
            <a:miter lim="800000"/>
            <a:headEnd/>
            <a:tailEnd/>
          </a:ln>
        </p:spPr>
        <p:txBody>
          <a:bodyPr lIns="108000" tIns="36000" rIns="36000" bIns="36000" anchor="ctr"/>
          <a:lstStyle/>
          <a:p>
            <a:pPr marL="285750" marR="0" lvl="1" indent="-285750" algn="l" defTabSz="914400" rtl="0" eaLnBrk="1" fontAlgn="auto" latinLnBrk="0" hangingPunct="1">
              <a:lnSpc>
                <a:spcPct val="100000"/>
              </a:lnSpc>
              <a:spcBef>
                <a:spcPts val="0"/>
              </a:spcBef>
              <a:spcAft>
                <a:spcPts val="0"/>
              </a:spcAft>
              <a:buClr>
                <a:srgbClr val="007C92"/>
              </a:buClr>
              <a:buSzPct val="85000"/>
              <a:buFont typeface="Arial" panose="020B0604020202020204" pitchFamily="34" charset="0"/>
              <a:buChar char="•"/>
              <a:tabLst/>
              <a:defRPr/>
            </a:pPr>
            <a:r>
              <a:rPr kumimoji="0" lang="en-US" sz="1400" b="1" i="0" u="none" strike="noStrike" kern="1200" cap="none" spc="0" normalizeH="0" baseline="0" noProof="0" dirty="0">
                <a:ln>
                  <a:noFill/>
                </a:ln>
                <a:solidFill>
                  <a:srgbClr val="00338D"/>
                </a:solidFill>
                <a:effectLst/>
                <a:uLnTx/>
                <a:uFillTx/>
                <a:latin typeface="Calibri"/>
                <a:ea typeface="+mn-ea"/>
                <a:cs typeface="Arial" pitchFamily="34" charset="0"/>
              </a:rPr>
              <a:t>Currently STELCO faces issues in forced outages due to timely availability of spare</a:t>
            </a:r>
          </a:p>
          <a:p>
            <a:pPr marL="285750" marR="0" lvl="1" indent="-285750" algn="l" defTabSz="914400" rtl="0" eaLnBrk="1" fontAlgn="auto" latinLnBrk="0" hangingPunct="1">
              <a:lnSpc>
                <a:spcPct val="100000"/>
              </a:lnSpc>
              <a:spcBef>
                <a:spcPts val="0"/>
              </a:spcBef>
              <a:spcAft>
                <a:spcPts val="0"/>
              </a:spcAft>
              <a:buClr>
                <a:srgbClr val="007C92"/>
              </a:buClr>
              <a:buSzPct val="85000"/>
              <a:buFont typeface="Arial" panose="020B0604020202020204" pitchFamily="34" charset="0"/>
              <a:buChar char="•"/>
              <a:tabLst/>
              <a:defRPr/>
            </a:pPr>
            <a:r>
              <a:rPr kumimoji="0" lang="en-US" sz="1400" b="1" i="0" u="none" strike="noStrike" kern="1200" cap="none" spc="0" normalizeH="0" baseline="0" noProof="0" dirty="0">
                <a:ln>
                  <a:noFill/>
                </a:ln>
                <a:solidFill>
                  <a:srgbClr val="00338D"/>
                </a:solidFill>
                <a:effectLst/>
                <a:uLnTx/>
                <a:uFillTx/>
                <a:latin typeface="Calibri"/>
                <a:ea typeface="+mn-ea"/>
                <a:cs typeface="Arial" pitchFamily="34" charset="0"/>
              </a:rPr>
              <a:t>Further, the delay in maintenance process leads to reduced SHR of the DG sets</a:t>
            </a:r>
          </a:p>
          <a:p>
            <a:pPr marL="285750" marR="0" lvl="1" indent="-285750" algn="l" defTabSz="914400" rtl="0" eaLnBrk="1" fontAlgn="auto" latinLnBrk="0" hangingPunct="1">
              <a:lnSpc>
                <a:spcPct val="100000"/>
              </a:lnSpc>
              <a:spcBef>
                <a:spcPts val="0"/>
              </a:spcBef>
              <a:spcAft>
                <a:spcPts val="0"/>
              </a:spcAft>
              <a:buClr>
                <a:srgbClr val="007C92"/>
              </a:buClr>
              <a:buSzPct val="85000"/>
              <a:buFont typeface="Arial" panose="020B0604020202020204" pitchFamily="34" charset="0"/>
              <a:buChar char="•"/>
              <a:tabLst/>
              <a:defRPr/>
            </a:pPr>
            <a:r>
              <a:rPr kumimoji="0" lang="en-US" sz="1400" b="1" i="0" u="none" strike="noStrike" kern="1200" cap="none" spc="0" normalizeH="0" baseline="0" noProof="0" dirty="0">
                <a:ln>
                  <a:noFill/>
                </a:ln>
                <a:solidFill>
                  <a:srgbClr val="00338D"/>
                </a:solidFill>
                <a:effectLst/>
                <a:uLnTx/>
                <a:uFillTx/>
                <a:latin typeface="Calibri"/>
                <a:ea typeface="+mn-ea"/>
                <a:cs typeface="Arial" pitchFamily="34" charset="0"/>
              </a:rPr>
              <a:t>Considering Peer Benchmarking (Click </a:t>
            </a:r>
            <a:r>
              <a:rPr kumimoji="0" lang="en-US" sz="1400" b="1" i="0" u="none" strike="noStrike" kern="1200" cap="none" spc="0" normalizeH="0" baseline="0" noProof="0" dirty="0">
                <a:ln>
                  <a:noFill/>
                </a:ln>
                <a:solidFill>
                  <a:srgbClr val="00338D"/>
                </a:solidFill>
                <a:effectLst/>
                <a:uLnTx/>
                <a:uFillTx/>
                <a:latin typeface="Calibri"/>
                <a:ea typeface="+mn-ea"/>
                <a:cs typeface="Arial" pitchFamily="34" charset="0"/>
                <a:hlinkClick r:id="rId25" action="ppaction://hlinksldjump"/>
              </a:rPr>
              <a:t>here</a:t>
            </a:r>
            <a:r>
              <a:rPr kumimoji="0" lang="en-US" sz="1400" b="1" i="0" u="none" strike="noStrike" kern="1200" cap="none" spc="0" normalizeH="0" baseline="0" noProof="0" dirty="0">
                <a:ln>
                  <a:noFill/>
                </a:ln>
                <a:solidFill>
                  <a:srgbClr val="00338D"/>
                </a:solidFill>
                <a:effectLst/>
                <a:uLnTx/>
                <a:uFillTx/>
                <a:latin typeface="Calibri"/>
                <a:ea typeface="+mn-ea"/>
                <a:cs typeface="Arial" pitchFamily="34" charset="0"/>
              </a:rPr>
              <a:t> for benchmark results), STELCO may be able to increase  its fuel efficiency</a:t>
            </a:r>
          </a:p>
        </p:txBody>
      </p:sp>
      <p:sp>
        <p:nvSpPr>
          <p:cNvPr id="60" name="Rectangle 10">
            <a:extLst>
              <a:ext uri="{FF2B5EF4-FFF2-40B4-BE49-F238E27FC236}">
                <a16:creationId xmlns:a16="http://schemas.microsoft.com/office/drawing/2014/main" id="{567C519C-35DE-4E98-9655-58DD83D96B71}"/>
              </a:ext>
            </a:extLst>
          </p:cNvPr>
          <p:cNvSpPr>
            <a:spLocks noChangeArrowheads="1"/>
          </p:cNvSpPr>
          <p:nvPr/>
        </p:nvSpPr>
        <p:spPr bwMode="auto">
          <a:xfrm>
            <a:off x="501649" y="2493778"/>
            <a:ext cx="5910581" cy="272292"/>
          </a:xfrm>
          <a:prstGeom prst="rect">
            <a:avLst/>
          </a:prstGeom>
          <a:solidFill>
            <a:schemeClr val="accent5">
              <a:alpha val="57000"/>
            </a:schemeClr>
          </a:solidFill>
          <a:ln w="6350">
            <a:solidFill>
              <a:srgbClr val="409DAD"/>
            </a:solidFill>
          </a:ln>
        </p:spPr>
        <p:txBody>
          <a:bodyPr vert="horz" lIns="0" tIns="0" rIns="0" bIns="0" rtlCol="0" anchor="ctr" anchorCtr="1">
            <a:norm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Calibri"/>
                <a:ea typeface="+mn-ea"/>
                <a:cs typeface="Arial" pitchFamily="34" charset="0"/>
              </a:rPr>
              <a:t>Savings Rationale</a:t>
            </a:r>
          </a:p>
        </p:txBody>
      </p:sp>
      <p:graphicFrame>
        <p:nvGraphicFramePr>
          <p:cNvPr id="21" name="Table 21">
            <a:extLst>
              <a:ext uri="{FF2B5EF4-FFF2-40B4-BE49-F238E27FC236}">
                <a16:creationId xmlns:a16="http://schemas.microsoft.com/office/drawing/2014/main" id="{8599F89E-C7B7-45AC-A256-04465166AF62}"/>
              </a:ext>
            </a:extLst>
          </p:cNvPr>
          <p:cNvGraphicFramePr>
            <a:graphicFrameLocks noGrp="1"/>
          </p:cNvGraphicFramePr>
          <p:nvPr/>
        </p:nvGraphicFramePr>
        <p:xfrm>
          <a:off x="501649" y="2921536"/>
          <a:ext cx="5910581" cy="2072640"/>
        </p:xfrm>
        <a:graphic>
          <a:graphicData uri="http://schemas.openxmlformats.org/drawingml/2006/table">
            <a:tbl>
              <a:tblPr firstRow="1" bandRow="1">
                <a:tableStyleId>{7DF18680-E054-41AD-8BC1-D1AEF772440D}</a:tableStyleId>
              </a:tblPr>
              <a:tblGrid>
                <a:gridCol w="2986618">
                  <a:extLst>
                    <a:ext uri="{9D8B030D-6E8A-4147-A177-3AD203B41FA5}">
                      <a16:colId xmlns:a16="http://schemas.microsoft.com/office/drawing/2014/main" val="22772272"/>
                    </a:ext>
                  </a:extLst>
                </a:gridCol>
                <a:gridCol w="1032933">
                  <a:extLst>
                    <a:ext uri="{9D8B030D-6E8A-4147-A177-3AD203B41FA5}">
                      <a16:colId xmlns:a16="http://schemas.microsoft.com/office/drawing/2014/main" val="1211298518"/>
                    </a:ext>
                  </a:extLst>
                </a:gridCol>
                <a:gridCol w="945515">
                  <a:extLst>
                    <a:ext uri="{9D8B030D-6E8A-4147-A177-3AD203B41FA5}">
                      <a16:colId xmlns:a16="http://schemas.microsoft.com/office/drawing/2014/main" val="3335756289"/>
                    </a:ext>
                  </a:extLst>
                </a:gridCol>
                <a:gridCol w="945515">
                  <a:extLst>
                    <a:ext uri="{9D8B030D-6E8A-4147-A177-3AD203B41FA5}">
                      <a16:colId xmlns:a16="http://schemas.microsoft.com/office/drawing/2014/main" val="2401458410"/>
                    </a:ext>
                  </a:extLst>
                </a:gridCol>
              </a:tblGrid>
              <a:tr h="189826">
                <a:tc rowSpan="2">
                  <a:txBody>
                    <a:bodyPr/>
                    <a:lstStyle/>
                    <a:p>
                      <a:r>
                        <a:rPr lang="en-US" sz="1200" dirty="0"/>
                        <a:t>Performance Improvement in Generation</a:t>
                      </a:r>
                      <a:endParaRPr lang="en-US" sz="1200" dirty="0">
                        <a:latin typeface="+mn-lt"/>
                      </a:endParaRPr>
                    </a:p>
                  </a:txBody>
                  <a:tcPr/>
                </a:tc>
                <a:tc rowSpan="2">
                  <a:txBody>
                    <a:bodyPr/>
                    <a:lstStyle/>
                    <a:p>
                      <a:pPr algn="ctr"/>
                      <a:r>
                        <a:rPr lang="en-US" sz="1200" dirty="0"/>
                        <a:t>Value</a:t>
                      </a:r>
                      <a:endParaRPr lang="en-US" sz="1200" dirty="0">
                        <a:latin typeface="+mn-lt"/>
                      </a:endParaRPr>
                    </a:p>
                  </a:txBody>
                  <a:tcPr/>
                </a:tc>
                <a:tc gridSpan="2">
                  <a:txBody>
                    <a:bodyPr/>
                    <a:lstStyle/>
                    <a:p>
                      <a:pPr algn="ctr"/>
                      <a:r>
                        <a:rPr lang="en-US" sz="1200" dirty="0"/>
                        <a:t>Efficiency Improvement </a:t>
                      </a:r>
                      <a:endParaRPr lang="en-US" sz="1200" dirty="0">
                        <a:latin typeface="+mn-lt"/>
                      </a:endParaRPr>
                    </a:p>
                  </a:txBody>
                  <a:tcPr/>
                </a:tc>
                <a:tc hMerge="1">
                  <a:txBody>
                    <a:bodyPr/>
                    <a:lstStyle/>
                    <a:p>
                      <a:endParaRPr lang="en-US" sz="1100" dirty="0">
                        <a:latin typeface="+mn-lt"/>
                      </a:endParaRPr>
                    </a:p>
                  </a:txBody>
                  <a:tcPr marL="45720" marR="45720"/>
                </a:tc>
                <a:extLst>
                  <a:ext uri="{0D108BD9-81ED-4DB2-BD59-A6C34878D82A}">
                    <a16:rowId xmlns:a16="http://schemas.microsoft.com/office/drawing/2014/main" val="1307465169"/>
                  </a:ext>
                </a:extLst>
              </a:tr>
              <a:tr h="189826">
                <a:tc vMerge="1">
                  <a:txBody>
                    <a:bodyPr/>
                    <a:lstStyle/>
                    <a:p>
                      <a:endParaRPr lang="en-US"/>
                    </a:p>
                  </a:txBody>
                  <a:tcPr/>
                </a:tc>
                <a:tc vMerge="1">
                  <a:txBody>
                    <a:bodyPr/>
                    <a:lstStyle/>
                    <a:p>
                      <a:endParaRPr lang="en-US"/>
                    </a:p>
                  </a:txBody>
                  <a:tcPr/>
                </a:tc>
                <a:tc>
                  <a:txBody>
                    <a:bodyPr/>
                    <a:lstStyle/>
                    <a:p>
                      <a:pPr algn="ctr"/>
                      <a:r>
                        <a:rPr lang="en-US" sz="1200" b="1" dirty="0">
                          <a:solidFill>
                            <a:schemeClr val="bg1"/>
                          </a:solidFill>
                        </a:rPr>
                        <a:t>Low Case</a:t>
                      </a:r>
                      <a:endParaRPr lang="en-US" sz="1200" b="1" dirty="0">
                        <a:solidFill>
                          <a:schemeClr val="bg1"/>
                        </a:solidFill>
                        <a:latin typeface="+mn-lt"/>
                      </a:endParaRPr>
                    </a:p>
                  </a:txBody>
                  <a:tcPr>
                    <a:solidFill>
                      <a:schemeClr val="accent5"/>
                    </a:solidFill>
                  </a:tcPr>
                </a:tc>
                <a:tc>
                  <a:txBody>
                    <a:bodyPr/>
                    <a:lstStyle/>
                    <a:p>
                      <a:pPr algn="ctr"/>
                      <a:r>
                        <a:rPr lang="en-US" sz="1200" b="1" dirty="0">
                          <a:solidFill>
                            <a:schemeClr val="bg1"/>
                          </a:solidFill>
                        </a:rPr>
                        <a:t>High Case</a:t>
                      </a:r>
                      <a:endParaRPr lang="en-US" sz="1200" b="1" dirty="0">
                        <a:solidFill>
                          <a:schemeClr val="bg1"/>
                        </a:solidFill>
                        <a:latin typeface="+mn-lt"/>
                      </a:endParaRPr>
                    </a:p>
                  </a:txBody>
                  <a:tcPr>
                    <a:solidFill>
                      <a:schemeClr val="accent5"/>
                    </a:solidFill>
                  </a:tcPr>
                </a:tc>
                <a:extLst>
                  <a:ext uri="{0D108BD9-81ED-4DB2-BD59-A6C34878D82A}">
                    <a16:rowId xmlns:a16="http://schemas.microsoft.com/office/drawing/2014/main" val="3166931624"/>
                  </a:ext>
                </a:extLst>
              </a:tr>
              <a:tr h="316377">
                <a:tc>
                  <a:txBody>
                    <a:bodyPr/>
                    <a:lstStyle/>
                    <a:p>
                      <a:pPr algn="l" fontAlgn="ctr"/>
                      <a:r>
                        <a:rPr lang="en-US" sz="1000" b="0" i="0" u="none" strike="noStrike" dirty="0">
                          <a:solidFill>
                            <a:srgbClr val="000000"/>
                          </a:solidFill>
                          <a:effectLst/>
                          <a:latin typeface="Verdana" panose="020B0604030504040204" pitchFamily="34" charset="0"/>
                        </a:rPr>
                        <a:t>Increase in Generation from DG sets (Base unit in FY19 – kWh)</a:t>
                      </a:r>
                    </a:p>
                  </a:txBody>
                  <a:tcPr anchor="ctr"/>
                </a:tc>
                <a:tc>
                  <a:txBody>
                    <a:bodyPr/>
                    <a:lstStyle/>
                    <a:p>
                      <a:pPr algn="r" fontAlgn="b"/>
                      <a:r>
                        <a:rPr lang="en-US" sz="1000" b="0" i="0" u="none" strike="noStrike" dirty="0">
                          <a:solidFill>
                            <a:srgbClr val="000000"/>
                          </a:solidFill>
                          <a:effectLst/>
                          <a:latin typeface="Verdana" panose="020B0604030504040204" pitchFamily="34" charset="0"/>
                        </a:rPr>
                        <a:t>507,712,961 </a:t>
                      </a:r>
                    </a:p>
                  </a:txBody>
                  <a:tcPr anchor="ctr"/>
                </a:tc>
                <a:tc>
                  <a:txBody>
                    <a:bodyPr/>
                    <a:lstStyle/>
                    <a:p>
                      <a:pPr algn="ctr" fontAlgn="ctr"/>
                      <a:r>
                        <a:rPr lang="en-US" sz="1000" b="0" i="0" u="none" strike="noStrike" dirty="0">
                          <a:solidFill>
                            <a:srgbClr val="000000"/>
                          </a:solidFill>
                          <a:effectLst/>
                          <a:latin typeface="Verdana" panose="020B0604030504040204" pitchFamily="34" charset="0"/>
                        </a:rPr>
                        <a:t>5.00%</a:t>
                      </a:r>
                    </a:p>
                  </a:txBody>
                  <a:tcPr anchor="ctr"/>
                </a:tc>
                <a:tc>
                  <a:txBody>
                    <a:bodyPr/>
                    <a:lstStyle/>
                    <a:p>
                      <a:pPr algn="ctr" fontAlgn="ctr"/>
                      <a:r>
                        <a:rPr lang="en-US" sz="1000" b="0" i="0" u="none" strike="noStrike" dirty="0">
                          <a:solidFill>
                            <a:srgbClr val="000000"/>
                          </a:solidFill>
                          <a:effectLst/>
                          <a:latin typeface="Verdana" panose="020B0604030504040204" pitchFamily="34" charset="0"/>
                        </a:rPr>
                        <a:t>7.50%</a:t>
                      </a:r>
                    </a:p>
                  </a:txBody>
                  <a:tcPr anchor="ctr"/>
                </a:tc>
                <a:extLst>
                  <a:ext uri="{0D108BD9-81ED-4DB2-BD59-A6C34878D82A}">
                    <a16:rowId xmlns:a16="http://schemas.microsoft.com/office/drawing/2014/main" val="2297181138"/>
                  </a:ext>
                </a:extLst>
              </a:tr>
              <a:tr h="189826">
                <a:tc>
                  <a:txBody>
                    <a:bodyPr/>
                    <a:lstStyle/>
                    <a:p>
                      <a:pPr algn="l" fontAlgn="b"/>
                      <a:r>
                        <a:rPr lang="en-US" sz="1000" b="0" i="0" u="none" strike="noStrike" dirty="0">
                          <a:solidFill>
                            <a:srgbClr val="000000"/>
                          </a:solidFill>
                          <a:effectLst/>
                          <a:latin typeface="Verdana" panose="020B0604030504040204" pitchFamily="34" charset="0"/>
                        </a:rPr>
                        <a:t>Gross Profit per unit of electricity sales</a:t>
                      </a:r>
                    </a:p>
                  </a:txBody>
                  <a:tcPr anchor="ctr"/>
                </a:tc>
                <a:tc>
                  <a:txBody>
                    <a:bodyPr/>
                    <a:lstStyle/>
                    <a:p>
                      <a:pPr algn="r" fontAlgn="b"/>
                      <a:r>
                        <a:rPr lang="en-US" sz="1000" b="0" i="0" u="none" strike="noStrike" dirty="0">
                          <a:solidFill>
                            <a:srgbClr val="000000"/>
                          </a:solidFill>
                          <a:effectLst/>
                          <a:latin typeface="Verdana" panose="020B0604030504040204" pitchFamily="34" charset="0"/>
                        </a:rPr>
                        <a:t>0.31 </a:t>
                      </a:r>
                    </a:p>
                  </a:txBody>
                  <a:tcPr anchor="ct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tc>
                <a:extLst>
                  <a:ext uri="{0D108BD9-81ED-4DB2-BD59-A6C34878D82A}">
                    <a16:rowId xmlns:a16="http://schemas.microsoft.com/office/drawing/2014/main" val="1509177413"/>
                  </a:ext>
                </a:extLst>
              </a:tr>
              <a:tr h="189826">
                <a:tc>
                  <a:txBody>
                    <a:bodyPr/>
                    <a:lstStyle/>
                    <a:p>
                      <a:pPr algn="l" fontAlgn="b"/>
                      <a:r>
                        <a:rPr lang="en-US" sz="1000" b="0" i="0" u="none" strike="noStrike" dirty="0">
                          <a:solidFill>
                            <a:srgbClr val="000000"/>
                          </a:solidFill>
                          <a:effectLst/>
                          <a:latin typeface="Verdana" panose="020B0604030504040204" pitchFamily="34" charset="0"/>
                        </a:rPr>
                        <a:t>Diesel Consumption in Liters in FY19</a:t>
                      </a:r>
                    </a:p>
                  </a:txBody>
                  <a:tcPr anchor="ctr"/>
                </a:tc>
                <a:tc>
                  <a:txBody>
                    <a:bodyPr/>
                    <a:lstStyle/>
                    <a:p>
                      <a:pPr algn="r" fontAlgn="b"/>
                      <a:r>
                        <a:rPr lang="en-US" sz="1000" b="0" i="0" u="none" strike="noStrike" dirty="0">
                          <a:solidFill>
                            <a:srgbClr val="000000"/>
                          </a:solidFill>
                          <a:effectLst/>
                          <a:latin typeface="Verdana" panose="020B0604030504040204" pitchFamily="34" charset="0"/>
                        </a:rPr>
                        <a:t>130,596,386 </a:t>
                      </a:r>
                    </a:p>
                  </a:txBody>
                  <a:tcPr anchor="ct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tc>
                <a:extLst>
                  <a:ext uri="{0D108BD9-81ED-4DB2-BD59-A6C34878D82A}">
                    <a16:rowId xmlns:a16="http://schemas.microsoft.com/office/drawing/2014/main" val="118739862"/>
                  </a:ext>
                </a:extLst>
              </a:tr>
              <a:tr h="189826">
                <a:tc>
                  <a:txBody>
                    <a:bodyPr/>
                    <a:lstStyle/>
                    <a:p>
                      <a:pPr algn="l" fontAlgn="b"/>
                      <a:r>
                        <a:rPr lang="en-US" sz="1000" b="0" i="0" u="none" strike="noStrike" dirty="0">
                          <a:solidFill>
                            <a:srgbClr val="000000"/>
                          </a:solidFill>
                          <a:effectLst/>
                          <a:latin typeface="Verdana" panose="020B0604030504040204" pitchFamily="34" charset="0"/>
                        </a:rPr>
                        <a:t>Reduction in Diesel Consumption in Liters (Base unit in FY19) – Improved SHR</a:t>
                      </a:r>
                    </a:p>
                  </a:txBody>
                  <a:tcPr anchor="ctr"/>
                </a:tc>
                <a:tc>
                  <a:txBody>
                    <a:bodyPr/>
                    <a:lstStyle/>
                    <a:p>
                      <a:pPr algn="r" fontAlgn="b"/>
                      <a:r>
                        <a:rPr lang="en-US" sz="1000" b="0" i="0" u="none" strike="noStrike" dirty="0">
                          <a:solidFill>
                            <a:srgbClr val="000000"/>
                          </a:solidFill>
                          <a:effectLst/>
                          <a:latin typeface="Verdana" panose="020B0604030504040204" pitchFamily="34" charset="0"/>
                        </a:rPr>
                        <a:t>0.257 </a:t>
                      </a:r>
                    </a:p>
                  </a:txBody>
                  <a:tcPr anchor="ctr"/>
                </a:tc>
                <a:tc>
                  <a:txBody>
                    <a:bodyPr/>
                    <a:lstStyle/>
                    <a:p>
                      <a:pPr algn="ctr" fontAlgn="ctr"/>
                      <a:r>
                        <a:rPr lang="en-US" sz="1000" b="0" i="0" u="none" strike="noStrike" dirty="0">
                          <a:solidFill>
                            <a:srgbClr val="000000"/>
                          </a:solidFill>
                          <a:effectLst/>
                          <a:latin typeface="Verdana" panose="020B0604030504040204" pitchFamily="34" charset="0"/>
                        </a:rPr>
                        <a:t>2.0%</a:t>
                      </a:r>
                    </a:p>
                  </a:txBody>
                  <a:tcPr marL="7620" marR="7620" marT="7620" marB="0" anchor="ctr"/>
                </a:tc>
                <a:tc>
                  <a:txBody>
                    <a:bodyPr/>
                    <a:lstStyle/>
                    <a:p>
                      <a:pPr algn="ctr" fontAlgn="ctr"/>
                      <a:r>
                        <a:rPr lang="en-US" sz="1000" b="0" i="0" u="none" strike="noStrike" dirty="0">
                          <a:solidFill>
                            <a:srgbClr val="000000"/>
                          </a:solidFill>
                          <a:effectLst/>
                          <a:latin typeface="Verdana" panose="020B0604030504040204" pitchFamily="34" charset="0"/>
                        </a:rPr>
                        <a:t>2.50%</a:t>
                      </a:r>
                    </a:p>
                  </a:txBody>
                  <a:tcPr marL="7620" marR="7620" marT="7620" marB="0" anchor="ctr"/>
                </a:tc>
                <a:extLst>
                  <a:ext uri="{0D108BD9-81ED-4DB2-BD59-A6C34878D82A}">
                    <a16:rowId xmlns:a16="http://schemas.microsoft.com/office/drawing/2014/main" val="390320805"/>
                  </a:ext>
                </a:extLst>
              </a:tr>
              <a:tr h="189826">
                <a:tc>
                  <a:txBody>
                    <a:bodyPr/>
                    <a:lstStyle/>
                    <a:p>
                      <a:pPr algn="l" fontAlgn="ctr"/>
                      <a:r>
                        <a:rPr lang="en-US" sz="1000" b="0" i="0" u="none" strike="noStrike" dirty="0">
                          <a:solidFill>
                            <a:srgbClr val="000000"/>
                          </a:solidFill>
                          <a:effectLst/>
                          <a:latin typeface="Verdana" panose="020B0604030504040204" pitchFamily="34" charset="0"/>
                        </a:rPr>
                        <a:t>Diesel Cost (MVR / Liter) in FY19</a:t>
                      </a:r>
                    </a:p>
                  </a:txBody>
                  <a:tcPr anchor="ctr"/>
                </a:tc>
                <a:tc>
                  <a:txBody>
                    <a:bodyPr/>
                    <a:lstStyle/>
                    <a:p>
                      <a:pPr algn="r" fontAlgn="b"/>
                      <a:r>
                        <a:rPr lang="en-US" sz="1000" b="0" i="0" u="none" strike="noStrike" dirty="0">
                          <a:solidFill>
                            <a:srgbClr val="000000"/>
                          </a:solidFill>
                          <a:effectLst/>
                          <a:latin typeface="Verdana" panose="020B0604030504040204" pitchFamily="34" charset="0"/>
                        </a:rPr>
                        <a:t>8.45 </a:t>
                      </a:r>
                    </a:p>
                  </a:txBody>
                  <a:tcPr anchor="ct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tc>
                <a:extLst>
                  <a:ext uri="{0D108BD9-81ED-4DB2-BD59-A6C34878D82A}">
                    <a16:rowId xmlns:a16="http://schemas.microsoft.com/office/drawing/2014/main" val="3535997078"/>
                  </a:ext>
                </a:extLst>
              </a:tr>
            </a:tbl>
          </a:graphicData>
        </a:graphic>
      </p:graphicFrame>
      <p:sp>
        <p:nvSpPr>
          <p:cNvPr id="62" name="Rectangle 61">
            <a:extLst>
              <a:ext uri="{FF2B5EF4-FFF2-40B4-BE49-F238E27FC236}">
                <a16:creationId xmlns:a16="http://schemas.microsoft.com/office/drawing/2014/main" id="{6E4D92A2-2F95-4398-8F72-95C05BBF19AD}"/>
              </a:ext>
            </a:extLst>
          </p:cNvPr>
          <p:cNvSpPr/>
          <p:nvPr/>
        </p:nvSpPr>
        <p:spPr>
          <a:xfrm>
            <a:off x="498158" y="5093664"/>
            <a:ext cx="5910581" cy="1394228"/>
          </a:xfrm>
          <a:prstGeom prst="rect">
            <a:avLst/>
          </a:prstGeom>
        </p:spPr>
        <p:txBody>
          <a:bodyPr wrap="square">
            <a:spAutoFit/>
          </a:bodyPr>
          <a:lstStyle/>
          <a:p>
            <a:pPr marL="0" marR="0" lvl="1" indent="1588" algn="just" defTabSz="914400" rtl="0" eaLnBrk="1" fontAlgn="auto" latinLnBrk="0" hangingPunct="1">
              <a:lnSpc>
                <a:spcPct val="100000"/>
              </a:lnSpc>
              <a:spcBef>
                <a:spcPct val="3500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a:ea typeface="+mn-ea"/>
                <a:cs typeface="Arial" pitchFamily="34" charset="0"/>
              </a:rPr>
              <a:t>The savings rationale has been computed basis:</a:t>
            </a:r>
          </a:p>
          <a:p>
            <a:pPr marL="171450" marR="0" lvl="1" indent="-171450" algn="just" defTabSz="914400" rtl="0" eaLnBrk="1" fontAlgn="auto" latinLnBrk="0" hangingPunct="1">
              <a:lnSpc>
                <a:spcPct val="100000"/>
              </a:lnSpc>
              <a:spcBef>
                <a:spcPct val="350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a:ea typeface="+mn-ea"/>
                <a:cs typeface="Arial" pitchFamily="34" charset="0"/>
              </a:rPr>
              <a:t>Timely Maintenance Scheduling and ensuring spare availability will lead to lower outage hours which in turn will lead to higher billing for STELCO</a:t>
            </a:r>
          </a:p>
          <a:p>
            <a:pPr marL="171450" marR="0" lvl="1" indent="-171450" algn="just" defTabSz="914400" rtl="0" eaLnBrk="1" fontAlgn="auto" latinLnBrk="0" hangingPunct="1">
              <a:lnSpc>
                <a:spcPct val="100000"/>
              </a:lnSpc>
              <a:spcBef>
                <a:spcPct val="350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a:ea typeface="+mn-ea"/>
                <a:cs typeface="Arial" pitchFamily="34" charset="0"/>
              </a:rPr>
              <a:t>Further, SHR efficiency is also expected to increase due to timely servicing of machines.</a:t>
            </a:r>
          </a:p>
          <a:p>
            <a:pPr marL="171450" marR="0" lvl="1" indent="-171450" algn="just" defTabSz="914400" rtl="0" eaLnBrk="1" fontAlgn="auto" latinLnBrk="0" hangingPunct="1">
              <a:lnSpc>
                <a:spcPct val="100000"/>
              </a:lnSpc>
              <a:spcBef>
                <a:spcPct val="350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a:ea typeface="+mn-ea"/>
                <a:cs typeface="Arial" pitchFamily="34" charset="0"/>
              </a:rPr>
              <a:t>The savings have been estimated to be obtained over a 10 year horizon with 100% savings being achieved annually from Year 3 onwards</a:t>
            </a:r>
          </a:p>
        </p:txBody>
      </p:sp>
      <p:sp>
        <p:nvSpPr>
          <p:cNvPr id="64" name="Rectangle 10">
            <a:extLst>
              <a:ext uri="{FF2B5EF4-FFF2-40B4-BE49-F238E27FC236}">
                <a16:creationId xmlns:a16="http://schemas.microsoft.com/office/drawing/2014/main" id="{4CBAF1E2-7639-4710-9173-5D64928C671C}"/>
              </a:ext>
            </a:extLst>
          </p:cNvPr>
          <p:cNvSpPr>
            <a:spLocks noChangeArrowheads="1"/>
          </p:cNvSpPr>
          <p:nvPr/>
        </p:nvSpPr>
        <p:spPr bwMode="auto">
          <a:xfrm>
            <a:off x="6529069" y="2493778"/>
            <a:ext cx="5161281" cy="272292"/>
          </a:xfrm>
          <a:prstGeom prst="rect">
            <a:avLst/>
          </a:prstGeom>
          <a:solidFill>
            <a:schemeClr val="accent2">
              <a:alpha val="53000"/>
            </a:schemeClr>
          </a:solidFill>
          <a:ln w="6350">
            <a:solidFill>
              <a:srgbClr val="409DAD"/>
            </a:solidFill>
          </a:ln>
        </p:spPr>
        <p:txBody>
          <a:bodyPr vert="horz" lIns="0" tIns="0" rIns="0" bIns="0" rtlCol="0" anchor="ctr" anchorCtr="1">
            <a:norm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Calibri"/>
                <a:ea typeface="+mn-ea"/>
                <a:cs typeface="Arial" pitchFamily="34" charset="0"/>
              </a:rPr>
              <a:t>Savings Potential</a:t>
            </a:r>
          </a:p>
        </p:txBody>
      </p:sp>
      <p:graphicFrame>
        <p:nvGraphicFramePr>
          <p:cNvPr id="78" name="Chart 77">
            <a:extLst>
              <a:ext uri="{FF2B5EF4-FFF2-40B4-BE49-F238E27FC236}">
                <a16:creationId xmlns:a16="http://schemas.microsoft.com/office/drawing/2014/main" id="{498F5E0B-14FB-4670-938F-C7B8E86723FF}"/>
              </a:ext>
            </a:extLst>
          </p:cNvPr>
          <p:cNvGraphicFramePr/>
          <p:nvPr>
            <p:custDataLst>
              <p:tags r:id="rId2"/>
            </p:custDataLst>
          </p:nvPr>
        </p:nvGraphicFramePr>
        <p:xfrm>
          <a:off x="6446838" y="4227513"/>
          <a:ext cx="3444875" cy="1528762"/>
        </p:xfrm>
        <a:graphic>
          <a:graphicData uri="http://schemas.openxmlformats.org/drawingml/2006/chart">
            <c:chart xmlns:c="http://schemas.openxmlformats.org/drawingml/2006/chart" xmlns:r="http://schemas.openxmlformats.org/officeDocument/2006/relationships" r:id="rId26"/>
          </a:graphicData>
        </a:graphic>
      </p:graphicFrame>
      <p:sp>
        <p:nvSpPr>
          <p:cNvPr id="43" name="Text Placeholder 18">
            <a:extLst>
              <a:ext uri="{FF2B5EF4-FFF2-40B4-BE49-F238E27FC236}">
                <a16:creationId xmlns:a16="http://schemas.microsoft.com/office/drawing/2014/main" id="{D4FE7F64-8DE0-4960-A7ED-A06187122BA9}"/>
              </a:ext>
            </a:extLst>
          </p:cNvPr>
          <p:cNvSpPr>
            <a:spLocks noGrp="1"/>
          </p:cNvSpPr>
          <p:nvPr>
            <p:custDataLst>
              <p:tags r:id="rId3"/>
            </p:custDataLst>
          </p:nvPr>
        </p:nvSpPr>
        <p:spPr bwMode="gray">
          <a:xfrm>
            <a:off x="9139238" y="4394200"/>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7DF1FEEB-FCD2-4E7C-B628-8A2AD53F2BDE}" type="datetime'''''''''''''8''''''''''''''''''''.6'''''''''''''''''''''''''">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8.6</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41" name="Text Placeholder 18">
            <a:extLst>
              <a:ext uri="{FF2B5EF4-FFF2-40B4-BE49-F238E27FC236}">
                <a16:creationId xmlns:a16="http://schemas.microsoft.com/office/drawing/2014/main" id="{EF4E9B9C-765F-4626-BA92-789496F8C38E}"/>
              </a:ext>
            </a:extLst>
          </p:cNvPr>
          <p:cNvSpPr>
            <a:spLocks noGrp="1"/>
          </p:cNvSpPr>
          <p:nvPr>
            <p:custDataLst>
              <p:tags r:id="rId4"/>
            </p:custDataLst>
          </p:nvPr>
        </p:nvSpPr>
        <p:spPr bwMode="gray">
          <a:xfrm>
            <a:off x="8047038" y="4751388"/>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DA181965-C92D-4B9D-BA30-2D91A1D22CB0}" type="datetime'''''''''''''''''''''''''''''6.''''''''''''0'''''''''''''''''">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6.0</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39" name="Text Placeholder 18">
            <a:extLst>
              <a:ext uri="{FF2B5EF4-FFF2-40B4-BE49-F238E27FC236}">
                <a16:creationId xmlns:a16="http://schemas.microsoft.com/office/drawing/2014/main" id="{3D8E3CF1-D250-4B00-A145-4E145645308C}"/>
              </a:ext>
            </a:extLst>
          </p:cNvPr>
          <p:cNvSpPr>
            <a:spLocks noGrp="1"/>
          </p:cNvSpPr>
          <p:nvPr>
            <p:custDataLst>
              <p:tags r:id="rId5"/>
            </p:custDataLst>
          </p:nvPr>
        </p:nvSpPr>
        <p:spPr bwMode="gray">
          <a:xfrm>
            <a:off x="6953250" y="5165725"/>
            <a:ext cx="244475" cy="182563"/>
          </a:xfrm>
          <a:prstGeom prst="rect">
            <a:avLst/>
          </a:prstGeom>
          <a:solidFill>
            <a:srgbClr val="86BC25"/>
          </a:solidFill>
          <a:ln>
            <a:noFill/>
          </a:ln>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B037AB56-CA94-43DE-A530-1D785128A799}" type="datetime'''3''''''''.''''''''''''''''''''''''0'''''''''''''''''''''''''">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3.0</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55" name="Text Placeholder 18">
            <a:extLst>
              <a:ext uri="{FF2B5EF4-FFF2-40B4-BE49-F238E27FC236}">
                <a16:creationId xmlns:a16="http://schemas.microsoft.com/office/drawing/2014/main" id="{428A6529-6F6A-4A30-976A-E2958CD7E946}"/>
              </a:ext>
            </a:extLst>
          </p:cNvPr>
          <p:cNvSpPr>
            <a:spLocks noGrp="1"/>
          </p:cNvSpPr>
          <p:nvPr>
            <p:custDataLst>
              <p:tags r:id="rId6"/>
            </p:custDataLst>
          </p:nvPr>
        </p:nvSpPr>
        <p:spPr bwMode="gray">
          <a:xfrm>
            <a:off x="9101138" y="4102100"/>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D42F73A1-88F6-42CC-A09B-0E4289833FDA}" type="datetime'3''''''''''3''''''''''''.''4'''''''''''''''''''''''''''">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33.4</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58" name="Text Placeholder 18">
            <a:extLst>
              <a:ext uri="{FF2B5EF4-FFF2-40B4-BE49-F238E27FC236}">
                <a16:creationId xmlns:a16="http://schemas.microsoft.com/office/drawing/2014/main" id="{2BA30073-B185-42D7-92A3-F5A356B1F249}"/>
              </a:ext>
            </a:extLst>
          </p:cNvPr>
          <p:cNvSpPr>
            <a:spLocks noGrp="1"/>
          </p:cNvSpPr>
          <p:nvPr>
            <p:custDataLst>
              <p:tags r:id="rId7"/>
            </p:custDataLst>
          </p:nvPr>
        </p:nvSpPr>
        <p:spPr bwMode="auto">
          <a:xfrm>
            <a:off x="6992938" y="5775325"/>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C7F1476C-E6C8-4ADD-830F-28CD7EFB2939}" type="datetime'Y1'''''''''''''''''''''''''''''''''''''''''''''''''''''''''''">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40" name="Text Placeholder 18">
            <a:extLst>
              <a:ext uri="{FF2B5EF4-FFF2-40B4-BE49-F238E27FC236}">
                <a16:creationId xmlns:a16="http://schemas.microsoft.com/office/drawing/2014/main" id="{D11A5437-42FF-40A4-9FCD-E1F6CA0F4F1F}"/>
              </a:ext>
            </a:extLst>
          </p:cNvPr>
          <p:cNvSpPr>
            <a:spLocks noGrp="1"/>
          </p:cNvSpPr>
          <p:nvPr>
            <p:custDataLst>
              <p:tags r:id="rId8"/>
            </p:custDataLst>
          </p:nvPr>
        </p:nvSpPr>
        <p:spPr bwMode="gray">
          <a:xfrm>
            <a:off x="6953250" y="5405438"/>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DA3BDCE3-B81E-4D47-BEE2-E31531DB75B8}" type="datetime'''''''''8''''''''''''''''''''''''''.''''7'''''''''''''''''''''">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8.7</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44" name="Text Placeholder 18">
            <a:extLst>
              <a:ext uri="{FF2B5EF4-FFF2-40B4-BE49-F238E27FC236}">
                <a16:creationId xmlns:a16="http://schemas.microsoft.com/office/drawing/2014/main" id="{D00D69C1-EC31-4914-A7DA-DB01C1445B47}"/>
              </a:ext>
            </a:extLst>
          </p:cNvPr>
          <p:cNvSpPr>
            <a:spLocks noGrp="1"/>
          </p:cNvSpPr>
          <p:nvPr>
            <p:custDataLst>
              <p:tags r:id="rId9"/>
            </p:custDataLst>
          </p:nvPr>
        </p:nvSpPr>
        <p:spPr bwMode="gray">
          <a:xfrm>
            <a:off x="9101138" y="5075238"/>
            <a:ext cx="322263" cy="182563"/>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C93044A6-A679-4C95-868D-D1EBC24A328C}" type="datetime'''''''''''''''''''''''24''''''''''''''.''''8'''''''''''''">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24.8</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42" name="Text Placeholder 18">
            <a:extLst>
              <a:ext uri="{FF2B5EF4-FFF2-40B4-BE49-F238E27FC236}">
                <a16:creationId xmlns:a16="http://schemas.microsoft.com/office/drawing/2014/main" id="{2135D5FA-7D04-412C-9EC5-54F7DCEA0417}"/>
              </a:ext>
            </a:extLst>
          </p:cNvPr>
          <p:cNvSpPr>
            <a:spLocks noGrp="1"/>
          </p:cNvSpPr>
          <p:nvPr>
            <p:custDataLst>
              <p:tags r:id="rId10"/>
            </p:custDataLst>
          </p:nvPr>
        </p:nvSpPr>
        <p:spPr bwMode="gray">
          <a:xfrm>
            <a:off x="8008938" y="5227638"/>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87CF0093-5977-476B-9BEB-C4C4428DB125}" type="datetime'''''''''''''''''''''1''''7''''''.''''''''4'''''''''''''">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17.4</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61" name="Text Placeholder 18">
            <a:extLst>
              <a:ext uri="{FF2B5EF4-FFF2-40B4-BE49-F238E27FC236}">
                <a16:creationId xmlns:a16="http://schemas.microsoft.com/office/drawing/2014/main" id="{6051CA32-7177-4705-BDC3-C0957126F736}"/>
              </a:ext>
            </a:extLst>
          </p:cNvPr>
          <p:cNvSpPr>
            <a:spLocks noGrp="1"/>
          </p:cNvSpPr>
          <p:nvPr>
            <p:custDataLst>
              <p:tags r:id="rId11"/>
            </p:custDataLst>
          </p:nvPr>
        </p:nvSpPr>
        <p:spPr bwMode="auto">
          <a:xfrm>
            <a:off x="8086725" y="5775325"/>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DC335FDC-C718-43D3-814A-705F3F6DE6D4}" type="datetime'''''Y''''''''''''''''2'''''''''''''''''''''''''''">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Y2</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51" name="Text Placeholder 18">
            <a:extLst>
              <a:ext uri="{FF2B5EF4-FFF2-40B4-BE49-F238E27FC236}">
                <a16:creationId xmlns:a16="http://schemas.microsoft.com/office/drawing/2014/main" id="{8742BAC0-6133-4A30-84F8-24AD96EFA067}"/>
              </a:ext>
            </a:extLst>
          </p:cNvPr>
          <p:cNvSpPr>
            <a:spLocks noGrp="1"/>
          </p:cNvSpPr>
          <p:nvPr>
            <p:custDataLst>
              <p:tags r:id="rId12"/>
            </p:custDataLst>
          </p:nvPr>
        </p:nvSpPr>
        <p:spPr bwMode="auto">
          <a:xfrm>
            <a:off x="8947150" y="5775325"/>
            <a:ext cx="63023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24DD5585-FED9-4DF9-8F54-8AC14A4C4A18}" type="datetime'''Y3-10'''''''''''' ''p.a''''''.'''''''">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Y3-10 p.a.</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67" name="Text Placeholder 18">
            <a:extLst>
              <a:ext uri="{FF2B5EF4-FFF2-40B4-BE49-F238E27FC236}">
                <a16:creationId xmlns:a16="http://schemas.microsoft.com/office/drawing/2014/main" id="{D2ABE17E-1472-44F7-A17A-EA14D08BC6BC}"/>
              </a:ext>
            </a:extLst>
          </p:cNvPr>
          <p:cNvSpPr>
            <a:spLocks noGrp="1"/>
          </p:cNvSpPr>
          <p:nvPr>
            <p:custDataLst>
              <p:tags r:id="rId13"/>
            </p:custDataLst>
          </p:nvPr>
        </p:nvSpPr>
        <p:spPr bwMode="gray">
          <a:xfrm>
            <a:off x="6915150" y="4983163"/>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F6BA72D8-BB18-4DEB-AF22-35E97D56CE9A}" type="datetime'''''''''''''''''''''''''''11''''.''7'''''">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11.7</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65" name="Text Placeholder 18">
            <a:extLst>
              <a:ext uri="{FF2B5EF4-FFF2-40B4-BE49-F238E27FC236}">
                <a16:creationId xmlns:a16="http://schemas.microsoft.com/office/drawing/2014/main" id="{F13E4ABF-2F68-45EC-9BBB-F3A640F2CCD4}"/>
              </a:ext>
            </a:extLst>
          </p:cNvPr>
          <p:cNvSpPr>
            <a:spLocks noGrp="1"/>
          </p:cNvSpPr>
          <p:nvPr>
            <p:custDataLst>
              <p:tags r:id="rId14"/>
            </p:custDataLst>
          </p:nvPr>
        </p:nvSpPr>
        <p:spPr bwMode="gray">
          <a:xfrm>
            <a:off x="8008938" y="4511675"/>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C26BBC86-937D-4566-B5C4-42C6597D8FA0}" type="datetime'''''''''''''''''2''3.4'''''''">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23.4</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69" name="Rectangle 68">
            <a:extLst>
              <a:ext uri="{FF2B5EF4-FFF2-40B4-BE49-F238E27FC236}">
                <a16:creationId xmlns:a16="http://schemas.microsoft.com/office/drawing/2014/main" id="{1D9AE628-A9BA-4B3E-ADF8-9B6CED805B0A}"/>
              </a:ext>
            </a:extLst>
          </p:cNvPr>
          <p:cNvSpPr/>
          <p:nvPr>
            <p:custDataLst>
              <p:tags r:id="rId15"/>
            </p:custDataLst>
          </p:nvPr>
        </p:nvSpPr>
        <p:spPr bwMode="auto">
          <a:xfrm>
            <a:off x="6472238" y="6016625"/>
            <a:ext cx="214313" cy="160338"/>
          </a:xfrm>
          <a:prstGeom prst="rect">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1C6AD5DB-8AEA-40FD-BFE7-237F166D46D9}"/>
              </a:ext>
            </a:extLst>
          </p:cNvPr>
          <p:cNvSpPr/>
          <p:nvPr>
            <p:custDataLst>
              <p:tags r:id="rId16"/>
            </p:custDataLst>
          </p:nvPr>
        </p:nvSpPr>
        <p:spPr bwMode="auto">
          <a:xfrm>
            <a:off x="6472238" y="6249988"/>
            <a:ext cx="214313" cy="160338"/>
          </a:xfrm>
          <a:prstGeom prst="rect">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0" name="Text Placeholder 18">
            <a:extLst>
              <a:ext uri="{FF2B5EF4-FFF2-40B4-BE49-F238E27FC236}">
                <a16:creationId xmlns:a16="http://schemas.microsoft.com/office/drawing/2014/main" id="{75927D8B-2867-4899-B14A-5CA647378B97}"/>
              </a:ext>
            </a:extLst>
          </p:cNvPr>
          <p:cNvSpPr>
            <a:spLocks noGrp="1"/>
          </p:cNvSpPr>
          <p:nvPr>
            <p:custDataLst>
              <p:tags r:id="rId17"/>
            </p:custDataLst>
          </p:nvPr>
        </p:nvSpPr>
        <p:spPr bwMode="auto">
          <a:xfrm>
            <a:off x="6737350" y="6011863"/>
            <a:ext cx="326548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5C28CA0A-90AF-4A8B-95A1-94E7EF1807BC}" type="datetime'Estimated Increase i''n Prof''it due to higher gen''era''tion'">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Estimated Increase in Profit due to higher generation</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38" name="Text Placeholder 18">
            <a:extLst>
              <a:ext uri="{FF2B5EF4-FFF2-40B4-BE49-F238E27FC236}">
                <a16:creationId xmlns:a16="http://schemas.microsoft.com/office/drawing/2014/main" id="{66C8E3A7-780B-4572-8FED-14865EA6B12C}"/>
              </a:ext>
            </a:extLst>
          </p:cNvPr>
          <p:cNvSpPr>
            <a:spLocks noGrp="1"/>
          </p:cNvSpPr>
          <p:nvPr>
            <p:custDataLst>
              <p:tags r:id="rId18"/>
            </p:custDataLst>
          </p:nvPr>
        </p:nvSpPr>
        <p:spPr bwMode="auto">
          <a:xfrm>
            <a:off x="6737350" y="6245225"/>
            <a:ext cx="307022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635CB65C-34E5-4A91-9E03-E218FE35B31E}" type="datetime'E''stim''ated Sa''vings f''rom lower d''ie''sel consumption'">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Estimated Savings from lower diesel consumption</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graphicFrame>
        <p:nvGraphicFramePr>
          <p:cNvPr id="79" name="Chart 78">
            <a:extLst>
              <a:ext uri="{FF2B5EF4-FFF2-40B4-BE49-F238E27FC236}">
                <a16:creationId xmlns:a16="http://schemas.microsoft.com/office/drawing/2014/main" id="{4638F774-F745-475E-951D-5F2666C5E494}"/>
              </a:ext>
            </a:extLst>
          </p:cNvPr>
          <p:cNvGraphicFramePr/>
          <p:nvPr>
            <p:custDataLst>
              <p:tags r:id="rId19"/>
            </p:custDataLst>
          </p:nvPr>
        </p:nvGraphicFramePr>
        <p:xfrm>
          <a:off x="10420350" y="4022725"/>
          <a:ext cx="1352550" cy="1733550"/>
        </p:xfrm>
        <a:graphic>
          <a:graphicData uri="http://schemas.openxmlformats.org/drawingml/2006/chart">
            <c:chart xmlns:c="http://schemas.openxmlformats.org/drawingml/2006/chart" xmlns:r="http://schemas.openxmlformats.org/officeDocument/2006/relationships" r:id="rId27"/>
          </a:graphicData>
        </a:graphic>
      </p:graphicFrame>
      <p:sp>
        <p:nvSpPr>
          <p:cNvPr id="73" name="Text Placeholder 18">
            <a:extLst>
              <a:ext uri="{FF2B5EF4-FFF2-40B4-BE49-F238E27FC236}">
                <a16:creationId xmlns:a16="http://schemas.microsoft.com/office/drawing/2014/main" id="{0384D425-D568-43A6-A15D-0A9F5E3A91BC}"/>
              </a:ext>
            </a:extLst>
          </p:cNvPr>
          <p:cNvSpPr>
            <a:spLocks noGrp="1"/>
          </p:cNvSpPr>
          <p:nvPr>
            <p:custDataLst>
              <p:tags r:id="rId20"/>
            </p:custDataLst>
          </p:nvPr>
        </p:nvSpPr>
        <p:spPr bwMode="gray">
          <a:xfrm>
            <a:off x="10856913" y="3897313"/>
            <a:ext cx="48101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227832FD-5D3B-4DE8-A596-C247F880E241}" type="datetime'3''''''''0''''''''''''2.''''1''''''''''''''''''6'''''''''">
              <a:rPr kumimoji="0" lang="en-US" altLang="en-US" sz="1200" b="1"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302.16</a:t>
            </a:fld>
            <a:endParaRPr kumimoji="0" lang="en-US" sz="1200" b="1"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72" name="Text Placeholder 18">
            <a:extLst>
              <a:ext uri="{FF2B5EF4-FFF2-40B4-BE49-F238E27FC236}">
                <a16:creationId xmlns:a16="http://schemas.microsoft.com/office/drawing/2014/main" id="{3A341ED5-D94F-4C79-BE66-336073DE94B1}"/>
              </a:ext>
            </a:extLst>
          </p:cNvPr>
          <p:cNvSpPr>
            <a:spLocks noGrp="1"/>
          </p:cNvSpPr>
          <p:nvPr>
            <p:custDataLst>
              <p:tags r:id="rId21"/>
            </p:custDataLst>
          </p:nvPr>
        </p:nvSpPr>
        <p:spPr bwMode="auto">
          <a:xfrm>
            <a:off x="10914063" y="5775325"/>
            <a:ext cx="36671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DC3BEEA0-25AD-4C0E-91E9-C3311C344626}" type="datetime'''''Y''1''''''''-''''''''''''''''1''''''''''''''''0'''''">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Y1-10</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74" name="Isosceles Triangle 73">
            <a:extLst>
              <a:ext uri="{FF2B5EF4-FFF2-40B4-BE49-F238E27FC236}">
                <a16:creationId xmlns:a16="http://schemas.microsoft.com/office/drawing/2014/main" id="{11F19C46-BA3B-484B-A01E-2129810903B5}"/>
              </a:ext>
            </a:extLst>
          </p:cNvPr>
          <p:cNvSpPr/>
          <p:nvPr/>
        </p:nvSpPr>
        <p:spPr bwMode="gray">
          <a:xfrm rot="5400000">
            <a:off x="9478963" y="4837113"/>
            <a:ext cx="1669706" cy="207963"/>
          </a:xfrm>
          <a:prstGeom prst="triangl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37" name="TextBox 36">
            <a:extLst>
              <a:ext uri="{FF2B5EF4-FFF2-40B4-BE49-F238E27FC236}">
                <a16:creationId xmlns:a16="http://schemas.microsoft.com/office/drawing/2014/main" id="{CC874508-CF42-4E8F-ACB0-6EFAE51565BF}"/>
              </a:ext>
            </a:extLst>
          </p:cNvPr>
          <p:cNvSpPr txBox="1"/>
          <p:nvPr/>
        </p:nvSpPr>
        <p:spPr>
          <a:xfrm>
            <a:off x="501648" y="6622327"/>
            <a:ext cx="11115921"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srgbClr val="313131"/>
                </a:solidFill>
                <a:effectLst/>
                <a:uLnTx/>
                <a:uFillTx/>
                <a:latin typeface="Calibri"/>
                <a:ea typeface="+mn-ea"/>
                <a:cs typeface="+mn-cs"/>
              </a:rPr>
              <a:t>Note: 1) Improvement in Fuel Efficiency may require installation of OT Tools for Fuel Supply Monitoring and Quality Assurance apart from standard ERP Modules for Maintenance, Procurement among others</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srgbClr val="313131"/>
                </a:solidFill>
                <a:effectLst/>
                <a:uLnTx/>
                <a:uFillTx/>
                <a:latin typeface="Calibri"/>
                <a:ea typeface="+mn-ea"/>
                <a:cs typeface="+mn-cs"/>
              </a:rPr>
              <a:t>2. The  Potential Savings realized have been computed considering average of the estimated efficiency improvement in Low Case and High Case </a:t>
            </a:r>
          </a:p>
        </p:txBody>
      </p:sp>
      <p:graphicFrame>
        <p:nvGraphicFramePr>
          <p:cNvPr id="47" name="Table 21">
            <a:extLst>
              <a:ext uri="{FF2B5EF4-FFF2-40B4-BE49-F238E27FC236}">
                <a16:creationId xmlns:a16="http://schemas.microsoft.com/office/drawing/2014/main" id="{47502B0B-7CCC-4D73-A841-404C069F9CD8}"/>
              </a:ext>
            </a:extLst>
          </p:cNvPr>
          <p:cNvGraphicFramePr>
            <a:graphicFrameLocks noGrp="1"/>
          </p:cNvGraphicFramePr>
          <p:nvPr/>
        </p:nvGraphicFramePr>
        <p:xfrm>
          <a:off x="6529067" y="2921000"/>
          <a:ext cx="5144200" cy="695325"/>
        </p:xfrm>
        <a:graphic>
          <a:graphicData uri="http://schemas.openxmlformats.org/drawingml/2006/table">
            <a:tbl>
              <a:tblPr firstRow="1" bandRow="1">
                <a:tableStyleId>{21E4AEA4-8DFA-4A89-87EB-49C32662AFE0}</a:tableStyleId>
              </a:tblPr>
              <a:tblGrid>
                <a:gridCol w="896792">
                  <a:extLst>
                    <a:ext uri="{9D8B030D-6E8A-4147-A177-3AD203B41FA5}">
                      <a16:colId xmlns:a16="http://schemas.microsoft.com/office/drawing/2014/main" val="22772272"/>
                    </a:ext>
                  </a:extLst>
                </a:gridCol>
                <a:gridCol w="896792">
                  <a:extLst>
                    <a:ext uri="{9D8B030D-6E8A-4147-A177-3AD203B41FA5}">
                      <a16:colId xmlns:a16="http://schemas.microsoft.com/office/drawing/2014/main" val="2572693388"/>
                    </a:ext>
                  </a:extLst>
                </a:gridCol>
                <a:gridCol w="896792">
                  <a:extLst>
                    <a:ext uri="{9D8B030D-6E8A-4147-A177-3AD203B41FA5}">
                      <a16:colId xmlns:a16="http://schemas.microsoft.com/office/drawing/2014/main" val="951154567"/>
                    </a:ext>
                  </a:extLst>
                </a:gridCol>
                <a:gridCol w="896792">
                  <a:extLst>
                    <a:ext uri="{9D8B030D-6E8A-4147-A177-3AD203B41FA5}">
                      <a16:colId xmlns:a16="http://schemas.microsoft.com/office/drawing/2014/main" val="2788998700"/>
                    </a:ext>
                  </a:extLst>
                </a:gridCol>
                <a:gridCol w="896792">
                  <a:extLst>
                    <a:ext uri="{9D8B030D-6E8A-4147-A177-3AD203B41FA5}">
                      <a16:colId xmlns:a16="http://schemas.microsoft.com/office/drawing/2014/main" val="790048796"/>
                    </a:ext>
                  </a:extLst>
                </a:gridCol>
                <a:gridCol w="660240">
                  <a:extLst>
                    <a:ext uri="{9D8B030D-6E8A-4147-A177-3AD203B41FA5}">
                      <a16:colId xmlns:a16="http://schemas.microsoft.com/office/drawing/2014/main" val="2081733403"/>
                    </a:ext>
                  </a:extLst>
                </a:gridCol>
              </a:tblGrid>
              <a:tr h="379268">
                <a:tc gridSpan="6">
                  <a:txBody>
                    <a:bodyPr/>
                    <a:lstStyle/>
                    <a:p>
                      <a:pPr algn="ctr"/>
                      <a:r>
                        <a:rPr lang="en-US" sz="1200" dirty="0"/>
                        <a:t>Savings Realization (%) </a:t>
                      </a:r>
                      <a:endParaRPr lang="en-US" sz="1200" dirty="0">
                        <a:latin typeface="+mn-lt"/>
                      </a:endParaRPr>
                    </a:p>
                  </a:txBody>
                  <a:tcPr marL="45720" marR="45720"/>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307465169"/>
                  </a:ext>
                </a:extLst>
              </a:tr>
              <a:tr h="316057">
                <a:tc>
                  <a:txBody>
                    <a:bodyPr/>
                    <a:lstStyle/>
                    <a:p>
                      <a:pPr marL="0" algn="l" defTabSz="914400" rtl="0" eaLnBrk="1" fontAlgn="ctr" latinLnBrk="0" hangingPunct="1"/>
                      <a:r>
                        <a:rPr lang="en-US" sz="1200" b="1" u="none" strike="noStrike" kern="1200" dirty="0">
                          <a:effectLst/>
                        </a:rPr>
                        <a:t>Year 1</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u="none" strike="noStrike" kern="1200" dirty="0">
                          <a:effectLst/>
                        </a:rPr>
                        <a:t>35%</a:t>
                      </a:r>
                      <a:endParaRPr lang="en-US" sz="1200" b="1" i="0" u="none" strike="noStrike" kern="1200" dirty="0">
                        <a:solidFill>
                          <a:srgbClr val="000000"/>
                        </a:solidFill>
                        <a:effectLst/>
                        <a:latin typeface="+mn-lt"/>
                        <a:ea typeface="+mn-ea"/>
                        <a:cs typeface="+mn-cs"/>
                      </a:endParaRPr>
                    </a:p>
                  </a:txBody>
                  <a:tcPr marL="45720" marR="45720" anchor="ctr">
                    <a:solidFill>
                      <a:schemeClr val="accent1">
                        <a:lumMod val="20000"/>
                        <a:lumOff val="80000"/>
                      </a:schemeClr>
                    </a:solidFill>
                  </a:tcPr>
                </a:tc>
                <a:tc>
                  <a:txBody>
                    <a:bodyPr/>
                    <a:lstStyle/>
                    <a:p>
                      <a:pPr marL="0" algn="l" defTabSz="914400" rtl="0" eaLnBrk="1" fontAlgn="ctr" latinLnBrk="0" hangingPunct="1"/>
                      <a:r>
                        <a:rPr lang="en-US" sz="1200" b="1" u="none" strike="noStrike" kern="1200" dirty="0">
                          <a:effectLst/>
                        </a:rPr>
                        <a:t>Year 2</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i="0" u="none" strike="noStrike" kern="1200" dirty="0">
                          <a:solidFill>
                            <a:srgbClr val="000000"/>
                          </a:solidFill>
                          <a:effectLst/>
                          <a:latin typeface="+mn-lt"/>
                          <a:ea typeface="+mn-ea"/>
                          <a:cs typeface="+mn-cs"/>
                        </a:rPr>
                        <a:t>70%</a:t>
                      </a:r>
                    </a:p>
                  </a:txBody>
                  <a:tcPr marL="45720" marR="45720" anchor="ctr">
                    <a:solidFill>
                      <a:schemeClr val="accent1">
                        <a:lumMod val="20000"/>
                        <a:lumOff val="80000"/>
                      </a:schemeClr>
                    </a:solidFill>
                  </a:tcPr>
                </a:tc>
                <a:tc>
                  <a:txBody>
                    <a:bodyPr/>
                    <a:lstStyle/>
                    <a:p>
                      <a:pPr marL="0" algn="ctr" defTabSz="914400" rtl="0" eaLnBrk="1" fontAlgn="ctr" latinLnBrk="0" hangingPunct="1"/>
                      <a:r>
                        <a:rPr lang="en-US" sz="1200" b="1" u="none" strike="noStrike" kern="1200" dirty="0">
                          <a:effectLst/>
                        </a:rPr>
                        <a:t>Year 3-10</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i="0" u="none" strike="noStrike" kern="1200" dirty="0">
                          <a:solidFill>
                            <a:srgbClr val="000000"/>
                          </a:solidFill>
                          <a:effectLst/>
                          <a:latin typeface="+mn-lt"/>
                          <a:ea typeface="+mn-ea"/>
                          <a:cs typeface="+mn-cs"/>
                        </a:rPr>
                        <a:t>100%</a:t>
                      </a:r>
                    </a:p>
                  </a:txBody>
                  <a:tcPr marL="45720" marR="45720" anchor="ctr">
                    <a:solidFill>
                      <a:schemeClr val="accent1">
                        <a:lumMod val="20000"/>
                        <a:lumOff val="80000"/>
                      </a:schemeClr>
                    </a:solidFill>
                  </a:tcPr>
                </a:tc>
                <a:extLst>
                  <a:ext uri="{0D108BD9-81ED-4DB2-BD59-A6C34878D82A}">
                    <a16:rowId xmlns:a16="http://schemas.microsoft.com/office/drawing/2014/main" val="2297181138"/>
                  </a:ext>
                </a:extLst>
              </a:tr>
            </a:tbl>
          </a:graphicData>
        </a:graphic>
      </p:graphicFrame>
    </p:spTree>
    <p:extLst>
      <p:ext uri="{BB962C8B-B14F-4D97-AF65-F5344CB8AC3E}">
        <p14:creationId xmlns:p14="http://schemas.microsoft.com/office/powerpoint/2010/main" val="215473054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498" imgH="499" progId="TCLayout.ActiveDocument.1">
                  <p:embed/>
                </p:oleObj>
              </mc:Choice>
              <mc:Fallback>
                <p:oleObj name="think-cell Slide" r:id="rId24"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We have also considered a case with higher improvement in Fuel Efficiency (5% - 7.5%) considering installation of OT tools and sensors and process re-design for Fuel Management and Supply Chain Improvement</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3. b) Improvement in Generation Efficiency – Optimistic Case</a:t>
            </a:r>
            <a:endParaRPr lang="en-GB" dirty="0"/>
          </a:p>
        </p:txBody>
      </p:sp>
      <p:grpSp>
        <p:nvGrpSpPr>
          <p:cNvPr id="6" name="Group 5">
            <a:extLst>
              <a:ext uri="{FF2B5EF4-FFF2-40B4-BE49-F238E27FC236}">
                <a16:creationId xmlns:a16="http://schemas.microsoft.com/office/drawing/2014/main" id="{1993F2B0-0B69-4FA0-9772-106AC71070CB}"/>
              </a:ext>
            </a:extLst>
          </p:cNvPr>
          <p:cNvGrpSpPr/>
          <p:nvPr/>
        </p:nvGrpSpPr>
        <p:grpSpPr>
          <a:xfrm>
            <a:off x="9361171" y="1434006"/>
            <a:ext cx="2329180" cy="920574"/>
            <a:chOff x="9728749" y="1434006"/>
            <a:chExt cx="1961601" cy="637291"/>
          </a:xfrm>
        </p:grpSpPr>
        <p:sp>
          <p:nvSpPr>
            <p:cNvPr id="52" name="TextBox 51">
              <a:extLst>
                <a:ext uri="{FF2B5EF4-FFF2-40B4-BE49-F238E27FC236}">
                  <a16:creationId xmlns:a16="http://schemas.microsoft.com/office/drawing/2014/main" id="{82C1EFB3-50E8-46E8-A000-D76677138E9D}"/>
                </a:ext>
              </a:extLst>
            </p:cNvPr>
            <p:cNvSpPr txBox="1"/>
            <p:nvPr/>
          </p:nvSpPr>
          <p:spPr>
            <a:xfrm>
              <a:off x="9728749" y="1434006"/>
              <a:ext cx="1947215" cy="290963"/>
            </a:xfrm>
            <a:prstGeom prst="rect">
              <a:avLst/>
            </a:prstGeom>
            <a:solidFill>
              <a:schemeClr val="accent5"/>
            </a:solidFill>
            <a:ln>
              <a:solidFill>
                <a:schemeClr val="accent5"/>
              </a:solidFill>
            </a:ln>
          </p:spPr>
          <p:txBody>
            <a:bodyPr wrap="square" lIns="54000" tIns="54000" rIns="54000" bIns="5400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Calibri"/>
                  <a:ea typeface="+mn-ea"/>
                  <a:cs typeface="Arial" pitchFamily="34" charset="0"/>
                </a:rPr>
                <a:t>Potential Benefits (10 Years)</a:t>
              </a:r>
            </a:p>
          </p:txBody>
        </p:sp>
        <p:sp>
          <p:nvSpPr>
            <p:cNvPr id="53" name="TextBox 52">
              <a:extLst>
                <a:ext uri="{FF2B5EF4-FFF2-40B4-BE49-F238E27FC236}">
                  <a16:creationId xmlns:a16="http://schemas.microsoft.com/office/drawing/2014/main" id="{193B55FA-2DB1-441C-A3AB-4704A9A677DF}"/>
                </a:ext>
              </a:extLst>
            </p:cNvPr>
            <p:cNvSpPr txBox="1"/>
            <p:nvPr/>
          </p:nvSpPr>
          <p:spPr>
            <a:xfrm>
              <a:off x="9743135" y="1780334"/>
              <a:ext cx="1947215" cy="290963"/>
            </a:xfrm>
            <a:prstGeom prst="rect">
              <a:avLst/>
            </a:prstGeom>
            <a:solidFill>
              <a:srgbClr val="FFFFFF"/>
            </a:solidFill>
            <a:ln>
              <a:solidFill>
                <a:schemeClr val="accent4"/>
              </a:solidFill>
            </a:ln>
          </p:spPr>
          <p:txBody>
            <a:bodyPr wrap="square" lIns="0" tIns="54000" rIns="0" bIns="5400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dirty="0">
                  <a:ln>
                    <a:noFill/>
                  </a:ln>
                  <a:solidFill>
                    <a:srgbClr val="046A38"/>
                  </a:solidFill>
                  <a:effectLst/>
                  <a:uLnTx/>
                  <a:uFillTx/>
                  <a:latin typeface="Calibri"/>
                  <a:ea typeface="+mn-ea"/>
                  <a:cs typeface="Arial" pitchFamily="34" charset="0"/>
                </a:rPr>
                <a:t>701 Mn MVR / 45.6 Mn USD </a:t>
              </a:r>
            </a:p>
          </p:txBody>
        </p:sp>
      </p:grpSp>
      <p:sp>
        <p:nvSpPr>
          <p:cNvPr id="54" name="Rectangle 2">
            <a:extLst>
              <a:ext uri="{FF2B5EF4-FFF2-40B4-BE49-F238E27FC236}">
                <a16:creationId xmlns:a16="http://schemas.microsoft.com/office/drawing/2014/main" id="{92A38C71-E9B4-45F7-A0D3-1AE4CA8142B6}"/>
              </a:ext>
            </a:extLst>
          </p:cNvPr>
          <p:cNvSpPr>
            <a:spLocks noChangeArrowheads="1"/>
          </p:cNvSpPr>
          <p:nvPr/>
        </p:nvSpPr>
        <p:spPr bwMode="auto">
          <a:xfrm>
            <a:off x="501651" y="1408854"/>
            <a:ext cx="8665210" cy="945726"/>
          </a:xfrm>
          <a:prstGeom prst="rect">
            <a:avLst/>
          </a:prstGeom>
          <a:solidFill>
            <a:schemeClr val="bg1"/>
          </a:solidFill>
          <a:ln w="6350" algn="ctr">
            <a:solidFill>
              <a:schemeClr val="accent1"/>
            </a:solidFill>
            <a:miter lim="800000"/>
            <a:headEnd/>
            <a:tailEnd/>
          </a:ln>
        </p:spPr>
        <p:txBody>
          <a:bodyPr lIns="108000" tIns="36000" rIns="36000" bIns="36000" anchor="ctr"/>
          <a:lstStyle/>
          <a:p>
            <a:pPr marL="285750" marR="0" lvl="1" indent="-285750" algn="l" defTabSz="914400" rtl="0" eaLnBrk="1" fontAlgn="auto" latinLnBrk="0" hangingPunct="1">
              <a:lnSpc>
                <a:spcPct val="100000"/>
              </a:lnSpc>
              <a:spcBef>
                <a:spcPts val="0"/>
              </a:spcBef>
              <a:spcAft>
                <a:spcPts val="0"/>
              </a:spcAft>
              <a:buClr>
                <a:srgbClr val="007C92"/>
              </a:buClr>
              <a:buSzPct val="85000"/>
              <a:buFont typeface="Arial" panose="020B0604020202020204" pitchFamily="34" charset="0"/>
              <a:buChar char="•"/>
              <a:tabLst/>
              <a:defRPr/>
            </a:pPr>
            <a:r>
              <a:rPr kumimoji="0" lang="en-US" sz="1400" b="1" i="0" u="none" strike="noStrike" kern="1200" cap="none" spc="0" normalizeH="0" baseline="0" noProof="0" dirty="0">
                <a:ln>
                  <a:noFill/>
                </a:ln>
                <a:solidFill>
                  <a:srgbClr val="00338D"/>
                </a:solidFill>
                <a:effectLst/>
                <a:uLnTx/>
                <a:uFillTx/>
                <a:latin typeface="Calibri"/>
                <a:ea typeface="+mn-ea"/>
                <a:cs typeface="Arial" pitchFamily="34" charset="0"/>
              </a:rPr>
              <a:t>Currently STELCO faces issues in forced outages due to timely availability of spare</a:t>
            </a:r>
          </a:p>
          <a:p>
            <a:pPr marL="285750" marR="0" lvl="1" indent="-285750" algn="l" defTabSz="914400" rtl="0" eaLnBrk="1" fontAlgn="auto" latinLnBrk="0" hangingPunct="1">
              <a:lnSpc>
                <a:spcPct val="100000"/>
              </a:lnSpc>
              <a:spcBef>
                <a:spcPts val="0"/>
              </a:spcBef>
              <a:spcAft>
                <a:spcPts val="0"/>
              </a:spcAft>
              <a:buClr>
                <a:srgbClr val="007C92"/>
              </a:buClr>
              <a:buSzPct val="85000"/>
              <a:buFont typeface="Arial" panose="020B0604020202020204" pitchFamily="34" charset="0"/>
              <a:buChar char="•"/>
              <a:tabLst/>
              <a:defRPr/>
            </a:pPr>
            <a:r>
              <a:rPr kumimoji="0" lang="en-US" sz="1400" b="1" i="0" u="none" strike="noStrike" kern="1200" cap="none" spc="0" normalizeH="0" baseline="0" noProof="0" dirty="0">
                <a:ln>
                  <a:noFill/>
                </a:ln>
                <a:solidFill>
                  <a:srgbClr val="00338D"/>
                </a:solidFill>
                <a:effectLst/>
                <a:uLnTx/>
                <a:uFillTx/>
                <a:latin typeface="Calibri"/>
                <a:ea typeface="+mn-ea"/>
                <a:cs typeface="Arial" pitchFamily="34" charset="0"/>
              </a:rPr>
              <a:t>Further, the delay in maintenance process leads to reduced SHR of the DG sets</a:t>
            </a:r>
          </a:p>
          <a:p>
            <a:pPr marL="285750" marR="0" lvl="1" indent="-285750" algn="l" defTabSz="914400" rtl="0" eaLnBrk="1" fontAlgn="auto" latinLnBrk="0" hangingPunct="1">
              <a:lnSpc>
                <a:spcPct val="100000"/>
              </a:lnSpc>
              <a:spcBef>
                <a:spcPts val="0"/>
              </a:spcBef>
              <a:spcAft>
                <a:spcPts val="0"/>
              </a:spcAft>
              <a:buClr>
                <a:srgbClr val="007C92"/>
              </a:buClr>
              <a:buSzPct val="85000"/>
              <a:buFont typeface="Arial" panose="020B0604020202020204" pitchFamily="34" charset="0"/>
              <a:buChar char="•"/>
              <a:tabLst/>
              <a:defRPr/>
            </a:pPr>
            <a:r>
              <a:rPr kumimoji="0" lang="en-US" sz="1400" b="1" i="0" u="none" strike="noStrike" kern="1200" cap="none" spc="0" normalizeH="0" baseline="0" noProof="0" dirty="0">
                <a:ln>
                  <a:noFill/>
                </a:ln>
                <a:solidFill>
                  <a:srgbClr val="00338D"/>
                </a:solidFill>
                <a:effectLst/>
                <a:uLnTx/>
                <a:uFillTx/>
                <a:latin typeface="Calibri"/>
                <a:ea typeface="+mn-ea"/>
                <a:cs typeface="Arial" pitchFamily="34" charset="0"/>
              </a:rPr>
              <a:t>Considering Peer Benchmarking (Click </a:t>
            </a:r>
            <a:r>
              <a:rPr kumimoji="0" lang="en-US" sz="1400" b="1" i="0" u="none" strike="noStrike" kern="1200" cap="none" spc="0" normalizeH="0" baseline="0" noProof="0" dirty="0">
                <a:ln>
                  <a:noFill/>
                </a:ln>
                <a:solidFill>
                  <a:srgbClr val="00338D"/>
                </a:solidFill>
                <a:effectLst/>
                <a:uLnTx/>
                <a:uFillTx/>
                <a:latin typeface="Calibri"/>
                <a:ea typeface="+mn-ea"/>
                <a:cs typeface="Arial" pitchFamily="34" charset="0"/>
                <a:hlinkClick r:id="rId26" action="ppaction://hlinksldjump"/>
              </a:rPr>
              <a:t>here</a:t>
            </a:r>
            <a:r>
              <a:rPr kumimoji="0" lang="en-US" sz="1400" b="1" i="0" u="none" strike="noStrike" kern="1200" cap="none" spc="0" normalizeH="0" baseline="0" noProof="0" dirty="0">
                <a:ln>
                  <a:noFill/>
                </a:ln>
                <a:solidFill>
                  <a:srgbClr val="00338D"/>
                </a:solidFill>
                <a:effectLst/>
                <a:uLnTx/>
                <a:uFillTx/>
                <a:latin typeface="Calibri"/>
                <a:ea typeface="+mn-ea"/>
                <a:cs typeface="Arial" pitchFamily="34" charset="0"/>
              </a:rPr>
              <a:t> for benchmark results), STELCO may be able to increase  its fuel efficiency by ~10%-25%</a:t>
            </a:r>
          </a:p>
        </p:txBody>
      </p:sp>
      <p:sp>
        <p:nvSpPr>
          <p:cNvPr id="60" name="Rectangle 10">
            <a:extLst>
              <a:ext uri="{FF2B5EF4-FFF2-40B4-BE49-F238E27FC236}">
                <a16:creationId xmlns:a16="http://schemas.microsoft.com/office/drawing/2014/main" id="{567C519C-35DE-4E98-9655-58DD83D96B71}"/>
              </a:ext>
            </a:extLst>
          </p:cNvPr>
          <p:cNvSpPr>
            <a:spLocks noChangeArrowheads="1"/>
          </p:cNvSpPr>
          <p:nvPr/>
        </p:nvSpPr>
        <p:spPr bwMode="auto">
          <a:xfrm>
            <a:off x="501649" y="2493778"/>
            <a:ext cx="5910581" cy="272292"/>
          </a:xfrm>
          <a:prstGeom prst="rect">
            <a:avLst/>
          </a:prstGeom>
          <a:solidFill>
            <a:schemeClr val="accent5">
              <a:alpha val="57000"/>
            </a:schemeClr>
          </a:solidFill>
          <a:ln w="6350">
            <a:solidFill>
              <a:srgbClr val="409DAD"/>
            </a:solidFill>
          </a:ln>
        </p:spPr>
        <p:txBody>
          <a:bodyPr vert="horz" lIns="0" tIns="0" rIns="0" bIns="0" rtlCol="0" anchor="ctr" anchorCtr="1">
            <a:norm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Calibri"/>
                <a:ea typeface="+mn-ea"/>
                <a:cs typeface="Arial" pitchFamily="34" charset="0"/>
              </a:rPr>
              <a:t>Savings Rationale</a:t>
            </a:r>
          </a:p>
        </p:txBody>
      </p:sp>
      <p:graphicFrame>
        <p:nvGraphicFramePr>
          <p:cNvPr id="21" name="Table 21">
            <a:extLst>
              <a:ext uri="{FF2B5EF4-FFF2-40B4-BE49-F238E27FC236}">
                <a16:creationId xmlns:a16="http://schemas.microsoft.com/office/drawing/2014/main" id="{8599F89E-C7B7-45AC-A256-04465166AF62}"/>
              </a:ext>
            </a:extLst>
          </p:cNvPr>
          <p:cNvGraphicFramePr>
            <a:graphicFrameLocks noGrp="1"/>
          </p:cNvGraphicFramePr>
          <p:nvPr/>
        </p:nvGraphicFramePr>
        <p:xfrm>
          <a:off x="501649" y="2921536"/>
          <a:ext cx="5910581" cy="2072640"/>
        </p:xfrm>
        <a:graphic>
          <a:graphicData uri="http://schemas.openxmlformats.org/drawingml/2006/table">
            <a:tbl>
              <a:tblPr firstRow="1" bandRow="1">
                <a:tableStyleId>{7DF18680-E054-41AD-8BC1-D1AEF772440D}</a:tableStyleId>
              </a:tblPr>
              <a:tblGrid>
                <a:gridCol w="2986618">
                  <a:extLst>
                    <a:ext uri="{9D8B030D-6E8A-4147-A177-3AD203B41FA5}">
                      <a16:colId xmlns:a16="http://schemas.microsoft.com/office/drawing/2014/main" val="22772272"/>
                    </a:ext>
                  </a:extLst>
                </a:gridCol>
                <a:gridCol w="1032933">
                  <a:extLst>
                    <a:ext uri="{9D8B030D-6E8A-4147-A177-3AD203B41FA5}">
                      <a16:colId xmlns:a16="http://schemas.microsoft.com/office/drawing/2014/main" val="1211298518"/>
                    </a:ext>
                  </a:extLst>
                </a:gridCol>
                <a:gridCol w="945515">
                  <a:extLst>
                    <a:ext uri="{9D8B030D-6E8A-4147-A177-3AD203B41FA5}">
                      <a16:colId xmlns:a16="http://schemas.microsoft.com/office/drawing/2014/main" val="3335756289"/>
                    </a:ext>
                  </a:extLst>
                </a:gridCol>
                <a:gridCol w="945515">
                  <a:extLst>
                    <a:ext uri="{9D8B030D-6E8A-4147-A177-3AD203B41FA5}">
                      <a16:colId xmlns:a16="http://schemas.microsoft.com/office/drawing/2014/main" val="2401458410"/>
                    </a:ext>
                  </a:extLst>
                </a:gridCol>
              </a:tblGrid>
              <a:tr h="189826">
                <a:tc rowSpan="2">
                  <a:txBody>
                    <a:bodyPr/>
                    <a:lstStyle/>
                    <a:p>
                      <a:r>
                        <a:rPr lang="en-US" sz="1200" dirty="0"/>
                        <a:t>Performance Improvement in Generation</a:t>
                      </a:r>
                      <a:endParaRPr lang="en-US" sz="1200" dirty="0">
                        <a:latin typeface="+mn-lt"/>
                      </a:endParaRPr>
                    </a:p>
                  </a:txBody>
                  <a:tcPr/>
                </a:tc>
                <a:tc rowSpan="2">
                  <a:txBody>
                    <a:bodyPr/>
                    <a:lstStyle/>
                    <a:p>
                      <a:pPr algn="ctr"/>
                      <a:r>
                        <a:rPr lang="en-US" sz="1200" dirty="0"/>
                        <a:t>Value</a:t>
                      </a:r>
                      <a:endParaRPr lang="en-US" sz="1200" dirty="0">
                        <a:latin typeface="+mn-lt"/>
                      </a:endParaRPr>
                    </a:p>
                  </a:txBody>
                  <a:tcPr/>
                </a:tc>
                <a:tc gridSpan="2">
                  <a:txBody>
                    <a:bodyPr/>
                    <a:lstStyle/>
                    <a:p>
                      <a:pPr algn="ctr"/>
                      <a:r>
                        <a:rPr lang="en-US" sz="1200" dirty="0"/>
                        <a:t>Efficiency Improvement </a:t>
                      </a:r>
                      <a:endParaRPr lang="en-US" sz="1200" dirty="0">
                        <a:latin typeface="+mn-lt"/>
                      </a:endParaRPr>
                    </a:p>
                  </a:txBody>
                  <a:tcPr/>
                </a:tc>
                <a:tc hMerge="1">
                  <a:txBody>
                    <a:bodyPr/>
                    <a:lstStyle/>
                    <a:p>
                      <a:endParaRPr lang="en-US" sz="1100" dirty="0">
                        <a:latin typeface="+mn-lt"/>
                      </a:endParaRPr>
                    </a:p>
                  </a:txBody>
                  <a:tcPr marL="45720" marR="45720"/>
                </a:tc>
                <a:extLst>
                  <a:ext uri="{0D108BD9-81ED-4DB2-BD59-A6C34878D82A}">
                    <a16:rowId xmlns:a16="http://schemas.microsoft.com/office/drawing/2014/main" val="1307465169"/>
                  </a:ext>
                </a:extLst>
              </a:tr>
              <a:tr h="189826">
                <a:tc vMerge="1">
                  <a:txBody>
                    <a:bodyPr/>
                    <a:lstStyle/>
                    <a:p>
                      <a:endParaRPr lang="en-US"/>
                    </a:p>
                  </a:txBody>
                  <a:tcPr/>
                </a:tc>
                <a:tc vMerge="1">
                  <a:txBody>
                    <a:bodyPr/>
                    <a:lstStyle/>
                    <a:p>
                      <a:endParaRPr lang="en-US"/>
                    </a:p>
                  </a:txBody>
                  <a:tcPr/>
                </a:tc>
                <a:tc>
                  <a:txBody>
                    <a:bodyPr/>
                    <a:lstStyle/>
                    <a:p>
                      <a:pPr algn="ctr"/>
                      <a:r>
                        <a:rPr lang="en-US" sz="1200" b="1" dirty="0">
                          <a:solidFill>
                            <a:schemeClr val="bg1"/>
                          </a:solidFill>
                        </a:rPr>
                        <a:t>Low Case</a:t>
                      </a:r>
                      <a:endParaRPr lang="en-US" sz="1200" b="1" dirty="0">
                        <a:solidFill>
                          <a:schemeClr val="bg1"/>
                        </a:solidFill>
                        <a:latin typeface="+mn-lt"/>
                      </a:endParaRPr>
                    </a:p>
                  </a:txBody>
                  <a:tcPr>
                    <a:solidFill>
                      <a:schemeClr val="accent5"/>
                    </a:solidFill>
                  </a:tcPr>
                </a:tc>
                <a:tc>
                  <a:txBody>
                    <a:bodyPr/>
                    <a:lstStyle/>
                    <a:p>
                      <a:pPr algn="ctr"/>
                      <a:r>
                        <a:rPr lang="en-US" sz="1200" b="1" dirty="0">
                          <a:solidFill>
                            <a:schemeClr val="bg1"/>
                          </a:solidFill>
                        </a:rPr>
                        <a:t>High Case</a:t>
                      </a:r>
                      <a:endParaRPr lang="en-US" sz="1200" b="1" dirty="0">
                        <a:solidFill>
                          <a:schemeClr val="bg1"/>
                        </a:solidFill>
                        <a:latin typeface="+mn-lt"/>
                      </a:endParaRPr>
                    </a:p>
                  </a:txBody>
                  <a:tcPr>
                    <a:solidFill>
                      <a:schemeClr val="accent5"/>
                    </a:solidFill>
                  </a:tcPr>
                </a:tc>
                <a:extLst>
                  <a:ext uri="{0D108BD9-81ED-4DB2-BD59-A6C34878D82A}">
                    <a16:rowId xmlns:a16="http://schemas.microsoft.com/office/drawing/2014/main" val="3166931624"/>
                  </a:ext>
                </a:extLst>
              </a:tr>
              <a:tr h="316377">
                <a:tc>
                  <a:txBody>
                    <a:bodyPr/>
                    <a:lstStyle/>
                    <a:p>
                      <a:pPr algn="l" fontAlgn="ctr"/>
                      <a:r>
                        <a:rPr lang="en-US" sz="1000" b="0" i="0" u="none" strike="noStrike" dirty="0">
                          <a:solidFill>
                            <a:srgbClr val="000000"/>
                          </a:solidFill>
                          <a:effectLst/>
                          <a:latin typeface="Verdana" panose="020B0604030504040204" pitchFamily="34" charset="0"/>
                        </a:rPr>
                        <a:t>Increase in Generation from DG sets (Base unit in FY19 – kWh)</a:t>
                      </a:r>
                    </a:p>
                  </a:txBody>
                  <a:tcPr anchor="ctr"/>
                </a:tc>
                <a:tc>
                  <a:txBody>
                    <a:bodyPr/>
                    <a:lstStyle/>
                    <a:p>
                      <a:pPr algn="r" fontAlgn="b"/>
                      <a:r>
                        <a:rPr lang="en-US" sz="1000" b="0" i="0" u="none" strike="noStrike" dirty="0">
                          <a:solidFill>
                            <a:srgbClr val="000000"/>
                          </a:solidFill>
                          <a:effectLst/>
                          <a:latin typeface="Verdana" panose="020B0604030504040204" pitchFamily="34" charset="0"/>
                        </a:rPr>
                        <a:t>507,712,961 </a:t>
                      </a:r>
                    </a:p>
                  </a:txBody>
                  <a:tcPr anchor="ctr"/>
                </a:tc>
                <a:tc>
                  <a:txBody>
                    <a:bodyPr/>
                    <a:lstStyle/>
                    <a:p>
                      <a:pPr algn="ctr" fontAlgn="ctr"/>
                      <a:r>
                        <a:rPr lang="en-US" sz="1000" b="0" i="0" u="none" strike="noStrike" dirty="0">
                          <a:solidFill>
                            <a:srgbClr val="000000"/>
                          </a:solidFill>
                          <a:effectLst/>
                          <a:latin typeface="Verdana" panose="020B0604030504040204" pitchFamily="34" charset="0"/>
                        </a:rPr>
                        <a:t>5.00%</a:t>
                      </a:r>
                    </a:p>
                  </a:txBody>
                  <a:tcPr anchor="ctr"/>
                </a:tc>
                <a:tc>
                  <a:txBody>
                    <a:bodyPr/>
                    <a:lstStyle/>
                    <a:p>
                      <a:pPr algn="ctr" fontAlgn="ctr"/>
                      <a:r>
                        <a:rPr lang="en-US" sz="1000" b="0" i="0" u="none" strike="noStrike" dirty="0">
                          <a:solidFill>
                            <a:srgbClr val="000000"/>
                          </a:solidFill>
                          <a:effectLst/>
                          <a:latin typeface="Verdana" panose="020B0604030504040204" pitchFamily="34" charset="0"/>
                        </a:rPr>
                        <a:t>7.50%</a:t>
                      </a:r>
                    </a:p>
                  </a:txBody>
                  <a:tcPr anchor="ctr"/>
                </a:tc>
                <a:extLst>
                  <a:ext uri="{0D108BD9-81ED-4DB2-BD59-A6C34878D82A}">
                    <a16:rowId xmlns:a16="http://schemas.microsoft.com/office/drawing/2014/main" val="2297181138"/>
                  </a:ext>
                </a:extLst>
              </a:tr>
              <a:tr h="189826">
                <a:tc>
                  <a:txBody>
                    <a:bodyPr/>
                    <a:lstStyle/>
                    <a:p>
                      <a:pPr algn="l" fontAlgn="b"/>
                      <a:r>
                        <a:rPr lang="en-US" sz="1000" b="0" i="0" u="none" strike="noStrike" dirty="0">
                          <a:solidFill>
                            <a:srgbClr val="000000"/>
                          </a:solidFill>
                          <a:effectLst/>
                          <a:latin typeface="Verdana" panose="020B0604030504040204" pitchFamily="34" charset="0"/>
                        </a:rPr>
                        <a:t>Gross Profit per unit of electricity sales</a:t>
                      </a:r>
                    </a:p>
                  </a:txBody>
                  <a:tcPr anchor="ctr"/>
                </a:tc>
                <a:tc>
                  <a:txBody>
                    <a:bodyPr/>
                    <a:lstStyle/>
                    <a:p>
                      <a:pPr algn="r" fontAlgn="b"/>
                      <a:r>
                        <a:rPr lang="en-US" sz="1000" b="0" i="0" u="none" strike="noStrike" dirty="0">
                          <a:solidFill>
                            <a:srgbClr val="000000"/>
                          </a:solidFill>
                          <a:effectLst/>
                          <a:latin typeface="Verdana" panose="020B0604030504040204" pitchFamily="34" charset="0"/>
                        </a:rPr>
                        <a:t>0.31 </a:t>
                      </a:r>
                    </a:p>
                  </a:txBody>
                  <a:tcPr anchor="ct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tc>
                <a:extLst>
                  <a:ext uri="{0D108BD9-81ED-4DB2-BD59-A6C34878D82A}">
                    <a16:rowId xmlns:a16="http://schemas.microsoft.com/office/drawing/2014/main" val="1509177413"/>
                  </a:ext>
                </a:extLst>
              </a:tr>
              <a:tr h="189826">
                <a:tc>
                  <a:txBody>
                    <a:bodyPr/>
                    <a:lstStyle/>
                    <a:p>
                      <a:pPr algn="l" fontAlgn="b"/>
                      <a:r>
                        <a:rPr lang="en-US" sz="1000" b="0" i="0" u="none" strike="noStrike" dirty="0">
                          <a:solidFill>
                            <a:srgbClr val="000000"/>
                          </a:solidFill>
                          <a:effectLst/>
                          <a:latin typeface="Verdana" panose="020B0604030504040204" pitchFamily="34" charset="0"/>
                        </a:rPr>
                        <a:t>Diesel Consumption in Liters in FY19</a:t>
                      </a:r>
                    </a:p>
                  </a:txBody>
                  <a:tcPr anchor="ctr"/>
                </a:tc>
                <a:tc>
                  <a:txBody>
                    <a:bodyPr/>
                    <a:lstStyle/>
                    <a:p>
                      <a:pPr algn="r" fontAlgn="b"/>
                      <a:r>
                        <a:rPr lang="en-US" sz="1000" b="0" i="0" u="none" strike="noStrike" dirty="0">
                          <a:solidFill>
                            <a:srgbClr val="000000"/>
                          </a:solidFill>
                          <a:effectLst/>
                          <a:latin typeface="Verdana" panose="020B0604030504040204" pitchFamily="34" charset="0"/>
                        </a:rPr>
                        <a:t>130,596,386 </a:t>
                      </a:r>
                    </a:p>
                  </a:txBody>
                  <a:tcPr anchor="ct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tc>
                <a:extLst>
                  <a:ext uri="{0D108BD9-81ED-4DB2-BD59-A6C34878D82A}">
                    <a16:rowId xmlns:a16="http://schemas.microsoft.com/office/drawing/2014/main" val="3991183976"/>
                  </a:ext>
                </a:extLst>
              </a:tr>
              <a:tr h="189826">
                <a:tc>
                  <a:txBody>
                    <a:bodyPr/>
                    <a:lstStyle/>
                    <a:p>
                      <a:pPr algn="l" fontAlgn="b"/>
                      <a:r>
                        <a:rPr lang="en-US" sz="1000" b="0" i="0" u="none" strike="noStrike" dirty="0">
                          <a:solidFill>
                            <a:srgbClr val="000000"/>
                          </a:solidFill>
                          <a:effectLst/>
                          <a:latin typeface="Verdana" panose="020B0604030504040204" pitchFamily="34" charset="0"/>
                        </a:rPr>
                        <a:t>Reduction in Diesel Consumption in Liters (Base unit in FY19) – Improved SHR</a:t>
                      </a:r>
                    </a:p>
                  </a:txBody>
                  <a:tcPr anchor="ctr"/>
                </a:tc>
                <a:tc>
                  <a:txBody>
                    <a:bodyPr/>
                    <a:lstStyle/>
                    <a:p>
                      <a:pPr algn="r" fontAlgn="b"/>
                      <a:r>
                        <a:rPr lang="en-US" sz="1000" b="0" i="0" u="none" strike="noStrike" dirty="0">
                          <a:solidFill>
                            <a:srgbClr val="000000"/>
                          </a:solidFill>
                          <a:effectLst/>
                          <a:latin typeface="Verdana" panose="020B0604030504040204" pitchFamily="34" charset="0"/>
                        </a:rPr>
                        <a:t>0.257 </a:t>
                      </a:r>
                    </a:p>
                  </a:txBody>
                  <a:tcPr anchor="ctr"/>
                </a:tc>
                <a:tc>
                  <a:txBody>
                    <a:bodyPr/>
                    <a:lstStyle/>
                    <a:p>
                      <a:pPr algn="ctr" fontAlgn="ctr"/>
                      <a:r>
                        <a:rPr lang="en-US" sz="1000" b="0" i="0" u="none" strike="noStrike" dirty="0">
                          <a:solidFill>
                            <a:srgbClr val="000000"/>
                          </a:solidFill>
                          <a:effectLst/>
                          <a:latin typeface="Verdana" panose="020B0604030504040204" pitchFamily="34" charset="0"/>
                        </a:rPr>
                        <a:t>5%</a:t>
                      </a:r>
                    </a:p>
                  </a:txBody>
                  <a:tcPr marL="7620" marR="7620" marT="7620" marB="0" anchor="ctr">
                    <a:solidFill>
                      <a:srgbClr val="E8F5CF"/>
                    </a:solidFill>
                  </a:tcPr>
                </a:tc>
                <a:tc>
                  <a:txBody>
                    <a:bodyPr/>
                    <a:lstStyle/>
                    <a:p>
                      <a:pPr algn="ctr" fontAlgn="ctr"/>
                      <a:r>
                        <a:rPr lang="en-US" sz="1000" b="0" i="0" u="none" strike="noStrike" dirty="0">
                          <a:solidFill>
                            <a:srgbClr val="000000"/>
                          </a:solidFill>
                          <a:effectLst/>
                          <a:latin typeface="Verdana" panose="020B0604030504040204" pitchFamily="34" charset="0"/>
                        </a:rPr>
                        <a:t>7.50%</a:t>
                      </a:r>
                    </a:p>
                  </a:txBody>
                  <a:tcPr marL="7620" marR="7620" marT="7620" marB="0" anchor="ctr">
                    <a:solidFill>
                      <a:srgbClr val="E8F5CF"/>
                    </a:solidFill>
                  </a:tcPr>
                </a:tc>
                <a:extLst>
                  <a:ext uri="{0D108BD9-81ED-4DB2-BD59-A6C34878D82A}">
                    <a16:rowId xmlns:a16="http://schemas.microsoft.com/office/drawing/2014/main" val="118739862"/>
                  </a:ext>
                </a:extLst>
              </a:tr>
              <a:tr h="189826">
                <a:tc>
                  <a:txBody>
                    <a:bodyPr/>
                    <a:lstStyle/>
                    <a:p>
                      <a:pPr algn="l" fontAlgn="ctr"/>
                      <a:r>
                        <a:rPr lang="en-US" sz="1000" b="0" i="0" u="none" strike="noStrike" dirty="0">
                          <a:solidFill>
                            <a:srgbClr val="000000"/>
                          </a:solidFill>
                          <a:effectLst/>
                          <a:latin typeface="Verdana" panose="020B0604030504040204" pitchFamily="34" charset="0"/>
                        </a:rPr>
                        <a:t>Diesel Cost (MVR / Liter) in FY19</a:t>
                      </a:r>
                    </a:p>
                  </a:txBody>
                  <a:tcPr anchor="ctr"/>
                </a:tc>
                <a:tc>
                  <a:txBody>
                    <a:bodyPr/>
                    <a:lstStyle/>
                    <a:p>
                      <a:pPr algn="r" fontAlgn="b"/>
                      <a:r>
                        <a:rPr lang="en-US" sz="1000" b="0" i="0" u="none" strike="noStrike" dirty="0">
                          <a:solidFill>
                            <a:srgbClr val="000000"/>
                          </a:solidFill>
                          <a:effectLst/>
                          <a:latin typeface="Verdana" panose="020B0604030504040204" pitchFamily="34" charset="0"/>
                        </a:rPr>
                        <a:t>8.45 </a:t>
                      </a:r>
                    </a:p>
                  </a:txBody>
                  <a:tcPr anchor="ct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solidFill>
                      <a:srgbClr val="E7EDEE"/>
                    </a:solidFill>
                  </a:tcPr>
                </a:tc>
                <a:tc>
                  <a:txBody>
                    <a:bodyPr/>
                    <a:lstStyle/>
                    <a:p>
                      <a:pPr algn="ctr" fontAlgn="ctr"/>
                      <a:endParaRPr lang="en-US" sz="1000" b="0" i="0" u="none" strike="noStrike" dirty="0">
                        <a:solidFill>
                          <a:srgbClr val="000000"/>
                        </a:solidFill>
                        <a:effectLst/>
                        <a:latin typeface="Verdana" panose="020B0604030504040204" pitchFamily="34" charset="0"/>
                      </a:endParaRPr>
                    </a:p>
                  </a:txBody>
                  <a:tcPr anchor="ctr">
                    <a:solidFill>
                      <a:srgbClr val="E7EDEE"/>
                    </a:solidFill>
                  </a:tcPr>
                </a:tc>
                <a:extLst>
                  <a:ext uri="{0D108BD9-81ED-4DB2-BD59-A6C34878D82A}">
                    <a16:rowId xmlns:a16="http://schemas.microsoft.com/office/drawing/2014/main" val="390320805"/>
                  </a:ext>
                </a:extLst>
              </a:tr>
            </a:tbl>
          </a:graphicData>
        </a:graphic>
      </p:graphicFrame>
      <p:sp>
        <p:nvSpPr>
          <p:cNvPr id="62" name="Rectangle 61">
            <a:extLst>
              <a:ext uri="{FF2B5EF4-FFF2-40B4-BE49-F238E27FC236}">
                <a16:creationId xmlns:a16="http://schemas.microsoft.com/office/drawing/2014/main" id="{6E4D92A2-2F95-4398-8F72-95C05BBF19AD}"/>
              </a:ext>
            </a:extLst>
          </p:cNvPr>
          <p:cNvSpPr/>
          <p:nvPr/>
        </p:nvSpPr>
        <p:spPr>
          <a:xfrm>
            <a:off x="498158" y="5093664"/>
            <a:ext cx="5910581" cy="1394228"/>
          </a:xfrm>
          <a:prstGeom prst="rect">
            <a:avLst/>
          </a:prstGeom>
        </p:spPr>
        <p:txBody>
          <a:bodyPr wrap="square">
            <a:spAutoFit/>
          </a:bodyPr>
          <a:lstStyle/>
          <a:p>
            <a:pPr marL="0" marR="0" lvl="1" indent="1588" algn="just" defTabSz="914400" rtl="0" eaLnBrk="1" fontAlgn="auto" latinLnBrk="0" hangingPunct="1">
              <a:lnSpc>
                <a:spcPct val="100000"/>
              </a:lnSpc>
              <a:spcBef>
                <a:spcPct val="3500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Calibri"/>
                <a:ea typeface="+mn-ea"/>
                <a:cs typeface="Arial" pitchFamily="34" charset="0"/>
              </a:rPr>
              <a:t>The savings rationale has been computed basis:</a:t>
            </a:r>
          </a:p>
          <a:p>
            <a:pPr marL="171450" marR="0" lvl="1" indent="-171450" algn="just" defTabSz="914400" rtl="0" eaLnBrk="1" fontAlgn="auto" latinLnBrk="0" hangingPunct="1">
              <a:lnSpc>
                <a:spcPct val="100000"/>
              </a:lnSpc>
              <a:spcBef>
                <a:spcPct val="350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a:ea typeface="+mn-ea"/>
                <a:cs typeface="Arial" pitchFamily="34" charset="0"/>
              </a:rPr>
              <a:t>Timely Maintenance Scheduling and ensuring spare availability will lead to lower outage hours which in turn will lead to higher billing for STELCO</a:t>
            </a:r>
          </a:p>
          <a:p>
            <a:pPr marL="171450" marR="0" lvl="1" indent="-171450" algn="just" defTabSz="914400" rtl="0" eaLnBrk="1" fontAlgn="auto" latinLnBrk="0" hangingPunct="1">
              <a:lnSpc>
                <a:spcPct val="100000"/>
              </a:lnSpc>
              <a:spcBef>
                <a:spcPct val="350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a:ea typeface="+mn-ea"/>
                <a:cs typeface="Arial" pitchFamily="34" charset="0"/>
              </a:rPr>
              <a:t>Further, SHR efficiency is also expected to increase due to timely servicing of machines.</a:t>
            </a:r>
          </a:p>
          <a:p>
            <a:pPr marL="171450" marR="0" lvl="1" indent="-171450" algn="just" defTabSz="914400" rtl="0" eaLnBrk="1" fontAlgn="auto" latinLnBrk="0" hangingPunct="1">
              <a:lnSpc>
                <a:spcPct val="100000"/>
              </a:lnSpc>
              <a:spcBef>
                <a:spcPct val="3500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Calibri"/>
                <a:ea typeface="+mn-ea"/>
                <a:cs typeface="Arial" pitchFamily="34" charset="0"/>
              </a:rPr>
              <a:t>The savings have been estimated to be obtained over a 10 year horizon with 100% savings being achieved annually from Year 3 onwards</a:t>
            </a:r>
          </a:p>
        </p:txBody>
      </p:sp>
      <p:sp>
        <p:nvSpPr>
          <p:cNvPr id="64" name="Rectangle 10">
            <a:extLst>
              <a:ext uri="{FF2B5EF4-FFF2-40B4-BE49-F238E27FC236}">
                <a16:creationId xmlns:a16="http://schemas.microsoft.com/office/drawing/2014/main" id="{4CBAF1E2-7639-4710-9173-5D64928C671C}"/>
              </a:ext>
            </a:extLst>
          </p:cNvPr>
          <p:cNvSpPr>
            <a:spLocks noChangeArrowheads="1"/>
          </p:cNvSpPr>
          <p:nvPr/>
        </p:nvSpPr>
        <p:spPr bwMode="auto">
          <a:xfrm>
            <a:off x="6529069" y="2493778"/>
            <a:ext cx="5161281" cy="272292"/>
          </a:xfrm>
          <a:prstGeom prst="rect">
            <a:avLst/>
          </a:prstGeom>
          <a:solidFill>
            <a:schemeClr val="accent2">
              <a:alpha val="53000"/>
            </a:schemeClr>
          </a:solidFill>
          <a:ln w="6350">
            <a:solidFill>
              <a:srgbClr val="409DAD"/>
            </a:solidFill>
          </a:ln>
        </p:spPr>
        <p:txBody>
          <a:bodyPr vert="horz" lIns="0" tIns="0" rIns="0" bIns="0" rtlCol="0" anchor="ctr" anchorCtr="1">
            <a:norm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Calibri"/>
                <a:ea typeface="+mn-ea"/>
                <a:cs typeface="Arial" pitchFamily="34" charset="0"/>
              </a:rPr>
              <a:t>Savings Potential</a:t>
            </a:r>
          </a:p>
        </p:txBody>
      </p:sp>
      <p:sp>
        <p:nvSpPr>
          <p:cNvPr id="37" name="TextBox 36">
            <a:extLst>
              <a:ext uri="{FF2B5EF4-FFF2-40B4-BE49-F238E27FC236}">
                <a16:creationId xmlns:a16="http://schemas.microsoft.com/office/drawing/2014/main" id="{CC874508-CF42-4E8F-ACB0-6EFAE51565BF}"/>
              </a:ext>
            </a:extLst>
          </p:cNvPr>
          <p:cNvSpPr txBox="1"/>
          <p:nvPr/>
        </p:nvSpPr>
        <p:spPr>
          <a:xfrm>
            <a:off x="501648" y="6622327"/>
            <a:ext cx="11115921"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srgbClr val="313131"/>
                </a:solidFill>
                <a:effectLst/>
                <a:uLnTx/>
                <a:uFillTx/>
                <a:latin typeface="Calibri"/>
                <a:ea typeface="+mn-ea"/>
                <a:cs typeface="+mn-cs"/>
              </a:rPr>
              <a:t>Note: 1) Improvement in Fuel Efficiency may require installation of OT Tools for Fuel Supply Monitoring and Quality Assurance apart from standard ERP Modules for Maintenance, Procurement among others </a:t>
            </a:r>
          </a:p>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800" b="0" i="0" u="none" strike="noStrike" kern="1200" cap="none" spc="0" normalizeH="0" baseline="0" noProof="0" dirty="0">
                <a:ln>
                  <a:noFill/>
                </a:ln>
                <a:solidFill>
                  <a:srgbClr val="313131"/>
                </a:solidFill>
                <a:effectLst/>
                <a:uLnTx/>
                <a:uFillTx/>
                <a:latin typeface="Calibri"/>
                <a:ea typeface="+mn-ea"/>
                <a:cs typeface="+mn-cs"/>
              </a:rPr>
              <a:t>2. The  Potential Savings realized have been computed considering average of the estimated efficiency improvement in Low Case and High Case</a:t>
            </a:r>
          </a:p>
        </p:txBody>
      </p:sp>
      <p:graphicFrame>
        <p:nvGraphicFramePr>
          <p:cNvPr id="44" name="Chart 43">
            <a:extLst>
              <a:ext uri="{FF2B5EF4-FFF2-40B4-BE49-F238E27FC236}">
                <a16:creationId xmlns:a16="http://schemas.microsoft.com/office/drawing/2014/main" id="{43FF1EFF-5CD5-4128-A8AC-46284E7BAE5A}"/>
              </a:ext>
            </a:extLst>
          </p:cNvPr>
          <p:cNvGraphicFramePr/>
          <p:nvPr>
            <p:custDataLst>
              <p:tags r:id="rId2"/>
            </p:custDataLst>
          </p:nvPr>
        </p:nvGraphicFramePr>
        <p:xfrm>
          <a:off x="6446838" y="4227513"/>
          <a:ext cx="3508375" cy="1528762"/>
        </p:xfrm>
        <a:graphic>
          <a:graphicData uri="http://schemas.openxmlformats.org/drawingml/2006/chart">
            <c:chart xmlns:c="http://schemas.openxmlformats.org/drawingml/2006/chart" xmlns:r="http://schemas.openxmlformats.org/officeDocument/2006/relationships" r:id="rId27"/>
          </a:graphicData>
        </a:graphic>
      </p:graphicFrame>
      <p:sp>
        <p:nvSpPr>
          <p:cNvPr id="45" name="Text Placeholder 18">
            <a:extLst>
              <a:ext uri="{FF2B5EF4-FFF2-40B4-BE49-F238E27FC236}">
                <a16:creationId xmlns:a16="http://schemas.microsoft.com/office/drawing/2014/main" id="{825191AF-16F1-4030-82EE-A1A69318F1C0}"/>
              </a:ext>
            </a:extLst>
          </p:cNvPr>
          <p:cNvSpPr>
            <a:spLocks noGrp="1"/>
          </p:cNvSpPr>
          <p:nvPr>
            <p:custDataLst>
              <p:tags r:id="rId3"/>
            </p:custDataLst>
          </p:nvPr>
        </p:nvSpPr>
        <p:spPr bwMode="gray">
          <a:xfrm>
            <a:off x="6962775" y="5132388"/>
            <a:ext cx="244475" cy="182563"/>
          </a:xfrm>
          <a:prstGeom prst="rect">
            <a:avLst/>
          </a:prstGeom>
          <a:solidFill>
            <a:srgbClr val="86BC25"/>
          </a:solidFill>
          <a:ln>
            <a:noFill/>
          </a:ln>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4CA800EA-2F23-431E-ADCA-925EE11BCA12}" type="datetime'''''''''''''''''''''''''''''''''3''''''''''''''''''''.0'">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3.0</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46" name="Text Placeholder 18">
            <a:extLst>
              <a:ext uri="{FF2B5EF4-FFF2-40B4-BE49-F238E27FC236}">
                <a16:creationId xmlns:a16="http://schemas.microsoft.com/office/drawing/2014/main" id="{F3CA01A3-3369-42CA-A252-60D75824E14E}"/>
              </a:ext>
            </a:extLst>
          </p:cNvPr>
          <p:cNvSpPr>
            <a:spLocks noGrp="1"/>
          </p:cNvSpPr>
          <p:nvPr>
            <p:custDataLst>
              <p:tags r:id="rId4"/>
            </p:custDataLst>
          </p:nvPr>
        </p:nvSpPr>
        <p:spPr bwMode="gray">
          <a:xfrm>
            <a:off x="6924675" y="5370513"/>
            <a:ext cx="322263" cy="182563"/>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0AE4DE19-67EF-4A2C-BDF8-8AA22D3C0340}" type="datetime'''''2''''''''''''''''''''''''''''''''''4.''1'''''''''''''">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24.1</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35" name="Text Placeholder 18">
            <a:extLst>
              <a:ext uri="{FF2B5EF4-FFF2-40B4-BE49-F238E27FC236}">
                <a16:creationId xmlns:a16="http://schemas.microsoft.com/office/drawing/2014/main" id="{1E9247BE-6DD7-4728-BF3D-9B3502982346}"/>
              </a:ext>
            </a:extLst>
          </p:cNvPr>
          <p:cNvSpPr>
            <a:spLocks noGrp="1"/>
          </p:cNvSpPr>
          <p:nvPr>
            <p:custDataLst>
              <p:tags r:id="rId5"/>
            </p:custDataLst>
          </p:nvPr>
        </p:nvSpPr>
        <p:spPr bwMode="auto">
          <a:xfrm>
            <a:off x="8116888" y="5775325"/>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45F1FEE0-31A1-4AE4-BF73-BF5D65D362AF}" type="datetime'''''''''''''''''Y''''2'''''''''">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Y2</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48" name="Text Placeholder 18">
            <a:extLst>
              <a:ext uri="{FF2B5EF4-FFF2-40B4-BE49-F238E27FC236}">
                <a16:creationId xmlns:a16="http://schemas.microsoft.com/office/drawing/2014/main" id="{E5857056-C952-486C-8A35-386A86F0F11A}"/>
              </a:ext>
            </a:extLst>
          </p:cNvPr>
          <p:cNvSpPr>
            <a:spLocks noGrp="1"/>
          </p:cNvSpPr>
          <p:nvPr>
            <p:custDataLst>
              <p:tags r:id="rId6"/>
            </p:custDataLst>
          </p:nvPr>
        </p:nvSpPr>
        <p:spPr bwMode="gray">
          <a:xfrm>
            <a:off x="8039100" y="5157788"/>
            <a:ext cx="322263" cy="182563"/>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559E3953-9BB1-4550-9D6D-DEFBF8F4A8A4}" type="datetime'''''''''48''''''''''''''''''''''''''''.''''3'''''''''">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48.3</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47" name="Text Placeholder 18">
            <a:extLst>
              <a:ext uri="{FF2B5EF4-FFF2-40B4-BE49-F238E27FC236}">
                <a16:creationId xmlns:a16="http://schemas.microsoft.com/office/drawing/2014/main" id="{B666F208-6A6C-4EEC-8622-709FD2541C6D}"/>
              </a:ext>
            </a:extLst>
          </p:cNvPr>
          <p:cNvSpPr>
            <a:spLocks noGrp="1"/>
          </p:cNvSpPr>
          <p:nvPr>
            <p:custDataLst>
              <p:tags r:id="rId7"/>
            </p:custDataLst>
          </p:nvPr>
        </p:nvSpPr>
        <p:spPr bwMode="gray">
          <a:xfrm>
            <a:off x="8077200" y="4681538"/>
            <a:ext cx="244475" cy="182563"/>
          </a:xfrm>
          <a:prstGeom prst="rect">
            <a:avLst/>
          </a:prstGeom>
          <a:solidFill>
            <a:srgbClr val="86BC25"/>
          </a:solidFill>
          <a:ln>
            <a:noFill/>
          </a:ln>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25119D15-D3BA-4806-BD05-85E9E417350D}" type="datetime'''''''6''''''''''''.''''''''''''0'''''''''''''''">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6.0</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36" name="Text Placeholder 18">
            <a:extLst>
              <a:ext uri="{FF2B5EF4-FFF2-40B4-BE49-F238E27FC236}">
                <a16:creationId xmlns:a16="http://schemas.microsoft.com/office/drawing/2014/main" id="{624BBEE1-5E8C-4BBC-BDE6-BC10D5967D7C}"/>
              </a:ext>
            </a:extLst>
          </p:cNvPr>
          <p:cNvSpPr>
            <a:spLocks noGrp="1"/>
          </p:cNvSpPr>
          <p:nvPr>
            <p:custDataLst>
              <p:tags r:id="rId8"/>
            </p:custDataLst>
          </p:nvPr>
        </p:nvSpPr>
        <p:spPr bwMode="auto">
          <a:xfrm>
            <a:off x="7002463" y="5775325"/>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12E522BF-E8E7-4848-A1E7-E8C1EF762E35}" type="datetime'''''Y''''''''''''''''''''''''''''''''1'''''''''''''''''''''''">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50" name="Text Placeholder 18">
            <a:extLst>
              <a:ext uri="{FF2B5EF4-FFF2-40B4-BE49-F238E27FC236}">
                <a16:creationId xmlns:a16="http://schemas.microsoft.com/office/drawing/2014/main" id="{8239D0A5-345A-4439-877B-BB4CC89D6CE3}"/>
              </a:ext>
            </a:extLst>
          </p:cNvPr>
          <p:cNvSpPr>
            <a:spLocks noGrp="1"/>
          </p:cNvSpPr>
          <p:nvPr>
            <p:custDataLst>
              <p:tags r:id="rId9"/>
            </p:custDataLst>
          </p:nvPr>
        </p:nvSpPr>
        <p:spPr bwMode="gray">
          <a:xfrm>
            <a:off x="9191625" y="4294188"/>
            <a:ext cx="244475" cy="182563"/>
          </a:xfrm>
          <a:prstGeom prst="rect">
            <a:avLst/>
          </a:prstGeom>
          <a:noFill/>
          <a:ln>
            <a:noFill/>
          </a:ln>
          <a:extLst>
            <a:ext uri="{909E8E84-426E-40DD-AFC4-6F175D3DCCD1}">
              <a14:hiddenFill xmlns:a14="http://schemas.microsoft.com/office/drawing/2010/main">
                <a:solidFill>
                  <a:srgbClr val="86BC25"/>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120689F7-D18A-490E-835C-0D744FF2AD0F}" type="datetime'''8''''''''.''''''6'''''''''''''''''''">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8.6</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66" name="Text Placeholder 18">
            <a:extLst>
              <a:ext uri="{FF2B5EF4-FFF2-40B4-BE49-F238E27FC236}">
                <a16:creationId xmlns:a16="http://schemas.microsoft.com/office/drawing/2014/main" id="{4AEB1DB7-A700-400F-B4E5-F306FB66EBD8}"/>
              </a:ext>
            </a:extLst>
          </p:cNvPr>
          <p:cNvSpPr>
            <a:spLocks noGrp="1"/>
          </p:cNvSpPr>
          <p:nvPr>
            <p:custDataLst>
              <p:tags r:id="rId10"/>
            </p:custDataLst>
          </p:nvPr>
        </p:nvSpPr>
        <p:spPr bwMode="gray">
          <a:xfrm>
            <a:off x="9153525" y="4976813"/>
            <a:ext cx="322263" cy="182563"/>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5400" tIns="0" rIns="2540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CBB797ED-1597-4770-A4DA-B313D4DBE2C6}" type="datetime'6''''''''9''''''''''.''''''''0'''''''''''''''''''''">
              <a:rPr kumimoji="0" lang="en-US" altLang="en-US" sz="12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69.0</a:t>
            </a:fld>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39" name="Text Placeholder 18">
            <a:extLst>
              <a:ext uri="{FF2B5EF4-FFF2-40B4-BE49-F238E27FC236}">
                <a16:creationId xmlns:a16="http://schemas.microsoft.com/office/drawing/2014/main" id="{1C397C9D-886D-4FEB-8489-7B0EAB39339D}"/>
              </a:ext>
            </a:extLst>
          </p:cNvPr>
          <p:cNvSpPr>
            <a:spLocks noGrp="1"/>
          </p:cNvSpPr>
          <p:nvPr>
            <p:custDataLst>
              <p:tags r:id="rId11"/>
            </p:custDataLst>
          </p:nvPr>
        </p:nvSpPr>
        <p:spPr bwMode="auto">
          <a:xfrm>
            <a:off x="8999538" y="5775325"/>
            <a:ext cx="63023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2540C7C1-5404-4EFB-A2EB-0DD9A0D9A75D}" type="datetime'''Y''''''''''3''''''''''''''''''''-1''''0'' p''.''a''''.'">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Y3-10 p.a.</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40" name="Text Placeholder 18">
            <a:extLst>
              <a:ext uri="{FF2B5EF4-FFF2-40B4-BE49-F238E27FC236}">
                <a16:creationId xmlns:a16="http://schemas.microsoft.com/office/drawing/2014/main" id="{D8A6BE1F-BD2A-49B8-8A86-9D2709FE4203}"/>
              </a:ext>
            </a:extLst>
          </p:cNvPr>
          <p:cNvSpPr>
            <a:spLocks noGrp="1"/>
          </p:cNvSpPr>
          <p:nvPr>
            <p:custDataLst>
              <p:tags r:id="rId12"/>
            </p:custDataLst>
          </p:nvPr>
        </p:nvSpPr>
        <p:spPr bwMode="gray">
          <a:xfrm>
            <a:off x="6924675" y="4949825"/>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AD14C275-CD87-4C01-B1C4-DE5D2BC48347}" type="datetime'''''''''''2''''''''''7''''''.''1'''''''''''''''">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27.1</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42" name="Text Placeholder 18">
            <a:extLst>
              <a:ext uri="{FF2B5EF4-FFF2-40B4-BE49-F238E27FC236}">
                <a16:creationId xmlns:a16="http://schemas.microsoft.com/office/drawing/2014/main" id="{C6A07351-4A20-4121-99B6-3D32D6396108}"/>
              </a:ext>
            </a:extLst>
          </p:cNvPr>
          <p:cNvSpPr>
            <a:spLocks noGrp="1"/>
          </p:cNvSpPr>
          <p:nvPr>
            <p:custDataLst>
              <p:tags r:id="rId13"/>
            </p:custDataLst>
          </p:nvPr>
        </p:nvSpPr>
        <p:spPr bwMode="gray">
          <a:xfrm>
            <a:off x="8039101" y="4498975"/>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277910FF-251A-41C4-93C5-5925F227472C}" type="datetime'''''''5''''''''''''4''''''''''.''''''''3'''">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54.3</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43" name="Text Placeholder 18">
            <a:extLst>
              <a:ext uri="{FF2B5EF4-FFF2-40B4-BE49-F238E27FC236}">
                <a16:creationId xmlns:a16="http://schemas.microsoft.com/office/drawing/2014/main" id="{0F7F77A9-BAA4-4BE5-9574-9CB10218A882}"/>
              </a:ext>
            </a:extLst>
          </p:cNvPr>
          <p:cNvSpPr>
            <a:spLocks noGrp="1"/>
          </p:cNvSpPr>
          <p:nvPr>
            <p:custDataLst>
              <p:tags r:id="rId14"/>
            </p:custDataLst>
          </p:nvPr>
        </p:nvSpPr>
        <p:spPr bwMode="gray">
          <a:xfrm>
            <a:off x="9153526" y="4102100"/>
            <a:ext cx="3222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9E01DBF4-405A-4483-9D2A-FC0E7ECA6D10}" type="datetime'''''7''''''''7''''''''''''''''''.''''''5'''''''''''''''">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77.5</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75" name="Rectangle 74">
            <a:extLst>
              <a:ext uri="{FF2B5EF4-FFF2-40B4-BE49-F238E27FC236}">
                <a16:creationId xmlns:a16="http://schemas.microsoft.com/office/drawing/2014/main" id="{36E6556F-CA41-47AB-A924-76B4F3981CED}"/>
              </a:ext>
            </a:extLst>
          </p:cNvPr>
          <p:cNvSpPr/>
          <p:nvPr>
            <p:custDataLst>
              <p:tags r:id="rId15"/>
            </p:custDataLst>
          </p:nvPr>
        </p:nvSpPr>
        <p:spPr bwMode="auto">
          <a:xfrm>
            <a:off x="6472238" y="6016625"/>
            <a:ext cx="214313" cy="160338"/>
          </a:xfrm>
          <a:prstGeom prst="rect">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6" name="Rectangle 75">
            <a:extLst>
              <a:ext uri="{FF2B5EF4-FFF2-40B4-BE49-F238E27FC236}">
                <a16:creationId xmlns:a16="http://schemas.microsoft.com/office/drawing/2014/main" id="{D8CAFAFF-5898-4879-AAD6-CEC2AAAA05A0}"/>
              </a:ext>
            </a:extLst>
          </p:cNvPr>
          <p:cNvSpPr/>
          <p:nvPr>
            <p:custDataLst>
              <p:tags r:id="rId16"/>
            </p:custDataLst>
          </p:nvPr>
        </p:nvSpPr>
        <p:spPr bwMode="auto">
          <a:xfrm>
            <a:off x="6472238" y="6249988"/>
            <a:ext cx="214313" cy="160338"/>
          </a:xfrm>
          <a:prstGeom prst="rect">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78" name="Text Placeholder 18">
            <a:extLst>
              <a:ext uri="{FF2B5EF4-FFF2-40B4-BE49-F238E27FC236}">
                <a16:creationId xmlns:a16="http://schemas.microsoft.com/office/drawing/2014/main" id="{0C363191-A7BE-4991-B8B4-10AE9D724E82}"/>
              </a:ext>
            </a:extLst>
          </p:cNvPr>
          <p:cNvSpPr>
            <a:spLocks noGrp="1"/>
          </p:cNvSpPr>
          <p:nvPr>
            <p:custDataLst>
              <p:tags r:id="rId17"/>
            </p:custDataLst>
          </p:nvPr>
        </p:nvSpPr>
        <p:spPr bwMode="auto">
          <a:xfrm>
            <a:off x="6737350" y="6245225"/>
            <a:ext cx="307022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D511EA69-8675-4934-BFCB-6C2131881C7C}" type="datetime'Estimated Savi''ngs fr''''om ''lower ''diesel consumptio''n'''">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Estimated Savings from lower diesel consumption</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77" name="Text Placeholder 18">
            <a:extLst>
              <a:ext uri="{FF2B5EF4-FFF2-40B4-BE49-F238E27FC236}">
                <a16:creationId xmlns:a16="http://schemas.microsoft.com/office/drawing/2014/main" id="{9C70743F-3F14-4D1D-8921-58AC5B56C6E9}"/>
              </a:ext>
            </a:extLst>
          </p:cNvPr>
          <p:cNvSpPr>
            <a:spLocks noGrp="1"/>
          </p:cNvSpPr>
          <p:nvPr>
            <p:custDataLst>
              <p:tags r:id="rId18"/>
            </p:custDataLst>
          </p:nvPr>
        </p:nvSpPr>
        <p:spPr bwMode="auto">
          <a:xfrm>
            <a:off x="6737350" y="6011863"/>
            <a:ext cx="326548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FAB9F979-431D-4375-864F-5713E5475DC2}" type="datetime'Estimated ''Increase in Pro''fit due t''o hi''gher generation'">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Estimated Increase in Profit due to higher generation</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graphicFrame>
        <p:nvGraphicFramePr>
          <p:cNvPr id="67" name="Chart 66">
            <a:extLst>
              <a:ext uri="{FF2B5EF4-FFF2-40B4-BE49-F238E27FC236}">
                <a16:creationId xmlns:a16="http://schemas.microsoft.com/office/drawing/2014/main" id="{67DD9C9D-831D-408A-9E6B-958B0100C1E5}"/>
              </a:ext>
            </a:extLst>
          </p:cNvPr>
          <p:cNvGraphicFramePr/>
          <p:nvPr>
            <p:custDataLst>
              <p:tags r:id="rId19"/>
            </p:custDataLst>
          </p:nvPr>
        </p:nvGraphicFramePr>
        <p:xfrm>
          <a:off x="10420350" y="4022725"/>
          <a:ext cx="1352550" cy="1733550"/>
        </p:xfrm>
        <a:graphic>
          <a:graphicData uri="http://schemas.openxmlformats.org/drawingml/2006/chart">
            <c:chart xmlns:c="http://schemas.openxmlformats.org/drawingml/2006/chart" xmlns:r="http://schemas.openxmlformats.org/officeDocument/2006/relationships" r:id="rId28"/>
          </a:graphicData>
        </a:graphic>
      </p:graphicFrame>
      <p:sp>
        <p:nvSpPr>
          <p:cNvPr id="80" name="Text Placeholder 18">
            <a:extLst>
              <a:ext uri="{FF2B5EF4-FFF2-40B4-BE49-F238E27FC236}">
                <a16:creationId xmlns:a16="http://schemas.microsoft.com/office/drawing/2014/main" id="{861D0937-F2A8-416F-BFEA-60576F342F8D}"/>
              </a:ext>
            </a:extLst>
          </p:cNvPr>
          <p:cNvSpPr>
            <a:spLocks noGrp="1"/>
          </p:cNvSpPr>
          <p:nvPr>
            <p:custDataLst>
              <p:tags r:id="rId20"/>
            </p:custDataLst>
          </p:nvPr>
        </p:nvSpPr>
        <p:spPr bwMode="auto">
          <a:xfrm>
            <a:off x="10914063" y="5775325"/>
            <a:ext cx="36671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7B440DEE-0BB3-4F93-995B-D9BDEAC1FF26}" type="datetime'Y''''''''''''''1''''-''''''''1''''''''''''''0'''''''''''''">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Y1-10</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81" name="Text Placeholder 18">
            <a:extLst>
              <a:ext uri="{FF2B5EF4-FFF2-40B4-BE49-F238E27FC236}">
                <a16:creationId xmlns:a16="http://schemas.microsoft.com/office/drawing/2014/main" id="{DBDC13F9-9D42-4F9E-B645-42C0C84D0E9E}"/>
              </a:ext>
            </a:extLst>
          </p:cNvPr>
          <p:cNvSpPr>
            <a:spLocks noGrp="1"/>
          </p:cNvSpPr>
          <p:nvPr>
            <p:custDataLst>
              <p:tags r:id="rId21"/>
            </p:custDataLst>
          </p:nvPr>
        </p:nvSpPr>
        <p:spPr bwMode="gray">
          <a:xfrm>
            <a:off x="10856913" y="3897313"/>
            <a:ext cx="48101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A0F1E645-E678-44A5-9220-04EB8894936A}" type="datetime'''''7''''0''''''''''''''''''''''1''''''''''.6''''''''''4'''">
              <a:rPr kumimoji="0" lang="en-US" altLang="en-US" sz="1200" b="1"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701.64</a:t>
            </a:fld>
            <a:endParaRPr kumimoji="0" lang="en-US" sz="1200" b="1"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82" name="Isosceles Triangle 81">
            <a:extLst>
              <a:ext uri="{FF2B5EF4-FFF2-40B4-BE49-F238E27FC236}">
                <a16:creationId xmlns:a16="http://schemas.microsoft.com/office/drawing/2014/main" id="{5B761DDC-61EB-400D-AD67-C498A93F3FC6}"/>
              </a:ext>
            </a:extLst>
          </p:cNvPr>
          <p:cNvSpPr/>
          <p:nvPr/>
        </p:nvSpPr>
        <p:spPr bwMode="gray">
          <a:xfrm rot="5400000">
            <a:off x="9478963" y="4837113"/>
            <a:ext cx="1669706" cy="207963"/>
          </a:xfrm>
          <a:prstGeom prst="triangl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aphicFrame>
        <p:nvGraphicFramePr>
          <p:cNvPr id="51" name="Table 21">
            <a:extLst>
              <a:ext uri="{FF2B5EF4-FFF2-40B4-BE49-F238E27FC236}">
                <a16:creationId xmlns:a16="http://schemas.microsoft.com/office/drawing/2014/main" id="{2DE80412-CA10-4291-8247-DD5D37A3243A}"/>
              </a:ext>
            </a:extLst>
          </p:cNvPr>
          <p:cNvGraphicFramePr>
            <a:graphicFrameLocks noGrp="1"/>
          </p:cNvGraphicFramePr>
          <p:nvPr/>
        </p:nvGraphicFramePr>
        <p:xfrm>
          <a:off x="6529067" y="2921000"/>
          <a:ext cx="5144200" cy="695325"/>
        </p:xfrm>
        <a:graphic>
          <a:graphicData uri="http://schemas.openxmlformats.org/drawingml/2006/table">
            <a:tbl>
              <a:tblPr firstRow="1" bandRow="1">
                <a:tableStyleId>{21E4AEA4-8DFA-4A89-87EB-49C32662AFE0}</a:tableStyleId>
              </a:tblPr>
              <a:tblGrid>
                <a:gridCol w="896792">
                  <a:extLst>
                    <a:ext uri="{9D8B030D-6E8A-4147-A177-3AD203B41FA5}">
                      <a16:colId xmlns:a16="http://schemas.microsoft.com/office/drawing/2014/main" val="22772272"/>
                    </a:ext>
                  </a:extLst>
                </a:gridCol>
                <a:gridCol w="896792">
                  <a:extLst>
                    <a:ext uri="{9D8B030D-6E8A-4147-A177-3AD203B41FA5}">
                      <a16:colId xmlns:a16="http://schemas.microsoft.com/office/drawing/2014/main" val="2572693388"/>
                    </a:ext>
                  </a:extLst>
                </a:gridCol>
                <a:gridCol w="896792">
                  <a:extLst>
                    <a:ext uri="{9D8B030D-6E8A-4147-A177-3AD203B41FA5}">
                      <a16:colId xmlns:a16="http://schemas.microsoft.com/office/drawing/2014/main" val="951154567"/>
                    </a:ext>
                  </a:extLst>
                </a:gridCol>
                <a:gridCol w="896792">
                  <a:extLst>
                    <a:ext uri="{9D8B030D-6E8A-4147-A177-3AD203B41FA5}">
                      <a16:colId xmlns:a16="http://schemas.microsoft.com/office/drawing/2014/main" val="2788998700"/>
                    </a:ext>
                  </a:extLst>
                </a:gridCol>
                <a:gridCol w="896792">
                  <a:extLst>
                    <a:ext uri="{9D8B030D-6E8A-4147-A177-3AD203B41FA5}">
                      <a16:colId xmlns:a16="http://schemas.microsoft.com/office/drawing/2014/main" val="790048796"/>
                    </a:ext>
                  </a:extLst>
                </a:gridCol>
                <a:gridCol w="660240">
                  <a:extLst>
                    <a:ext uri="{9D8B030D-6E8A-4147-A177-3AD203B41FA5}">
                      <a16:colId xmlns:a16="http://schemas.microsoft.com/office/drawing/2014/main" val="2081733403"/>
                    </a:ext>
                  </a:extLst>
                </a:gridCol>
              </a:tblGrid>
              <a:tr h="379268">
                <a:tc gridSpan="6">
                  <a:txBody>
                    <a:bodyPr/>
                    <a:lstStyle/>
                    <a:p>
                      <a:pPr algn="ctr"/>
                      <a:r>
                        <a:rPr lang="en-US" sz="1200" dirty="0"/>
                        <a:t>Savings Realization (%) </a:t>
                      </a:r>
                      <a:endParaRPr lang="en-US" sz="1200" dirty="0">
                        <a:latin typeface="+mn-lt"/>
                      </a:endParaRPr>
                    </a:p>
                  </a:txBody>
                  <a:tcPr marL="45720" marR="45720"/>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tc hMerge="1">
                  <a:txBody>
                    <a:bodyPr/>
                    <a:lstStyle/>
                    <a:p>
                      <a:endParaRPr lang="en-US" sz="1200" dirty="0">
                        <a:latin typeface="+mn-lt"/>
                      </a:endParaRPr>
                    </a:p>
                  </a:txBody>
                  <a:tcPr marL="45720" marR="45720">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307465169"/>
                  </a:ext>
                </a:extLst>
              </a:tr>
              <a:tr h="316057">
                <a:tc>
                  <a:txBody>
                    <a:bodyPr/>
                    <a:lstStyle/>
                    <a:p>
                      <a:pPr marL="0" algn="l" defTabSz="914400" rtl="0" eaLnBrk="1" fontAlgn="ctr" latinLnBrk="0" hangingPunct="1"/>
                      <a:r>
                        <a:rPr lang="en-US" sz="1200" b="1" u="none" strike="noStrike" kern="1200" dirty="0">
                          <a:effectLst/>
                        </a:rPr>
                        <a:t>Year 1</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u="none" strike="noStrike" kern="1200" dirty="0">
                          <a:effectLst/>
                        </a:rPr>
                        <a:t>35%</a:t>
                      </a:r>
                      <a:endParaRPr lang="en-US" sz="1200" b="1" i="0" u="none" strike="noStrike" kern="1200" dirty="0">
                        <a:solidFill>
                          <a:srgbClr val="000000"/>
                        </a:solidFill>
                        <a:effectLst/>
                        <a:latin typeface="+mn-lt"/>
                        <a:ea typeface="+mn-ea"/>
                        <a:cs typeface="+mn-cs"/>
                      </a:endParaRPr>
                    </a:p>
                  </a:txBody>
                  <a:tcPr marL="45720" marR="45720" anchor="ctr">
                    <a:solidFill>
                      <a:schemeClr val="accent1">
                        <a:lumMod val="20000"/>
                        <a:lumOff val="80000"/>
                      </a:schemeClr>
                    </a:solidFill>
                  </a:tcPr>
                </a:tc>
                <a:tc>
                  <a:txBody>
                    <a:bodyPr/>
                    <a:lstStyle/>
                    <a:p>
                      <a:pPr marL="0" algn="l" defTabSz="914400" rtl="0" eaLnBrk="1" fontAlgn="ctr" latinLnBrk="0" hangingPunct="1"/>
                      <a:r>
                        <a:rPr lang="en-US" sz="1200" b="1" u="none" strike="noStrike" kern="1200" dirty="0">
                          <a:effectLst/>
                        </a:rPr>
                        <a:t>Year 2</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i="0" u="none" strike="noStrike" kern="1200" dirty="0">
                          <a:solidFill>
                            <a:srgbClr val="000000"/>
                          </a:solidFill>
                          <a:effectLst/>
                          <a:latin typeface="+mn-lt"/>
                          <a:ea typeface="+mn-ea"/>
                          <a:cs typeface="+mn-cs"/>
                        </a:rPr>
                        <a:t>70%</a:t>
                      </a:r>
                    </a:p>
                  </a:txBody>
                  <a:tcPr marL="45720" marR="45720" anchor="ctr">
                    <a:solidFill>
                      <a:schemeClr val="accent1">
                        <a:lumMod val="20000"/>
                        <a:lumOff val="80000"/>
                      </a:schemeClr>
                    </a:solidFill>
                  </a:tcPr>
                </a:tc>
                <a:tc>
                  <a:txBody>
                    <a:bodyPr/>
                    <a:lstStyle/>
                    <a:p>
                      <a:pPr marL="0" algn="ctr" defTabSz="914400" rtl="0" eaLnBrk="1" fontAlgn="ctr" latinLnBrk="0" hangingPunct="1"/>
                      <a:r>
                        <a:rPr lang="en-US" sz="1200" b="1" u="none" strike="noStrike" kern="1200" dirty="0">
                          <a:effectLst/>
                        </a:rPr>
                        <a:t>Year 3-10</a:t>
                      </a:r>
                      <a:endParaRPr lang="en-US" sz="1200" b="1" i="0" u="none" strike="noStrike" kern="1200" dirty="0">
                        <a:solidFill>
                          <a:srgbClr val="000000"/>
                        </a:solidFill>
                        <a:effectLst/>
                        <a:latin typeface="+mn-lt"/>
                        <a:ea typeface="+mn-ea"/>
                        <a:cs typeface="+mn-cs"/>
                      </a:endParaRPr>
                    </a:p>
                  </a:txBody>
                  <a:tcPr marL="45720" marR="45720" anchor="ctr"/>
                </a:tc>
                <a:tc>
                  <a:txBody>
                    <a:bodyPr/>
                    <a:lstStyle/>
                    <a:p>
                      <a:pPr marL="0" algn="ctr" defTabSz="914400" rtl="0" eaLnBrk="1" fontAlgn="ctr" latinLnBrk="0" hangingPunct="1"/>
                      <a:r>
                        <a:rPr lang="en-US" sz="1200" b="1" i="0" u="none" strike="noStrike" kern="1200" dirty="0">
                          <a:solidFill>
                            <a:srgbClr val="000000"/>
                          </a:solidFill>
                          <a:effectLst/>
                          <a:latin typeface="+mn-lt"/>
                          <a:ea typeface="+mn-ea"/>
                          <a:cs typeface="+mn-cs"/>
                        </a:rPr>
                        <a:t>100%</a:t>
                      </a:r>
                    </a:p>
                  </a:txBody>
                  <a:tcPr marL="45720" marR="45720" anchor="ctr">
                    <a:solidFill>
                      <a:schemeClr val="accent1">
                        <a:lumMod val="20000"/>
                        <a:lumOff val="80000"/>
                      </a:schemeClr>
                    </a:solidFill>
                  </a:tcPr>
                </a:tc>
                <a:extLst>
                  <a:ext uri="{0D108BD9-81ED-4DB2-BD59-A6C34878D82A}">
                    <a16:rowId xmlns:a16="http://schemas.microsoft.com/office/drawing/2014/main" val="2297181138"/>
                  </a:ext>
                </a:extLst>
              </a:tr>
            </a:tbl>
          </a:graphicData>
        </a:graphic>
      </p:graphicFrame>
    </p:spTree>
    <p:extLst>
      <p:ext uri="{BB962C8B-B14F-4D97-AF65-F5344CB8AC3E}">
        <p14:creationId xmlns:p14="http://schemas.microsoft.com/office/powerpoint/2010/main" val="425450369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0" imgW="498" imgH="499" progId="TCLayout.ActiveDocument.1">
                  <p:embed/>
                </p:oleObj>
              </mc:Choice>
              <mc:Fallback>
                <p:oleObj name="think-cell Slide" r:id="rId80"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81"/>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F8626F80-32EA-4C8C-916C-191184E4D266}"/>
              </a:ext>
            </a:extLst>
          </p:cNvPr>
          <p:cNvSpPr/>
          <p:nvPr/>
        </p:nvSpPr>
        <p:spPr bwMode="gray">
          <a:xfrm>
            <a:off x="517187" y="1243377"/>
            <a:ext cx="11188701" cy="311484"/>
          </a:xfrm>
          <a:prstGeom prst="rect">
            <a:avLst/>
          </a:prstGeom>
          <a:solidFill>
            <a:schemeClr val="tx1">
              <a:lumMod val="65000"/>
              <a:lumOff val="35000"/>
            </a:schemeClr>
          </a:solidFill>
          <a:ln w="19050" algn="ctr">
            <a:noFill/>
            <a:miter lim="800000"/>
            <a:headEnd/>
            <a:tailEnd/>
          </a:ln>
        </p:spPr>
        <p:txBody>
          <a:bodyPr wrap="square" lIns="0" tIns="0" rIns="0" bIns="0" rtlCol="0" anchor="ctr"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Verdana" panose="020B0604030504040204" pitchFamily="34" charset="0"/>
                <a:ea typeface="+mn-ea"/>
                <a:cs typeface="+mn-cs"/>
              </a:rPr>
              <a:t>STELCO – ERP Tangible Benefit Analysis (Values in MVR unless specified)</a:t>
            </a:r>
          </a:p>
        </p:txBody>
      </p:sp>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Implementation of ERP modules in key business process such as Procurement &amp; Inventory Management and Maintenance can lead to substantial tangible benefits</a:t>
            </a:r>
            <a:endParaRPr lang="en-IN" b="1" dirty="0"/>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Benefit Analysis – Summary (Tangible Benefits)</a:t>
            </a:r>
            <a:endParaRPr lang="en-GB" dirty="0"/>
          </a:p>
        </p:txBody>
      </p:sp>
      <p:graphicFrame>
        <p:nvGraphicFramePr>
          <p:cNvPr id="125" name="Chart 124">
            <a:extLst>
              <a:ext uri="{FF2B5EF4-FFF2-40B4-BE49-F238E27FC236}">
                <a16:creationId xmlns:a16="http://schemas.microsoft.com/office/drawing/2014/main" id="{02ABD127-ED64-45FC-9CAA-6EDDD80154B4}"/>
              </a:ext>
            </a:extLst>
          </p:cNvPr>
          <p:cNvGraphicFramePr/>
          <p:nvPr>
            <p:custDataLst>
              <p:tags r:id="rId2"/>
            </p:custDataLst>
          </p:nvPr>
        </p:nvGraphicFramePr>
        <p:xfrm>
          <a:off x="419100" y="2514600"/>
          <a:ext cx="5299075" cy="2044700"/>
        </p:xfrm>
        <a:graphic>
          <a:graphicData uri="http://schemas.openxmlformats.org/drawingml/2006/chart">
            <c:chart xmlns:c="http://schemas.openxmlformats.org/drawingml/2006/chart" xmlns:r="http://schemas.openxmlformats.org/officeDocument/2006/relationships" r:id="rId82"/>
          </a:graphicData>
        </a:graphic>
      </p:graphicFrame>
      <p:cxnSp>
        <p:nvCxnSpPr>
          <p:cNvPr id="4" name="Straight Connector 3">
            <a:extLst>
              <a:ext uri="{FF2B5EF4-FFF2-40B4-BE49-F238E27FC236}">
                <a16:creationId xmlns:a16="http://schemas.microsoft.com/office/drawing/2014/main" id="{AD2E9C36-5843-4DB4-93FE-E52DD51FA154}"/>
              </a:ext>
            </a:extLst>
          </p:cNvPr>
          <p:cNvCxnSpPr/>
          <p:nvPr>
            <p:custDataLst>
              <p:tags r:id="rId3"/>
            </p:custDataLst>
          </p:nvPr>
        </p:nvCxnSpPr>
        <p:spPr bwMode="auto">
          <a:xfrm flipH="1">
            <a:off x="863600" y="4002088"/>
            <a:ext cx="52388" cy="0"/>
          </a:xfrm>
          <a:prstGeom prst="line">
            <a:avLst/>
          </a:prstGeom>
          <a:ln w="6350" cap="flat" cmpd="sng" algn="ctr">
            <a:solidFill>
              <a:schemeClr val="tx1"/>
            </a:solidFill>
            <a:prstDash val="solid"/>
            <a:round/>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1" name="Text Placeholder 18">
            <a:extLst>
              <a:ext uri="{FF2B5EF4-FFF2-40B4-BE49-F238E27FC236}">
                <a16:creationId xmlns:a16="http://schemas.microsoft.com/office/drawing/2014/main" id="{EFC9A7D3-9FCD-4E3E-AC2E-63291FFBC909}"/>
              </a:ext>
            </a:extLst>
          </p:cNvPr>
          <p:cNvSpPr>
            <a:spLocks noGrp="1"/>
          </p:cNvSpPr>
          <p:nvPr>
            <p:custDataLst>
              <p:tags r:id="rId4"/>
            </p:custDataLst>
          </p:nvPr>
        </p:nvSpPr>
        <p:spPr bwMode="auto">
          <a:xfrm>
            <a:off x="687388" y="4562475"/>
            <a:ext cx="139700"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9504731D-A697-463C-8926-DB75706AB2E2}" type="datetime'''''''''Y''''''''''''''''''''''''''''''1'''''''''''''''''''''">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85" name="Text Placeholder 18">
            <a:extLst>
              <a:ext uri="{FF2B5EF4-FFF2-40B4-BE49-F238E27FC236}">
                <a16:creationId xmlns:a16="http://schemas.microsoft.com/office/drawing/2014/main" id="{BD6E9ADF-F82E-4B9B-B70E-B8F0EC9F1EB5}"/>
              </a:ext>
            </a:extLst>
          </p:cNvPr>
          <p:cNvSpPr>
            <a:spLocks noGrp="1"/>
          </p:cNvSpPr>
          <p:nvPr>
            <p:custDataLst>
              <p:tags r:id="rId5"/>
            </p:custDataLst>
          </p:nvPr>
        </p:nvSpPr>
        <p:spPr bwMode="auto">
          <a:xfrm>
            <a:off x="4795838" y="4562475"/>
            <a:ext cx="139700"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1A1D75CB-3658-4DD6-AEA2-51079917BB3B}" type="datetime'''''''''''''''''''''''''''''''''''''''''''''''''''Y''9'''">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Y9</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30" name="Text Placeholder 18">
            <a:extLst>
              <a:ext uri="{FF2B5EF4-FFF2-40B4-BE49-F238E27FC236}">
                <a16:creationId xmlns:a16="http://schemas.microsoft.com/office/drawing/2014/main" id="{11D74D02-5A31-4637-8024-19F666BEA06B}"/>
              </a:ext>
            </a:extLst>
          </p:cNvPr>
          <p:cNvSpPr>
            <a:spLocks noGrp="1"/>
          </p:cNvSpPr>
          <p:nvPr>
            <p:custDataLst>
              <p:tags r:id="rId6"/>
            </p:custDataLst>
          </p:nvPr>
        </p:nvSpPr>
        <p:spPr bwMode="gray">
          <a:xfrm>
            <a:off x="915988" y="3925888"/>
            <a:ext cx="203200" cy="152400"/>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768CC48C-5E80-49F4-B7AD-E2E0D3A94353}" type="datetime'''''''''''1.''''''''''9'''''">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1.9</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88" name="Text Placeholder 18">
            <a:extLst>
              <a:ext uri="{FF2B5EF4-FFF2-40B4-BE49-F238E27FC236}">
                <a16:creationId xmlns:a16="http://schemas.microsoft.com/office/drawing/2014/main" id="{1DC31AAF-F10E-4CD1-92F2-DC83897CE3AC}"/>
              </a:ext>
            </a:extLst>
          </p:cNvPr>
          <p:cNvSpPr>
            <a:spLocks noGrp="1"/>
          </p:cNvSpPr>
          <p:nvPr>
            <p:custDataLst>
              <p:tags r:id="rId7"/>
            </p:custDataLst>
          </p:nvPr>
        </p:nvSpPr>
        <p:spPr bwMode="gray">
          <a:xfrm>
            <a:off x="2165350" y="2419350"/>
            <a:ext cx="2682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3709857D-2F04-414B-A20F-7964DA1DF098}" type="datetime'''''''''''''5''''''''''''''''0.''''''''''''''''''''''''''0'''">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50.0</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83" name="Text Placeholder 18">
            <a:extLst>
              <a:ext uri="{FF2B5EF4-FFF2-40B4-BE49-F238E27FC236}">
                <a16:creationId xmlns:a16="http://schemas.microsoft.com/office/drawing/2014/main" id="{F66A2316-F07E-4018-9136-CF5DBEFA5974}"/>
              </a:ext>
            </a:extLst>
          </p:cNvPr>
          <p:cNvSpPr>
            <a:spLocks noGrp="1"/>
          </p:cNvSpPr>
          <p:nvPr>
            <p:custDataLst>
              <p:tags r:id="rId8"/>
            </p:custDataLst>
          </p:nvPr>
        </p:nvSpPr>
        <p:spPr bwMode="auto">
          <a:xfrm>
            <a:off x="3768725" y="4562475"/>
            <a:ext cx="139700"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0565043A-A424-49DC-A4E8-9D2A440B7DAB}" type="datetime'''Y''''''''''''''''''''''''''''''''''''''7'''''">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Y7</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29" name="Text Placeholder 18">
            <a:extLst>
              <a:ext uri="{FF2B5EF4-FFF2-40B4-BE49-F238E27FC236}">
                <a16:creationId xmlns:a16="http://schemas.microsoft.com/office/drawing/2014/main" id="{D9460093-0026-4158-B411-6AFAE6B321BF}"/>
              </a:ext>
            </a:extLst>
          </p:cNvPr>
          <p:cNvSpPr>
            <a:spLocks noGrp="1"/>
          </p:cNvSpPr>
          <p:nvPr>
            <p:custDataLst>
              <p:tags r:id="rId9"/>
            </p:custDataLst>
          </p:nvPr>
        </p:nvSpPr>
        <p:spPr bwMode="gray">
          <a:xfrm>
            <a:off x="655638" y="3816350"/>
            <a:ext cx="203200" cy="152400"/>
          </a:xfrm>
          <a:prstGeom prst="rect">
            <a:avLst/>
          </a:prstGeom>
          <a:noFill/>
          <a:ln>
            <a:noFill/>
          </a:ln>
          <a:extLst>
            <a:ext uri="{909E8E84-426E-40DD-AFC4-6F175D3DCCD1}">
              <a14:hiddenFill xmlns:a14="http://schemas.microsoft.com/office/drawing/2010/main">
                <a:solidFill>
                  <a:srgbClr val="62B5E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803C154F-2EA2-4C96-BF17-484263A73C0E}" type="datetime'''''''''''3''''''.''''''''''''''9'''''''''''''''''''''">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3.9</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17" name="Text Placeholder 18">
            <a:extLst>
              <a:ext uri="{FF2B5EF4-FFF2-40B4-BE49-F238E27FC236}">
                <a16:creationId xmlns:a16="http://schemas.microsoft.com/office/drawing/2014/main" id="{E60C21EA-1A5B-427F-B2EA-1AAFA881F53F}"/>
              </a:ext>
            </a:extLst>
          </p:cNvPr>
          <p:cNvSpPr>
            <a:spLocks noGrp="1"/>
          </p:cNvSpPr>
          <p:nvPr>
            <p:custDataLst>
              <p:tags r:id="rId10"/>
            </p:custDataLst>
          </p:nvPr>
        </p:nvSpPr>
        <p:spPr bwMode="gray">
          <a:xfrm>
            <a:off x="4732338" y="2730500"/>
            <a:ext cx="268288" cy="152400"/>
          </a:xfrm>
          <a:prstGeom prst="rect">
            <a:avLst/>
          </a:prstGeom>
          <a:noFill/>
          <a:ln>
            <a:noFill/>
          </a:ln>
          <a:extLst>
            <a:ext uri="{909E8E84-426E-40DD-AFC4-6F175D3DCCD1}">
              <a14:hiddenFill xmlns:a14="http://schemas.microsoft.com/office/drawing/2010/main">
                <a:solidFill>
                  <a:srgbClr val="012169"/>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9B80ADE4-7807-45F4-8105-D51F3BD5C49A}" type="datetime'''1''''''''''''''''''1''''.''''''''''''''''''2'''''''''''''''">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11.2</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03" name="Text Placeholder 18">
            <a:extLst>
              <a:ext uri="{FF2B5EF4-FFF2-40B4-BE49-F238E27FC236}">
                <a16:creationId xmlns:a16="http://schemas.microsoft.com/office/drawing/2014/main" id="{44590E41-0456-47CF-8338-CEA4790EDA6A}"/>
              </a:ext>
            </a:extLst>
          </p:cNvPr>
          <p:cNvSpPr>
            <a:spLocks noGrp="1"/>
          </p:cNvSpPr>
          <p:nvPr>
            <p:custDataLst>
              <p:tags r:id="rId11"/>
            </p:custDataLst>
          </p:nvPr>
        </p:nvSpPr>
        <p:spPr bwMode="gray">
          <a:xfrm>
            <a:off x="2197100" y="3043238"/>
            <a:ext cx="203200" cy="152400"/>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F0BCE40D-0B56-4795-B6C8-1383D84D62CC}" type="datetime'5''''''''''''.''''''''''''''''''''''''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97" name="Text Placeholder 18">
            <a:extLst>
              <a:ext uri="{FF2B5EF4-FFF2-40B4-BE49-F238E27FC236}">
                <a16:creationId xmlns:a16="http://schemas.microsoft.com/office/drawing/2014/main" id="{EC7A3488-37C6-4932-A182-50C9BFE49FAB}"/>
              </a:ext>
            </a:extLst>
          </p:cNvPr>
          <p:cNvSpPr>
            <a:spLocks noGrp="1"/>
          </p:cNvSpPr>
          <p:nvPr>
            <p:custDataLst>
              <p:tags r:id="rId12"/>
            </p:custDataLst>
          </p:nvPr>
        </p:nvSpPr>
        <p:spPr bwMode="gray">
          <a:xfrm>
            <a:off x="1169988" y="3449638"/>
            <a:ext cx="203200" cy="152400"/>
          </a:xfrm>
          <a:prstGeom prst="rect">
            <a:avLst/>
          </a:prstGeom>
          <a:noFill/>
          <a:ln>
            <a:noFill/>
          </a:ln>
          <a:extLst>
            <a:ext uri="{909E8E84-426E-40DD-AFC4-6F175D3DCCD1}">
              <a14:hiddenFill xmlns:a14="http://schemas.microsoft.com/office/drawing/2010/main">
                <a:solidFill>
                  <a:srgbClr val="62B5E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6B297C57-9280-4BEB-ABCF-EEFA7EB6F05B}" type="datetime'''''''''''''''''''''''''''''''''''''3''''''''.''''''''''8'''''">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3.8</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95" name="Text Placeholder 18">
            <a:extLst>
              <a:ext uri="{FF2B5EF4-FFF2-40B4-BE49-F238E27FC236}">
                <a16:creationId xmlns:a16="http://schemas.microsoft.com/office/drawing/2014/main" id="{06DE3DA7-868D-499B-928C-8BA02C95CD25}"/>
              </a:ext>
            </a:extLst>
          </p:cNvPr>
          <p:cNvSpPr>
            <a:spLocks noGrp="1"/>
          </p:cNvSpPr>
          <p:nvPr>
            <p:custDataLst>
              <p:tags r:id="rId13"/>
            </p:custDataLst>
          </p:nvPr>
        </p:nvSpPr>
        <p:spPr bwMode="gray">
          <a:xfrm>
            <a:off x="623888" y="4179888"/>
            <a:ext cx="268288" cy="152400"/>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402A1E4E-47D6-499F-A149-AE476BC4165E}" type="datetime'''''''''''''''''1''''''''''''''1''''''.7'''''''''''''''''''">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11.7</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04" name="Text Placeholder 18">
            <a:extLst>
              <a:ext uri="{FF2B5EF4-FFF2-40B4-BE49-F238E27FC236}">
                <a16:creationId xmlns:a16="http://schemas.microsoft.com/office/drawing/2014/main" id="{269F9CF5-1071-47A0-9EB3-24E883847E19}"/>
              </a:ext>
            </a:extLst>
          </p:cNvPr>
          <p:cNvSpPr>
            <a:spLocks noGrp="1"/>
          </p:cNvSpPr>
          <p:nvPr>
            <p:custDataLst>
              <p:tags r:id="rId14"/>
            </p:custDataLst>
          </p:nvPr>
        </p:nvSpPr>
        <p:spPr bwMode="gray">
          <a:xfrm>
            <a:off x="2165350" y="3771900"/>
            <a:ext cx="268288" cy="152400"/>
          </a:xfrm>
          <a:prstGeom prst="rect">
            <a:avLst/>
          </a:prstGeom>
          <a:noFill/>
          <a:ln>
            <a:noFill/>
          </a:ln>
          <a:extLst>
            <a:ext uri="{909E8E84-426E-40DD-AFC4-6F175D3DCCD1}">
              <a14:hiddenFill xmlns:a14="http://schemas.microsoft.com/office/drawing/2010/main">
                <a:solidFill>
                  <a:srgbClr val="86BC2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BFE46E90-DB78-4473-860B-7D78A0EE4D0B}" type="datetime'''''3''''3''''''.''''''''''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33.4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96" name="Text Placeholder 18">
            <a:extLst>
              <a:ext uri="{FF2B5EF4-FFF2-40B4-BE49-F238E27FC236}">
                <a16:creationId xmlns:a16="http://schemas.microsoft.com/office/drawing/2014/main" id="{57CD751F-2577-46C1-B11A-5D232FFAC40E}"/>
              </a:ext>
            </a:extLst>
          </p:cNvPr>
          <p:cNvSpPr>
            <a:spLocks noGrp="1"/>
          </p:cNvSpPr>
          <p:nvPr>
            <p:custDataLst>
              <p:tags r:id="rId15"/>
            </p:custDataLst>
          </p:nvPr>
        </p:nvSpPr>
        <p:spPr bwMode="gray">
          <a:xfrm>
            <a:off x="1169988" y="3232150"/>
            <a:ext cx="203200" cy="152400"/>
          </a:xfrm>
          <a:prstGeom prst="rect">
            <a:avLst/>
          </a:prstGeom>
          <a:noFill/>
          <a:ln>
            <a:noFill/>
          </a:ln>
          <a:extLst>
            <a:ext uri="{909E8E84-426E-40DD-AFC4-6F175D3DCCD1}">
              <a14:hiddenFill xmlns:a14="http://schemas.microsoft.com/office/drawing/2010/main">
                <a:solidFill>
                  <a:srgbClr val="62B5E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F4DCBF62-90ED-459F-9743-A5C2591EF7B6}" type="datetime'''7.''''8'''''''''''''''''''''''''''''''''''">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7.8</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98" name="Text Placeholder 18">
            <a:extLst>
              <a:ext uri="{FF2B5EF4-FFF2-40B4-BE49-F238E27FC236}">
                <a16:creationId xmlns:a16="http://schemas.microsoft.com/office/drawing/2014/main" id="{517BBFD0-4D9F-406A-89EF-6B5C9ABDBDF6}"/>
              </a:ext>
            </a:extLst>
          </p:cNvPr>
          <p:cNvSpPr>
            <a:spLocks noGrp="1"/>
          </p:cNvSpPr>
          <p:nvPr>
            <p:custDataLst>
              <p:tags r:id="rId16"/>
            </p:custDataLst>
          </p:nvPr>
        </p:nvSpPr>
        <p:spPr bwMode="gray">
          <a:xfrm>
            <a:off x="1138238" y="3960813"/>
            <a:ext cx="268288" cy="152400"/>
          </a:xfrm>
          <a:prstGeom prst="rect">
            <a:avLst/>
          </a:prstGeom>
          <a:noFill/>
          <a:ln>
            <a:noFill/>
          </a:ln>
          <a:extLst>
            <a:ext uri="{909E8E84-426E-40DD-AFC4-6F175D3DCCD1}">
              <a14:hiddenFill xmlns:a14="http://schemas.microsoft.com/office/drawing/2010/main">
                <a:solidFill>
                  <a:srgbClr val="86BC2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E4A81D83-4D55-4229-B284-62A5F4726D8A}" type="datetime'''''23''''''''.''''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23.4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12" name="Text Placeholder 18">
            <a:extLst>
              <a:ext uri="{FF2B5EF4-FFF2-40B4-BE49-F238E27FC236}">
                <a16:creationId xmlns:a16="http://schemas.microsoft.com/office/drawing/2014/main" id="{7353E533-A3A3-4944-BCF0-2E71728B0006}"/>
              </a:ext>
            </a:extLst>
          </p:cNvPr>
          <p:cNvSpPr>
            <a:spLocks noGrp="1"/>
          </p:cNvSpPr>
          <p:nvPr>
            <p:custDataLst>
              <p:tags r:id="rId17"/>
            </p:custDataLst>
          </p:nvPr>
        </p:nvSpPr>
        <p:spPr bwMode="gray">
          <a:xfrm>
            <a:off x="3736975" y="3043238"/>
            <a:ext cx="203200" cy="152400"/>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9930E123-76B1-4886-9EE8-FB59134E4276}" type="datetime'''''''''5''''''''''''''''''''''''''''''''''''''''''''.''''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82" name="Text Placeholder 18">
            <a:extLst>
              <a:ext uri="{FF2B5EF4-FFF2-40B4-BE49-F238E27FC236}">
                <a16:creationId xmlns:a16="http://schemas.microsoft.com/office/drawing/2014/main" id="{49BE806B-17C2-43D3-85D6-0B0085446AFE}"/>
              </a:ext>
            </a:extLst>
          </p:cNvPr>
          <p:cNvSpPr>
            <a:spLocks noGrp="1"/>
          </p:cNvSpPr>
          <p:nvPr>
            <p:custDataLst>
              <p:tags r:id="rId18"/>
            </p:custDataLst>
          </p:nvPr>
        </p:nvSpPr>
        <p:spPr bwMode="auto">
          <a:xfrm>
            <a:off x="3254375" y="4562475"/>
            <a:ext cx="139700"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49F68EA2-27E6-418F-B583-7DC40BE9D27B}" type="datetime'''''''''''''''''''''''''''Y''''''''''''''''6'''''''''''''">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Y6</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05" name="Text Placeholder 18">
            <a:extLst>
              <a:ext uri="{FF2B5EF4-FFF2-40B4-BE49-F238E27FC236}">
                <a16:creationId xmlns:a16="http://schemas.microsoft.com/office/drawing/2014/main" id="{5599F0E4-AFD4-405E-A14F-3EC47680AE09}"/>
              </a:ext>
            </a:extLst>
          </p:cNvPr>
          <p:cNvSpPr>
            <a:spLocks noGrp="1"/>
          </p:cNvSpPr>
          <p:nvPr>
            <p:custDataLst>
              <p:tags r:id="rId19"/>
            </p:custDataLst>
          </p:nvPr>
        </p:nvSpPr>
        <p:spPr bwMode="gray">
          <a:xfrm>
            <a:off x="2678113" y="2730500"/>
            <a:ext cx="268288" cy="152400"/>
          </a:xfrm>
          <a:prstGeom prst="rect">
            <a:avLst/>
          </a:prstGeom>
          <a:noFill/>
          <a:ln>
            <a:noFill/>
          </a:ln>
          <a:extLst>
            <a:ext uri="{909E8E84-426E-40DD-AFC4-6F175D3DCCD1}">
              <a14:hiddenFill xmlns:a14="http://schemas.microsoft.com/office/drawing/2010/main">
                <a:solidFill>
                  <a:srgbClr val="012169"/>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8C52DACB-C122-4F09-8E88-C6FAA19157EC}" type="datetime'''''''1''''''''''1''''''''''''.''''''''''2'">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11.2</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52" name="Text Placeholder 18">
            <a:extLst>
              <a:ext uri="{FF2B5EF4-FFF2-40B4-BE49-F238E27FC236}">
                <a16:creationId xmlns:a16="http://schemas.microsoft.com/office/drawing/2014/main" id="{EE9CC71F-CB03-4156-B5DF-D9EE88DB03DA}"/>
              </a:ext>
            </a:extLst>
          </p:cNvPr>
          <p:cNvSpPr>
            <a:spLocks noGrp="1"/>
          </p:cNvSpPr>
          <p:nvPr>
            <p:custDataLst>
              <p:tags r:id="rId20"/>
            </p:custDataLst>
          </p:nvPr>
        </p:nvSpPr>
        <p:spPr bwMode="auto">
          <a:xfrm>
            <a:off x="1201738" y="4562475"/>
            <a:ext cx="139700"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F4ED5DFE-6E58-4CBF-8449-610D32F5C859}" type="datetime'''''''''''''''''Y''''''''''''''''''2'''''''''''''''''''''''">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Y2</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60" name="Text Placeholder 18">
            <a:extLst>
              <a:ext uri="{FF2B5EF4-FFF2-40B4-BE49-F238E27FC236}">
                <a16:creationId xmlns:a16="http://schemas.microsoft.com/office/drawing/2014/main" id="{F5DCC8F7-301E-4127-837E-F16B3DB2EE3B}"/>
              </a:ext>
            </a:extLst>
          </p:cNvPr>
          <p:cNvSpPr>
            <a:spLocks noGrp="1"/>
          </p:cNvSpPr>
          <p:nvPr>
            <p:custDataLst>
              <p:tags r:id="rId21"/>
            </p:custDataLst>
          </p:nvPr>
        </p:nvSpPr>
        <p:spPr bwMode="gray">
          <a:xfrm>
            <a:off x="623888" y="3641725"/>
            <a:ext cx="2682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E3FB6126-C7D6-4178-B1A9-8E80524742B8}" type="datetime'''''''''''1''''''''''''''''''''''''7.''''''''''''''''5'''''">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17.5</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09" name="Text Placeholder 18">
            <a:extLst>
              <a:ext uri="{FF2B5EF4-FFF2-40B4-BE49-F238E27FC236}">
                <a16:creationId xmlns:a16="http://schemas.microsoft.com/office/drawing/2014/main" id="{EAA3623B-0B76-4FBF-BE47-E85AB4AB2706}"/>
              </a:ext>
            </a:extLst>
          </p:cNvPr>
          <p:cNvSpPr>
            <a:spLocks noGrp="1"/>
          </p:cNvSpPr>
          <p:nvPr>
            <p:custDataLst>
              <p:tags r:id="rId22"/>
            </p:custDataLst>
          </p:nvPr>
        </p:nvSpPr>
        <p:spPr bwMode="gray">
          <a:xfrm>
            <a:off x="3222625" y="3043238"/>
            <a:ext cx="203200" cy="152400"/>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4EBD4945-9529-4524-B707-15639CDF4299}" type="datetime'5''''''''''.''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99" name="Text Placeholder 18">
            <a:extLst>
              <a:ext uri="{FF2B5EF4-FFF2-40B4-BE49-F238E27FC236}">
                <a16:creationId xmlns:a16="http://schemas.microsoft.com/office/drawing/2014/main" id="{5D06E3C2-D5A1-468F-87D6-D5F5F5C0F8EE}"/>
              </a:ext>
            </a:extLst>
          </p:cNvPr>
          <p:cNvSpPr>
            <a:spLocks noGrp="1"/>
          </p:cNvSpPr>
          <p:nvPr>
            <p:custDataLst>
              <p:tags r:id="rId23"/>
            </p:custDataLst>
          </p:nvPr>
        </p:nvSpPr>
        <p:spPr bwMode="gray">
          <a:xfrm>
            <a:off x="1651000" y="2730500"/>
            <a:ext cx="268288" cy="152400"/>
          </a:xfrm>
          <a:prstGeom prst="rect">
            <a:avLst/>
          </a:prstGeom>
          <a:noFill/>
          <a:ln>
            <a:noFill/>
          </a:ln>
          <a:extLst>
            <a:ext uri="{909E8E84-426E-40DD-AFC4-6F175D3DCCD1}">
              <a14:hiddenFill xmlns:a14="http://schemas.microsoft.com/office/drawing/2010/main">
                <a:solidFill>
                  <a:srgbClr val="62B5E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90796D75-F843-42D2-9FC6-228BFD2572DF}" type="datetime'1''''''''''1.''''''''''''''''''''''2'''''''''">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11.2</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19" name="Text Placeholder 18">
            <a:extLst>
              <a:ext uri="{FF2B5EF4-FFF2-40B4-BE49-F238E27FC236}">
                <a16:creationId xmlns:a16="http://schemas.microsoft.com/office/drawing/2014/main" id="{CCF6BA2C-CF35-4C9B-AB32-9D415BFA6113}"/>
              </a:ext>
            </a:extLst>
          </p:cNvPr>
          <p:cNvSpPr>
            <a:spLocks noGrp="1"/>
          </p:cNvSpPr>
          <p:nvPr>
            <p:custDataLst>
              <p:tags r:id="rId24"/>
            </p:custDataLst>
          </p:nvPr>
        </p:nvSpPr>
        <p:spPr bwMode="gray">
          <a:xfrm>
            <a:off x="4732338" y="3771900"/>
            <a:ext cx="268288" cy="152400"/>
          </a:xfrm>
          <a:prstGeom prst="rect">
            <a:avLst/>
          </a:prstGeom>
          <a:noFill/>
          <a:ln>
            <a:noFill/>
          </a:ln>
          <a:extLst>
            <a:ext uri="{909E8E84-426E-40DD-AFC4-6F175D3DCCD1}">
              <a14:hiddenFill xmlns:a14="http://schemas.microsoft.com/office/drawing/2010/main">
                <a:solidFill>
                  <a:srgbClr val="86BC2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1331C807-EC39-43DD-A7B8-18CAF2EBBA49}" type="datetime'''''''''''3''3''.''''''''''''''''''''''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33.4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00" name="Text Placeholder 18">
            <a:extLst>
              <a:ext uri="{FF2B5EF4-FFF2-40B4-BE49-F238E27FC236}">
                <a16:creationId xmlns:a16="http://schemas.microsoft.com/office/drawing/2014/main" id="{A1C66029-FA0D-4311-977A-5A3B1DDCA0AD}"/>
              </a:ext>
            </a:extLst>
          </p:cNvPr>
          <p:cNvSpPr>
            <a:spLocks noGrp="1"/>
          </p:cNvSpPr>
          <p:nvPr>
            <p:custDataLst>
              <p:tags r:id="rId25"/>
            </p:custDataLst>
          </p:nvPr>
        </p:nvSpPr>
        <p:spPr bwMode="gray">
          <a:xfrm>
            <a:off x="1682750" y="3043238"/>
            <a:ext cx="203200" cy="152400"/>
          </a:xfrm>
          <a:prstGeom prst="rect">
            <a:avLst/>
          </a:prstGeom>
          <a:noFill/>
          <a:ln>
            <a:noFill/>
          </a:ln>
          <a:extLst>
            <a:ext uri="{909E8E84-426E-40DD-AFC4-6F175D3DCCD1}">
              <a14:hiddenFill xmlns:a14="http://schemas.microsoft.com/office/drawing/2010/main">
                <a:solidFill>
                  <a:srgbClr val="62B5E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0ECFC15E-0FB1-4937-A620-B8CDA6603BAE}" type="datetime'5''''''''''''''''''''''''.''''''''''''''''''''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94" name="Text Placeholder 18">
            <a:extLst>
              <a:ext uri="{FF2B5EF4-FFF2-40B4-BE49-F238E27FC236}">
                <a16:creationId xmlns:a16="http://schemas.microsoft.com/office/drawing/2014/main" id="{EA4AC81C-AB5E-40C5-8C95-E4E4C6DB2980}"/>
              </a:ext>
            </a:extLst>
          </p:cNvPr>
          <p:cNvSpPr>
            <a:spLocks noGrp="1"/>
          </p:cNvSpPr>
          <p:nvPr>
            <p:custDataLst>
              <p:tags r:id="rId26"/>
            </p:custDataLst>
          </p:nvPr>
        </p:nvSpPr>
        <p:spPr bwMode="gray">
          <a:xfrm>
            <a:off x="5245100" y="2419350"/>
            <a:ext cx="2682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09A424DD-704B-419A-AAE4-4933993E9848}" type="datetime'50''''''''''''''''.0'''''''''''''''">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50.0</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01" name="Text Placeholder 18">
            <a:extLst>
              <a:ext uri="{FF2B5EF4-FFF2-40B4-BE49-F238E27FC236}">
                <a16:creationId xmlns:a16="http://schemas.microsoft.com/office/drawing/2014/main" id="{3A6F9E44-3202-4FAE-A859-7A31853507E4}"/>
              </a:ext>
            </a:extLst>
          </p:cNvPr>
          <p:cNvSpPr>
            <a:spLocks noGrp="1"/>
          </p:cNvSpPr>
          <p:nvPr>
            <p:custDataLst>
              <p:tags r:id="rId27"/>
            </p:custDataLst>
          </p:nvPr>
        </p:nvSpPr>
        <p:spPr bwMode="gray">
          <a:xfrm>
            <a:off x="1651000" y="3771900"/>
            <a:ext cx="268288" cy="152400"/>
          </a:xfrm>
          <a:prstGeom prst="rect">
            <a:avLst/>
          </a:prstGeom>
          <a:noFill/>
          <a:ln>
            <a:noFill/>
          </a:ln>
          <a:extLst>
            <a:ext uri="{909E8E84-426E-40DD-AFC4-6F175D3DCCD1}">
              <a14:hiddenFill xmlns:a14="http://schemas.microsoft.com/office/drawing/2010/main">
                <a:solidFill>
                  <a:srgbClr val="86BC2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DC53A03F-5EC9-413F-80E7-E514B69C4A1F}" type="datetime'''''''''''''''''''''''''3''''''3''''''.''''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33.4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13" name="Text Placeholder 18">
            <a:extLst>
              <a:ext uri="{FF2B5EF4-FFF2-40B4-BE49-F238E27FC236}">
                <a16:creationId xmlns:a16="http://schemas.microsoft.com/office/drawing/2014/main" id="{5C627206-42EE-4B3A-B114-DB1FABA24E07}"/>
              </a:ext>
            </a:extLst>
          </p:cNvPr>
          <p:cNvSpPr>
            <a:spLocks noGrp="1"/>
          </p:cNvSpPr>
          <p:nvPr>
            <p:custDataLst>
              <p:tags r:id="rId28"/>
            </p:custDataLst>
          </p:nvPr>
        </p:nvSpPr>
        <p:spPr bwMode="gray">
          <a:xfrm>
            <a:off x="3705225" y="3771900"/>
            <a:ext cx="268288" cy="152400"/>
          </a:xfrm>
          <a:prstGeom prst="rect">
            <a:avLst/>
          </a:prstGeom>
          <a:noFill/>
          <a:ln>
            <a:noFill/>
          </a:ln>
          <a:extLst>
            <a:ext uri="{909E8E84-426E-40DD-AFC4-6F175D3DCCD1}">
              <a14:hiddenFill xmlns:a14="http://schemas.microsoft.com/office/drawing/2010/main">
                <a:solidFill>
                  <a:srgbClr val="86BC2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65FBADFF-4C97-42DA-81F8-7E615975323D}" type="datetime'3''3''''''.''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33.4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53" name="Text Placeholder 18">
            <a:extLst>
              <a:ext uri="{FF2B5EF4-FFF2-40B4-BE49-F238E27FC236}">
                <a16:creationId xmlns:a16="http://schemas.microsoft.com/office/drawing/2014/main" id="{61D10B20-8080-428C-817A-874404AD9217}"/>
              </a:ext>
            </a:extLst>
          </p:cNvPr>
          <p:cNvSpPr>
            <a:spLocks noGrp="1"/>
          </p:cNvSpPr>
          <p:nvPr>
            <p:custDataLst>
              <p:tags r:id="rId29"/>
            </p:custDataLst>
          </p:nvPr>
        </p:nvSpPr>
        <p:spPr bwMode="auto">
          <a:xfrm>
            <a:off x="1714500" y="4562475"/>
            <a:ext cx="139700"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5F498D40-5F03-4E91-8996-7BBA07A00CD1}" type="datetime'''''''''''''''''''''Y''''3'''''">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Y3</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10" name="Text Placeholder 18">
            <a:extLst>
              <a:ext uri="{FF2B5EF4-FFF2-40B4-BE49-F238E27FC236}">
                <a16:creationId xmlns:a16="http://schemas.microsoft.com/office/drawing/2014/main" id="{B546367B-7AFC-44F7-998A-13BFFF69F12A}"/>
              </a:ext>
            </a:extLst>
          </p:cNvPr>
          <p:cNvSpPr>
            <a:spLocks noGrp="1"/>
          </p:cNvSpPr>
          <p:nvPr>
            <p:custDataLst>
              <p:tags r:id="rId30"/>
            </p:custDataLst>
          </p:nvPr>
        </p:nvSpPr>
        <p:spPr bwMode="gray">
          <a:xfrm>
            <a:off x="3190875" y="3771900"/>
            <a:ext cx="268288" cy="152400"/>
          </a:xfrm>
          <a:prstGeom prst="rect">
            <a:avLst/>
          </a:prstGeom>
          <a:noFill/>
          <a:ln>
            <a:noFill/>
          </a:ln>
          <a:extLst>
            <a:ext uri="{909E8E84-426E-40DD-AFC4-6F175D3DCCD1}">
              <a14:hiddenFill xmlns:a14="http://schemas.microsoft.com/office/drawing/2010/main">
                <a:solidFill>
                  <a:srgbClr val="86BC2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31749A6C-1797-40E7-B50A-126C0B1B3833}" type="datetime'''''''''33''''''''''.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33.4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02" name="Text Placeholder 18">
            <a:extLst>
              <a:ext uri="{FF2B5EF4-FFF2-40B4-BE49-F238E27FC236}">
                <a16:creationId xmlns:a16="http://schemas.microsoft.com/office/drawing/2014/main" id="{D284ED18-001A-452B-B235-1C45CAB8DBE8}"/>
              </a:ext>
            </a:extLst>
          </p:cNvPr>
          <p:cNvSpPr>
            <a:spLocks noGrp="1"/>
          </p:cNvSpPr>
          <p:nvPr>
            <p:custDataLst>
              <p:tags r:id="rId31"/>
            </p:custDataLst>
          </p:nvPr>
        </p:nvSpPr>
        <p:spPr bwMode="gray">
          <a:xfrm>
            <a:off x="2165350" y="2730500"/>
            <a:ext cx="268288" cy="152400"/>
          </a:xfrm>
          <a:prstGeom prst="rect">
            <a:avLst/>
          </a:prstGeom>
          <a:noFill/>
          <a:ln>
            <a:noFill/>
          </a:ln>
          <a:extLst>
            <a:ext uri="{909E8E84-426E-40DD-AFC4-6F175D3DCCD1}">
              <a14:hiddenFill xmlns:a14="http://schemas.microsoft.com/office/drawing/2010/main">
                <a:solidFill>
                  <a:srgbClr val="012169"/>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DB07FCC5-D9F5-44E5-A346-6FBB733D7386}" type="datetime'''''''''''''1''''1.''''''''''''''''''''''''''''2'''''">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11.2</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66" name="Text Placeholder 18">
            <a:extLst>
              <a:ext uri="{FF2B5EF4-FFF2-40B4-BE49-F238E27FC236}">
                <a16:creationId xmlns:a16="http://schemas.microsoft.com/office/drawing/2014/main" id="{121ADF08-85A0-42AE-A1EC-2D77DEA8A879}"/>
              </a:ext>
            </a:extLst>
          </p:cNvPr>
          <p:cNvSpPr>
            <a:spLocks noGrp="1"/>
          </p:cNvSpPr>
          <p:nvPr>
            <p:custDataLst>
              <p:tags r:id="rId32"/>
            </p:custDataLst>
          </p:nvPr>
        </p:nvSpPr>
        <p:spPr bwMode="auto">
          <a:xfrm>
            <a:off x="2228850" y="4562475"/>
            <a:ext cx="139700"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E39E9AE6-C6BF-45A0-8F80-3126405892DB}" type="datetime'Y4'''''''''''''''''''''''''''">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Y4</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06" name="Text Placeholder 18">
            <a:extLst>
              <a:ext uri="{FF2B5EF4-FFF2-40B4-BE49-F238E27FC236}">
                <a16:creationId xmlns:a16="http://schemas.microsoft.com/office/drawing/2014/main" id="{609E5E25-9425-4A7C-BA92-042C9AFB741A}"/>
              </a:ext>
            </a:extLst>
          </p:cNvPr>
          <p:cNvSpPr>
            <a:spLocks noGrp="1"/>
          </p:cNvSpPr>
          <p:nvPr>
            <p:custDataLst>
              <p:tags r:id="rId33"/>
            </p:custDataLst>
          </p:nvPr>
        </p:nvSpPr>
        <p:spPr bwMode="gray">
          <a:xfrm>
            <a:off x="2709863" y="3043238"/>
            <a:ext cx="203200" cy="152400"/>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9333CF68-5DD9-47B9-B9F1-AE1982D35AAC}" type="datetime'''''''''''''''''''''''''''5.''''''''''''''''''''''''''''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07" name="Text Placeholder 18">
            <a:extLst>
              <a:ext uri="{FF2B5EF4-FFF2-40B4-BE49-F238E27FC236}">
                <a16:creationId xmlns:a16="http://schemas.microsoft.com/office/drawing/2014/main" id="{A48D82D4-87A4-4E7B-ADA3-7A0C23C3ADAF}"/>
              </a:ext>
            </a:extLst>
          </p:cNvPr>
          <p:cNvSpPr>
            <a:spLocks noGrp="1"/>
          </p:cNvSpPr>
          <p:nvPr>
            <p:custDataLst>
              <p:tags r:id="rId34"/>
            </p:custDataLst>
          </p:nvPr>
        </p:nvSpPr>
        <p:spPr bwMode="gray">
          <a:xfrm>
            <a:off x="2678113" y="3771900"/>
            <a:ext cx="268288" cy="152400"/>
          </a:xfrm>
          <a:prstGeom prst="rect">
            <a:avLst/>
          </a:prstGeom>
          <a:noFill/>
          <a:ln>
            <a:noFill/>
          </a:ln>
          <a:extLst>
            <a:ext uri="{909E8E84-426E-40DD-AFC4-6F175D3DCCD1}">
              <a14:hiddenFill xmlns:a14="http://schemas.microsoft.com/office/drawing/2010/main">
                <a:solidFill>
                  <a:srgbClr val="86BC2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061A7DDD-B01F-4D12-A10B-0F4818539EF1}" type="datetime'''''3''''''''''''''''''''''3''''.''''''''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33.4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08" name="Text Placeholder 18">
            <a:extLst>
              <a:ext uri="{FF2B5EF4-FFF2-40B4-BE49-F238E27FC236}">
                <a16:creationId xmlns:a16="http://schemas.microsoft.com/office/drawing/2014/main" id="{AFA48F0D-BD88-4BEF-B2C8-8D89AD92F978}"/>
              </a:ext>
            </a:extLst>
          </p:cNvPr>
          <p:cNvSpPr>
            <a:spLocks noGrp="1"/>
          </p:cNvSpPr>
          <p:nvPr>
            <p:custDataLst>
              <p:tags r:id="rId35"/>
            </p:custDataLst>
          </p:nvPr>
        </p:nvSpPr>
        <p:spPr bwMode="gray">
          <a:xfrm>
            <a:off x="3190875" y="2730500"/>
            <a:ext cx="268288" cy="152400"/>
          </a:xfrm>
          <a:prstGeom prst="rect">
            <a:avLst/>
          </a:prstGeom>
          <a:noFill/>
          <a:ln>
            <a:noFill/>
          </a:ln>
          <a:extLst>
            <a:ext uri="{909E8E84-426E-40DD-AFC4-6F175D3DCCD1}">
              <a14:hiddenFill xmlns:a14="http://schemas.microsoft.com/office/drawing/2010/main">
                <a:solidFill>
                  <a:srgbClr val="012169"/>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96C84A15-5F3D-4361-B84E-71EB7C1E8D67}" type="datetime'''''''''11.''''''2'''''''''''''">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11.2</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90" name="Text Placeholder 18">
            <a:extLst>
              <a:ext uri="{FF2B5EF4-FFF2-40B4-BE49-F238E27FC236}">
                <a16:creationId xmlns:a16="http://schemas.microsoft.com/office/drawing/2014/main" id="{5ECE9591-BC6F-41C3-885B-B66AD59AD3D5}"/>
              </a:ext>
            </a:extLst>
          </p:cNvPr>
          <p:cNvSpPr>
            <a:spLocks noGrp="1"/>
          </p:cNvSpPr>
          <p:nvPr>
            <p:custDataLst>
              <p:tags r:id="rId36"/>
            </p:custDataLst>
          </p:nvPr>
        </p:nvSpPr>
        <p:spPr bwMode="gray">
          <a:xfrm>
            <a:off x="3190875" y="2419350"/>
            <a:ext cx="2682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A9E3AB5F-667F-4B04-B9E1-13B0BC2CB52A}" type="datetime'''''5''''''''''''''0''''''''''''''.''''''''''''''''''0'''''''">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50.0</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11" name="Text Placeholder 18">
            <a:extLst>
              <a:ext uri="{FF2B5EF4-FFF2-40B4-BE49-F238E27FC236}">
                <a16:creationId xmlns:a16="http://schemas.microsoft.com/office/drawing/2014/main" id="{2AE3E8B5-7AB7-4E63-9794-916C6064E500}"/>
              </a:ext>
            </a:extLst>
          </p:cNvPr>
          <p:cNvSpPr>
            <a:spLocks noGrp="1"/>
          </p:cNvSpPr>
          <p:nvPr>
            <p:custDataLst>
              <p:tags r:id="rId37"/>
            </p:custDataLst>
          </p:nvPr>
        </p:nvSpPr>
        <p:spPr bwMode="gray">
          <a:xfrm>
            <a:off x="3705225" y="2730500"/>
            <a:ext cx="268288" cy="152400"/>
          </a:xfrm>
          <a:prstGeom prst="rect">
            <a:avLst/>
          </a:prstGeom>
          <a:noFill/>
          <a:ln>
            <a:noFill/>
          </a:ln>
          <a:extLst>
            <a:ext uri="{909E8E84-426E-40DD-AFC4-6F175D3DCCD1}">
              <a14:hiddenFill xmlns:a14="http://schemas.microsoft.com/office/drawing/2010/main">
                <a:solidFill>
                  <a:srgbClr val="012169"/>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C53234B3-39C1-4E98-B727-E3D4307DAAE4}" type="datetime'''''''''''''1''''''''''''''''''''''''1''''.2'''''''''''''">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11.2</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14" name="Text Placeholder 18">
            <a:extLst>
              <a:ext uri="{FF2B5EF4-FFF2-40B4-BE49-F238E27FC236}">
                <a16:creationId xmlns:a16="http://schemas.microsoft.com/office/drawing/2014/main" id="{651D52F5-4EB4-45CA-960B-0A56AC671F73}"/>
              </a:ext>
            </a:extLst>
          </p:cNvPr>
          <p:cNvSpPr>
            <a:spLocks noGrp="1"/>
          </p:cNvSpPr>
          <p:nvPr>
            <p:custDataLst>
              <p:tags r:id="rId38"/>
            </p:custDataLst>
          </p:nvPr>
        </p:nvSpPr>
        <p:spPr bwMode="gray">
          <a:xfrm>
            <a:off x="4217988" y="2730500"/>
            <a:ext cx="268288" cy="152400"/>
          </a:xfrm>
          <a:prstGeom prst="rect">
            <a:avLst/>
          </a:prstGeom>
          <a:noFill/>
          <a:ln>
            <a:noFill/>
          </a:ln>
          <a:extLst>
            <a:ext uri="{909E8E84-426E-40DD-AFC4-6F175D3DCCD1}">
              <a14:hiddenFill xmlns:a14="http://schemas.microsoft.com/office/drawing/2010/main">
                <a:solidFill>
                  <a:srgbClr val="012169"/>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BF2F66D2-5DB6-4795-AF75-121FA8579331}" type="datetime'1''1''''''''.''''''''2'''''">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11.2</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15" name="Text Placeholder 18">
            <a:extLst>
              <a:ext uri="{FF2B5EF4-FFF2-40B4-BE49-F238E27FC236}">
                <a16:creationId xmlns:a16="http://schemas.microsoft.com/office/drawing/2014/main" id="{85AB182A-31C3-453C-8D4C-CBB129EB7292}"/>
              </a:ext>
            </a:extLst>
          </p:cNvPr>
          <p:cNvSpPr>
            <a:spLocks noGrp="1"/>
          </p:cNvSpPr>
          <p:nvPr>
            <p:custDataLst>
              <p:tags r:id="rId39"/>
            </p:custDataLst>
          </p:nvPr>
        </p:nvSpPr>
        <p:spPr bwMode="gray">
          <a:xfrm>
            <a:off x="4249738" y="3043238"/>
            <a:ext cx="203200" cy="152400"/>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6D693146-DE0C-4BEF-B8B8-A99535EF63ED}" type="datetime'''''''''''''''''''5''''''''''''''''''''''.''''''''''''''''''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93" name="Text Placeholder 18">
            <a:extLst>
              <a:ext uri="{FF2B5EF4-FFF2-40B4-BE49-F238E27FC236}">
                <a16:creationId xmlns:a16="http://schemas.microsoft.com/office/drawing/2014/main" id="{8BB13C9E-6BD4-466E-A67E-4959865729C9}"/>
              </a:ext>
            </a:extLst>
          </p:cNvPr>
          <p:cNvSpPr>
            <a:spLocks noGrp="1"/>
          </p:cNvSpPr>
          <p:nvPr>
            <p:custDataLst>
              <p:tags r:id="rId40"/>
            </p:custDataLst>
          </p:nvPr>
        </p:nvSpPr>
        <p:spPr bwMode="gray">
          <a:xfrm>
            <a:off x="4732338" y="2419350"/>
            <a:ext cx="2682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D9CB75B8-D1E7-4617-9992-69B3D63E7FE8}" type="datetime'5''''''''''''0''''.''''0'''''''''''''''''''''''''''''''''''">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50.0</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81" name="Text Placeholder 18">
            <a:extLst>
              <a:ext uri="{FF2B5EF4-FFF2-40B4-BE49-F238E27FC236}">
                <a16:creationId xmlns:a16="http://schemas.microsoft.com/office/drawing/2014/main" id="{1BCFF7C2-4041-45B3-838A-BE8029B8262D}"/>
              </a:ext>
            </a:extLst>
          </p:cNvPr>
          <p:cNvSpPr>
            <a:spLocks noGrp="1"/>
          </p:cNvSpPr>
          <p:nvPr>
            <p:custDataLst>
              <p:tags r:id="rId41"/>
            </p:custDataLst>
          </p:nvPr>
        </p:nvSpPr>
        <p:spPr bwMode="auto">
          <a:xfrm>
            <a:off x="2741613" y="4562475"/>
            <a:ext cx="139700"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11944589-23B4-49B9-8891-4669BC08BF49}" type="datetime'''''''''Y''''5'''''''">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Y5</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84" name="Text Placeholder 18">
            <a:extLst>
              <a:ext uri="{FF2B5EF4-FFF2-40B4-BE49-F238E27FC236}">
                <a16:creationId xmlns:a16="http://schemas.microsoft.com/office/drawing/2014/main" id="{A4F651C3-D9F9-4AC3-B2B0-22869C8FEDC2}"/>
              </a:ext>
            </a:extLst>
          </p:cNvPr>
          <p:cNvSpPr>
            <a:spLocks noGrp="1"/>
          </p:cNvSpPr>
          <p:nvPr>
            <p:custDataLst>
              <p:tags r:id="rId42"/>
            </p:custDataLst>
          </p:nvPr>
        </p:nvSpPr>
        <p:spPr bwMode="auto">
          <a:xfrm>
            <a:off x="4281488" y="4562475"/>
            <a:ext cx="139700"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96E827D1-C4F1-49E2-A563-DD298A22721E}" type="datetime'''''''''''''''Y8'''''''''''''''''''''''''''">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Y8</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18" name="Text Placeholder 18">
            <a:extLst>
              <a:ext uri="{FF2B5EF4-FFF2-40B4-BE49-F238E27FC236}">
                <a16:creationId xmlns:a16="http://schemas.microsoft.com/office/drawing/2014/main" id="{8CFAB7A7-C6AA-4096-887E-06529F39C9BD}"/>
              </a:ext>
            </a:extLst>
          </p:cNvPr>
          <p:cNvSpPr>
            <a:spLocks noGrp="1"/>
          </p:cNvSpPr>
          <p:nvPr>
            <p:custDataLst>
              <p:tags r:id="rId43"/>
            </p:custDataLst>
          </p:nvPr>
        </p:nvSpPr>
        <p:spPr bwMode="gray">
          <a:xfrm>
            <a:off x="4764088" y="3043238"/>
            <a:ext cx="203200" cy="152400"/>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605CE970-C913-4B0C-8BEB-AA88B436A82C}" type="datetime'5.''''''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20" name="Text Placeholder 18">
            <a:extLst>
              <a:ext uri="{FF2B5EF4-FFF2-40B4-BE49-F238E27FC236}">
                <a16:creationId xmlns:a16="http://schemas.microsoft.com/office/drawing/2014/main" id="{D04279BE-A1AE-463B-91DE-0F48EE27FA83}"/>
              </a:ext>
            </a:extLst>
          </p:cNvPr>
          <p:cNvSpPr>
            <a:spLocks noGrp="1"/>
          </p:cNvSpPr>
          <p:nvPr>
            <p:custDataLst>
              <p:tags r:id="rId44"/>
            </p:custDataLst>
          </p:nvPr>
        </p:nvSpPr>
        <p:spPr bwMode="gray">
          <a:xfrm>
            <a:off x="5245100" y="2730500"/>
            <a:ext cx="268288" cy="152400"/>
          </a:xfrm>
          <a:prstGeom prst="rect">
            <a:avLst/>
          </a:prstGeom>
          <a:noFill/>
          <a:ln>
            <a:noFill/>
          </a:ln>
          <a:extLst>
            <a:ext uri="{909E8E84-426E-40DD-AFC4-6F175D3DCCD1}">
              <a14:hiddenFill xmlns:a14="http://schemas.microsoft.com/office/drawing/2010/main">
                <a:solidFill>
                  <a:srgbClr val="012169"/>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8CB76DA9-EDAC-47F6-9407-149552ED7B00}" type="datetime'''1''''1''''''''''''''''''''''''''''''''''''.''''''''''2'">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11.2</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21" name="Text Placeholder 18">
            <a:extLst>
              <a:ext uri="{FF2B5EF4-FFF2-40B4-BE49-F238E27FC236}">
                <a16:creationId xmlns:a16="http://schemas.microsoft.com/office/drawing/2014/main" id="{EDBD4208-316B-45F2-B627-CC8DCCCF212C}"/>
              </a:ext>
            </a:extLst>
          </p:cNvPr>
          <p:cNvSpPr>
            <a:spLocks noGrp="1"/>
          </p:cNvSpPr>
          <p:nvPr>
            <p:custDataLst>
              <p:tags r:id="rId45"/>
            </p:custDataLst>
          </p:nvPr>
        </p:nvSpPr>
        <p:spPr bwMode="gray">
          <a:xfrm>
            <a:off x="5276850" y="3043238"/>
            <a:ext cx="203200" cy="152400"/>
          </a:xfrm>
          <a:prstGeom prst="rect">
            <a:avLst/>
          </a:prstGeom>
          <a:noFill/>
          <a:ln>
            <a:noFill/>
          </a:ln>
          <a:extLst>
            <a:ext uri="{909E8E84-426E-40DD-AFC4-6F175D3DCCD1}">
              <a14:hiddenFill xmlns:a14="http://schemas.microsoft.com/office/drawing/2010/main">
                <a:solidFill>
                  <a:srgbClr val="046A38"/>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15C45791-5F8F-4068-9857-9A95EE832AE6}" type="datetime'''''''''5''.''''''''''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22" name="Text Placeholder 18">
            <a:extLst>
              <a:ext uri="{FF2B5EF4-FFF2-40B4-BE49-F238E27FC236}">
                <a16:creationId xmlns:a16="http://schemas.microsoft.com/office/drawing/2014/main" id="{57F52485-B20F-4155-BB52-F168C72E38F5}"/>
              </a:ext>
            </a:extLst>
          </p:cNvPr>
          <p:cNvSpPr>
            <a:spLocks noGrp="1"/>
          </p:cNvSpPr>
          <p:nvPr>
            <p:custDataLst>
              <p:tags r:id="rId46"/>
            </p:custDataLst>
          </p:nvPr>
        </p:nvSpPr>
        <p:spPr bwMode="gray">
          <a:xfrm>
            <a:off x="5245100" y="3771900"/>
            <a:ext cx="268288" cy="152400"/>
          </a:xfrm>
          <a:prstGeom prst="rect">
            <a:avLst/>
          </a:prstGeom>
          <a:noFill/>
          <a:ln>
            <a:noFill/>
          </a:ln>
          <a:extLst>
            <a:ext uri="{909E8E84-426E-40DD-AFC4-6F175D3DCCD1}">
              <a14:hiddenFill xmlns:a14="http://schemas.microsoft.com/office/drawing/2010/main">
                <a:solidFill>
                  <a:srgbClr val="86BC2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BDA4BDEA-25CA-47AE-A8C0-127AEA407D24}" type="datetime'''''''''''''3''''3''''''''''''.''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33.4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16" name="Text Placeholder 18">
            <a:extLst>
              <a:ext uri="{FF2B5EF4-FFF2-40B4-BE49-F238E27FC236}">
                <a16:creationId xmlns:a16="http://schemas.microsoft.com/office/drawing/2014/main" id="{5CCCE62E-56A5-452A-92E3-09762757EED6}"/>
              </a:ext>
            </a:extLst>
          </p:cNvPr>
          <p:cNvSpPr>
            <a:spLocks noGrp="1"/>
          </p:cNvSpPr>
          <p:nvPr>
            <p:custDataLst>
              <p:tags r:id="rId47"/>
            </p:custDataLst>
          </p:nvPr>
        </p:nvSpPr>
        <p:spPr bwMode="gray">
          <a:xfrm>
            <a:off x="4217988" y="3771900"/>
            <a:ext cx="268288" cy="152400"/>
          </a:xfrm>
          <a:prstGeom prst="rect">
            <a:avLst/>
          </a:prstGeom>
          <a:noFill/>
          <a:ln>
            <a:noFill/>
          </a:ln>
          <a:extLst>
            <a:ext uri="{909E8E84-426E-40DD-AFC4-6F175D3DCCD1}">
              <a14:hiddenFill xmlns:a14="http://schemas.microsoft.com/office/drawing/2010/main">
                <a:solidFill>
                  <a:srgbClr val="86BC25"/>
                </a:solidFill>
              </a14:hiddenFill>
            </a:ext>
          </a:extLst>
        </p:spPr>
        <p:txBody>
          <a:bodyPr vert="horz" wrap="none" lIns="20638" tIns="0" rIns="20638"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AB8F4662-DFC2-4F33-89F2-C84095156AD9}" type="datetime'''''''''''''''3''3''''''''''''''.''4'''">
              <a:rPr kumimoji="0" lang="en-US" altLang="en-US" sz="1000" b="0" i="0" u="none" strike="noStrike" kern="1200" cap="none" spc="0" normalizeH="0" baseline="0" noProof="0" smtClean="0">
                <a:ln>
                  <a:noFill/>
                </a:ln>
                <a:solidFill>
                  <a:prstClr val="white"/>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33.4</a:t>
            </a:fld>
            <a:endParaRPr kumimoji="0" lang="en-US" sz="10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61" name="Text Placeholder 18">
            <a:extLst>
              <a:ext uri="{FF2B5EF4-FFF2-40B4-BE49-F238E27FC236}">
                <a16:creationId xmlns:a16="http://schemas.microsoft.com/office/drawing/2014/main" id="{870E4FC0-8918-4735-A9BA-5A11936CC0F7}"/>
              </a:ext>
            </a:extLst>
          </p:cNvPr>
          <p:cNvSpPr>
            <a:spLocks noGrp="1"/>
          </p:cNvSpPr>
          <p:nvPr>
            <p:custDataLst>
              <p:tags r:id="rId48"/>
            </p:custDataLst>
          </p:nvPr>
        </p:nvSpPr>
        <p:spPr bwMode="gray">
          <a:xfrm>
            <a:off x="1138238" y="2982913"/>
            <a:ext cx="2682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9FDE03D8-BB04-4B9E-ACFC-0EFA06489320}" type="datetime'''''''3''''''''''''''''''''''''''''''5''''''''''''''.''0'''">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35.0</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62" name="Text Placeholder 18">
            <a:extLst>
              <a:ext uri="{FF2B5EF4-FFF2-40B4-BE49-F238E27FC236}">
                <a16:creationId xmlns:a16="http://schemas.microsoft.com/office/drawing/2014/main" id="{EAFA50BD-E155-4A1F-ACDC-0F97C719D055}"/>
              </a:ext>
            </a:extLst>
          </p:cNvPr>
          <p:cNvSpPr>
            <a:spLocks noGrp="1"/>
          </p:cNvSpPr>
          <p:nvPr>
            <p:custDataLst>
              <p:tags r:id="rId49"/>
            </p:custDataLst>
          </p:nvPr>
        </p:nvSpPr>
        <p:spPr bwMode="gray">
          <a:xfrm>
            <a:off x="1651000" y="2419350"/>
            <a:ext cx="2682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32810B27-468C-49FB-8DE2-E701DD09D7AD}" type="datetime'''''''''''''''''''''''5''''''0''''''''''.0'''">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50.0</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89" name="Text Placeholder 18">
            <a:extLst>
              <a:ext uri="{FF2B5EF4-FFF2-40B4-BE49-F238E27FC236}">
                <a16:creationId xmlns:a16="http://schemas.microsoft.com/office/drawing/2014/main" id="{8AF19CDE-673E-48D4-8295-83D7C702EC23}"/>
              </a:ext>
            </a:extLst>
          </p:cNvPr>
          <p:cNvSpPr>
            <a:spLocks noGrp="1"/>
          </p:cNvSpPr>
          <p:nvPr>
            <p:custDataLst>
              <p:tags r:id="rId50"/>
            </p:custDataLst>
          </p:nvPr>
        </p:nvSpPr>
        <p:spPr bwMode="gray">
          <a:xfrm>
            <a:off x="2678113" y="2419350"/>
            <a:ext cx="2682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EAB7D0DA-7BA8-4B08-842C-6ED33F020372}" type="datetime'''''''''''''''5''''''''0''.''''''''''''''''''''''''''0'''''''">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50.0</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91" name="Text Placeholder 18">
            <a:extLst>
              <a:ext uri="{FF2B5EF4-FFF2-40B4-BE49-F238E27FC236}">
                <a16:creationId xmlns:a16="http://schemas.microsoft.com/office/drawing/2014/main" id="{9C8B6B14-2A02-40A3-8A7F-74BB9A202C23}"/>
              </a:ext>
            </a:extLst>
          </p:cNvPr>
          <p:cNvSpPr>
            <a:spLocks noGrp="1"/>
          </p:cNvSpPr>
          <p:nvPr>
            <p:custDataLst>
              <p:tags r:id="rId51"/>
            </p:custDataLst>
          </p:nvPr>
        </p:nvSpPr>
        <p:spPr bwMode="gray">
          <a:xfrm>
            <a:off x="3705225" y="2419350"/>
            <a:ext cx="2682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D62EEDCB-91E7-42EF-9F30-250F972F1547}" type="datetime'''''''''5''''''0''''''''''''''''.0'''''''''''''''''''''''''''">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50.0</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92" name="Text Placeholder 18">
            <a:extLst>
              <a:ext uri="{FF2B5EF4-FFF2-40B4-BE49-F238E27FC236}">
                <a16:creationId xmlns:a16="http://schemas.microsoft.com/office/drawing/2014/main" id="{5B4E6A32-4344-4F90-AF70-EC89615A8815}"/>
              </a:ext>
            </a:extLst>
          </p:cNvPr>
          <p:cNvSpPr>
            <a:spLocks noGrp="1"/>
          </p:cNvSpPr>
          <p:nvPr>
            <p:custDataLst>
              <p:tags r:id="rId52"/>
            </p:custDataLst>
          </p:nvPr>
        </p:nvSpPr>
        <p:spPr bwMode="gray">
          <a:xfrm>
            <a:off x="4217988" y="2419350"/>
            <a:ext cx="2682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2D17A362-474A-41BC-B8B6-B207F6EA1D6B}" type="datetime'''''''''''''5''0''''''''''''''''.''''''''''''''0'''''''''''''">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50.0</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86" name="Text Placeholder 18">
            <a:extLst>
              <a:ext uri="{FF2B5EF4-FFF2-40B4-BE49-F238E27FC236}">
                <a16:creationId xmlns:a16="http://schemas.microsoft.com/office/drawing/2014/main" id="{16BA7DCF-E18D-4FB7-9629-D4F5D70543C9}"/>
              </a:ext>
            </a:extLst>
          </p:cNvPr>
          <p:cNvSpPr>
            <a:spLocks noGrp="1"/>
          </p:cNvSpPr>
          <p:nvPr>
            <p:custDataLst>
              <p:tags r:id="rId53"/>
            </p:custDataLst>
          </p:nvPr>
        </p:nvSpPr>
        <p:spPr bwMode="auto">
          <a:xfrm>
            <a:off x="5276850" y="4562475"/>
            <a:ext cx="2047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833A8DD7-7C90-4EC8-B469-1103FFCE0EB1}" type="datetime'Y''''''''1''''''''''''''''''''''''''''''''0'''''''''''">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Y10</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49" name="Rectangle 48">
            <a:extLst>
              <a:ext uri="{FF2B5EF4-FFF2-40B4-BE49-F238E27FC236}">
                <a16:creationId xmlns:a16="http://schemas.microsoft.com/office/drawing/2014/main" id="{D418C96E-AC19-49B6-B4BD-D7451217E8DF}"/>
              </a:ext>
            </a:extLst>
          </p:cNvPr>
          <p:cNvSpPr/>
          <p:nvPr>
            <p:custDataLst>
              <p:tags r:id="rId54"/>
            </p:custDataLst>
          </p:nvPr>
        </p:nvSpPr>
        <p:spPr bwMode="auto">
          <a:xfrm>
            <a:off x="2236788" y="4924425"/>
            <a:ext cx="179388" cy="133350"/>
          </a:xfrm>
          <a:prstGeom prst="rect">
            <a:avLst/>
          </a:prstGeom>
          <a:solidFill>
            <a:srgbClr val="62B5E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0" name="Rectangle 49">
            <a:extLst>
              <a:ext uri="{FF2B5EF4-FFF2-40B4-BE49-F238E27FC236}">
                <a16:creationId xmlns:a16="http://schemas.microsoft.com/office/drawing/2014/main" id="{8954E7E9-D88E-4F85-A9A7-FF904C4753E3}"/>
              </a:ext>
            </a:extLst>
          </p:cNvPr>
          <p:cNvSpPr/>
          <p:nvPr>
            <p:custDataLst>
              <p:tags r:id="rId55"/>
            </p:custDataLst>
          </p:nvPr>
        </p:nvSpPr>
        <p:spPr bwMode="auto">
          <a:xfrm>
            <a:off x="2236788" y="5127625"/>
            <a:ext cx="179388" cy="133350"/>
          </a:xfrm>
          <a:prstGeom prst="rect">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137" name="Rectangle 136">
            <a:extLst>
              <a:ext uri="{FF2B5EF4-FFF2-40B4-BE49-F238E27FC236}">
                <a16:creationId xmlns:a16="http://schemas.microsoft.com/office/drawing/2014/main" id="{6A0D7CC1-B15B-45AC-99CA-F240ED9AA36F}"/>
              </a:ext>
            </a:extLst>
          </p:cNvPr>
          <p:cNvSpPr/>
          <p:nvPr>
            <p:custDataLst>
              <p:tags r:id="rId56"/>
            </p:custDataLst>
          </p:nvPr>
        </p:nvSpPr>
        <p:spPr bwMode="auto">
          <a:xfrm>
            <a:off x="4646613" y="4924425"/>
            <a:ext cx="179388" cy="133350"/>
          </a:xfrm>
          <a:prstGeom prst="rect">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4" name="Text Placeholder 18">
            <a:extLst>
              <a:ext uri="{FF2B5EF4-FFF2-40B4-BE49-F238E27FC236}">
                <a16:creationId xmlns:a16="http://schemas.microsoft.com/office/drawing/2014/main" id="{3C9A09B0-CA34-40D0-8CF2-0386FD83BB26}"/>
              </a:ext>
            </a:extLst>
          </p:cNvPr>
          <p:cNvSpPr>
            <a:spLocks noGrp="1"/>
          </p:cNvSpPr>
          <p:nvPr>
            <p:custDataLst>
              <p:tags r:id="rId57"/>
            </p:custDataLst>
          </p:nvPr>
        </p:nvSpPr>
        <p:spPr bwMode="auto">
          <a:xfrm>
            <a:off x="2466975" y="4919663"/>
            <a:ext cx="195897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26A2F578-F133-48E2-AE87-C0D29018983C}" type="datetime'Impro''v''em''''en''''''t i''n'' P''r''oc''urement Pro''cess'">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Improvement in Procurement Process</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55" name="Text Placeholder 18">
            <a:extLst>
              <a:ext uri="{FF2B5EF4-FFF2-40B4-BE49-F238E27FC236}">
                <a16:creationId xmlns:a16="http://schemas.microsoft.com/office/drawing/2014/main" id="{69FC5078-9229-4276-BBCB-983992C599CC}"/>
              </a:ext>
            </a:extLst>
          </p:cNvPr>
          <p:cNvSpPr>
            <a:spLocks noGrp="1"/>
          </p:cNvSpPr>
          <p:nvPr>
            <p:custDataLst>
              <p:tags r:id="rId58"/>
            </p:custDataLst>
          </p:nvPr>
        </p:nvSpPr>
        <p:spPr bwMode="auto">
          <a:xfrm>
            <a:off x="2466975" y="5122863"/>
            <a:ext cx="207803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B9ADEA59-2E4C-4C61-AF12-2197A10AFBF8}" type="datetime'I''mpr''o''vement in Inv''entory M''ana''''g''''''eme''n''t'''">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Improvement in Inventory Management</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58" name="Text Placeholder 18">
            <a:extLst>
              <a:ext uri="{FF2B5EF4-FFF2-40B4-BE49-F238E27FC236}">
                <a16:creationId xmlns:a16="http://schemas.microsoft.com/office/drawing/2014/main" id="{B7ED960D-2ECB-46C6-AE65-EE607C2AEF61}"/>
              </a:ext>
            </a:extLst>
          </p:cNvPr>
          <p:cNvSpPr>
            <a:spLocks noGrp="1"/>
          </p:cNvSpPr>
          <p:nvPr>
            <p:custDataLst>
              <p:tags r:id="rId59"/>
            </p:custDataLst>
          </p:nvPr>
        </p:nvSpPr>
        <p:spPr bwMode="auto">
          <a:xfrm>
            <a:off x="4876800" y="4919663"/>
            <a:ext cx="2568575"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217943C2-4522-4135-A947-A9343A8999D0}" type="datetime'Improvement ''''''in Generatio''n Efficiency -'' Base Ca''se'">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Improvement in Generation Efficiency - Base Case</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47" name="Isosceles Triangle 146">
            <a:extLst>
              <a:ext uri="{FF2B5EF4-FFF2-40B4-BE49-F238E27FC236}">
                <a16:creationId xmlns:a16="http://schemas.microsoft.com/office/drawing/2014/main" id="{5C2F77A1-EE14-4084-9DB9-224B561E8E18}"/>
              </a:ext>
            </a:extLst>
          </p:cNvPr>
          <p:cNvSpPr/>
          <p:nvPr/>
        </p:nvSpPr>
        <p:spPr bwMode="gray">
          <a:xfrm rot="5400000">
            <a:off x="7761446" y="3734434"/>
            <a:ext cx="2514283" cy="242889"/>
          </a:xfrm>
          <a:prstGeom prst="triangl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aphicFrame>
        <p:nvGraphicFramePr>
          <p:cNvPr id="135" name="Chart 134">
            <a:extLst>
              <a:ext uri="{FF2B5EF4-FFF2-40B4-BE49-F238E27FC236}">
                <a16:creationId xmlns:a16="http://schemas.microsoft.com/office/drawing/2014/main" id="{23D73817-8FFE-4D0A-A29D-712D59754D3F}"/>
              </a:ext>
            </a:extLst>
          </p:cNvPr>
          <p:cNvGraphicFramePr/>
          <p:nvPr>
            <p:custDataLst>
              <p:tags r:id="rId60"/>
            </p:custDataLst>
          </p:nvPr>
        </p:nvGraphicFramePr>
        <p:xfrm>
          <a:off x="9413875" y="3054350"/>
          <a:ext cx="1173163" cy="1504950"/>
        </p:xfrm>
        <a:graphic>
          <a:graphicData uri="http://schemas.openxmlformats.org/drawingml/2006/chart">
            <c:chart xmlns:c="http://schemas.openxmlformats.org/drawingml/2006/chart" xmlns:r="http://schemas.openxmlformats.org/officeDocument/2006/relationships" r:id="rId83"/>
          </a:graphicData>
        </a:graphic>
      </p:graphicFrame>
      <p:sp>
        <p:nvSpPr>
          <p:cNvPr id="156" name="Text Placeholder 18">
            <a:extLst>
              <a:ext uri="{FF2B5EF4-FFF2-40B4-BE49-F238E27FC236}">
                <a16:creationId xmlns:a16="http://schemas.microsoft.com/office/drawing/2014/main" id="{C9AAB397-31EC-4052-8DC8-FFBAC93EBA23}"/>
              </a:ext>
            </a:extLst>
          </p:cNvPr>
          <p:cNvSpPr>
            <a:spLocks noGrp="1"/>
          </p:cNvSpPr>
          <p:nvPr>
            <p:custDataLst>
              <p:tags r:id="rId61"/>
            </p:custDataLst>
          </p:nvPr>
        </p:nvSpPr>
        <p:spPr bwMode="auto">
          <a:xfrm>
            <a:off x="9817100" y="4578350"/>
            <a:ext cx="36671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30BD04C5-CD6E-4BB6-BD12-4E22ECBDD308}" type="datetime'''''''''''''''''''Y1-''''1''''''0'''''">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Y1-10</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55" name="Text Placeholder 18">
            <a:extLst>
              <a:ext uri="{FF2B5EF4-FFF2-40B4-BE49-F238E27FC236}">
                <a16:creationId xmlns:a16="http://schemas.microsoft.com/office/drawing/2014/main" id="{11C6D230-BED0-4C59-B01F-6A5A8AFC98BF}"/>
              </a:ext>
            </a:extLst>
          </p:cNvPr>
          <p:cNvSpPr>
            <a:spLocks noGrp="1"/>
          </p:cNvSpPr>
          <p:nvPr>
            <p:custDataLst>
              <p:tags r:id="rId62"/>
            </p:custDataLst>
          </p:nvPr>
        </p:nvSpPr>
        <p:spPr bwMode="gray">
          <a:xfrm>
            <a:off x="9186863" y="2959100"/>
            <a:ext cx="1627188"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80E2F332-25D0-4080-80EA-B04A14E02B06}" type="datetime'4''''''''''''5''''''''''''''''''''''2''''''.''''''''''''2'''''">
              <a:rPr kumimoji="0" lang="en-US" altLang="en-US" sz="1000" b="1"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452.2</a:t>
            </a:fld>
            <a:r>
              <a:rPr kumimoji="0" lang="en-US" altLang="en-US" sz="1000" b="1"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rPr>
              <a:t> Mn MVR / 29.4 Mn USD</a:t>
            </a:r>
            <a:endParaRPr kumimoji="0" lang="en-US" sz="1000" b="1"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193" name="TextBox 192">
            <a:extLst>
              <a:ext uri="{FF2B5EF4-FFF2-40B4-BE49-F238E27FC236}">
                <a16:creationId xmlns:a16="http://schemas.microsoft.com/office/drawing/2014/main" id="{6A76F19C-7AC8-417A-950F-90A16B836354}"/>
              </a:ext>
            </a:extLst>
          </p:cNvPr>
          <p:cNvSpPr txBox="1"/>
          <p:nvPr/>
        </p:nvSpPr>
        <p:spPr>
          <a:xfrm>
            <a:off x="2696369" y="1703075"/>
            <a:ext cx="4608513"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800" b="1" i="1" u="none" strike="noStrike" kern="1200" cap="none" spc="0" normalizeH="0" baseline="0" noProof="0" dirty="0">
                <a:ln>
                  <a:noFill/>
                </a:ln>
                <a:solidFill>
                  <a:srgbClr val="313131"/>
                </a:solidFill>
                <a:effectLst/>
                <a:uLnTx/>
                <a:uFillTx/>
                <a:latin typeface="Calibri"/>
                <a:ea typeface="+mn-ea"/>
                <a:cs typeface="+mn-cs"/>
              </a:rPr>
              <a:t>YoY Estimated Benefit Realization (Mn MVR)</a:t>
            </a:r>
          </a:p>
        </p:txBody>
      </p:sp>
      <p:sp>
        <p:nvSpPr>
          <p:cNvPr id="194" name="TextBox 193">
            <a:extLst>
              <a:ext uri="{FF2B5EF4-FFF2-40B4-BE49-F238E27FC236}">
                <a16:creationId xmlns:a16="http://schemas.microsoft.com/office/drawing/2014/main" id="{E0827038-1175-4B8D-83F8-5357B4E0D55A}"/>
              </a:ext>
            </a:extLst>
          </p:cNvPr>
          <p:cNvSpPr txBox="1"/>
          <p:nvPr/>
        </p:nvSpPr>
        <p:spPr>
          <a:xfrm>
            <a:off x="8472488" y="1674387"/>
            <a:ext cx="3479799"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800" b="1" i="1" u="none" strike="noStrike" kern="1200" cap="none" spc="0" normalizeH="0" baseline="0" noProof="0" dirty="0">
                <a:ln>
                  <a:noFill/>
                </a:ln>
                <a:solidFill>
                  <a:srgbClr val="313131"/>
                </a:solidFill>
                <a:effectLst/>
                <a:uLnTx/>
                <a:uFillTx/>
                <a:latin typeface="Calibri"/>
                <a:ea typeface="+mn-ea"/>
                <a:cs typeface="+mn-cs"/>
              </a:rPr>
              <a:t>Cumulative Benefit Realization</a:t>
            </a:r>
          </a:p>
        </p:txBody>
      </p:sp>
      <p:sp>
        <p:nvSpPr>
          <p:cNvPr id="195" name="TextBox 194">
            <a:extLst>
              <a:ext uri="{FF2B5EF4-FFF2-40B4-BE49-F238E27FC236}">
                <a16:creationId xmlns:a16="http://schemas.microsoft.com/office/drawing/2014/main" id="{49D8BB7E-B199-4026-BA13-B0C3F889A2BA}"/>
              </a:ext>
            </a:extLst>
          </p:cNvPr>
          <p:cNvSpPr txBox="1"/>
          <p:nvPr/>
        </p:nvSpPr>
        <p:spPr>
          <a:xfrm>
            <a:off x="434975" y="5623156"/>
            <a:ext cx="11255375" cy="83099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800" b="1" i="1" u="none" strike="noStrike" kern="1200" cap="none" spc="0" normalizeH="0" baseline="0" noProof="0" dirty="0">
                <a:ln>
                  <a:noFill/>
                </a:ln>
                <a:solidFill>
                  <a:srgbClr val="313131"/>
                </a:solidFill>
                <a:effectLst/>
                <a:uLnTx/>
                <a:uFillTx/>
                <a:latin typeface="Calibri"/>
                <a:ea typeface="+mn-ea"/>
                <a:cs typeface="+mn-cs"/>
              </a:rPr>
              <a:t>Considering the implementation of Procurement &amp; Inventory Module and Maintenance Module, we expect STELCO to derive benefit realization of ~USD 28-30 Mn USD in 10 Years in base estimation and ~USD 90-110 Mn in optimistic estimation</a:t>
            </a:r>
          </a:p>
        </p:txBody>
      </p:sp>
      <p:graphicFrame>
        <p:nvGraphicFramePr>
          <p:cNvPr id="132" name="Chart 131">
            <a:extLst>
              <a:ext uri="{FF2B5EF4-FFF2-40B4-BE49-F238E27FC236}">
                <a16:creationId xmlns:a16="http://schemas.microsoft.com/office/drawing/2014/main" id="{ADEDF534-928E-46FD-BCC9-C43E7BF3DF21}"/>
              </a:ext>
            </a:extLst>
          </p:cNvPr>
          <p:cNvGraphicFramePr/>
          <p:nvPr>
            <p:custDataLst>
              <p:tags r:id="rId63"/>
            </p:custDataLst>
          </p:nvPr>
        </p:nvGraphicFramePr>
        <p:xfrm>
          <a:off x="6007100" y="2514600"/>
          <a:ext cx="2473325" cy="2044700"/>
        </p:xfrm>
        <a:graphic>
          <a:graphicData uri="http://schemas.openxmlformats.org/drawingml/2006/chart">
            <c:chart xmlns:c="http://schemas.openxmlformats.org/drawingml/2006/chart" xmlns:r="http://schemas.openxmlformats.org/officeDocument/2006/relationships" r:id="rId84"/>
          </a:graphicData>
        </a:graphic>
      </p:graphicFrame>
      <p:sp>
        <p:nvSpPr>
          <p:cNvPr id="208" name="Text Placeholder 18">
            <a:extLst>
              <a:ext uri="{FF2B5EF4-FFF2-40B4-BE49-F238E27FC236}">
                <a16:creationId xmlns:a16="http://schemas.microsoft.com/office/drawing/2014/main" id="{21326BF2-4BFD-475C-A067-B6F779F107C2}"/>
              </a:ext>
            </a:extLst>
          </p:cNvPr>
          <p:cNvSpPr>
            <a:spLocks noGrp="1"/>
          </p:cNvSpPr>
          <p:nvPr>
            <p:custDataLst>
              <p:tags r:id="rId64"/>
            </p:custDataLst>
          </p:nvPr>
        </p:nvSpPr>
        <p:spPr bwMode="auto">
          <a:xfrm>
            <a:off x="6391275" y="4578350"/>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F02E2614-5CFF-4EAE-BFB9-D28EA1AAC7B1}" type="datetime'''''''Y''''''''''''''1'''''''''">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213" name="Text Placeholder 18">
            <a:extLst>
              <a:ext uri="{FF2B5EF4-FFF2-40B4-BE49-F238E27FC236}">
                <a16:creationId xmlns:a16="http://schemas.microsoft.com/office/drawing/2014/main" id="{BA6030F2-6029-401A-B07E-0B4967D4022A}"/>
              </a:ext>
            </a:extLst>
          </p:cNvPr>
          <p:cNvSpPr>
            <a:spLocks noGrp="1"/>
          </p:cNvSpPr>
          <p:nvPr>
            <p:custDataLst>
              <p:tags r:id="rId65"/>
            </p:custDataLst>
          </p:nvPr>
        </p:nvSpPr>
        <p:spPr bwMode="gray">
          <a:xfrm>
            <a:off x="6273800" y="3611563"/>
            <a:ext cx="40005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F08F3699-37A4-472E-80F0-868E9E780019}" type="datetime'''''''1''''''''''5''''''''''''.''4''''''''''''''''''5'">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15.45</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207" name="Text Placeholder 18">
            <a:extLst>
              <a:ext uri="{FF2B5EF4-FFF2-40B4-BE49-F238E27FC236}">
                <a16:creationId xmlns:a16="http://schemas.microsoft.com/office/drawing/2014/main" id="{81742D70-848D-40F6-B24A-16CE771C666C}"/>
              </a:ext>
            </a:extLst>
          </p:cNvPr>
          <p:cNvSpPr>
            <a:spLocks noGrp="1"/>
          </p:cNvSpPr>
          <p:nvPr>
            <p:custDataLst>
              <p:tags r:id="rId66"/>
            </p:custDataLst>
          </p:nvPr>
        </p:nvSpPr>
        <p:spPr bwMode="auto">
          <a:xfrm>
            <a:off x="7161213" y="4578350"/>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7091FC9A-926D-403E-A2C6-2E6EE680789E}" type="datetime'''Y''''''''''''''''''''''''''''''''''''''''''''''2'''''''''''">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Y2</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209" name="Text Placeholder 18">
            <a:extLst>
              <a:ext uri="{FF2B5EF4-FFF2-40B4-BE49-F238E27FC236}">
                <a16:creationId xmlns:a16="http://schemas.microsoft.com/office/drawing/2014/main" id="{45907EA5-EA8F-4D35-993E-C7357DC021B4}"/>
              </a:ext>
            </a:extLst>
          </p:cNvPr>
          <p:cNvSpPr>
            <a:spLocks noGrp="1"/>
          </p:cNvSpPr>
          <p:nvPr>
            <p:custDataLst>
              <p:tags r:id="rId67"/>
            </p:custDataLst>
          </p:nvPr>
        </p:nvSpPr>
        <p:spPr bwMode="auto">
          <a:xfrm>
            <a:off x="7697788" y="4578350"/>
            <a:ext cx="63023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F66D13FB-308F-41EE-A364-9053B661EBC2}" type="datetime'''''''''''Y''''''''3''-1''''0'''''''''''' p.''a.'''''''">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Y3-10 p.a.</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206" name="Text Placeholder 18">
            <a:extLst>
              <a:ext uri="{FF2B5EF4-FFF2-40B4-BE49-F238E27FC236}">
                <a16:creationId xmlns:a16="http://schemas.microsoft.com/office/drawing/2014/main" id="{3B10B182-2040-4017-BCAE-F77F376623E8}"/>
              </a:ext>
            </a:extLst>
          </p:cNvPr>
          <p:cNvSpPr>
            <a:spLocks noGrp="1"/>
          </p:cNvSpPr>
          <p:nvPr>
            <p:custDataLst>
              <p:tags r:id="rId68"/>
            </p:custDataLst>
          </p:nvPr>
        </p:nvSpPr>
        <p:spPr bwMode="gray">
          <a:xfrm>
            <a:off x="7812088" y="2389188"/>
            <a:ext cx="40005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E7E9F686-5845-4DFC-B26F-0317D7B6EC4B}" type="datetime'''''''''''''''4''4.''''''''''''1''''''''''''''''''''''''4'''''">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44.14</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212" name="Text Placeholder 18">
            <a:extLst>
              <a:ext uri="{FF2B5EF4-FFF2-40B4-BE49-F238E27FC236}">
                <a16:creationId xmlns:a16="http://schemas.microsoft.com/office/drawing/2014/main" id="{CA0339E9-E26C-4A82-B0A5-09FDF235DF0E}"/>
              </a:ext>
            </a:extLst>
          </p:cNvPr>
          <p:cNvSpPr>
            <a:spLocks noGrp="1"/>
          </p:cNvSpPr>
          <p:nvPr>
            <p:custDataLst>
              <p:tags r:id="rId69"/>
            </p:custDataLst>
          </p:nvPr>
        </p:nvSpPr>
        <p:spPr bwMode="gray">
          <a:xfrm>
            <a:off x="7043738" y="2952750"/>
            <a:ext cx="40005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BAAE24B7-96AE-477B-AB78-7CBB49031A22}" type="datetime'''''3''''''''0.9''''''''''''''''''''''''0'''''">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30.90</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27" name="Rectangle 26" hidden="1">
            <a:extLst>
              <a:ext uri="{FF2B5EF4-FFF2-40B4-BE49-F238E27FC236}">
                <a16:creationId xmlns:a16="http://schemas.microsoft.com/office/drawing/2014/main" id="{0C424A78-685D-4AD2-9957-F532F86BEC0D}"/>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29" name="Rectangle 28">
            <a:extLst>
              <a:ext uri="{FF2B5EF4-FFF2-40B4-BE49-F238E27FC236}">
                <a16:creationId xmlns:a16="http://schemas.microsoft.com/office/drawing/2014/main" id="{2A7CB8B4-4411-474B-846C-5AE2AB557EAE}"/>
              </a:ext>
            </a:extLst>
          </p:cNvPr>
          <p:cNvSpPr/>
          <p:nvPr>
            <p:custDataLst>
              <p:tags r:id="rId70"/>
            </p:custDataLst>
          </p:nvPr>
        </p:nvSpPr>
        <p:spPr bwMode="auto">
          <a:xfrm>
            <a:off x="4651375" y="5143500"/>
            <a:ext cx="179388" cy="133350"/>
          </a:xfrm>
          <a:prstGeom prst="rect">
            <a:avLst/>
          </a:prstGeom>
          <a:solidFill>
            <a:srgbClr val="041E4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32" name="Text Placeholder 18">
            <a:extLst>
              <a:ext uri="{FF2B5EF4-FFF2-40B4-BE49-F238E27FC236}">
                <a16:creationId xmlns:a16="http://schemas.microsoft.com/office/drawing/2014/main" id="{4F25EE3D-A33F-4EBF-AE75-D1FF92F80B79}"/>
              </a:ext>
            </a:extLst>
          </p:cNvPr>
          <p:cNvSpPr>
            <a:spLocks noGrp="1"/>
          </p:cNvSpPr>
          <p:nvPr>
            <p:custDataLst>
              <p:tags r:id="rId71"/>
            </p:custDataLst>
          </p:nvPr>
        </p:nvSpPr>
        <p:spPr bwMode="auto">
          <a:xfrm>
            <a:off x="4881563" y="5138738"/>
            <a:ext cx="3344863"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5E856720-C645-4B81-A0B6-B38B64113878}" type="thinkcell&lt;?xml version=&quot;1.0&quot; encoding=&quot;UTF-16&quot; standalone=&quot;yes&quot;?&gt;&lt;root reqver=&quot;27037&quot;&gt;&lt;version val=&quot;30900&quot;/&gt;&lt;PersistentType&gt;&lt;m_guid val=&quot;ed17bf00-1c71-4968-bd6c-3cc5cee8e691&quot;/&gt;&lt;m_prec&gt;&lt;m_yearfmt&gt;&lt;begin val=&quot;0&quot;/&gt;&lt;end val=&quot;4&quot;/&gt;&lt;/m_yearfmt&gt;&lt;/m_prec&gt;&lt;/PersistentType&gt;&lt;/root&gt;">
              <a:rPr kumimoji="0" lang="en-US" altLang="en-US" sz="10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Incremental Savings from Generation Efficiency (Optimistic Case)</a:t>
            </a:fld>
            <a:endParaRPr kumimoji="0" lang="en-US" sz="10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33" name="Rectangle 32">
            <a:extLst>
              <a:ext uri="{FF2B5EF4-FFF2-40B4-BE49-F238E27FC236}">
                <a16:creationId xmlns:a16="http://schemas.microsoft.com/office/drawing/2014/main" id="{431D3D1E-9A56-4A46-B7D8-B18DE0BF3636}"/>
              </a:ext>
            </a:extLst>
          </p:cNvPr>
          <p:cNvSpPr/>
          <p:nvPr>
            <p:custDataLst>
              <p:tags r:id="rId72"/>
            </p:custDataLst>
          </p:nvPr>
        </p:nvSpPr>
        <p:spPr bwMode="auto">
          <a:xfrm>
            <a:off x="9320213" y="4846638"/>
            <a:ext cx="214313" cy="160338"/>
          </a:xfrm>
          <a:prstGeom prst="rect">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38" name="Text Placeholder 18">
            <a:extLst>
              <a:ext uri="{FF2B5EF4-FFF2-40B4-BE49-F238E27FC236}">
                <a16:creationId xmlns:a16="http://schemas.microsoft.com/office/drawing/2014/main" id="{86D32D4A-5C97-4AD8-BC70-E58D8EA4C4B9}"/>
              </a:ext>
            </a:extLst>
          </p:cNvPr>
          <p:cNvSpPr>
            <a:spLocks noGrp="1"/>
          </p:cNvSpPr>
          <p:nvPr>
            <p:custDataLst>
              <p:tags r:id="rId73"/>
            </p:custDataLst>
          </p:nvPr>
        </p:nvSpPr>
        <p:spPr bwMode="auto">
          <a:xfrm>
            <a:off x="9585325" y="4841875"/>
            <a:ext cx="174783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5653A6F4-579F-44A5-AB42-CD71AA8DE167}" type="datetime'''B''''ase ''Ca''se'''' ''''S''a''vings (''1''''0 Year''s'')'">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Base Case Savings (10 Years)</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graphicFrame>
        <p:nvGraphicFramePr>
          <p:cNvPr id="141" name="Chart 140">
            <a:extLst>
              <a:ext uri="{FF2B5EF4-FFF2-40B4-BE49-F238E27FC236}">
                <a16:creationId xmlns:a16="http://schemas.microsoft.com/office/drawing/2014/main" id="{B3B49336-C5D3-47B5-AE2C-3A68AD93F14A}"/>
              </a:ext>
            </a:extLst>
          </p:cNvPr>
          <p:cNvGraphicFramePr/>
          <p:nvPr>
            <p:custDataLst>
              <p:tags r:id="rId74"/>
            </p:custDataLst>
          </p:nvPr>
        </p:nvGraphicFramePr>
        <p:xfrm>
          <a:off x="10547350" y="2278063"/>
          <a:ext cx="1173163" cy="2281237"/>
        </p:xfrm>
        <a:graphic>
          <a:graphicData uri="http://schemas.openxmlformats.org/drawingml/2006/chart">
            <c:chart xmlns:c="http://schemas.openxmlformats.org/drawingml/2006/chart" xmlns:r="http://schemas.openxmlformats.org/officeDocument/2006/relationships" r:id="rId85"/>
          </a:graphicData>
        </a:graphic>
      </p:graphicFrame>
      <p:sp>
        <p:nvSpPr>
          <p:cNvPr id="248" name="Text Placeholder 18">
            <a:extLst>
              <a:ext uri="{FF2B5EF4-FFF2-40B4-BE49-F238E27FC236}">
                <a16:creationId xmlns:a16="http://schemas.microsoft.com/office/drawing/2014/main" id="{B6EB3083-3BDE-4309-9D7E-79E2E55B3B46}"/>
              </a:ext>
            </a:extLst>
          </p:cNvPr>
          <p:cNvSpPr>
            <a:spLocks noGrp="1"/>
          </p:cNvSpPr>
          <p:nvPr>
            <p:custDataLst>
              <p:tags r:id="rId75"/>
            </p:custDataLst>
          </p:nvPr>
        </p:nvSpPr>
        <p:spPr bwMode="auto">
          <a:xfrm>
            <a:off x="10950575" y="4578350"/>
            <a:ext cx="36671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A0632B2A-CEAE-4BFC-BAF7-A11B9B6B9BB4}" type="datetime'''Y''''''''''''''1''''''''''''-''''''1''''0'''''''''''''''''">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Y1-10</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247" name="Text Placeholder 18">
            <a:extLst>
              <a:ext uri="{FF2B5EF4-FFF2-40B4-BE49-F238E27FC236}">
                <a16:creationId xmlns:a16="http://schemas.microsoft.com/office/drawing/2014/main" id="{5D7BA2EA-2C7A-4866-AB68-C90932687152}"/>
              </a:ext>
            </a:extLst>
          </p:cNvPr>
          <p:cNvSpPr>
            <a:spLocks noGrp="1"/>
          </p:cNvSpPr>
          <p:nvPr>
            <p:custDataLst>
              <p:tags r:id="rId76"/>
            </p:custDataLst>
          </p:nvPr>
        </p:nvSpPr>
        <p:spPr bwMode="gray">
          <a:xfrm>
            <a:off x="10336213" y="2182813"/>
            <a:ext cx="1593850"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Pct val="100000"/>
              <a:buFontTx/>
              <a:buNone/>
              <a:tabLst/>
              <a:defRPr/>
            </a:pPr>
            <a:fld id="{70289C32-5F9C-4E89-BED0-1BCF553C0770}" type="datetime'''''''''''''''''''''''''''1,''''''''''''''''''5''''57'''">
              <a:rPr kumimoji="0" lang="en-US" altLang="en-US" sz="1000" b="1"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ctr" defTabSz="914400" rtl="0" eaLnBrk="1" fontAlgn="auto" latinLnBrk="0" hangingPunct="1">
                <a:lnSpc>
                  <a:spcPct val="100000"/>
                </a:lnSpc>
                <a:spcBef>
                  <a:spcPct val="0"/>
                </a:spcBef>
                <a:spcAft>
                  <a:spcPct val="0"/>
                </a:spcAft>
                <a:buClrTx/>
                <a:buSzPct val="100000"/>
                <a:buFontTx/>
                <a:buNone/>
                <a:tabLst/>
                <a:defRPr/>
              </a:pPr>
              <a:t>1,557</a:t>
            </a:fld>
            <a:r>
              <a:rPr kumimoji="0" lang="en-US" altLang="en-US" sz="1000" b="1"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rPr>
              <a:t> Mn MVR / 101 Mn USD</a:t>
            </a:r>
            <a:endParaRPr kumimoji="0" lang="en-US" sz="1000" b="1"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
        <p:nvSpPr>
          <p:cNvPr id="249" name="Rectangle 248">
            <a:extLst>
              <a:ext uri="{FF2B5EF4-FFF2-40B4-BE49-F238E27FC236}">
                <a16:creationId xmlns:a16="http://schemas.microsoft.com/office/drawing/2014/main" id="{D0B571C1-421B-4CB5-B0AC-856F0BEB85EC}"/>
              </a:ext>
            </a:extLst>
          </p:cNvPr>
          <p:cNvSpPr/>
          <p:nvPr>
            <p:custDataLst>
              <p:tags r:id="rId77"/>
            </p:custDataLst>
          </p:nvPr>
        </p:nvSpPr>
        <p:spPr bwMode="auto">
          <a:xfrm>
            <a:off x="9320213" y="5149850"/>
            <a:ext cx="214313" cy="160338"/>
          </a:xfrm>
          <a:prstGeom prst="rect">
            <a:avLst/>
          </a:prstGeom>
          <a:solidFill>
            <a:srgbClr val="005587"/>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250" name="Text Placeholder 18">
            <a:extLst>
              <a:ext uri="{FF2B5EF4-FFF2-40B4-BE49-F238E27FC236}">
                <a16:creationId xmlns:a16="http://schemas.microsoft.com/office/drawing/2014/main" id="{87532A46-E2F5-42C0-9813-FA2693703D4C}"/>
              </a:ext>
            </a:extLst>
          </p:cNvPr>
          <p:cNvSpPr>
            <a:spLocks noGrp="1"/>
          </p:cNvSpPr>
          <p:nvPr>
            <p:custDataLst>
              <p:tags r:id="rId78"/>
            </p:custDataLst>
          </p:nvPr>
        </p:nvSpPr>
        <p:spPr bwMode="auto">
          <a:xfrm>
            <a:off x="9585325" y="5145088"/>
            <a:ext cx="20875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Tx/>
              <a:buSzPct val="100000"/>
              <a:buFontTx/>
              <a:buNone/>
              <a:tabLst/>
              <a:defRPr/>
            </a:pPr>
            <a:fld id="{049D18CB-1F49-4FE5-B1DC-369495D23C42}" type="datetime'Optimist''''''i''c C''''ase Sa''vin''''gs (10 ''Yea''''rs)'''">
              <a:rPr kumimoji="0" lang="en-US" altLang="en-US" sz="1200" b="0" i="0" u="none" strike="noStrike" kern="1200" cap="none" spc="0" normalizeH="0" baseline="0" noProof="0" smtClean="0">
                <a:ln>
                  <a:noFill/>
                </a:ln>
                <a:solidFill>
                  <a:prstClr val="black"/>
                </a:solidFill>
                <a:effectLst/>
                <a:uLnTx/>
                <a:uFillTx/>
                <a:latin typeface="Calibri"/>
                <a:ea typeface="+mn-ea"/>
                <a:cs typeface="Calibri Light" panose="020F0302020204030204" pitchFamily="34" charset="0"/>
              </a:rPr>
              <a:pPr marL="0" marR="0" lvl="0" indent="0" algn="l" defTabSz="914400" rtl="0" eaLnBrk="1" fontAlgn="auto" latinLnBrk="0" hangingPunct="1">
                <a:lnSpc>
                  <a:spcPct val="100000"/>
                </a:lnSpc>
                <a:spcBef>
                  <a:spcPct val="0"/>
                </a:spcBef>
                <a:spcAft>
                  <a:spcPct val="0"/>
                </a:spcAft>
                <a:buClrTx/>
                <a:buSzPct val="100000"/>
                <a:buFontTx/>
                <a:buNone/>
                <a:tabLst/>
                <a:defRPr/>
              </a:pPr>
              <a:t>Optimistic Case Savings (10 Years)</a:t>
            </a:fld>
            <a:endParaRPr kumimoji="0" lang="en-US" sz="1200" b="0" i="0" u="none" strike="noStrike" kern="1200" cap="none" spc="0" normalizeH="0" baseline="0" noProof="0" dirty="0">
              <a:ln>
                <a:noFill/>
              </a:ln>
              <a:solidFill>
                <a:prstClr val="black"/>
              </a:solidFill>
              <a:effectLst/>
              <a:uLnTx/>
              <a:uFillTx/>
              <a:latin typeface="Calibri"/>
              <a:ea typeface="+mn-ea"/>
              <a:cs typeface="Calibri Light" panose="020F0302020204030204" pitchFamily="34" charset="0"/>
            </a:endParaRPr>
          </a:p>
        </p:txBody>
      </p:sp>
    </p:spTree>
    <p:extLst>
      <p:ext uri="{BB962C8B-B14F-4D97-AF65-F5344CB8AC3E}">
        <p14:creationId xmlns:p14="http://schemas.microsoft.com/office/powerpoint/2010/main" val="130797617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Apart from the tangible benefits, ERP provides a host of intangible benefits which ultimately drives the bottom-line of businesses</a:t>
            </a:r>
            <a:endParaRPr lang="en-IN" b="1" dirty="0"/>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Cost Benefit Analysis – Intangible Benefits</a:t>
            </a:r>
            <a:endParaRPr lang="en-GB" dirty="0"/>
          </a:p>
        </p:txBody>
      </p:sp>
      <p:sp>
        <p:nvSpPr>
          <p:cNvPr id="27" name="Rectangle 26" hidden="1">
            <a:extLst>
              <a:ext uri="{FF2B5EF4-FFF2-40B4-BE49-F238E27FC236}">
                <a16:creationId xmlns:a16="http://schemas.microsoft.com/office/drawing/2014/main" id="{0C424A78-685D-4AD2-9957-F532F86BEC0D}"/>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50" name="Rectangle 49">
            <a:extLst>
              <a:ext uri="{FF2B5EF4-FFF2-40B4-BE49-F238E27FC236}">
                <a16:creationId xmlns:a16="http://schemas.microsoft.com/office/drawing/2014/main" id="{692958E5-52C1-4E26-B5C5-5540A19BDFE3}"/>
              </a:ext>
            </a:extLst>
          </p:cNvPr>
          <p:cNvSpPr/>
          <p:nvPr/>
        </p:nvSpPr>
        <p:spPr bwMode="gray">
          <a:xfrm>
            <a:off x="517187" y="1243377"/>
            <a:ext cx="11188701" cy="311484"/>
          </a:xfrm>
          <a:prstGeom prst="rect">
            <a:avLst/>
          </a:prstGeom>
          <a:solidFill>
            <a:schemeClr val="tx1">
              <a:lumMod val="65000"/>
              <a:lumOff val="35000"/>
            </a:schemeClr>
          </a:solidFill>
          <a:ln w="19050" algn="ctr">
            <a:noFill/>
            <a:miter lim="800000"/>
            <a:headEnd/>
            <a:tailEnd/>
          </a:ln>
        </p:spPr>
        <p:txBody>
          <a:bodyPr wrap="square" lIns="0" tIns="0" rIns="0" bIns="0" rtlCol="0" anchor="ctr" anchorCtr="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Verdana" panose="020B0604030504040204" pitchFamily="34" charset="0"/>
                <a:ea typeface="+mn-ea"/>
                <a:cs typeface="+mn-cs"/>
              </a:rPr>
              <a:t>STELCO – ERP Intangible Benefit Analysis</a:t>
            </a:r>
          </a:p>
        </p:txBody>
      </p:sp>
      <p:sp>
        <p:nvSpPr>
          <p:cNvPr id="51" name="TextBox 50">
            <a:extLst>
              <a:ext uri="{FF2B5EF4-FFF2-40B4-BE49-F238E27FC236}">
                <a16:creationId xmlns:a16="http://schemas.microsoft.com/office/drawing/2014/main" id="{173B2800-9055-4BFD-8DC7-685CDF8B957A}"/>
              </a:ext>
            </a:extLst>
          </p:cNvPr>
          <p:cNvSpPr txBox="1"/>
          <p:nvPr/>
        </p:nvSpPr>
        <p:spPr>
          <a:xfrm>
            <a:off x="517187" y="5922320"/>
            <a:ext cx="11188701" cy="544830"/>
          </a:xfrm>
          <a:prstGeom prst="roundRect">
            <a:avLst/>
          </a:prstGeom>
          <a:solidFill>
            <a:srgbClr val="D0D0CE"/>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600" b="1" i="1" u="none" strike="noStrike" kern="1200" cap="none" spc="0" normalizeH="0" baseline="0" noProof="0" dirty="0">
                <a:ln>
                  <a:noFill/>
                </a:ln>
                <a:solidFill>
                  <a:srgbClr val="313131"/>
                </a:solidFill>
                <a:effectLst/>
                <a:uLnTx/>
                <a:uFillTx/>
                <a:latin typeface="Calibri"/>
                <a:ea typeface="+mn-ea"/>
                <a:cs typeface="+mn-cs"/>
              </a:rPr>
              <a:t>Roll out of ERP will improve the Business Process turnaround time, lead to continuous process optimization due to changing business environments, drive customer satisfaction and improve decision making across STELCO</a:t>
            </a:r>
          </a:p>
        </p:txBody>
      </p:sp>
      <p:grpSp>
        <p:nvGrpSpPr>
          <p:cNvPr id="52" name="Group 51">
            <a:extLst>
              <a:ext uri="{FF2B5EF4-FFF2-40B4-BE49-F238E27FC236}">
                <a16:creationId xmlns:a16="http://schemas.microsoft.com/office/drawing/2014/main" id="{BFA07A7F-ED93-4F39-A49C-6DB15EB3955E}"/>
              </a:ext>
            </a:extLst>
          </p:cNvPr>
          <p:cNvGrpSpPr/>
          <p:nvPr/>
        </p:nvGrpSpPr>
        <p:grpSpPr>
          <a:xfrm>
            <a:off x="649756" y="1612732"/>
            <a:ext cx="11040593" cy="999082"/>
            <a:chOff x="649756" y="1708429"/>
            <a:chExt cx="11040593" cy="999082"/>
          </a:xfrm>
        </p:grpSpPr>
        <p:sp>
          <p:nvSpPr>
            <p:cNvPr id="53" name="Rounded Rectangle 58">
              <a:extLst>
                <a:ext uri="{FF2B5EF4-FFF2-40B4-BE49-F238E27FC236}">
                  <a16:creationId xmlns:a16="http://schemas.microsoft.com/office/drawing/2014/main" id="{27000C88-5DBD-409D-84C9-FA22E27E33E8}"/>
                </a:ext>
              </a:extLst>
            </p:cNvPr>
            <p:cNvSpPr/>
            <p:nvPr/>
          </p:nvSpPr>
          <p:spPr bwMode="gray">
            <a:xfrm rot="5400000">
              <a:off x="4035457" y="897993"/>
              <a:ext cx="986281" cy="2632755"/>
            </a:xfrm>
            <a:prstGeom prst="roundRect">
              <a:avLst/>
            </a:prstGeom>
            <a:solidFill>
              <a:schemeClr val="accent1">
                <a:lumMod val="20000"/>
                <a:lumOff val="80000"/>
                <a:alpha val="62000"/>
              </a:schemeClr>
            </a:solidFill>
            <a:ln w="38100" algn="ctr">
              <a:solidFill>
                <a:schemeClr val="accent1"/>
              </a:solidFill>
              <a:miter lim="800000"/>
              <a:headEnd/>
              <a:tailEnd/>
            </a:ln>
          </p:spPr>
          <p:txBody>
            <a:bodyPr vert="vert270"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rPr>
                <a:t>Single Window Request Management &amp; Tracking</a:t>
              </a:r>
            </a:p>
          </p:txBody>
        </p:sp>
        <p:sp>
          <p:nvSpPr>
            <p:cNvPr id="54" name="Rounded Rectangle 58">
              <a:extLst>
                <a:ext uri="{FF2B5EF4-FFF2-40B4-BE49-F238E27FC236}">
                  <a16:creationId xmlns:a16="http://schemas.microsoft.com/office/drawing/2014/main" id="{FB2D5508-55D1-4B49-B605-79DA2F962F69}"/>
                </a:ext>
              </a:extLst>
            </p:cNvPr>
            <p:cNvSpPr/>
            <p:nvPr/>
          </p:nvSpPr>
          <p:spPr bwMode="gray">
            <a:xfrm rot="5400000">
              <a:off x="6958144" y="885192"/>
              <a:ext cx="986281" cy="2632755"/>
            </a:xfrm>
            <a:prstGeom prst="roundRect">
              <a:avLst/>
            </a:prstGeom>
            <a:solidFill>
              <a:schemeClr val="accent1">
                <a:lumMod val="20000"/>
                <a:lumOff val="80000"/>
                <a:alpha val="62000"/>
              </a:schemeClr>
            </a:solidFill>
            <a:ln w="38100" algn="ctr">
              <a:solidFill>
                <a:schemeClr val="accent1"/>
              </a:solidFill>
              <a:miter lim="800000"/>
              <a:headEnd/>
              <a:tailEnd/>
            </a:ln>
          </p:spPr>
          <p:txBody>
            <a:bodyPr vert="vert270"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rPr>
                <a:t>Improved manpower utilization &amp; output</a:t>
              </a:r>
            </a:p>
          </p:txBody>
        </p:sp>
        <p:sp>
          <p:nvSpPr>
            <p:cNvPr id="55" name="Rounded Rectangle 58">
              <a:extLst>
                <a:ext uri="{FF2B5EF4-FFF2-40B4-BE49-F238E27FC236}">
                  <a16:creationId xmlns:a16="http://schemas.microsoft.com/office/drawing/2014/main" id="{16CC2C59-89D2-40CF-A189-D55E7EF95E9A}"/>
                </a:ext>
              </a:extLst>
            </p:cNvPr>
            <p:cNvSpPr/>
            <p:nvPr/>
          </p:nvSpPr>
          <p:spPr bwMode="gray">
            <a:xfrm rot="5400000">
              <a:off x="9880831" y="885192"/>
              <a:ext cx="986281" cy="2632755"/>
            </a:xfrm>
            <a:prstGeom prst="roundRect">
              <a:avLst/>
            </a:prstGeom>
            <a:solidFill>
              <a:schemeClr val="accent1">
                <a:lumMod val="20000"/>
                <a:lumOff val="80000"/>
                <a:alpha val="62000"/>
              </a:schemeClr>
            </a:solidFill>
            <a:ln w="38100" algn="ctr">
              <a:solidFill>
                <a:schemeClr val="accent1"/>
              </a:solidFill>
              <a:miter lim="800000"/>
              <a:headEnd/>
              <a:tailEnd/>
            </a:ln>
          </p:spPr>
          <p:txBody>
            <a:bodyPr vert="vert270"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rPr>
                <a:t>Business Analytics driven Continuous Process Optimizations</a:t>
              </a:r>
            </a:p>
          </p:txBody>
        </p:sp>
        <p:sp>
          <p:nvSpPr>
            <p:cNvPr id="58" name="Rectangle: Rounded Corners 57">
              <a:extLst>
                <a:ext uri="{FF2B5EF4-FFF2-40B4-BE49-F238E27FC236}">
                  <a16:creationId xmlns:a16="http://schemas.microsoft.com/office/drawing/2014/main" id="{A2C59AFD-1050-49AE-B810-A4C1887C545A}"/>
                </a:ext>
              </a:extLst>
            </p:cNvPr>
            <p:cNvSpPr/>
            <p:nvPr/>
          </p:nvSpPr>
          <p:spPr bwMode="gray">
            <a:xfrm>
              <a:off x="649756" y="1708429"/>
              <a:ext cx="2162931" cy="999068"/>
            </a:xfrm>
            <a:prstGeom prst="round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Improvement in Business Processes due to integration</a:t>
              </a:r>
            </a:p>
          </p:txBody>
        </p:sp>
        <p:grpSp>
          <p:nvGrpSpPr>
            <p:cNvPr id="60" name="Group 325">
              <a:extLst>
                <a:ext uri="{FF2B5EF4-FFF2-40B4-BE49-F238E27FC236}">
                  <a16:creationId xmlns:a16="http://schemas.microsoft.com/office/drawing/2014/main" id="{D02A9366-9E06-4C4D-B47C-8E4EAED7B51C}"/>
                </a:ext>
              </a:extLst>
            </p:cNvPr>
            <p:cNvGrpSpPr>
              <a:grpSpLocks/>
            </p:cNvGrpSpPr>
            <p:nvPr/>
          </p:nvGrpSpPr>
          <p:grpSpPr bwMode="auto">
            <a:xfrm>
              <a:off x="4296900" y="1762670"/>
              <a:ext cx="457200" cy="457200"/>
              <a:chOff x="5044" y="1157"/>
              <a:chExt cx="340" cy="341"/>
            </a:xfrm>
            <a:solidFill>
              <a:schemeClr val="accent3"/>
            </a:solidFill>
          </p:grpSpPr>
          <p:sp>
            <p:nvSpPr>
              <p:cNvPr id="67" name="Freeform 326">
                <a:extLst>
                  <a:ext uri="{FF2B5EF4-FFF2-40B4-BE49-F238E27FC236}">
                    <a16:creationId xmlns:a16="http://schemas.microsoft.com/office/drawing/2014/main" id="{1EE0F1B1-6A2F-4929-BCFA-7AB159B4E18C}"/>
                  </a:ext>
                </a:extLst>
              </p:cNvPr>
              <p:cNvSpPr>
                <a:spLocks noEditPoints="1"/>
              </p:cNvSpPr>
              <p:nvPr/>
            </p:nvSpPr>
            <p:spPr bwMode="auto">
              <a:xfrm>
                <a:off x="5044" y="1157"/>
                <a:ext cx="340" cy="34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sp>
            <p:nvSpPr>
              <p:cNvPr id="68" name="Freeform 327">
                <a:extLst>
                  <a:ext uri="{FF2B5EF4-FFF2-40B4-BE49-F238E27FC236}">
                    <a16:creationId xmlns:a16="http://schemas.microsoft.com/office/drawing/2014/main" id="{74D65D9D-F61A-42D5-B426-ED6063BC0A5D}"/>
                  </a:ext>
                </a:extLst>
              </p:cNvPr>
              <p:cNvSpPr>
                <a:spLocks noEditPoints="1"/>
              </p:cNvSpPr>
              <p:nvPr/>
            </p:nvSpPr>
            <p:spPr bwMode="auto">
              <a:xfrm>
                <a:off x="5122" y="1221"/>
                <a:ext cx="188" cy="213"/>
              </a:xfrm>
              <a:custGeom>
                <a:avLst/>
                <a:gdLst>
                  <a:gd name="T0" fmla="*/ 149 w 284"/>
                  <a:gd name="T1" fmla="*/ 106 h 320"/>
                  <a:gd name="T2" fmla="*/ 149 w 284"/>
                  <a:gd name="T3" fmla="*/ 181 h 320"/>
                  <a:gd name="T4" fmla="*/ 139 w 284"/>
                  <a:gd name="T5" fmla="*/ 192 h 320"/>
                  <a:gd name="T6" fmla="*/ 128 w 284"/>
                  <a:gd name="T7" fmla="*/ 181 h 320"/>
                  <a:gd name="T8" fmla="*/ 128 w 284"/>
                  <a:gd name="T9" fmla="*/ 106 h 320"/>
                  <a:gd name="T10" fmla="*/ 139 w 284"/>
                  <a:gd name="T11" fmla="*/ 96 h 320"/>
                  <a:gd name="T12" fmla="*/ 149 w 284"/>
                  <a:gd name="T13" fmla="*/ 106 h 320"/>
                  <a:gd name="T14" fmla="*/ 280 w 284"/>
                  <a:gd name="T15" fmla="*/ 64 h 320"/>
                  <a:gd name="T16" fmla="*/ 280 w 284"/>
                  <a:gd name="T17" fmla="*/ 79 h 320"/>
                  <a:gd name="T18" fmla="*/ 272 w 284"/>
                  <a:gd name="T19" fmla="*/ 82 h 320"/>
                  <a:gd name="T20" fmla="*/ 265 w 284"/>
                  <a:gd name="T21" fmla="*/ 79 h 320"/>
                  <a:gd name="T22" fmla="*/ 250 w 284"/>
                  <a:gd name="T23" fmla="*/ 64 h 320"/>
                  <a:gd name="T24" fmla="*/ 233 w 284"/>
                  <a:gd name="T25" fmla="*/ 80 h 320"/>
                  <a:gd name="T26" fmla="*/ 277 w 284"/>
                  <a:gd name="T27" fmla="*/ 181 h 320"/>
                  <a:gd name="T28" fmla="*/ 139 w 284"/>
                  <a:gd name="T29" fmla="*/ 320 h 320"/>
                  <a:gd name="T30" fmla="*/ 0 w 284"/>
                  <a:gd name="T31" fmla="*/ 181 h 320"/>
                  <a:gd name="T32" fmla="*/ 128 w 284"/>
                  <a:gd name="T33" fmla="*/ 43 h 320"/>
                  <a:gd name="T34" fmla="*/ 128 w 284"/>
                  <a:gd name="T35" fmla="*/ 21 h 320"/>
                  <a:gd name="T36" fmla="*/ 107 w 284"/>
                  <a:gd name="T37" fmla="*/ 21 h 320"/>
                  <a:gd name="T38" fmla="*/ 96 w 284"/>
                  <a:gd name="T39" fmla="*/ 10 h 320"/>
                  <a:gd name="T40" fmla="*/ 107 w 284"/>
                  <a:gd name="T41" fmla="*/ 0 h 320"/>
                  <a:gd name="T42" fmla="*/ 171 w 284"/>
                  <a:gd name="T43" fmla="*/ 0 h 320"/>
                  <a:gd name="T44" fmla="*/ 181 w 284"/>
                  <a:gd name="T45" fmla="*/ 10 h 320"/>
                  <a:gd name="T46" fmla="*/ 171 w 284"/>
                  <a:gd name="T47" fmla="*/ 21 h 320"/>
                  <a:gd name="T48" fmla="*/ 149 w 284"/>
                  <a:gd name="T49" fmla="*/ 21 h 320"/>
                  <a:gd name="T50" fmla="*/ 149 w 284"/>
                  <a:gd name="T51" fmla="*/ 43 h 320"/>
                  <a:gd name="T52" fmla="*/ 217 w 284"/>
                  <a:gd name="T53" fmla="*/ 67 h 320"/>
                  <a:gd name="T54" fmla="*/ 235 w 284"/>
                  <a:gd name="T55" fmla="*/ 49 h 320"/>
                  <a:gd name="T56" fmla="*/ 220 w 284"/>
                  <a:gd name="T57" fmla="*/ 33 h 320"/>
                  <a:gd name="T58" fmla="*/ 220 w 284"/>
                  <a:gd name="T59" fmla="*/ 18 h 320"/>
                  <a:gd name="T60" fmla="*/ 235 w 284"/>
                  <a:gd name="T61" fmla="*/ 18 h 320"/>
                  <a:gd name="T62" fmla="*/ 280 w 284"/>
                  <a:gd name="T63" fmla="*/ 64 h 320"/>
                  <a:gd name="T64" fmla="*/ 139 w 284"/>
                  <a:gd name="T65" fmla="*/ 64 h 320"/>
                  <a:gd name="T66" fmla="*/ 21 w 284"/>
                  <a:gd name="T67" fmla="*/ 181 h 320"/>
                  <a:gd name="T68" fmla="*/ 139 w 284"/>
                  <a:gd name="T69" fmla="*/ 298 h 320"/>
                  <a:gd name="T70" fmla="*/ 256 w 284"/>
                  <a:gd name="T71" fmla="*/ 181 h 320"/>
                  <a:gd name="T72" fmla="*/ 139 w 284"/>
                  <a:gd name="T73" fmla="*/ 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4" h="320">
                    <a:moveTo>
                      <a:pt x="149" y="106"/>
                    </a:moveTo>
                    <a:cubicBezTo>
                      <a:pt x="149" y="181"/>
                      <a:pt x="149" y="181"/>
                      <a:pt x="149" y="181"/>
                    </a:cubicBezTo>
                    <a:cubicBezTo>
                      <a:pt x="149" y="187"/>
                      <a:pt x="145" y="192"/>
                      <a:pt x="139" y="192"/>
                    </a:cubicBezTo>
                    <a:cubicBezTo>
                      <a:pt x="133" y="192"/>
                      <a:pt x="128" y="187"/>
                      <a:pt x="128" y="181"/>
                    </a:cubicBezTo>
                    <a:cubicBezTo>
                      <a:pt x="128" y="106"/>
                      <a:pt x="128" y="106"/>
                      <a:pt x="128" y="106"/>
                    </a:cubicBezTo>
                    <a:cubicBezTo>
                      <a:pt x="128" y="100"/>
                      <a:pt x="133" y="96"/>
                      <a:pt x="139" y="96"/>
                    </a:cubicBezTo>
                    <a:cubicBezTo>
                      <a:pt x="145" y="96"/>
                      <a:pt x="149" y="100"/>
                      <a:pt x="149" y="106"/>
                    </a:cubicBezTo>
                    <a:close/>
                    <a:moveTo>
                      <a:pt x="280" y="64"/>
                    </a:moveTo>
                    <a:cubicBezTo>
                      <a:pt x="284" y="68"/>
                      <a:pt x="284" y="75"/>
                      <a:pt x="280" y="79"/>
                    </a:cubicBezTo>
                    <a:cubicBezTo>
                      <a:pt x="278" y="81"/>
                      <a:pt x="275" y="82"/>
                      <a:pt x="272" y="82"/>
                    </a:cubicBezTo>
                    <a:cubicBezTo>
                      <a:pt x="270" y="82"/>
                      <a:pt x="267" y="81"/>
                      <a:pt x="265" y="79"/>
                    </a:cubicBezTo>
                    <a:cubicBezTo>
                      <a:pt x="250" y="64"/>
                      <a:pt x="250" y="64"/>
                      <a:pt x="250" y="64"/>
                    </a:cubicBezTo>
                    <a:cubicBezTo>
                      <a:pt x="233" y="80"/>
                      <a:pt x="233" y="80"/>
                      <a:pt x="233" y="80"/>
                    </a:cubicBezTo>
                    <a:cubicBezTo>
                      <a:pt x="260" y="105"/>
                      <a:pt x="277" y="141"/>
                      <a:pt x="277" y="181"/>
                    </a:cubicBezTo>
                    <a:cubicBezTo>
                      <a:pt x="277" y="257"/>
                      <a:pt x="215" y="320"/>
                      <a:pt x="139" y="320"/>
                    </a:cubicBezTo>
                    <a:cubicBezTo>
                      <a:pt x="62" y="320"/>
                      <a:pt x="0" y="257"/>
                      <a:pt x="0" y="181"/>
                    </a:cubicBezTo>
                    <a:cubicBezTo>
                      <a:pt x="0" y="108"/>
                      <a:pt x="57" y="48"/>
                      <a:pt x="128" y="43"/>
                    </a:cubicBezTo>
                    <a:cubicBezTo>
                      <a:pt x="128" y="21"/>
                      <a:pt x="128" y="21"/>
                      <a:pt x="128" y="21"/>
                    </a:cubicBezTo>
                    <a:cubicBezTo>
                      <a:pt x="107" y="21"/>
                      <a:pt x="107" y="21"/>
                      <a:pt x="107" y="21"/>
                    </a:cubicBezTo>
                    <a:cubicBezTo>
                      <a:pt x="101" y="21"/>
                      <a:pt x="96" y="16"/>
                      <a:pt x="96" y="10"/>
                    </a:cubicBezTo>
                    <a:cubicBezTo>
                      <a:pt x="96" y="4"/>
                      <a:pt x="101" y="0"/>
                      <a:pt x="107" y="0"/>
                    </a:cubicBezTo>
                    <a:cubicBezTo>
                      <a:pt x="171" y="0"/>
                      <a:pt x="171" y="0"/>
                      <a:pt x="171" y="0"/>
                    </a:cubicBezTo>
                    <a:cubicBezTo>
                      <a:pt x="177" y="0"/>
                      <a:pt x="181" y="4"/>
                      <a:pt x="181" y="10"/>
                    </a:cubicBezTo>
                    <a:cubicBezTo>
                      <a:pt x="181" y="16"/>
                      <a:pt x="177" y="21"/>
                      <a:pt x="171" y="21"/>
                    </a:cubicBezTo>
                    <a:cubicBezTo>
                      <a:pt x="149" y="21"/>
                      <a:pt x="149" y="21"/>
                      <a:pt x="149" y="21"/>
                    </a:cubicBezTo>
                    <a:cubicBezTo>
                      <a:pt x="149" y="43"/>
                      <a:pt x="149" y="43"/>
                      <a:pt x="149" y="43"/>
                    </a:cubicBezTo>
                    <a:cubicBezTo>
                      <a:pt x="174" y="45"/>
                      <a:pt x="197" y="53"/>
                      <a:pt x="217" y="67"/>
                    </a:cubicBezTo>
                    <a:cubicBezTo>
                      <a:pt x="235" y="49"/>
                      <a:pt x="235" y="49"/>
                      <a:pt x="235" y="49"/>
                    </a:cubicBezTo>
                    <a:cubicBezTo>
                      <a:pt x="220" y="33"/>
                      <a:pt x="220" y="33"/>
                      <a:pt x="220" y="33"/>
                    </a:cubicBezTo>
                    <a:cubicBezTo>
                      <a:pt x="215" y="29"/>
                      <a:pt x="215" y="23"/>
                      <a:pt x="220" y="18"/>
                    </a:cubicBezTo>
                    <a:cubicBezTo>
                      <a:pt x="224" y="14"/>
                      <a:pt x="231" y="14"/>
                      <a:pt x="235" y="18"/>
                    </a:cubicBezTo>
                    <a:lnTo>
                      <a:pt x="280" y="64"/>
                    </a:lnTo>
                    <a:close/>
                    <a:moveTo>
                      <a:pt x="139" y="64"/>
                    </a:moveTo>
                    <a:cubicBezTo>
                      <a:pt x="74" y="64"/>
                      <a:pt x="21" y="116"/>
                      <a:pt x="21" y="181"/>
                    </a:cubicBezTo>
                    <a:cubicBezTo>
                      <a:pt x="21" y="246"/>
                      <a:pt x="74" y="298"/>
                      <a:pt x="139" y="298"/>
                    </a:cubicBezTo>
                    <a:cubicBezTo>
                      <a:pt x="203" y="298"/>
                      <a:pt x="256" y="246"/>
                      <a:pt x="256" y="181"/>
                    </a:cubicBezTo>
                    <a:cubicBezTo>
                      <a:pt x="256" y="116"/>
                      <a:pt x="203" y="64"/>
                      <a:pt x="139" y="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1" name="Group 376">
              <a:extLst>
                <a:ext uri="{FF2B5EF4-FFF2-40B4-BE49-F238E27FC236}">
                  <a16:creationId xmlns:a16="http://schemas.microsoft.com/office/drawing/2014/main" id="{692E93BF-26CF-4E21-BCBE-2DB582743EA4}"/>
                </a:ext>
              </a:extLst>
            </p:cNvPr>
            <p:cNvGrpSpPr>
              <a:grpSpLocks noChangeAspect="1"/>
            </p:cNvGrpSpPr>
            <p:nvPr/>
          </p:nvGrpSpPr>
          <p:grpSpPr bwMode="auto">
            <a:xfrm>
              <a:off x="10145372" y="1761060"/>
              <a:ext cx="457200" cy="457200"/>
              <a:chOff x="3466" y="2823"/>
              <a:chExt cx="340" cy="340"/>
            </a:xfrm>
            <a:solidFill>
              <a:schemeClr val="accent3"/>
            </a:solidFill>
          </p:grpSpPr>
          <p:sp>
            <p:nvSpPr>
              <p:cNvPr id="65" name="Freeform 377">
                <a:extLst>
                  <a:ext uri="{FF2B5EF4-FFF2-40B4-BE49-F238E27FC236}">
                    <a16:creationId xmlns:a16="http://schemas.microsoft.com/office/drawing/2014/main" id="{2F86CBA7-B1D3-41A5-9B06-FF73341CD625}"/>
                  </a:ext>
                </a:extLst>
              </p:cNvPr>
              <p:cNvSpPr>
                <a:spLocks noEditPoints="1"/>
              </p:cNvSpPr>
              <p:nvPr/>
            </p:nvSpPr>
            <p:spPr bwMode="auto">
              <a:xfrm>
                <a:off x="3530" y="2915"/>
                <a:ext cx="212" cy="156"/>
              </a:xfrm>
              <a:custGeom>
                <a:avLst/>
                <a:gdLst>
                  <a:gd name="T0" fmla="*/ 320 w 320"/>
                  <a:gd name="T1" fmla="*/ 224 h 235"/>
                  <a:gd name="T2" fmla="*/ 309 w 320"/>
                  <a:gd name="T3" fmla="*/ 235 h 235"/>
                  <a:gd name="T4" fmla="*/ 10 w 320"/>
                  <a:gd name="T5" fmla="*/ 235 h 235"/>
                  <a:gd name="T6" fmla="*/ 0 w 320"/>
                  <a:gd name="T7" fmla="*/ 224 h 235"/>
                  <a:gd name="T8" fmla="*/ 0 w 320"/>
                  <a:gd name="T9" fmla="*/ 11 h 235"/>
                  <a:gd name="T10" fmla="*/ 10 w 320"/>
                  <a:gd name="T11" fmla="*/ 0 h 235"/>
                  <a:gd name="T12" fmla="*/ 21 w 320"/>
                  <a:gd name="T13" fmla="*/ 11 h 235"/>
                  <a:gd name="T14" fmla="*/ 21 w 320"/>
                  <a:gd name="T15" fmla="*/ 214 h 235"/>
                  <a:gd name="T16" fmla="*/ 309 w 320"/>
                  <a:gd name="T17" fmla="*/ 214 h 235"/>
                  <a:gd name="T18" fmla="*/ 320 w 320"/>
                  <a:gd name="T19" fmla="*/ 224 h 235"/>
                  <a:gd name="T20" fmla="*/ 53 w 320"/>
                  <a:gd name="T21" fmla="*/ 192 h 235"/>
                  <a:gd name="T22" fmla="*/ 64 w 320"/>
                  <a:gd name="T23" fmla="*/ 182 h 235"/>
                  <a:gd name="T24" fmla="*/ 64 w 320"/>
                  <a:gd name="T25" fmla="*/ 139 h 235"/>
                  <a:gd name="T26" fmla="*/ 53 w 320"/>
                  <a:gd name="T27" fmla="*/ 128 h 235"/>
                  <a:gd name="T28" fmla="*/ 42 w 320"/>
                  <a:gd name="T29" fmla="*/ 139 h 235"/>
                  <a:gd name="T30" fmla="*/ 42 w 320"/>
                  <a:gd name="T31" fmla="*/ 182 h 235"/>
                  <a:gd name="T32" fmla="*/ 53 w 320"/>
                  <a:gd name="T33" fmla="*/ 192 h 235"/>
                  <a:gd name="T34" fmla="*/ 96 w 320"/>
                  <a:gd name="T35" fmla="*/ 192 h 235"/>
                  <a:gd name="T36" fmla="*/ 106 w 320"/>
                  <a:gd name="T37" fmla="*/ 182 h 235"/>
                  <a:gd name="T38" fmla="*/ 106 w 320"/>
                  <a:gd name="T39" fmla="*/ 107 h 235"/>
                  <a:gd name="T40" fmla="*/ 96 w 320"/>
                  <a:gd name="T41" fmla="*/ 96 h 235"/>
                  <a:gd name="T42" fmla="*/ 85 w 320"/>
                  <a:gd name="T43" fmla="*/ 107 h 235"/>
                  <a:gd name="T44" fmla="*/ 85 w 320"/>
                  <a:gd name="T45" fmla="*/ 182 h 235"/>
                  <a:gd name="T46" fmla="*/ 96 w 320"/>
                  <a:gd name="T47" fmla="*/ 192 h 235"/>
                  <a:gd name="T48" fmla="*/ 138 w 320"/>
                  <a:gd name="T49" fmla="*/ 192 h 235"/>
                  <a:gd name="T50" fmla="*/ 149 w 320"/>
                  <a:gd name="T51" fmla="*/ 182 h 235"/>
                  <a:gd name="T52" fmla="*/ 149 w 320"/>
                  <a:gd name="T53" fmla="*/ 11 h 235"/>
                  <a:gd name="T54" fmla="*/ 138 w 320"/>
                  <a:gd name="T55" fmla="*/ 0 h 235"/>
                  <a:gd name="T56" fmla="*/ 128 w 320"/>
                  <a:gd name="T57" fmla="*/ 11 h 235"/>
                  <a:gd name="T58" fmla="*/ 128 w 320"/>
                  <a:gd name="T59" fmla="*/ 182 h 235"/>
                  <a:gd name="T60" fmla="*/ 138 w 320"/>
                  <a:gd name="T61" fmla="*/ 192 h 235"/>
                  <a:gd name="T62" fmla="*/ 181 w 320"/>
                  <a:gd name="T63" fmla="*/ 192 h 235"/>
                  <a:gd name="T64" fmla="*/ 192 w 320"/>
                  <a:gd name="T65" fmla="*/ 182 h 235"/>
                  <a:gd name="T66" fmla="*/ 192 w 320"/>
                  <a:gd name="T67" fmla="*/ 64 h 235"/>
                  <a:gd name="T68" fmla="*/ 181 w 320"/>
                  <a:gd name="T69" fmla="*/ 54 h 235"/>
                  <a:gd name="T70" fmla="*/ 170 w 320"/>
                  <a:gd name="T71" fmla="*/ 64 h 235"/>
                  <a:gd name="T72" fmla="*/ 170 w 320"/>
                  <a:gd name="T73" fmla="*/ 182 h 235"/>
                  <a:gd name="T74" fmla="*/ 181 w 320"/>
                  <a:gd name="T75" fmla="*/ 192 h 235"/>
                  <a:gd name="T76" fmla="*/ 224 w 320"/>
                  <a:gd name="T77" fmla="*/ 192 h 235"/>
                  <a:gd name="T78" fmla="*/ 234 w 320"/>
                  <a:gd name="T79" fmla="*/ 182 h 235"/>
                  <a:gd name="T80" fmla="*/ 234 w 320"/>
                  <a:gd name="T81" fmla="*/ 32 h 235"/>
                  <a:gd name="T82" fmla="*/ 224 w 320"/>
                  <a:gd name="T83" fmla="*/ 22 h 235"/>
                  <a:gd name="T84" fmla="*/ 213 w 320"/>
                  <a:gd name="T85" fmla="*/ 32 h 235"/>
                  <a:gd name="T86" fmla="*/ 213 w 320"/>
                  <a:gd name="T87" fmla="*/ 182 h 235"/>
                  <a:gd name="T88" fmla="*/ 224 w 320"/>
                  <a:gd name="T89" fmla="*/ 192 h 235"/>
                  <a:gd name="T90" fmla="*/ 266 w 320"/>
                  <a:gd name="T91" fmla="*/ 192 h 235"/>
                  <a:gd name="T92" fmla="*/ 277 w 320"/>
                  <a:gd name="T93" fmla="*/ 182 h 235"/>
                  <a:gd name="T94" fmla="*/ 277 w 320"/>
                  <a:gd name="T95" fmla="*/ 118 h 235"/>
                  <a:gd name="T96" fmla="*/ 266 w 320"/>
                  <a:gd name="T97" fmla="*/ 107 h 235"/>
                  <a:gd name="T98" fmla="*/ 256 w 320"/>
                  <a:gd name="T99" fmla="*/ 118 h 235"/>
                  <a:gd name="T100" fmla="*/ 256 w 320"/>
                  <a:gd name="T101" fmla="*/ 182 h 235"/>
                  <a:gd name="T102" fmla="*/ 266 w 320"/>
                  <a:gd name="T103" fmla="*/ 192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0" h="235">
                    <a:moveTo>
                      <a:pt x="320" y="224"/>
                    </a:moveTo>
                    <a:cubicBezTo>
                      <a:pt x="320" y="230"/>
                      <a:pt x="315" y="235"/>
                      <a:pt x="309" y="235"/>
                    </a:cubicBezTo>
                    <a:cubicBezTo>
                      <a:pt x="10" y="235"/>
                      <a:pt x="10" y="235"/>
                      <a:pt x="10" y="235"/>
                    </a:cubicBezTo>
                    <a:cubicBezTo>
                      <a:pt x="4" y="235"/>
                      <a:pt x="0" y="230"/>
                      <a:pt x="0" y="224"/>
                    </a:cubicBezTo>
                    <a:cubicBezTo>
                      <a:pt x="0" y="11"/>
                      <a:pt x="0" y="11"/>
                      <a:pt x="0" y="11"/>
                    </a:cubicBezTo>
                    <a:cubicBezTo>
                      <a:pt x="0" y="5"/>
                      <a:pt x="4" y="0"/>
                      <a:pt x="10" y="0"/>
                    </a:cubicBezTo>
                    <a:cubicBezTo>
                      <a:pt x="16" y="0"/>
                      <a:pt x="21" y="5"/>
                      <a:pt x="21" y="11"/>
                    </a:cubicBezTo>
                    <a:cubicBezTo>
                      <a:pt x="21" y="214"/>
                      <a:pt x="21" y="214"/>
                      <a:pt x="21" y="214"/>
                    </a:cubicBezTo>
                    <a:cubicBezTo>
                      <a:pt x="309" y="214"/>
                      <a:pt x="309" y="214"/>
                      <a:pt x="309" y="214"/>
                    </a:cubicBezTo>
                    <a:cubicBezTo>
                      <a:pt x="315" y="214"/>
                      <a:pt x="320" y="218"/>
                      <a:pt x="320" y="224"/>
                    </a:cubicBezTo>
                    <a:close/>
                    <a:moveTo>
                      <a:pt x="53" y="192"/>
                    </a:moveTo>
                    <a:cubicBezTo>
                      <a:pt x="59" y="192"/>
                      <a:pt x="64" y="188"/>
                      <a:pt x="64" y="182"/>
                    </a:cubicBezTo>
                    <a:cubicBezTo>
                      <a:pt x="64" y="139"/>
                      <a:pt x="64" y="139"/>
                      <a:pt x="64" y="139"/>
                    </a:cubicBezTo>
                    <a:cubicBezTo>
                      <a:pt x="64" y="133"/>
                      <a:pt x="59" y="128"/>
                      <a:pt x="53" y="128"/>
                    </a:cubicBezTo>
                    <a:cubicBezTo>
                      <a:pt x="47" y="128"/>
                      <a:pt x="42" y="133"/>
                      <a:pt x="42" y="139"/>
                    </a:cubicBezTo>
                    <a:cubicBezTo>
                      <a:pt x="42" y="182"/>
                      <a:pt x="42" y="182"/>
                      <a:pt x="42" y="182"/>
                    </a:cubicBezTo>
                    <a:cubicBezTo>
                      <a:pt x="42" y="188"/>
                      <a:pt x="47" y="192"/>
                      <a:pt x="53" y="192"/>
                    </a:cubicBezTo>
                    <a:close/>
                    <a:moveTo>
                      <a:pt x="96" y="192"/>
                    </a:moveTo>
                    <a:cubicBezTo>
                      <a:pt x="102" y="192"/>
                      <a:pt x="106" y="188"/>
                      <a:pt x="106" y="182"/>
                    </a:cubicBezTo>
                    <a:cubicBezTo>
                      <a:pt x="106" y="107"/>
                      <a:pt x="106" y="107"/>
                      <a:pt x="106" y="107"/>
                    </a:cubicBezTo>
                    <a:cubicBezTo>
                      <a:pt x="106" y="101"/>
                      <a:pt x="102" y="96"/>
                      <a:pt x="96" y="96"/>
                    </a:cubicBezTo>
                    <a:cubicBezTo>
                      <a:pt x="90" y="96"/>
                      <a:pt x="85" y="101"/>
                      <a:pt x="85" y="107"/>
                    </a:cubicBezTo>
                    <a:cubicBezTo>
                      <a:pt x="85" y="182"/>
                      <a:pt x="85" y="182"/>
                      <a:pt x="85" y="182"/>
                    </a:cubicBezTo>
                    <a:cubicBezTo>
                      <a:pt x="85" y="188"/>
                      <a:pt x="90" y="192"/>
                      <a:pt x="96" y="192"/>
                    </a:cubicBezTo>
                    <a:close/>
                    <a:moveTo>
                      <a:pt x="138" y="192"/>
                    </a:moveTo>
                    <a:cubicBezTo>
                      <a:pt x="144" y="192"/>
                      <a:pt x="149" y="188"/>
                      <a:pt x="149" y="182"/>
                    </a:cubicBezTo>
                    <a:cubicBezTo>
                      <a:pt x="149" y="11"/>
                      <a:pt x="149" y="11"/>
                      <a:pt x="149" y="11"/>
                    </a:cubicBezTo>
                    <a:cubicBezTo>
                      <a:pt x="149" y="5"/>
                      <a:pt x="144" y="0"/>
                      <a:pt x="138" y="0"/>
                    </a:cubicBezTo>
                    <a:cubicBezTo>
                      <a:pt x="132" y="0"/>
                      <a:pt x="128" y="5"/>
                      <a:pt x="128" y="11"/>
                    </a:cubicBezTo>
                    <a:cubicBezTo>
                      <a:pt x="128" y="182"/>
                      <a:pt x="128" y="182"/>
                      <a:pt x="128" y="182"/>
                    </a:cubicBezTo>
                    <a:cubicBezTo>
                      <a:pt x="128" y="188"/>
                      <a:pt x="132" y="192"/>
                      <a:pt x="138" y="192"/>
                    </a:cubicBezTo>
                    <a:close/>
                    <a:moveTo>
                      <a:pt x="181" y="192"/>
                    </a:moveTo>
                    <a:cubicBezTo>
                      <a:pt x="187" y="192"/>
                      <a:pt x="192" y="188"/>
                      <a:pt x="192" y="182"/>
                    </a:cubicBezTo>
                    <a:cubicBezTo>
                      <a:pt x="192" y="64"/>
                      <a:pt x="192" y="64"/>
                      <a:pt x="192" y="64"/>
                    </a:cubicBezTo>
                    <a:cubicBezTo>
                      <a:pt x="192" y="58"/>
                      <a:pt x="187" y="54"/>
                      <a:pt x="181" y="54"/>
                    </a:cubicBezTo>
                    <a:cubicBezTo>
                      <a:pt x="175" y="54"/>
                      <a:pt x="170" y="58"/>
                      <a:pt x="170" y="64"/>
                    </a:cubicBezTo>
                    <a:cubicBezTo>
                      <a:pt x="170" y="182"/>
                      <a:pt x="170" y="182"/>
                      <a:pt x="170" y="182"/>
                    </a:cubicBezTo>
                    <a:cubicBezTo>
                      <a:pt x="170" y="188"/>
                      <a:pt x="175" y="192"/>
                      <a:pt x="181" y="192"/>
                    </a:cubicBezTo>
                    <a:close/>
                    <a:moveTo>
                      <a:pt x="224" y="192"/>
                    </a:moveTo>
                    <a:cubicBezTo>
                      <a:pt x="230" y="192"/>
                      <a:pt x="234" y="188"/>
                      <a:pt x="234" y="182"/>
                    </a:cubicBezTo>
                    <a:cubicBezTo>
                      <a:pt x="234" y="32"/>
                      <a:pt x="234" y="32"/>
                      <a:pt x="234" y="32"/>
                    </a:cubicBezTo>
                    <a:cubicBezTo>
                      <a:pt x="234" y="26"/>
                      <a:pt x="230" y="22"/>
                      <a:pt x="224" y="22"/>
                    </a:cubicBezTo>
                    <a:cubicBezTo>
                      <a:pt x="218" y="22"/>
                      <a:pt x="213" y="26"/>
                      <a:pt x="213" y="32"/>
                    </a:cubicBezTo>
                    <a:cubicBezTo>
                      <a:pt x="213" y="182"/>
                      <a:pt x="213" y="182"/>
                      <a:pt x="213" y="182"/>
                    </a:cubicBezTo>
                    <a:cubicBezTo>
                      <a:pt x="213" y="188"/>
                      <a:pt x="218" y="192"/>
                      <a:pt x="224" y="192"/>
                    </a:cubicBezTo>
                    <a:close/>
                    <a:moveTo>
                      <a:pt x="266" y="192"/>
                    </a:moveTo>
                    <a:cubicBezTo>
                      <a:pt x="272" y="192"/>
                      <a:pt x="277" y="188"/>
                      <a:pt x="277" y="182"/>
                    </a:cubicBezTo>
                    <a:cubicBezTo>
                      <a:pt x="277" y="118"/>
                      <a:pt x="277" y="118"/>
                      <a:pt x="277" y="118"/>
                    </a:cubicBezTo>
                    <a:cubicBezTo>
                      <a:pt x="277" y="112"/>
                      <a:pt x="272" y="107"/>
                      <a:pt x="266" y="107"/>
                    </a:cubicBezTo>
                    <a:cubicBezTo>
                      <a:pt x="260" y="107"/>
                      <a:pt x="256" y="112"/>
                      <a:pt x="256" y="118"/>
                    </a:cubicBezTo>
                    <a:cubicBezTo>
                      <a:pt x="256" y="182"/>
                      <a:pt x="256" y="182"/>
                      <a:pt x="256" y="182"/>
                    </a:cubicBezTo>
                    <a:cubicBezTo>
                      <a:pt x="256" y="188"/>
                      <a:pt x="260" y="192"/>
                      <a:pt x="266" y="19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sp>
            <p:nvSpPr>
              <p:cNvPr id="66" name="Freeform 378">
                <a:extLst>
                  <a:ext uri="{FF2B5EF4-FFF2-40B4-BE49-F238E27FC236}">
                    <a16:creationId xmlns:a16="http://schemas.microsoft.com/office/drawing/2014/main" id="{D01D5F44-573D-4334-A69E-A349DB08A8FF}"/>
                  </a:ext>
                </a:extLst>
              </p:cNvPr>
              <p:cNvSpPr>
                <a:spLocks noEditPoints="1"/>
              </p:cNvSpPr>
              <p:nvPr/>
            </p:nvSpPr>
            <p:spPr bwMode="auto">
              <a:xfrm>
                <a:off x="3466" y="282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9">
              <a:extLst>
                <a:ext uri="{FF2B5EF4-FFF2-40B4-BE49-F238E27FC236}">
                  <a16:creationId xmlns:a16="http://schemas.microsoft.com/office/drawing/2014/main" id="{EF26BD59-D856-4B08-9A17-CCCAAC4AC8C8}"/>
                </a:ext>
              </a:extLst>
            </p:cNvPr>
            <p:cNvGrpSpPr>
              <a:grpSpLocks noChangeAspect="1"/>
            </p:cNvGrpSpPr>
            <p:nvPr/>
          </p:nvGrpSpPr>
          <p:grpSpPr bwMode="gray">
            <a:xfrm>
              <a:off x="7222747" y="1761060"/>
              <a:ext cx="457075" cy="457200"/>
              <a:chOff x="299" y="-289"/>
              <a:chExt cx="3635" cy="3636"/>
            </a:xfrm>
            <a:solidFill>
              <a:schemeClr val="accent3"/>
            </a:solidFill>
          </p:grpSpPr>
          <p:sp>
            <p:nvSpPr>
              <p:cNvPr id="63" name="Freeform 10">
                <a:extLst>
                  <a:ext uri="{FF2B5EF4-FFF2-40B4-BE49-F238E27FC236}">
                    <a16:creationId xmlns:a16="http://schemas.microsoft.com/office/drawing/2014/main" id="{3C76E5C6-8582-4FEF-B0A0-328326FE3FB9}"/>
                  </a:ext>
                </a:extLst>
              </p:cNvPr>
              <p:cNvSpPr>
                <a:spLocks noEditPoints="1"/>
              </p:cNvSpPr>
              <p:nvPr/>
            </p:nvSpPr>
            <p:spPr bwMode="gray">
              <a:xfrm>
                <a:off x="299" y="-289"/>
                <a:ext cx="3635" cy="3636"/>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sp>
            <p:nvSpPr>
              <p:cNvPr id="64" name="Freeform 11">
                <a:extLst>
                  <a:ext uri="{FF2B5EF4-FFF2-40B4-BE49-F238E27FC236}">
                    <a16:creationId xmlns:a16="http://schemas.microsoft.com/office/drawing/2014/main" id="{87B4EAA9-3BD6-4561-8F63-80F49D3221DA}"/>
                  </a:ext>
                </a:extLst>
              </p:cNvPr>
              <p:cNvSpPr>
                <a:spLocks noEditPoints="1"/>
              </p:cNvSpPr>
              <p:nvPr/>
            </p:nvSpPr>
            <p:spPr bwMode="gray">
              <a:xfrm>
                <a:off x="1130" y="542"/>
                <a:ext cx="1966" cy="1967"/>
              </a:xfrm>
              <a:custGeom>
                <a:avLst/>
                <a:gdLst>
                  <a:gd name="T0" fmla="*/ 267 w 277"/>
                  <a:gd name="T1" fmla="*/ 277 h 277"/>
                  <a:gd name="T2" fmla="*/ 0 w 277"/>
                  <a:gd name="T3" fmla="*/ 267 h 277"/>
                  <a:gd name="T4" fmla="*/ 11 w 277"/>
                  <a:gd name="T5" fmla="*/ 11 h 277"/>
                  <a:gd name="T6" fmla="*/ 32 w 277"/>
                  <a:gd name="T7" fmla="*/ 11 h 277"/>
                  <a:gd name="T8" fmla="*/ 245 w 277"/>
                  <a:gd name="T9" fmla="*/ 256 h 277"/>
                  <a:gd name="T10" fmla="*/ 256 w 277"/>
                  <a:gd name="T11" fmla="*/ 0 h 277"/>
                  <a:gd name="T12" fmla="*/ 267 w 277"/>
                  <a:gd name="T13" fmla="*/ 256 h 277"/>
                  <a:gd name="T14" fmla="*/ 75 w 277"/>
                  <a:gd name="T15" fmla="*/ 235 h 277"/>
                  <a:gd name="T16" fmla="*/ 120 w 277"/>
                  <a:gd name="T17" fmla="*/ 224 h 277"/>
                  <a:gd name="T18" fmla="*/ 157 w 277"/>
                  <a:gd name="T19" fmla="*/ 224 h 277"/>
                  <a:gd name="T20" fmla="*/ 203 w 277"/>
                  <a:gd name="T21" fmla="*/ 235 h 277"/>
                  <a:gd name="T22" fmla="*/ 203 w 277"/>
                  <a:gd name="T23" fmla="*/ 192 h 277"/>
                  <a:gd name="T24" fmla="*/ 157 w 277"/>
                  <a:gd name="T25" fmla="*/ 203 h 277"/>
                  <a:gd name="T26" fmla="*/ 120 w 277"/>
                  <a:gd name="T27" fmla="*/ 203 h 277"/>
                  <a:gd name="T28" fmla="*/ 75 w 277"/>
                  <a:gd name="T29" fmla="*/ 192 h 277"/>
                  <a:gd name="T30" fmla="*/ 75 w 277"/>
                  <a:gd name="T31" fmla="*/ 235 h 277"/>
                  <a:gd name="T32" fmla="*/ 93 w 277"/>
                  <a:gd name="T33" fmla="*/ 149 h 277"/>
                  <a:gd name="T34" fmla="*/ 160 w 277"/>
                  <a:gd name="T35" fmla="*/ 160 h 277"/>
                  <a:gd name="T36" fmla="*/ 184 w 277"/>
                  <a:gd name="T37" fmla="*/ 149 h 277"/>
                  <a:gd name="T38" fmla="*/ 224 w 277"/>
                  <a:gd name="T39" fmla="*/ 139 h 277"/>
                  <a:gd name="T40" fmla="*/ 184 w 277"/>
                  <a:gd name="T41" fmla="*/ 128 h 277"/>
                  <a:gd name="T42" fmla="*/ 160 w 277"/>
                  <a:gd name="T43" fmla="*/ 117 h 277"/>
                  <a:gd name="T44" fmla="*/ 93 w 277"/>
                  <a:gd name="T45" fmla="*/ 128 h 277"/>
                  <a:gd name="T46" fmla="*/ 53 w 277"/>
                  <a:gd name="T47" fmla="*/ 139 h 277"/>
                  <a:gd name="T48" fmla="*/ 75 w 277"/>
                  <a:gd name="T49" fmla="*/ 85 h 277"/>
                  <a:gd name="T50" fmla="*/ 99 w 277"/>
                  <a:gd name="T51" fmla="*/ 75 h 277"/>
                  <a:gd name="T52" fmla="*/ 136 w 277"/>
                  <a:gd name="T53" fmla="*/ 75 h 277"/>
                  <a:gd name="T54" fmla="*/ 203 w 277"/>
                  <a:gd name="T55" fmla="*/ 85 h 277"/>
                  <a:gd name="T56" fmla="*/ 203 w 277"/>
                  <a:gd name="T57" fmla="*/ 43 h 277"/>
                  <a:gd name="T58" fmla="*/ 136 w 277"/>
                  <a:gd name="T59" fmla="*/ 53 h 277"/>
                  <a:gd name="T60" fmla="*/ 99 w 277"/>
                  <a:gd name="T61" fmla="*/ 53 h 277"/>
                  <a:gd name="T62" fmla="*/ 75 w 277"/>
                  <a:gd name="T63" fmla="*/ 43 h 277"/>
                  <a:gd name="T64" fmla="*/ 75 w 277"/>
                  <a:gd name="T65" fmla="*/ 85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7" h="277">
                    <a:moveTo>
                      <a:pt x="277" y="267"/>
                    </a:moveTo>
                    <a:cubicBezTo>
                      <a:pt x="277" y="273"/>
                      <a:pt x="273" y="277"/>
                      <a:pt x="267" y="277"/>
                    </a:cubicBezTo>
                    <a:cubicBezTo>
                      <a:pt x="11" y="277"/>
                      <a:pt x="11" y="277"/>
                      <a:pt x="11" y="277"/>
                    </a:cubicBezTo>
                    <a:cubicBezTo>
                      <a:pt x="5" y="277"/>
                      <a:pt x="0" y="273"/>
                      <a:pt x="0" y="267"/>
                    </a:cubicBezTo>
                    <a:cubicBezTo>
                      <a:pt x="0" y="261"/>
                      <a:pt x="5" y="256"/>
                      <a:pt x="11" y="256"/>
                    </a:cubicBezTo>
                    <a:cubicBezTo>
                      <a:pt x="11" y="11"/>
                      <a:pt x="11" y="11"/>
                      <a:pt x="11" y="11"/>
                    </a:cubicBezTo>
                    <a:cubicBezTo>
                      <a:pt x="11" y="5"/>
                      <a:pt x="15" y="0"/>
                      <a:pt x="21" y="0"/>
                    </a:cubicBezTo>
                    <a:cubicBezTo>
                      <a:pt x="27" y="0"/>
                      <a:pt x="32" y="5"/>
                      <a:pt x="32" y="11"/>
                    </a:cubicBezTo>
                    <a:cubicBezTo>
                      <a:pt x="32" y="256"/>
                      <a:pt x="32" y="256"/>
                      <a:pt x="32" y="256"/>
                    </a:cubicBezTo>
                    <a:cubicBezTo>
                      <a:pt x="245" y="256"/>
                      <a:pt x="245" y="256"/>
                      <a:pt x="245" y="256"/>
                    </a:cubicBezTo>
                    <a:cubicBezTo>
                      <a:pt x="245" y="11"/>
                      <a:pt x="245" y="11"/>
                      <a:pt x="245" y="11"/>
                    </a:cubicBezTo>
                    <a:cubicBezTo>
                      <a:pt x="245" y="5"/>
                      <a:pt x="250" y="0"/>
                      <a:pt x="256" y="0"/>
                    </a:cubicBezTo>
                    <a:cubicBezTo>
                      <a:pt x="262" y="0"/>
                      <a:pt x="267" y="5"/>
                      <a:pt x="267" y="11"/>
                    </a:cubicBezTo>
                    <a:cubicBezTo>
                      <a:pt x="267" y="256"/>
                      <a:pt x="267" y="256"/>
                      <a:pt x="267" y="256"/>
                    </a:cubicBezTo>
                    <a:cubicBezTo>
                      <a:pt x="273" y="256"/>
                      <a:pt x="277" y="261"/>
                      <a:pt x="277" y="267"/>
                    </a:cubicBezTo>
                    <a:close/>
                    <a:moveTo>
                      <a:pt x="75" y="235"/>
                    </a:moveTo>
                    <a:cubicBezTo>
                      <a:pt x="83" y="235"/>
                      <a:pt x="89" y="230"/>
                      <a:pt x="93" y="224"/>
                    </a:cubicBezTo>
                    <a:cubicBezTo>
                      <a:pt x="120" y="224"/>
                      <a:pt x="120" y="224"/>
                      <a:pt x="120" y="224"/>
                    </a:cubicBezTo>
                    <a:cubicBezTo>
                      <a:pt x="124" y="230"/>
                      <a:pt x="131" y="235"/>
                      <a:pt x="139" y="235"/>
                    </a:cubicBezTo>
                    <a:cubicBezTo>
                      <a:pt x="147" y="235"/>
                      <a:pt x="153" y="230"/>
                      <a:pt x="157" y="224"/>
                    </a:cubicBezTo>
                    <a:cubicBezTo>
                      <a:pt x="184" y="224"/>
                      <a:pt x="184" y="224"/>
                      <a:pt x="184" y="224"/>
                    </a:cubicBezTo>
                    <a:cubicBezTo>
                      <a:pt x="188" y="230"/>
                      <a:pt x="195" y="235"/>
                      <a:pt x="203" y="235"/>
                    </a:cubicBezTo>
                    <a:cubicBezTo>
                      <a:pt x="214" y="235"/>
                      <a:pt x="224" y="225"/>
                      <a:pt x="224" y="213"/>
                    </a:cubicBezTo>
                    <a:cubicBezTo>
                      <a:pt x="224" y="202"/>
                      <a:pt x="214" y="192"/>
                      <a:pt x="203" y="192"/>
                    </a:cubicBezTo>
                    <a:cubicBezTo>
                      <a:pt x="195" y="192"/>
                      <a:pt x="188" y="196"/>
                      <a:pt x="184" y="203"/>
                    </a:cubicBezTo>
                    <a:cubicBezTo>
                      <a:pt x="157" y="203"/>
                      <a:pt x="157" y="203"/>
                      <a:pt x="157" y="203"/>
                    </a:cubicBezTo>
                    <a:cubicBezTo>
                      <a:pt x="153" y="196"/>
                      <a:pt x="147" y="192"/>
                      <a:pt x="139" y="192"/>
                    </a:cubicBezTo>
                    <a:cubicBezTo>
                      <a:pt x="131" y="192"/>
                      <a:pt x="124" y="196"/>
                      <a:pt x="120" y="203"/>
                    </a:cubicBezTo>
                    <a:cubicBezTo>
                      <a:pt x="93" y="203"/>
                      <a:pt x="93" y="203"/>
                      <a:pt x="93" y="203"/>
                    </a:cubicBezTo>
                    <a:cubicBezTo>
                      <a:pt x="89" y="196"/>
                      <a:pt x="83" y="192"/>
                      <a:pt x="75" y="192"/>
                    </a:cubicBezTo>
                    <a:cubicBezTo>
                      <a:pt x="63" y="192"/>
                      <a:pt x="53" y="202"/>
                      <a:pt x="53" y="213"/>
                    </a:cubicBezTo>
                    <a:cubicBezTo>
                      <a:pt x="53" y="225"/>
                      <a:pt x="63" y="235"/>
                      <a:pt x="75" y="235"/>
                    </a:cubicBezTo>
                    <a:close/>
                    <a:moveTo>
                      <a:pt x="75" y="160"/>
                    </a:moveTo>
                    <a:cubicBezTo>
                      <a:pt x="83" y="160"/>
                      <a:pt x="89" y="156"/>
                      <a:pt x="93" y="149"/>
                    </a:cubicBezTo>
                    <a:cubicBezTo>
                      <a:pt x="142" y="149"/>
                      <a:pt x="142" y="149"/>
                      <a:pt x="142" y="149"/>
                    </a:cubicBezTo>
                    <a:cubicBezTo>
                      <a:pt x="145" y="156"/>
                      <a:pt x="152" y="160"/>
                      <a:pt x="160" y="160"/>
                    </a:cubicBezTo>
                    <a:cubicBezTo>
                      <a:pt x="168" y="160"/>
                      <a:pt x="175" y="156"/>
                      <a:pt x="178" y="149"/>
                    </a:cubicBezTo>
                    <a:cubicBezTo>
                      <a:pt x="184" y="149"/>
                      <a:pt x="184" y="149"/>
                      <a:pt x="184" y="149"/>
                    </a:cubicBezTo>
                    <a:cubicBezTo>
                      <a:pt x="188" y="156"/>
                      <a:pt x="195" y="160"/>
                      <a:pt x="203" y="160"/>
                    </a:cubicBezTo>
                    <a:cubicBezTo>
                      <a:pt x="214" y="160"/>
                      <a:pt x="224" y="150"/>
                      <a:pt x="224" y="139"/>
                    </a:cubicBezTo>
                    <a:cubicBezTo>
                      <a:pt x="224" y="127"/>
                      <a:pt x="214" y="117"/>
                      <a:pt x="203" y="117"/>
                    </a:cubicBezTo>
                    <a:cubicBezTo>
                      <a:pt x="195" y="117"/>
                      <a:pt x="188" y="122"/>
                      <a:pt x="184" y="128"/>
                    </a:cubicBezTo>
                    <a:cubicBezTo>
                      <a:pt x="178" y="128"/>
                      <a:pt x="178" y="128"/>
                      <a:pt x="178" y="128"/>
                    </a:cubicBezTo>
                    <a:cubicBezTo>
                      <a:pt x="175" y="122"/>
                      <a:pt x="168" y="117"/>
                      <a:pt x="160" y="117"/>
                    </a:cubicBezTo>
                    <a:cubicBezTo>
                      <a:pt x="152" y="117"/>
                      <a:pt x="145" y="122"/>
                      <a:pt x="142" y="128"/>
                    </a:cubicBezTo>
                    <a:cubicBezTo>
                      <a:pt x="93" y="128"/>
                      <a:pt x="93" y="128"/>
                      <a:pt x="93" y="128"/>
                    </a:cubicBezTo>
                    <a:cubicBezTo>
                      <a:pt x="89" y="122"/>
                      <a:pt x="83" y="117"/>
                      <a:pt x="75" y="117"/>
                    </a:cubicBezTo>
                    <a:cubicBezTo>
                      <a:pt x="63" y="117"/>
                      <a:pt x="53" y="127"/>
                      <a:pt x="53" y="139"/>
                    </a:cubicBezTo>
                    <a:cubicBezTo>
                      <a:pt x="53" y="150"/>
                      <a:pt x="63" y="160"/>
                      <a:pt x="75" y="160"/>
                    </a:cubicBezTo>
                    <a:close/>
                    <a:moveTo>
                      <a:pt x="75" y="85"/>
                    </a:moveTo>
                    <a:cubicBezTo>
                      <a:pt x="83" y="85"/>
                      <a:pt x="89" y="81"/>
                      <a:pt x="93" y="75"/>
                    </a:cubicBezTo>
                    <a:cubicBezTo>
                      <a:pt x="99" y="75"/>
                      <a:pt x="99" y="75"/>
                      <a:pt x="99" y="75"/>
                    </a:cubicBezTo>
                    <a:cubicBezTo>
                      <a:pt x="103" y="81"/>
                      <a:pt x="109" y="85"/>
                      <a:pt x="117" y="85"/>
                    </a:cubicBezTo>
                    <a:cubicBezTo>
                      <a:pt x="125" y="85"/>
                      <a:pt x="132" y="81"/>
                      <a:pt x="136" y="75"/>
                    </a:cubicBezTo>
                    <a:cubicBezTo>
                      <a:pt x="184" y="75"/>
                      <a:pt x="184" y="75"/>
                      <a:pt x="184" y="75"/>
                    </a:cubicBezTo>
                    <a:cubicBezTo>
                      <a:pt x="188" y="81"/>
                      <a:pt x="195" y="85"/>
                      <a:pt x="203" y="85"/>
                    </a:cubicBezTo>
                    <a:cubicBezTo>
                      <a:pt x="214" y="85"/>
                      <a:pt x="224" y="76"/>
                      <a:pt x="224" y="64"/>
                    </a:cubicBezTo>
                    <a:cubicBezTo>
                      <a:pt x="224" y="52"/>
                      <a:pt x="214" y="43"/>
                      <a:pt x="203" y="43"/>
                    </a:cubicBezTo>
                    <a:cubicBezTo>
                      <a:pt x="195" y="43"/>
                      <a:pt x="188" y="47"/>
                      <a:pt x="184" y="53"/>
                    </a:cubicBezTo>
                    <a:cubicBezTo>
                      <a:pt x="136" y="53"/>
                      <a:pt x="136" y="53"/>
                      <a:pt x="136" y="53"/>
                    </a:cubicBezTo>
                    <a:cubicBezTo>
                      <a:pt x="132" y="47"/>
                      <a:pt x="125" y="43"/>
                      <a:pt x="117" y="43"/>
                    </a:cubicBezTo>
                    <a:cubicBezTo>
                      <a:pt x="109" y="43"/>
                      <a:pt x="103" y="47"/>
                      <a:pt x="99" y="53"/>
                    </a:cubicBezTo>
                    <a:cubicBezTo>
                      <a:pt x="93" y="53"/>
                      <a:pt x="93" y="53"/>
                      <a:pt x="93" y="53"/>
                    </a:cubicBezTo>
                    <a:cubicBezTo>
                      <a:pt x="89" y="47"/>
                      <a:pt x="83" y="43"/>
                      <a:pt x="75" y="43"/>
                    </a:cubicBezTo>
                    <a:cubicBezTo>
                      <a:pt x="63" y="43"/>
                      <a:pt x="53" y="52"/>
                      <a:pt x="53" y="64"/>
                    </a:cubicBezTo>
                    <a:cubicBezTo>
                      <a:pt x="53" y="76"/>
                      <a:pt x="63" y="85"/>
                      <a:pt x="75"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9" name="Group 68">
            <a:extLst>
              <a:ext uri="{FF2B5EF4-FFF2-40B4-BE49-F238E27FC236}">
                <a16:creationId xmlns:a16="http://schemas.microsoft.com/office/drawing/2014/main" id="{ACB9CF37-F221-4938-B70F-ACE6C627A2A6}"/>
              </a:ext>
            </a:extLst>
          </p:cNvPr>
          <p:cNvGrpSpPr/>
          <p:nvPr/>
        </p:nvGrpSpPr>
        <p:grpSpPr>
          <a:xfrm>
            <a:off x="649756" y="2738032"/>
            <a:ext cx="11040593" cy="999082"/>
            <a:chOff x="649756" y="2849888"/>
            <a:chExt cx="11040593" cy="999082"/>
          </a:xfrm>
        </p:grpSpPr>
        <p:sp>
          <p:nvSpPr>
            <p:cNvPr id="70" name="Rounded Rectangle 58">
              <a:extLst>
                <a:ext uri="{FF2B5EF4-FFF2-40B4-BE49-F238E27FC236}">
                  <a16:creationId xmlns:a16="http://schemas.microsoft.com/office/drawing/2014/main" id="{1DA8B17B-BF4C-41E2-9BE1-E222C8190D3C}"/>
                </a:ext>
              </a:extLst>
            </p:cNvPr>
            <p:cNvSpPr/>
            <p:nvPr/>
          </p:nvSpPr>
          <p:spPr bwMode="gray">
            <a:xfrm rot="5400000">
              <a:off x="4035457" y="2039452"/>
              <a:ext cx="986281" cy="2632755"/>
            </a:xfrm>
            <a:prstGeom prst="roundRect">
              <a:avLst/>
            </a:prstGeom>
            <a:solidFill>
              <a:schemeClr val="accent5">
                <a:alpha val="15000"/>
              </a:schemeClr>
            </a:solidFill>
            <a:ln w="38100" algn="ctr">
              <a:solidFill>
                <a:schemeClr val="accent5"/>
              </a:solidFill>
              <a:miter lim="800000"/>
              <a:headEnd/>
              <a:tailEnd/>
            </a:ln>
          </p:spPr>
          <p:txBody>
            <a:bodyPr vert="vert270"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rPr>
                <a:t>Availability of ready and updated database</a:t>
              </a:r>
            </a:p>
          </p:txBody>
        </p:sp>
        <p:sp>
          <p:nvSpPr>
            <p:cNvPr id="71" name="Rounded Rectangle 58">
              <a:extLst>
                <a:ext uri="{FF2B5EF4-FFF2-40B4-BE49-F238E27FC236}">
                  <a16:creationId xmlns:a16="http://schemas.microsoft.com/office/drawing/2014/main" id="{A45673C8-E700-4245-B8A7-424862590B2F}"/>
                </a:ext>
              </a:extLst>
            </p:cNvPr>
            <p:cNvSpPr/>
            <p:nvPr/>
          </p:nvSpPr>
          <p:spPr bwMode="gray">
            <a:xfrm rot="5400000">
              <a:off x="6958144" y="2026651"/>
              <a:ext cx="986281" cy="2632755"/>
            </a:xfrm>
            <a:prstGeom prst="roundRect">
              <a:avLst/>
            </a:prstGeom>
            <a:solidFill>
              <a:schemeClr val="accent5">
                <a:alpha val="15000"/>
              </a:schemeClr>
            </a:solidFill>
            <a:ln w="38100" algn="ctr">
              <a:solidFill>
                <a:schemeClr val="accent5"/>
              </a:solidFill>
              <a:miter lim="800000"/>
              <a:headEnd/>
              <a:tailEnd/>
            </a:ln>
          </p:spPr>
          <p:txBody>
            <a:bodyPr vert="vert270"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rPr>
                <a:t>Automated Report Preparations</a:t>
              </a:r>
            </a:p>
          </p:txBody>
        </p:sp>
        <p:sp>
          <p:nvSpPr>
            <p:cNvPr id="72" name="Rounded Rectangle 58">
              <a:extLst>
                <a:ext uri="{FF2B5EF4-FFF2-40B4-BE49-F238E27FC236}">
                  <a16:creationId xmlns:a16="http://schemas.microsoft.com/office/drawing/2014/main" id="{EED2CA33-439F-42F6-9D41-554A0C9E0A31}"/>
                </a:ext>
              </a:extLst>
            </p:cNvPr>
            <p:cNvSpPr/>
            <p:nvPr/>
          </p:nvSpPr>
          <p:spPr bwMode="gray">
            <a:xfrm rot="5400000">
              <a:off x="9880831" y="2026651"/>
              <a:ext cx="986281" cy="2632755"/>
            </a:xfrm>
            <a:prstGeom prst="roundRect">
              <a:avLst/>
            </a:prstGeom>
            <a:solidFill>
              <a:schemeClr val="accent5">
                <a:alpha val="15000"/>
              </a:schemeClr>
            </a:solidFill>
            <a:ln w="38100" algn="ctr">
              <a:solidFill>
                <a:schemeClr val="accent5"/>
              </a:solidFill>
              <a:miter lim="800000"/>
              <a:headEnd/>
              <a:tailEnd/>
            </a:ln>
          </p:spPr>
          <p:txBody>
            <a:bodyPr vert="vert270"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rPr>
                <a:t>Real-time MIS Dashboarding and Improved Decision Making</a:t>
              </a:r>
            </a:p>
          </p:txBody>
        </p:sp>
        <p:sp>
          <p:nvSpPr>
            <p:cNvPr id="73" name="Rectangle: Rounded Corners 72">
              <a:extLst>
                <a:ext uri="{FF2B5EF4-FFF2-40B4-BE49-F238E27FC236}">
                  <a16:creationId xmlns:a16="http://schemas.microsoft.com/office/drawing/2014/main" id="{C7173AE5-92C0-45CC-B268-258C476F5EB9}"/>
                </a:ext>
              </a:extLst>
            </p:cNvPr>
            <p:cNvSpPr/>
            <p:nvPr/>
          </p:nvSpPr>
          <p:spPr bwMode="gray">
            <a:xfrm>
              <a:off x="649756" y="2864974"/>
              <a:ext cx="2162931" cy="956110"/>
            </a:xfrm>
            <a:prstGeom prst="roundRect">
              <a:avLst/>
            </a:prstGeom>
            <a:solidFill>
              <a:schemeClr val="accent5">
                <a:alpha val="1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Improved Reporting &amp; Decision Making</a:t>
              </a:r>
            </a:p>
          </p:txBody>
        </p:sp>
        <p:grpSp>
          <p:nvGrpSpPr>
            <p:cNvPr id="74" name="Group 471">
              <a:extLst>
                <a:ext uri="{FF2B5EF4-FFF2-40B4-BE49-F238E27FC236}">
                  <a16:creationId xmlns:a16="http://schemas.microsoft.com/office/drawing/2014/main" id="{78D9CFBB-6E83-41EA-89A1-3E7338CBE478}"/>
                </a:ext>
              </a:extLst>
            </p:cNvPr>
            <p:cNvGrpSpPr>
              <a:grpSpLocks/>
            </p:cNvGrpSpPr>
            <p:nvPr/>
          </p:nvGrpSpPr>
          <p:grpSpPr bwMode="auto">
            <a:xfrm>
              <a:off x="7225737" y="2910683"/>
              <a:ext cx="457200" cy="457200"/>
              <a:chOff x="6130" y="3025"/>
              <a:chExt cx="340" cy="340"/>
            </a:xfrm>
            <a:solidFill>
              <a:schemeClr val="accent5"/>
            </a:solidFill>
          </p:grpSpPr>
          <p:sp>
            <p:nvSpPr>
              <p:cNvPr id="84" name="Freeform 533">
                <a:extLst>
                  <a:ext uri="{FF2B5EF4-FFF2-40B4-BE49-F238E27FC236}">
                    <a16:creationId xmlns:a16="http://schemas.microsoft.com/office/drawing/2014/main" id="{7DE0E1AD-C3EF-4F11-8C41-B6F526A5A64B}"/>
                  </a:ext>
                </a:extLst>
              </p:cNvPr>
              <p:cNvSpPr>
                <a:spLocks noEditPoints="1"/>
              </p:cNvSpPr>
              <p:nvPr/>
            </p:nvSpPr>
            <p:spPr bwMode="auto">
              <a:xfrm>
                <a:off x="6130" y="3025"/>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sp>
            <p:nvSpPr>
              <p:cNvPr id="85" name="Freeform 534">
                <a:extLst>
                  <a:ext uri="{FF2B5EF4-FFF2-40B4-BE49-F238E27FC236}">
                    <a16:creationId xmlns:a16="http://schemas.microsoft.com/office/drawing/2014/main" id="{5225D4D9-8E6A-43CA-B249-82F6887E5E8A}"/>
                  </a:ext>
                </a:extLst>
              </p:cNvPr>
              <p:cNvSpPr>
                <a:spLocks noEditPoints="1"/>
              </p:cNvSpPr>
              <p:nvPr/>
            </p:nvSpPr>
            <p:spPr bwMode="auto">
              <a:xfrm>
                <a:off x="6194" y="3110"/>
                <a:ext cx="212" cy="155"/>
              </a:xfrm>
              <a:custGeom>
                <a:avLst/>
                <a:gdLst>
                  <a:gd name="T0" fmla="*/ 169 w 320"/>
                  <a:gd name="T1" fmla="*/ 85 h 234"/>
                  <a:gd name="T2" fmla="*/ 149 w 320"/>
                  <a:gd name="T3" fmla="*/ 53 h 234"/>
                  <a:gd name="T4" fmla="*/ 170 w 320"/>
                  <a:gd name="T5" fmla="*/ 10 h 234"/>
                  <a:gd name="T6" fmla="*/ 149 w 320"/>
                  <a:gd name="T7" fmla="*/ 10 h 234"/>
                  <a:gd name="T8" fmla="*/ 128 w 320"/>
                  <a:gd name="T9" fmla="*/ 53 h 234"/>
                  <a:gd name="T10" fmla="*/ 144 w 320"/>
                  <a:gd name="T11" fmla="*/ 85 h 234"/>
                  <a:gd name="T12" fmla="*/ 0 w 320"/>
                  <a:gd name="T13" fmla="*/ 96 h 234"/>
                  <a:gd name="T14" fmla="*/ 10 w 320"/>
                  <a:gd name="T15" fmla="*/ 234 h 234"/>
                  <a:gd name="T16" fmla="*/ 320 w 320"/>
                  <a:gd name="T17" fmla="*/ 224 h 234"/>
                  <a:gd name="T18" fmla="*/ 309 w 320"/>
                  <a:gd name="T19" fmla="*/ 85 h 234"/>
                  <a:gd name="T20" fmla="*/ 21 w 320"/>
                  <a:gd name="T21" fmla="*/ 213 h 234"/>
                  <a:gd name="T22" fmla="*/ 298 w 320"/>
                  <a:gd name="T23" fmla="*/ 106 h 234"/>
                  <a:gd name="T24" fmla="*/ 96 w 320"/>
                  <a:gd name="T25" fmla="*/ 181 h 234"/>
                  <a:gd name="T26" fmla="*/ 224 w 320"/>
                  <a:gd name="T27" fmla="*/ 192 h 234"/>
                  <a:gd name="T28" fmla="*/ 96 w 320"/>
                  <a:gd name="T29" fmla="*/ 202 h 234"/>
                  <a:gd name="T30" fmla="*/ 96 w 320"/>
                  <a:gd name="T31" fmla="*/ 181 h 234"/>
                  <a:gd name="T32" fmla="*/ 53 w 320"/>
                  <a:gd name="T33" fmla="*/ 202 h 234"/>
                  <a:gd name="T34" fmla="*/ 53 w 320"/>
                  <a:gd name="T35" fmla="*/ 181 h 234"/>
                  <a:gd name="T36" fmla="*/ 64 w 320"/>
                  <a:gd name="T37" fmla="*/ 160 h 234"/>
                  <a:gd name="T38" fmla="*/ 42 w 320"/>
                  <a:gd name="T39" fmla="*/ 160 h 234"/>
                  <a:gd name="T40" fmla="*/ 64 w 320"/>
                  <a:gd name="T41" fmla="*/ 160 h 234"/>
                  <a:gd name="T42" fmla="*/ 53 w 320"/>
                  <a:gd name="T43" fmla="*/ 138 h 234"/>
                  <a:gd name="T44" fmla="*/ 53 w 320"/>
                  <a:gd name="T45" fmla="*/ 117 h 234"/>
                  <a:gd name="T46" fmla="*/ 85 w 320"/>
                  <a:gd name="T47" fmla="*/ 160 h 234"/>
                  <a:gd name="T48" fmla="*/ 106 w 320"/>
                  <a:gd name="T49" fmla="*/ 160 h 234"/>
                  <a:gd name="T50" fmla="*/ 85 w 320"/>
                  <a:gd name="T51" fmla="*/ 160 h 234"/>
                  <a:gd name="T52" fmla="*/ 96 w 320"/>
                  <a:gd name="T53" fmla="*/ 117 h 234"/>
                  <a:gd name="T54" fmla="*/ 96 w 320"/>
                  <a:gd name="T55" fmla="*/ 138 h 234"/>
                  <a:gd name="T56" fmla="*/ 128 w 320"/>
                  <a:gd name="T57" fmla="*/ 160 h 234"/>
                  <a:gd name="T58" fmla="*/ 149 w 320"/>
                  <a:gd name="T59" fmla="*/ 160 h 234"/>
                  <a:gd name="T60" fmla="*/ 128 w 320"/>
                  <a:gd name="T61" fmla="*/ 160 h 234"/>
                  <a:gd name="T62" fmla="*/ 138 w 320"/>
                  <a:gd name="T63" fmla="*/ 117 h 234"/>
                  <a:gd name="T64" fmla="*/ 138 w 320"/>
                  <a:gd name="T65" fmla="*/ 138 h 234"/>
                  <a:gd name="T66" fmla="*/ 170 w 320"/>
                  <a:gd name="T67" fmla="*/ 160 h 234"/>
                  <a:gd name="T68" fmla="*/ 192 w 320"/>
                  <a:gd name="T69" fmla="*/ 160 h 234"/>
                  <a:gd name="T70" fmla="*/ 170 w 320"/>
                  <a:gd name="T71" fmla="*/ 160 h 234"/>
                  <a:gd name="T72" fmla="*/ 181 w 320"/>
                  <a:gd name="T73" fmla="*/ 117 h 234"/>
                  <a:gd name="T74" fmla="*/ 181 w 320"/>
                  <a:gd name="T75" fmla="*/ 138 h 234"/>
                  <a:gd name="T76" fmla="*/ 213 w 320"/>
                  <a:gd name="T77" fmla="*/ 160 h 234"/>
                  <a:gd name="T78" fmla="*/ 234 w 320"/>
                  <a:gd name="T79" fmla="*/ 160 h 234"/>
                  <a:gd name="T80" fmla="*/ 213 w 320"/>
                  <a:gd name="T81" fmla="*/ 160 h 234"/>
                  <a:gd name="T82" fmla="*/ 224 w 320"/>
                  <a:gd name="T83" fmla="*/ 117 h 234"/>
                  <a:gd name="T84" fmla="*/ 224 w 320"/>
                  <a:gd name="T85" fmla="*/ 138 h 234"/>
                  <a:gd name="T86" fmla="*/ 256 w 320"/>
                  <a:gd name="T87" fmla="*/ 160 h 234"/>
                  <a:gd name="T88" fmla="*/ 277 w 320"/>
                  <a:gd name="T89" fmla="*/ 160 h 234"/>
                  <a:gd name="T90" fmla="*/ 256 w 320"/>
                  <a:gd name="T91" fmla="*/ 160 h 234"/>
                  <a:gd name="T92" fmla="*/ 266 w 320"/>
                  <a:gd name="T93" fmla="*/ 181 h 234"/>
                  <a:gd name="T94" fmla="*/ 266 w 320"/>
                  <a:gd name="T95" fmla="*/ 202 h 234"/>
                  <a:gd name="T96" fmla="*/ 256 w 320"/>
                  <a:gd name="T97" fmla="*/ 128 h 234"/>
                  <a:gd name="T98" fmla="*/ 277 w 320"/>
                  <a:gd name="T99" fmla="*/ 128 h 234"/>
                  <a:gd name="T100" fmla="*/ 256 w 320"/>
                  <a:gd name="T101" fmla="*/ 128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0" h="234">
                    <a:moveTo>
                      <a:pt x="309" y="85"/>
                    </a:moveTo>
                    <a:cubicBezTo>
                      <a:pt x="169" y="85"/>
                      <a:pt x="169" y="85"/>
                      <a:pt x="169" y="85"/>
                    </a:cubicBezTo>
                    <a:cubicBezTo>
                      <a:pt x="166" y="76"/>
                      <a:pt x="161" y="71"/>
                      <a:pt x="157" y="67"/>
                    </a:cubicBezTo>
                    <a:cubicBezTo>
                      <a:pt x="151" y="62"/>
                      <a:pt x="149" y="59"/>
                      <a:pt x="149" y="53"/>
                    </a:cubicBezTo>
                    <a:cubicBezTo>
                      <a:pt x="149" y="47"/>
                      <a:pt x="151" y="44"/>
                      <a:pt x="157" y="39"/>
                    </a:cubicBezTo>
                    <a:cubicBezTo>
                      <a:pt x="162" y="33"/>
                      <a:pt x="170" y="25"/>
                      <a:pt x="170" y="10"/>
                    </a:cubicBezTo>
                    <a:cubicBezTo>
                      <a:pt x="170" y="4"/>
                      <a:pt x="166" y="0"/>
                      <a:pt x="160" y="0"/>
                    </a:cubicBezTo>
                    <a:cubicBezTo>
                      <a:pt x="154" y="0"/>
                      <a:pt x="149" y="4"/>
                      <a:pt x="149" y="10"/>
                    </a:cubicBezTo>
                    <a:cubicBezTo>
                      <a:pt x="149" y="16"/>
                      <a:pt x="147" y="19"/>
                      <a:pt x="141" y="24"/>
                    </a:cubicBezTo>
                    <a:cubicBezTo>
                      <a:pt x="136" y="30"/>
                      <a:pt x="128" y="38"/>
                      <a:pt x="128" y="53"/>
                    </a:cubicBezTo>
                    <a:cubicBezTo>
                      <a:pt x="128" y="68"/>
                      <a:pt x="136" y="76"/>
                      <a:pt x="141" y="82"/>
                    </a:cubicBezTo>
                    <a:cubicBezTo>
                      <a:pt x="143" y="83"/>
                      <a:pt x="144" y="84"/>
                      <a:pt x="144" y="85"/>
                    </a:cubicBezTo>
                    <a:cubicBezTo>
                      <a:pt x="10" y="85"/>
                      <a:pt x="10" y="85"/>
                      <a:pt x="10" y="85"/>
                    </a:cubicBezTo>
                    <a:cubicBezTo>
                      <a:pt x="4" y="85"/>
                      <a:pt x="0" y="90"/>
                      <a:pt x="0" y="96"/>
                    </a:cubicBezTo>
                    <a:cubicBezTo>
                      <a:pt x="0" y="224"/>
                      <a:pt x="0" y="224"/>
                      <a:pt x="0" y="224"/>
                    </a:cubicBezTo>
                    <a:cubicBezTo>
                      <a:pt x="0" y="230"/>
                      <a:pt x="4" y="234"/>
                      <a:pt x="10" y="234"/>
                    </a:cubicBezTo>
                    <a:cubicBezTo>
                      <a:pt x="309" y="234"/>
                      <a:pt x="309" y="234"/>
                      <a:pt x="309" y="234"/>
                    </a:cubicBezTo>
                    <a:cubicBezTo>
                      <a:pt x="315" y="234"/>
                      <a:pt x="320" y="230"/>
                      <a:pt x="320" y="224"/>
                    </a:cubicBezTo>
                    <a:cubicBezTo>
                      <a:pt x="320" y="96"/>
                      <a:pt x="320" y="96"/>
                      <a:pt x="320" y="96"/>
                    </a:cubicBezTo>
                    <a:cubicBezTo>
                      <a:pt x="320" y="90"/>
                      <a:pt x="315" y="85"/>
                      <a:pt x="309" y="85"/>
                    </a:cubicBezTo>
                    <a:close/>
                    <a:moveTo>
                      <a:pt x="298" y="213"/>
                    </a:moveTo>
                    <a:cubicBezTo>
                      <a:pt x="21" y="213"/>
                      <a:pt x="21" y="213"/>
                      <a:pt x="21" y="213"/>
                    </a:cubicBezTo>
                    <a:cubicBezTo>
                      <a:pt x="21" y="106"/>
                      <a:pt x="21" y="106"/>
                      <a:pt x="21" y="106"/>
                    </a:cubicBezTo>
                    <a:cubicBezTo>
                      <a:pt x="298" y="106"/>
                      <a:pt x="298" y="106"/>
                      <a:pt x="298" y="106"/>
                    </a:cubicBezTo>
                    <a:lnTo>
                      <a:pt x="298" y="213"/>
                    </a:lnTo>
                    <a:close/>
                    <a:moveTo>
                      <a:pt x="96" y="181"/>
                    </a:moveTo>
                    <a:cubicBezTo>
                      <a:pt x="213" y="181"/>
                      <a:pt x="213" y="181"/>
                      <a:pt x="213" y="181"/>
                    </a:cubicBezTo>
                    <a:cubicBezTo>
                      <a:pt x="219" y="181"/>
                      <a:pt x="224" y="186"/>
                      <a:pt x="224" y="192"/>
                    </a:cubicBezTo>
                    <a:cubicBezTo>
                      <a:pt x="224" y="198"/>
                      <a:pt x="219" y="202"/>
                      <a:pt x="213" y="202"/>
                    </a:cubicBezTo>
                    <a:cubicBezTo>
                      <a:pt x="96" y="202"/>
                      <a:pt x="96" y="202"/>
                      <a:pt x="96" y="202"/>
                    </a:cubicBezTo>
                    <a:cubicBezTo>
                      <a:pt x="90" y="202"/>
                      <a:pt x="85" y="198"/>
                      <a:pt x="85" y="192"/>
                    </a:cubicBezTo>
                    <a:cubicBezTo>
                      <a:pt x="85" y="186"/>
                      <a:pt x="90" y="181"/>
                      <a:pt x="96" y="181"/>
                    </a:cubicBezTo>
                    <a:close/>
                    <a:moveTo>
                      <a:pt x="64" y="192"/>
                    </a:moveTo>
                    <a:cubicBezTo>
                      <a:pt x="64" y="198"/>
                      <a:pt x="59" y="202"/>
                      <a:pt x="53" y="202"/>
                    </a:cubicBezTo>
                    <a:cubicBezTo>
                      <a:pt x="47" y="202"/>
                      <a:pt x="42" y="198"/>
                      <a:pt x="42" y="192"/>
                    </a:cubicBezTo>
                    <a:cubicBezTo>
                      <a:pt x="42" y="186"/>
                      <a:pt x="47" y="181"/>
                      <a:pt x="53" y="181"/>
                    </a:cubicBezTo>
                    <a:cubicBezTo>
                      <a:pt x="59" y="181"/>
                      <a:pt x="64" y="186"/>
                      <a:pt x="64" y="192"/>
                    </a:cubicBezTo>
                    <a:close/>
                    <a:moveTo>
                      <a:pt x="64" y="160"/>
                    </a:moveTo>
                    <a:cubicBezTo>
                      <a:pt x="64" y="166"/>
                      <a:pt x="59" y="170"/>
                      <a:pt x="53" y="170"/>
                    </a:cubicBezTo>
                    <a:cubicBezTo>
                      <a:pt x="47" y="170"/>
                      <a:pt x="42" y="166"/>
                      <a:pt x="42" y="160"/>
                    </a:cubicBezTo>
                    <a:cubicBezTo>
                      <a:pt x="42" y="154"/>
                      <a:pt x="47" y="149"/>
                      <a:pt x="53" y="149"/>
                    </a:cubicBezTo>
                    <a:cubicBezTo>
                      <a:pt x="59" y="149"/>
                      <a:pt x="64" y="154"/>
                      <a:pt x="64" y="160"/>
                    </a:cubicBezTo>
                    <a:close/>
                    <a:moveTo>
                      <a:pt x="64" y="128"/>
                    </a:moveTo>
                    <a:cubicBezTo>
                      <a:pt x="64" y="134"/>
                      <a:pt x="59" y="138"/>
                      <a:pt x="53" y="138"/>
                    </a:cubicBezTo>
                    <a:cubicBezTo>
                      <a:pt x="47" y="138"/>
                      <a:pt x="42" y="134"/>
                      <a:pt x="42" y="128"/>
                    </a:cubicBezTo>
                    <a:cubicBezTo>
                      <a:pt x="42" y="122"/>
                      <a:pt x="47" y="117"/>
                      <a:pt x="53" y="117"/>
                    </a:cubicBezTo>
                    <a:cubicBezTo>
                      <a:pt x="59" y="117"/>
                      <a:pt x="64" y="122"/>
                      <a:pt x="64" y="128"/>
                    </a:cubicBezTo>
                    <a:close/>
                    <a:moveTo>
                      <a:pt x="85" y="160"/>
                    </a:moveTo>
                    <a:cubicBezTo>
                      <a:pt x="85" y="154"/>
                      <a:pt x="90" y="149"/>
                      <a:pt x="96" y="149"/>
                    </a:cubicBezTo>
                    <a:cubicBezTo>
                      <a:pt x="102" y="149"/>
                      <a:pt x="106" y="154"/>
                      <a:pt x="106" y="160"/>
                    </a:cubicBezTo>
                    <a:cubicBezTo>
                      <a:pt x="106" y="166"/>
                      <a:pt x="102" y="170"/>
                      <a:pt x="96" y="170"/>
                    </a:cubicBezTo>
                    <a:cubicBezTo>
                      <a:pt x="90" y="170"/>
                      <a:pt x="85" y="166"/>
                      <a:pt x="85" y="160"/>
                    </a:cubicBezTo>
                    <a:close/>
                    <a:moveTo>
                      <a:pt x="85" y="128"/>
                    </a:moveTo>
                    <a:cubicBezTo>
                      <a:pt x="85" y="122"/>
                      <a:pt x="90" y="117"/>
                      <a:pt x="96" y="117"/>
                    </a:cubicBezTo>
                    <a:cubicBezTo>
                      <a:pt x="102" y="117"/>
                      <a:pt x="106" y="122"/>
                      <a:pt x="106" y="128"/>
                    </a:cubicBezTo>
                    <a:cubicBezTo>
                      <a:pt x="106" y="134"/>
                      <a:pt x="102" y="138"/>
                      <a:pt x="96" y="138"/>
                    </a:cubicBezTo>
                    <a:cubicBezTo>
                      <a:pt x="90" y="138"/>
                      <a:pt x="85" y="134"/>
                      <a:pt x="85" y="128"/>
                    </a:cubicBezTo>
                    <a:close/>
                    <a:moveTo>
                      <a:pt x="128" y="160"/>
                    </a:moveTo>
                    <a:cubicBezTo>
                      <a:pt x="128" y="154"/>
                      <a:pt x="132" y="149"/>
                      <a:pt x="138" y="149"/>
                    </a:cubicBezTo>
                    <a:cubicBezTo>
                      <a:pt x="144" y="149"/>
                      <a:pt x="149" y="154"/>
                      <a:pt x="149" y="160"/>
                    </a:cubicBezTo>
                    <a:cubicBezTo>
                      <a:pt x="149" y="166"/>
                      <a:pt x="144" y="170"/>
                      <a:pt x="138" y="170"/>
                    </a:cubicBezTo>
                    <a:cubicBezTo>
                      <a:pt x="132" y="170"/>
                      <a:pt x="128" y="166"/>
                      <a:pt x="128" y="160"/>
                    </a:cubicBezTo>
                    <a:close/>
                    <a:moveTo>
                      <a:pt x="128" y="128"/>
                    </a:moveTo>
                    <a:cubicBezTo>
                      <a:pt x="128" y="122"/>
                      <a:pt x="132" y="117"/>
                      <a:pt x="138" y="117"/>
                    </a:cubicBezTo>
                    <a:cubicBezTo>
                      <a:pt x="144" y="117"/>
                      <a:pt x="149" y="122"/>
                      <a:pt x="149" y="128"/>
                    </a:cubicBezTo>
                    <a:cubicBezTo>
                      <a:pt x="149" y="134"/>
                      <a:pt x="144" y="138"/>
                      <a:pt x="138" y="138"/>
                    </a:cubicBezTo>
                    <a:cubicBezTo>
                      <a:pt x="132" y="138"/>
                      <a:pt x="128" y="134"/>
                      <a:pt x="128" y="128"/>
                    </a:cubicBezTo>
                    <a:close/>
                    <a:moveTo>
                      <a:pt x="170" y="160"/>
                    </a:moveTo>
                    <a:cubicBezTo>
                      <a:pt x="170" y="154"/>
                      <a:pt x="175" y="149"/>
                      <a:pt x="181" y="149"/>
                    </a:cubicBezTo>
                    <a:cubicBezTo>
                      <a:pt x="187" y="149"/>
                      <a:pt x="192" y="154"/>
                      <a:pt x="192" y="160"/>
                    </a:cubicBezTo>
                    <a:cubicBezTo>
                      <a:pt x="192" y="166"/>
                      <a:pt x="187" y="170"/>
                      <a:pt x="181" y="170"/>
                    </a:cubicBezTo>
                    <a:cubicBezTo>
                      <a:pt x="175" y="170"/>
                      <a:pt x="170" y="166"/>
                      <a:pt x="170" y="160"/>
                    </a:cubicBezTo>
                    <a:close/>
                    <a:moveTo>
                      <a:pt x="170" y="128"/>
                    </a:moveTo>
                    <a:cubicBezTo>
                      <a:pt x="170" y="122"/>
                      <a:pt x="175" y="117"/>
                      <a:pt x="181" y="117"/>
                    </a:cubicBezTo>
                    <a:cubicBezTo>
                      <a:pt x="187" y="117"/>
                      <a:pt x="192" y="122"/>
                      <a:pt x="192" y="128"/>
                    </a:cubicBezTo>
                    <a:cubicBezTo>
                      <a:pt x="192" y="134"/>
                      <a:pt x="187" y="138"/>
                      <a:pt x="181" y="138"/>
                    </a:cubicBezTo>
                    <a:cubicBezTo>
                      <a:pt x="175" y="138"/>
                      <a:pt x="170" y="134"/>
                      <a:pt x="170" y="128"/>
                    </a:cubicBezTo>
                    <a:close/>
                    <a:moveTo>
                      <a:pt x="213" y="160"/>
                    </a:moveTo>
                    <a:cubicBezTo>
                      <a:pt x="213" y="154"/>
                      <a:pt x="218" y="149"/>
                      <a:pt x="224" y="149"/>
                    </a:cubicBezTo>
                    <a:cubicBezTo>
                      <a:pt x="230" y="149"/>
                      <a:pt x="234" y="154"/>
                      <a:pt x="234" y="160"/>
                    </a:cubicBezTo>
                    <a:cubicBezTo>
                      <a:pt x="234" y="166"/>
                      <a:pt x="230" y="170"/>
                      <a:pt x="224" y="170"/>
                    </a:cubicBezTo>
                    <a:cubicBezTo>
                      <a:pt x="218" y="170"/>
                      <a:pt x="213" y="166"/>
                      <a:pt x="213" y="160"/>
                    </a:cubicBezTo>
                    <a:close/>
                    <a:moveTo>
                      <a:pt x="213" y="128"/>
                    </a:moveTo>
                    <a:cubicBezTo>
                      <a:pt x="213" y="122"/>
                      <a:pt x="218" y="117"/>
                      <a:pt x="224" y="117"/>
                    </a:cubicBezTo>
                    <a:cubicBezTo>
                      <a:pt x="230" y="117"/>
                      <a:pt x="234" y="122"/>
                      <a:pt x="234" y="128"/>
                    </a:cubicBezTo>
                    <a:cubicBezTo>
                      <a:pt x="234" y="134"/>
                      <a:pt x="230" y="138"/>
                      <a:pt x="224" y="138"/>
                    </a:cubicBezTo>
                    <a:cubicBezTo>
                      <a:pt x="218" y="138"/>
                      <a:pt x="213" y="134"/>
                      <a:pt x="213" y="128"/>
                    </a:cubicBezTo>
                    <a:close/>
                    <a:moveTo>
                      <a:pt x="256" y="160"/>
                    </a:moveTo>
                    <a:cubicBezTo>
                      <a:pt x="256" y="154"/>
                      <a:pt x="260" y="149"/>
                      <a:pt x="266" y="149"/>
                    </a:cubicBezTo>
                    <a:cubicBezTo>
                      <a:pt x="272" y="149"/>
                      <a:pt x="277" y="154"/>
                      <a:pt x="277" y="160"/>
                    </a:cubicBezTo>
                    <a:cubicBezTo>
                      <a:pt x="277" y="166"/>
                      <a:pt x="272" y="170"/>
                      <a:pt x="266" y="170"/>
                    </a:cubicBezTo>
                    <a:cubicBezTo>
                      <a:pt x="260" y="170"/>
                      <a:pt x="256" y="166"/>
                      <a:pt x="256" y="160"/>
                    </a:cubicBezTo>
                    <a:close/>
                    <a:moveTo>
                      <a:pt x="256" y="192"/>
                    </a:moveTo>
                    <a:cubicBezTo>
                      <a:pt x="256" y="186"/>
                      <a:pt x="260" y="181"/>
                      <a:pt x="266" y="181"/>
                    </a:cubicBezTo>
                    <a:cubicBezTo>
                      <a:pt x="272" y="181"/>
                      <a:pt x="277" y="186"/>
                      <a:pt x="277" y="192"/>
                    </a:cubicBezTo>
                    <a:cubicBezTo>
                      <a:pt x="277" y="198"/>
                      <a:pt x="272" y="202"/>
                      <a:pt x="266" y="202"/>
                    </a:cubicBezTo>
                    <a:cubicBezTo>
                      <a:pt x="260" y="202"/>
                      <a:pt x="256" y="198"/>
                      <a:pt x="256" y="192"/>
                    </a:cubicBezTo>
                    <a:close/>
                    <a:moveTo>
                      <a:pt x="256" y="128"/>
                    </a:moveTo>
                    <a:cubicBezTo>
                      <a:pt x="256" y="122"/>
                      <a:pt x="260" y="117"/>
                      <a:pt x="266" y="117"/>
                    </a:cubicBezTo>
                    <a:cubicBezTo>
                      <a:pt x="272" y="117"/>
                      <a:pt x="277" y="122"/>
                      <a:pt x="277" y="128"/>
                    </a:cubicBezTo>
                    <a:cubicBezTo>
                      <a:pt x="277" y="134"/>
                      <a:pt x="272" y="138"/>
                      <a:pt x="266" y="138"/>
                    </a:cubicBezTo>
                    <a:cubicBezTo>
                      <a:pt x="260" y="138"/>
                      <a:pt x="256" y="134"/>
                      <a:pt x="256" y="12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100">
              <a:extLst>
                <a:ext uri="{FF2B5EF4-FFF2-40B4-BE49-F238E27FC236}">
                  <a16:creationId xmlns:a16="http://schemas.microsoft.com/office/drawing/2014/main" id="{B4D0D6F9-99A6-48D4-81D8-53ED0FAB6ED3}"/>
                </a:ext>
              </a:extLst>
            </p:cNvPr>
            <p:cNvGrpSpPr>
              <a:grpSpLocks noChangeAspect="1"/>
            </p:cNvGrpSpPr>
            <p:nvPr/>
          </p:nvGrpSpPr>
          <p:grpSpPr bwMode="auto">
            <a:xfrm>
              <a:off x="10145372" y="2898629"/>
              <a:ext cx="457200" cy="457200"/>
              <a:chOff x="374" y="351"/>
              <a:chExt cx="340" cy="340"/>
            </a:xfrm>
            <a:solidFill>
              <a:schemeClr val="accent5"/>
            </a:solidFill>
          </p:grpSpPr>
          <p:sp>
            <p:nvSpPr>
              <p:cNvPr id="79" name="Freeform 101">
                <a:extLst>
                  <a:ext uri="{FF2B5EF4-FFF2-40B4-BE49-F238E27FC236}">
                    <a16:creationId xmlns:a16="http://schemas.microsoft.com/office/drawing/2014/main" id="{F50A2C6B-2568-4E54-923D-C07485C544A1}"/>
                  </a:ext>
                </a:extLst>
              </p:cNvPr>
              <p:cNvSpPr>
                <a:spLocks noEditPoints="1"/>
              </p:cNvSpPr>
              <p:nvPr/>
            </p:nvSpPr>
            <p:spPr bwMode="auto">
              <a:xfrm>
                <a:off x="374" y="35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sp>
            <p:nvSpPr>
              <p:cNvPr id="80" name="Freeform 102">
                <a:extLst>
                  <a:ext uri="{FF2B5EF4-FFF2-40B4-BE49-F238E27FC236}">
                    <a16:creationId xmlns:a16="http://schemas.microsoft.com/office/drawing/2014/main" id="{0E6D8F18-485E-4FCA-B348-9C30B2F17CD5}"/>
                  </a:ext>
                </a:extLst>
              </p:cNvPr>
              <p:cNvSpPr>
                <a:spLocks noEditPoints="1"/>
              </p:cNvSpPr>
              <p:nvPr/>
            </p:nvSpPr>
            <p:spPr bwMode="auto">
              <a:xfrm>
                <a:off x="452" y="429"/>
                <a:ext cx="77" cy="77"/>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sp>
            <p:nvSpPr>
              <p:cNvPr id="81" name="Freeform 103">
                <a:extLst>
                  <a:ext uri="{FF2B5EF4-FFF2-40B4-BE49-F238E27FC236}">
                    <a16:creationId xmlns:a16="http://schemas.microsoft.com/office/drawing/2014/main" id="{53DB2776-1310-4F5F-BFC6-F0A74B9C90EA}"/>
                  </a:ext>
                </a:extLst>
              </p:cNvPr>
              <p:cNvSpPr>
                <a:spLocks noEditPoints="1"/>
              </p:cNvSpPr>
              <p:nvPr/>
            </p:nvSpPr>
            <p:spPr bwMode="auto">
              <a:xfrm>
                <a:off x="558" y="429"/>
                <a:ext cx="78" cy="77"/>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sp>
            <p:nvSpPr>
              <p:cNvPr id="82" name="Freeform 104">
                <a:extLst>
                  <a:ext uri="{FF2B5EF4-FFF2-40B4-BE49-F238E27FC236}">
                    <a16:creationId xmlns:a16="http://schemas.microsoft.com/office/drawing/2014/main" id="{FEB5EB32-9D0A-4237-928B-DFF7999B2AB6}"/>
                  </a:ext>
                </a:extLst>
              </p:cNvPr>
              <p:cNvSpPr>
                <a:spLocks noEditPoints="1"/>
              </p:cNvSpPr>
              <p:nvPr/>
            </p:nvSpPr>
            <p:spPr bwMode="auto">
              <a:xfrm>
                <a:off x="452" y="535"/>
                <a:ext cx="77" cy="78"/>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sp>
            <p:nvSpPr>
              <p:cNvPr id="83" name="Freeform 105">
                <a:extLst>
                  <a:ext uri="{FF2B5EF4-FFF2-40B4-BE49-F238E27FC236}">
                    <a16:creationId xmlns:a16="http://schemas.microsoft.com/office/drawing/2014/main" id="{0E0144A1-7353-4FBD-9031-68A477AA4F4B}"/>
                  </a:ext>
                </a:extLst>
              </p:cNvPr>
              <p:cNvSpPr>
                <a:spLocks noEditPoints="1"/>
              </p:cNvSpPr>
              <p:nvPr/>
            </p:nvSpPr>
            <p:spPr bwMode="auto">
              <a:xfrm>
                <a:off x="558" y="535"/>
                <a:ext cx="78" cy="78"/>
              </a:xfrm>
              <a:custGeom>
                <a:avLst/>
                <a:gdLst>
                  <a:gd name="T0" fmla="*/ 107 w 117"/>
                  <a:gd name="T1" fmla="*/ 0 h 117"/>
                  <a:gd name="T2" fmla="*/ 11 w 117"/>
                  <a:gd name="T3" fmla="*/ 0 h 117"/>
                  <a:gd name="T4" fmla="*/ 0 w 117"/>
                  <a:gd name="T5" fmla="*/ 11 h 117"/>
                  <a:gd name="T6" fmla="*/ 0 w 117"/>
                  <a:gd name="T7" fmla="*/ 107 h 117"/>
                  <a:gd name="T8" fmla="*/ 11 w 117"/>
                  <a:gd name="T9" fmla="*/ 117 h 117"/>
                  <a:gd name="T10" fmla="*/ 107 w 117"/>
                  <a:gd name="T11" fmla="*/ 117 h 117"/>
                  <a:gd name="T12" fmla="*/ 117 w 117"/>
                  <a:gd name="T13" fmla="*/ 107 h 117"/>
                  <a:gd name="T14" fmla="*/ 117 w 117"/>
                  <a:gd name="T15" fmla="*/ 11 h 117"/>
                  <a:gd name="T16" fmla="*/ 107 w 117"/>
                  <a:gd name="T17" fmla="*/ 0 h 117"/>
                  <a:gd name="T18" fmla="*/ 96 w 117"/>
                  <a:gd name="T19" fmla="*/ 96 h 117"/>
                  <a:gd name="T20" fmla="*/ 21 w 117"/>
                  <a:gd name="T21" fmla="*/ 96 h 117"/>
                  <a:gd name="T22" fmla="*/ 21 w 117"/>
                  <a:gd name="T23" fmla="*/ 21 h 117"/>
                  <a:gd name="T24" fmla="*/ 96 w 117"/>
                  <a:gd name="T25" fmla="*/ 21 h 117"/>
                  <a:gd name="T26" fmla="*/ 96 w 117"/>
                  <a:gd name="T27" fmla="*/ 9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17">
                    <a:moveTo>
                      <a:pt x="107" y="0"/>
                    </a:moveTo>
                    <a:cubicBezTo>
                      <a:pt x="11" y="0"/>
                      <a:pt x="11" y="0"/>
                      <a:pt x="11" y="0"/>
                    </a:cubicBezTo>
                    <a:cubicBezTo>
                      <a:pt x="5" y="0"/>
                      <a:pt x="0" y="5"/>
                      <a:pt x="0" y="11"/>
                    </a:cubicBezTo>
                    <a:cubicBezTo>
                      <a:pt x="0" y="107"/>
                      <a:pt x="0" y="107"/>
                      <a:pt x="0" y="107"/>
                    </a:cubicBezTo>
                    <a:cubicBezTo>
                      <a:pt x="0" y="113"/>
                      <a:pt x="5" y="117"/>
                      <a:pt x="11" y="117"/>
                    </a:cubicBezTo>
                    <a:cubicBezTo>
                      <a:pt x="107" y="117"/>
                      <a:pt x="107" y="117"/>
                      <a:pt x="107" y="117"/>
                    </a:cubicBezTo>
                    <a:cubicBezTo>
                      <a:pt x="113" y="117"/>
                      <a:pt x="117" y="113"/>
                      <a:pt x="117" y="107"/>
                    </a:cubicBezTo>
                    <a:cubicBezTo>
                      <a:pt x="117" y="11"/>
                      <a:pt x="117" y="11"/>
                      <a:pt x="117" y="11"/>
                    </a:cubicBezTo>
                    <a:cubicBezTo>
                      <a:pt x="117" y="5"/>
                      <a:pt x="113" y="0"/>
                      <a:pt x="107" y="0"/>
                    </a:cubicBezTo>
                    <a:close/>
                    <a:moveTo>
                      <a:pt x="96" y="96"/>
                    </a:moveTo>
                    <a:cubicBezTo>
                      <a:pt x="21" y="96"/>
                      <a:pt x="21" y="96"/>
                      <a:pt x="21" y="96"/>
                    </a:cubicBezTo>
                    <a:cubicBezTo>
                      <a:pt x="21" y="21"/>
                      <a:pt x="21" y="21"/>
                      <a:pt x="21" y="21"/>
                    </a:cubicBezTo>
                    <a:cubicBezTo>
                      <a:pt x="96" y="21"/>
                      <a:pt x="96" y="21"/>
                      <a:pt x="96" y="21"/>
                    </a:cubicBezTo>
                    <a:lnTo>
                      <a:pt x="96" y="9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6" name="Group 757">
              <a:extLst>
                <a:ext uri="{FF2B5EF4-FFF2-40B4-BE49-F238E27FC236}">
                  <a16:creationId xmlns:a16="http://schemas.microsoft.com/office/drawing/2014/main" id="{F50ACC23-4441-48C8-A332-F31008924EA2}"/>
                </a:ext>
              </a:extLst>
            </p:cNvPr>
            <p:cNvGrpSpPr>
              <a:grpSpLocks noChangeAspect="1"/>
            </p:cNvGrpSpPr>
            <p:nvPr/>
          </p:nvGrpSpPr>
          <p:grpSpPr bwMode="auto">
            <a:xfrm>
              <a:off x="4296900" y="2900574"/>
              <a:ext cx="457200" cy="457200"/>
              <a:chOff x="5285" y="3084"/>
              <a:chExt cx="340" cy="340"/>
            </a:xfrm>
            <a:solidFill>
              <a:schemeClr val="accent5"/>
            </a:solidFill>
          </p:grpSpPr>
          <p:sp>
            <p:nvSpPr>
              <p:cNvPr id="77" name="Freeform 758">
                <a:extLst>
                  <a:ext uri="{FF2B5EF4-FFF2-40B4-BE49-F238E27FC236}">
                    <a16:creationId xmlns:a16="http://schemas.microsoft.com/office/drawing/2014/main" id="{3CBCF3B7-6B94-4318-B899-0B575D07530A}"/>
                  </a:ext>
                </a:extLst>
              </p:cNvPr>
              <p:cNvSpPr>
                <a:spLocks noEditPoints="1"/>
              </p:cNvSpPr>
              <p:nvPr/>
            </p:nvSpPr>
            <p:spPr bwMode="auto">
              <a:xfrm>
                <a:off x="5285" y="308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sp>
            <p:nvSpPr>
              <p:cNvPr id="78" name="Freeform 759">
                <a:extLst>
                  <a:ext uri="{FF2B5EF4-FFF2-40B4-BE49-F238E27FC236}">
                    <a16:creationId xmlns:a16="http://schemas.microsoft.com/office/drawing/2014/main" id="{6BA1D753-EF6D-4D1D-95E3-3ADAA840E739}"/>
                  </a:ext>
                </a:extLst>
              </p:cNvPr>
              <p:cNvSpPr>
                <a:spLocks noEditPoints="1"/>
              </p:cNvSpPr>
              <p:nvPr/>
            </p:nvSpPr>
            <p:spPr bwMode="auto">
              <a:xfrm>
                <a:off x="5355" y="3148"/>
                <a:ext cx="199" cy="212"/>
              </a:xfrm>
              <a:custGeom>
                <a:avLst/>
                <a:gdLst>
                  <a:gd name="T0" fmla="*/ 267 w 299"/>
                  <a:gd name="T1" fmla="*/ 117 h 320"/>
                  <a:gd name="T2" fmla="*/ 266 w 299"/>
                  <a:gd name="T3" fmla="*/ 81 h 320"/>
                  <a:gd name="T4" fmla="*/ 189 w 299"/>
                  <a:gd name="T5" fmla="*/ 3 h 320"/>
                  <a:gd name="T6" fmla="*/ 182 w 299"/>
                  <a:gd name="T7" fmla="*/ 0 h 320"/>
                  <a:gd name="T8" fmla="*/ 32 w 299"/>
                  <a:gd name="T9" fmla="*/ 10 h 320"/>
                  <a:gd name="T10" fmla="*/ 11 w 299"/>
                  <a:gd name="T11" fmla="*/ 117 h 320"/>
                  <a:gd name="T12" fmla="*/ 0 w 299"/>
                  <a:gd name="T13" fmla="*/ 266 h 320"/>
                  <a:gd name="T14" fmla="*/ 32 w 299"/>
                  <a:gd name="T15" fmla="*/ 277 h 320"/>
                  <a:gd name="T16" fmla="*/ 43 w 299"/>
                  <a:gd name="T17" fmla="*/ 320 h 320"/>
                  <a:gd name="T18" fmla="*/ 267 w 299"/>
                  <a:gd name="T19" fmla="*/ 309 h 320"/>
                  <a:gd name="T20" fmla="*/ 288 w 299"/>
                  <a:gd name="T21" fmla="*/ 277 h 320"/>
                  <a:gd name="T22" fmla="*/ 299 w 299"/>
                  <a:gd name="T23" fmla="*/ 128 h 320"/>
                  <a:gd name="T24" fmla="*/ 192 w 299"/>
                  <a:gd name="T25" fmla="*/ 36 h 320"/>
                  <a:gd name="T26" fmla="*/ 192 w 299"/>
                  <a:gd name="T27" fmla="*/ 74 h 320"/>
                  <a:gd name="T28" fmla="*/ 54 w 299"/>
                  <a:gd name="T29" fmla="*/ 21 h 320"/>
                  <a:gd name="T30" fmla="*/ 171 w 299"/>
                  <a:gd name="T31" fmla="*/ 85 h 320"/>
                  <a:gd name="T32" fmla="*/ 246 w 299"/>
                  <a:gd name="T33" fmla="*/ 96 h 320"/>
                  <a:gd name="T34" fmla="*/ 54 w 299"/>
                  <a:gd name="T35" fmla="*/ 117 h 320"/>
                  <a:gd name="T36" fmla="*/ 246 w 299"/>
                  <a:gd name="T37" fmla="*/ 298 h 320"/>
                  <a:gd name="T38" fmla="*/ 54 w 299"/>
                  <a:gd name="T39" fmla="*/ 277 h 320"/>
                  <a:gd name="T40" fmla="*/ 246 w 299"/>
                  <a:gd name="T41" fmla="*/ 298 h 320"/>
                  <a:gd name="T42" fmla="*/ 22 w 299"/>
                  <a:gd name="T43" fmla="*/ 256 h 320"/>
                  <a:gd name="T44" fmla="*/ 278 w 299"/>
                  <a:gd name="T45" fmla="*/ 138 h 320"/>
                  <a:gd name="T46" fmla="*/ 208 w 299"/>
                  <a:gd name="T47" fmla="*/ 235 h 320"/>
                  <a:gd name="T48" fmla="*/ 187 w 299"/>
                  <a:gd name="T49" fmla="*/ 216 h 320"/>
                  <a:gd name="T50" fmla="*/ 210 w 299"/>
                  <a:gd name="T51" fmla="*/ 222 h 320"/>
                  <a:gd name="T52" fmla="*/ 220 w 299"/>
                  <a:gd name="T53" fmla="*/ 214 h 320"/>
                  <a:gd name="T54" fmla="*/ 216 w 299"/>
                  <a:gd name="T55" fmla="*/ 207 h 320"/>
                  <a:gd name="T56" fmla="*/ 196 w 299"/>
                  <a:gd name="T57" fmla="*/ 196 h 320"/>
                  <a:gd name="T58" fmla="*/ 188 w 299"/>
                  <a:gd name="T59" fmla="*/ 180 h 320"/>
                  <a:gd name="T60" fmla="*/ 213 w 299"/>
                  <a:gd name="T61" fmla="*/ 159 h 320"/>
                  <a:gd name="T62" fmla="*/ 236 w 299"/>
                  <a:gd name="T63" fmla="*/ 164 h 320"/>
                  <a:gd name="T64" fmla="*/ 221 w 299"/>
                  <a:gd name="T65" fmla="*/ 173 h 320"/>
                  <a:gd name="T66" fmla="*/ 206 w 299"/>
                  <a:gd name="T67" fmla="*/ 174 h 320"/>
                  <a:gd name="T68" fmla="*/ 205 w 299"/>
                  <a:gd name="T69" fmla="*/ 183 h 320"/>
                  <a:gd name="T70" fmla="*/ 218 w 299"/>
                  <a:gd name="T71" fmla="*/ 191 h 320"/>
                  <a:gd name="T72" fmla="*/ 236 w 299"/>
                  <a:gd name="T73" fmla="*/ 214 h 320"/>
                  <a:gd name="T74" fmla="*/ 208 w 299"/>
                  <a:gd name="T75" fmla="*/ 235 h 320"/>
                  <a:gd name="T76" fmla="*/ 78 w 299"/>
                  <a:gd name="T77" fmla="*/ 196 h 320"/>
                  <a:gd name="T78" fmla="*/ 73 w 299"/>
                  <a:gd name="T79" fmla="*/ 160 h 320"/>
                  <a:gd name="T80" fmla="*/ 105 w 299"/>
                  <a:gd name="T81" fmla="*/ 160 h 320"/>
                  <a:gd name="T82" fmla="*/ 98 w 299"/>
                  <a:gd name="T83" fmla="*/ 197 h 320"/>
                  <a:gd name="T84" fmla="*/ 105 w 299"/>
                  <a:gd name="T85" fmla="*/ 234 h 320"/>
                  <a:gd name="T86" fmla="*/ 71 w 299"/>
                  <a:gd name="T87" fmla="*/ 234 h 320"/>
                  <a:gd name="T88" fmla="*/ 179 w 299"/>
                  <a:gd name="T89" fmla="*/ 234 h 320"/>
                  <a:gd name="T90" fmla="*/ 133 w 299"/>
                  <a:gd name="T91" fmla="*/ 160 h 320"/>
                  <a:gd name="T92" fmla="*/ 149 w 299"/>
                  <a:gd name="T93" fmla="*/ 221 h 320"/>
                  <a:gd name="T94" fmla="*/ 179 w 299"/>
                  <a:gd name="T95" fmla="*/ 23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99" h="320">
                    <a:moveTo>
                      <a:pt x="288" y="117"/>
                    </a:moveTo>
                    <a:cubicBezTo>
                      <a:pt x="267" y="117"/>
                      <a:pt x="267" y="117"/>
                      <a:pt x="267" y="117"/>
                    </a:cubicBezTo>
                    <a:cubicBezTo>
                      <a:pt x="267" y="85"/>
                      <a:pt x="267" y="85"/>
                      <a:pt x="267" y="85"/>
                    </a:cubicBezTo>
                    <a:cubicBezTo>
                      <a:pt x="267" y="84"/>
                      <a:pt x="267" y="82"/>
                      <a:pt x="266" y="81"/>
                    </a:cubicBezTo>
                    <a:cubicBezTo>
                      <a:pt x="266" y="80"/>
                      <a:pt x="265" y="78"/>
                      <a:pt x="264" y="77"/>
                    </a:cubicBezTo>
                    <a:cubicBezTo>
                      <a:pt x="189" y="3"/>
                      <a:pt x="189" y="3"/>
                      <a:pt x="189" y="3"/>
                    </a:cubicBezTo>
                    <a:cubicBezTo>
                      <a:pt x="188" y="2"/>
                      <a:pt x="187" y="1"/>
                      <a:pt x="186" y="0"/>
                    </a:cubicBezTo>
                    <a:cubicBezTo>
                      <a:pt x="184" y="0"/>
                      <a:pt x="183" y="0"/>
                      <a:pt x="182" y="0"/>
                    </a:cubicBezTo>
                    <a:cubicBezTo>
                      <a:pt x="43" y="0"/>
                      <a:pt x="43" y="0"/>
                      <a:pt x="43" y="0"/>
                    </a:cubicBezTo>
                    <a:cubicBezTo>
                      <a:pt x="37" y="0"/>
                      <a:pt x="32" y="4"/>
                      <a:pt x="32" y="10"/>
                    </a:cubicBezTo>
                    <a:cubicBezTo>
                      <a:pt x="32" y="117"/>
                      <a:pt x="32" y="117"/>
                      <a:pt x="32" y="117"/>
                    </a:cubicBezTo>
                    <a:cubicBezTo>
                      <a:pt x="11" y="117"/>
                      <a:pt x="11" y="117"/>
                      <a:pt x="11" y="117"/>
                    </a:cubicBezTo>
                    <a:cubicBezTo>
                      <a:pt x="5" y="117"/>
                      <a:pt x="0" y="122"/>
                      <a:pt x="0" y="128"/>
                    </a:cubicBezTo>
                    <a:cubicBezTo>
                      <a:pt x="0" y="266"/>
                      <a:pt x="0" y="266"/>
                      <a:pt x="0" y="266"/>
                    </a:cubicBezTo>
                    <a:cubicBezTo>
                      <a:pt x="0" y="272"/>
                      <a:pt x="5" y="277"/>
                      <a:pt x="11" y="277"/>
                    </a:cubicBezTo>
                    <a:cubicBezTo>
                      <a:pt x="32" y="277"/>
                      <a:pt x="32" y="277"/>
                      <a:pt x="32" y="277"/>
                    </a:cubicBezTo>
                    <a:cubicBezTo>
                      <a:pt x="32" y="309"/>
                      <a:pt x="32" y="309"/>
                      <a:pt x="32" y="309"/>
                    </a:cubicBezTo>
                    <a:cubicBezTo>
                      <a:pt x="32" y="315"/>
                      <a:pt x="37" y="320"/>
                      <a:pt x="43" y="320"/>
                    </a:cubicBezTo>
                    <a:cubicBezTo>
                      <a:pt x="256" y="320"/>
                      <a:pt x="256" y="320"/>
                      <a:pt x="256" y="320"/>
                    </a:cubicBezTo>
                    <a:cubicBezTo>
                      <a:pt x="262" y="320"/>
                      <a:pt x="267" y="315"/>
                      <a:pt x="267" y="309"/>
                    </a:cubicBezTo>
                    <a:cubicBezTo>
                      <a:pt x="267" y="277"/>
                      <a:pt x="267" y="277"/>
                      <a:pt x="267" y="277"/>
                    </a:cubicBezTo>
                    <a:cubicBezTo>
                      <a:pt x="288" y="277"/>
                      <a:pt x="288" y="277"/>
                      <a:pt x="288" y="277"/>
                    </a:cubicBezTo>
                    <a:cubicBezTo>
                      <a:pt x="294" y="277"/>
                      <a:pt x="299" y="272"/>
                      <a:pt x="299" y="266"/>
                    </a:cubicBezTo>
                    <a:cubicBezTo>
                      <a:pt x="299" y="128"/>
                      <a:pt x="299" y="128"/>
                      <a:pt x="299" y="128"/>
                    </a:cubicBezTo>
                    <a:cubicBezTo>
                      <a:pt x="299" y="122"/>
                      <a:pt x="294" y="117"/>
                      <a:pt x="288" y="117"/>
                    </a:cubicBezTo>
                    <a:close/>
                    <a:moveTo>
                      <a:pt x="192" y="36"/>
                    </a:moveTo>
                    <a:cubicBezTo>
                      <a:pt x="231" y="74"/>
                      <a:pt x="231" y="74"/>
                      <a:pt x="231" y="74"/>
                    </a:cubicBezTo>
                    <a:cubicBezTo>
                      <a:pt x="192" y="74"/>
                      <a:pt x="192" y="74"/>
                      <a:pt x="192" y="74"/>
                    </a:cubicBezTo>
                    <a:lnTo>
                      <a:pt x="192" y="36"/>
                    </a:lnTo>
                    <a:close/>
                    <a:moveTo>
                      <a:pt x="54" y="21"/>
                    </a:moveTo>
                    <a:cubicBezTo>
                      <a:pt x="171" y="21"/>
                      <a:pt x="171" y="21"/>
                      <a:pt x="171" y="21"/>
                    </a:cubicBezTo>
                    <a:cubicBezTo>
                      <a:pt x="171" y="85"/>
                      <a:pt x="171" y="85"/>
                      <a:pt x="171" y="85"/>
                    </a:cubicBezTo>
                    <a:cubicBezTo>
                      <a:pt x="171" y="91"/>
                      <a:pt x="176" y="96"/>
                      <a:pt x="182" y="96"/>
                    </a:cubicBezTo>
                    <a:cubicBezTo>
                      <a:pt x="246" y="96"/>
                      <a:pt x="246" y="96"/>
                      <a:pt x="246" y="96"/>
                    </a:cubicBezTo>
                    <a:cubicBezTo>
                      <a:pt x="246" y="117"/>
                      <a:pt x="246" y="117"/>
                      <a:pt x="246" y="117"/>
                    </a:cubicBezTo>
                    <a:cubicBezTo>
                      <a:pt x="54" y="117"/>
                      <a:pt x="54" y="117"/>
                      <a:pt x="54" y="117"/>
                    </a:cubicBezTo>
                    <a:lnTo>
                      <a:pt x="54" y="21"/>
                    </a:lnTo>
                    <a:close/>
                    <a:moveTo>
                      <a:pt x="246" y="298"/>
                    </a:moveTo>
                    <a:cubicBezTo>
                      <a:pt x="54" y="298"/>
                      <a:pt x="54" y="298"/>
                      <a:pt x="54" y="298"/>
                    </a:cubicBezTo>
                    <a:cubicBezTo>
                      <a:pt x="54" y="277"/>
                      <a:pt x="54" y="277"/>
                      <a:pt x="54" y="277"/>
                    </a:cubicBezTo>
                    <a:cubicBezTo>
                      <a:pt x="246" y="277"/>
                      <a:pt x="246" y="277"/>
                      <a:pt x="246" y="277"/>
                    </a:cubicBezTo>
                    <a:lnTo>
                      <a:pt x="246" y="298"/>
                    </a:lnTo>
                    <a:close/>
                    <a:moveTo>
                      <a:pt x="278" y="256"/>
                    </a:moveTo>
                    <a:cubicBezTo>
                      <a:pt x="22" y="256"/>
                      <a:pt x="22" y="256"/>
                      <a:pt x="22" y="256"/>
                    </a:cubicBezTo>
                    <a:cubicBezTo>
                      <a:pt x="22" y="138"/>
                      <a:pt x="22" y="138"/>
                      <a:pt x="22" y="138"/>
                    </a:cubicBezTo>
                    <a:cubicBezTo>
                      <a:pt x="278" y="138"/>
                      <a:pt x="278" y="138"/>
                      <a:pt x="278" y="138"/>
                    </a:cubicBezTo>
                    <a:lnTo>
                      <a:pt x="278" y="256"/>
                    </a:lnTo>
                    <a:close/>
                    <a:moveTo>
                      <a:pt x="208" y="235"/>
                    </a:moveTo>
                    <a:cubicBezTo>
                      <a:pt x="200" y="235"/>
                      <a:pt x="193" y="234"/>
                      <a:pt x="187" y="231"/>
                    </a:cubicBezTo>
                    <a:cubicBezTo>
                      <a:pt x="187" y="216"/>
                      <a:pt x="187" y="216"/>
                      <a:pt x="187" y="216"/>
                    </a:cubicBezTo>
                    <a:cubicBezTo>
                      <a:pt x="192" y="218"/>
                      <a:pt x="197" y="220"/>
                      <a:pt x="200" y="221"/>
                    </a:cubicBezTo>
                    <a:cubicBezTo>
                      <a:pt x="204" y="222"/>
                      <a:pt x="207" y="222"/>
                      <a:pt x="210" y="222"/>
                    </a:cubicBezTo>
                    <a:cubicBezTo>
                      <a:pt x="213" y="222"/>
                      <a:pt x="216" y="222"/>
                      <a:pt x="218" y="220"/>
                    </a:cubicBezTo>
                    <a:cubicBezTo>
                      <a:pt x="219" y="219"/>
                      <a:pt x="220" y="217"/>
                      <a:pt x="220" y="214"/>
                    </a:cubicBezTo>
                    <a:cubicBezTo>
                      <a:pt x="220" y="213"/>
                      <a:pt x="220" y="212"/>
                      <a:pt x="219" y="210"/>
                    </a:cubicBezTo>
                    <a:cubicBezTo>
                      <a:pt x="218" y="209"/>
                      <a:pt x="217" y="208"/>
                      <a:pt x="216" y="207"/>
                    </a:cubicBezTo>
                    <a:cubicBezTo>
                      <a:pt x="214" y="206"/>
                      <a:pt x="211" y="204"/>
                      <a:pt x="206" y="202"/>
                    </a:cubicBezTo>
                    <a:cubicBezTo>
                      <a:pt x="201" y="200"/>
                      <a:pt x="198" y="198"/>
                      <a:pt x="196" y="196"/>
                    </a:cubicBezTo>
                    <a:cubicBezTo>
                      <a:pt x="193" y="194"/>
                      <a:pt x="192" y="192"/>
                      <a:pt x="190" y="189"/>
                    </a:cubicBezTo>
                    <a:cubicBezTo>
                      <a:pt x="189" y="186"/>
                      <a:pt x="188" y="183"/>
                      <a:pt x="188" y="180"/>
                    </a:cubicBezTo>
                    <a:cubicBezTo>
                      <a:pt x="188" y="173"/>
                      <a:pt x="190" y="168"/>
                      <a:pt x="195" y="164"/>
                    </a:cubicBezTo>
                    <a:cubicBezTo>
                      <a:pt x="199" y="161"/>
                      <a:pt x="206" y="159"/>
                      <a:pt x="213" y="159"/>
                    </a:cubicBezTo>
                    <a:cubicBezTo>
                      <a:pt x="217" y="159"/>
                      <a:pt x="221" y="159"/>
                      <a:pt x="225" y="160"/>
                    </a:cubicBezTo>
                    <a:cubicBezTo>
                      <a:pt x="228" y="161"/>
                      <a:pt x="232" y="162"/>
                      <a:pt x="236" y="164"/>
                    </a:cubicBezTo>
                    <a:cubicBezTo>
                      <a:pt x="230" y="176"/>
                      <a:pt x="230" y="176"/>
                      <a:pt x="230" y="176"/>
                    </a:cubicBezTo>
                    <a:cubicBezTo>
                      <a:pt x="226" y="175"/>
                      <a:pt x="223" y="173"/>
                      <a:pt x="221" y="173"/>
                    </a:cubicBezTo>
                    <a:cubicBezTo>
                      <a:pt x="218" y="172"/>
                      <a:pt x="215" y="172"/>
                      <a:pt x="213" y="172"/>
                    </a:cubicBezTo>
                    <a:cubicBezTo>
                      <a:pt x="210" y="172"/>
                      <a:pt x="208" y="173"/>
                      <a:pt x="206" y="174"/>
                    </a:cubicBezTo>
                    <a:cubicBezTo>
                      <a:pt x="204" y="175"/>
                      <a:pt x="204" y="177"/>
                      <a:pt x="204" y="179"/>
                    </a:cubicBezTo>
                    <a:cubicBezTo>
                      <a:pt x="204" y="181"/>
                      <a:pt x="204" y="182"/>
                      <a:pt x="205" y="183"/>
                    </a:cubicBezTo>
                    <a:cubicBezTo>
                      <a:pt x="205" y="184"/>
                      <a:pt x="206" y="185"/>
                      <a:pt x="208" y="186"/>
                    </a:cubicBezTo>
                    <a:cubicBezTo>
                      <a:pt x="209" y="187"/>
                      <a:pt x="212" y="189"/>
                      <a:pt x="218" y="191"/>
                    </a:cubicBezTo>
                    <a:cubicBezTo>
                      <a:pt x="225" y="195"/>
                      <a:pt x="229" y="198"/>
                      <a:pt x="232" y="201"/>
                    </a:cubicBezTo>
                    <a:cubicBezTo>
                      <a:pt x="235" y="205"/>
                      <a:pt x="236" y="209"/>
                      <a:pt x="236" y="214"/>
                    </a:cubicBezTo>
                    <a:cubicBezTo>
                      <a:pt x="236" y="220"/>
                      <a:pt x="233" y="226"/>
                      <a:pt x="229" y="230"/>
                    </a:cubicBezTo>
                    <a:cubicBezTo>
                      <a:pt x="224" y="233"/>
                      <a:pt x="217" y="235"/>
                      <a:pt x="208" y="235"/>
                    </a:cubicBezTo>
                    <a:close/>
                    <a:moveTo>
                      <a:pt x="54" y="234"/>
                    </a:moveTo>
                    <a:cubicBezTo>
                      <a:pt x="78" y="196"/>
                      <a:pt x="78" y="196"/>
                      <a:pt x="78" y="196"/>
                    </a:cubicBezTo>
                    <a:cubicBezTo>
                      <a:pt x="55" y="160"/>
                      <a:pt x="55" y="160"/>
                      <a:pt x="55" y="160"/>
                    </a:cubicBezTo>
                    <a:cubicBezTo>
                      <a:pt x="73" y="160"/>
                      <a:pt x="73" y="160"/>
                      <a:pt x="73" y="160"/>
                    </a:cubicBezTo>
                    <a:cubicBezTo>
                      <a:pt x="89" y="187"/>
                      <a:pt x="89" y="187"/>
                      <a:pt x="89" y="187"/>
                    </a:cubicBezTo>
                    <a:cubicBezTo>
                      <a:pt x="105" y="160"/>
                      <a:pt x="105" y="160"/>
                      <a:pt x="105" y="160"/>
                    </a:cubicBezTo>
                    <a:cubicBezTo>
                      <a:pt x="122" y="160"/>
                      <a:pt x="122" y="160"/>
                      <a:pt x="122" y="160"/>
                    </a:cubicBezTo>
                    <a:cubicBezTo>
                      <a:pt x="98" y="197"/>
                      <a:pt x="98" y="197"/>
                      <a:pt x="98" y="197"/>
                    </a:cubicBezTo>
                    <a:cubicBezTo>
                      <a:pt x="123" y="234"/>
                      <a:pt x="123" y="234"/>
                      <a:pt x="123" y="234"/>
                    </a:cubicBezTo>
                    <a:cubicBezTo>
                      <a:pt x="105" y="234"/>
                      <a:pt x="105" y="234"/>
                      <a:pt x="105" y="234"/>
                    </a:cubicBezTo>
                    <a:cubicBezTo>
                      <a:pt x="88" y="206"/>
                      <a:pt x="88" y="206"/>
                      <a:pt x="88" y="206"/>
                    </a:cubicBezTo>
                    <a:cubicBezTo>
                      <a:pt x="71" y="234"/>
                      <a:pt x="71" y="234"/>
                      <a:pt x="71" y="234"/>
                    </a:cubicBezTo>
                    <a:lnTo>
                      <a:pt x="54" y="234"/>
                    </a:lnTo>
                    <a:close/>
                    <a:moveTo>
                      <a:pt x="179" y="234"/>
                    </a:moveTo>
                    <a:cubicBezTo>
                      <a:pt x="133" y="234"/>
                      <a:pt x="133" y="234"/>
                      <a:pt x="133" y="234"/>
                    </a:cubicBezTo>
                    <a:cubicBezTo>
                      <a:pt x="133" y="160"/>
                      <a:pt x="133" y="160"/>
                      <a:pt x="133" y="160"/>
                    </a:cubicBezTo>
                    <a:cubicBezTo>
                      <a:pt x="149" y="160"/>
                      <a:pt x="149" y="160"/>
                      <a:pt x="149" y="160"/>
                    </a:cubicBezTo>
                    <a:cubicBezTo>
                      <a:pt x="149" y="221"/>
                      <a:pt x="149" y="221"/>
                      <a:pt x="149" y="221"/>
                    </a:cubicBezTo>
                    <a:cubicBezTo>
                      <a:pt x="179" y="221"/>
                      <a:pt x="179" y="221"/>
                      <a:pt x="179" y="221"/>
                    </a:cubicBezTo>
                    <a:lnTo>
                      <a:pt x="179" y="23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86" name="Group 85">
            <a:extLst>
              <a:ext uri="{FF2B5EF4-FFF2-40B4-BE49-F238E27FC236}">
                <a16:creationId xmlns:a16="http://schemas.microsoft.com/office/drawing/2014/main" id="{A867A33E-5AC7-4297-8631-DE025FCC656A}"/>
              </a:ext>
            </a:extLst>
          </p:cNvPr>
          <p:cNvGrpSpPr/>
          <p:nvPr/>
        </p:nvGrpSpPr>
        <p:grpSpPr>
          <a:xfrm>
            <a:off x="649756" y="3863333"/>
            <a:ext cx="11040593" cy="1995199"/>
            <a:chOff x="649756" y="4001562"/>
            <a:chExt cx="11040593" cy="1995199"/>
          </a:xfrm>
        </p:grpSpPr>
        <p:sp>
          <p:nvSpPr>
            <p:cNvPr id="87" name="Rounded Rectangle 58">
              <a:extLst>
                <a:ext uri="{FF2B5EF4-FFF2-40B4-BE49-F238E27FC236}">
                  <a16:creationId xmlns:a16="http://schemas.microsoft.com/office/drawing/2014/main" id="{73448716-BF62-4B46-9ACB-A90102512059}"/>
                </a:ext>
              </a:extLst>
            </p:cNvPr>
            <p:cNvSpPr/>
            <p:nvPr/>
          </p:nvSpPr>
          <p:spPr bwMode="gray">
            <a:xfrm rot="5400000">
              <a:off x="4035457" y="3191126"/>
              <a:ext cx="986281" cy="2632755"/>
            </a:xfrm>
            <a:prstGeom prst="roundRect">
              <a:avLst/>
            </a:prstGeom>
            <a:solidFill>
              <a:schemeClr val="accent5">
                <a:lumMod val="20000"/>
                <a:lumOff val="80000"/>
                <a:alpha val="63000"/>
              </a:schemeClr>
            </a:solidFill>
            <a:ln w="38100" algn="ctr">
              <a:solidFill>
                <a:schemeClr val="accent6"/>
              </a:solidFill>
              <a:miter lim="800000"/>
              <a:headEnd/>
              <a:tailEnd/>
            </a:ln>
          </p:spPr>
          <p:txBody>
            <a:bodyPr vert="vert270"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rPr>
                <a:t>Availability of funds for Capex</a:t>
              </a:r>
            </a:p>
          </p:txBody>
        </p:sp>
        <p:sp>
          <p:nvSpPr>
            <p:cNvPr id="88" name="Rounded Rectangle 58">
              <a:extLst>
                <a:ext uri="{FF2B5EF4-FFF2-40B4-BE49-F238E27FC236}">
                  <a16:creationId xmlns:a16="http://schemas.microsoft.com/office/drawing/2014/main" id="{5B10C8DD-F14D-40A4-BB1D-BB14230E53CA}"/>
                </a:ext>
              </a:extLst>
            </p:cNvPr>
            <p:cNvSpPr/>
            <p:nvPr/>
          </p:nvSpPr>
          <p:spPr bwMode="gray">
            <a:xfrm rot="5400000">
              <a:off x="6958144" y="3178325"/>
              <a:ext cx="986281" cy="2632755"/>
            </a:xfrm>
            <a:prstGeom prst="roundRect">
              <a:avLst/>
            </a:prstGeom>
            <a:solidFill>
              <a:schemeClr val="accent5">
                <a:lumMod val="20000"/>
                <a:lumOff val="80000"/>
                <a:alpha val="63000"/>
              </a:schemeClr>
            </a:solidFill>
            <a:ln w="38100" algn="ctr">
              <a:solidFill>
                <a:schemeClr val="accent6"/>
              </a:solidFill>
              <a:miter lim="800000"/>
              <a:headEnd/>
              <a:tailEnd/>
            </a:ln>
          </p:spPr>
          <p:txBody>
            <a:bodyPr vert="vert270"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rPr>
                <a:t>Improved Project Management with timely completion and optimized costs</a:t>
              </a:r>
            </a:p>
          </p:txBody>
        </p:sp>
        <p:sp>
          <p:nvSpPr>
            <p:cNvPr id="89" name="Rounded Rectangle 58">
              <a:extLst>
                <a:ext uri="{FF2B5EF4-FFF2-40B4-BE49-F238E27FC236}">
                  <a16:creationId xmlns:a16="http://schemas.microsoft.com/office/drawing/2014/main" id="{E351D90B-1F81-465E-9E5D-166A4FE189FE}"/>
                </a:ext>
              </a:extLst>
            </p:cNvPr>
            <p:cNvSpPr/>
            <p:nvPr/>
          </p:nvSpPr>
          <p:spPr bwMode="gray">
            <a:xfrm rot="5400000">
              <a:off x="9880831" y="3178325"/>
              <a:ext cx="986281" cy="2632755"/>
            </a:xfrm>
            <a:prstGeom prst="roundRect">
              <a:avLst/>
            </a:prstGeom>
            <a:solidFill>
              <a:schemeClr val="accent5">
                <a:lumMod val="20000"/>
                <a:lumOff val="80000"/>
                <a:alpha val="63000"/>
              </a:schemeClr>
            </a:solidFill>
            <a:ln w="38100" algn="ctr">
              <a:solidFill>
                <a:schemeClr val="accent6"/>
              </a:solidFill>
              <a:miter lim="800000"/>
              <a:headEnd/>
              <a:tailEnd/>
            </a:ln>
          </p:spPr>
          <p:txBody>
            <a:bodyPr vert="vert270"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rPr>
                <a:t>Improvement in asset life and lower replacement costs</a:t>
              </a:r>
            </a:p>
          </p:txBody>
        </p:sp>
        <p:sp>
          <p:nvSpPr>
            <p:cNvPr id="90" name="Rectangle: Rounded Corners 89">
              <a:extLst>
                <a:ext uri="{FF2B5EF4-FFF2-40B4-BE49-F238E27FC236}">
                  <a16:creationId xmlns:a16="http://schemas.microsoft.com/office/drawing/2014/main" id="{942D6124-02BB-407F-835B-05292959288E}"/>
                </a:ext>
              </a:extLst>
            </p:cNvPr>
            <p:cNvSpPr/>
            <p:nvPr/>
          </p:nvSpPr>
          <p:spPr bwMode="gray">
            <a:xfrm>
              <a:off x="649756" y="4014363"/>
              <a:ext cx="2162931" cy="1982398"/>
            </a:xfrm>
            <a:prstGeom prst="roundRect">
              <a:avLst/>
            </a:prstGeom>
            <a:solidFill>
              <a:schemeClr val="accent5">
                <a:lumMod val="20000"/>
                <a:lumOff val="80000"/>
              </a:schemeClr>
            </a:solidFill>
            <a:ln w="19050" algn="ctr">
              <a:noFill/>
              <a:miter lim="800000"/>
              <a:headEnd/>
              <a:tailEnd/>
            </a:ln>
          </p:spPr>
          <p:txBody>
            <a:bodyPr wrap="square" lIns="45720" tIns="88900" rIns="4572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Improved Stakeholder Satisfaction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(Government of Maldives)</a:t>
              </a:r>
            </a:p>
          </p:txBody>
        </p:sp>
        <p:sp>
          <p:nvSpPr>
            <p:cNvPr id="91" name="Rounded Rectangle 58">
              <a:extLst>
                <a:ext uri="{FF2B5EF4-FFF2-40B4-BE49-F238E27FC236}">
                  <a16:creationId xmlns:a16="http://schemas.microsoft.com/office/drawing/2014/main" id="{DEFF4887-B123-4DB8-B752-CE2919D44E56}"/>
                </a:ext>
              </a:extLst>
            </p:cNvPr>
            <p:cNvSpPr/>
            <p:nvPr/>
          </p:nvSpPr>
          <p:spPr bwMode="gray">
            <a:xfrm rot="5400000">
              <a:off x="7006424" y="4235522"/>
              <a:ext cx="889721" cy="2632755"/>
            </a:xfrm>
            <a:prstGeom prst="roundRect">
              <a:avLst/>
            </a:prstGeom>
            <a:solidFill>
              <a:schemeClr val="accent5">
                <a:lumMod val="20000"/>
                <a:lumOff val="80000"/>
                <a:alpha val="63000"/>
              </a:schemeClr>
            </a:solidFill>
            <a:ln w="38100" algn="ctr">
              <a:solidFill>
                <a:schemeClr val="accent6"/>
              </a:solidFill>
              <a:miter lim="800000"/>
              <a:headEnd/>
              <a:tailEnd/>
            </a:ln>
          </p:spPr>
          <p:txBody>
            <a:bodyPr vert="vert270" wrap="square" lIns="0" tIns="0" rIns="0" bIns="0" rtlCol="0" anchor="ct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endParaRPr>
            </a:p>
            <a:p>
              <a:pPr marL="0" marR="0" lvl="0" indent="0" algn="ctr"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Utsaah" panose="020B0604020202020204" pitchFamily="34" charset="0"/>
                </a:rPr>
                <a:t>Better Water and Sewerage Service Delivery</a:t>
              </a:r>
            </a:p>
          </p:txBody>
        </p:sp>
        <p:grpSp>
          <p:nvGrpSpPr>
            <p:cNvPr id="92" name="Group 380">
              <a:extLst>
                <a:ext uri="{FF2B5EF4-FFF2-40B4-BE49-F238E27FC236}">
                  <a16:creationId xmlns:a16="http://schemas.microsoft.com/office/drawing/2014/main" id="{84D38223-20B4-42E5-9371-5CDDA82415B4}"/>
                </a:ext>
              </a:extLst>
            </p:cNvPr>
            <p:cNvGrpSpPr>
              <a:grpSpLocks noChangeAspect="1"/>
            </p:cNvGrpSpPr>
            <p:nvPr/>
          </p:nvGrpSpPr>
          <p:grpSpPr bwMode="gray">
            <a:xfrm>
              <a:off x="4296227" y="4068632"/>
              <a:ext cx="457200" cy="457200"/>
              <a:chOff x="7362" y="1207"/>
              <a:chExt cx="340" cy="340"/>
            </a:xfrm>
            <a:solidFill>
              <a:srgbClr val="0D8390"/>
            </a:solidFill>
          </p:grpSpPr>
          <p:sp>
            <p:nvSpPr>
              <p:cNvPr id="102" name="Freeform 381">
                <a:extLst>
                  <a:ext uri="{FF2B5EF4-FFF2-40B4-BE49-F238E27FC236}">
                    <a16:creationId xmlns:a16="http://schemas.microsoft.com/office/drawing/2014/main" id="{0A004E68-2EB4-49FB-839F-42687C6892C0}"/>
                  </a:ext>
                </a:extLst>
              </p:cNvPr>
              <p:cNvSpPr>
                <a:spLocks noEditPoints="1"/>
              </p:cNvSpPr>
              <p:nvPr/>
            </p:nvSpPr>
            <p:spPr bwMode="gray">
              <a:xfrm>
                <a:off x="7482" y="1271"/>
                <a:ext cx="99" cy="219"/>
              </a:xfrm>
              <a:custGeom>
                <a:avLst/>
                <a:gdLst>
                  <a:gd name="T0" fmla="*/ 149 w 149"/>
                  <a:gd name="T1" fmla="*/ 224 h 330"/>
                  <a:gd name="T2" fmla="*/ 85 w 149"/>
                  <a:gd name="T3" fmla="*/ 150 h 330"/>
                  <a:gd name="T4" fmla="*/ 85 w 149"/>
                  <a:gd name="T5" fmla="*/ 44 h 330"/>
                  <a:gd name="T6" fmla="*/ 121 w 149"/>
                  <a:gd name="T7" fmla="*/ 69 h 330"/>
                  <a:gd name="T8" fmla="*/ 135 w 149"/>
                  <a:gd name="T9" fmla="*/ 73 h 330"/>
                  <a:gd name="T10" fmla="*/ 139 w 149"/>
                  <a:gd name="T11" fmla="*/ 58 h 330"/>
                  <a:gd name="T12" fmla="*/ 85 w 149"/>
                  <a:gd name="T13" fmla="*/ 22 h 330"/>
                  <a:gd name="T14" fmla="*/ 85 w 149"/>
                  <a:gd name="T15" fmla="*/ 10 h 330"/>
                  <a:gd name="T16" fmla="*/ 75 w 149"/>
                  <a:gd name="T17" fmla="*/ 0 h 330"/>
                  <a:gd name="T18" fmla="*/ 64 w 149"/>
                  <a:gd name="T19" fmla="*/ 10 h 330"/>
                  <a:gd name="T20" fmla="*/ 64 w 149"/>
                  <a:gd name="T21" fmla="*/ 22 h 330"/>
                  <a:gd name="T22" fmla="*/ 0 w 149"/>
                  <a:gd name="T23" fmla="*/ 96 h 330"/>
                  <a:gd name="T24" fmla="*/ 64 w 149"/>
                  <a:gd name="T25" fmla="*/ 169 h 330"/>
                  <a:gd name="T26" fmla="*/ 64 w 149"/>
                  <a:gd name="T27" fmla="*/ 276 h 330"/>
                  <a:gd name="T28" fmla="*/ 24 w 149"/>
                  <a:gd name="T29" fmla="*/ 241 h 330"/>
                  <a:gd name="T30" fmla="*/ 11 w 149"/>
                  <a:gd name="T31" fmla="*/ 235 h 330"/>
                  <a:gd name="T32" fmla="*/ 4 w 149"/>
                  <a:gd name="T33" fmla="*/ 249 h 330"/>
                  <a:gd name="T34" fmla="*/ 64 w 149"/>
                  <a:gd name="T35" fmla="*/ 297 h 330"/>
                  <a:gd name="T36" fmla="*/ 64 w 149"/>
                  <a:gd name="T37" fmla="*/ 320 h 330"/>
                  <a:gd name="T38" fmla="*/ 75 w 149"/>
                  <a:gd name="T39" fmla="*/ 330 h 330"/>
                  <a:gd name="T40" fmla="*/ 85 w 149"/>
                  <a:gd name="T41" fmla="*/ 320 h 330"/>
                  <a:gd name="T42" fmla="*/ 85 w 149"/>
                  <a:gd name="T43" fmla="*/ 297 h 330"/>
                  <a:gd name="T44" fmla="*/ 149 w 149"/>
                  <a:gd name="T45" fmla="*/ 224 h 330"/>
                  <a:gd name="T46" fmla="*/ 21 w 149"/>
                  <a:gd name="T47" fmla="*/ 96 h 330"/>
                  <a:gd name="T48" fmla="*/ 64 w 149"/>
                  <a:gd name="T49" fmla="*/ 43 h 330"/>
                  <a:gd name="T50" fmla="*/ 64 w 149"/>
                  <a:gd name="T51" fmla="*/ 148 h 330"/>
                  <a:gd name="T52" fmla="*/ 21 w 149"/>
                  <a:gd name="T53" fmla="*/ 96 h 330"/>
                  <a:gd name="T54" fmla="*/ 85 w 149"/>
                  <a:gd name="T55" fmla="*/ 276 h 330"/>
                  <a:gd name="T56" fmla="*/ 85 w 149"/>
                  <a:gd name="T57" fmla="*/ 171 h 330"/>
                  <a:gd name="T58" fmla="*/ 128 w 149"/>
                  <a:gd name="T59" fmla="*/ 224 h 330"/>
                  <a:gd name="T60" fmla="*/ 85 w 149"/>
                  <a:gd name="T61" fmla="*/ 276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49" h="330">
                    <a:moveTo>
                      <a:pt x="149" y="224"/>
                    </a:moveTo>
                    <a:cubicBezTo>
                      <a:pt x="149" y="186"/>
                      <a:pt x="121" y="155"/>
                      <a:pt x="85" y="150"/>
                    </a:cubicBezTo>
                    <a:cubicBezTo>
                      <a:pt x="85" y="44"/>
                      <a:pt x="85" y="44"/>
                      <a:pt x="85" y="44"/>
                    </a:cubicBezTo>
                    <a:cubicBezTo>
                      <a:pt x="100" y="47"/>
                      <a:pt x="113" y="56"/>
                      <a:pt x="121" y="69"/>
                    </a:cubicBezTo>
                    <a:cubicBezTo>
                      <a:pt x="124" y="74"/>
                      <a:pt x="130" y="76"/>
                      <a:pt x="135" y="73"/>
                    </a:cubicBezTo>
                    <a:cubicBezTo>
                      <a:pt x="141" y="70"/>
                      <a:pt x="142" y="63"/>
                      <a:pt x="139" y="58"/>
                    </a:cubicBezTo>
                    <a:cubicBezTo>
                      <a:pt x="128" y="38"/>
                      <a:pt x="108" y="25"/>
                      <a:pt x="85" y="22"/>
                    </a:cubicBezTo>
                    <a:cubicBezTo>
                      <a:pt x="85" y="10"/>
                      <a:pt x="85" y="10"/>
                      <a:pt x="85" y="10"/>
                    </a:cubicBezTo>
                    <a:cubicBezTo>
                      <a:pt x="85" y="4"/>
                      <a:pt x="81" y="0"/>
                      <a:pt x="75" y="0"/>
                    </a:cubicBezTo>
                    <a:cubicBezTo>
                      <a:pt x="69" y="0"/>
                      <a:pt x="64" y="4"/>
                      <a:pt x="64" y="10"/>
                    </a:cubicBezTo>
                    <a:cubicBezTo>
                      <a:pt x="64" y="22"/>
                      <a:pt x="64" y="22"/>
                      <a:pt x="64" y="22"/>
                    </a:cubicBezTo>
                    <a:cubicBezTo>
                      <a:pt x="28" y="27"/>
                      <a:pt x="0" y="58"/>
                      <a:pt x="0" y="96"/>
                    </a:cubicBezTo>
                    <a:cubicBezTo>
                      <a:pt x="0" y="133"/>
                      <a:pt x="28" y="164"/>
                      <a:pt x="64" y="169"/>
                    </a:cubicBezTo>
                    <a:cubicBezTo>
                      <a:pt x="64" y="276"/>
                      <a:pt x="64" y="276"/>
                      <a:pt x="64" y="276"/>
                    </a:cubicBezTo>
                    <a:cubicBezTo>
                      <a:pt x="46" y="272"/>
                      <a:pt x="31" y="259"/>
                      <a:pt x="24" y="241"/>
                    </a:cubicBezTo>
                    <a:cubicBezTo>
                      <a:pt x="22" y="236"/>
                      <a:pt x="16" y="233"/>
                      <a:pt x="11" y="235"/>
                    </a:cubicBezTo>
                    <a:cubicBezTo>
                      <a:pt x="5" y="237"/>
                      <a:pt x="2" y="243"/>
                      <a:pt x="4" y="249"/>
                    </a:cubicBezTo>
                    <a:cubicBezTo>
                      <a:pt x="14" y="275"/>
                      <a:pt x="37" y="294"/>
                      <a:pt x="64" y="297"/>
                    </a:cubicBezTo>
                    <a:cubicBezTo>
                      <a:pt x="64" y="320"/>
                      <a:pt x="64" y="320"/>
                      <a:pt x="64" y="320"/>
                    </a:cubicBezTo>
                    <a:cubicBezTo>
                      <a:pt x="64" y="326"/>
                      <a:pt x="69" y="330"/>
                      <a:pt x="75" y="330"/>
                    </a:cubicBezTo>
                    <a:cubicBezTo>
                      <a:pt x="81" y="330"/>
                      <a:pt x="85" y="326"/>
                      <a:pt x="85" y="320"/>
                    </a:cubicBezTo>
                    <a:cubicBezTo>
                      <a:pt x="85" y="297"/>
                      <a:pt x="85" y="297"/>
                      <a:pt x="85" y="297"/>
                    </a:cubicBezTo>
                    <a:cubicBezTo>
                      <a:pt x="121" y="292"/>
                      <a:pt x="149" y="261"/>
                      <a:pt x="149" y="224"/>
                    </a:cubicBezTo>
                    <a:close/>
                    <a:moveTo>
                      <a:pt x="21" y="96"/>
                    </a:moveTo>
                    <a:cubicBezTo>
                      <a:pt x="21" y="70"/>
                      <a:pt x="40" y="48"/>
                      <a:pt x="64" y="43"/>
                    </a:cubicBezTo>
                    <a:cubicBezTo>
                      <a:pt x="64" y="148"/>
                      <a:pt x="64" y="148"/>
                      <a:pt x="64" y="148"/>
                    </a:cubicBezTo>
                    <a:cubicBezTo>
                      <a:pt x="40" y="143"/>
                      <a:pt x="21" y="121"/>
                      <a:pt x="21" y="96"/>
                    </a:cubicBezTo>
                    <a:close/>
                    <a:moveTo>
                      <a:pt x="85" y="276"/>
                    </a:moveTo>
                    <a:cubicBezTo>
                      <a:pt x="85" y="171"/>
                      <a:pt x="85" y="171"/>
                      <a:pt x="85" y="171"/>
                    </a:cubicBezTo>
                    <a:cubicBezTo>
                      <a:pt x="110" y="176"/>
                      <a:pt x="128" y="198"/>
                      <a:pt x="128" y="224"/>
                    </a:cubicBezTo>
                    <a:cubicBezTo>
                      <a:pt x="128" y="249"/>
                      <a:pt x="110" y="271"/>
                      <a:pt x="85"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Freeform 382">
                <a:extLst>
                  <a:ext uri="{FF2B5EF4-FFF2-40B4-BE49-F238E27FC236}">
                    <a16:creationId xmlns:a16="http://schemas.microsoft.com/office/drawing/2014/main" id="{4C13BB05-375C-4409-B869-19884BDCBA40}"/>
                  </a:ext>
                </a:extLst>
              </p:cNvPr>
              <p:cNvSpPr>
                <a:spLocks noEditPoints="1"/>
              </p:cNvSpPr>
              <p:nvPr/>
            </p:nvSpPr>
            <p:spPr bwMode="gray">
              <a:xfrm>
                <a:off x="7362" y="120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3" name="Group 947">
              <a:extLst>
                <a:ext uri="{FF2B5EF4-FFF2-40B4-BE49-F238E27FC236}">
                  <a16:creationId xmlns:a16="http://schemas.microsoft.com/office/drawing/2014/main" id="{ACB2F1DE-70A6-4B63-90D4-48E2D1B1ED78}"/>
                </a:ext>
              </a:extLst>
            </p:cNvPr>
            <p:cNvGrpSpPr>
              <a:grpSpLocks noChangeAspect="1"/>
            </p:cNvGrpSpPr>
            <p:nvPr/>
          </p:nvGrpSpPr>
          <p:grpSpPr bwMode="auto">
            <a:xfrm>
              <a:off x="7231723" y="4041005"/>
              <a:ext cx="457200" cy="457200"/>
              <a:chOff x="1851" y="3960"/>
              <a:chExt cx="340" cy="340"/>
            </a:xfrm>
            <a:solidFill>
              <a:srgbClr val="0D8390"/>
            </a:solidFill>
          </p:grpSpPr>
          <p:sp>
            <p:nvSpPr>
              <p:cNvPr id="100" name="Freeform 948">
                <a:extLst>
                  <a:ext uri="{FF2B5EF4-FFF2-40B4-BE49-F238E27FC236}">
                    <a16:creationId xmlns:a16="http://schemas.microsoft.com/office/drawing/2014/main" id="{18CD323F-5F2C-498A-93C5-56386B7CA9E1}"/>
                  </a:ext>
                </a:extLst>
              </p:cNvPr>
              <p:cNvSpPr>
                <a:spLocks noEditPoints="1"/>
              </p:cNvSpPr>
              <p:nvPr/>
            </p:nvSpPr>
            <p:spPr bwMode="auto">
              <a:xfrm>
                <a:off x="1928" y="4023"/>
                <a:ext cx="164" cy="206"/>
              </a:xfrm>
              <a:custGeom>
                <a:avLst/>
                <a:gdLst>
                  <a:gd name="T0" fmla="*/ 229 w 247"/>
                  <a:gd name="T1" fmla="*/ 154 h 310"/>
                  <a:gd name="T2" fmla="*/ 246 w 247"/>
                  <a:gd name="T3" fmla="*/ 126 h 310"/>
                  <a:gd name="T4" fmla="*/ 228 w 247"/>
                  <a:gd name="T5" fmla="*/ 113 h 310"/>
                  <a:gd name="T6" fmla="*/ 234 w 247"/>
                  <a:gd name="T7" fmla="*/ 84 h 310"/>
                  <a:gd name="T8" fmla="*/ 208 w 247"/>
                  <a:gd name="T9" fmla="*/ 73 h 310"/>
                  <a:gd name="T10" fmla="*/ 212 w 247"/>
                  <a:gd name="T11" fmla="*/ 37 h 310"/>
                  <a:gd name="T12" fmla="*/ 165 w 247"/>
                  <a:gd name="T13" fmla="*/ 33 h 310"/>
                  <a:gd name="T14" fmla="*/ 114 w 247"/>
                  <a:gd name="T15" fmla="*/ 2 h 310"/>
                  <a:gd name="T16" fmla="*/ 108 w 247"/>
                  <a:gd name="T17" fmla="*/ 48 h 310"/>
                  <a:gd name="T18" fmla="*/ 2 w 247"/>
                  <a:gd name="T19" fmla="*/ 123 h 310"/>
                  <a:gd name="T20" fmla="*/ 36 w 247"/>
                  <a:gd name="T21" fmla="*/ 171 h 310"/>
                  <a:gd name="T22" fmla="*/ 115 w 247"/>
                  <a:gd name="T23" fmla="*/ 157 h 310"/>
                  <a:gd name="T24" fmla="*/ 66 w 247"/>
                  <a:gd name="T25" fmla="*/ 246 h 310"/>
                  <a:gd name="T26" fmla="*/ 44 w 247"/>
                  <a:gd name="T27" fmla="*/ 257 h 310"/>
                  <a:gd name="T28" fmla="*/ 54 w 247"/>
                  <a:gd name="T29" fmla="*/ 310 h 310"/>
                  <a:gd name="T30" fmla="*/ 236 w 247"/>
                  <a:gd name="T31" fmla="*/ 299 h 310"/>
                  <a:gd name="T32" fmla="*/ 225 w 247"/>
                  <a:gd name="T33" fmla="*/ 246 h 310"/>
                  <a:gd name="T34" fmla="*/ 214 w 247"/>
                  <a:gd name="T35" fmla="*/ 235 h 310"/>
                  <a:gd name="T36" fmla="*/ 234 w 247"/>
                  <a:gd name="T37" fmla="*/ 230 h 310"/>
                  <a:gd name="T38" fmla="*/ 220 w 247"/>
                  <a:gd name="T39" fmla="*/ 198 h 310"/>
                  <a:gd name="T40" fmla="*/ 246 w 247"/>
                  <a:gd name="T41" fmla="*/ 185 h 310"/>
                  <a:gd name="T42" fmla="*/ 214 w 247"/>
                  <a:gd name="T43" fmla="*/ 289 h 310"/>
                  <a:gd name="T44" fmla="*/ 65 w 247"/>
                  <a:gd name="T45" fmla="*/ 267 h 310"/>
                  <a:gd name="T46" fmla="*/ 214 w 247"/>
                  <a:gd name="T47" fmla="*/ 289 h 310"/>
                  <a:gd name="T48" fmla="*/ 218 w 247"/>
                  <a:gd name="T49" fmla="*/ 177 h 310"/>
                  <a:gd name="T50" fmla="*/ 194 w 247"/>
                  <a:gd name="T51" fmla="*/ 189 h 310"/>
                  <a:gd name="T52" fmla="*/ 205 w 247"/>
                  <a:gd name="T53" fmla="*/ 214 h 310"/>
                  <a:gd name="T54" fmla="*/ 193 w 247"/>
                  <a:gd name="T55" fmla="*/ 225 h 310"/>
                  <a:gd name="T56" fmla="*/ 87 w 247"/>
                  <a:gd name="T57" fmla="*/ 246 h 310"/>
                  <a:gd name="T58" fmla="*/ 136 w 247"/>
                  <a:gd name="T59" fmla="*/ 151 h 310"/>
                  <a:gd name="T60" fmla="*/ 105 w 247"/>
                  <a:gd name="T61" fmla="*/ 129 h 310"/>
                  <a:gd name="T62" fmla="*/ 26 w 247"/>
                  <a:gd name="T63" fmla="*/ 122 h 310"/>
                  <a:gd name="T64" fmla="*/ 129 w 247"/>
                  <a:gd name="T65" fmla="*/ 54 h 310"/>
                  <a:gd name="T66" fmla="*/ 155 w 247"/>
                  <a:gd name="T67" fmla="*/ 52 h 310"/>
                  <a:gd name="T68" fmla="*/ 190 w 247"/>
                  <a:gd name="T69" fmla="*/ 54 h 310"/>
                  <a:gd name="T70" fmla="*/ 192 w 247"/>
                  <a:gd name="T71" fmla="*/ 91 h 310"/>
                  <a:gd name="T72" fmla="*/ 204 w 247"/>
                  <a:gd name="T73" fmla="*/ 114 h 310"/>
                  <a:gd name="T74" fmla="*/ 219 w 247"/>
                  <a:gd name="T75" fmla="*/ 132 h 310"/>
                  <a:gd name="T76" fmla="*/ 207 w 247"/>
                  <a:gd name="T77" fmla="*/ 161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7" h="310">
                    <a:moveTo>
                      <a:pt x="244" y="176"/>
                    </a:moveTo>
                    <a:cubicBezTo>
                      <a:pt x="229" y="154"/>
                      <a:pt x="229" y="154"/>
                      <a:pt x="229" y="154"/>
                    </a:cubicBezTo>
                    <a:cubicBezTo>
                      <a:pt x="244" y="135"/>
                      <a:pt x="244" y="135"/>
                      <a:pt x="244" y="135"/>
                    </a:cubicBezTo>
                    <a:cubicBezTo>
                      <a:pt x="246" y="133"/>
                      <a:pt x="247" y="130"/>
                      <a:pt x="246" y="126"/>
                    </a:cubicBezTo>
                    <a:cubicBezTo>
                      <a:pt x="245" y="123"/>
                      <a:pt x="243" y="121"/>
                      <a:pt x="240" y="119"/>
                    </a:cubicBezTo>
                    <a:cubicBezTo>
                      <a:pt x="228" y="113"/>
                      <a:pt x="228" y="113"/>
                      <a:pt x="228" y="113"/>
                    </a:cubicBezTo>
                    <a:cubicBezTo>
                      <a:pt x="235" y="92"/>
                      <a:pt x="235" y="92"/>
                      <a:pt x="235" y="92"/>
                    </a:cubicBezTo>
                    <a:cubicBezTo>
                      <a:pt x="236" y="89"/>
                      <a:pt x="235" y="86"/>
                      <a:pt x="234" y="84"/>
                    </a:cubicBezTo>
                    <a:cubicBezTo>
                      <a:pt x="233" y="81"/>
                      <a:pt x="230" y="79"/>
                      <a:pt x="228" y="78"/>
                    </a:cubicBezTo>
                    <a:cubicBezTo>
                      <a:pt x="208" y="73"/>
                      <a:pt x="208" y="73"/>
                      <a:pt x="208" y="73"/>
                    </a:cubicBezTo>
                    <a:cubicBezTo>
                      <a:pt x="214" y="46"/>
                      <a:pt x="214" y="46"/>
                      <a:pt x="214" y="46"/>
                    </a:cubicBezTo>
                    <a:cubicBezTo>
                      <a:pt x="215" y="43"/>
                      <a:pt x="214" y="39"/>
                      <a:pt x="212" y="37"/>
                    </a:cubicBezTo>
                    <a:cubicBezTo>
                      <a:pt x="210" y="34"/>
                      <a:pt x="207" y="33"/>
                      <a:pt x="204" y="33"/>
                    </a:cubicBezTo>
                    <a:cubicBezTo>
                      <a:pt x="165" y="33"/>
                      <a:pt x="165" y="33"/>
                      <a:pt x="165" y="33"/>
                    </a:cubicBezTo>
                    <a:cubicBezTo>
                      <a:pt x="125" y="3"/>
                      <a:pt x="125" y="3"/>
                      <a:pt x="125" y="3"/>
                    </a:cubicBezTo>
                    <a:cubicBezTo>
                      <a:pt x="121" y="0"/>
                      <a:pt x="117" y="0"/>
                      <a:pt x="114" y="2"/>
                    </a:cubicBezTo>
                    <a:cubicBezTo>
                      <a:pt x="110" y="4"/>
                      <a:pt x="108" y="7"/>
                      <a:pt x="108" y="11"/>
                    </a:cubicBezTo>
                    <a:cubicBezTo>
                      <a:pt x="108" y="48"/>
                      <a:pt x="108" y="48"/>
                      <a:pt x="108" y="48"/>
                    </a:cubicBezTo>
                    <a:cubicBezTo>
                      <a:pt x="6" y="109"/>
                      <a:pt x="6" y="109"/>
                      <a:pt x="6" y="109"/>
                    </a:cubicBezTo>
                    <a:cubicBezTo>
                      <a:pt x="1" y="112"/>
                      <a:pt x="0" y="118"/>
                      <a:pt x="2" y="123"/>
                    </a:cubicBezTo>
                    <a:cubicBezTo>
                      <a:pt x="23" y="165"/>
                      <a:pt x="23" y="165"/>
                      <a:pt x="23" y="165"/>
                    </a:cubicBezTo>
                    <a:cubicBezTo>
                      <a:pt x="26" y="170"/>
                      <a:pt x="31" y="172"/>
                      <a:pt x="36" y="171"/>
                    </a:cubicBezTo>
                    <a:cubicBezTo>
                      <a:pt x="107" y="151"/>
                      <a:pt x="107" y="151"/>
                      <a:pt x="107" y="151"/>
                    </a:cubicBezTo>
                    <a:cubicBezTo>
                      <a:pt x="111" y="152"/>
                      <a:pt x="115" y="155"/>
                      <a:pt x="115" y="157"/>
                    </a:cubicBezTo>
                    <a:cubicBezTo>
                      <a:pt x="115" y="157"/>
                      <a:pt x="115" y="160"/>
                      <a:pt x="111" y="164"/>
                    </a:cubicBezTo>
                    <a:cubicBezTo>
                      <a:pt x="93" y="182"/>
                      <a:pt x="70" y="209"/>
                      <a:pt x="66" y="246"/>
                    </a:cubicBezTo>
                    <a:cubicBezTo>
                      <a:pt x="54" y="246"/>
                      <a:pt x="54" y="246"/>
                      <a:pt x="54" y="246"/>
                    </a:cubicBezTo>
                    <a:cubicBezTo>
                      <a:pt x="48" y="246"/>
                      <a:pt x="44" y="251"/>
                      <a:pt x="44" y="257"/>
                    </a:cubicBezTo>
                    <a:cubicBezTo>
                      <a:pt x="44" y="299"/>
                      <a:pt x="44" y="299"/>
                      <a:pt x="44" y="299"/>
                    </a:cubicBezTo>
                    <a:cubicBezTo>
                      <a:pt x="44" y="305"/>
                      <a:pt x="48" y="310"/>
                      <a:pt x="54" y="310"/>
                    </a:cubicBezTo>
                    <a:cubicBezTo>
                      <a:pt x="225" y="310"/>
                      <a:pt x="225" y="310"/>
                      <a:pt x="225" y="310"/>
                    </a:cubicBezTo>
                    <a:cubicBezTo>
                      <a:pt x="231" y="310"/>
                      <a:pt x="236" y="305"/>
                      <a:pt x="236" y="299"/>
                    </a:cubicBezTo>
                    <a:cubicBezTo>
                      <a:pt x="236" y="257"/>
                      <a:pt x="236" y="257"/>
                      <a:pt x="236" y="257"/>
                    </a:cubicBezTo>
                    <a:cubicBezTo>
                      <a:pt x="236" y="251"/>
                      <a:pt x="231" y="246"/>
                      <a:pt x="225" y="246"/>
                    </a:cubicBezTo>
                    <a:cubicBezTo>
                      <a:pt x="214" y="246"/>
                      <a:pt x="214" y="246"/>
                      <a:pt x="214" y="246"/>
                    </a:cubicBezTo>
                    <a:cubicBezTo>
                      <a:pt x="214" y="235"/>
                      <a:pt x="214" y="235"/>
                      <a:pt x="214" y="235"/>
                    </a:cubicBezTo>
                    <a:cubicBezTo>
                      <a:pt x="225" y="235"/>
                      <a:pt x="225" y="235"/>
                      <a:pt x="225" y="235"/>
                    </a:cubicBezTo>
                    <a:cubicBezTo>
                      <a:pt x="229" y="235"/>
                      <a:pt x="233" y="233"/>
                      <a:pt x="234" y="230"/>
                    </a:cubicBezTo>
                    <a:cubicBezTo>
                      <a:pt x="236" y="226"/>
                      <a:pt x="236" y="222"/>
                      <a:pt x="234" y="219"/>
                    </a:cubicBezTo>
                    <a:cubicBezTo>
                      <a:pt x="220" y="198"/>
                      <a:pt x="220" y="198"/>
                      <a:pt x="220" y="198"/>
                    </a:cubicBezTo>
                    <a:cubicBezTo>
                      <a:pt x="239" y="192"/>
                      <a:pt x="239" y="192"/>
                      <a:pt x="239" y="192"/>
                    </a:cubicBezTo>
                    <a:cubicBezTo>
                      <a:pt x="242" y="191"/>
                      <a:pt x="245" y="188"/>
                      <a:pt x="246" y="185"/>
                    </a:cubicBezTo>
                    <a:cubicBezTo>
                      <a:pt x="247" y="182"/>
                      <a:pt x="246" y="178"/>
                      <a:pt x="244" y="176"/>
                    </a:cubicBezTo>
                    <a:close/>
                    <a:moveTo>
                      <a:pt x="214" y="289"/>
                    </a:moveTo>
                    <a:cubicBezTo>
                      <a:pt x="65" y="289"/>
                      <a:pt x="65" y="289"/>
                      <a:pt x="65" y="289"/>
                    </a:cubicBezTo>
                    <a:cubicBezTo>
                      <a:pt x="65" y="267"/>
                      <a:pt x="65" y="267"/>
                      <a:pt x="65" y="267"/>
                    </a:cubicBezTo>
                    <a:cubicBezTo>
                      <a:pt x="214" y="267"/>
                      <a:pt x="214" y="267"/>
                      <a:pt x="214" y="267"/>
                    </a:cubicBezTo>
                    <a:lnTo>
                      <a:pt x="214" y="289"/>
                    </a:lnTo>
                    <a:close/>
                    <a:moveTo>
                      <a:pt x="207" y="161"/>
                    </a:moveTo>
                    <a:cubicBezTo>
                      <a:pt x="218" y="177"/>
                      <a:pt x="218" y="177"/>
                      <a:pt x="218" y="177"/>
                    </a:cubicBezTo>
                    <a:cubicBezTo>
                      <a:pt x="200" y="183"/>
                      <a:pt x="200" y="183"/>
                      <a:pt x="200" y="183"/>
                    </a:cubicBezTo>
                    <a:cubicBezTo>
                      <a:pt x="197" y="184"/>
                      <a:pt x="195" y="186"/>
                      <a:pt x="194" y="189"/>
                    </a:cubicBezTo>
                    <a:cubicBezTo>
                      <a:pt x="193" y="192"/>
                      <a:pt x="193" y="196"/>
                      <a:pt x="195" y="199"/>
                    </a:cubicBezTo>
                    <a:cubicBezTo>
                      <a:pt x="205" y="214"/>
                      <a:pt x="205" y="214"/>
                      <a:pt x="205" y="214"/>
                    </a:cubicBezTo>
                    <a:cubicBezTo>
                      <a:pt x="204" y="214"/>
                      <a:pt x="204" y="214"/>
                      <a:pt x="204" y="214"/>
                    </a:cubicBezTo>
                    <a:cubicBezTo>
                      <a:pt x="198" y="214"/>
                      <a:pt x="193" y="219"/>
                      <a:pt x="193" y="225"/>
                    </a:cubicBezTo>
                    <a:cubicBezTo>
                      <a:pt x="193" y="246"/>
                      <a:pt x="193" y="246"/>
                      <a:pt x="193" y="246"/>
                    </a:cubicBezTo>
                    <a:cubicBezTo>
                      <a:pt x="87" y="246"/>
                      <a:pt x="87" y="246"/>
                      <a:pt x="87" y="246"/>
                    </a:cubicBezTo>
                    <a:cubicBezTo>
                      <a:pt x="90" y="224"/>
                      <a:pt x="102" y="203"/>
                      <a:pt x="126" y="179"/>
                    </a:cubicBezTo>
                    <a:cubicBezTo>
                      <a:pt x="137" y="168"/>
                      <a:pt x="138" y="158"/>
                      <a:pt x="136" y="151"/>
                    </a:cubicBezTo>
                    <a:cubicBezTo>
                      <a:pt x="132" y="136"/>
                      <a:pt x="113" y="130"/>
                      <a:pt x="111" y="129"/>
                    </a:cubicBezTo>
                    <a:cubicBezTo>
                      <a:pt x="109" y="129"/>
                      <a:pt x="107" y="129"/>
                      <a:pt x="105" y="129"/>
                    </a:cubicBezTo>
                    <a:cubicBezTo>
                      <a:pt x="39" y="148"/>
                      <a:pt x="39" y="148"/>
                      <a:pt x="39" y="148"/>
                    </a:cubicBezTo>
                    <a:cubicBezTo>
                      <a:pt x="26" y="122"/>
                      <a:pt x="26" y="122"/>
                      <a:pt x="26" y="122"/>
                    </a:cubicBezTo>
                    <a:cubicBezTo>
                      <a:pt x="124" y="63"/>
                      <a:pt x="124" y="63"/>
                      <a:pt x="124" y="63"/>
                    </a:cubicBezTo>
                    <a:cubicBezTo>
                      <a:pt x="127" y="61"/>
                      <a:pt x="129" y="58"/>
                      <a:pt x="129" y="54"/>
                    </a:cubicBezTo>
                    <a:cubicBezTo>
                      <a:pt x="129" y="33"/>
                      <a:pt x="129" y="33"/>
                      <a:pt x="129" y="33"/>
                    </a:cubicBezTo>
                    <a:cubicBezTo>
                      <a:pt x="155" y="52"/>
                      <a:pt x="155" y="52"/>
                      <a:pt x="155" y="52"/>
                    </a:cubicBezTo>
                    <a:cubicBezTo>
                      <a:pt x="156" y="53"/>
                      <a:pt x="159" y="54"/>
                      <a:pt x="161" y="54"/>
                    </a:cubicBezTo>
                    <a:cubicBezTo>
                      <a:pt x="190" y="54"/>
                      <a:pt x="190" y="54"/>
                      <a:pt x="190" y="54"/>
                    </a:cubicBezTo>
                    <a:cubicBezTo>
                      <a:pt x="185" y="78"/>
                      <a:pt x="185" y="78"/>
                      <a:pt x="185" y="78"/>
                    </a:cubicBezTo>
                    <a:cubicBezTo>
                      <a:pt x="184" y="83"/>
                      <a:pt x="187" y="89"/>
                      <a:pt x="192" y="91"/>
                    </a:cubicBezTo>
                    <a:cubicBezTo>
                      <a:pt x="211" y="96"/>
                      <a:pt x="211" y="96"/>
                      <a:pt x="211" y="96"/>
                    </a:cubicBezTo>
                    <a:cubicBezTo>
                      <a:pt x="204" y="114"/>
                      <a:pt x="204" y="114"/>
                      <a:pt x="204" y="114"/>
                    </a:cubicBezTo>
                    <a:cubicBezTo>
                      <a:pt x="202" y="120"/>
                      <a:pt x="205" y="125"/>
                      <a:pt x="210" y="128"/>
                    </a:cubicBezTo>
                    <a:cubicBezTo>
                      <a:pt x="219" y="132"/>
                      <a:pt x="219" y="132"/>
                      <a:pt x="219" y="132"/>
                    </a:cubicBezTo>
                    <a:cubicBezTo>
                      <a:pt x="207" y="147"/>
                      <a:pt x="207" y="147"/>
                      <a:pt x="207" y="147"/>
                    </a:cubicBezTo>
                    <a:cubicBezTo>
                      <a:pt x="204" y="151"/>
                      <a:pt x="204" y="157"/>
                      <a:pt x="207" y="16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1" name="Freeform 949">
                <a:extLst>
                  <a:ext uri="{FF2B5EF4-FFF2-40B4-BE49-F238E27FC236}">
                    <a16:creationId xmlns:a16="http://schemas.microsoft.com/office/drawing/2014/main" id="{233E967A-AD4E-474A-B213-A2BB3640DAB9}"/>
                  </a:ext>
                </a:extLst>
              </p:cNvPr>
              <p:cNvSpPr>
                <a:spLocks noEditPoints="1"/>
              </p:cNvSpPr>
              <p:nvPr/>
            </p:nvSpPr>
            <p:spPr bwMode="auto">
              <a:xfrm>
                <a:off x="1851" y="396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94" name="Group 367">
              <a:extLst>
                <a:ext uri="{FF2B5EF4-FFF2-40B4-BE49-F238E27FC236}">
                  <a16:creationId xmlns:a16="http://schemas.microsoft.com/office/drawing/2014/main" id="{0F5F3182-6F7D-4ABC-B2E5-6EAEC616400F}"/>
                </a:ext>
              </a:extLst>
            </p:cNvPr>
            <p:cNvGrpSpPr>
              <a:grpSpLocks noChangeAspect="1"/>
            </p:cNvGrpSpPr>
            <p:nvPr/>
          </p:nvGrpSpPr>
          <p:grpSpPr bwMode="auto">
            <a:xfrm>
              <a:off x="10144174" y="4041005"/>
              <a:ext cx="455860" cy="457200"/>
              <a:chOff x="4383" y="2091"/>
              <a:chExt cx="340" cy="341"/>
            </a:xfrm>
            <a:solidFill>
              <a:srgbClr val="0D8390"/>
            </a:solidFill>
          </p:grpSpPr>
          <p:sp>
            <p:nvSpPr>
              <p:cNvPr id="98" name="Freeform 262">
                <a:extLst>
                  <a:ext uri="{FF2B5EF4-FFF2-40B4-BE49-F238E27FC236}">
                    <a16:creationId xmlns:a16="http://schemas.microsoft.com/office/drawing/2014/main" id="{EDF8CBC2-5743-42D5-B87E-C5E548FF02E6}"/>
                  </a:ext>
                </a:extLst>
              </p:cNvPr>
              <p:cNvSpPr>
                <a:spLocks noEditPoints="1"/>
              </p:cNvSpPr>
              <p:nvPr/>
            </p:nvSpPr>
            <p:spPr bwMode="auto">
              <a:xfrm>
                <a:off x="4445" y="2169"/>
                <a:ext cx="200" cy="170"/>
              </a:xfrm>
              <a:custGeom>
                <a:avLst/>
                <a:gdLst>
                  <a:gd name="T0" fmla="*/ 23 w 300"/>
                  <a:gd name="T1" fmla="*/ 245 h 256"/>
                  <a:gd name="T2" fmla="*/ 2 w 300"/>
                  <a:gd name="T3" fmla="*/ 245 h 256"/>
                  <a:gd name="T4" fmla="*/ 12 w 300"/>
                  <a:gd name="T5" fmla="*/ 213 h 256"/>
                  <a:gd name="T6" fmla="*/ 55 w 300"/>
                  <a:gd name="T7" fmla="*/ 192 h 256"/>
                  <a:gd name="T8" fmla="*/ 44 w 300"/>
                  <a:gd name="T9" fmla="*/ 245 h 256"/>
                  <a:gd name="T10" fmla="*/ 66 w 300"/>
                  <a:gd name="T11" fmla="*/ 245 h 256"/>
                  <a:gd name="T12" fmla="*/ 55 w 300"/>
                  <a:gd name="T13" fmla="*/ 192 h 256"/>
                  <a:gd name="T14" fmla="*/ 87 w 300"/>
                  <a:gd name="T15" fmla="*/ 171 h 256"/>
                  <a:gd name="T16" fmla="*/ 98 w 300"/>
                  <a:gd name="T17" fmla="*/ 256 h 256"/>
                  <a:gd name="T18" fmla="*/ 108 w 300"/>
                  <a:gd name="T19" fmla="*/ 171 h 256"/>
                  <a:gd name="T20" fmla="*/ 140 w 300"/>
                  <a:gd name="T21" fmla="*/ 149 h 256"/>
                  <a:gd name="T22" fmla="*/ 130 w 300"/>
                  <a:gd name="T23" fmla="*/ 245 h 256"/>
                  <a:gd name="T24" fmla="*/ 151 w 300"/>
                  <a:gd name="T25" fmla="*/ 245 h 256"/>
                  <a:gd name="T26" fmla="*/ 140 w 300"/>
                  <a:gd name="T27" fmla="*/ 149 h 256"/>
                  <a:gd name="T28" fmla="*/ 172 w 300"/>
                  <a:gd name="T29" fmla="*/ 160 h 256"/>
                  <a:gd name="T30" fmla="*/ 183 w 300"/>
                  <a:gd name="T31" fmla="*/ 256 h 256"/>
                  <a:gd name="T32" fmla="*/ 194 w 300"/>
                  <a:gd name="T33" fmla="*/ 160 h 256"/>
                  <a:gd name="T34" fmla="*/ 226 w 300"/>
                  <a:gd name="T35" fmla="*/ 117 h 256"/>
                  <a:gd name="T36" fmla="*/ 215 w 300"/>
                  <a:gd name="T37" fmla="*/ 245 h 256"/>
                  <a:gd name="T38" fmla="*/ 236 w 300"/>
                  <a:gd name="T39" fmla="*/ 245 h 256"/>
                  <a:gd name="T40" fmla="*/ 226 w 300"/>
                  <a:gd name="T41" fmla="*/ 117 h 256"/>
                  <a:gd name="T42" fmla="*/ 258 w 300"/>
                  <a:gd name="T43" fmla="*/ 96 h 256"/>
                  <a:gd name="T44" fmla="*/ 268 w 300"/>
                  <a:gd name="T45" fmla="*/ 256 h 256"/>
                  <a:gd name="T46" fmla="*/ 279 w 300"/>
                  <a:gd name="T47" fmla="*/ 96 h 256"/>
                  <a:gd name="T48" fmla="*/ 300 w 300"/>
                  <a:gd name="T49" fmla="*/ 7 h 256"/>
                  <a:gd name="T50" fmla="*/ 290 w 300"/>
                  <a:gd name="T51" fmla="*/ 0 h 256"/>
                  <a:gd name="T52" fmla="*/ 236 w 300"/>
                  <a:gd name="T53" fmla="*/ 11 h 256"/>
                  <a:gd name="T54" fmla="*/ 264 w 300"/>
                  <a:gd name="T55" fmla="*/ 21 h 256"/>
                  <a:gd name="T56" fmla="*/ 98 w 300"/>
                  <a:gd name="T57" fmla="*/ 107 h 256"/>
                  <a:gd name="T58" fmla="*/ 6 w 300"/>
                  <a:gd name="T59" fmla="*/ 173 h 256"/>
                  <a:gd name="T60" fmla="*/ 12 w 300"/>
                  <a:gd name="T61" fmla="*/ 192 h 256"/>
                  <a:gd name="T62" fmla="*/ 101 w 300"/>
                  <a:gd name="T63" fmla="*/ 128 h 256"/>
                  <a:gd name="T64" fmla="*/ 191 w 300"/>
                  <a:gd name="T65" fmla="*/ 125 h 256"/>
                  <a:gd name="T66" fmla="*/ 279 w 300"/>
                  <a:gd name="T67" fmla="*/ 53 h 256"/>
                  <a:gd name="T68" fmla="*/ 300 w 300"/>
                  <a:gd name="T69" fmla="*/ 53 h 256"/>
                  <a:gd name="T70" fmla="*/ 300 w 300"/>
                  <a:gd name="T71" fmla="*/ 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0" h="256">
                    <a:moveTo>
                      <a:pt x="23" y="224"/>
                    </a:moveTo>
                    <a:cubicBezTo>
                      <a:pt x="23" y="245"/>
                      <a:pt x="23" y="245"/>
                      <a:pt x="23" y="245"/>
                    </a:cubicBezTo>
                    <a:cubicBezTo>
                      <a:pt x="23" y="251"/>
                      <a:pt x="18" y="256"/>
                      <a:pt x="12" y="256"/>
                    </a:cubicBezTo>
                    <a:cubicBezTo>
                      <a:pt x="6" y="256"/>
                      <a:pt x="2" y="251"/>
                      <a:pt x="2" y="245"/>
                    </a:cubicBezTo>
                    <a:cubicBezTo>
                      <a:pt x="2" y="224"/>
                      <a:pt x="2" y="224"/>
                      <a:pt x="2" y="224"/>
                    </a:cubicBezTo>
                    <a:cubicBezTo>
                      <a:pt x="2" y="218"/>
                      <a:pt x="6" y="213"/>
                      <a:pt x="12" y="213"/>
                    </a:cubicBezTo>
                    <a:cubicBezTo>
                      <a:pt x="18" y="213"/>
                      <a:pt x="23" y="218"/>
                      <a:pt x="23" y="224"/>
                    </a:cubicBezTo>
                    <a:close/>
                    <a:moveTo>
                      <a:pt x="55" y="192"/>
                    </a:moveTo>
                    <a:cubicBezTo>
                      <a:pt x="49" y="192"/>
                      <a:pt x="44" y="197"/>
                      <a:pt x="44" y="203"/>
                    </a:cubicBezTo>
                    <a:cubicBezTo>
                      <a:pt x="44" y="245"/>
                      <a:pt x="44" y="245"/>
                      <a:pt x="44" y="245"/>
                    </a:cubicBezTo>
                    <a:cubicBezTo>
                      <a:pt x="44" y="251"/>
                      <a:pt x="49" y="256"/>
                      <a:pt x="55" y="256"/>
                    </a:cubicBezTo>
                    <a:cubicBezTo>
                      <a:pt x="61" y="256"/>
                      <a:pt x="66" y="251"/>
                      <a:pt x="66" y="245"/>
                    </a:cubicBezTo>
                    <a:cubicBezTo>
                      <a:pt x="66" y="203"/>
                      <a:pt x="66" y="203"/>
                      <a:pt x="66" y="203"/>
                    </a:cubicBezTo>
                    <a:cubicBezTo>
                      <a:pt x="66" y="197"/>
                      <a:pt x="61" y="192"/>
                      <a:pt x="55" y="192"/>
                    </a:cubicBezTo>
                    <a:close/>
                    <a:moveTo>
                      <a:pt x="98" y="160"/>
                    </a:moveTo>
                    <a:cubicBezTo>
                      <a:pt x="92" y="160"/>
                      <a:pt x="87" y="165"/>
                      <a:pt x="87" y="171"/>
                    </a:cubicBezTo>
                    <a:cubicBezTo>
                      <a:pt x="87" y="245"/>
                      <a:pt x="87" y="245"/>
                      <a:pt x="87" y="245"/>
                    </a:cubicBezTo>
                    <a:cubicBezTo>
                      <a:pt x="87" y="251"/>
                      <a:pt x="92" y="256"/>
                      <a:pt x="98" y="256"/>
                    </a:cubicBezTo>
                    <a:cubicBezTo>
                      <a:pt x="104" y="256"/>
                      <a:pt x="108" y="251"/>
                      <a:pt x="108" y="245"/>
                    </a:cubicBezTo>
                    <a:cubicBezTo>
                      <a:pt x="108" y="171"/>
                      <a:pt x="108" y="171"/>
                      <a:pt x="108" y="171"/>
                    </a:cubicBezTo>
                    <a:cubicBezTo>
                      <a:pt x="108" y="165"/>
                      <a:pt x="104" y="160"/>
                      <a:pt x="98" y="160"/>
                    </a:cubicBezTo>
                    <a:close/>
                    <a:moveTo>
                      <a:pt x="140" y="149"/>
                    </a:moveTo>
                    <a:cubicBezTo>
                      <a:pt x="134" y="149"/>
                      <a:pt x="130" y="154"/>
                      <a:pt x="130" y="160"/>
                    </a:cubicBezTo>
                    <a:cubicBezTo>
                      <a:pt x="130" y="245"/>
                      <a:pt x="130" y="245"/>
                      <a:pt x="130" y="245"/>
                    </a:cubicBezTo>
                    <a:cubicBezTo>
                      <a:pt x="130" y="251"/>
                      <a:pt x="134" y="256"/>
                      <a:pt x="140" y="256"/>
                    </a:cubicBezTo>
                    <a:cubicBezTo>
                      <a:pt x="146" y="256"/>
                      <a:pt x="151" y="251"/>
                      <a:pt x="151" y="245"/>
                    </a:cubicBezTo>
                    <a:cubicBezTo>
                      <a:pt x="151" y="160"/>
                      <a:pt x="151" y="160"/>
                      <a:pt x="151" y="160"/>
                    </a:cubicBezTo>
                    <a:cubicBezTo>
                      <a:pt x="151" y="154"/>
                      <a:pt x="146" y="149"/>
                      <a:pt x="140" y="149"/>
                    </a:cubicBezTo>
                    <a:close/>
                    <a:moveTo>
                      <a:pt x="183" y="149"/>
                    </a:moveTo>
                    <a:cubicBezTo>
                      <a:pt x="177" y="149"/>
                      <a:pt x="172" y="154"/>
                      <a:pt x="172" y="160"/>
                    </a:cubicBezTo>
                    <a:cubicBezTo>
                      <a:pt x="172" y="245"/>
                      <a:pt x="172" y="245"/>
                      <a:pt x="172" y="245"/>
                    </a:cubicBezTo>
                    <a:cubicBezTo>
                      <a:pt x="172" y="251"/>
                      <a:pt x="177" y="256"/>
                      <a:pt x="183" y="256"/>
                    </a:cubicBezTo>
                    <a:cubicBezTo>
                      <a:pt x="189" y="256"/>
                      <a:pt x="194" y="251"/>
                      <a:pt x="194" y="245"/>
                    </a:cubicBezTo>
                    <a:cubicBezTo>
                      <a:pt x="194" y="160"/>
                      <a:pt x="194" y="160"/>
                      <a:pt x="194" y="160"/>
                    </a:cubicBezTo>
                    <a:cubicBezTo>
                      <a:pt x="194" y="154"/>
                      <a:pt x="189" y="149"/>
                      <a:pt x="183" y="149"/>
                    </a:cubicBezTo>
                    <a:close/>
                    <a:moveTo>
                      <a:pt x="226" y="117"/>
                    </a:moveTo>
                    <a:cubicBezTo>
                      <a:pt x="220" y="117"/>
                      <a:pt x="215" y="122"/>
                      <a:pt x="215" y="128"/>
                    </a:cubicBezTo>
                    <a:cubicBezTo>
                      <a:pt x="215" y="245"/>
                      <a:pt x="215" y="245"/>
                      <a:pt x="215" y="245"/>
                    </a:cubicBezTo>
                    <a:cubicBezTo>
                      <a:pt x="215" y="251"/>
                      <a:pt x="220" y="256"/>
                      <a:pt x="226" y="256"/>
                    </a:cubicBezTo>
                    <a:cubicBezTo>
                      <a:pt x="232" y="256"/>
                      <a:pt x="236" y="251"/>
                      <a:pt x="236" y="245"/>
                    </a:cubicBezTo>
                    <a:cubicBezTo>
                      <a:pt x="236" y="128"/>
                      <a:pt x="236" y="128"/>
                      <a:pt x="236" y="128"/>
                    </a:cubicBezTo>
                    <a:cubicBezTo>
                      <a:pt x="236" y="122"/>
                      <a:pt x="232" y="117"/>
                      <a:pt x="226" y="117"/>
                    </a:cubicBezTo>
                    <a:close/>
                    <a:moveTo>
                      <a:pt x="268" y="85"/>
                    </a:moveTo>
                    <a:cubicBezTo>
                      <a:pt x="262" y="85"/>
                      <a:pt x="258" y="90"/>
                      <a:pt x="258" y="96"/>
                    </a:cubicBezTo>
                    <a:cubicBezTo>
                      <a:pt x="258" y="245"/>
                      <a:pt x="258" y="245"/>
                      <a:pt x="258" y="245"/>
                    </a:cubicBezTo>
                    <a:cubicBezTo>
                      <a:pt x="258" y="251"/>
                      <a:pt x="262" y="256"/>
                      <a:pt x="268" y="256"/>
                    </a:cubicBezTo>
                    <a:cubicBezTo>
                      <a:pt x="274" y="256"/>
                      <a:pt x="279" y="251"/>
                      <a:pt x="279" y="245"/>
                    </a:cubicBezTo>
                    <a:cubicBezTo>
                      <a:pt x="279" y="96"/>
                      <a:pt x="279" y="96"/>
                      <a:pt x="279" y="96"/>
                    </a:cubicBezTo>
                    <a:cubicBezTo>
                      <a:pt x="279" y="90"/>
                      <a:pt x="274" y="85"/>
                      <a:pt x="268" y="85"/>
                    </a:cubicBezTo>
                    <a:close/>
                    <a:moveTo>
                      <a:pt x="300" y="7"/>
                    </a:moveTo>
                    <a:cubicBezTo>
                      <a:pt x="298" y="4"/>
                      <a:pt x="296" y="2"/>
                      <a:pt x="294" y="1"/>
                    </a:cubicBezTo>
                    <a:cubicBezTo>
                      <a:pt x="292" y="0"/>
                      <a:pt x="291" y="0"/>
                      <a:pt x="290" y="0"/>
                    </a:cubicBezTo>
                    <a:cubicBezTo>
                      <a:pt x="247" y="0"/>
                      <a:pt x="247" y="0"/>
                      <a:pt x="247" y="0"/>
                    </a:cubicBezTo>
                    <a:cubicBezTo>
                      <a:pt x="241" y="0"/>
                      <a:pt x="236" y="5"/>
                      <a:pt x="236" y="11"/>
                    </a:cubicBezTo>
                    <a:cubicBezTo>
                      <a:pt x="236" y="17"/>
                      <a:pt x="241" y="21"/>
                      <a:pt x="247" y="21"/>
                    </a:cubicBezTo>
                    <a:cubicBezTo>
                      <a:pt x="264" y="21"/>
                      <a:pt x="264" y="21"/>
                      <a:pt x="264" y="21"/>
                    </a:cubicBezTo>
                    <a:cubicBezTo>
                      <a:pt x="179" y="107"/>
                      <a:pt x="179" y="107"/>
                      <a:pt x="179" y="107"/>
                    </a:cubicBezTo>
                    <a:cubicBezTo>
                      <a:pt x="98" y="107"/>
                      <a:pt x="98" y="107"/>
                      <a:pt x="98" y="107"/>
                    </a:cubicBezTo>
                    <a:cubicBezTo>
                      <a:pt x="95" y="107"/>
                      <a:pt x="93" y="107"/>
                      <a:pt x="91" y="109"/>
                    </a:cubicBezTo>
                    <a:cubicBezTo>
                      <a:pt x="6" y="173"/>
                      <a:pt x="6" y="173"/>
                      <a:pt x="6" y="173"/>
                    </a:cubicBezTo>
                    <a:cubicBezTo>
                      <a:pt x="1" y="176"/>
                      <a:pt x="0" y="183"/>
                      <a:pt x="4" y="188"/>
                    </a:cubicBezTo>
                    <a:cubicBezTo>
                      <a:pt x="6" y="191"/>
                      <a:pt x="9" y="192"/>
                      <a:pt x="12" y="192"/>
                    </a:cubicBezTo>
                    <a:cubicBezTo>
                      <a:pt x="15" y="192"/>
                      <a:pt x="17" y="191"/>
                      <a:pt x="19" y="190"/>
                    </a:cubicBezTo>
                    <a:cubicBezTo>
                      <a:pt x="101" y="128"/>
                      <a:pt x="101" y="128"/>
                      <a:pt x="101" y="128"/>
                    </a:cubicBezTo>
                    <a:cubicBezTo>
                      <a:pt x="183" y="128"/>
                      <a:pt x="183" y="128"/>
                      <a:pt x="183" y="128"/>
                    </a:cubicBezTo>
                    <a:cubicBezTo>
                      <a:pt x="186" y="128"/>
                      <a:pt x="189" y="127"/>
                      <a:pt x="191" y="125"/>
                    </a:cubicBezTo>
                    <a:cubicBezTo>
                      <a:pt x="279" y="36"/>
                      <a:pt x="279" y="36"/>
                      <a:pt x="279" y="36"/>
                    </a:cubicBezTo>
                    <a:cubicBezTo>
                      <a:pt x="279" y="53"/>
                      <a:pt x="279" y="53"/>
                      <a:pt x="279" y="53"/>
                    </a:cubicBezTo>
                    <a:cubicBezTo>
                      <a:pt x="279" y="59"/>
                      <a:pt x="284" y="64"/>
                      <a:pt x="290" y="64"/>
                    </a:cubicBezTo>
                    <a:cubicBezTo>
                      <a:pt x="296" y="64"/>
                      <a:pt x="300" y="59"/>
                      <a:pt x="300" y="53"/>
                    </a:cubicBezTo>
                    <a:cubicBezTo>
                      <a:pt x="300" y="11"/>
                      <a:pt x="300" y="11"/>
                      <a:pt x="300" y="11"/>
                    </a:cubicBezTo>
                    <a:cubicBezTo>
                      <a:pt x="300" y="9"/>
                      <a:pt x="300" y="8"/>
                      <a:pt x="300" y="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99" name="Freeform 263">
                <a:extLst>
                  <a:ext uri="{FF2B5EF4-FFF2-40B4-BE49-F238E27FC236}">
                    <a16:creationId xmlns:a16="http://schemas.microsoft.com/office/drawing/2014/main" id="{E84E8BD4-0E1B-4C87-8964-7B4E72BA22EA}"/>
                  </a:ext>
                </a:extLst>
              </p:cNvPr>
              <p:cNvSpPr>
                <a:spLocks noEditPoints="1"/>
              </p:cNvSpPr>
              <p:nvPr/>
            </p:nvSpPr>
            <p:spPr bwMode="auto">
              <a:xfrm>
                <a:off x="4383" y="2091"/>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5" name="Group 427">
              <a:extLst>
                <a:ext uri="{FF2B5EF4-FFF2-40B4-BE49-F238E27FC236}">
                  <a16:creationId xmlns:a16="http://schemas.microsoft.com/office/drawing/2014/main" id="{865D6D57-CD45-429D-951F-6FB07D9CA82A}"/>
                </a:ext>
              </a:extLst>
            </p:cNvPr>
            <p:cNvGrpSpPr>
              <a:grpSpLocks noChangeAspect="1"/>
            </p:cNvGrpSpPr>
            <p:nvPr/>
          </p:nvGrpSpPr>
          <p:grpSpPr bwMode="auto">
            <a:xfrm>
              <a:off x="7231723" y="5136805"/>
              <a:ext cx="457200" cy="457200"/>
              <a:chOff x="3492" y="1604"/>
              <a:chExt cx="340" cy="340"/>
            </a:xfrm>
            <a:solidFill>
              <a:srgbClr val="0D8390"/>
            </a:solidFill>
          </p:grpSpPr>
          <p:sp>
            <p:nvSpPr>
              <p:cNvPr id="96" name="Freeform 428">
                <a:extLst>
                  <a:ext uri="{FF2B5EF4-FFF2-40B4-BE49-F238E27FC236}">
                    <a16:creationId xmlns:a16="http://schemas.microsoft.com/office/drawing/2014/main" id="{FF81A65D-203D-4653-93B8-2B307A743D40}"/>
                  </a:ext>
                </a:extLst>
              </p:cNvPr>
              <p:cNvSpPr>
                <a:spLocks noEditPoints="1"/>
              </p:cNvSpPr>
              <p:nvPr/>
            </p:nvSpPr>
            <p:spPr bwMode="auto">
              <a:xfrm>
                <a:off x="3586" y="1668"/>
                <a:ext cx="151" cy="212"/>
              </a:xfrm>
              <a:custGeom>
                <a:avLst/>
                <a:gdLst>
                  <a:gd name="T0" fmla="*/ 114 w 227"/>
                  <a:gd name="T1" fmla="*/ 320 h 320"/>
                  <a:gd name="T2" fmla="*/ 102 w 227"/>
                  <a:gd name="T3" fmla="*/ 319 h 320"/>
                  <a:gd name="T4" fmla="*/ 0 w 227"/>
                  <a:gd name="T5" fmla="*/ 209 h 320"/>
                  <a:gd name="T6" fmla="*/ 9 w 227"/>
                  <a:gd name="T7" fmla="*/ 167 h 320"/>
                  <a:gd name="T8" fmla="*/ 22 w 227"/>
                  <a:gd name="T9" fmla="*/ 145 h 320"/>
                  <a:gd name="T10" fmla="*/ 29 w 227"/>
                  <a:gd name="T11" fmla="*/ 136 h 320"/>
                  <a:gd name="T12" fmla="*/ 62 w 227"/>
                  <a:gd name="T13" fmla="*/ 93 h 320"/>
                  <a:gd name="T14" fmla="*/ 92 w 227"/>
                  <a:gd name="T15" fmla="*/ 20 h 320"/>
                  <a:gd name="T16" fmla="*/ 112 w 227"/>
                  <a:gd name="T17" fmla="*/ 0 h 320"/>
                  <a:gd name="T18" fmla="*/ 113 w 227"/>
                  <a:gd name="T19" fmla="*/ 0 h 320"/>
                  <a:gd name="T20" fmla="*/ 115 w 227"/>
                  <a:gd name="T21" fmla="*/ 0 h 320"/>
                  <a:gd name="T22" fmla="*/ 116 w 227"/>
                  <a:gd name="T23" fmla="*/ 0 h 320"/>
                  <a:gd name="T24" fmla="*/ 135 w 227"/>
                  <a:gd name="T25" fmla="*/ 20 h 320"/>
                  <a:gd name="T26" fmla="*/ 165 w 227"/>
                  <a:gd name="T27" fmla="*/ 93 h 320"/>
                  <a:gd name="T28" fmla="*/ 199 w 227"/>
                  <a:gd name="T29" fmla="*/ 136 h 320"/>
                  <a:gd name="T30" fmla="*/ 206 w 227"/>
                  <a:gd name="T31" fmla="*/ 145 h 320"/>
                  <a:gd name="T32" fmla="*/ 219 w 227"/>
                  <a:gd name="T33" fmla="*/ 167 h 320"/>
                  <a:gd name="T34" fmla="*/ 227 w 227"/>
                  <a:gd name="T35" fmla="*/ 209 h 320"/>
                  <a:gd name="T36" fmla="*/ 125 w 227"/>
                  <a:gd name="T37" fmla="*/ 319 h 320"/>
                  <a:gd name="T38" fmla="*/ 114 w 227"/>
                  <a:gd name="T39" fmla="*/ 320 h 320"/>
                  <a:gd name="T40" fmla="*/ 113 w 227"/>
                  <a:gd name="T41" fmla="*/ 21 h 320"/>
                  <a:gd name="T42" fmla="*/ 113 w 227"/>
                  <a:gd name="T43" fmla="*/ 22 h 320"/>
                  <a:gd name="T44" fmla="*/ 80 w 227"/>
                  <a:gd name="T45" fmla="*/ 105 h 320"/>
                  <a:gd name="T46" fmla="*/ 45 w 227"/>
                  <a:gd name="T47" fmla="*/ 150 h 320"/>
                  <a:gd name="T48" fmla="*/ 39 w 227"/>
                  <a:gd name="T49" fmla="*/ 158 h 320"/>
                  <a:gd name="T50" fmla="*/ 28 w 227"/>
                  <a:gd name="T51" fmla="*/ 175 h 320"/>
                  <a:gd name="T52" fmla="*/ 21 w 227"/>
                  <a:gd name="T53" fmla="*/ 209 h 320"/>
                  <a:gd name="T54" fmla="*/ 104 w 227"/>
                  <a:gd name="T55" fmla="*/ 298 h 320"/>
                  <a:gd name="T56" fmla="*/ 114 w 227"/>
                  <a:gd name="T57" fmla="*/ 298 h 320"/>
                  <a:gd name="T58" fmla="*/ 123 w 227"/>
                  <a:gd name="T59" fmla="*/ 298 h 320"/>
                  <a:gd name="T60" fmla="*/ 206 w 227"/>
                  <a:gd name="T61" fmla="*/ 209 h 320"/>
                  <a:gd name="T62" fmla="*/ 199 w 227"/>
                  <a:gd name="T63" fmla="*/ 175 h 320"/>
                  <a:gd name="T64" fmla="*/ 189 w 227"/>
                  <a:gd name="T65" fmla="*/ 158 h 320"/>
                  <a:gd name="T66" fmla="*/ 182 w 227"/>
                  <a:gd name="T67" fmla="*/ 150 h 320"/>
                  <a:gd name="T68" fmla="*/ 148 w 227"/>
                  <a:gd name="T69" fmla="*/ 105 h 320"/>
                  <a:gd name="T70" fmla="*/ 114 w 227"/>
                  <a:gd name="T71" fmla="*/ 22 h 320"/>
                  <a:gd name="T72" fmla="*/ 114 w 227"/>
                  <a:gd name="T73" fmla="*/ 21 h 320"/>
                  <a:gd name="T74" fmla="*/ 113 w 227"/>
                  <a:gd name="T75" fmla="*/ 21 h 320"/>
                  <a:gd name="T76" fmla="*/ 118 w 227"/>
                  <a:gd name="T77" fmla="*/ 21 h 320"/>
                  <a:gd name="T78" fmla="*/ 118 w 227"/>
                  <a:gd name="T79" fmla="*/ 2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27" h="320">
                    <a:moveTo>
                      <a:pt x="114" y="320"/>
                    </a:moveTo>
                    <a:cubicBezTo>
                      <a:pt x="107" y="320"/>
                      <a:pt x="102" y="319"/>
                      <a:pt x="102" y="319"/>
                    </a:cubicBezTo>
                    <a:cubicBezTo>
                      <a:pt x="44" y="313"/>
                      <a:pt x="0" y="266"/>
                      <a:pt x="0" y="209"/>
                    </a:cubicBezTo>
                    <a:cubicBezTo>
                      <a:pt x="0" y="194"/>
                      <a:pt x="6" y="174"/>
                      <a:pt x="9" y="167"/>
                    </a:cubicBezTo>
                    <a:cubicBezTo>
                      <a:pt x="11" y="160"/>
                      <a:pt x="16" y="153"/>
                      <a:pt x="22" y="145"/>
                    </a:cubicBezTo>
                    <a:cubicBezTo>
                      <a:pt x="23" y="143"/>
                      <a:pt x="25" y="140"/>
                      <a:pt x="29" y="136"/>
                    </a:cubicBezTo>
                    <a:cubicBezTo>
                      <a:pt x="37" y="126"/>
                      <a:pt x="50" y="110"/>
                      <a:pt x="62" y="93"/>
                    </a:cubicBezTo>
                    <a:cubicBezTo>
                      <a:pt x="74" y="75"/>
                      <a:pt x="88" y="47"/>
                      <a:pt x="92" y="20"/>
                    </a:cubicBezTo>
                    <a:cubicBezTo>
                      <a:pt x="92" y="8"/>
                      <a:pt x="101" y="0"/>
                      <a:pt x="112" y="0"/>
                    </a:cubicBezTo>
                    <a:cubicBezTo>
                      <a:pt x="112" y="0"/>
                      <a:pt x="112" y="0"/>
                      <a:pt x="113" y="0"/>
                    </a:cubicBezTo>
                    <a:cubicBezTo>
                      <a:pt x="113" y="0"/>
                      <a:pt x="114" y="0"/>
                      <a:pt x="115" y="0"/>
                    </a:cubicBezTo>
                    <a:cubicBezTo>
                      <a:pt x="115" y="0"/>
                      <a:pt x="115" y="0"/>
                      <a:pt x="116" y="0"/>
                    </a:cubicBezTo>
                    <a:cubicBezTo>
                      <a:pt x="127" y="0"/>
                      <a:pt x="135" y="8"/>
                      <a:pt x="135" y="20"/>
                    </a:cubicBezTo>
                    <a:cubicBezTo>
                      <a:pt x="139" y="47"/>
                      <a:pt x="154" y="75"/>
                      <a:pt x="165" y="93"/>
                    </a:cubicBezTo>
                    <a:cubicBezTo>
                      <a:pt x="177" y="110"/>
                      <a:pt x="191" y="126"/>
                      <a:pt x="199" y="136"/>
                    </a:cubicBezTo>
                    <a:cubicBezTo>
                      <a:pt x="202" y="140"/>
                      <a:pt x="204" y="143"/>
                      <a:pt x="206" y="145"/>
                    </a:cubicBezTo>
                    <a:cubicBezTo>
                      <a:pt x="212" y="153"/>
                      <a:pt x="216" y="160"/>
                      <a:pt x="219" y="167"/>
                    </a:cubicBezTo>
                    <a:cubicBezTo>
                      <a:pt x="222" y="174"/>
                      <a:pt x="227" y="194"/>
                      <a:pt x="227" y="209"/>
                    </a:cubicBezTo>
                    <a:cubicBezTo>
                      <a:pt x="227" y="266"/>
                      <a:pt x="184" y="313"/>
                      <a:pt x="125" y="319"/>
                    </a:cubicBezTo>
                    <a:cubicBezTo>
                      <a:pt x="125" y="319"/>
                      <a:pt x="120" y="320"/>
                      <a:pt x="114" y="320"/>
                    </a:cubicBezTo>
                    <a:close/>
                    <a:moveTo>
                      <a:pt x="113" y="21"/>
                    </a:moveTo>
                    <a:cubicBezTo>
                      <a:pt x="113" y="22"/>
                      <a:pt x="113" y="22"/>
                      <a:pt x="113" y="22"/>
                    </a:cubicBezTo>
                    <a:cubicBezTo>
                      <a:pt x="109" y="54"/>
                      <a:pt x="93" y="84"/>
                      <a:pt x="80" y="105"/>
                    </a:cubicBezTo>
                    <a:cubicBezTo>
                      <a:pt x="67" y="123"/>
                      <a:pt x="53" y="140"/>
                      <a:pt x="45" y="150"/>
                    </a:cubicBezTo>
                    <a:cubicBezTo>
                      <a:pt x="42" y="153"/>
                      <a:pt x="40" y="156"/>
                      <a:pt x="39" y="158"/>
                    </a:cubicBezTo>
                    <a:cubicBezTo>
                      <a:pt x="34" y="164"/>
                      <a:pt x="30" y="170"/>
                      <a:pt x="28" y="175"/>
                    </a:cubicBezTo>
                    <a:cubicBezTo>
                      <a:pt x="26" y="181"/>
                      <a:pt x="21" y="198"/>
                      <a:pt x="21" y="209"/>
                    </a:cubicBezTo>
                    <a:cubicBezTo>
                      <a:pt x="21" y="255"/>
                      <a:pt x="57" y="293"/>
                      <a:pt x="104" y="298"/>
                    </a:cubicBezTo>
                    <a:cubicBezTo>
                      <a:pt x="104" y="298"/>
                      <a:pt x="109" y="298"/>
                      <a:pt x="114" y="298"/>
                    </a:cubicBezTo>
                    <a:cubicBezTo>
                      <a:pt x="119" y="298"/>
                      <a:pt x="123" y="298"/>
                      <a:pt x="123" y="298"/>
                    </a:cubicBezTo>
                    <a:cubicBezTo>
                      <a:pt x="171" y="293"/>
                      <a:pt x="206" y="255"/>
                      <a:pt x="206" y="209"/>
                    </a:cubicBezTo>
                    <a:cubicBezTo>
                      <a:pt x="206" y="198"/>
                      <a:pt x="201" y="181"/>
                      <a:pt x="199" y="175"/>
                    </a:cubicBezTo>
                    <a:cubicBezTo>
                      <a:pt x="197" y="170"/>
                      <a:pt x="193" y="164"/>
                      <a:pt x="189" y="158"/>
                    </a:cubicBezTo>
                    <a:cubicBezTo>
                      <a:pt x="187" y="156"/>
                      <a:pt x="185" y="153"/>
                      <a:pt x="182" y="150"/>
                    </a:cubicBezTo>
                    <a:cubicBezTo>
                      <a:pt x="174" y="140"/>
                      <a:pt x="160" y="123"/>
                      <a:pt x="148" y="105"/>
                    </a:cubicBezTo>
                    <a:cubicBezTo>
                      <a:pt x="134" y="84"/>
                      <a:pt x="118" y="54"/>
                      <a:pt x="114" y="22"/>
                    </a:cubicBezTo>
                    <a:cubicBezTo>
                      <a:pt x="114" y="22"/>
                      <a:pt x="114" y="22"/>
                      <a:pt x="114" y="21"/>
                    </a:cubicBezTo>
                    <a:cubicBezTo>
                      <a:pt x="114" y="21"/>
                      <a:pt x="114" y="21"/>
                      <a:pt x="113" y="21"/>
                    </a:cubicBezTo>
                    <a:close/>
                    <a:moveTo>
                      <a:pt x="118" y="21"/>
                    </a:moveTo>
                    <a:cubicBezTo>
                      <a:pt x="118" y="21"/>
                      <a:pt x="118" y="21"/>
                      <a:pt x="118" y="2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97" name="Freeform 429">
                <a:extLst>
                  <a:ext uri="{FF2B5EF4-FFF2-40B4-BE49-F238E27FC236}">
                    <a16:creationId xmlns:a16="http://schemas.microsoft.com/office/drawing/2014/main" id="{D256E733-A4E7-4563-9486-3BD3965655CD}"/>
                  </a:ext>
                </a:extLst>
              </p:cNvPr>
              <p:cNvSpPr>
                <a:spLocks noEditPoints="1"/>
              </p:cNvSpPr>
              <p:nvPr/>
            </p:nvSpPr>
            <p:spPr bwMode="auto">
              <a:xfrm>
                <a:off x="3492" y="160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grpSp>
    </p:spTree>
    <p:extLst>
      <p:ext uri="{BB962C8B-B14F-4D97-AF65-F5344CB8AC3E}">
        <p14:creationId xmlns:p14="http://schemas.microsoft.com/office/powerpoint/2010/main" val="103151272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680" y="1440"/>
          <a:ext cx="1440" cy="1440"/>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680" y="1440"/>
                        <a:ext cx="1440" cy="1440"/>
                      </a:xfrm>
                      <a:prstGeom prst="rect">
                        <a:avLst/>
                      </a:prstGeom>
                    </p:spPr>
                  </p:pic>
                </p:oleObj>
              </mc:Fallback>
            </mc:AlternateContent>
          </a:graphicData>
        </a:graphic>
      </p:graphicFrame>
      <p:grpSp>
        <p:nvGrpSpPr>
          <p:cNvPr id="33" name="Group 32"/>
          <p:cNvGrpSpPr/>
          <p:nvPr/>
        </p:nvGrpSpPr>
        <p:grpSpPr>
          <a:xfrm>
            <a:off x="240" y="5282635"/>
            <a:ext cx="12191518" cy="1057096"/>
            <a:chOff x="0" y="5314915"/>
            <a:chExt cx="13444535" cy="1676400"/>
          </a:xfrm>
        </p:grpSpPr>
        <p:sp>
          <p:nvSpPr>
            <p:cNvPr id="34" name="Hexagon 33"/>
            <p:cNvSpPr/>
            <p:nvPr/>
          </p:nvSpPr>
          <p:spPr bwMode="gray">
            <a:xfrm>
              <a:off x="2234089" y="5314915"/>
              <a:ext cx="8976360" cy="1676400"/>
            </a:xfrm>
            <a:prstGeom prst="hexagon">
              <a:avLst/>
            </a:prstGeom>
            <a:gradFill>
              <a:gsLst>
                <a:gs pos="0">
                  <a:schemeClr val="accent1">
                    <a:alpha val="95000"/>
                  </a:schemeClr>
                </a:gs>
                <a:gs pos="100000">
                  <a:srgbClr val="0097A9">
                    <a:alpha val="60000"/>
                  </a:srgbClr>
                </a:gs>
              </a:gsLst>
              <a:lin ang="0" scaled="0"/>
            </a:grad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35" name="Group 34"/>
            <p:cNvGrpSpPr/>
            <p:nvPr/>
          </p:nvGrpSpPr>
          <p:grpSpPr>
            <a:xfrm>
              <a:off x="10903266" y="5513021"/>
              <a:ext cx="2541269" cy="1280188"/>
              <a:chOff x="10903266" y="5513021"/>
              <a:chExt cx="2541269" cy="1280188"/>
            </a:xfrm>
          </p:grpSpPr>
          <p:sp>
            <p:nvSpPr>
              <p:cNvPr id="43" name="Chevron 42"/>
              <p:cNvSpPr/>
              <p:nvPr/>
            </p:nvSpPr>
            <p:spPr bwMode="gray">
              <a:xfrm rot="10800000" flipH="1">
                <a:off x="10903266" y="5513021"/>
                <a:ext cx="457201" cy="1280188"/>
              </a:xfrm>
              <a:prstGeom prst="chevron">
                <a:avLst>
                  <a:gd name="adj" fmla="val 70202"/>
                </a:avLst>
              </a:prstGeom>
              <a:solidFill>
                <a:schemeClr val="accent5">
                  <a:alpha val="80000"/>
                </a:schemeClr>
              </a:solid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44" name="Group 43"/>
              <p:cNvGrpSpPr/>
              <p:nvPr/>
            </p:nvGrpSpPr>
            <p:grpSpPr>
              <a:xfrm>
                <a:off x="11301887" y="6041668"/>
                <a:ext cx="2142648" cy="227052"/>
                <a:chOff x="11338560" y="6041668"/>
                <a:chExt cx="2047717" cy="227052"/>
              </a:xfrm>
              <a:solidFill>
                <a:schemeClr val="accent5">
                  <a:alpha val="80000"/>
                </a:schemeClr>
              </a:solidFill>
            </p:grpSpPr>
            <p:sp>
              <p:nvSpPr>
                <p:cNvPr id="45" name="Rectangle 44"/>
                <p:cNvSpPr/>
                <p:nvPr/>
              </p:nvSpPr>
              <p:spPr bwMode="gray">
                <a:xfrm>
                  <a:off x="11390019" y="6041669"/>
                  <a:ext cx="1996258" cy="227051"/>
                </a:xfrm>
                <a:prstGeom prst="rect">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46" name="Group 45"/>
                <p:cNvGrpSpPr/>
                <p:nvPr/>
              </p:nvGrpSpPr>
              <p:grpSpPr>
                <a:xfrm>
                  <a:off x="11338560" y="6041668"/>
                  <a:ext cx="51458" cy="227052"/>
                  <a:chOff x="11778615" y="5998513"/>
                  <a:chExt cx="116958" cy="357524"/>
                </a:xfrm>
                <a:grpFill/>
              </p:grpSpPr>
              <p:sp>
                <p:nvSpPr>
                  <p:cNvPr id="47" name="Right Triangle 46"/>
                  <p:cNvSpPr/>
                  <p:nvPr/>
                </p:nvSpPr>
                <p:spPr bwMode="gray">
                  <a:xfrm rot="10800000" flipV="1">
                    <a:off x="11778615" y="6173078"/>
                    <a:ext cx="116958" cy="182959"/>
                  </a:xfrm>
                  <a:prstGeom prst="rtTriangle">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sp>
                <p:nvSpPr>
                  <p:cNvPr id="48" name="Right Triangle 47"/>
                  <p:cNvSpPr/>
                  <p:nvPr/>
                </p:nvSpPr>
                <p:spPr bwMode="gray">
                  <a:xfrm rot="10800000">
                    <a:off x="11778615" y="5998513"/>
                    <a:ext cx="116958" cy="174565"/>
                  </a:xfrm>
                  <a:prstGeom prst="rtTriangle">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grpSp>
        </p:grpSp>
        <p:grpSp>
          <p:nvGrpSpPr>
            <p:cNvPr id="36" name="Group 35"/>
            <p:cNvGrpSpPr/>
            <p:nvPr/>
          </p:nvGrpSpPr>
          <p:grpSpPr>
            <a:xfrm flipH="1">
              <a:off x="0" y="5513021"/>
              <a:ext cx="2541269" cy="1280188"/>
              <a:chOff x="10903266" y="5513021"/>
              <a:chExt cx="2541269" cy="1280188"/>
            </a:xfrm>
            <a:solidFill>
              <a:schemeClr val="accent1">
                <a:alpha val="80000"/>
              </a:schemeClr>
            </a:solidFill>
          </p:grpSpPr>
          <p:sp>
            <p:nvSpPr>
              <p:cNvPr id="37" name="Chevron 36"/>
              <p:cNvSpPr/>
              <p:nvPr/>
            </p:nvSpPr>
            <p:spPr bwMode="gray">
              <a:xfrm rot="10800000" flipH="1">
                <a:off x="10903266" y="5513021"/>
                <a:ext cx="457201" cy="1280188"/>
              </a:xfrm>
              <a:prstGeom prst="chevron">
                <a:avLst>
                  <a:gd name="adj" fmla="val 70202"/>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38" name="Group 37"/>
              <p:cNvGrpSpPr/>
              <p:nvPr/>
            </p:nvGrpSpPr>
            <p:grpSpPr>
              <a:xfrm>
                <a:off x="11301887" y="6041668"/>
                <a:ext cx="2142648" cy="227052"/>
                <a:chOff x="11338560" y="6041668"/>
                <a:chExt cx="2047717" cy="227052"/>
              </a:xfrm>
              <a:grpFill/>
            </p:grpSpPr>
            <p:sp>
              <p:nvSpPr>
                <p:cNvPr id="39" name="Rectangle 38"/>
                <p:cNvSpPr/>
                <p:nvPr/>
              </p:nvSpPr>
              <p:spPr bwMode="gray">
                <a:xfrm>
                  <a:off x="11390019" y="6041669"/>
                  <a:ext cx="1996258" cy="227051"/>
                </a:xfrm>
                <a:prstGeom prst="rect">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nvGrpSpPr>
                <p:cNvPr id="40" name="Group 39"/>
                <p:cNvGrpSpPr/>
                <p:nvPr/>
              </p:nvGrpSpPr>
              <p:grpSpPr>
                <a:xfrm>
                  <a:off x="11338560" y="6041668"/>
                  <a:ext cx="51458" cy="227052"/>
                  <a:chOff x="11778615" y="5998513"/>
                  <a:chExt cx="116958" cy="357524"/>
                </a:xfrm>
                <a:grpFill/>
              </p:grpSpPr>
              <p:sp>
                <p:nvSpPr>
                  <p:cNvPr id="41" name="Right Triangle 40"/>
                  <p:cNvSpPr/>
                  <p:nvPr/>
                </p:nvSpPr>
                <p:spPr bwMode="gray">
                  <a:xfrm rot="10800000" flipV="1">
                    <a:off x="11778615" y="6173078"/>
                    <a:ext cx="116958" cy="182959"/>
                  </a:xfrm>
                  <a:prstGeom prst="rtTriangle">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sp>
                <p:nvSpPr>
                  <p:cNvPr id="42" name="Right Triangle 41"/>
                  <p:cNvSpPr/>
                  <p:nvPr/>
                </p:nvSpPr>
                <p:spPr bwMode="gray">
                  <a:xfrm rot="10800000">
                    <a:off x="11778615" y="5998513"/>
                    <a:ext cx="116958" cy="174565"/>
                  </a:xfrm>
                  <a:prstGeom prst="rtTriangle">
                    <a:avLst/>
                  </a:prstGeom>
                  <a:grpFill/>
                  <a:ln w="19050" algn="ctr">
                    <a:noFill/>
                    <a:miter lim="800000"/>
                    <a:headEnd/>
                    <a:tailEnd/>
                  </a:ln>
                </p:spPr>
                <p:txBody>
                  <a:bodyPr wrap="square" lIns="80615" tIns="80615" rIns="80615" bIns="80615" rtlCol="0" anchor="ctr"/>
                  <a:lstStyle/>
                  <a:p>
                    <a:pPr marL="0" marR="0" lvl="0" indent="0" algn="ctr" defTabSz="945677" rtl="0" eaLnBrk="1" fontAlgn="auto" latinLnBrk="0" hangingPunct="1">
                      <a:lnSpc>
                        <a:spcPct val="106000"/>
                      </a:lnSpc>
                      <a:spcBef>
                        <a:spcPts val="0"/>
                      </a:spcBef>
                      <a:spcAft>
                        <a:spcPts val="0"/>
                      </a:spcAft>
                      <a:buClrTx/>
                      <a:buSzTx/>
                      <a:buFontTx/>
                      <a:buNone/>
                      <a:tabLst/>
                      <a:defRPr/>
                    </a:pPr>
                    <a:endParaRPr kumimoji="0" lang="en-IN" sz="1451" b="1" i="0" u="none" strike="noStrike" kern="1200" cap="none" spc="0" normalizeH="0" baseline="0" noProof="0" dirty="0">
                      <a:ln>
                        <a:noFill/>
                      </a:ln>
                      <a:solidFill>
                        <a:prstClr val="white"/>
                      </a:solidFill>
                      <a:effectLst/>
                      <a:uLnTx/>
                      <a:uFillTx/>
                      <a:latin typeface="Verdana"/>
                      <a:ea typeface="+mn-ea"/>
                      <a:cs typeface="+mn-cs"/>
                    </a:endParaRPr>
                  </a:p>
                </p:txBody>
              </p:sp>
            </p:grpSp>
          </p:grpSp>
        </p:grpSp>
      </p:grpSp>
      <p:sp>
        <p:nvSpPr>
          <p:cNvPr id="49" name="Text Placeholder 12"/>
          <p:cNvSpPr>
            <a:spLocks noGrp="1"/>
          </p:cNvSpPr>
          <p:nvPr>
            <p:ph type="body" sz="quarter" idx="4294967295"/>
          </p:nvPr>
        </p:nvSpPr>
        <p:spPr>
          <a:xfrm>
            <a:off x="2030408" y="5598406"/>
            <a:ext cx="8139771" cy="498083"/>
          </a:xfrm>
          <a:prstGeom prst="rect">
            <a:avLst/>
          </a:prstGeom>
        </p:spPr>
        <p:txBody>
          <a:bodyPr/>
          <a:lstStyle/>
          <a:p>
            <a:pPr algn="ctr"/>
            <a:r>
              <a:rPr lang="en-US" sz="2176" b="1" dirty="0"/>
              <a:t>Cost Analysis</a:t>
            </a:r>
          </a:p>
        </p:txBody>
      </p:sp>
    </p:spTree>
    <p:extLst>
      <p:ext uri="{BB962C8B-B14F-4D97-AF65-F5344CB8AC3E}">
        <p14:creationId xmlns:p14="http://schemas.microsoft.com/office/powerpoint/2010/main" val="382261931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extLst>
              <p:ext uri="{D42A27DB-BD31-4B8C-83A1-F6EECF244321}">
                <p14:modId xmlns:p14="http://schemas.microsoft.com/office/powerpoint/2010/main" val="3526780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We have considered the ERP implementation model to cover the Core ERP modules as well as a few Non-ERP software and OT Tools with the entire implementation to be done on an on-premise model</a:t>
            </a:r>
            <a:endParaRPr lang="en-IN" b="1" dirty="0"/>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Considerations for ERP Cost Assessment</a:t>
            </a:r>
            <a:endParaRPr lang="en-GB" dirty="0"/>
          </a:p>
        </p:txBody>
      </p:sp>
      <p:sp>
        <p:nvSpPr>
          <p:cNvPr id="27" name="Rectangle 26" hidden="1">
            <a:extLst>
              <a:ext uri="{FF2B5EF4-FFF2-40B4-BE49-F238E27FC236}">
                <a16:creationId xmlns:a16="http://schemas.microsoft.com/office/drawing/2014/main" id="{0C424A78-685D-4AD2-9957-F532F86BEC0D}"/>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5" name="Rectangle: Rounded Corners 4">
            <a:extLst>
              <a:ext uri="{FF2B5EF4-FFF2-40B4-BE49-F238E27FC236}">
                <a16:creationId xmlns:a16="http://schemas.microsoft.com/office/drawing/2014/main" id="{BBBC3E75-6A4E-44E7-8816-B9492D87F91C}"/>
              </a:ext>
            </a:extLst>
          </p:cNvPr>
          <p:cNvSpPr/>
          <p:nvPr/>
        </p:nvSpPr>
        <p:spPr bwMode="gray">
          <a:xfrm>
            <a:off x="501650" y="1518249"/>
            <a:ext cx="1318524" cy="3637210"/>
          </a:xfrm>
          <a:prstGeom prst="roundRect">
            <a:avLst/>
          </a:prstGeom>
          <a:solidFill>
            <a:schemeClr val="accent3"/>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400" b="1" dirty="0">
                <a:solidFill>
                  <a:schemeClr val="bg1"/>
                </a:solidFill>
              </a:rPr>
              <a:t>ERP Modules / OT Tools covered for costing</a:t>
            </a:r>
          </a:p>
        </p:txBody>
      </p:sp>
      <p:sp>
        <p:nvSpPr>
          <p:cNvPr id="125" name="Rectangle 124">
            <a:extLst>
              <a:ext uri="{FF2B5EF4-FFF2-40B4-BE49-F238E27FC236}">
                <a16:creationId xmlns:a16="http://schemas.microsoft.com/office/drawing/2014/main" id="{FA3DA9AF-EB0A-4AD2-B4A9-F2AAB10EBE69}"/>
              </a:ext>
            </a:extLst>
          </p:cNvPr>
          <p:cNvSpPr/>
          <p:nvPr/>
        </p:nvSpPr>
        <p:spPr bwMode="gray">
          <a:xfrm>
            <a:off x="1975449" y="1518248"/>
            <a:ext cx="9714901" cy="3637211"/>
          </a:xfrm>
          <a:prstGeom prst="rect">
            <a:avLst/>
          </a:prstGeom>
          <a:noFill/>
          <a:ln w="19050" algn="ctr">
            <a:solidFill>
              <a:schemeClr val="accent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0" name="Oval 9">
            <a:extLst>
              <a:ext uri="{FF2B5EF4-FFF2-40B4-BE49-F238E27FC236}">
                <a16:creationId xmlns:a16="http://schemas.microsoft.com/office/drawing/2014/main" id="{7C7F3382-E94A-42E0-B64C-6E975B96AB4F}"/>
              </a:ext>
            </a:extLst>
          </p:cNvPr>
          <p:cNvSpPr/>
          <p:nvPr/>
        </p:nvSpPr>
        <p:spPr bwMode="gray">
          <a:xfrm>
            <a:off x="2111433" y="1702540"/>
            <a:ext cx="390229" cy="3902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1</a:t>
            </a:r>
          </a:p>
        </p:txBody>
      </p:sp>
      <p:sp>
        <p:nvSpPr>
          <p:cNvPr id="126" name="Oval 125">
            <a:extLst>
              <a:ext uri="{FF2B5EF4-FFF2-40B4-BE49-F238E27FC236}">
                <a16:creationId xmlns:a16="http://schemas.microsoft.com/office/drawing/2014/main" id="{4E69D6A0-F24D-4CC3-B5C7-62030AEA44E8}"/>
              </a:ext>
            </a:extLst>
          </p:cNvPr>
          <p:cNvSpPr/>
          <p:nvPr/>
        </p:nvSpPr>
        <p:spPr bwMode="gray">
          <a:xfrm>
            <a:off x="2111431" y="2288601"/>
            <a:ext cx="390229" cy="3902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2</a:t>
            </a:r>
          </a:p>
        </p:txBody>
      </p:sp>
      <p:sp>
        <p:nvSpPr>
          <p:cNvPr id="127" name="Oval 126">
            <a:extLst>
              <a:ext uri="{FF2B5EF4-FFF2-40B4-BE49-F238E27FC236}">
                <a16:creationId xmlns:a16="http://schemas.microsoft.com/office/drawing/2014/main" id="{5FC5521E-B06A-4196-84B8-9E8550063BC7}"/>
              </a:ext>
            </a:extLst>
          </p:cNvPr>
          <p:cNvSpPr/>
          <p:nvPr/>
        </p:nvSpPr>
        <p:spPr bwMode="gray">
          <a:xfrm>
            <a:off x="2111430" y="2874662"/>
            <a:ext cx="390229" cy="3902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3</a:t>
            </a:r>
          </a:p>
        </p:txBody>
      </p:sp>
      <p:sp>
        <p:nvSpPr>
          <p:cNvPr id="131" name="Oval 130">
            <a:extLst>
              <a:ext uri="{FF2B5EF4-FFF2-40B4-BE49-F238E27FC236}">
                <a16:creationId xmlns:a16="http://schemas.microsoft.com/office/drawing/2014/main" id="{2C220245-AC85-4337-96CA-E6EF37C3763F}"/>
              </a:ext>
            </a:extLst>
          </p:cNvPr>
          <p:cNvSpPr/>
          <p:nvPr/>
        </p:nvSpPr>
        <p:spPr bwMode="gray">
          <a:xfrm>
            <a:off x="2111430" y="3460723"/>
            <a:ext cx="390229" cy="3902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4</a:t>
            </a:r>
          </a:p>
        </p:txBody>
      </p:sp>
      <p:sp>
        <p:nvSpPr>
          <p:cNvPr id="132" name="Oval 131">
            <a:extLst>
              <a:ext uri="{FF2B5EF4-FFF2-40B4-BE49-F238E27FC236}">
                <a16:creationId xmlns:a16="http://schemas.microsoft.com/office/drawing/2014/main" id="{1730A299-87AE-4020-9817-23ADED0CFB27}"/>
              </a:ext>
            </a:extLst>
          </p:cNvPr>
          <p:cNvSpPr/>
          <p:nvPr/>
        </p:nvSpPr>
        <p:spPr bwMode="gray">
          <a:xfrm>
            <a:off x="2111430" y="4046784"/>
            <a:ext cx="390229" cy="3902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5</a:t>
            </a:r>
          </a:p>
        </p:txBody>
      </p:sp>
      <p:sp>
        <p:nvSpPr>
          <p:cNvPr id="133" name="Oval 132">
            <a:extLst>
              <a:ext uri="{FF2B5EF4-FFF2-40B4-BE49-F238E27FC236}">
                <a16:creationId xmlns:a16="http://schemas.microsoft.com/office/drawing/2014/main" id="{A9E0793B-1B87-471C-AAAE-90C6E80E99A2}"/>
              </a:ext>
            </a:extLst>
          </p:cNvPr>
          <p:cNvSpPr/>
          <p:nvPr/>
        </p:nvSpPr>
        <p:spPr bwMode="gray">
          <a:xfrm>
            <a:off x="2111430" y="4632844"/>
            <a:ext cx="390229" cy="3902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6</a:t>
            </a:r>
          </a:p>
        </p:txBody>
      </p:sp>
      <p:sp>
        <p:nvSpPr>
          <p:cNvPr id="134" name="Oval 133">
            <a:extLst>
              <a:ext uri="{FF2B5EF4-FFF2-40B4-BE49-F238E27FC236}">
                <a16:creationId xmlns:a16="http://schemas.microsoft.com/office/drawing/2014/main" id="{FB7267A0-B91A-4383-A591-DD54E5C3EC42}"/>
              </a:ext>
            </a:extLst>
          </p:cNvPr>
          <p:cNvSpPr/>
          <p:nvPr/>
        </p:nvSpPr>
        <p:spPr bwMode="gray">
          <a:xfrm>
            <a:off x="6905773" y="1702540"/>
            <a:ext cx="390229" cy="3902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7</a:t>
            </a:r>
          </a:p>
        </p:txBody>
      </p:sp>
      <p:sp>
        <p:nvSpPr>
          <p:cNvPr id="136" name="Oval 135">
            <a:extLst>
              <a:ext uri="{FF2B5EF4-FFF2-40B4-BE49-F238E27FC236}">
                <a16:creationId xmlns:a16="http://schemas.microsoft.com/office/drawing/2014/main" id="{558FB713-163E-49DF-8893-585992673FE4}"/>
              </a:ext>
            </a:extLst>
          </p:cNvPr>
          <p:cNvSpPr/>
          <p:nvPr/>
        </p:nvSpPr>
        <p:spPr bwMode="gray">
          <a:xfrm>
            <a:off x="6905771" y="2288601"/>
            <a:ext cx="390229" cy="3902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8</a:t>
            </a:r>
          </a:p>
        </p:txBody>
      </p:sp>
      <p:sp>
        <p:nvSpPr>
          <p:cNvPr id="138" name="Oval 137">
            <a:extLst>
              <a:ext uri="{FF2B5EF4-FFF2-40B4-BE49-F238E27FC236}">
                <a16:creationId xmlns:a16="http://schemas.microsoft.com/office/drawing/2014/main" id="{4D5AE955-06BC-4332-9818-3589EB08A029}"/>
              </a:ext>
            </a:extLst>
          </p:cNvPr>
          <p:cNvSpPr/>
          <p:nvPr/>
        </p:nvSpPr>
        <p:spPr bwMode="gray">
          <a:xfrm>
            <a:off x="6905770" y="2874662"/>
            <a:ext cx="390229" cy="390229"/>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9</a:t>
            </a:r>
          </a:p>
        </p:txBody>
      </p:sp>
      <p:sp>
        <p:nvSpPr>
          <p:cNvPr id="139" name="Oval 138">
            <a:extLst>
              <a:ext uri="{FF2B5EF4-FFF2-40B4-BE49-F238E27FC236}">
                <a16:creationId xmlns:a16="http://schemas.microsoft.com/office/drawing/2014/main" id="{AEACC252-4C3D-47E0-9D0B-52768E2067B5}"/>
              </a:ext>
            </a:extLst>
          </p:cNvPr>
          <p:cNvSpPr/>
          <p:nvPr/>
        </p:nvSpPr>
        <p:spPr bwMode="gray">
          <a:xfrm>
            <a:off x="6905770" y="3460723"/>
            <a:ext cx="390229" cy="390229"/>
          </a:xfrm>
          <a:prstGeom prst="ellipse">
            <a:avLst/>
          </a:prstGeom>
          <a:solidFill>
            <a:schemeClr val="accent3"/>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600" b="1" dirty="0">
                <a:solidFill>
                  <a:schemeClr val="bg1"/>
                </a:solidFill>
              </a:rPr>
              <a:t>10</a:t>
            </a:r>
          </a:p>
        </p:txBody>
      </p:sp>
      <p:sp>
        <p:nvSpPr>
          <p:cNvPr id="140" name="Oval 139">
            <a:extLst>
              <a:ext uri="{FF2B5EF4-FFF2-40B4-BE49-F238E27FC236}">
                <a16:creationId xmlns:a16="http://schemas.microsoft.com/office/drawing/2014/main" id="{39EF0739-CE69-44D6-A3B3-8D3AEE5CABDE}"/>
              </a:ext>
            </a:extLst>
          </p:cNvPr>
          <p:cNvSpPr/>
          <p:nvPr/>
        </p:nvSpPr>
        <p:spPr bwMode="gray">
          <a:xfrm>
            <a:off x="6905770" y="4046784"/>
            <a:ext cx="390229" cy="390229"/>
          </a:xfrm>
          <a:prstGeom prst="ellipse">
            <a:avLst/>
          </a:prstGeom>
          <a:solidFill>
            <a:schemeClr val="accent3"/>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600" b="1" dirty="0">
                <a:solidFill>
                  <a:schemeClr val="bg1"/>
                </a:solidFill>
              </a:rPr>
              <a:t>11</a:t>
            </a:r>
          </a:p>
        </p:txBody>
      </p:sp>
      <p:sp>
        <p:nvSpPr>
          <p:cNvPr id="11" name="Rectangle 10">
            <a:extLst>
              <a:ext uri="{FF2B5EF4-FFF2-40B4-BE49-F238E27FC236}">
                <a16:creationId xmlns:a16="http://schemas.microsoft.com/office/drawing/2014/main" id="{7D082102-B084-4212-B660-EBEDC5195981}"/>
              </a:ext>
            </a:extLst>
          </p:cNvPr>
          <p:cNvSpPr/>
          <p:nvPr/>
        </p:nvSpPr>
        <p:spPr bwMode="gray">
          <a:xfrm>
            <a:off x="2639684" y="1702540"/>
            <a:ext cx="4077792" cy="390229"/>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a:solidFill>
                  <a:schemeClr val="accent3"/>
                </a:solidFill>
              </a:rPr>
              <a:t>Accounting, Budgeting, and Fixed Assets Register</a:t>
            </a:r>
            <a:endParaRPr lang="en-US" sz="1400" b="1" dirty="0">
              <a:solidFill>
                <a:schemeClr val="accent3"/>
              </a:solidFill>
            </a:endParaRPr>
          </a:p>
        </p:txBody>
      </p:sp>
      <p:sp>
        <p:nvSpPr>
          <p:cNvPr id="142" name="Rectangle 141">
            <a:extLst>
              <a:ext uri="{FF2B5EF4-FFF2-40B4-BE49-F238E27FC236}">
                <a16:creationId xmlns:a16="http://schemas.microsoft.com/office/drawing/2014/main" id="{F554CEAD-1DB7-4CA2-89CD-7E5526857C7E}"/>
              </a:ext>
            </a:extLst>
          </p:cNvPr>
          <p:cNvSpPr/>
          <p:nvPr/>
        </p:nvSpPr>
        <p:spPr bwMode="gray">
          <a:xfrm>
            <a:off x="2637643" y="2288600"/>
            <a:ext cx="4077792" cy="390229"/>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dirty="0">
                <a:solidFill>
                  <a:schemeClr val="accent3"/>
                </a:solidFill>
              </a:rPr>
              <a:t>Procurement &amp; Inventory</a:t>
            </a:r>
          </a:p>
        </p:txBody>
      </p:sp>
      <p:sp>
        <p:nvSpPr>
          <p:cNvPr id="143" name="Rectangle 142">
            <a:extLst>
              <a:ext uri="{FF2B5EF4-FFF2-40B4-BE49-F238E27FC236}">
                <a16:creationId xmlns:a16="http://schemas.microsoft.com/office/drawing/2014/main" id="{E28AA5A7-EA6A-47A8-A244-EB40A357E80E}"/>
              </a:ext>
            </a:extLst>
          </p:cNvPr>
          <p:cNvSpPr/>
          <p:nvPr/>
        </p:nvSpPr>
        <p:spPr bwMode="gray">
          <a:xfrm>
            <a:off x="2637641" y="2874660"/>
            <a:ext cx="4077792" cy="390229"/>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a:solidFill>
                  <a:schemeClr val="accent3"/>
                </a:solidFill>
              </a:rPr>
              <a:t>Projects Management</a:t>
            </a:r>
            <a:endParaRPr lang="en-US" sz="1400" b="1" dirty="0">
              <a:solidFill>
                <a:schemeClr val="accent3"/>
              </a:solidFill>
            </a:endParaRPr>
          </a:p>
        </p:txBody>
      </p:sp>
      <p:sp>
        <p:nvSpPr>
          <p:cNvPr id="144" name="Rectangle 143">
            <a:extLst>
              <a:ext uri="{FF2B5EF4-FFF2-40B4-BE49-F238E27FC236}">
                <a16:creationId xmlns:a16="http://schemas.microsoft.com/office/drawing/2014/main" id="{A69FEA46-D2BF-4D4C-BA27-1CD4994B524E}"/>
              </a:ext>
            </a:extLst>
          </p:cNvPr>
          <p:cNvSpPr/>
          <p:nvPr/>
        </p:nvSpPr>
        <p:spPr bwMode="gray">
          <a:xfrm>
            <a:off x="2637640" y="3460723"/>
            <a:ext cx="4077792" cy="390229"/>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a:solidFill>
                  <a:schemeClr val="accent3"/>
                </a:solidFill>
              </a:rPr>
              <a:t>HR and Payroll</a:t>
            </a:r>
            <a:endParaRPr lang="en-US" sz="1400" b="1" dirty="0">
              <a:solidFill>
                <a:schemeClr val="accent3"/>
              </a:solidFill>
            </a:endParaRPr>
          </a:p>
        </p:txBody>
      </p:sp>
      <p:sp>
        <p:nvSpPr>
          <p:cNvPr id="145" name="Rectangle 144">
            <a:extLst>
              <a:ext uri="{FF2B5EF4-FFF2-40B4-BE49-F238E27FC236}">
                <a16:creationId xmlns:a16="http://schemas.microsoft.com/office/drawing/2014/main" id="{D9B9D883-33FF-4F09-8CA9-472C88FAC5CA}"/>
              </a:ext>
            </a:extLst>
          </p:cNvPr>
          <p:cNvSpPr/>
          <p:nvPr/>
        </p:nvSpPr>
        <p:spPr bwMode="gray">
          <a:xfrm>
            <a:off x="2637640" y="4061554"/>
            <a:ext cx="4077792" cy="390229"/>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a:solidFill>
                  <a:schemeClr val="accent3"/>
                </a:solidFill>
              </a:rPr>
              <a:t>Plant Maintenance, Work Order Management and Equipment Maintenance</a:t>
            </a:r>
            <a:endParaRPr lang="en-US" sz="1400" b="1" dirty="0">
              <a:solidFill>
                <a:schemeClr val="accent3"/>
              </a:solidFill>
            </a:endParaRPr>
          </a:p>
        </p:txBody>
      </p:sp>
      <p:sp>
        <p:nvSpPr>
          <p:cNvPr id="146" name="Rectangle 145">
            <a:extLst>
              <a:ext uri="{FF2B5EF4-FFF2-40B4-BE49-F238E27FC236}">
                <a16:creationId xmlns:a16="http://schemas.microsoft.com/office/drawing/2014/main" id="{8C740F4C-617B-444A-B855-494A530D61F5}"/>
              </a:ext>
            </a:extLst>
          </p:cNvPr>
          <p:cNvSpPr/>
          <p:nvPr/>
        </p:nvSpPr>
        <p:spPr bwMode="gray">
          <a:xfrm>
            <a:off x="2637639" y="4632844"/>
            <a:ext cx="4077792" cy="390229"/>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a:solidFill>
                  <a:schemeClr val="accent3"/>
                </a:solidFill>
              </a:rPr>
              <a:t>MIS, Data Warehouse and Business Intelligence</a:t>
            </a:r>
            <a:endParaRPr lang="en-US" sz="1400" b="1" dirty="0">
              <a:solidFill>
                <a:schemeClr val="accent3"/>
              </a:solidFill>
            </a:endParaRPr>
          </a:p>
        </p:txBody>
      </p:sp>
      <p:sp>
        <p:nvSpPr>
          <p:cNvPr id="148" name="Rectangle 147">
            <a:extLst>
              <a:ext uri="{FF2B5EF4-FFF2-40B4-BE49-F238E27FC236}">
                <a16:creationId xmlns:a16="http://schemas.microsoft.com/office/drawing/2014/main" id="{6E52D396-3F75-4F6C-BE29-7CDDE1699C92}"/>
              </a:ext>
            </a:extLst>
          </p:cNvPr>
          <p:cNvSpPr/>
          <p:nvPr/>
        </p:nvSpPr>
        <p:spPr bwMode="gray">
          <a:xfrm>
            <a:off x="7405825" y="1702540"/>
            <a:ext cx="4077792" cy="390229"/>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dirty="0">
                <a:solidFill>
                  <a:schemeClr val="accent3"/>
                </a:solidFill>
              </a:rPr>
              <a:t>Business Development, Marketing of Power and Electricity</a:t>
            </a:r>
          </a:p>
        </p:txBody>
      </p:sp>
      <p:sp>
        <p:nvSpPr>
          <p:cNvPr id="149" name="Rectangle 148">
            <a:extLst>
              <a:ext uri="{FF2B5EF4-FFF2-40B4-BE49-F238E27FC236}">
                <a16:creationId xmlns:a16="http://schemas.microsoft.com/office/drawing/2014/main" id="{D2864BF4-D9E7-4633-B464-480F3E7A1A8F}"/>
              </a:ext>
            </a:extLst>
          </p:cNvPr>
          <p:cNvSpPr/>
          <p:nvPr/>
        </p:nvSpPr>
        <p:spPr bwMode="gray">
          <a:xfrm>
            <a:off x="7405824" y="2288603"/>
            <a:ext cx="4077792" cy="390229"/>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a:solidFill>
                  <a:schemeClr val="accent3"/>
                </a:solidFill>
              </a:rPr>
              <a:t>Transmission and Distribution – Operation and Network Management</a:t>
            </a:r>
            <a:endParaRPr lang="en-US" sz="1400" b="1" dirty="0">
              <a:solidFill>
                <a:schemeClr val="accent3"/>
              </a:solidFill>
            </a:endParaRPr>
          </a:p>
        </p:txBody>
      </p:sp>
      <p:sp>
        <p:nvSpPr>
          <p:cNvPr id="150" name="Rectangle 149">
            <a:extLst>
              <a:ext uri="{FF2B5EF4-FFF2-40B4-BE49-F238E27FC236}">
                <a16:creationId xmlns:a16="http://schemas.microsoft.com/office/drawing/2014/main" id="{EBF46378-CC52-45B7-A908-8DFEC10E626B}"/>
              </a:ext>
            </a:extLst>
          </p:cNvPr>
          <p:cNvSpPr/>
          <p:nvPr/>
        </p:nvSpPr>
        <p:spPr bwMode="gray">
          <a:xfrm>
            <a:off x="7405824" y="2889434"/>
            <a:ext cx="4077792" cy="390229"/>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dirty="0">
                <a:solidFill>
                  <a:schemeClr val="accent3"/>
                </a:solidFill>
              </a:rPr>
              <a:t>Municipal Water, Sewerage System and Waste Management</a:t>
            </a:r>
          </a:p>
        </p:txBody>
      </p:sp>
      <p:sp>
        <p:nvSpPr>
          <p:cNvPr id="151" name="Rectangle 150">
            <a:extLst>
              <a:ext uri="{FF2B5EF4-FFF2-40B4-BE49-F238E27FC236}">
                <a16:creationId xmlns:a16="http://schemas.microsoft.com/office/drawing/2014/main" id="{F2DDE2FE-6960-4804-AE72-F09394E958EF}"/>
              </a:ext>
            </a:extLst>
          </p:cNvPr>
          <p:cNvSpPr/>
          <p:nvPr/>
        </p:nvSpPr>
        <p:spPr bwMode="gray">
          <a:xfrm>
            <a:off x="7405823" y="3460724"/>
            <a:ext cx="4077792" cy="390229"/>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a:solidFill>
                  <a:schemeClr val="accent3"/>
                </a:solidFill>
              </a:rPr>
              <a:t>Non-ERP software for Admin / Corporate and legal / Internal Audit</a:t>
            </a:r>
            <a:endParaRPr lang="en-US" sz="1400" b="1" dirty="0">
              <a:solidFill>
                <a:schemeClr val="accent3"/>
              </a:solidFill>
            </a:endParaRPr>
          </a:p>
        </p:txBody>
      </p:sp>
      <p:sp>
        <p:nvSpPr>
          <p:cNvPr id="152" name="Rectangle 151">
            <a:extLst>
              <a:ext uri="{FF2B5EF4-FFF2-40B4-BE49-F238E27FC236}">
                <a16:creationId xmlns:a16="http://schemas.microsoft.com/office/drawing/2014/main" id="{6E205498-2D5F-49AC-964B-14F4AC20C516}"/>
              </a:ext>
            </a:extLst>
          </p:cNvPr>
          <p:cNvSpPr/>
          <p:nvPr/>
        </p:nvSpPr>
        <p:spPr bwMode="gray">
          <a:xfrm>
            <a:off x="7405824" y="4061554"/>
            <a:ext cx="4077792" cy="390229"/>
          </a:xfrm>
          <a:prstGeom prst="rect">
            <a:avLst/>
          </a:prstGeom>
          <a:solidFill>
            <a:schemeClr val="accent3">
              <a:alpha val="15000"/>
            </a:schemeClr>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400" b="1" dirty="0">
                <a:solidFill>
                  <a:schemeClr val="accent3"/>
                </a:solidFill>
              </a:rPr>
              <a:t>OT Tools for Fuel &amp; Generation Monitoring</a:t>
            </a:r>
          </a:p>
        </p:txBody>
      </p:sp>
      <p:sp>
        <p:nvSpPr>
          <p:cNvPr id="154" name="Rectangle: Rounded Corners 153">
            <a:extLst>
              <a:ext uri="{FF2B5EF4-FFF2-40B4-BE49-F238E27FC236}">
                <a16:creationId xmlns:a16="http://schemas.microsoft.com/office/drawing/2014/main" id="{989593E6-80E4-4070-A2EC-1109DA5C4157}"/>
              </a:ext>
            </a:extLst>
          </p:cNvPr>
          <p:cNvSpPr/>
          <p:nvPr/>
        </p:nvSpPr>
        <p:spPr bwMode="gray">
          <a:xfrm>
            <a:off x="501650" y="5430486"/>
            <a:ext cx="1318524" cy="775914"/>
          </a:xfrm>
          <a:prstGeom prst="roundRect">
            <a:avLst/>
          </a:prstGeom>
          <a:solidFill>
            <a:schemeClr val="accent5"/>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US" sz="1400" b="1" dirty="0">
                <a:solidFill>
                  <a:schemeClr val="bg1"/>
                </a:solidFill>
              </a:rPr>
              <a:t>Implementation Model</a:t>
            </a:r>
          </a:p>
        </p:txBody>
      </p:sp>
      <p:sp>
        <p:nvSpPr>
          <p:cNvPr id="157" name="Rectangle 156">
            <a:extLst>
              <a:ext uri="{FF2B5EF4-FFF2-40B4-BE49-F238E27FC236}">
                <a16:creationId xmlns:a16="http://schemas.microsoft.com/office/drawing/2014/main" id="{E719CE0F-1F0C-462D-AF87-E699531313EC}"/>
              </a:ext>
            </a:extLst>
          </p:cNvPr>
          <p:cNvSpPr/>
          <p:nvPr/>
        </p:nvSpPr>
        <p:spPr bwMode="gray">
          <a:xfrm>
            <a:off x="1975448" y="5449145"/>
            <a:ext cx="9714901" cy="757255"/>
          </a:xfrm>
          <a:prstGeom prst="rect">
            <a:avLst/>
          </a:prstGeom>
          <a:noFill/>
          <a:ln w="19050" algn="ctr">
            <a:solidFill>
              <a:schemeClr val="accent5"/>
            </a:solidFill>
            <a:miter lim="800000"/>
            <a:headEnd/>
            <a:tailEnd/>
          </a:ln>
        </p:spPr>
        <p:txBody>
          <a:bodyPr wrap="square" lIns="88900" tIns="88900" rIns="88900" bIns="88900" rtlCol="0" anchor="ctr"/>
          <a:lstStyle/>
          <a:p>
            <a:pPr marL="285750" indent="-285750">
              <a:lnSpc>
                <a:spcPct val="106000"/>
              </a:lnSpc>
              <a:buFont typeface="Arial" panose="020B0604020202020204" pitchFamily="34" charset="0"/>
              <a:buChar char="•"/>
            </a:pPr>
            <a:r>
              <a:rPr lang="en-US" sz="1600" b="1" dirty="0">
                <a:solidFill>
                  <a:schemeClr val="accent5"/>
                </a:solidFill>
              </a:rPr>
              <a:t>We have considered on-premise model (non-cloud) for ERP Implementation</a:t>
            </a:r>
          </a:p>
        </p:txBody>
      </p:sp>
    </p:spTree>
    <p:extLst>
      <p:ext uri="{BB962C8B-B14F-4D97-AF65-F5344CB8AC3E}">
        <p14:creationId xmlns:p14="http://schemas.microsoft.com/office/powerpoint/2010/main" val="58897723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extLst>
              <p:ext uri="{D42A27DB-BD31-4B8C-83A1-F6EECF244321}">
                <p14:modId xmlns:p14="http://schemas.microsoft.com/office/powerpoint/2010/main" val="33044723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We have estimated the license requirement based on staff designation levels</a:t>
            </a:r>
            <a:endParaRPr lang="en-IN" b="1" dirty="0"/>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ERP Licenses Assessment</a:t>
            </a:r>
            <a:endParaRPr lang="en-GB" dirty="0"/>
          </a:p>
        </p:txBody>
      </p:sp>
      <p:sp>
        <p:nvSpPr>
          <p:cNvPr id="27" name="Rectangle 26" hidden="1">
            <a:extLst>
              <a:ext uri="{FF2B5EF4-FFF2-40B4-BE49-F238E27FC236}">
                <a16:creationId xmlns:a16="http://schemas.microsoft.com/office/drawing/2014/main" id="{0C424A78-685D-4AD2-9957-F532F86BEC0D}"/>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graphicFrame>
        <p:nvGraphicFramePr>
          <p:cNvPr id="32" name="Table 31">
            <a:extLst>
              <a:ext uri="{FF2B5EF4-FFF2-40B4-BE49-F238E27FC236}">
                <a16:creationId xmlns:a16="http://schemas.microsoft.com/office/drawing/2014/main" id="{E9A443B5-A61F-4284-8436-0B821E5C46AA}"/>
              </a:ext>
            </a:extLst>
          </p:cNvPr>
          <p:cNvGraphicFramePr>
            <a:graphicFrameLocks noGrp="1"/>
          </p:cNvGraphicFramePr>
          <p:nvPr>
            <p:extLst>
              <p:ext uri="{D42A27DB-BD31-4B8C-83A1-F6EECF244321}">
                <p14:modId xmlns:p14="http://schemas.microsoft.com/office/powerpoint/2010/main" val="30930592"/>
              </p:ext>
            </p:extLst>
          </p:nvPr>
        </p:nvGraphicFramePr>
        <p:xfrm>
          <a:off x="501650" y="1224144"/>
          <a:ext cx="11162349" cy="4572000"/>
        </p:xfrm>
        <a:graphic>
          <a:graphicData uri="http://schemas.openxmlformats.org/drawingml/2006/table">
            <a:tbl>
              <a:tblPr/>
              <a:tblGrid>
                <a:gridCol w="572238">
                  <a:extLst>
                    <a:ext uri="{9D8B030D-6E8A-4147-A177-3AD203B41FA5}">
                      <a16:colId xmlns:a16="http://schemas.microsoft.com/office/drawing/2014/main" val="3446736208"/>
                    </a:ext>
                  </a:extLst>
                </a:gridCol>
                <a:gridCol w="3554015">
                  <a:extLst>
                    <a:ext uri="{9D8B030D-6E8A-4147-A177-3AD203B41FA5}">
                      <a16:colId xmlns:a16="http://schemas.microsoft.com/office/drawing/2014/main" val="1379050667"/>
                    </a:ext>
                  </a:extLst>
                </a:gridCol>
                <a:gridCol w="1144856">
                  <a:extLst>
                    <a:ext uri="{9D8B030D-6E8A-4147-A177-3AD203B41FA5}">
                      <a16:colId xmlns:a16="http://schemas.microsoft.com/office/drawing/2014/main" val="58301100"/>
                    </a:ext>
                  </a:extLst>
                </a:gridCol>
                <a:gridCol w="2862141">
                  <a:extLst>
                    <a:ext uri="{9D8B030D-6E8A-4147-A177-3AD203B41FA5}">
                      <a16:colId xmlns:a16="http://schemas.microsoft.com/office/drawing/2014/main" val="2954920110"/>
                    </a:ext>
                  </a:extLst>
                </a:gridCol>
                <a:gridCol w="3029099">
                  <a:extLst>
                    <a:ext uri="{9D8B030D-6E8A-4147-A177-3AD203B41FA5}">
                      <a16:colId xmlns:a16="http://schemas.microsoft.com/office/drawing/2014/main" val="1586298713"/>
                    </a:ext>
                  </a:extLst>
                </a:gridCol>
              </a:tblGrid>
              <a:tr h="343662">
                <a:tc>
                  <a:txBody>
                    <a:bodyPr/>
                    <a:lstStyle/>
                    <a:p>
                      <a:pPr algn="l" fontAlgn="b"/>
                      <a:r>
                        <a:rPr lang="en-US" sz="1400" b="1" i="0" u="none" strike="noStrike" dirty="0">
                          <a:solidFill>
                            <a:srgbClr val="FFFFFF"/>
                          </a:solidFill>
                          <a:effectLst/>
                          <a:latin typeface="Calibri" panose="020F0502020204030204" pitchFamily="34" charset="0"/>
                        </a:rPr>
                        <a:t>Sl. No.</a:t>
                      </a:r>
                    </a:p>
                  </a:txBody>
                  <a:tcPr marT="91440" marB="91440" anchor="b">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BACC6"/>
                    </a:solidFill>
                  </a:tcPr>
                </a:tc>
                <a:tc>
                  <a:txBody>
                    <a:bodyPr/>
                    <a:lstStyle/>
                    <a:p>
                      <a:pPr algn="l" fontAlgn="b"/>
                      <a:r>
                        <a:rPr lang="en-US" sz="1400" b="1" i="0" u="none" strike="noStrike" dirty="0">
                          <a:solidFill>
                            <a:srgbClr val="FFFFFF"/>
                          </a:solidFill>
                          <a:effectLst/>
                          <a:latin typeface="Calibri" panose="020F0502020204030204" pitchFamily="34" charset="0"/>
                        </a:rPr>
                        <a:t>Level</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BACC6"/>
                    </a:solidFill>
                  </a:tcPr>
                </a:tc>
                <a:tc>
                  <a:txBody>
                    <a:bodyPr/>
                    <a:lstStyle/>
                    <a:p>
                      <a:pPr algn="ctr" fontAlgn="b"/>
                      <a:r>
                        <a:rPr lang="en-US" sz="1400" b="1" i="0" u="none" strike="noStrike">
                          <a:solidFill>
                            <a:srgbClr val="FFFFFF"/>
                          </a:solidFill>
                          <a:effectLst/>
                          <a:latin typeface="Calibri" panose="020F0502020204030204" pitchFamily="34" charset="0"/>
                        </a:rPr>
                        <a:t>Count</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BACC6"/>
                    </a:solidFill>
                  </a:tcPr>
                </a:tc>
                <a:tc>
                  <a:txBody>
                    <a:bodyPr/>
                    <a:lstStyle/>
                    <a:p>
                      <a:pPr algn="ctr" fontAlgn="b"/>
                      <a:r>
                        <a:rPr lang="en-US" sz="1400" b="1" i="0" u="none" strike="noStrike" dirty="0">
                          <a:solidFill>
                            <a:srgbClr val="FFFFFF"/>
                          </a:solidFill>
                          <a:effectLst/>
                          <a:latin typeface="Calibri" panose="020F0502020204030204" pitchFamily="34" charset="0"/>
                        </a:rPr>
                        <a:t>ERP  Licenses required</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BACC6"/>
                    </a:solidFill>
                  </a:tcPr>
                </a:tc>
                <a:tc>
                  <a:txBody>
                    <a:bodyPr/>
                    <a:lstStyle/>
                    <a:p>
                      <a:pPr algn="ctr" fontAlgn="b"/>
                      <a:r>
                        <a:rPr lang="en-US" sz="1400" b="1" i="0" u="none" strike="noStrike" dirty="0">
                          <a:solidFill>
                            <a:srgbClr val="FFFFFF"/>
                          </a:solidFill>
                          <a:effectLst/>
                          <a:latin typeface="Calibri" panose="020F0502020204030204" pitchFamily="34" charset="0"/>
                        </a:rPr>
                        <a:t>No of ERP Licenses required</a:t>
                      </a:r>
                    </a:p>
                  </a:txBody>
                  <a:tcPr marT="91440" marB="91440" anchor="b">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4BACC6"/>
                    </a:solidFill>
                  </a:tcPr>
                </a:tc>
                <a:extLst>
                  <a:ext uri="{0D108BD9-81ED-4DB2-BD59-A6C34878D82A}">
                    <a16:rowId xmlns:a16="http://schemas.microsoft.com/office/drawing/2014/main" val="2017813206"/>
                  </a:ext>
                </a:extLst>
              </a:tr>
              <a:tr h="218694">
                <a:tc>
                  <a:txBody>
                    <a:bodyPr/>
                    <a:lstStyle/>
                    <a:p>
                      <a:pPr algn="ctr" fontAlgn="b"/>
                      <a:r>
                        <a:rPr lang="en-US" sz="1400" b="1" i="0" u="none" strike="noStrike" dirty="0">
                          <a:solidFill>
                            <a:srgbClr val="000000"/>
                          </a:solidFill>
                          <a:effectLst/>
                          <a:latin typeface="Calibri" panose="020F0502020204030204" pitchFamily="34" charset="0"/>
                        </a:rPr>
                        <a:t>A</a:t>
                      </a:r>
                    </a:p>
                  </a:txBody>
                  <a:tcPr marT="91440" marB="9144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5">
                        <a:lumMod val="20000"/>
                        <a:lumOff val="80000"/>
                      </a:schemeClr>
                    </a:solidFill>
                  </a:tcPr>
                </a:tc>
                <a:tc gridSpan="4">
                  <a:txBody>
                    <a:bodyPr/>
                    <a:lstStyle/>
                    <a:p>
                      <a:pPr algn="l" fontAlgn="b"/>
                      <a:r>
                        <a:rPr lang="en-US" sz="1400" b="1" i="0" u="none" strike="noStrike" dirty="0">
                          <a:solidFill>
                            <a:srgbClr val="000000"/>
                          </a:solidFill>
                          <a:effectLst/>
                          <a:latin typeface="Calibri" panose="020F0502020204030204" pitchFamily="34" charset="0"/>
                        </a:rPr>
                        <a:t>ERP Licenses Requirement</a:t>
                      </a:r>
                    </a:p>
                  </a:txBody>
                  <a:tcPr marT="91440" marB="91440" anchor="b">
                    <a:lnL w="635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hemeClr val="accent5">
                        <a:lumMod val="20000"/>
                        <a:lumOff val="80000"/>
                      </a:schemeClr>
                    </a:solidFill>
                  </a:tcPr>
                </a:tc>
                <a:tc hMerge="1">
                  <a:txBody>
                    <a:bodyPr/>
                    <a:lstStyle/>
                    <a:p>
                      <a:pPr algn="ctr" fontAlgn="b"/>
                      <a:endParaRPr lang="en-US" sz="1400" b="1" i="0" u="none" strike="noStrike" dirty="0">
                        <a:solidFill>
                          <a:srgbClr val="000000"/>
                        </a:solidFill>
                        <a:effectLst/>
                        <a:latin typeface="Calibri" panose="020F0502020204030204" pitchFamily="34" charset="0"/>
                      </a:endParaRP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hMerge="1">
                  <a:txBody>
                    <a:bodyPr/>
                    <a:lstStyle/>
                    <a:p>
                      <a:pPr algn="ctr" fontAlgn="b"/>
                      <a:endParaRPr lang="en-US" sz="1400" b="1" i="0" u="none" strike="noStrike" dirty="0">
                        <a:solidFill>
                          <a:srgbClr val="000000"/>
                        </a:solidFill>
                        <a:effectLst/>
                        <a:latin typeface="Calibri" panose="020F0502020204030204" pitchFamily="34" charset="0"/>
                      </a:endParaRP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hMerge="1">
                  <a:txBody>
                    <a:bodyPr/>
                    <a:lstStyle/>
                    <a:p>
                      <a:pPr algn="ctr" fontAlgn="b"/>
                      <a:endParaRPr lang="en-US" sz="1400" b="1" i="0" u="none" strike="noStrike" dirty="0">
                        <a:solidFill>
                          <a:srgbClr val="000000"/>
                        </a:solidFill>
                        <a:effectLst/>
                        <a:latin typeface="Calibri" panose="020F0502020204030204" pitchFamily="34" charset="0"/>
                      </a:endParaRPr>
                    </a:p>
                  </a:txBody>
                  <a:tcPr marT="91440" marB="9144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extLst>
                  <a:ext uri="{0D108BD9-81ED-4DB2-BD59-A6C34878D82A}">
                    <a16:rowId xmlns:a16="http://schemas.microsoft.com/office/drawing/2014/main" val="1609322372"/>
                  </a:ext>
                </a:extLst>
              </a:tr>
              <a:tr h="218694">
                <a:tc>
                  <a:txBody>
                    <a:bodyPr/>
                    <a:lstStyle/>
                    <a:p>
                      <a:pPr algn="ctr" fontAlgn="b"/>
                      <a:r>
                        <a:rPr lang="en-US" sz="1400" b="0" i="0" u="none" strike="noStrike" dirty="0">
                          <a:solidFill>
                            <a:srgbClr val="000000"/>
                          </a:solidFill>
                          <a:effectLst/>
                          <a:latin typeface="Calibri" panose="020F0502020204030204" pitchFamily="34" charset="0"/>
                        </a:rPr>
                        <a:t>1</a:t>
                      </a:r>
                    </a:p>
                  </a:txBody>
                  <a:tcPr marT="91440" marB="9144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l" fontAlgn="b"/>
                      <a:r>
                        <a:rPr lang="en-US" sz="1400" b="0" i="0" u="none" strike="noStrike" dirty="0">
                          <a:solidFill>
                            <a:srgbClr val="000000"/>
                          </a:solidFill>
                          <a:effectLst/>
                          <a:latin typeface="Calibri" panose="020F0502020204030204" pitchFamily="34" charset="0"/>
                        </a:rPr>
                        <a:t>Executive</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ctr" fontAlgn="b"/>
                      <a:r>
                        <a:rPr lang="en-US" sz="1400" b="0" i="0" u="none" strike="noStrike">
                          <a:solidFill>
                            <a:srgbClr val="000000"/>
                          </a:solidFill>
                          <a:effectLst/>
                          <a:latin typeface="Calibri" panose="020F0502020204030204" pitchFamily="34" charset="0"/>
                        </a:rPr>
                        <a:t>18</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ctr" fontAlgn="b"/>
                      <a:r>
                        <a:rPr lang="en-US" sz="1400" b="0" i="0" u="none" strike="noStrike">
                          <a:solidFill>
                            <a:srgbClr val="000000"/>
                          </a:solidFill>
                          <a:effectLst/>
                          <a:latin typeface="Calibri" panose="020F0502020204030204" pitchFamily="34" charset="0"/>
                        </a:rPr>
                        <a:t>YES</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ctr" fontAlgn="b"/>
                      <a:r>
                        <a:rPr lang="en-US" sz="1400" b="0" i="0" u="none" strike="noStrike" dirty="0">
                          <a:solidFill>
                            <a:srgbClr val="000000"/>
                          </a:solidFill>
                          <a:effectLst/>
                          <a:latin typeface="Calibri" panose="020F0502020204030204" pitchFamily="34" charset="0"/>
                        </a:rPr>
                        <a:t>18</a:t>
                      </a:r>
                    </a:p>
                  </a:txBody>
                  <a:tcPr marT="91440" marB="9144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extLst>
                  <a:ext uri="{0D108BD9-81ED-4DB2-BD59-A6C34878D82A}">
                    <a16:rowId xmlns:a16="http://schemas.microsoft.com/office/drawing/2014/main" val="560550979"/>
                  </a:ext>
                </a:extLst>
              </a:tr>
              <a:tr h="218694">
                <a:tc>
                  <a:txBody>
                    <a:bodyPr/>
                    <a:lstStyle/>
                    <a:p>
                      <a:pPr algn="ctr" fontAlgn="b"/>
                      <a:r>
                        <a:rPr lang="en-US" sz="1400" b="0" i="0" u="none" strike="noStrike" dirty="0">
                          <a:solidFill>
                            <a:srgbClr val="000000"/>
                          </a:solidFill>
                          <a:effectLst/>
                          <a:latin typeface="Calibri" panose="020F0502020204030204" pitchFamily="34" charset="0"/>
                        </a:rPr>
                        <a:t>2</a:t>
                      </a:r>
                    </a:p>
                  </a:txBody>
                  <a:tcPr marT="91440" marB="9144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l" fontAlgn="b"/>
                      <a:r>
                        <a:rPr lang="en-US" sz="1400" b="0" i="0" u="none" strike="noStrike" dirty="0">
                          <a:solidFill>
                            <a:srgbClr val="000000"/>
                          </a:solidFill>
                          <a:effectLst/>
                          <a:latin typeface="Calibri" panose="020F0502020204030204" pitchFamily="34" charset="0"/>
                        </a:rPr>
                        <a:t>Executive non Professional</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ctr" fontAlgn="b"/>
                      <a:r>
                        <a:rPr lang="en-US" sz="1400" b="0" i="0" u="none" strike="noStrike" dirty="0">
                          <a:solidFill>
                            <a:srgbClr val="000000"/>
                          </a:solidFill>
                          <a:effectLst/>
                          <a:latin typeface="Calibri" panose="020F0502020204030204" pitchFamily="34" charset="0"/>
                        </a:rPr>
                        <a:t>3</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ctr" fontAlgn="b"/>
                      <a:r>
                        <a:rPr lang="en-US" sz="1400" b="0" i="0" u="none" strike="noStrike" dirty="0">
                          <a:solidFill>
                            <a:srgbClr val="000000"/>
                          </a:solidFill>
                          <a:effectLst/>
                          <a:latin typeface="Calibri" panose="020F0502020204030204" pitchFamily="34" charset="0"/>
                        </a:rPr>
                        <a:t>YES</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ctr" fontAlgn="b"/>
                      <a:r>
                        <a:rPr lang="en-US" sz="1400" b="0" i="0" u="none" strike="noStrike" dirty="0">
                          <a:solidFill>
                            <a:srgbClr val="000000"/>
                          </a:solidFill>
                          <a:effectLst/>
                          <a:latin typeface="Calibri" panose="020F0502020204030204" pitchFamily="34" charset="0"/>
                        </a:rPr>
                        <a:t>3</a:t>
                      </a:r>
                    </a:p>
                  </a:txBody>
                  <a:tcPr marT="91440" marB="9144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extLst>
                  <a:ext uri="{0D108BD9-81ED-4DB2-BD59-A6C34878D82A}">
                    <a16:rowId xmlns:a16="http://schemas.microsoft.com/office/drawing/2014/main" val="3903335283"/>
                  </a:ext>
                </a:extLst>
              </a:tr>
              <a:tr h="218694">
                <a:tc>
                  <a:txBody>
                    <a:bodyPr/>
                    <a:lstStyle/>
                    <a:p>
                      <a:pPr algn="ctr" fontAlgn="b"/>
                      <a:r>
                        <a:rPr lang="en-US" sz="1400" b="0" i="0" u="none" strike="noStrike">
                          <a:solidFill>
                            <a:srgbClr val="000000"/>
                          </a:solidFill>
                          <a:effectLst/>
                          <a:latin typeface="Calibri" panose="020F0502020204030204" pitchFamily="34" charset="0"/>
                        </a:rPr>
                        <a:t>3</a:t>
                      </a:r>
                    </a:p>
                  </a:txBody>
                  <a:tcPr marT="91440" marB="9144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l" fontAlgn="b"/>
                      <a:r>
                        <a:rPr lang="en-US" sz="1400" b="0" i="0" u="none" strike="noStrike">
                          <a:solidFill>
                            <a:srgbClr val="000000"/>
                          </a:solidFill>
                          <a:effectLst/>
                          <a:latin typeface="Calibri" panose="020F0502020204030204" pitchFamily="34" charset="0"/>
                        </a:rPr>
                        <a:t>Middle Management</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ctr" fontAlgn="b"/>
                      <a:r>
                        <a:rPr lang="en-US" sz="1400" b="0" i="0" u="none" strike="noStrike">
                          <a:solidFill>
                            <a:srgbClr val="000000"/>
                          </a:solidFill>
                          <a:effectLst/>
                          <a:latin typeface="Calibri" panose="020F0502020204030204" pitchFamily="34" charset="0"/>
                        </a:rPr>
                        <a:t>115</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ctr" fontAlgn="b"/>
                      <a:r>
                        <a:rPr lang="en-US" sz="1400" b="0" i="0" u="none" strike="noStrike">
                          <a:solidFill>
                            <a:srgbClr val="000000"/>
                          </a:solidFill>
                          <a:effectLst/>
                          <a:latin typeface="Calibri" panose="020F0502020204030204" pitchFamily="34" charset="0"/>
                        </a:rPr>
                        <a:t>YES</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ctr" fontAlgn="b"/>
                      <a:r>
                        <a:rPr lang="en-US" sz="1400" b="0" i="0" u="none" strike="noStrike" dirty="0">
                          <a:solidFill>
                            <a:srgbClr val="000000"/>
                          </a:solidFill>
                          <a:effectLst/>
                          <a:latin typeface="Calibri" panose="020F0502020204030204" pitchFamily="34" charset="0"/>
                        </a:rPr>
                        <a:t>115</a:t>
                      </a:r>
                    </a:p>
                  </a:txBody>
                  <a:tcPr marT="91440" marB="9144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extLst>
                  <a:ext uri="{0D108BD9-81ED-4DB2-BD59-A6C34878D82A}">
                    <a16:rowId xmlns:a16="http://schemas.microsoft.com/office/drawing/2014/main" val="705558710"/>
                  </a:ext>
                </a:extLst>
              </a:tr>
              <a:tr h="218694">
                <a:tc>
                  <a:txBody>
                    <a:bodyPr/>
                    <a:lstStyle/>
                    <a:p>
                      <a:pPr algn="ctr" fontAlgn="b"/>
                      <a:r>
                        <a:rPr lang="en-US" sz="1400" b="0" i="0" u="none" strike="noStrike" dirty="0">
                          <a:solidFill>
                            <a:srgbClr val="000000"/>
                          </a:solidFill>
                          <a:effectLst/>
                          <a:latin typeface="Calibri" panose="020F0502020204030204" pitchFamily="34" charset="0"/>
                        </a:rPr>
                        <a:t>4</a:t>
                      </a:r>
                    </a:p>
                  </a:txBody>
                  <a:tcPr marT="91440" marB="9144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l" fontAlgn="b"/>
                      <a:r>
                        <a:rPr lang="en-US" sz="1400" b="0" i="0" u="none" strike="noStrike">
                          <a:solidFill>
                            <a:srgbClr val="000000"/>
                          </a:solidFill>
                          <a:effectLst/>
                          <a:latin typeface="Calibri" panose="020F0502020204030204" pitchFamily="34" charset="0"/>
                        </a:rPr>
                        <a:t>Supervisory</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ctr" fontAlgn="b"/>
                      <a:r>
                        <a:rPr lang="en-US" sz="1400" b="0" i="0" u="none" strike="noStrike">
                          <a:solidFill>
                            <a:srgbClr val="000000"/>
                          </a:solidFill>
                          <a:effectLst/>
                          <a:latin typeface="Calibri" panose="020F0502020204030204" pitchFamily="34" charset="0"/>
                        </a:rPr>
                        <a:t>171</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ctr" fontAlgn="b"/>
                      <a:r>
                        <a:rPr lang="en-US" sz="1400" b="0" i="0" u="none" strike="noStrike">
                          <a:solidFill>
                            <a:srgbClr val="000000"/>
                          </a:solidFill>
                          <a:effectLst/>
                          <a:latin typeface="Calibri" panose="020F0502020204030204" pitchFamily="34" charset="0"/>
                        </a:rPr>
                        <a:t>YES</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ctr" fontAlgn="b"/>
                      <a:r>
                        <a:rPr lang="en-US" sz="1400" b="0" i="0" u="none" strike="noStrike" dirty="0">
                          <a:solidFill>
                            <a:srgbClr val="000000"/>
                          </a:solidFill>
                          <a:effectLst/>
                          <a:latin typeface="Calibri" panose="020F0502020204030204" pitchFamily="34" charset="0"/>
                        </a:rPr>
                        <a:t>171</a:t>
                      </a:r>
                    </a:p>
                  </a:txBody>
                  <a:tcPr marT="91440" marB="9144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extLst>
                  <a:ext uri="{0D108BD9-81ED-4DB2-BD59-A6C34878D82A}">
                    <a16:rowId xmlns:a16="http://schemas.microsoft.com/office/drawing/2014/main" val="3843187913"/>
                  </a:ext>
                </a:extLst>
              </a:tr>
              <a:tr h="218694">
                <a:tc>
                  <a:txBody>
                    <a:bodyPr/>
                    <a:lstStyle/>
                    <a:p>
                      <a:pPr algn="ctr" fontAlgn="b"/>
                      <a:r>
                        <a:rPr lang="en-US" sz="1400" b="0" i="0" u="none" strike="noStrike" dirty="0">
                          <a:solidFill>
                            <a:srgbClr val="000000"/>
                          </a:solidFill>
                          <a:effectLst/>
                          <a:latin typeface="Calibri" panose="020F0502020204030204" pitchFamily="34" charset="0"/>
                        </a:rPr>
                        <a:t>5</a:t>
                      </a:r>
                    </a:p>
                  </a:txBody>
                  <a:tcPr marT="91440" marB="9144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l" fontAlgn="b"/>
                      <a:r>
                        <a:rPr lang="en-US" sz="1400" b="0" i="0" u="none" strike="noStrike">
                          <a:solidFill>
                            <a:srgbClr val="000000"/>
                          </a:solidFill>
                          <a:effectLst/>
                          <a:latin typeface="Calibri" panose="020F0502020204030204" pitchFamily="34" charset="0"/>
                        </a:rPr>
                        <a:t>Senior Support</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ctr" fontAlgn="b"/>
                      <a:r>
                        <a:rPr lang="en-US" sz="1400" b="0" i="0" u="none" strike="noStrike">
                          <a:solidFill>
                            <a:srgbClr val="000000"/>
                          </a:solidFill>
                          <a:effectLst/>
                          <a:latin typeface="Calibri" panose="020F0502020204030204" pitchFamily="34" charset="0"/>
                        </a:rPr>
                        <a:t>200</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ctr" fontAlgn="b"/>
                      <a:r>
                        <a:rPr lang="en-US" sz="1400" b="0" i="0" u="none" strike="noStrike">
                          <a:solidFill>
                            <a:srgbClr val="000000"/>
                          </a:solidFill>
                          <a:effectLst/>
                          <a:latin typeface="Calibri" panose="020F0502020204030204" pitchFamily="34" charset="0"/>
                        </a:rPr>
                        <a:t>50%</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tc>
                  <a:txBody>
                    <a:bodyPr/>
                    <a:lstStyle/>
                    <a:p>
                      <a:pPr algn="ctr" fontAlgn="b"/>
                      <a:r>
                        <a:rPr lang="en-US" sz="1400" b="0" i="0" u="none" strike="noStrike" dirty="0">
                          <a:solidFill>
                            <a:srgbClr val="000000"/>
                          </a:solidFill>
                          <a:effectLst/>
                          <a:latin typeface="Calibri" panose="020F0502020204030204" pitchFamily="34" charset="0"/>
                        </a:rPr>
                        <a:t>100</a:t>
                      </a:r>
                    </a:p>
                  </a:txBody>
                  <a:tcPr marT="91440" marB="9144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7DEE8"/>
                    </a:solidFill>
                  </a:tcPr>
                </a:tc>
                <a:extLst>
                  <a:ext uri="{0D108BD9-81ED-4DB2-BD59-A6C34878D82A}">
                    <a16:rowId xmlns:a16="http://schemas.microsoft.com/office/drawing/2014/main" val="1388612814"/>
                  </a:ext>
                </a:extLst>
              </a:tr>
              <a:tr h="218694">
                <a:tc>
                  <a:txBody>
                    <a:bodyPr/>
                    <a:lstStyle/>
                    <a:p>
                      <a:pPr algn="ctr" fontAlgn="b"/>
                      <a:r>
                        <a:rPr lang="en-US" sz="1400" b="0" i="0" u="none" strike="noStrike" dirty="0">
                          <a:solidFill>
                            <a:srgbClr val="000000"/>
                          </a:solidFill>
                          <a:effectLst/>
                          <a:latin typeface="Calibri" panose="020F0502020204030204" pitchFamily="34" charset="0"/>
                        </a:rPr>
                        <a:t>6</a:t>
                      </a:r>
                    </a:p>
                  </a:txBody>
                  <a:tcPr marT="91440" marB="9144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l" fontAlgn="b"/>
                      <a:r>
                        <a:rPr lang="en-US" sz="1400" b="0" i="0" u="none" strike="noStrike">
                          <a:solidFill>
                            <a:srgbClr val="000000"/>
                          </a:solidFill>
                          <a:effectLst/>
                          <a:latin typeface="Calibri" panose="020F0502020204030204" pitchFamily="34" charset="0"/>
                        </a:rPr>
                        <a:t>Support</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ctr" fontAlgn="b"/>
                      <a:r>
                        <a:rPr lang="en-US" sz="1400" b="0" i="0" u="none" strike="noStrike">
                          <a:solidFill>
                            <a:srgbClr val="000000"/>
                          </a:solidFill>
                          <a:effectLst/>
                          <a:latin typeface="Calibri" panose="020F0502020204030204" pitchFamily="34" charset="0"/>
                        </a:rPr>
                        <a:t>480</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ctr" fontAlgn="b"/>
                      <a:r>
                        <a:rPr lang="en-US" sz="1400" b="0" i="0" u="none" strike="noStrike">
                          <a:solidFill>
                            <a:srgbClr val="000000"/>
                          </a:solidFill>
                          <a:effectLst/>
                          <a:latin typeface="Calibri" panose="020F0502020204030204" pitchFamily="34" charset="0"/>
                        </a:rPr>
                        <a:t>25%</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tc>
                  <a:txBody>
                    <a:bodyPr/>
                    <a:lstStyle/>
                    <a:p>
                      <a:pPr algn="ctr" fontAlgn="b"/>
                      <a:r>
                        <a:rPr lang="en-US" sz="1400" b="0" i="0" u="none" strike="noStrike" dirty="0">
                          <a:solidFill>
                            <a:srgbClr val="000000"/>
                          </a:solidFill>
                          <a:effectLst/>
                          <a:latin typeface="Calibri" panose="020F0502020204030204" pitchFamily="34" charset="0"/>
                        </a:rPr>
                        <a:t>120</a:t>
                      </a:r>
                    </a:p>
                  </a:txBody>
                  <a:tcPr marT="91440" marB="9144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EEF3"/>
                    </a:solidFill>
                  </a:tcPr>
                </a:tc>
                <a:extLst>
                  <a:ext uri="{0D108BD9-81ED-4DB2-BD59-A6C34878D82A}">
                    <a16:rowId xmlns:a16="http://schemas.microsoft.com/office/drawing/2014/main" val="4018219689"/>
                  </a:ext>
                </a:extLst>
              </a:tr>
              <a:tr h="218694">
                <a:tc>
                  <a:txBody>
                    <a:bodyPr/>
                    <a:lstStyle/>
                    <a:p>
                      <a:pPr algn="ctr" fontAlgn="b"/>
                      <a:r>
                        <a:rPr lang="en-US" sz="1400" b="0" i="0" u="none" strike="noStrike" dirty="0">
                          <a:solidFill>
                            <a:srgbClr val="000000"/>
                          </a:solidFill>
                          <a:effectLst/>
                          <a:latin typeface="Calibri" panose="020F0502020204030204" pitchFamily="34" charset="0"/>
                        </a:rPr>
                        <a:t>7</a:t>
                      </a:r>
                    </a:p>
                  </a:txBody>
                  <a:tcPr marT="91440" marB="9144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l" fontAlgn="b"/>
                      <a:r>
                        <a:rPr lang="en-US" sz="1400" b="0" i="0" u="none" strike="noStrike">
                          <a:solidFill>
                            <a:srgbClr val="000000"/>
                          </a:solidFill>
                          <a:effectLst/>
                          <a:latin typeface="Calibri" panose="020F0502020204030204" pitchFamily="34" charset="0"/>
                        </a:rPr>
                        <a:t>Junior Support </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b"/>
                      <a:r>
                        <a:rPr lang="en-US" sz="1400" b="0" i="0" u="none" strike="noStrike">
                          <a:solidFill>
                            <a:srgbClr val="000000"/>
                          </a:solidFill>
                          <a:effectLst/>
                          <a:latin typeface="Calibri" panose="020F0502020204030204" pitchFamily="34" charset="0"/>
                        </a:rPr>
                        <a:t>54</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b"/>
                      <a:r>
                        <a:rPr lang="en-US" sz="1400" b="0" i="0" u="none" strike="noStrike">
                          <a:solidFill>
                            <a:srgbClr val="000000"/>
                          </a:solidFill>
                          <a:effectLst/>
                          <a:latin typeface="Calibri" panose="020F0502020204030204" pitchFamily="34" charset="0"/>
                        </a:rPr>
                        <a:t>0%</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tc>
                  <a:txBody>
                    <a:bodyPr/>
                    <a:lstStyle/>
                    <a:p>
                      <a:pPr algn="ctr" fontAlgn="b"/>
                      <a:r>
                        <a:rPr lang="en-US" sz="1400" b="0" i="0" u="none" strike="noStrike" dirty="0">
                          <a:solidFill>
                            <a:srgbClr val="000000"/>
                          </a:solidFill>
                          <a:effectLst/>
                          <a:latin typeface="Calibri" panose="020F0502020204030204" pitchFamily="34" charset="0"/>
                        </a:rPr>
                        <a:t>0</a:t>
                      </a:r>
                    </a:p>
                  </a:txBody>
                  <a:tcPr marT="91440" marB="9144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DEE8"/>
                    </a:solidFill>
                  </a:tcPr>
                </a:tc>
                <a:extLst>
                  <a:ext uri="{0D108BD9-81ED-4DB2-BD59-A6C34878D82A}">
                    <a16:rowId xmlns:a16="http://schemas.microsoft.com/office/drawing/2014/main" val="2197870344"/>
                  </a:ext>
                </a:extLst>
              </a:tr>
              <a:tr h="218694">
                <a:tc>
                  <a:txBody>
                    <a:bodyPr/>
                    <a:lstStyle/>
                    <a:p>
                      <a:pPr algn="l" fontAlgn="b"/>
                      <a:r>
                        <a:rPr lang="en-US" sz="1400" b="1" i="0" u="none" strike="noStrike">
                          <a:solidFill>
                            <a:srgbClr val="000000"/>
                          </a:solidFill>
                          <a:effectLst/>
                          <a:latin typeface="Calibri" panose="020F0502020204030204" pitchFamily="34" charset="0"/>
                        </a:rPr>
                        <a:t> </a:t>
                      </a:r>
                    </a:p>
                  </a:txBody>
                  <a:tcPr marT="91440" marB="91440" anchor="b">
                    <a:lnL>
                      <a:noFill/>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l" fontAlgn="b"/>
                      <a:r>
                        <a:rPr lang="en-US" sz="1400" b="1" i="0" u="none" strike="noStrike" dirty="0">
                          <a:solidFill>
                            <a:srgbClr val="000000"/>
                          </a:solidFill>
                          <a:effectLst/>
                          <a:latin typeface="Calibri" panose="020F0502020204030204" pitchFamily="34" charset="0"/>
                        </a:rPr>
                        <a:t>Total</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b"/>
                      <a:r>
                        <a:rPr lang="en-US" sz="1400" b="1" i="0" u="none" strike="noStrike" dirty="0">
                          <a:solidFill>
                            <a:srgbClr val="000000"/>
                          </a:solidFill>
                          <a:effectLst/>
                          <a:latin typeface="Calibri" panose="020F0502020204030204" pitchFamily="34" charset="0"/>
                        </a:rPr>
                        <a:t>1041</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b"/>
                      <a:r>
                        <a:rPr lang="en-US" sz="1400" b="1" i="0" u="none" strike="noStrike" dirty="0">
                          <a:solidFill>
                            <a:srgbClr val="000000"/>
                          </a:solidFill>
                          <a:effectLst/>
                          <a:latin typeface="Calibri" panose="020F0502020204030204" pitchFamily="34" charset="0"/>
                        </a:rPr>
                        <a:t> </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tc>
                  <a:txBody>
                    <a:bodyPr/>
                    <a:lstStyle/>
                    <a:p>
                      <a:pPr algn="ctr" fontAlgn="b"/>
                      <a:r>
                        <a:rPr lang="en-US" sz="1400" b="1" i="0" u="none" strike="noStrike" dirty="0">
                          <a:solidFill>
                            <a:srgbClr val="000000"/>
                          </a:solidFill>
                          <a:effectLst/>
                          <a:latin typeface="Calibri" panose="020F0502020204030204" pitchFamily="34" charset="0"/>
                        </a:rPr>
                        <a:t>527</a:t>
                      </a:r>
                    </a:p>
                  </a:txBody>
                  <a:tcPr marT="91440" marB="91440" anchor="b">
                    <a:lnL w="6350" cap="flat" cmpd="sng" algn="ctr">
                      <a:solidFill>
                        <a:srgbClr val="FFFFFF"/>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F3"/>
                    </a:solidFill>
                  </a:tcPr>
                </a:tc>
                <a:extLst>
                  <a:ext uri="{0D108BD9-81ED-4DB2-BD59-A6C34878D82A}">
                    <a16:rowId xmlns:a16="http://schemas.microsoft.com/office/drawing/2014/main" val="3247008131"/>
                  </a:ext>
                </a:extLst>
              </a:tr>
              <a:tr h="218694">
                <a:tc>
                  <a:txBody>
                    <a:bodyPr/>
                    <a:lstStyle/>
                    <a:p>
                      <a:pPr algn="l" fontAlgn="b"/>
                      <a:r>
                        <a:rPr lang="en-US" sz="1400" b="1" i="0" u="none" strike="noStrike" dirty="0">
                          <a:solidFill>
                            <a:srgbClr val="000000"/>
                          </a:solidFill>
                          <a:effectLst/>
                          <a:latin typeface="Calibri" panose="020F0502020204030204" pitchFamily="34" charset="0"/>
                        </a:rPr>
                        <a:t>B</a:t>
                      </a:r>
                    </a:p>
                  </a:txBody>
                  <a:tcPr marT="91440" marB="91440" anchor="b">
                    <a:lnL>
                      <a:noFill/>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gridSpan="3">
                  <a:txBody>
                    <a:bodyPr/>
                    <a:lstStyle/>
                    <a:p>
                      <a:pPr algn="l" fontAlgn="b"/>
                      <a:r>
                        <a:rPr lang="en-US" sz="1400" b="1" i="0" u="none" strike="noStrike" dirty="0">
                          <a:solidFill>
                            <a:srgbClr val="000000"/>
                          </a:solidFill>
                          <a:effectLst/>
                          <a:latin typeface="Calibri" panose="020F0502020204030204" pitchFamily="34" charset="0"/>
                        </a:rPr>
                        <a:t>Business intelligence tool licenses for S. No. 1 and 2</a:t>
                      </a: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hMerge="1">
                  <a:txBody>
                    <a:bodyPr/>
                    <a:lstStyle/>
                    <a:p>
                      <a:pPr algn="ctr" fontAlgn="b"/>
                      <a:endParaRPr lang="en-US" sz="1400" b="1" i="0" u="none" strike="noStrike" dirty="0">
                        <a:solidFill>
                          <a:srgbClr val="000000"/>
                        </a:solidFill>
                        <a:effectLst/>
                        <a:latin typeface="Calibri" panose="020F0502020204030204" pitchFamily="34" charset="0"/>
                      </a:endParaRP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EF3"/>
                    </a:solidFill>
                  </a:tcPr>
                </a:tc>
                <a:tc hMerge="1">
                  <a:txBody>
                    <a:bodyPr/>
                    <a:lstStyle/>
                    <a:p>
                      <a:pPr algn="ctr" fontAlgn="b"/>
                      <a:endParaRPr lang="en-US" sz="1400" b="1" i="0" u="none" strike="noStrike" dirty="0">
                        <a:solidFill>
                          <a:srgbClr val="000000"/>
                        </a:solidFill>
                        <a:effectLst/>
                        <a:latin typeface="Calibri" panose="020F0502020204030204" pitchFamily="34" charset="0"/>
                      </a:endParaRPr>
                    </a:p>
                  </a:txBody>
                  <a:tcPr marT="91440" marB="9144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AEEF3"/>
                    </a:solidFill>
                  </a:tcPr>
                </a:tc>
                <a:tc>
                  <a:txBody>
                    <a:bodyPr/>
                    <a:lstStyle/>
                    <a:p>
                      <a:pPr algn="ctr" fontAlgn="b"/>
                      <a:r>
                        <a:rPr lang="en-US" sz="1400" b="1" i="0" u="none" strike="noStrike" dirty="0">
                          <a:solidFill>
                            <a:srgbClr val="000000"/>
                          </a:solidFill>
                          <a:effectLst/>
                          <a:latin typeface="Calibri" panose="020F0502020204030204" pitchFamily="34" charset="0"/>
                        </a:rPr>
                        <a:t>21</a:t>
                      </a:r>
                    </a:p>
                  </a:txBody>
                  <a:tcPr marT="91440" marB="91440" anchor="b">
                    <a:lnL w="6350" cap="flat" cmpd="sng" algn="ctr">
                      <a:solidFill>
                        <a:srgbClr val="FFFFFF"/>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506237265"/>
                  </a:ext>
                </a:extLst>
              </a:tr>
            </a:tbl>
          </a:graphicData>
        </a:graphic>
      </p:graphicFrame>
    </p:spTree>
    <p:extLst>
      <p:ext uri="{BB962C8B-B14F-4D97-AF65-F5344CB8AC3E}">
        <p14:creationId xmlns:p14="http://schemas.microsoft.com/office/powerpoint/2010/main" val="100285489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extLst>
              <p:ext uri="{D42A27DB-BD31-4B8C-83A1-F6EECF244321}">
                <p14:modId xmlns:p14="http://schemas.microsoft.com/office/powerpoint/2010/main" val="33585645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We have assessed the One Time Implementation Costs based on the ERP Modules / Implementation Model discussed earlier</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47" y="317501"/>
            <a:ext cx="11188700" cy="334099"/>
          </a:xfrm>
        </p:spPr>
        <p:txBody>
          <a:bodyPr vert="horz"/>
          <a:lstStyle/>
          <a:p>
            <a:r>
              <a:rPr lang="en-US" dirty="0"/>
              <a:t>Cost Workings (1/3) – Tangible Costs</a:t>
            </a:r>
            <a:endParaRPr lang="en-GB" dirty="0"/>
          </a:p>
        </p:txBody>
      </p:sp>
      <p:sp>
        <p:nvSpPr>
          <p:cNvPr id="27" name="Rectangle 26" hidden="1">
            <a:extLst>
              <a:ext uri="{FF2B5EF4-FFF2-40B4-BE49-F238E27FC236}">
                <a16:creationId xmlns:a16="http://schemas.microsoft.com/office/drawing/2014/main" id="{0C424A78-685D-4AD2-9957-F532F86BEC0D}"/>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graphicFrame>
        <p:nvGraphicFramePr>
          <p:cNvPr id="5" name="Table 4">
            <a:extLst>
              <a:ext uri="{FF2B5EF4-FFF2-40B4-BE49-F238E27FC236}">
                <a16:creationId xmlns:a16="http://schemas.microsoft.com/office/drawing/2014/main" id="{E1A7CCF8-2B57-42A0-B01E-92F4F508FC54}"/>
              </a:ext>
            </a:extLst>
          </p:cNvPr>
          <p:cNvGraphicFramePr>
            <a:graphicFrameLocks noGrp="1"/>
          </p:cNvGraphicFramePr>
          <p:nvPr>
            <p:extLst>
              <p:ext uri="{D42A27DB-BD31-4B8C-83A1-F6EECF244321}">
                <p14:modId xmlns:p14="http://schemas.microsoft.com/office/powerpoint/2010/main" val="2237818178"/>
              </p:ext>
            </p:extLst>
          </p:nvPr>
        </p:nvGraphicFramePr>
        <p:xfrm>
          <a:off x="501649" y="1376956"/>
          <a:ext cx="11188698" cy="4359995"/>
        </p:xfrm>
        <a:graphic>
          <a:graphicData uri="http://schemas.openxmlformats.org/drawingml/2006/table">
            <a:tbl>
              <a:tblPr/>
              <a:tblGrid>
                <a:gridCol w="580545">
                  <a:extLst>
                    <a:ext uri="{9D8B030D-6E8A-4147-A177-3AD203B41FA5}">
                      <a16:colId xmlns:a16="http://schemas.microsoft.com/office/drawing/2014/main" val="2334357449"/>
                    </a:ext>
                  </a:extLst>
                </a:gridCol>
                <a:gridCol w="3061059">
                  <a:extLst>
                    <a:ext uri="{9D8B030D-6E8A-4147-A177-3AD203B41FA5}">
                      <a16:colId xmlns:a16="http://schemas.microsoft.com/office/drawing/2014/main" val="349794407"/>
                    </a:ext>
                  </a:extLst>
                </a:gridCol>
                <a:gridCol w="758356">
                  <a:extLst>
                    <a:ext uri="{9D8B030D-6E8A-4147-A177-3AD203B41FA5}">
                      <a16:colId xmlns:a16="http://schemas.microsoft.com/office/drawing/2014/main" val="3658594218"/>
                    </a:ext>
                  </a:extLst>
                </a:gridCol>
                <a:gridCol w="659219">
                  <a:extLst>
                    <a:ext uri="{9D8B030D-6E8A-4147-A177-3AD203B41FA5}">
                      <a16:colId xmlns:a16="http://schemas.microsoft.com/office/drawing/2014/main" val="453165631"/>
                    </a:ext>
                  </a:extLst>
                </a:gridCol>
                <a:gridCol w="917802">
                  <a:extLst>
                    <a:ext uri="{9D8B030D-6E8A-4147-A177-3AD203B41FA5}">
                      <a16:colId xmlns:a16="http://schemas.microsoft.com/office/drawing/2014/main" val="3329315821"/>
                    </a:ext>
                  </a:extLst>
                </a:gridCol>
                <a:gridCol w="949984">
                  <a:extLst>
                    <a:ext uri="{9D8B030D-6E8A-4147-A177-3AD203B41FA5}">
                      <a16:colId xmlns:a16="http://schemas.microsoft.com/office/drawing/2014/main" val="2279479038"/>
                    </a:ext>
                  </a:extLst>
                </a:gridCol>
                <a:gridCol w="620233">
                  <a:extLst>
                    <a:ext uri="{9D8B030D-6E8A-4147-A177-3AD203B41FA5}">
                      <a16:colId xmlns:a16="http://schemas.microsoft.com/office/drawing/2014/main" val="2546927066"/>
                    </a:ext>
                  </a:extLst>
                </a:gridCol>
                <a:gridCol w="3641500">
                  <a:extLst>
                    <a:ext uri="{9D8B030D-6E8A-4147-A177-3AD203B41FA5}">
                      <a16:colId xmlns:a16="http://schemas.microsoft.com/office/drawing/2014/main" val="2382657826"/>
                    </a:ext>
                  </a:extLst>
                </a:gridCol>
              </a:tblGrid>
              <a:tr h="0">
                <a:tc>
                  <a:txBody>
                    <a:bodyPr/>
                    <a:lstStyle/>
                    <a:p>
                      <a:pPr algn="ctr" fontAlgn="ctr"/>
                      <a:r>
                        <a:rPr lang="en-US" sz="1050" b="1" i="0" u="none" strike="noStrike">
                          <a:solidFill>
                            <a:srgbClr val="FFFFFF"/>
                          </a:solidFill>
                          <a:effectLst/>
                          <a:latin typeface="Calibri" panose="020F0502020204030204" pitchFamily="34" charset="0"/>
                        </a:rPr>
                        <a:t>Sl. 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l" fontAlgn="ctr"/>
                      <a:r>
                        <a:rPr lang="en-US" sz="1050" b="1" i="0" u="none" strike="noStrike" dirty="0">
                          <a:solidFill>
                            <a:srgbClr val="FFFFFF"/>
                          </a:solidFill>
                          <a:effectLst/>
                          <a:latin typeface="Calibri" panose="020F0502020204030204" pitchFamily="34" charset="0"/>
                        </a:rPr>
                        <a:t>Particulars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050" b="1" i="0" u="none" strike="noStrike">
                          <a:solidFill>
                            <a:srgbClr val="FFFFFF"/>
                          </a:solidFill>
                          <a:effectLst/>
                          <a:latin typeface="Calibri" panose="020F0502020204030204" pitchFamily="34" charset="0"/>
                        </a:rPr>
                        <a:t>Qty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050" b="1" i="0" u="none" strike="noStrike">
                          <a:solidFill>
                            <a:srgbClr val="FFFFFF"/>
                          </a:solidFill>
                          <a:effectLst/>
                          <a:latin typeface="Calibri" panose="020F0502020204030204" pitchFamily="34" charset="0"/>
                        </a:rPr>
                        <a:t>Unit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050" b="1" i="0" u="none" strike="noStrike">
                          <a:solidFill>
                            <a:srgbClr val="FFFFFF"/>
                          </a:solidFill>
                          <a:effectLst/>
                          <a:latin typeface="Calibri" panose="020F0502020204030204" pitchFamily="34" charset="0"/>
                        </a:rPr>
                        <a:t>Unit Cost in USD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050" b="1" i="0" u="none" strike="noStrike">
                          <a:solidFill>
                            <a:srgbClr val="FFFFFF"/>
                          </a:solidFill>
                          <a:effectLst/>
                          <a:latin typeface="Calibri" panose="020F0502020204030204" pitchFamily="34" charset="0"/>
                        </a:rPr>
                        <a:t>Amount in USD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050" b="1" i="0" u="none" strike="noStrike">
                          <a:solidFill>
                            <a:srgbClr val="FFFFFF"/>
                          </a:solidFill>
                          <a:effectLst/>
                          <a:latin typeface="Calibri" panose="020F0502020204030204" pitchFamily="34" charset="0"/>
                        </a:rPr>
                        <a:t>Pkg</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l" fontAlgn="ctr"/>
                      <a:r>
                        <a:rPr lang="en-US" sz="1050" b="1" i="0" u="none" strike="noStrike">
                          <a:solidFill>
                            <a:srgbClr val="FFFFFF"/>
                          </a:solidFill>
                          <a:effectLst/>
                          <a:latin typeface="Calibri" panose="020F0502020204030204" pitchFamily="34" charset="0"/>
                        </a:rPr>
                        <a:t>Deloitte Analysis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extLst>
                  <a:ext uri="{0D108BD9-81ED-4DB2-BD59-A6C34878D82A}">
                    <a16:rowId xmlns:a16="http://schemas.microsoft.com/office/drawing/2014/main" val="1019319741"/>
                  </a:ext>
                </a:extLst>
              </a:tr>
              <a:tr h="290915">
                <a:tc>
                  <a:txBody>
                    <a:bodyPr/>
                    <a:lstStyle/>
                    <a:p>
                      <a:pPr algn="ctr" fontAlgn="ctr"/>
                      <a:r>
                        <a:rPr lang="en-US" sz="1050" b="1" i="0" u="none" strike="noStrike">
                          <a:solidFill>
                            <a:srgbClr val="000000"/>
                          </a:solidFill>
                          <a:effectLst/>
                          <a:latin typeface="Calibri" panose="020F0502020204030204" pitchFamily="34" charset="0"/>
                        </a:rPr>
                        <a:t>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1" i="0" u="none" strike="noStrike">
                          <a:solidFill>
                            <a:srgbClr val="000000"/>
                          </a:solidFill>
                          <a:effectLst/>
                          <a:latin typeface="Calibri" panose="020F0502020204030204" pitchFamily="34" charset="0"/>
                        </a:rPr>
                        <a:t>Application Software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rowSpan="13">
                  <a:txBody>
                    <a:bodyPr/>
                    <a:lstStyle/>
                    <a:p>
                      <a:pPr algn="ctr" fontAlgn="ctr"/>
                      <a:r>
                        <a:rPr lang="en-US" sz="1050" b="0" i="0" u="none" strike="noStrike" dirty="0">
                          <a:solidFill>
                            <a:srgbClr val="000000"/>
                          </a:solidFill>
                          <a:effectLst/>
                          <a:latin typeface="Calibri" panose="020F0502020204030204" pitchFamily="34" charset="0"/>
                        </a:rPr>
                        <a:t>1 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rowSpan="6">
                  <a:txBody>
                    <a:bodyPr/>
                    <a:lstStyle/>
                    <a:p>
                      <a:pPr marL="171450" indent="-171450" algn="l" fontAlgn="ctr">
                        <a:buFont typeface="Arial" panose="020B0604020202020204" pitchFamily="34" charset="0"/>
                        <a:buChar char="•"/>
                      </a:pPr>
                      <a:r>
                        <a:rPr lang="en-US" sz="1050" b="0" i="0" u="none" strike="noStrike" dirty="0">
                          <a:solidFill>
                            <a:srgbClr val="000000"/>
                          </a:solidFill>
                          <a:effectLst/>
                          <a:latin typeface="Calibri" panose="020F0502020204030204" pitchFamily="34" charset="0"/>
                        </a:rPr>
                        <a:t>As per working on number of Users and rates charged by ERP vendors. Prices may reduce by 20%-30% depending upon competition. Core ERP licenses include all modules indicated (other than CRM and billing) and also includes workflow and document management system</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3386799036"/>
                  </a:ext>
                </a:extLst>
              </a:tr>
              <a:tr h="134548">
                <a:tc>
                  <a:txBody>
                    <a:bodyPr/>
                    <a:lstStyle/>
                    <a:p>
                      <a:pPr algn="ctr" fontAlgn="ctr"/>
                      <a:r>
                        <a:rPr lang="en-US" sz="1050" b="0" i="0" u="none" strike="noStrike">
                          <a:solidFill>
                            <a:srgbClr val="000000"/>
                          </a:solidFill>
                          <a:effectLst/>
                          <a:latin typeface="Calibri" panose="020F0502020204030204" pitchFamily="34" charset="0"/>
                        </a:rPr>
                        <a:t>1.1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Calibri" panose="020F0502020204030204" pitchFamily="34" charset="0"/>
                        </a:rPr>
                        <a:t>Core ERP licences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527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2,100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1,106,700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6843535"/>
                  </a:ext>
                </a:extLst>
              </a:tr>
              <a:tr h="134548">
                <a:tc>
                  <a:txBody>
                    <a:bodyPr/>
                    <a:lstStyle/>
                    <a:p>
                      <a:pPr algn="ctr" fontAlgn="ctr"/>
                      <a:r>
                        <a:rPr lang="en-US" sz="1050" b="0" i="0" u="none" strike="noStrike">
                          <a:solidFill>
                            <a:srgbClr val="000000"/>
                          </a:solidFill>
                          <a:effectLst/>
                          <a:latin typeface="Calibri" panose="020F0502020204030204" pitchFamily="34" charset="0"/>
                        </a:rPr>
                        <a:t>1.2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Pay roll user liences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1041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a:solidFill>
                            <a:srgbClr val="000000"/>
                          </a:solidFill>
                          <a:effectLst/>
                          <a:latin typeface="Calibri" panose="020F0502020204030204" pitchFamily="34" charset="0"/>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20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20,820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3090559734"/>
                  </a:ext>
                </a:extLst>
              </a:tr>
              <a:tr h="134548">
                <a:tc>
                  <a:txBody>
                    <a:bodyPr/>
                    <a:lstStyle/>
                    <a:p>
                      <a:pPr algn="ctr" fontAlgn="ctr"/>
                      <a:r>
                        <a:rPr lang="en-US" sz="1050" b="0" i="0" u="none" strike="noStrike">
                          <a:solidFill>
                            <a:srgbClr val="000000"/>
                          </a:solidFill>
                          <a:effectLst/>
                          <a:latin typeface="Calibri" panose="020F0502020204030204" pitchFamily="34" charset="0"/>
                        </a:rPr>
                        <a:t>1.3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Calibri" panose="020F0502020204030204" pitchFamily="34" charset="0"/>
                        </a:rPr>
                        <a:t>Employer/manager self service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1041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200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208,200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0705047"/>
                  </a:ext>
                </a:extLst>
              </a:tr>
              <a:tr h="134548">
                <a:tc>
                  <a:txBody>
                    <a:bodyPr/>
                    <a:lstStyle/>
                    <a:p>
                      <a:pPr algn="ctr" fontAlgn="ctr"/>
                      <a:r>
                        <a:rPr lang="en-US" sz="1050" b="0" i="0" u="none" strike="noStrike">
                          <a:solidFill>
                            <a:srgbClr val="000000"/>
                          </a:solidFill>
                          <a:effectLst/>
                          <a:latin typeface="Calibri" panose="020F0502020204030204" pitchFamily="34" charset="0"/>
                        </a:rPr>
                        <a:t>1.4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Business intelligence tool licences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21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4,000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84,000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1328763874"/>
                  </a:ext>
                </a:extLst>
              </a:tr>
              <a:tr h="145458">
                <a:tc>
                  <a:txBody>
                    <a:bodyPr/>
                    <a:lstStyle/>
                    <a:p>
                      <a:pPr algn="ctr" fontAlgn="ctr"/>
                      <a:r>
                        <a:rPr lang="en-US" sz="1050" b="0" i="0" u="none" strike="noStrike">
                          <a:solidFill>
                            <a:srgbClr val="000000"/>
                          </a:solidFill>
                          <a:effectLst/>
                          <a:latin typeface="Calibri" panose="020F0502020204030204" pitchFamily="34" charset="0"/>
                        </a:rPr>
                        <a:t>1.5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Calibri" panose="020F0502020204030204" pitchFamily="34" charset="0"/>
                        </a:rPr>
                        <a:t>Sub Total (for application software user licence) (1.1+1.2+1.3+1.4)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endParaRPr lang="en-US" sz="1050" b="0"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1,419,720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5637046"/>
                  </a:ext>
                </a:extLst>
              </a:tr>
              <a:tr h="145458">
                <a:tc>
                  <a:txBody>
                    <a:bodyPr/>
                    <a:lstStyle/>
                    <a:p>
                      <a:pPr algn="ctr" fontAlgn="ctr"/>
                      <a:r>
                        <a:rPr lang="en-US" sz="1050" b="0" i="0" u="none" strike="noStrike">
                          <a:solidFill>
                            <a:srgbClr val="000000"/>
                          </a:solidFill>
                          <a:effectLst/>
                          <a:latin typeface="Calibri" panose="020F0502020204030204" pitchFamily="34" charset="0"/>
                        </a:rPr>
                        <a:t>1.6</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Non-ERP software for Admin / Corporate and legal / Internal Audit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Lumpsum</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100,000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marL="171450" indent="-171450" algn="l" fontAlgn="ctr">
                        <a:buFont typeface="Arial" panose="020B0604020202020204" pitchFamily="34" charset="0"/>
                        <a:buChar char="•"/>
                      </a:pPr>
                      <a:r>
                        <a:rPr lang="en-US" sz="1050" b="0" i="0" u="none" strike="noStrike">
                          <a:solidFill>
                            <a:srgbClr val="000000"/>
                          </a:solidFill>
                          <a:effectLst/>
                          <a:latin typeface="Calibri" panose="020F0502020204030204" pitchFamily="34" charset="0"/>
                        </a:rPr>
                        <a:t>Provision for additional best of breed software for select non ERP modules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3658676791"/>
                  </a:ext>
                </a:extLst>
              </a:tr>
              <a:tr h="134548">
                <a:tc>
                  <a:txBody>
                    <a:bodyPr/>
                    <a:lstStyle/>
                    <a:p>
                      <a:pPr algn="ctr" fontAlgn="ctr"/>
                      <a:r>
                        <a:rPr lang="en-US" sz="1050" b="0" i="0" u="none" strike="noStrike">
                          <a:solidFill>
                            <a:srgbClr val="000000"/>
                          </a:solidFill>
                          <a:effectLst/>
                          <a:latin typeface="Calibri" panose="020F0502020204030204" pitchFamily="34" charset="0"/>
                        </a:rPr>
                        <a:t>1.7</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dirty="0">
                          <a:solidFill>
                            <a:srgbClr val="000000"/>
                          </a:solidFill>
                          <a:effectLst/>
                          <a:latin typeface="Calibri" panose="020F0502020204030204" pitchFamily="34" charset="0"/>
                        </a:rPr>
                        <a:t>OT Tool for Fuel and Generation Monitoring</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Lumpsum</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1"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350,000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indent="0" algn="l" fontAlgn="ctr">
                        <a:buFont typeface="Arial" panose="020B0604020202020204" pitchFamily="34" charset="0"/>
                        <a:buNone/>
                      </a:pPr>
                      <a:r>
                        <a:rPr lang="en-US" sz="1050" b="0"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0766852"/>
                  </a:ext>
                </a:extLst>
              </a:tr>
              <a:tr h="134548">
                <a:tc>
                  <a:txBody>
                    <a:bodyPr/>
                    <a:lstStyle/>
                    <a:p>
                      <a:pPr algn="ctr" fontAlgn="ctr"/>
                      <a:r>
                        <a:rPr lang="en-US" sz="1050" b="1" i="0" u="none" strike="noStrike">
                          <a:solidFill>
                            <a:srgbClr val="000000"/>
                          </a:solidFill>
                          <a:effectLst/>
                          <a:latin typeface="Calibri" panose="020F0502020204030204" pitchFamily="34" charset="0"/>
                        </a:rPr>
                        <a:t>A</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1" i="0" u="none" strike="noStrike">
                          <a:solidFill>
                            <a:srgbClr val="000000"/>
                          </a:solidFill>
                          <a:effectLst/>
                          <a:latin typeface="Calibri" panose="020F0502020204030204" pitchFamily="34" charset="0"/>
                        </a:rPr>
                        <a:t>Total (Application Software)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1"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1"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1"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1" i="0" u="none" strike="noStrike" dirty="0">
                          <a:solidFill>
                            <a:srgbClr val="000000"/>
                          </a:solidFill>
                          <a:effectLst/>
                          <a:latin typeface="Calibri" panose="020F0502020204030204" pitchFamily="34" charset="0"/>
                        </a:rPr>
                        <a:t>1,869,720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marL="0" indent="0" algn="l" fontAlgn="ctr">
                        <a:buFont typeface="Arial" panose="020B0604020202020204" pitchFamily="34" charset="0"/>
                        <a:buNone/>
                      </a:pPr>
                      <a:r>
                        <a:rPr lang="en-US" sz="1050" b="0"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537852700"/>
                  </a:ext>
                </a:extLst>
              </a:tr>
              <a:tr h="218186">
                <a:tc>
                  <a:txBody>
                    <a:bodyPr/>
                    <a:lstStyle/>
                    <a:p>
                      <a:pPr algn="ctr" fontAlgn="ctr"/>
                      <a:r>
                        <a:rPr lang="en-US" sz="1050" b="1" i="0" u="none" strike="noStrike">
                          <a:solidFill>
                            <a:srgbClr val="000000"/>
                          </a:solidFill>
                          <a:effectLst/>
                          <a:latin typeface="Calibri" panose="020F0502020204030204" pitchFamily="34" charset="0"/>
                        </a:rPr>
                        <a:t>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1" i="0" u="none" strike="noStrike">
                          <a:solidFill>
                            <a:srgbClr val="000000"/>
                          </a:solidFill>
                          <a:effectLst/>
                          <a:latin typeface="Calibri" panose="020F0502020204030204" pitchFamily="34" charset="0"/>
                        </a:rPr>
                        <a:t>Implementation Services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1"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1"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marL="171450" indent="-171450" algn="l" fontAlgn="ctr">
                        <a:buFont typeface="Arial" panose="020B0604020202020204" pitchFamily="34" charset="0"/>
                        <a:buChar char="•"/>
                      </a:pPr>
                      <a:r>
                        <a:rPr lang="en-US" sz="1050" b="0" i="0" u="none" strike="noStrike" dirty="0">
                          <a:solidFill>
                            <a:srgbClr val="000000"/>
                          </a:solidFill>
                          <a:effectLst/>
                          <a:latin typeface="Calibri" panose="020F0502020204030204" pitchFamily="34" charset="0"/>
                        </a:rPr>
                        <a:t>Man month rate includes OPEs. </a:t>
                      </a:r>
                    </a:p>
                    <a:p>
                      <a:pPr marL="171450" indent="-171450" algn="l" fontAlgn="ctr">
                        <a:buFont typeface="Arial" panose="020B0604020202020204" pitchFamily="34" charset="0"/>
                        <a:buChar char="•"/>
                      </a:pPr>
                      <a:r>
                        <a:rPr lang="en-US" sz="1050" b="0" i="0" u="none" strike="noStrike" dirty="0">
                          <a:solidFill>
                            <a:srgbClr val="000000"/>
                          </a:solidFill>
                          <a:effectLst/>
                          <a:latin typeface="Calibri" panose="020F0502020204030204" pitchFamily="34" charset="0"/>
                        </a:rPr>
                        <a:t>Support man month rates are lower as they will be to some extent offsite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5579529"/>
                  </a:ext>
                </a:extLst>
              </a:tr>
              <a:tr h="134548">
                <a:tc>
                  <a:txBody>
                    <a:bodyPr/>
                    <a:lstStyle/>
                    <a:p>
                      <a:pPr algn="ctr" fontAlgn="ctr"/>
                      <a:r>
                        <a:rPr lang="en-US" sz="1050" b="0" i="0" u="none" strike="noStrike">
                          <a:solidFill>
                            <a:srgbClr val="000000"/>
                          </a:solidFill>
                          <a:effectLst/>
                          <a:latin typeface="Calibri" panose="020F0502020204030204" pitchFamily="34" charset="0"/>
                        </a:rPr>
                        <a:t>2.1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Implementation Services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65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Person-Months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8,000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520,000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1"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622145190"/>
                  </a:ext>
                </a:extLst>
              </a:tr>
              <a:tr h="134548">
                <a:tc>
                  <a:txBody>
                    <a:bodyPr/>
                    <a:lstStyle/>
                    <a:p>
                      <a:pPr algn="ctr" fontAlgn="ctr"/>
                      <a:r>
                        <a:rPr lang="en-US" sz="1050" b="0" i="0" u="none" strike="noStrike">
                          <a:solidFill>
                            <a:srgbClr val="000000"/>
                          </a:solidFill>
                          <a:effectLst/>
                          <a:latin typeface="Calibri" panose="020F0502020204030204" pitchFamily="34" charset="0"/>
                        </a:rPr>
                        <a:t>2.2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dirty="0">
                          <a:solidFill>
                            <a:srgbClr val="000000"/>
                          </a:solidFill>
                          <a:effectLst/>
                          <a:latin typeface="Calibri" panose="020F0502020204030204" pitchFamily="34" charset="0"/>
                        </a:rPr>
                        <a:t>Project Management Services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51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Person-Months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11,906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607,200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4008354"/>
                  </a:ext>
                </a:extLst>
              </a:tr>
              <a:tr h="134548">
                <a:tc>
                  <a:txBody>
                    <a:bodyPr/>
                    <a:lstStyle/>
                    <a:p>
                      <a:pPr algn="ctr" fontAlgn="ctr"/>
                      <a:r>
                        <a:rPr lang="en-US" sz="1050" b="1" i="0" u="none" strike="noStrike">
                          <a:solidFill>
                            <a:srgbClr val="000000"/>
                          </a:solidFill>
                          <a:effectLst/>
                          <a:latin typeface="Calibri" panose="020F0502020204030204" pitchFamily="34" charset="0"/>
                        </a:rPr>
                        <a:t>B</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1" i="0" u="none" strike="noStrike">
                          <a:solidFill>
                            <a:srgbClr val="000000"/>
                          </a:solidFill>
                          <a:effectLst/>
                          <a:latin typeface="Calibri" panose="020F0502020204030204" pitchFamily="34" charset="0"/>
                        </a:rPr>
                        <a:t>Total Implementation Services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1"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endParaRPr lang="en-US" sz="1050" b="1"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endParaRPr lang="en-US" sz="1050" b="1"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1" i="0" u="none" strike="noStrike" dirty="0">
                          <a:solidFill>
                            <a:srgbClr val="000000"/>
                          </a:solidFill>
                          <a:effectLst/>
                          <a:latin typeface="Calibri" panose="020F0502020204030204" pitchFamily="34" charset="0"/>
                        </a:rPr>
                        <a:t>1,127,200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T="91440" marB="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1" i="0" u="none" strike="noStrike" dirty="0">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1294433072"/>
                  </a:ext>
                </a:extLst>
              </a:tr>
            </a:tbl>
          </a:graphicData>
        </a:graphic>
      </p:graphicFrame>
    </p:spTree>
    <p:extLst>
      <p:ext uri="{BB962C8B-B14F-4D97-AF65-F5344CB8AC3E}">
        <p14:creationId xmlns:p14="http://schemas.microsoft.com/office/powerpoint/2010/main" val="313171626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extLst>
              <p:ext uri="{D42A27DB-BD31-4B8C-83A1-F6EECF244321}">
                <p14:modId xmlns:p14="http://schemas.microsoft.com/office/powerpoint/2010/main" val="41757833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We have assessed the One Time Implementation Costs based on the ERP Modules / Implementation Model discussed earlier</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Cost Workings (2/3) – Tangible Costs</a:t>
            </a:r>
            <a:endParaRPr lang="en-GB" dirty="0"/>
          </a:p>
        </p:txBody>
      </p:sp>
      <p:sp>
        <p:nvSpPr>
          <p:cNvPr id="27" name="Rectangle 26" hidden="1">
            <a:extLst>
              <a:ext uri="{FF2B5EF4-FFF2-40B4-BE49-F238E27FC236}">
                <a16:creationId xmlns:a16="http://schemas.microsoft.com/office/drawing/2014/main" id="{0C424A78-685D-4AD2-9957-F532F86BEC0D}"/>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graphicFrame>
        <p:nvGraphicFramePr>
          <p:cNvPr id="5" name="Table 4">
            <a:extLst>
              <a:ext uri="{FF2B5EF4-FFF2-40B4-BE49-F238E27FC236}">
                <a16:creationId xmlns:a16="http://schemas.microsoft.com/office/drawing/2014/main" id="{E1A7CCF8-2B57-42A0-B01E-92F4F508FC54}"/>
              </a:ext>
            </a:extLst>
          </p:cNvPr>
          <p:cNvGraphicFramePr>
            <a:graphicFrameLocks noGrp="1"/>
          </p:cNvGraphicFramePr>
          <p:nvPr>
            <p:extLst>
              <p:ext uri="{D42A27DB-BD31-4B8C-83A1-F6EECF244321}">
                <p14:modId xmlns:p14="http://schemas.microsoft.com/office/powerpoint/2010/main" val="894573946"/>
              </p:ext>
            </p:extLst>
          </p:nvPr>
        </p:nvGraphicFramePr>
        <p:xfrm>
          <a:off x="501649" y="1376956"/>
          <a:ext cx="11204798" cy="5095575"/>
        </p:xfrm>
        <a:graphic>
          <a:graphicData uri="http://schemas.openxmlformats.org/drawingml/2006/table">
            <a:tbl>
              <a:tblPr/>
              <a:tblGrid>
                <a:gridCol w="580545">
                  <a:extLst>
                    <a:ext uri="{9D8B030D-6E8A-4147-A177-3AD203B41FA5}">
                      <a16:colId xmlns:a16="http://schemas.microsoft.com/office/drawing/2014/main" val="2334357449"/>
                    </a:ext>
                  </a:extLst>
                </a:gridCol>
                <a:gridCol w="3061059">
                  <a:extLst>
                    <a:ext uri="{9D8B030D-6E8A-4147-A177-3AD203B41FA5}">
                      <a16:colId xmlns:a16="http://schemas.microsoft.com/office/drawing/2014/main" val="349794407"/>
                    </a:ext>
                  </a:extLst>
                </a:gridCol>
                <a:gridCol w="758356">
                  <a:extLst>
                    <a:ext uri="{9D8B030D-6E8A-4147-A177-3AD203B41FA5}">
                      <a16:colId xmlns:a16="http://schemas.microsoft.com/office/drawing/2014/main" val="3658594218"/>
                    </a:ext>
                  </a:extLst>
                </a:gridCol>
                <a:gridCol w="659219">
                  <a:extLst>
                    <a:ext uri="{9D8B030D-6E8A-4147-A177-3AD203B41FA5}">
                      <a16:colId xmlns:a16="http://schemas.microsoft.com/office/drawing/2014/main" val="453165631"/>
                    </a:ext>
                  </a:extLst>
                </a:gridCol>
                <a:gridCol w="917802">
                  <a:extLst>
                    <a:ext uri="{9D8B030D-6E8A-4147-A177-3AD203B41FA5}">
                      <a16:colId xmlns:a16="http://schemas.microsoft.com/office/drawing/2014/main" val="3329315821"/>
                    </a:ext>
                  </a:extLst>
                </a:gridCol>
                <a:gridCol w="949984">
                  <a:extLst>
                    <a:ext uri="{9D8B030D-6E8A-4147-A177-3AD203B41FA5}">
                      <a16:colId xmlns:a16="http://schemas.microsoft.com/office/drawing/2014/main" val="2279479038"/>
                    </a:ext>
                  </a:extLst>
                </a:gridCol>
                <a:gridCol w="4277833">
                  <a:extLst>
                    <a:ext uri="{9D8B030D-6E8A-4147-A177-3AD203B41FA5}">
                      <a16:colId xmlns:a16="http://schemas.microsoft.com/office/drawing/2014/main" val="2382657826"/>
                    </a:ext>
                  </a:extLst>
                </a:gridCol>
              </a:tblGrid>
              <a:tr h="0">
                <a:tc>
                  <a:txBody>
                    <a:bodyPr/>
                    <a:lstStyle/>
                    <a:p>
                      <a:pPr algn="ctr" fontAlgn="ctr"/>
                      <a:r>
                        <a:rPr lang="en-US" sz="1050" b="1" i="0" u="none" strike="noStrike">
                          <a:solidFill>
                            <a:srgbClr val="FFFFFF"/>
                          </a:solidFill>
                          <a:effectLst/>
                          <a:latin typeface="Calibri" panose="020F0502020204030204" pitchFamily="34" charset="0"/>
                        </a:rPr>
                        <a:t>Sl. 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l" fontAlgn="ctr"/>
                      <a:r>
                        <a:rPr lang="en-US" sz="1050" b="1" i="0" u="none" strike="noStrike">
                          <a:solidFill>
                            <a:srgbClr val="FFFFFF"/>
                          </a:solidFill>
                          <a:effectLst/>
                          <a:latin typeface="Calibri" panose="020F0502020204030204" pitchFamily="34" charset="0"/>
                        </a:rPr>
                        <a:t>Particulars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050" b="1" i="0" u="none" strike="noStrike">
                          <a:solidFill>
                            <a:srgbClr val="FFFFFF"/>
                          </a:solidFill>
                          <a:effectLst/>
                          <a:latin typeface="Calibri" panose="020F0502020204030204" pitchFamily="34" charset="0"/>
                        </a:rPr>
                        <a:t>Qty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050" b="1" i="0" u="none" strike="noStrike">
                          <a:solidFill>
                            <a:srgbClr val="FFFFFF"/>
                          </a:solidFill>
                          <a:effectLst/>
                          <a:latin typeface="Calibri" panose="020F0502020204030204" pitchFamily="34" charset="0"/>
                        </a:rPr>
                        <a:t>Unit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050" b="1" i="0" u="none" strike="noStrike">
                          <a:solidFill>
                            <a:srgbClr val="FFFFFF"/>
                          </a:solidFill>
                          <a:effectLst/>
                          <a:latin typeface="Calibri" panose="020F0502020204030204" pitchFamily="34" charset="0"/>
                        </a:rPr>
                        <a:t>Unit Cost in USD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050" b="1" i="0" u="none" strike="noStrike">
                          <a:solidFill>
                            <a:srgbClr val="FFFFFF"/>
                          </a:solidFill>
                          <a:effectLst/>
                          <a:latin typeface="Calibri" panose="020F0502020204030204" pitchFamily="34" charset="0"/>
                        </a:rPr>
                        <a:t>Amount in USD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l" fontAlgn="ctr"/>
                      <a:r>
                        <a:rPr lang="en-US" sz="1050" b="1" i="0" u="none" strike="noStrike" dirty="0">
                          <a:solidFill>
                            <a:srgbClr val="FFFFFF"/>
                          </a:solidFill>
                          <a:effectLst/>
                          <a:latin typeface="Calibri" panose="020F0502020204030204" pitchFamily="34" charset="0"/>
                        </a:rPr>
                        <a:t>Deloitte Analysis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extLst>
                  <a:ext uri="{0D108BD9-81ED-4DB2-BD59-A6C34878D82A}">
                    <a16:rowId xmlns:a16="http://schemas.microsoft.com/office/drawing/2014/main" val="1019319741"/>
                  </a:ext>
                </a:extLst>
              </a:tr>
              <a:tr h="0">
                <a:tc>
                  <a:txBody>
                    <a:bodyPr/>
                    <a:lstStyle/>
                    <a:p>
                      <a:pPr algn="ctr" fontAlgn="ctr"/>
                      <a:r>
                        <a:rPr lang="en-US" sz="1050" b="1" i="0" u="none" strike="noStrike">
                          <a:solidFill>
                            <a:srgbClr val="000000"/>
                          </a:solidFill>
                          <a:effectLst/>
                          <a:latin typeface="Calibri" panose="020F0502020204030204" pitchFamily="34" charset="0"/>
                        </a:rPr>
                        <a:t>3</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1" i="0" u="none" strike="noStrike" dirty="0">
                          <a:solidFill>
                            <a:srgbClr val="000000"/>
                          </a:solidFill>
                          <a:effectLst/>
                          <a:latin typeface="Calibri" panose="020F0502020204030204" pitchFamily="34" charset="0"/>
                        </a:rPr>
                        <a:t>Hardware (Data Center)</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050" b="1" i="0" u="none" strike="noStrike">
                        <a:solidFill>
                          <a:srgbClr val="000000"/>
                        </a:solidFill>
                        <a:effectLst/>
                        <a:latin typeface="Calibri" panose="020F0502020204030204" pitchFamily="34" charset="0"/>
                      </a:endParaRP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endParaRPr lang="en-US" sz="1050" b="1" i="0" u="none" strike="noStrike" dirty="0">
                        <a:solidFill>
                          <a:srgbClr val="000000"/>
                        </a:solidFill>
                        <a:effectLst/>
                        <a:latin typeface="Calibri" panose="020F0502020204030204" pitchFamily="34" charset="0"/>
                      </a:endParaRP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1" i="0" u="none" strike="noStrike" dirty="0">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1" i="0" u="none" strike="noStrike" dirty="0">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4226399"/>
                  </a:ext>
                </a:extLst>
              </a:tr>
              <a:tr h="134548">
                <a:tc>
                  <a:txBody>
                    <a:bodyPr/>
                    <a:lstStyle/>
                    <a:p>
                      <a:pPr algn="ctr" fontAlgn="ctr"/>
                      <a:r>
                        <a:rPr lang="en-US" sz="1050" b="0" i="0" u="none" strike="noStrike">
                          <a:solidFill>
                            <a:srgbClr val="000000"/>
                          </a:solidFill>
                          <a:effectLst/>
                          <a:latin typeface="Calibri" panose="020F0502020204030204" pitchFamily="34" charset="0"/>
                        </a:rPr>
                        <a:t>3.1</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Database servers (virtualized)</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a:solidFill>
                            <a:srgbClr val="000000"/>
                          </a:solidFill>
                          <a:effectLst/>
                          <a:latin typeface="Calibri" panose="020F0502020204030204" pitchFamily="34" charset="0"/>
                        </a:rPr>
                        <a:t>2</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100,000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200,000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rowSpan="8">
                  <a:txBody>
                    <a:bodyPr/>
                    <a:lstStyle/>
                    <a:p>
                      <a:pPr marL="171450" indent="-171450" algn="l" fontAlgn="ctr">
                        <a:buFont typeface="Arial" panose="020B0604020202020204" pitchFamily="34" charset="0"/>
                        <a:buChar char="•"/>
                      </a:pPr>
                      <a:r>
                        <a:rPr lang="en-US" sz="1050" b="0" i="0" u="none" strike="noStrike" dirty="0">
                          <a:solidFill>
                            <a:srgbClr val="000000"/>
                          </a:solidFill>
                          <a:effectLst/>
                          <a:latin typeface="Calibri" panose="020F0502020204030204" pitchFamily="34" charset="0"/>
                        </a:rPr>
                        <a:t>Not considered cloud, only in-premise</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2172997507"/>
                  </a:ext>
                </a:extLst>
              </a:tr>
              <a:tr h="235451">
                <a:tc>
                  <a:txBody>
                    <a:bodyPr/>
                    <a:lstStyle/>
                    <a:p>
                      <a:pPr algn="ctr" fontAlgn="ctr"/>
                      <a:r>
                        <a:rPr lang="en-US" sz="1050" b="0" i="0" u="none" strike="noStrike">
                          <a:solidFill>
                            <a:srgbClr val="000000"/>
                          </a:solidFill>
                          <a:effectLst/>
                          <a:latin typeface="Calibri" panose="020F0502020204030204" pitchFamily="34" charset="0"/>
                        </a:rPr>
                        <a:t>3.2</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Calibri" panose="020F0502020204030204" pitchFamily="34" charset="0"/>
                        </a:rPr>
                        <a:t>Application Servers, web servers and other servers (virtualized)</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Calibri" panose="020F0502020204030204" pitchFamily="34" charset="0"/>
                        </a:rPr>
                        <a:t>2</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80,000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160,000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7534554"/>
                  </a:ext>
                </a:extLst>
              </a:tr>
              <a:tr h="220373">
                <a:tc>
                  <a:txBody>
                    <a:bodyPr/>
                    <a:lstStyle/>
                    <a:p>
                      <a:pPr algn="ctr" fontAlgn="ctr"/>
                      <a:r>
                        <a:rPr lang="en-US" sz="1050" b="0" i="0" u="none" strike="noStrike">
                          <a:solidFill>
                            <a:srgbClr val="000000"/>
                          </a:solidFill>
                          <a:effectLst/>
                          <a:latin typeface="Calibri" panose="020F0502020204030204" pitchFamily="34" charset="0"/>
                        </a:rPr>
                        <a:t>3.3</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Storage Devices</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2</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100,000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200,000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2798702669"/>
                  </a:ext>
                </a:extLst>
              </a:tr>
              <a:tr h="263024">
                <a:tc>
                  <a:txBody>
                    <a:bodyPr/>
                    <a:lstStyle/>
                    <a:p>
                      <a:pPr algn="ctr" fontAlgn="ctr"/>
                      <a:r>
                        <a:rPr lang="en-US" sz="1050" b="0" i="0" u="none" strike="noStrike">
                          <a:solidFill>
                            <a:srgbClr val="000000"/>
                          </a:solidFill>
                          <a:effectLst/>
                          <a:latin typeface="Calibri" panose="020F0502020204030204" pitchFamily="34" charset="0"/>
                        </a:rPr>
                        <a:t>3.4</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Calibri" panose="020F0502020204030204" pitchFamily="34" charset="0"/>
                        </a:rPr>
                        <a:t>Core and DC Switches</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Calibri" panose="020F0502020204030204" pitchFamily="34" charset="0"/>
                        </a:rPr>
                        <a:t>2</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70,000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140,000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4559700"/>
                  </a:ext>
                </a:extLst>
              </a:tr>
              <a:tr h="134548">
                <a:tc>
                  <a:txBody>
                    <a:bodyPr/>
                    <a:lstStyle/>
                    <a:p>
                      <a:pPr algn="ctr" fontAlgn="ctr"/>
                      <a:r>
                        <a:rPr lang="en-US" sz="1050" b="0" i="0" u="none" strike="noStrike">
                          <a:solidFill>
                            <a:srgbClr val="000000"/>
                          </a:solidFill>
                          <a:effectLst/>
                          <a:latin typeface="Calibri" panose="020F0502020204030204" pitchFamily="34" charset="0"/>
                        </a:rPr>
                        <a:t>3.5</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Routers</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a:solidFill>
                            <a:srgbClr val="000000"/>
                          </a:solidFill>
                          <a:effectLst/>
                          <a:latin typeface="Calibri" panose="020F0502020204030204" pitchFamily="34" charset="0"/>
                        </a:rPr>
                        <a:t>1</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35,000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35,000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2945989715"/>
                  </a:ext>
                </a:extLst>
              </a:tr>
              <a:tr h="134548">
                <a:tc>
                  <a:txBody>
                    <a:bodyPr/>
                    <a:lstStyle/>
                    <a:p>
                      <a:pPr algn="ctr" fontAlgn="ctr"/>
                      <a:r>
                        <a:rPr lang="en-US" sz="1050" b="0" i="0" u="none" strike="noStrike">
                          <a:solidFill>
                            <a:srgbClr val="000000"/>
                          </a:solidFill>
                          <a:effectLst/>
                          <a:latin typeface="Calibri" panose="020F0502020204030204" pitchFamily="34" charset="0"/>
                        </a:rPr>
                        <a:t>3.6</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dirty="0">
                          <a:solidFill>
                            <a:srgbClr val="000000"/>
                          </a:solidFill>
                          <a:effectLst/>
                          <a:latin typeface="Calibri" panose="020F0502020204030204" pitchFamily="34" charset="0"/>
                        </a:rPr>
                        <a:t>Other equipments</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Calibri" panose="020F0502020204030204" pitchFamily="34" charset="0"/>
                        </a:rPr>
                        <a:t>Lumpsum</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35,000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35,000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9473379"/>
                  </a:ext>
                </a:extLst>
              </a:tr>
              <a:tr h="134548">
                <a:tc>
                  <a:txBody>
                    <a:bodyPr/>
                    <a:lstStyle/>
                    <a:p>
                      <a:pPr algn="ctr" fontAlgn="ctr"/>
                      <a:r>
                        <a:rPr lang="en-US" sz="1050" b="0" i="0" u="none" strike="noStrike">
                          <a:solidFill>
                            <a:srgbClr val="000000"/>
                          </a:solidFill>
                          <a:effectLst/>
                          <a:latin typeface="Calibri" panose="020F0502020204030204" pitchFamily="34" charset="0"/>
                        </a:rPr>
                        <a:t>3.7</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dirty="0">
                          <a:solidFill>
                            <a:srgbClr val="000000"/>
                          </a:solidFill>
                          <a:effectLst/>
                          <a:latin typeface="Calibri" panose="020F0502020204030204" pitchFamily="34" charset="0"/>
                        </a:rPr>
                        <a:t>Document management server</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a:solidFill>
                            <a:srgbClr val="000000"/>
                          </a:solidFill>
                          <a:effectLst/>
                          <a:latin typeface="Calibri" panose="020F0502020204030204" pitchFamily="34" charset="0"/>
                        </a:rPr>
                        <a:t>1</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100,000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100,000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19383102"/>
                  </a:ext>
                </a:extLst>
              </a:tr>
              <a:tr h="134548">
                <a:tc>
                  <a:txBody>
                    <a:bodyPr/>
                    <a:lstStyle/>
                    <a:p>
                      <a:pPr algn="ctr" fontAlgn="ctr"/>
                      <a:r>
                        <a:rPr lang="en-US" sz="1050" b="1" i="0" u="none" strike="noStrike">
                          <a:solidFill>
                            <a:srgbClr val="000000"/>
                          </a:solidFill>
                          <a:effectLst/>
                          <a:latin typeface="Calibri" panose="020F0502020204030204" pitchFamily="34" charset="0"/>
                        </a:rPr>
                        <a:t>C</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1" i="0" u="none" strike="noStrike">
                          <a:solidFill>
                            <a:srgbClr val="000000"/>
                          </a:solidFill>
                          <a:effectLst/>
                          <a:latin typeface="Calibri" panose="020F0502020204030204" pitchFamily="34" charset="0"/>
                        </a:rPr>
                        <a:t>Total Hardware (DC)</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dirty="0">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endParaRPr lang="en-US" sz="1050" b="1" i="0" u="none" strike="noStrike" dirty="0">
                        <a:solidFill>
                          <a:srgbClr val="000000"/>
                        </a:solidFill>
                        <a:effectLst/>
                        <a:latin typeface="Calibri" panose="020F0502020204030204" pitchFamily="34" charset="0"/>
                      </a:endParaRP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1" i="0" u="none" strike="noStrike" dirty="0">
                          <a:solidFill>
                            <a:srgbClr val="000000"/>
                          </a:solidFill>
                          <a:effectLst/>
                          <a:latin typeface="Calibri" panose="020F0502020204030204" pitchFamily="34" charset="0"/>
                        </a:rPr>
                        <a:t>870,000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4499746"/>
                  </a:ext>
                </a:extLst>
              </a:tr>
              <a:tr h="0">
                <a:tc>
                  <a:txBody>
                    <a:bodyPr/>
                    <a:lstStyle/>
                    <a:p>
                      <a:pPr algn="ctr" fontAlgn="ctr"/>
                      <a:r>
                        <a:rPr lang="en-US" sz="1050" b="1" i="0" u="none" strike="noStrike">
                          <a:solidFill>
                            <a:srgbClr val="000000"/>
                          </a:solidFill>
                          <a:effectLst/>
                          <a:latin typeface="Calibri" panose="020F0502020204030204" pitchFamily="34" charset="0"/>
                        </a:rPr>
                        <a:t>4</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1" i="0" u="none" strike="noStrike" dirty="0">
                          <a:solidFill>
                            <a:srgbClr val="000000"/>
                          </a:solidFill>
                          <a:effectLst/>
                          <a:latin typeface="Calibri" panose="020F0502020204030204" pitchFamily="34" charset="0"/>
                        </a:rPr>
                        <a:t>Hardware (Disaster Recovery)</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948896395"/>
                  </a:ext>
                </a:extLst>
              </a:tr>
              <a:tr h="134548">
                <a:tc>
                  <a:txBody>
                    <a:bodyPr/>
                    <a:lstStyle/>
                    <a:p>
                      <a:pPr algn="ctr" fontAlgn="ctr"/>
                      <a:r>
                        <a:rPr lang="en-US" sz="1050" b="0" i="0" u="none" strike="noStrike">
                          <a:solidFill>
                            <a:srgbClr val="000000"/>
                          </a:solidFill>
                          <a:effectLst/>
                          <a:latin typeface="Calibri" panose="020F0502020204030204" pitchFamily="34" charset="0"/>
                        </a:rPr>
                        <a:t>4.1</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Calibri" panose="020F0502020204030204" pitchFamily="34" charset="0"/>
                        </a:rPr>
                        <a:t>Database servers (virtualized)</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Calibri" panose="020F0502020204030204" pitchFamily="34" charset="0"/>
                        </a:rPr>
                        <a:t>2</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100,000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200,000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8">
                  <a:txBody>
                    <a:bodyPr/>
                    <a:lstStyle/>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050" b="0" i="0" u="none" strike="noStrike" dirty="0">
                          <a:solidFill>
                            <a:srgbClr val="000000"/>
                          </a:solidFill>
                          <a:effectLst/>
                          <a:latin typeface="Calibri" panose="020F0502020204030204" pitchFamily="34" charset="0"/>
                        </a:rPr>
                        <a:t>Not considered cloud, only in-premise</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4695575"/>
                  </a:ext>
                </a:extLst>
              </a:tr>
              <a:tr h="145458">
                <a:tc>
                  <a:txBody>
                    <a:bodyPr/>
                    <a:lstStyle/>
                    <a:p>
                      <a:pPr algn="ctr" fontAlgn="ctr"/>
                      <a:r>
                        <a:rPr lang="en-US" sz="1050" b="0" i="0" u="none" strike="noStrike">
                          <a:solidFill>
                            <a:srgbClr val="000000"/>
                          </a:solidFill>
                          <a:effectLst/>
                          <a:latin typeface="Calibri" panose="020F0502020204030204" pitchFamily="34" charset="0"/>
                        </a:rPr>
                        <a:t>4.2</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Application Servers, web servers and other servers (virtualized)</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a:solidFill>
                            <a:srgbClr val="000000"/>
                          </a:solidFill>
                          <a:effectLst/>
                          <a:latin typeface="Calibri" panose="020F0502020204030204" pitchFamily="34" charset="0"/>
                        </a:rPr>
                        <a:t>2</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80,000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160,000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6956910"/>
                  </a:ext>
                </a:extLst>
              </a:tr>
              <a:tr h="134548">
                <a:tc>
                  <a:txBody>
                    <a:bodyPr/>
                    <a:lstStyle/>
                    <a:p>
                      <a:pPr algn="ctr" fontAlgn="ctr"/>
                      <a:r>
                        <a:rPr lang="en-US" sz="1050" b="0" i="0" u="none" strike="noStrike">
                          <a:solidFill>
                            <a:srgbClr val="000000"/>
                          </a:solidFill>
                          <a:effectLst/>
                          <a:latin typeface="Calibri" panose="020F0502020204030204" pitchFamily="34" charset="0"/>
                        </a:rPr>
                        <a:t>4.3</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Calibri" panose="020F0502020204030204" pitchFamily="34" charset="0"/>
                        </a:rPr>
                        <a:t>Storage Devices</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Calibri" panose="020F0502020204030204" pitchFamily="34" charset="0"/>
                        </a:rPr>
                        <a:t>2</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100,000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200,000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5202595"/>
                  </a:ext>
                </a:extLst>
              </a:tr>
              <a:tr h="134548">
                <a:tc>
                  <a:txBody>
                    <a:bodyPr/>
                    <a:lstStyle/>
                    <a:p>
                      <a:pPr algn="ctr" fontAlgn="ctr"/>
                      <a:r>
                        <a:rPr lang="en-US" sz="1050" b="0" i="0" u="none" strike="noStrike">
                          <a:solidFill>
                            <a:srgbClr val="000000"/>
                          </a:solidFill>
                          <a:effectLst/>
                          <a:latin typeface="Calibri" panose="020F0502020204030204" pitchFamily="34" charset="0"/>
                        </a:rPr>
                        <a:t>4.4</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Core and DC Switches</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a:solidFill>
                            <a:srgbClr val="000000"/>
                          </a:solidFill>
                          <a:effectLst/>
                          <a:latin typeface="Calibri" panose="020F0502020204030204" pitchFamily="34" charset="0"/>
                        </a:rPr>
                        <a:t>2</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70,000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140,000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4065038059"/>
                  </a:ext>
                </a:extLst>
              </a:tr>
              <a:tr h="134548">
                <a:tc>
                  <a:txBody>
                    <a:bodyPr/>
                    <a:lstStyle/>
                    <a:p>
                      <a:pPr algn="ctr" fontAlgn="ctr"/>
                      <a:r>
                        <a:rPr lang="en-US" sz="1050" b="0" i="0" u="none" strike="noStrike">
                          <a:solidFill>
                            <a:srgbClr val="000000"/>
                          </a:solidFill>
                          <a:effectLst/>
                          <a:latin typeface="Calibri" panose="020F0502020204030204" pitchFamily="34" charset="0"/>
                        </a:rPr>
                        <a:t>4.5</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Calibri" panose="020F0502020204030204" pitchFamily="34" charset="0"/>
                        </a:rPr>
                        <a:t>Routers</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Calibri" panose="020F0502020204030204" pitchFamily="34" charset="0"/>
                        </a:rPr>
                        <a:t>1</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35,000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35,000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5336604"/>
                  </a:ext>
                </a:extLst>
              </a:tr>
              <a:tr h="134548">
                <a:tc>
                  <a:txBody>
                    <a:bodyPr/>
                    <a:lstStyle/>
                    <a:p>
                      <a:pPr algn="ctr" fontAlgn="ctr"/>
                      <a:r>
                        <a:rPr lang="en-US" sz="1050" b="0" i="0" u="none" strike="noStrike">
                          <a:solidFill>
                            <a:srgbClr val="000000"/>
                          </a:solidFill>
                          <a:effectLst/>
                          <a:latin typeface="Calibri" panose="020F0502020204030204" pitchFamily="34" charset="0"/>
                        </a:rPr>
                        <a:t>4.6</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a:solidFill>
                            <a:srgbClr val="000000"/>
                          </a:solidFill>
                          <a:effectLst/>
                          <a:latin typeface="Calibri" panose="020F0502020204030204" pitchFamily="34" charset="0"/>
                        </a:rPr>
                        <a:t>Other equipments</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a:solidFill>
                            <a:srgbClr val="000000"/>
                          </a:solidFill>
                          <a:effectLst/>
                          <a:latin typeface="Calibri" panose="020F0502020204030204" pitchFamily="34" charset="0"/>
                        </a:rPr>
                        <a:t>Lumpsum</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ctr" fontAlgn="ctr"/>
                      <a:r>
                        <a:rPr lang="en-US" sz="1050" b="0" i="0" u="none" strike="noStrike" dirty="0">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35,000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0" i="0" u="none" strike="noStrike" dirty="0">
                          <a:solidFill>
                            <a:srgbClr val="000000"/>
                          </a:solidFill>
                          <a:effectLst/>
                          <a:latin typeface="Calibri" panose="020F0502020204030204" pitchFamily="34" charset="0"/>
                        </a:rPr>
                        <a:t>35,000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880548190"/>
                  </a:ext>
                </a:extLst>
              </a:tr>
              <a:tr h="134548">
                <a:tc>
                  <a:txBody>
                    <a:bodyPr/>
                    <a:lstStyle/>
                    <a:p>
                      <a:pPr algn="ctr" fontAlgn="ctr"/>
                      <a:r>
                        <a:rPr lang="en-US" sz="1050" b="0" i="0" u="none" strike="noStrike">
                          <a:solidFill>
                            <a:srgbClr val="000000"/>
                          </a:solidFill>
                          <a:effectLst/>
                          <a:latin typeface="Calibri" panose="020F0502020204030204" pitchFamily="34" charset="0"/>
                        </a:rPr>
                        <a:t>4.7</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Calibri" panose="020F0502020204030204" pitchFamily="34" charset="0"/>
                        </a:rPr>
                        <a:t>Document management server</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1</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dirty="0">
                          <a:solidFill>
                            <a:srgbClr val="000000"/>
                          </a:solidFill>
                          <a:effectLst/>
                          <a:latin typeface="Calibri" panose="020F0502020204030204" pitchFamily="34" charset="0"/>
                        </a:rPr>
                        <a:t>No</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100,000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0" i="0" u="none" strike="noStrike" dirty="0">
                          <a:solidFill>
                            <a:srgbClr val="000000"/>
                          </a:solidFill>
                          <a:effectLst/>
                          <a:latin typeface="Calibri" panose="020F0502020204030204" pitchFamily="34" charset="0"/>
                        </a:rPr>
                        <a:t>100,000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4626970"/>
                  </a:ext>
                </a:extLst>
              </a:tr>
              <a:tr h="227630">
                <a:tc>
                  <a:txBody>
                    <a:bodyPr/>
                    <a:lstStyle/>
                    <a:p>
                      <a:pPr algn="ctr" fontAlgn="ctr"/>
                      <a:r>
                        <a:rPr lang="en-US" sz="1050" b="1" i="0" u="none" strike="noStrike">
                          <a:solidFill>
                            <a:srgbClr val="000000"/>
                          </a:solidFill>
                          <a:effectLst/>
                          <a:latin typeface="Calibri" panose="020F0502020204030204" pitchFamily="34" charset="0"/>
                        </a:rPr>
                        <a:t>D</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1" i="0" u="none" strike="noStrike">
                          <a:solidFill>
                            <a:srgbClr val="000000"/>
                          </a:solidFill>
                          <a:effectLst/>
                          <a:latin typeface="Calibri" panose="020F0502020204030204" pitchFamily="34" charset="0"/>
                        </a:rPr>
                        <a:t>Total Hardware (DR)</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endParaRPr lang="en-US" sz="1050" b="1" i="0" u="none" strike="noStrike" dirty="0">
                        <a:solidFill>
                          <a:srgbClr val="000000"/>
                        </a:solidFill>
                        <a:effectLst/>
                        <a:latin typeface="Calibri" panose="020F0502020204030204" pitchFamily="34" charset="0"/>
                      </a:endParaRP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1" i="0" u="none" strike="noStrike" dirty="0">
                          <a:solidFill>
                            <a:srgbClr val="000000"/>
                          </a:solidFill>
                          <a:effectLst/>
                          <a:latin typeface="Calibri" panose="020F0502020204030204" pitchFamily="34" charset="0"/>
                        </a:rPr>
                        <a:t>870,000</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vMerge="1">
                  <a:txBody>
                    <a:bodyPr/>
                    <a:lstStyle/>
                    <a:p>
                      <a:pPr algn="ctr" fontAlgn="ctr"/>
                      <a:endParaRPr lang="en-US" sz="1050" b="0" i="0" u="none" strike="noStrike" dirty="0">
                        <a:solidFill>
                          <a:srgbClr val="000000"/>
                        </a:solidFill>
                        <a:effectLst/>
                        <a:latin typeface="Calibri" panose="020F0502020204030204" pitchFamily="34" charset="0"/>
                      </a:endParaRPr>
                    </a:p>
                  </a:txBody>
                  <a:tcPr marL="3636" marR="3636" marT="36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480087906"/>
                  </a:ext>
                </a:extLst>
              </a:tr>
              <a:tr h="134548">
                <a:tc>
                  <a:txBody>
                    <a:bodyPr/>
                    <a:lstStyle/>
                    <a:p>
                      <a:pPr algn="ctr" fontAlgn="ctr"/>
                      <a:r>
                        <a:rPr lang="en-US" sz="1050" b="1" i="0" u="none" strike="noStrike">
                          <a:solidFill>
                            <a:srgbClr val="000000"/>
                          </a:solidFill>
                          <a:effectLst/>
                          <a:latin typeface="Calibri" panose="020F0502020204030204" pitchFamily="34" charset="0"/>
                        </a:rPr>
                        <a:t>5</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1" i="0" u="none" strike="noStrike" dirty="0">
                          <a:solidFill>
                            <a:srgbClr val="000000"/>
                          </a:solidFill>
                          <a:effectLst/>
                          <a:latin typeface="Calibri" panose="020F0502020204030204" pitchFamily="34" charset="0"/>
                        </a:rPr>
                        <a:t>Grand total (USD) – (A+B+C+D)</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endParaRPr lang="en-US" sz="1050" b="1" i="0" u="none" strike="noStrike" dirty="0">
                        <a:solidFill>
                          <a:srgbClr val="000000"/>
                        </a:solidFill>
                        <a:effectLst/>
                        <a:latin typeface="Calibri" panose="020F0502020204030204" pitchFamily="34" charset="0"/>
                      </a:endParaRP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050" b="1" i="0" u="none" strike="noStrike" dirty="0">
                          <a:solidFill>
                            <a:srgbClr val="000000"/>
                          </a:solidFill>
                          <a:effectLst/>
                          <a:latin typeface="Calibri" panose="020F0502020204030204" pitchFamily="34" charset="0"/>
                        </a:rPr>
                        <a:t>4,736,920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dirty="0">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7373499"/>
                  </a:ext>
                </a:extLst>
              </a:tr>
              <a:tr h="134548">
                <a:tc>
                  <a:txBody>
                    <a:bodyPr/>
                    <a:lstStyle/>
                    <a:p>
                      <a:pPr algn="ctr"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1" i="0" u="none" strike="noStrike">
                          <a:solidFill>
                            <a:srgbClr val="000000"/>
                          </a:solidFill>
                          <a:effectLst/>
                          <a:latin typeface="Calibri" panose="020F0502020204030204" pitchFamily="34" charset="0"/>
                        </a:rPr>
                        <a:t>Maldivian Rupaiya</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1" i="0" u="none" strike="noStrike">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050" b="1" i="0" u="none" strike="noStrike" dirty="0">
                          <a:solidFill>
                            <a:srgbClr val="000000"/>
                          </a:solidFill>
                          <a:effectLst/>
                          <a:latin typeface="Calibri" panose="020F0502020204030204" pitchFamily="34" charset="0"/>
                        </a:rPr>
                        <a:t>71,053,800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050" b="0" i="0" u="none" strike="noStrike" dirty="0">
                          <a:solidFill>
                            <a:srgbClr val="000000"/>
                          </a:solidFill>
                          <a:effectLst/>
                          <a:latin typeface="Calibri" panose="020F0502020204030204" pitchFamily="34" charset="0"/>
                        </a:rPr>
                        <a:t> </a:t>
                      </a:r>
                    </a:p>
                  </a:txBody>
                  <a:tcPr marT="27432" marB="27432"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1316106934"/>
                  </a:ext>
                </a:extLst>
              </a:tr>
            </a:tbl>
          </a:graphicData>
        </a:graphic>
      </p:graphicFrame>
    </p:spTree>
    <p:extLst>
      <p:ext uri="{BB962C8B-B14F-4D97-AF65-F5344CB8AC3E}">
        <p14:creationId xmlns:p14="http://schemas.microsoft.com/office/powerpoint/2010/main" val="419989113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extLst>
              <p:ext uri="{D42A27DB-BD31-4B8C-83A1-F6EECF244321}">
                <p14:modId xmlns:p14="http://schemas.microsoft.com/office/powerpoint/2010/main" val="29102145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498" imgH="499" progId="TCLayout.ActiveDocument.1">
                  <p:embed/>
                </p:oleObj>
              </mc:Choice>
              <mc:Fallback>
                <p:oleObj name="think-cell Slide" r:id="rId35"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We have assessed the Recurring Implementation Costs and total cost over 10 years based on the ERP Modules / Implementation Model discussed earlier</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Cost Workings (3/3) – Tangible Costs</a:t>
            </a:r>
            <a:endParaRPr lang="en-GB" dirty="0"/>
          </a:p>
        </p:txBody>
      </p:sp>
      <p:sp>
        <p:nvSpPr>
          <p:cNvPr id="27" name="Rectangle 26" hidden="1">
            <a:extLst>
              <a:ext uri="{FF2B5EF4-FFF2-40B4-BE49-F238E27FC236}">
                <a16:creationId xmlns:a16="http://schemas.microsoft.com/office/drawing/2014/main" id="{0C424A78-685D-4AD2-9957-F532F86BEC0D}"/>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graphicFrame>
        <p:nvGraphicFramePr>
          <p:cNvPr id="3" name="Table 2">
            <a:extLst>
              <a:ext uri="{FF2B5EF4-FFF2-40B4-BE49-F238E27FC236}">
                <a16:creationId xmlns:a16="http://schemas.microsoft.com/office/drawing/2014/main" id="{9392D346-2D41-42DA-B325-ED37BC4BA348}"/>
              </a:ext>
            </a:extLst>
          </p:cNvPr>
          <p:cNvGraphicFramePr>
            <a:graphicFrameLocks noGrp="1"/>
          </p:cNvGraphicFramePr>
          <p:nvPr>
            <p:extLst>
              <p:ext uri="{D42A27DB-BD31-4B8C-83A1-F6EECF244321}">
                <p14:modId xmlns:p14="http://schemas.microsoft.com/office/powerpoint/2010/main" val="3883668637"/>
              </p:ext>
            </p:extLst>
          </p:nvPr>
        </p:nvGraphicFramePr>
        <p:xfrm>
          <a:off x="501650" y="1408855"/>
          <a:ext cx="11188698" cy="2057400"/>
        </p:xfrm>
        <a:graphic>
          <a:graphicData uri="http://schemas.openxmlformats.org/drawingml/2006/table">
            <a:tbl>
              <a:tblPr/>
              <a:tblGrid>
                <a:gridCol w="602574">
                  <a:extLst>
                    <a:ext uri="{9D8B030D-6E8A-4147-A177-3AD203B41FA5}">
                      <a16:colId xmlns:a16="http://schemas.microsoft.com/office/drawing/2014/main" val="3655570162"/>
                    </a:ext>
                  </a:extLst>
                </a:gridCol>
                <a:gridCol w="3563469">
                  <a:extLst>
                    <a:ext uri="{9D8B030D-6E8A-4147-A177-3AD203B41FA5}">
                      <a16:colId xmlns:a16="http://schemas.microsoft.com/office/drawing/2014/main" val="3916324609"/>
                    </a:ext>
                  </a:extLst>
                </a:gridCol>
                <a:gridCol w="414670">
                  <a:extLst>
                    <a:ext uri="{9D8B030D-6E8A-4147-A177-3AD203B41FA5}">
                      <a16:colId xmlns:a16="http://schemas.microsoft.com/office/drawing/2014/main" val="439803542"/>
                    </a:ext>
                  </a:extLst>
                </a:gridCol>
                <a:gridCol w="776177">
                  <a:extLst>
                    <a:ext uri="{9D8B030D-6E8A-4147-A177-3AD203B41FA5}">
                      <a16:colId xmlns:a16="http://schemas.microsoft.com/office/drawing/2014/main" val="74821992"/>
                    </a:ext>
                  </a:extLst>
                </a:gridCol>
                <a:gridCol w="846880">
                  <a:extLst>
                    <a:ext uri="{9D8B030D-6E8A-4147-A177-3AD203B41FA5}">
                      <a16:colId xmlns:a16="http://schemas.microsoft.com/office/drawing/2014/main" val="1883748923"/>
                    </a:ext>
                  </a:extLst>
                </a:gridCol>
                <a:gridCol w="986030">
                  <a:extLst>
                    <a:ext uri="{9D8B030D-6E8A-4147-A177-3AD203B41FA5}">
                      <a16:colId xmlns:a16="http://schemas.microsoft.com/office/drawing/2014/main" val="2584883512"/>
                    </a:ext>
                  </a:extLst>
                </a:gridCol>
                <a:gridCol w="3998898">
                  <a:extLst>
                    <a:ext uri="{9D8B030D-6E8A-4147-A177-3AD203B41FA5}">
                      <a16:colId xmlns:a16="http://schemas.microsoft.com/office/drawing/2014/main" val="2281305566"/>
                    </a:ext>
                  </a:extLst>
                </a:gridCol>
              </a:tblGrid>
              <a:tr h="378772">
                <a:tc>
                  <a:txBody>
                    <a:bodyPr/>
                    <a:lstStyle/>
                    <a:p>
                      <a:pPr algn="ctr" fontAlgn="ctr"/>
                      <a:r>
                        <a:rPr lang="en-US" sz="1100" b="1" i="0" u="none" strike="noStrike">
                          <a:solidFill>
                            <a:srgbClr val="FFFFFF"/>
                          </a:solidFill>
                          <a:effectLst/>
                          <a:latin typeface="Calibri" panose="020F0502020204030204" pitchFamily="34" charset="0"/>
                        </a:rPr>
                        <a:t>Sl. No</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l" fontAlgn="ctr"/>
                      <a:r>
                        <a:rPr lang="en-US" sz="1100" b="1" i="0" u="none" strike="noStrike" dirty="0">
                          <a:solidFill>
                            <a:srgbClr val="FFFFFF"/>
                          </a:solidFill>
                          <a:effectLst/>
                          <a:latin typeface="Calibri" panose="020F0502020204030204" pitchFamily="34" charset="0"/>
                        </a:rPr>
                        <a:t>Particulars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100" b="1" i="0" u="none" strike="noStrike">
                          <a:solidFill>
                            <a:srgbClr val="FFFFFF"/>
                          </a:solidFill>
                          <a:effectLst/>
                          <a:latin typeface="Calibri" panose="020F0502020204030204" pitchFamily="34" charset="0"/>
                        </a:rPr>
                        <a:t>Qty</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100" b="1" i="0" u="none" strike="noStrike">
                          <a:solidFill>
                            <a:srgbClr val="FFFFFF"/>
                          </a:solidFill>
                          <a:effectLst/>
                          <a:latin typeface="Calibri" panose="020F0502020204030204" pitchFamily="34" charset="0"/>
                        </a:rPr>
                        <a:t>Unit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100" b="1" i="0" u="none" strike="noStrike">
                          <a:solidFill>
                            <a:srgbClr val="FFFFFF"/>
                          </a:solidFill>
                          <a:effectLst/>
                          <a:latin typeface="Calibri" panose="020F0502020204030204" pitchFamily="34" charset="0"/>
                        </a:rPr>
                        <a:t>Unit Cost in USD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ctr" fontAlgn="ctr"/>
                      <a:r>
                        <a:rPr lang="en-US" sz="1100" b="1" i="0" u="none" strike="noStrike">
                          <a:solidFill>
                            <a:srgbClr val="FFFFFF"/>
                          </a:solidFill>
                          <a:effectLst/>
                          <a:latin typeface="Calibri" panose="020F0502020204030204" pitchFamily="34" charset="0"/>
                        </a:rPr>
                        <a:t>Amount in USD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tc>
                  <a:txBody>
                    <a:bodyPr/>
                    <a:lstStyle/>
                    <a:p>
                      <a:pPr algn="l" fontAlgn="ctr"/>
                      <a:r>
                        <a:rPr lang="en-US" sz="1100" b="1" i="0" u="none" strike="noStrike" dirty="0">
                          <a:solidFill>
                            <a:srgbClr val="FFFFFF"/>
                          </a:solidFill>
                          <a:effectLst/>
                          <a:latin typeface="Calibri" panose="020F0502020204030204" pitchFamily="34" charset="0"/>
                        </a:rPr>
                        <a:t>Deloitte Analysis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BC25"/>
                    </a:solidFill>
                  </a:tcPr>
                </a:tc>
                <a:extLst>
                  <a:ext uri="{0D108BD9-81ED-4DB2-BD59-A6C34878D82A}">
                    <a16:rowId xmlns:a16="http://schemas.microsoft.com/office/drawing/2014/main" val="2843940467"/>
                  </a:ext>
                </a:extLst>
              </a:tr>
              <a:tr h="378772">
                <a:tc>
                  <a:txBody>
                    <a:bodyPr/>
                    <a:lstStyle/>
                    <a:p>
                      <a:pPr algn="ctr" fontAlgn="ctr"/>
                      <a:r>
                        <a:rPr lang="en-US" sz="1100" b="0" i="0" u="none" strike="noStrike">
                          <a:solidFill>
                            <a:srgbClr val="000000"/>
                          </a:solidFill>
                          <a:effectLst/>
                          <a:latin typeface="Calibri" panose="020F0502020204030204" pitchFamily="34" charset="0"/>
                        </a:rPr>
                        <a:t>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100" b="0" i="0" u="none" strike="noStrike" dirty="0">
                          <a:solidFill>
                            <a:srgbClr val="000000"/>
                          </a:solidFill>
                          <a:effectLst/>
                          <a:latin typeface="Calibri" panose="020F0502020204030204" pitchFamily="34" charset="0"/>
                        </a:rPr>
                        <a:t>Annual Technical Services @22%per year on </a:t>
                      </a:r>
                      <a:r>
                        <a:rPr lang="en-US" sz="1100" b="0" i="0" u="none" strike="noStrike" dirty="0" err="1">
                          <a:solidFill>
                            <a:srgbClr val="000000"/>
                          </a:solidFill>
                          <a:effectLst/>
                          <a:latin typeface="Calibri" panose="020F0502020204030204" pitchFamily="34" charset="0"/>
                        </a:rPr>
                        <a:t>Sl</a:t>
                      </a:r>
                      <a:r>
                        <a:rPr lang="en-US" sz="1100" b="0" i="0" u="none" strike="noStrike" dirty="0">
                          <a:solidFill>
                            <a:srgbClr val="000000"/>
                          </a:solidFill>
                          <a:effectLst/>
                          <a:latin typeface="Calibri" panose="020F0502020204030204" pitchFamily="34" charset="0"/>
                        </a:rPr>
                        <a:t> No 1.5 of One Time Costs *22% per year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100" b="0"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100" b="0"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100" b="0"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100" b="0" i="0" u="none" strike="noStrike" dirty="0">
                          <a:solidFill>
                            <a:srgbClr val="000000"/>
                          </a:solidFill>
                          <a:effectLst/>
                          <a:latin typeface="Calibri" panose="020F0502020204030204" pitchFamily="34" charset="0"/>
                        </a:rPr>
                        <a:t>312,338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100" b="0" i="0" u="none" strike="noStrike" dirty="0">
                          <a:solidFill>
                            <a:srgbClr val="000000"/>
                          </a:solidFill>
                          <a:effectLst/>
                          <a:latin typeface="Calibri" panose="020F0502020204030204" pitchFamily="34" charset="0"/>
                        </a:rPr>
                        <a:t>1st year ATS to be paid upfront and hence taken in project cost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3267648761"/>
                  </a:ext>
                </a:extLst>
              </a:tr>
              <a:tr h="378772">
                <a:tc>
                  <a:txBody>
                    <a:bodyPr/>
                    <a:lstStyle/>
                    <a:p>
                      <a:pPr algn="ctr" fontAlgn="ctr"/>
                      <a:r>
                        <a:rPr lang="en-US" sz="1100" b="0" i="0" u="none" strike="noStrike">
                          <a:solidFill>
                            <a:srgbClr val="000000"/>
                          </a:solidFill>
                          <a:effectLst/>
                          <a:latin typeface="Calibri" panose="020F0502020204030204" pitchFamily="34" charset="0"/>
                        </a:rPr>
                        <a:t>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Annual Maintenance Support Services by System Integrator</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48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Person-Months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dirty="0">
                          <a:solidFill>
                            <a:srgbClr val="000000"/>
                          </a:solidFill>
                          <a:effectLst/>
                          <a:latin typeface="Calibri" panose="020F0502020204030204" pitchFamily="34" charset="0"/>
                        </a:rPr>
                        <a:t>6,000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dirty="0">
                          <a:solidFill>
                            <a:srgbClr val="000000"/>
                          </a:solidFill>
                          <a:effectLst/>
                          <a:latin typeface="Calibri" panose="020F0502020204030204" pitchFamily="34" charset="0"/>
                        </a:rPr>
                        <a:t>288,000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1" i="0" u="none" strike="noStrike" dirty="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From Year 2 onwards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618783"/>
                  </a:ext>
                </a:extLst>
              </a:tr>
              <a:tr h="256228">
                <a:tc>
                  <a:txBody>
                    <a:bodyPr/>
                    <a:lstStyle/>
                    <a:p>
                      <a:pPr algn="ctr" fontAlgn="ctr"/>
                      <a:r>
                        <a:rPr lang="en-US" sz="1100" b="0" i="0" u="none" strike="noStrike">
                          <a:solidFill>
                            <a:srgbClr val="000000"/>
                          </a:solidFill>
                          <a:effectLst/>
                          <a:latin typeface="Calibri" panose="020F0502020204030204" pitchFamily="34" charset="0"/>
                        </a:rPr>
                        <a:t>3</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100" b="0" i="0" u="none" strike="noStrike" dirty="0">
                          <a:solidFill>
                            <a:srgbClr val="000000"/>
                          </a:solidFill>
                          <a:effectLst/>
                          <a:latin typeface="Calibri" panose="020F0502020204030204" pitchFamily="34" charset="0"/>
                        </a:rPr>
                        <a:t>Annual Maintenance Support Services for hardware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100" b="0" i="0" u="none" strike="noStrike">
                          <a:solidFill>
                            <a:srgbClr val="000000"/>
                          </a:solidFill>
                          <a:effectLst/>
                          <a:latin typeface="Calibri" panose="020F0502020204030204" pitchFamily="34" charset="0"/>
                        </a:rPr>
                        <a:t>0.1</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100" b="0"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100" b="0" i="0" u="none" strike="noStrike">
                          <a:solidFill>
                            <a:srgbClr val="000000"/>
                          </a:solidFill>
                          <a:effectLst/>
                          <a:latin typeface="Calibri" panose="020F0502020204030204"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100" b="0" i="0" u="none" strike="noStrike" dirty="0">
                          <a:solidFill>
                            <a:srgbClr val="000000"/>
                          </a:solidFill>
                          <a:effectLst/>
                          <a:latin typeface="Calibri" panose="020F0502020204030204" pitchFamily="34" charset="0"/>
                        </a:rPr>
                        <a:t>174,000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100" b="0" i="0" u="none" strike="noStrike" dirty="0">
                          <a:solidFill>
                            <a:srgbClr val="000000"/>
                          </a:solidFill>
                          <a:effectLst/>
                          <a:latin typeface="Calibri" panose="020F0502020204030204" pitchFamily="34" charset="0"/>
                        </a:rPr>
                        <a:t> From Year 2 onwards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3682397304"/>
                  </a:ext>
                </a:extLst>
              </a:tr>
              <a:tr h="256228">
                <a:tc>
                  <a:txBody>
                    <a:bodyPr/>
                    <a:lstStyle/>
                    <a:p>
                      <a:pPr algn="ctr" fontAlgn="ctr"/>
                      <a:r>
                        <a:rPr lang="en-US" sz="1100" b="1" i="0" u="none" strike="noStrike" dirty="0">
                          <a:solidFill>
                            <a:srgbClr val="000000"/>
                          </a:solidFill>
                          <a:effectLst/>
                          <a:latin typeface="Calibri" panose="020F0502020204030204" pitchFamily="34" charset="0"/>
                        </a:rPr>
                        <a:t>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1" i="0" u="none" strike="noStrike" dirty="0">
                          <a:solidFill>
                            <a:srgbClr val="000000"/>
                          </a:solidFill>
                          <a:effectLst/>
                          <a:latin typeface="Calibri" panose="020F0502020204030204" pitchFamily="34" charset="0"/>
                        </a:rPr>
                        <a:t>Total Recurring Expenses Per Annum (USD)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endParaRPr lang="en-US" sz="1100" b="1"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US" sz="1100" b="1"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US" sz="1100" b="1"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00" b="1" i="0" u="none" strike="noStrike" dirty="0">
                          <a:solidFill>
                            <a:srgbClr val="000000"/>
                          </a:solidFill>
                          <a:effectLst/>
                          <a:latin typeface="Calibri" panose="020F0502020204030204" pitchFamily="34" charset="0"/>
                        </a:rPr>
                        <a:t>774,338</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1200065"/>
                  </a:ext>
                </a:extLst>
              </a:tr>
              <a:tr h="256228">
                <a:tc>
                  <a:txBody>
                    <a:bodyPr/>
                    <a:lstStyle/>
                    <a:p>
                      <a:pPr algn="ctr" fontAlgn="ctr"/>
                      <a:r>
                        <a:rPr lang="en-US" sz="1100" b="1" i="0" u="none" strike="noStrike" dirty="0">
                          <a:solidFill>
                            <a:srgbClr val="000000"/>
                          </a:solidFill>
                          <a:effectLst/>
                          <a:latin typeface="Calibri" panose="020F0502020204030204" pitchFamily="34" charset="0"/>
                        </a:rPr>
                        <a:t>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r>
                        <a:rPr lang="en-US" sz="1100" b="1" i="0" u="none" strike="noStrike" dirty="0">
                          <a:solidFill>
                            <a:srgbClr val="000000"/>
                          </a:solidFill>
                          <a:effectLst/>
                          <a:latin typeface="Calibri" panose="020F0502020204030204" pitchFamily="34" charset="0"/>
                        </a:rPr>
                        <a:t>Total One Time Expenses (Working Slide 1 and 2)</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endParaRPr lang="en-US" sz="1100" b="1"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endParaRPr lang="en-US" sz="1100" b="1"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endParaRPr lang="en-US" sz="1100" b="1"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r" fontAlgn="ctr"/>
                      <a:r>
                        <a:rPr lang="en-US" sz="1100" b="1" i="0" u="none" strike="noStrike" dirty="0">
                          <a:solidFill>
                            <a:srgbClr val="000000"/>
                          </a:solidFill>
                          <a:effectLst/>
                          <a:latin typeface="Calibri" panose="020F0502020204030204" pitchFamily="34" charset="0"/>
                        </a:rPr>
                        <a:t>4,736,920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tc>
                  <a:txBody>
                    <a:bodyPr/>
                    <a:lstStyle/>
                    <a:p>
                      <a:pPr algn="l" fontAlgn="ctr"/>
                      <a:endParaRPr lang="en-US" sz="1100" b="0" i="0" u="none" strike="noStrike" dirty="0">
                        <a:solidFill>
                          <a:srgbClr val="000000"/>
                        </a:solidFill>
                        <a:effectLst/>
                        <a:latin typeface="Calibri" panose="020F0502020204030204" pitchFamily="34" charset="0"/>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CF"/>
                    </a:solidFill>
                  </a:tcPr>
                </a:tc>
                <a:extLst>
                  <a:ext uri="{0D108BD9-81ED-4DB2-BD59-A6C34878D82A}">
                    <a16:rowId xmlns:a16="http://schemas.microsoft.com/office/drawing/2014/main" val="3494149055"/>
                  </a:ext>
                </a:extLst>
              </a:tr>
            </a:tbl>
          </a:graphicData>
        </a:graphic>
      </p:graphicFrame>
      <p:graphicFrame>
        <p:nvGraphicFramePr>
          <p:cNvPr id="263" name="Chart 262">
            <a:extLst>
              <a:ext uri="{FF2B5EF4-FFF2-40B4-BE49-F238E27FC236}">
                <a16:creationId xmlns:a16="http://schemas.microsoft.com/office/drawing/2014/main" id="{59B3040E-3FE7-409B-BB99-494A26D9B6C7}"/>
              </a:ext>
            </a:extLst>
          </p:cNvPr>
          <p:cNvGraphicFramePr/>
          <p:nvPr>
            <p:custDataLst>
              <p:tags r:id="rId2"/>
            </p:custDataLst>
            <p:extLst>
              <p:ext uri="{D42A27DB-BD31-4B8C-83A1-F6EECF244321}">
                <p14:modId xmlns:p14="http://schemas.microsoft.com/office/powerpoint/2010/main" val="1003671405"/>
              </p:ext>
            </p:extLst>
          </p:nvPr>
        </p:nvGraphicFramePr>
        <p:xfrm>
          <a:off x="419100" y="4259263"/>
          <a:ext cx="7734300" cy="1323975"/>
        </p:xfrm>
        <a:graphic>
          <a:graphicData uri="http://schemas.openxmlformats.org/drawingml/2006/chart">
            <c:chart xmlns:c="http://schemas.openxmlformats.org/drawingml/2006/chart" xmlns:r="http://schemas.openxmlformats.org/officeDocument/2006/relationships" r:id="rId37"/>
          </a:graphicData>
        </a:graphic>
      </p:graphicFrame>
      <p:sp>
        <p:nvSpPr>
          <p:cNvPr id="29" name="Text Placeholder 18">
            <a:extLst>
              <a:ext uri="{FF2B5EF4-FFF2-40B4-BE49-F238E27FC236}">
                <a16:creationId xmlns:a16="http://schemas.microsoft.com/office/drawing/2014/main" id="{65E1B2DD-449C-43AF-A399-C204EC8DD890}"/>
              </a:ext>
            </a:extLst>
          </p:cNvPr>
          <p:cNvSpPr>
            <a:spLocks noGrp="1"/>
          </p:cNvSpPr>
          <p:nvPr>
            <p:custDataLst>
              <p:tags r:id="rId3"/>
            </p:custDataLst>
          </p:nvPr>
        </p:nvSpPr>
        <p:spPr bwMode="auto">
          <a:xfrm>
            <a:off x="796925" y="5602288"/>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45661CBD-2147-49D9-A18C-422C0D9D7D42}" type="datetime'''''''''''Y''''''''''''''''''''''''''''1'''''''''''''''''">
              <a:rPr lang="en-US" altLang="en-US" sz="1200" smtClean="0">
                <a:cs typeface="+mn-cs"/>
              </a:rPr>
              <a:pPr/>
              <a:t>Y1</a:t>
            </a:fld>
            <a:endParaRPr lang="en-US" sz="1200" noProof="0" dirty="0">
              <a:cs typeface="+mn-cs"/>
            </a:endParaRPr>
          </a:p>
        </p:txBody>
      </p:sp>
      <p:sp>
        <p:nvSpPr>
          <p:cNvPr id="51" name="Text Placeholder 18">
            <a:extLst>
              <a:ext uri="{FF2B5EF4-FFF2-40B4-BE49-F238E27FC236}">
                <a16:creationId xmlns:a16="http://schemas.microsoft.com/office/drawing/2014/main" id="{FC4B8EFF-5994-4204-A188-D5D7E1DB91A4}"/>
              </a:ext>
            </a:extLst>
          </p:cNvPr>
          <p:cNvSpPr>
            <a:spLocks noGrp="1"/>
          </p:cNvSpPr>
          <p:nvPr>
            <p:custDataLst>
              <p:tags r:id="rId4"/>
            </p:custDataLst>
          </p:nvPr>
        </p:nvSpPr>
        <p:spPr bwMode="auto">
          <a:xfrm>
            <a:off x="3824288" y="5602288"/>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9E367A88-3FC9-4FE6-8041-B66550EA7573}" type="datetime'Y''''''''''''''''''''''5'''''''''''''''''''''''''''">
              <a:rPr lang="en-US" altLang="en-US" sz="1200" smtClean="0">
                <a:cs typeface="+mn-cs"/>
              </a:rPr>
              <a:pPr/>
              <a:t>Y5</a:t>
            </a:fld>
            <a:endParaRPr lang="en-US" sz="1200" noProof="0" dirty="0">
              <a:cs typeface="+mn-cs"/>
            </a:endParaRPr>
          </a:p>
        </p:txBody>
      </p:sp>
      <p:sp>
        <p:nvSpPr>
          <p:cNvPr id="94" name="Text Placeholder 18">
            <a:extLst>
              <a:ext uri="{FF2B5EF4-FFF2-40B4-BE49-F238E27FC236}">
                <a16:creationId xmlns:a16="http://schemas.microsoft.com/office/drawing/2014/main" id="{55B0E616-E113-49DC-B619-E475D646F413}"/>
              </a:ext>
            </a:extLst>
          </p:cNvPr>
          <p:cNvSpPr>
            <a:spLocks noGrp="1"/>
          </p:cNvSpPr>
          <p:nvPr>
            <p:custDataLst>
              <p:tags r:id="rId5"/>
            </p:custDataLst>
          </p:nvPr>
        </p:nvSpPr>
        <p:spPr bwMode="gray">
          <a:xfrm>
            <a:off x="757238" y="4133850"/>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8F215D98-44BD-4174-9EE6-99C28368A479}" type="datetime'''''''''''''''''''''''5''''''.''''0'''''''''''''''''''">
              <a:rPr lang="en-US" altLang="en-US" sz="1200" smtClean="0">
                <a:cs typeface="+mn-cs"/>
              </a:rPr>
              <a:pPr/>
              <a:t>5.0</a:t>
            </a:fld>
            <a:endParaRPr lang="en-US" sz="1200" noProof="0" dirty="0">
              <a:cs typeface="+mn-cs"/>
            </a:endParaRPr>
          </a:p>
        </p:txBody>
      </p:sp>
      <p:sp>
        <p:nvSpPr>
          <p:cNvPr id="33" name="Text Placeholder 18">
            <a:extLst>
              <a:ext uri="{FF2B5EF4-FFF2-40B4-BE49-F238E27FC236}">
                <a16:creationId xmlns:a16="http://schemas.microsoft.com/office/drawing/2014/main" id="{B8CBDC96-CD13-48AC-8225-DDC61D992A26}"/>
              </a:ext>
            </a:extLst>
          </p:cNvPr>
          <p:cNvSpPr>
            <a:spLocks noGrp="1"/>
          </p:cNvSpPr>
          <p:nvPr>
            <p:custDataLst>
              <p:tags r:id="rId6"/>
            </p:custDataLst>
          </p:nvPr>
        </p:nvSpPr>
        <p:spPr bwMode="auto">
          <a:xfrm>
            <a:off x="1554163" y="5602288"/>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C4FB99DE-3FC6-47A3-8582-FAEC1BFC3494}" type="datetime'Y''''''''2'''''''''''''''''''''">
              <a:rPr lang="en-US" altLang="en-US" sz="1200" smtClean="0">
                <a:cs typeface="+mn-cs"/>
              </a:rPr>
              <a:pPr/>
              <a:t>Y2</a:t>
            </a:fld>
            <a:endParaRPr lang="en-US" sz="1200" noProof="0" dirty="0">
              <a:cs typeface="+mn-cs"/>
            </a:endParaRPr>
          </a:p>
        </p:txBody>
      </p:sp>
      <p:sp>
        <p:nvSpPr>
          <p:cNvPr id="39" name="Text Placeholder 18">
            <a:extLst>
              <a:ext uri="{FF2B5EF4-FFF2-40B4-BE49-F238E27FC236}">
                <a16:creationId xmlns:a16="http://schemas.microsoft.com/office/drawing/2014/main" id="{BDA7690B-8BA6-42F7-85B7-0C15AE8EA484}"/>
              </a:ext>
            </a:extLst>
          </p:cNvPr>
          <p:cNvSpPr>
            <a:spLocks noGrp="1"/>
          </p:cNvSpPr>
          <p:nvPr>
            <p:custDataLst>
              <p:tags r:id="rId7"/>
            </p:custDataLst>
          </p:nvPr>
        </p:nvSpPr>
        <p:spPr bwMode="auto">
          <a:xfrm>
            <a:off x="2309813" y="5602288"/>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C4004F32-E7F0-40B7-8ED1-98943FE86935}" type="datetime'''''''''''''Y3'''''''''''">
              <a:rPr lang="en-US" altLang="en-US" sz="1200" smtClean="0">
                <a:cs typeface="+mn-cs"/>
              </a:rPr>
              <a:pPr/>
              <a:t>Y3</a:t>
            </a:fld>
            <a:endParaRPr lang="en-US" sz="1200" noProof="0" dirty="0">
              <a:cs typeface="+mn-cs"/>
            </a:endParaRPr>
          </a:p>
        </p:txBody>
      </p:sp>
      <p:sp>
        <p:nvSpPr>
          <p:cNvPr id="69" name="Text Placeholder 18">
            <a:extLst>
              <a:ext uri="{FF2B5EF4-FFF2-40B4-BE49-F238E27FC236}">
                <a16:creationId xmlns:a16="http://schemas.microsoft.com/office/drawing/2014/main" id="{A430F5A1-F06D-4384-854D-F00C67BCFAD5}"/>
              </a:ext>
            </a:extLst>
          </p:cNvPr>
          <p:cNvSpPr>
            <a:spLocks noGrp="1"/>
          </p:cNvSpPr>
          <p:nvPr>
            <p:custDataLst>
              <p:tags r:id="rId8"/>
            </p:custDataLst>
          </p:nvPr>
        </p:nvSpPr>
        <p:spPr bwMode="auto">
          <a:xfrm>
            <a:off x="6094413" y="5602288"/>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D3065CDA-E085-414B-8498-FE9CE39B6BF2}" type="datetime'''''''Y''''''''''''''''''''''''''''''''''''''8'''''''''''">
              <a:rPr lang="en-US" altLang="en-US" sz="1200" smtClean="0">
                <a:cs typeface="+mn-cs"/>
              </a:rPr>
              <a:pPr/>
              <a:t>Y8</a:t>
            </a:fld>
            <a:endParaRPr lang="en-US" sz="1200" noProof="0" dirty="0">
              <a:cs typeface="+mn-cs"/>
            </a:endParaRPr>
          </a:p>
        </p:txBody>
      </p:sp>
      <p:sp>
        <p:nvSpPr>
          <p:cNvPr id="48" name="Text Placeholder 18">
            <a:extLst>
              <a:ext uri="{FF2B5EF4-FFF2-40B4-BE49-F238E27FC236}">
                <a16:creationId xmlns:a16="http://schemas.microsoft.com/office/drawing/2014/main" id="{60DDC28E-A84A-4D09-BA41-D2DDA0DA693C}"/>
              </a:ext>
            </a:extLst>
          </p:cNvPr>
          <p:cNvSpPr>
            <a:spLocks noGrp="1"/>
          </p:cNvSpPr>
          <p:nvPr>
            <p:custDataLst>
              <p:tags r:id="rId9"/>
            </p:custDataLst>
          </p:nvPr>
        </p:nvSpPr>
        <p:spPr bwMode="auto">
          <a:xfrm>
            <a:off x="3067050" y="5602288"/>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101F36EF-6207-413F-8656-291B8C3DD32E}" type="datetime'''''''''Y''''''''''''''''''''''''''4'''''''''''''''''">
              <a:rPr lang="en-US" altLang="en-US" sz="1200" smtClean="0">
                <a:cs typeface="+mn-cs"/>
              </a:rPr>
              <a:pPr/>
              <a:t>Y4</a:t>
            </a:fld>
            <a:endParaRPr lang="en-US" sz="1200" noProof="0" dirty="0">
              <a:cs typeface="+mn-cs"/>
            </a:endParaRPr>
          </a:p>
        </p:txBody>
      </p:sp>
      <p:sp>
        <p:nvSpPr>
          <p:cNvPr id="101" name="Text Placeholder 18">
            <a:extLst>
              <a:ext uri="{FF2B5EF4-FFF2-40B4-BE49-F238E27FC236}">
                <a16:creationId xmlns:a16="http://schemas.microsoft.com/office/drawing/2014/main" id="{573BDDBA-CDEC-49F2-A551-F920672AB8A2}"/>
              </a:ext>
            </a:extLst>
          </p:cNvPr>
          <p:cNvSpPr>
            <a:spLocks noGrp="1"/>
          </p:cNvSpPr>
          <p:nvPr>
            <p:custDataLst>
              <p:tags r:id="rId10"/>
            </p:custDataLst>
          </p:nvPr>
        </p:nvSpPr>
        <p:spPr bwMode="gray">
          <a:xfrm>
            <a:off x="1514475" y="5114925"/>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A0E97BC4-030D-4A1B-A0E1-4414BFB242D6}" type="datetime'''''''''''''''''''''''''''''''0''.''''''''''''''''''''''''''8'">
              <a:rPr lang="en-US" altLang="en-US" sz="1200" smtClean="0">
                <a:cs typeface="+mn-cs"/>
              </a:rPr>
              <a:pPr/>
              <a:t>0.8</a:t>
            </a:fld>
            <a:endParaRPr lang="en-US" sz="1200" noProof="0" dirty="0">
              <a:cs typeface="+mn-cs"/>
            </a:endParaRPr>
          </a:p>
        </p:txBody>
      </p:sp>
      <p:sp>
        <p:nvSpPr>
          <p:cNvPr id="30" name="Text Placeholder 18">
            <a:extLst>
              <a:ext uri="{FF2B5EF4-FFF2-40B4-BE49-F238E27FC236}">
                <a16:creationId xmlns:a16="http://schemas.microsoft.com/office/drawing/2014/main" id="{007F9855-70A2-4A96-933F-209E1AB53D07}"/>
              </a:ext>
            </a:extLst>
          </p:cNvPr>
          <p:cNvSpPr>
            <a:spLocks noGrp="1"/>
          </p:cNvSpPr>
          <p:nvPr>
            <p:custDataLst>
              <p:tags r:id="rId11"/>
            </p:custDataLst>
          </p:nvPr>
        </p:nvSpPr>
        <p:spPr bwMode="auto">
          <a:xfrm>
            <a:off x="5338763" y="5602288"/>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B74FA717-DC8B-4DD0-8787-B71ED88BE7F3}" type="datetime'Y''''''''7'''''''''''''''''''''''''''''''''''''''''''''">
              <a:rPr lang="en-US" altLang="en-US" sz="1200" smtClean="0">
                <a:cs typeface="+mn-cs"/>
              </a:rPr>
              <a:pPr/>
              <a:t>Y7</a:t>
            </a:fld>
            <a:endParaRPr lang="en-US" sz="1200" noProof="0" dirty="0">
              <a:cs typeface="+mn-cs"/>
            </a:endParaRPr>
          </a:p>
        </p:txBody>
      </p:sp>
      <p:sp>
        <p:nvSpPr>
          <p:cNvPr id="32" name="Text Placeholder 18">
            <a:extLst>
              <a:ext uri="{FF2B5EF4-FFF2-40B4-BE49-F238E27FC236}">
                <a16:creationId xmlns:a16="http://schemas.microsoft.com/office/drawing/2014/main" id="{39B7BBFE-2BC2-4796-95A3-5F77EA907151}"/>
              </a:ext>
            </a:extLst>
          </p:cNvPr>
          <p:cNvSpPr>
            <a:spLocks noGrp="1"/>
          </p:cNvSpPr>
          <p:nvPr>
            <p:custDataLst>
              <p:tags r:id="rId12"/>
            </p:custDataLst>
          </p:nvPr>
        </p:nvSpPr>
        <p:spPr bwMode="auto">
          <a:xfrm>
            <a:off x="4581525" y="5602288"/>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3BF61E48-4EE9-404E-A183-82D9E821F09E}" type="datetime'''''''Y''''''''''''''''''''''''''''''''''''''''''6'''">
              <a:rPr lang="en-US" altLang="en-US" sz="1200" smtClean="0">
                <a:cs typeface="+mn-cs"/>
              </a:rPr>
              <a:pPr/>
              <a:t>Y6</a:t>
            </a:fld>
            <a:endParaRPr lang="en-US" sz="1200" noProof="0" dirty="0">
              <a:cs typeface="+mn-cs"/>
            </a:endParaRPr>
          </a:p>
        </p:txBody>
      </p:sp>
      <p:sp>
        <p:nvSpPr>
          <p:cNvPr id="44" name="Text Placeholder 18">
            <a:extLst>
              <a:ext uri="{FF2B5EF4-FFF2-40B4-BE49-F238E27FC236}">
                <a16:creationId xmlns:a16="http://schemas.microsoft.com/office/drawing/2014/main" id="{55782926-076C-4A71-A045-79E9B5BE3AAD}"/>
              </a:ext>
            </a:extLst>
          </p:cNvPr>
          <p:cNvSpPr>
            <a:spLocks noGrp="1"/>
          </p:cNvSpPr>
          <p:nvPr>
            <p:custDataLst>
              <p:tags r:id="rId13"/>
            </p:custDataLst>
          </p:nvPr>
        </p:nvSpPr>
        <p:spPr bwMode="auto">
          <a:xfrm>
            <a:off x="6851650" y="5602288"/>
            <a:ext cx="1651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C7A066E8-433C-4E0A-89AD-16AC0B81F1CB}" type="datetime'''''''''''''''''Y''''''9'''''''''">
              <a:rPr lang="en-US" altLang="en-US" sz="1200" smtClean="0">
                <a:cs typeface="+mn-cs"/>
              </a:rPr>
              <a:pPr/>
              <a:t>Y9</a:t>
            </a:fld>
            <a:endParaRPr lang="en-US" sz="1200" noProof="0" dirty="0">
              <a:cs typeface="+mn-cs"/>
            </a:endParaRPr>
          </a:p>
        </p:txBody>
      </p:sp>
      <p:sp>
        <p:nvSpPr>
          <p:cNvPr id="67" name="Text Placeholder 18">
            <a:extLst>
              <a:ext uri="{FF2B5EF4-FFF2-40B4-BE49-F238E27FC236}">
                <a16:creationId xmlns:a16="http://schemas.microsoft.com/office/drawing/2014/main" id="{2E0D573F-D785-418C-9190-AEB6D5FF6173}"/>
              </a:ext>
            </a:extLst>
          </p:cNvPr>
          <p:cNvSpPr>
            <a:spLocks noGrp="1"/>
          </p:cNvSpPr>
          <p:nvPr>
            <p:custDataLst>
              <p:tags r:id="rId14"/>
            </p:custDataLst>
          </p:nvPr>
        </p:nvSpPr>
        <p:spPr bwMode="auto">
          <a:xfrm>
            <a:off x="7570788" y="5602288"/>
            <a:ext cx="24288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762C0051-38DA-4E8F-83B8-8501AEBC849D}" type="datetime'''''''''''''''Y''''1''''''''''''''''0'''''">
              <a:rPr lang="en-US" altLang="en-US" sz="1200" smtClean="0">
                <a:cs typeface="+mn-cs"/>
              </a:rPr>
              <a:pPr/>
              <a:t>Y10</a:t>
            </a:fld>
            <a:endParaRPr lang="en-US" sz="1200" noProof="0" dirty="0">
              <a:cs typeface="+mn-cs"/>
            </a:endParaRPr>
          </a:p>
        </p:txBody>
      </p:sp>
      <p:sp>
        <p:nvSpPr>
          <p:cNvPr id="102" name="Text Placeholder 18">
            <a:extLst>
              <a:ext uri="{FF2B5EF4-FFF2-40B4-BE49-F238E27FC236}">
                <a16:creationId xmlns:a16="http://schemas.microsoft.com/office/drawing/2014/main" id="{0CC087CB-04B8-4831-8C18-207CFB0BD095}"/>
              </a:ext>
            </a:extLst>
          </p:cNvPr>
          <p:cNvSpPr>
            <a:spLocks noGrp="1"/>
          </p:cNvSpPr>
          <p:nvPr>
            <p:custDataLst>
              <p:tags r:id="rId15"/>
            </p:custDataLst>
          </p:nvPr>
        </p:nvSpPr>
        <p:spPr bwMode="gray">
          <a:xfrm>
            <a:off x="2270125" y="5114925"/>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FE1D34AB-64D2-4FB4-810F-1D6FBC73D007}" type="datetime'''''''0''''''.''''''''''''''''''''''''''''8'''''''''''''''''''">
              <a:rPr lang="en-US" altLang="en-US" sz="1200" smtClean="0">
                <a:cs typeface="+mn-cs"/>
              </a:rPr>
              <a:pPr/>
              <a:t>0.8</a:t>
            </a:fld>
            <a:endParaRPr lang="en-US" sz="1200" noProof="0" dirty="0">
              <a:cs typeface="+mn-cs"/>
            </a:endParaRPr>
          </a:p>
        </p:txBody>
      </p:sp>
      <p:sp>
        <p:nvSpPr>
          <p:cNvPr id="103" name="Text Placeholder 18">
            <a:extLst>
              <a:ext uri="{FF2B5EF4-FFF2-40B4-BE49-F238E27FC236}">
                <a16:creationId xmlns:a16="http://schemas.microsoft.com/office/drawing/2014/main" id="{7BFCB7F3-1349-4FF6-8521-9D5770F9B8B9}"/>
              </a:ext>
            </a:extLst>
          </p:cNvPr>
          <p:cNvSpPr>
            <a:spLocks noGrp="1"/>
          </p:cNvSpPr>
          <p:nvPr>
            <p:custDataLst>
              <p:tags r:id="rId16"/>
            </p:custDataLst>
          </p:nvPr>
        </p:nvSpPr>
        <p:spPr bwMode="gray">
          <a:xfrm>
            <a:off x="3027363" y="5114925"/>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439ADE8B-C304-468E-9EDA-D3AEDE0B500A}" type="datetime'''''''''''''''''0''''''.''''''''''''8'''''''">
              <a:rPr lang="en-US" altLang="en-US" sz="1200" smtClean="0">
                <a:cs typeface="+mn-cs"/>
              </a:rPr>
              <a:pPr/>
              <a:t>0.8</a:t>
            </a:fld>
            <a:endParaRPr lang="en-US" sz="1200" noProof="0" dirty="0">
              <a:cs typeface="+mn-cs"/>
            </a:endParaRPr>
          </a:p>
        </p:txBody>
      </p:sp>
      <p:sp>
        <p:nvSpPr>
          <p:cNvPr id="104" name="Text Placeholder 18">
            <a:extLst>
              <a:ext uri="{FF2B5EF4-FFF2-40B4-BE49-F238E27FC236}">
                <a16:creationId xmlns:a16="http://schemas.microsoft.com/office/drawing/2014/main" id="{89314020-06AC-4093-9DDC-3EA3DBAB91F9}"/>
              </a:ext>
            </a:extLst>
          </p:cNvPr>
          <p:cNvSpPr>
            <a:spLocks noGrp="1"/>
          </p:cNvSpPr>
          <p:nvPr>
            <p:custDataLst>
              <p:tags r:id="rId17"/>
            </p:custDataLst>
          </p:nvPr>
        </p:nvSpPr>
        <p:spPr bwMode="gray">
          <a:xfrm>
            <a:off x="3784600" y="5114925"/>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9EF8121A-C22F-4920-875C-7AD866C5F1D6}" type="datetime'''''''''''''''''0.''8'''''''''''''''''''''''''''''''''''''''''">
              <a:rPr lang="en-US" altLang="en-US" sz="1200" smtClean="0">
                <a:cs typeface="+mn-cs"/>
              </a:rPr>
              <a:pPr/>
              <a:t>0.8</a:t>
            </a:fld>
            <a:endParaRPr lang="en-US" sz="1200" noProof="0" dirty="0">
              <a:cs typeface="+mn-cs"/>
            </a:endParaRPr>
          </a:p>
        </p:txBody>
      </p:sp>
      <p:sp>
        <p:nvSpPr>
          <p:cNvPr id="105" name="Text Placeholder 18">
            <a:extLst>
              <a:ext uri="{FF2B5EF4-FFF2-40B4-BE49-F238E27FC236}">
                <a16:creationId xmlns:a16="http://schemas.microsoft.com/office/drawing/2014/main" id="{28660824-DAA0-4926-B02D-71C2692F76E2}"/>
              </a:ext>
            </a:extLst>
          </p:cNvPr>
          <p:cNvSpPr>
            <a:spLocks noGrp="1"/>
          </p:cNvSpPr>
          <p:nvPr>
            <p:custDataLst>
              <p:tags r:id="rId18"/>
            </p:custDataLst>
          </p:nvPr>
        </p:nvSpPr>
        <p:spPr bwMode="gray">
          <a:xfrm>
            <a:off x="4541838" y="5181600"/>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EDC1E331-6D38-40D5-AD92-C52EC397E3F3}" type="datetime'''''''''0''''''''''''''''.''''''''''''''''''''''''5'''''''''''">
              <a:rPr lang="en-US" altLang="en-US" sz="1200" smtClean="0">
                <a:cs typeface="+mn-cs"/>
              </a:rPr>
              <a:pPr/>
              <a:t>0.5</a:t>
            </a:fld>
            <a:endParaRPr lang="en-US" sz="1200" noProof="0" dirty="0">
              <a:cs typeface="+mn-cs"/>
            </a:endParaRPr>
          </a:p>
        </p:txBody>
      </p:sp>
      <p:sp>
        <p:nvSpPr>
          <p:cNvPr id="106" name="Text Placeholder 18">
            <a:extLst>
              <a:ext uri="{FF2B5EF4-FFF2-40B4-BE49-F238E27FC236}">
                <a16:creationId xmlns:a16="http://schemas.microsoft.com/office/drawing/2014/main" id="{E6037726-A46D-431A-B086-F3ECB5F091CE}"/>
              </a:ext>
            </a:extLst>
          </p:cNvPr>
          <p:cNvSpPr>
            <a:spLocks noGrp="1"/>
          </p:cNvSpPr>
          <p:nvPr>
            <p:custDataLst>
              <p:tags r:id="rId19"/>
            </p:custDataLst>
          </p:nvPr>
        </p:nvSpPr>
        <p:spPr bwMode="gray">
          <a:xfrm>
            <a:off x="5299075" y="5181600"/>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29E49C6A-CF32-4951-969C-CBED8DAE985D}" type="datetime'0''''''''''''''''''''''''''''''''''''.''5'">
              <a:rPr lang="en-US" altLang="en-US" sz="1200" smtClean="0">
                <a:cs typeface="+mn-cs"/>
              </a:rPr>
              <a:pPr/>
              <a:t>0.5</a:t>
            </a:fld>
            <a:endParaRPr lang="en-US" sz="1200" noProof="0" dirty="0">
              <a:cs typeface="+mn-cs"/>
            </a:endParaRPr>
          </a:p>
        </p:txBody>
      </p:sp>
      <p:sp>
        <p:nvSpPr>
          <p:cNvPr id="107" name="Text Placeholder 18">
            <a:extLst>
              <a:ext uri="{FF2B5EF4-FFF2-40B4-BE49-F238E27FC236}">
                <a16:creationId xmlns:a16="http://schemas.microsoft.com/office/drawing/2014/main" id="{2F490088-73C5-4028-A282-3FA8556542A5}"/>
              </a:ext>
            </a:extLst>
          </p:cNvPr>
          <p:cNvSpPr>
            <a:spLocks noGrp="1"/>
          </p:cNvSpPr>
          <p:nvPr>
            <p:custDataLst>
              <p:tags r:id="rId20"/>
            </p:custDataLst>
          </p:nvPr>
        </p:nvSpPr>
        <p:spPr bwMode="gray">
          <a:xfrm>
            <a:off x="6054725" y="5181600"/>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2F5133D6-37C7-4E3D-AE24-015CE49AF076}" type="datetime'''''''''0''''''''''''''''.''''''5'''''''''''''''''''">
              <a:rPr lang="en-US" altLang="en-US" sz="1200" smtClean="0">
                <a:cs typeface="+mn-cs"/>
              </a:rPr>
              <a:pPr/>
              <a:t>0.5</a:t>
            </a:fld>
            <a:endParaRPr lang="en-US" sz="1200" noProof="0" dirty="0">
              <a:cs typeface="+mn-cs"/>
            </a:endParaRPr>
          </a:p>
        </p:txBody>
      </p:sp>
      <p:sp>
        <p:nvSpPr>
          <p:cNvPr id="108" name="Text Placeholder 18">
            <a:extLst>
              <a:ext uri="{FF2B5EF4-FFF2-40B4-BE49-F238E27FC236}">
                <a16:creationId xmlns:a16="http://schemas.microsoft.com/office/drawing/2014/main" id="{22CE4405-95BC-45E1-9B88-661A54D00F5D}"/>
              </a:ext>
            </a:extLst>
          </p:cNvPr>
          <p:cNvSpPr>
            <a:spLocks noGrp="1"/>
          </p:cNvSpPr>
          <p:nvPr>
            <p:custDataLst>
              <p:tags r:id="rId21"/>
            </p:custDataLst>
          </p:nvPr>
        </p:nvSpPr>
        <p:spPr bwMode="gray">
          <a:xfrm>
            <a:off x="6811963" y="5181600"/>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714262F2-4363-4A80-BD34-CE7E4DBCC9C3}" type="datetime'''''''''''''0''''''''''''''''.''''''''''''5'">
              <a:rPr lang="en-US" altLang="en-US" sz="1200" smtClean="0">
                <a:cs typeface="+mn-cs"/>
              </a:rPr>
              <a:pPr/>
              <a:t>0.5</a:t>
            </a:fld>
            <a:endParaRPr lang="en-US" sz="1200" noProof="0" dirty="0">
              <a:cs typeface="+mn-cs"/>
            </a:endParaRPr>
          </a:p>
        </p:txBody>
      </p:sp>
      <p:sp>
        <p:nvSpPr>
          <p:cNvPr id="137" name="Text Placeholder 18">
            <a:extLst>
              <a:ext uri="{FF2B5EF4-FFF2-40B4-BE49-F238E27FC236}">
                <a16:creationId xmlns:a16="http://schemas.microsoft.com/office/drawing/2014/main" id="{7E87F021-9232-4FB0-BC5E-1FED992CE6B6}"/>
              </a:ext>
            </a:extLst>
          </p:cNvPr>
          <p:cNvSpPr>
            <a:spLocks noGrp="1"/>
          </p:cNvSpPr>
          <p:nvPr>
            <p:custDataLst>
              <p:tags r:id="rId22"/>
            </p:custDataLst>
          </p:nvPr>
        </p:nvSpPr>
        <p:spPr bwMode="gray">
          <a:xfrm>
            <a:off x="7569200" y="5253038"/>
            <a:ext cx="2444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55172576-9DD1-4CAC-BF45-5425DC50878C}" type="datetime'0''''''''''''''''''''''''''''''''''''''''''''''''.2'''''''''">
              <a:rPr lang="en-US" altLang="en-US" sz="1200" smtClean="0">
                <a:cs typeface="+mn-cs"/>
              </a:rPr>
              <a:pPr/>
              <a:t>0.2</a:t>
            </a:fld>
            <a:endParaRPr lang="en-US" sz="1200" noProof="0" dirty="0">
              <a:cs typeface="+mn-cs"/>
            </a:endParaRPr>
          </a:p>
        </p:txBody>
      </p:sp>
      <p:sp>
        <p:nvSpPr>
          <p:cNvPr id="177" name="Rectangle 176">
            <a:extLst>
              <a:ext uri="{FF2B5EF4-FFF2-40B4-BE49-F238E27FC236}">
                <a16:creationId xmlns:a16="http://schemas.microsoft.com/office/drawing/2014/main" id="{99EF37C6-CEAC-4BCF-8E15-D3054B9A4E03}"/>
              </a:ext>
            </a:extLst>
          </p:cNvPr>
          <p:cNvSpPr/>
          <p:nvPr>
            <p:custDataLst>
              <p:tags r:id="rId23"/>
            </p:custDataLst>
          </p:nvPr>
        </p:nvSpPr>
        <p:spPr bwMode="auto">
          <a:xfrm>
            <a:off x="3605213" y="5848350"/>
            <a:ext cx="214313" cy="160338"/>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5" name="Rectangle 174">
            <a:extLst>
              <a:ext uri="{FF2B5EF4-FFF2-40B4-BE49-F238E27FC236}">
                <a16:creationId xmlns:a16="http://schemas.microsoft.com/office/drawing/2014/main" id="{19D3742F-756A-466A-9F01-ED1E75D4DC75}"/>
              </a:ext>
            </a:extLst>
          </p:cNvPr>
          <p:cNvSpPr/>
          <p:nvPr>
            <p:custDataLst>
              <p:tags r:id="rId24"/>
            </p:custDataLst>
          </p:nvPr>
        </p:nvSpPr>
        <p:spPr bwMode="auto">
          <a:xfrm>
            <a:off x="1270000" y="5848350"/>
            <a:ext cx="214313" cy="160338"/>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6" name="Rectangle 175">
            <a:extLst>
              <a:ext uri="{FF2B5EF4-FFF2-40B4-BE49-F238E27FC236}">
                <a16:creationId xmlns:a16="http://schemas.microsoft.com/office/drawing/2014/main" id="{6619E10E-2959-4AB5-9B29-C1015BC0F7C2}"/>
              </a:ext>
            </a:extLst>
          </p:cNvPr>
          <p:cNvSpPr/>
          <p:nvPr>
            <p:custDataLst>
              <p:tags r:id="rId25"/>
            </p:custDataLst>
          </p:nvPr>
        </p:nvSpPr>
        <p:spPr bwMode="auto">
          <a:xfrm>
            <a:off x="1270000" y="6081713"/>
            <a:ext cx="214313" cy="160338"/>
          </a:xfrm>
          <a:prstGeom prst="rect">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8" name="Rectangle 177">
            <a:extLst>
              <a:ext uri="{FF2B5EF4-FFF2-40B4-BE49-F238E27FC236}">
                <a16:creationId xmlns:a16="http://schemas.microsoft.com/office/drawing/2014/main" id="{30D91581-8FF5-43CF-9D66-E4DEB440D005}"/>
              </a:ext>
            </a:extLst>
          </p:cNvPr>
          <p:cNvSpPr/>
          <p:nvPr>
            <p:custDataLst>
              <p:tags r:id="rId26"/>
            </p:custDataLst>
          </p:nvPr>
        </p:nvSpPr>
        <p:spPr bwMode="auto">
          <a:xfrm>
            <a:off x="3605213" y="6081713"/>
            <a:ext cx="214313" cy="160338"/>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7" name="Text Placeholder 18">
            <a:extLst>
              <a:ext uri="{FF2B5EF4-FFF2-40B4-BE49-F238E27FC236}">
                <a16:creationId xmlns:a16="http://schemas.microsoft.com/office/drawing/2014/main" id="{FFEB17DA-1CB1-4A8C-9EED-C5D7F5958A9B}"/>
              </a:ext>
            </a:extLst>
          </p:cNvPr>
          <p:cNvSpPr>
            <a:spLocks noGrp="1"/>
          </p:cNvSpPr>
          <p:nvPr>
            <p:custDataLst>
              <p:tags r:id="rId27"/>
            </p:custDataLst>
          </p:nvPr>
        </p:nvSpPr>
        <p:spPr bwMode="auto">
          <a:xfrm>
            <a:off x="3870325" y="6076950"/>
            <a:ext cx="249078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spcBef>
                <a:spcPct val="0"/>
              </a:spcBef>
              <a:spcAft>
                <a:spcPct val="0"/>
              </a:spcAft>
            </a:pPr>
            <a:fld id="{98A34CD5-DB64-45AB-AFE0-7EFCC11D5801}" type="datetime'AM''S (''ha''rd''w''are payment'' fr''om 2n''d Ye''''''ar'')'">
              <a:rPr lang="en-US" altLang="en-US" sz="1200" smtClean="0">
                <a:cs typeface="+mn-cs"/>
              </a:rPr>
              <a:pPr>
                <a:spcBef>
                  <a:spcPct val="0"/>
                </a:spcBef>
                <a:spcAft>
                  <a:spcPct val="0"/>
                </a:spcAft>
              </a:pPr>
              <a:t>AMS (hardware payment from 2nd Year)</a:t>
            </a:fld>
            <a:endParaRPr lang="en-US" sz="1200" noProof="0" dirty="0">
              <a:cs typeface="+mn-cs"/>
            </a:endParaRPr>
          </a:p>
        </p:txBody>
      </p:sp>
      <p:sp>
        <p:nvSpPr>
          <p:cNvPr id="93" name="Text Placeholder 18">
            <a:extLst>
              <a:ext uri="{FF2B5EF4-FFF2-40B4-BE49-F238E27FC236}">
                <a16:creationId xmlns:a16="http://schemas.microsoft.com/office/drawing/2014/main" id="{3323E8B1-BDBC-4C72-9AB3-B22CB2CE3774}"/>
              </a:ext>
            </a:extLst>
          </p:cNvPr>
          <p:cNvSpPr>
            <a:spLocks noGrp="1"/>
          </p:cNvSpPr>
          <p:nvPr>
            <p:custDataLst>
              <p:tags r:id="rId28"/>
            </p:custDataLst>
          </p:nvPr>
        </p:nvSpPr>
        <p:spPr bwMode="auto">
          <a:xfrm>
            <a:off x="1535113" y="5843588"/>
            <a:ext cx="19351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spcBef>
                <a:spcPct val="0"/>
              </a:spcBef>
              <a:spcAft>
                <a:spcPct val="0"/>
              </a:spcAft>
            </a:pPr>
            <a:fld id="{F5A30299-88A6-49D5-A1EF-1E02DCB4D0C4}" type="datetime'One Ti''''m''''''''e Im''ple''men''''''t''atio''''n'' Cos''t'">
              <a:rPr lang="en-US" altLang="en-US" sz="1200" smtClean="0">
                <a:cs typeface="+mn-cs"/>
              </a:rPr>
              <a:pPr>
                <a:spcBef>
                  <a:spcPct val="0"/>
                </a:spcBef>
                <a:spcAft>
                  <a:spcPct val="0"/>
                </a:spcAft>
              </a:pPr>
              <a:t>One Time Implementation Cost</a:t>
            </a:fld>
            <a:endParaRPr lang="en-US" sz="1200" noProof="0" dirty="0">
              <a:cs typeface="+mn-cs"/>
            </a:endParaRPr>
          </a:p>
        </p:txBody>
      </p:sp>
      <p:sp>
        <p:nvSpPr>
          <p:cNvPr id="111" name="Text Placeholder 18">
            <a:extLst>
              <a:ext uri="{FF2B5EF4-FFF2-40B4-BE49-F238E27FC236}">
                <a16:creationId xmlns:a16="http://schemas.microsoft.com/office/drawing/2014/main" id="{2C9954DC-9E55-462C-BCF6-D2C3671A4399}"/>
              </a:ext>
            </a:extLst>
          </p:cNvPr>
          <p:cNvSpPr>
            <a:spLocks noGrp="1"/>
          </p:cNvSpPr>
          <p:nvPr>
            <p:custDataLst>
              <p:tags r:id="rId29"/>
            </p:custDataLst>
          </p:nvPr>
        </p:nvSpPr>
        <p:spPr bwMode="auto">
          <a:xfrm>
            <a:off x="3870325" y="5843588"/>
            <a:ext cx="2009775"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spcBef>
                <a:spcPct val="0"/>
              </a:spcBef>
              <a:spcAft>
                <a:spcPct val="0"/>
              </a:spcAft>
            </a:pPr>
            <a:fld id="{36E2C6CF-E32F-49D6-A4AF-016B011E23AE}" type="datetime'A''M''S'' ''(''S''I p''ayment f''''ro''''m 2''nd ''Ye''a''r)'">
              <a:rPr lang="en-US" altLang="en-US" sz="1200" smtClean="0">
                <a:cs typeface="+mn-cs"/>
              </a:rPr>
              <a:pPr>
                <a:spcBef>
                  <a:spcPct val="0"/>
                </a:spcBef>
                <a:spcAft>
                  <a:spcPct val="0"/>
                </a:spcAft>
              </a:pPr>
              <a:t>AMS (SI payment from 2nd Year)</a:t>
            </a:fld>
            <a:endParaRPr lang="en-US" sz="1200" noProof="0" dirty="0">
              <a:cs typeface="+mn-cs"/>
            </a:endParaRPr>
          </a:p>
        </p:txBody>
      </p:sp>
      <p:sp>
        <p:nvSpPr>
          <p:cNvPr id="96" name="Text Placeholder 18">
            <a:extLst>
              <a:ext uri="{FF2B5EF4-FFF2-40B4-BE49-F238E27FC236}">
                <a16:creationId xmlns:a16="http://schemas.microsoft.com/office/drawing/2014/main" id="{9A450C3C-50F2-4110-AA7C-0744BA4EAD74}"/>
              </a:ext>
            </a:extLst>
          </p:cNvPr>
          <p:cNvSpPr>
            <a:spLocks noGrp="1"/>
          </p:cNvSpPr>
          <p:nvPr>
            <p:custDataLst>
              <p:tags r:id="rId30"/>
            </p:custDataLst>
          </p:nvPr>
        </p:nvSpPr>
        <p:spPr bwMode="auto">
          <a:xfrm>
            <a:off x="1535113" y="6076950"/>
            <a:ext cx="19685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spcBef>
                <a:spcPct val="0"/>
              </a:spcBef>
              <a:spcAft>
                <a:spcPct val="0"/>
              </a:spcAft>
            </a:pPr>
            <a:fld id="{A55D1AE7-E299-4691-AED4-008196778B15}" type="datetime'A''TS'' ''(''p''a''id upfr''''''''ont ''fr''om 1st ''Yea''r)'">
              <a:rPr lang="en-US" altLang="en-US" sz="1200" smtClean="0">
                <a:cs typeface="+mn-cs"/>
              </a:rPr>
              <a:pPr>
                <a:spcBef>
                  <a:spcPct val="0"/>
                </a:spcBef>
                <a:spcAft>
                  <a:spcPct val="0"/>
                </a:spcAft>
              </a:pPr>
              <a:t>ATS (paid upfront from 1st Year)</a:t>
            </a:fld>
            <a:endParaRPr lang="en-US" sz="1200" noProof="0" dirty="0">
              <a:cs typeface="+mn-cs"/>
            </a:endParaRPr>
          </a:p>
        </p:txBody>
      </p:sp>
      <p:sp>
        <p:nvSpPr>
          <p:cNvPr id="182" name="Isosceles Triangle 181">
            <a:extLst>
              <a:ext uri="{FF2B5EF4-FFF2-40B4-BE49-F238E27FC236}">
                <a16:creationId xmlns:a16="http://schemas.microsoft.com/office/drawing/2014/main" id="{55341493-0C4A-4479-A587-FCB9436F8900}"/>
              </a:ext>
            </a:extLst>
          </p:cNvPr>
          <p:cNvSpPr/>
          <p:nvPr/>
        </p:nvSpPr>
        <p:spPr bwMode="gray">
          <a:xfrm rot="5400000">
            <a:off x="7580313" y="4811713"/>
            <a:ext cx="1814341" cy="242888"/>
          </a:xfrm>
          <a:prstGeom prst="triangl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265" name="Chart 264">
            <a:extLst>
              <a:ext uri="{FF2B5EF4-FFF2-40B4-BE49-F238E27FC236}">
                <a16:creationId xmlns:a16="http://schemas.microsoft.com/office/drawing/2014/main" id="{56ACFC37-53D7-41CF-B821-6B77E15F5868}"/>
              </a:ext>
            </a:extLst>
          </p:cNvPr>
          <p:cNvGraphicFramePr/>
          <p:nvPr>
            <p:custDataLst>
              <p:tags r:id="rId31"/>
            </p:custDataLst>
            <p:extLst>
              <p:ext uri="{D42A27DB-BD31-4B8C-83A1-F6EECF244321}">
                <p14:modId xmlns:p14="http://schemas.microsoft.com/office/powerpoint/2010/main" val="2596882830"/>
              </p:ext>
            </p:extLst>
          </p:nvPr>
        </p:nvGraphicFramePr>
        <p:xfrm>
          <a:off x="9413875" y="4133850"/>
          <a:ext cx="1173163" cy="1504950"/>
        </p:xfrm>
        <a:graphic>
          <a:graphicData uri="http://schemas.openxmlformats.org/drawingml/2006/chart">
            <c:chart xmlns:c="http://schemas.openxmlformats.org/drawingml/2006/chart" xmlns:r="http://schemas.openxmlformats.org/officeDocument/2006/relationships" r:id="rId38"/>
          </a:graphicData>
        </a:graphic>
      </p:graphicFrame>
      <p:sp>
        <p:nvSpPr>
          <p:cNvPr id="184" name="Text Placeholder 18">
            <a:extLst>
              <a:ext uri="{FF2B5EF4-FFF2-40B4-BE49-F238E27FC236}">
                <a16:creationId xmlns:a16="http://schemas.microsoft.com/office/drawing/2014/main" id="{DE5A59BB-82C8-4D99-98B4-A4257E86B6F4}"/>
              </a:ext>
            </a:extLst>
          </p:cNvPr>
          <p:cNvSpPr>
            <a:spLocks noGrp="1"/>
          </p:cNvSpPr>
          <p:nvPr>
            <p:custDataLst>
              <p:tags r:id="rId32"/>
            </p:custDataLst>
          </p:nvPr>
        </p:nvSpPr>
        <p:spPr bwMode="auto">
          <a:xfrm>
            <a:off x="9817100" y="5657850"/>
            <a:ext cx="36671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F00DA440-B857-4794-96A0-FE4C26BE2DD0}" type="datetime'Y''1''-''''''''''''1''''''''''''''''''''''''''''0'''">
              <a:rPr lang="en-US" altLang="en-US" sz="1200" smtClean="0"/>
              <a:pPr/>
              <a:t>Y1-10</a:t>
            </a:fld>
            <a:endParaRPr lang="en-US" sz="1200" noProof="0" dirty="0"/>
          </a:p>
        </p:txBody>
      </p:sp>
      <p:sp>
        <p:nvSpPr>
          <p:cNvPr id="185" name="Text Placeholder 18">
            <a:extLst>
              <a:ext uri="{FF2B5EF4-FFF2-40B4-BE49-F238E27FC236}">
                <a16:creationId xmlns:a16="http://schemas.microsoft.com/office/drawing/2014/main" id="{1363FF89-A10A-44BB-AB04-B795283CDE92}"/>
              </a:ext>
            </a:extLst>
          </p:cNvPr>
          <p:cNvSpPr>
            <a:spLocks noGrp="1"/>
          </p:cNvSpPr>
          <p:nvPr>
            <p:custDataLst>
              <p:tags r:id="rId33"/>
            </p:custDataLst>
          </p:nvPr>
        </p:nvSpPr>
        <p:spPr bwMode="gray">
          <a:xfrm>
            <a:off x="9636126" y="4038600"/>
            <a:ext cx="728663" cy="15240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0638" tIns="0" rIns="20638"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2168F107-676E-4344-A267-2B59AD0EC4D2}" type="datetime'''''''10''''''''''''.''3'''''''''''''''''''''''''''''''''">
              <a:rPr lang="en-US" altLang="en-US" sz="1000" b="1" smtClean="0">
                <a:cs typeface="+mn-cs"/>
              </a:rPr>
              <a:pPr/>
              <a:t>10.3</a:t>
            </a:fld>
            <a:r>
              <a:rPr lang="en-US" altLang="en-US" sz="1000" b="1">
                <a:cs typeface="+mn-cs"/>
              </a:rPr>
              <a:t> </a:t>
            </a:r>
            <a:r>
              <a:rPr lang="en-US" altLang="en-US" sz="1000" b="1" dirty="0">
                <a:cs typeface="+mn-cs"/>
              </a:rPr>
              <a:t>Mn USD</a:t>
            </a:r>
            <a:endParaRPr lang="en-US" sz="1000" b="1" noProof="0" dirty="0">
              <a:cs typeface="+mn-cs"/>
            </a:endParaRPr>
          </a:p>
        </p:txBody>
      </p:sp>
      <p:sp>
        <p:nvSpPr>
          <p:cNvPr id="196" name="Rectangle 195" hidden="1">
            <a:extLst>
              <a:ext uri="{FF2B5EF4-FFF2-40B4-BE49-F238E27FC236}">
                <a16:creationId xmlns:a16="http://schemas.microsoft.com/office/drawing/2014/main" id="{B233E20D-D4F4-4F47-90FD-B38F73EF6005}"/>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1200" dirty="0">
              <a:solidFill>
                <a:schemeClr val="bg1"/>
              </a:solidFill>
            </a:endParaRPr>
          </a:p>
        </p:txBody>
      </p:sp>
      <p:sp>
        <p:nvSpPr>
          <p:cNvPr id="255" name="TextBox 254">
            <a:extLst>
              <a:ext uri="{FF2B5EF4-FFF2-40B4-BE49-F238E27FC236}">
                <a16:creationId xmlns:a16="http://schemas.microsoft.com/office/drawing/2014/main" id="{654FA028-6A06-4A4A-BB52-74E0612AF32C}"/>
              </a:ext>
            </a:extLst>
          </p:cNvPr>
          <p:cNvSpPr txBox="1"/>
          <p:nvPr/>
        </p:nvSpPr>
        <p:spPr>
          <a:xfrm>
            <a:off x="1719263" y="3661553"/>
            <a:ext cx="4743449" cy="276999"/>
          </a:xfrm>
          <a:prstGeom prst="rect">
            <a:avLst/>
          </a:prstGeom>
          <a:noFill/>
        </p:spPr>
        <p:txBody>
          <a:bodyPr wrap="square" lIns="0" tIns="0" rIns="0" bIns="0" rtlCol="0">
            <a:spAutoFit/>
          </a:bodyPr>
          <a:lstStyle/>
          <a:p>
            <a:pPr algn="ctr">
              <a:spcBef>
                <a:spcPts val="600"/>
              </a:spcBef>
              <a:buSzPct val="100000"/>
            </a:pPr>
            <a:r>
              <a:rPr lang="en-US" b="1" i="1" dirty="0">
                <a:solidFill>
                  <a:srgbClr val="313131"/>
                </a:solidFill>
              </a:rPr>
              <a:t>YoY Implementation &amp; Support Costs (Mn USD)</a:t>
            </a:r>
          </a:p>
        </p:txBody>
      </p:sp>
      <p:sp>
        <p:nvSpPr>
          <p:cNvPr id="256" name="TextBox 255">
            <a:extLst>
              <a:ext uri="{FF2B5EF4-FFF2-40B4-BE49-F238E27FC236}">
                <a16:creationId xmlns:a16="http://schemas.microsoft.com/office/drawing/2014/main" id="{02A7337E-A77F-4070-ACE8-16EA91903262}"/>
              </a:ext>
            </a:extLst>
          </p:cNvPr>
          <p:cNvSpPr txBox="1"/>
          <p:nvPr/>
        </p:nvSpPr>
        <p:spPr>
          <a:xfrm>
            <a:off x="7448551" y="3646029"/>
            <a:ext cx="4743449" cy="276999"/>
          </a:xfrm>
          <a:prstGeom prst="rect">
            <a:avLst/>
          </a:prstGeom>
          <a:noFill/>
        </p:spPr>
        <p:txBody>
          <a:bodyPr wrap="square" lIns="0" tIns="0" rIns="0" bIns="0" rtlCol="0">
            <a:spAutoFit/>
          </a:bodyPr>
          <a:lstStyle/>
          <a:p>
            <a:pPr algn="ctr">
              <a:spcBef>
                <a:spcPts val="600"/>
              </a:spcBef>
              <a:buSzPct val="100000"/>
            </a:pPr>
            <a:r>
              <a:rPr lang="en-US" b="1" i="1" dirty="0">
                <a:solidFill>
                  <a:srgbClr val="313131"/>
                </a:solidFill>
              </a:rPr>
              <a:t>Total Cost (Year 1-10)</a:t>
            </a:r>
          </a:p>
        </p:txBody>
      </p:sp>
    </p:spTree>
    <p:extLst>
      <p:ext uri="{BB962C8B-B14F-4D97-AF65-F5344CB8AC3E}">
        <p14:creationId xmlns:p14="http://schemas.microsoft.com/office/powerpoint/2010/main" val="259029083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extLst>
              <p:ext uri="{D42A27DB-BD31-4B8C-83A1-F6EECF244321}">
                <p14:modId xmlns:p14="http://schemas.microsoft.com/office/powerpoint/2010/main" val="3860095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The following items have not been included in the costing assessment and would depend on phasing decisions and assessment of existing IT hardware capability of STELCO</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Exclusions</a:t>
            </a:r>
            <a:endParaRPr lang="en-GB" dirty="0"/>
          </a:p>
        </p:txBody>
      </p:sp>
      <p:sp>
        <p:nvSpPr>
          <p:cNvPr id="27" name="Rectangle 26" hidden="1">
            <a:extLst>
              <a:ext uri="{FF2B5EF4-FFF2-40B4-BE49-F238E27FC236}">
                <a16:creationId xmlns:a16="http://schemas.microsoft.com/office/drawing/2014/main" id="{0C424A78-685D-4AD2-9957-F532F86BEC0D}"/>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Calibri"/>
              <a:ea typeface="+mn-ea"/>
              <a:cs typeface="Calibri Light" panose="020F0302020204030204" pitchFamily="34" charset="0"/>
            </a:endParaRPr>
          </a:p>
        </p:txBody>
      </p:sp>
      <p:sp>
        <p:nvSpPr>
          <p:cNvPr id="196" name="Rectangle 195" hidden="1">
            <a:extLst>
              <a:ext uri="{FF2B5EF4-FFF2-40B4-BE49-F238E27FC236}">
                <a16:creationId xmlns:a16="http://schemas.microsoft.com/office/drawing/2014/main" id="{B233E20D-D4F4-4F47-90FD-B38F73EF6005}"/>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1200" dirty="0">
              <a:solidFill>
                <a:schemeClr val="bg1"/>
              </a:solidFill>
            </a:endParaRPr>
          </a:p>
        </p:txBody>
      </p:sp>
      <p:graphicFrame>
        <p:nvGraphicFramePr>
          <p:cNvPr id="8" name="Table 7">
            <a:extLst>
              <a:ext uri="{FF2B5EF4-FFF2-40B4-BE49-F238E27FC236}">
                <a16:creationId xmlns:a16="http://schemas.microsoft.com/office/drawing/2014/main" id="{C5C1A48E-7515-48FC-9629-D4E25273E90A}"/>
              </a:ext>
            </a:extLst>
          </p:cNvPr>
          <p:cNvGraphicFramePr>
            <a:graphicFrameLocks noGrp="1"/>
          </p:cNvGraphicFramePr>
          <p:nvPr>
            <p:extLst>
              <p:ext uri="{D42A27DB-BD31-4B8C-83A1-F6EECF244321}">
                <p14:modId xmlns:p14="http://schemas.microsoft.com/office/powerpoint/2010/main" val="2249924287"/>
              </p:ext>
            </p:extLst>
          </p:nvPr>
        </p:nvGraphicFramePr>
        <p:xfrm>
          <a:off x="501650" y="1408855"/>
          <a:ext cx="11188700" cy="4754880"/>
        </p:xfrm>
        <a:graphic>
          <a:graphicData uri="http://schemas.openxmlformats.org/drawingml/2006/table">
            <a:tbl>
              <a:tblPr/>
              <a:tblGrid>
                <a:gridCol w="689197">
                  <a:extLst>
                    <a:ext uri="{9D8B030D-6E8A-4147-A177-3AD203B41FA5}">
                      <a16:colId xmlns:a16="http://schemas.microsoft.com/office/drawing/2014/main" val="3667457962"/>
                    </a:ext>
                  </a:extLst>
                </a:gridCol>
                <a:gridCol w="10499503">
                  <a:extLst>
                    <a:ext uri="{9D8B030D-6E8A-4147-A177-3AD203B41FA5}">
                      <a16:colId xmlns:a16="http://schemas.microsoft.com/office/drawing/2014/main" val="4221842921"/>
                    </a:ext>
                  </a:extLst>
                </a:gridCol>
              </a:tblGrid>
              <a:tr h="361202">
                <a:tc>
                  <a:txBody>
                    <a:bodyPr/>
                    <a:lstStyle/>
                    <a:p>
                      <a:pPr algn="ctr" fontAlgn="b"/>
                      <a:r>
                        <a:rPr lang="en-US" sz="1400" b="1" i="0" u="none" strike="noStrike" dirty="0">
                          <a:solidFill>
                            <a:srgbClr val="FFFFFF"/>
                          </a:solidFill>
                          <a:effectLst/>
                          <a:latin typeface="Calibri" panose="020F0502020204030204" pitchFamily="34" charset="0"/>
                        </a:rPr>
                        <a:t>Sl. No.</a:t>
                      </a: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solidFill>
                      <a:srgbClr val="0D8390"/>
                    </a:solidFill>
                  </a:tcPr>
                </a:tc>
                <a:tc>
                  <a:txBody>
                    <a:bodyPr/>
                    <a:lstStyle/>
                    <a:p>
                      <a:pPr algn="l" fontAlgn="b"/>
                      <a:r>
                        <a:rPr lang="en-US" sz="1400" b="1" i="0" u="none" strike="noStrike">
                          <a:solidFill>
                            <a:srgbClr val="FFFFFF"/>
                          </a:solidFill>
                          <a:effectLst/>
                          <a:latin typeface="Calibri" panose="020F0502020204030204" pitchFamily="34" charset="0"/>
                        </a:rPr>
                        <a:t>Details</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solidFill>
                      <a:srgbClr val="0D8390"/>
                    </a:solidFill>
                  </a:tcPr>
                </a:tc>
                <a:extLst>
                  <a:ext uri="{0D108BD9-81ED-4DB2-BD59-A6C34878D82A}">
                    <a16:rowId xmlns:a16="http://schemas.microsoft.com/office/drawing/2014/main" val="2262242937"/>
                  </a:ext>
                </a:extLst>
              </a:tr>
              <a:tr h="361202">
                <a:tc>
                  <a:txBody>
                    <a:bodyPr/>
                    <a:lstStyle/>
                    <a:p>
                      <a:pPr algn="ctr" fontAlgn="b"/>
                      <a:r>
                        <a:rPr lang="en-US" sz="1400" b="0" i="0" u="none" strike="noStrike" dirty="0">
                          <a:solidFill>
                            <a:srgbClr val="000000"/>
                          </a:solidFill>
                          <a:effectLst/>
                          <a:latin typeface="Calibri" panose="020F0502020204030204" pitchFamily="34" charset="0"/>
                        </a:rPr>
                        <a:t>1</a:t>
                      </a: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tc>
                  <a:txBody>
                    <a:bodyPr/>
                    <a:lstStyle/>
                    <a:p>
                      <a:pPr algn="l" fontAlgn="b"/>
                      <a:r>
                        <a:rPr lang="en-US" sz="1400" b="0" i="0" u="none" strike="noStrike" dirty="0">
                          <a:solidFill>
                            <a:srgbClr val="000000"/>
                          </a:solidFill>
                          <a:effectLst/>
                          <a:latin typeface="Calibri" panose="020F0502020204030204" pitchFamily="34" charset="0"/>
                        </a:rPr>
                        <a:t>Connectivity to all locations / islands</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extLst>
                  <a:ext uri="{0D108BD9-81ED-4DB2-BD59-A6C34878D82A}">
                    <a16:rowId xmlns:a16="http://schemas.microsoft.com/office/drawing/2014/main" val="3150433334"/>
                  </a:ext>
                </a:extLst>
              </a:tr>
              <a:tr h="361202">
                <a:tc>
                  <a:txBody>
                    <a:bodyPr/>
                    <a:lstStyle/>
                    <a:p>
                      <a:pPr algn="ctr" fontAlgn="b"/>
                      <a:r>
                        <a:rPr lang="en-US" sz="1400" b="0" i="0" u="none" strike="noStrike" dirty="0">
                          <a:solidFill>
                            <a:srgbClr val="000000"/>
                          </a:solidFill>
                          <a:effectLst/>
                          <a:latin typeface="Calibri" panose="020F0502020204030204" pitchFamily="34" charset="0"/>
                        </a:rPr>
                        <a:t>2</a:t>
                      </a: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tc>
                  <a:txBody>
                    <a:bodyPr/>
                    <a:lstStyle/>
                    <a:p>
                      <a:pPr algn="l" fontAlgn="b"/>
                      <a:r>
                        <a:rPr lang="en-US" sz="1400" b="1" i="0" u="none" strike="noStrike" dirty="0">
                          <a:solidFill>
                            <a:srgbClr val="000000"/>
                          </a:solidFill>
                          <a:effectLst/>
                          <a:latin typeface="Calibri" panose="020F0502020204030204" pitchFamily="34" charset="0"/>
                        </a:rPr>
                        <a:t>End User equipment and LAN</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extLst>
                  <a:ext uri="{0D108BD9-81ED-4DB2-BD59-A6C34878D82A}">
                    <a16:rowId xmlns:a16="http://schemas.microsoft.com/office/drawing/2014/main" val="1950344580"/>
                  </a:ext>
                </a:extLst>
              </a:tr>
              <a:tr h="361202">
                <a:tc>
                  <a:txBody>
                    <a:bodyPr/>
                    <a:lstStyle/>
                    <a:p>
                      <a:pPr algn="ctr" fontAlgn="b"/>
                      <a:endParaRPr lang="en-US" sz="1400" b="0" i="0" u="none" strike="noStrike">
                        <a:solidFill>
                          <a:srgbClr val="000000"/>
                        </a:solidFill>
                        <a:effectLst/>
                        <a:latin typeface="Calibri" panose="020F0502020204030204" pitchFamily="34" charset="0"/>
                      </a:endParaRP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tc>
                  <a:txBody>
                    <a:bodyPr/>
                    <a:lstStyle/>
                    <a:p>
                      <a:pPr algn="l" fontAlgn="b"/>
                      <a:r>
                        <a:rPr lang="en-US" sz="1400" b="0" i="0" u="none" strike="noStrike">
                          <a:solidFill>
                            <a:srgbClr val="000000"/>
                          </a:solidFill>
                          <a:effectLst/>
                          <a:latin typeface="Calibri" panose="020F0502020204030204" pitchFamily="34" charset="0"/>
                        </a:rPr>
                        <a:t> - LAN connection in offices</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extLst>
                  <a:ext uri="{0D108BD9-81ED-4DB2-BD59-A6C34878D82A}">
                    <a16:rowId xmlns:a16="http://schemas.microsoft.com/office/drawing/2014/main" val="4041480251"/>
                  </a:ext>
                </a:extLst>
              </a:tr>
              <a:tr h="361202">
                <a:tc>
                  <a:txBody>
                    <a:bodyPr/>
                    <a:lstStyle/>
                    <a:p>
                      <a:pPr algn="ctr" fontAlgn="b"/>
                      <a:endParaRPr lang="en-US" sz="1400" b="0" i="0" u="none" strike="noStrike" dirty="0">
                        <a:solidFill>
                          <a:srgbClr val="000000"/>
                        </a:solidFill>
                        <a:effectLst/>
                        <a:latin typeface="Calibri" panose="020F0502020204030204" pitchFamily="34" charset="0"/>
                      </a:endParaRP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tc>
                  <a:txBody>
                    <a:bodyPr/>
                    <a:lstStyle/>
                    <a:p>
                      <a:pPr algn="l" fontAlgn="b"/>
                      <a:r>
                        <a:rPr lang="en-US" sz="1400" b="0" i="0" u="none" strike="noStrike">
                          <a:solidFill>
                            <a:srgbClr val="000000"/>
                          </a:solidFill>
                          <a:effectLst/>
                          <a:latin typeface="Calibri" panose="020F0502020204030204" pitchFamily="34" charset="0"/>
                        </a:rPr>
                        <a:t> - Desktops</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extLst>
                  <a:ext uri="{0D108BD9-81ED-4DB2-BD59-A6C34878D82A}">
                    <a16:rowId xmlns:a16="http://schemas.microsoft.com/office/drawing/2014/main" val="1702148840"/>
                  </a:ext>
                </a:extLst>
              </a:tr>
              <a:tr h="361202">
                <a:tc>
                  <a:txBody>
                    <a:bodyPr/>
                    <a:lstStyle/>
                    <a:p>
                      <a:pPr algn="ctr" fontAlgn="b"/>
                      <a:endParaRPr lang="en-US" sz="1400" b="0" i="0" u="none" strike="noStrike" dirty="0">
                        <a:solidFill>
                          <a:srgbClr val="000000"/>
                        </a:solidFill>
                        <a:effectLst/>
                        <a:latin typeface="Calibri" panose="020F0502020204030204" pitchFamily="34" charset="0"/>
                      </a:endParaRP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tc>
                  <a:txBody>
                    <a:bodyPr/>
                    <a:lstStyle/>
                    <a:p>
                      <a:pPr algn="l" fontAlgn="b"/>
                      <a:r>
                        <a:rPr lang="en-US" sz="1400" b="0" i="0" u="none" strike="noStrike">
                          <a:solidFill>
                            <a:srgbClr val="000000"/>
                          </a:solidFill>
                          <a:effectLst/>
                          <a:latin typeface="Calibri" panose="020F0502020204030204" pitchFamily="34" charset="0"/>
                        </a:rPr>
                        <a:t> - Laptops</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extLst>
                  <a:ext uri="{0D108BD9-81ED-4DB2-BD59-A6C34878D82A}">
                    <a16:rowId xmlns:a16="http://schemas.microsoft.com/office/drawing/2014/main" val="3836587580"/>
                  </a:ext>
                </a:extLst>
              </a:tr>
              <a:tr h="361202">
                <a:tc>
                  <a:txBody>
                    <a:bodyPr/>
                    <a:lstStyle/>
                    <a:p>
                      <a:pPr algn="ctr" fontAlgn="b"/>
                      <a:endParaRPr lang="en-US" sz="1400" b="0" i="0" u="none" strike="noStrike">
                        <a:solidFill>
                          <a:srgbClr val="000000"/>
                        </a:solidFill>
                        <a:effectLst/>
                        <a:latin typeface="Calibri" panose="020F0502020204030204" pitchFamily="34" charset="0"/>
                      </a:endParaRP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tc>
                  <a:txBody>
                    <a:bodyPr/>
                    <a:lstStyle/>
                    <a:p>
                      <a:pPr algn="l" fontAlgn="b"/>
                      <a:r>
                        <a:rPr lang="en-US" sz="1400" b="0" i="0" u="none" strike="noStrike" dirty="0">
                          <a:solidFill>
                            <a:srgbClr val="000000"/>
                          </a:solidFill>
                          <a:effectLst/>
                          <a:latin typeface="Calibri" panose="020F0502020204030204" pitchFamily="34" charset="0"/>
                        </a:rPr>
                        <a:t>- Network Printers</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extLst>
                  <a:ext uri="{0D108BD9-81ED-4DB2-BD59-A6C34878D82A}">
                    <a16:rowId xmlns:a16="http://schemas.microsoft.com/office/drawing/2014/main" val="4248774601"/>
                  </a:ext>
                </a:extLst>
              </a:tr>
              <a:tr h="361202">
                <a:tc>
                  <a:txBody>
                    <a:bodyPr/>
                    <a:lstStyle/>
                    <a:p>
                      <a:pPr algn="ctr" fontAlgn="b"/>
                      <a:endParaRPr lang="en-US" sz="1400" b="0" i="0" u="none" strike="noStrike">
                        <a:solidFill>
                          <a:srgbClr val="000000"/>
                        </a:solidFill>
                        <a:effectLst/>
                        <a:latin typeface="Calibri" panose="020F0502020204030204" pitchFamily="34" charset="0"/>
                      </a:endParaRP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tc>
                  <a:txBody>
                    <a:bodyPr/>
                    <a:lstStyle/>
                    <a:p>
                      <a:pPr algn="l" fontAlgn="b"/>
                      <a:r>
                        <a:rPr lang="en-US" sz="1400" b="0" i="0" u="none" strike="noStrike" dirty="0">
                          <a:solidFill>
                            <a:srgbClr val="000000"/>
                          </a:solidFill>
                          <a:effectLst/>
                          <a:latin typeface="Calibri" panose="020F0502020204030204" pitchFamily="34" charset="0"/>
                        </a:rPr>
                        <a:t> - Scanners</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extLst>
                  <a:ext uri="{0D108BD9-81ED-4DB2-BD59-A6C34878D82A}">
                    <a16:rowId xmlns:a16="http://schemas.microsoft.com/office/drawing/2014/main" val="1627430601"/>
                  </a:ext>
                </a:extLst>
              </a:tr>
              <a:tr h="361202">
                <a:tc>
                  <a:txBody>
                    <a:bodyPr/>
                    <a:lstStyle/>
                    <a:p>
                      <a:pPr algn="ctr" fontAlgn="b"/>
                      <a:endParaRPr lang="en-US" sz="1400" b="0" i="0" u="none" strike="noStrike">
                        <a:solidFill>
                          <a:srgbClr val="000000"/>
                        </a:solidFill>
                        <a:effectLst/>
                        <a:latin typeface="Calibri" panose="020F0502020204030204" pitchFamily="34" charset="0"/>
                      </a:endParaRP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tc>
                  <a:txBody>
                    <a:bodyPr/>
                    <a:lstStyle/>
                    <a:p>
                      <a:pPr algn="l" fontAlgn="b"/>
                      <a:r>
                        <a:rPr lang="en-US" sz="1400" b="0" i="0" u="none" strike="noStrike" dirty="0">
                          <a:solidFill>
                            <a:srgbClr val="000000"/>
                          </a:solidFill>
                          <a:effectLst/>
                          <a:latin typeface="Calibri" panose="020F0502020204030204" pitchFamily="34" charset="0"/>
                        </a:rPr>
                        <a:t> - UPS</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extLst>
                  <a:ext uri="{0D108BD9-81ED-4DB2-BD59-A6C34878D82A}">
                    <a16:rowId xmlns:a16="http://schemas.microsoft.com/office/drawing/2014/main" val="2830164349"/>
                  </a:ext>
                </a:extLst>
              </a:tr>
              <a:tr h="361202">
                <a:tc>
                  <a:txBody>
                    <a:bodyPr/>
                    <a:lstStyle/>
                    <a:p>
                      <a:pPr algn="ctr" fontAlgn="b"/>
                      <a:r>
                        <a:rPr lang="en-US" sz="1400" b="0" i="0" u="none" strike="noStrike">
                          <a:solidFill>
                            <a:srgbClr val="000000"/>
                          </a:solidFill>
                          <a:effectLst/>
                          <a:latin typeface="Calibri" panose="020F0502020204030204" pitchFamily="34" charset="0"/>
                        </a:rPr>
                        <a:t>3</a:t>
                      </a: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tc>
                  <a:txBody>
                    <a:bodyPr/>
                    <a:lstStyle/>
                    <a:p>
                      <a:pPr algn="l" fontAlgn="b"/>
                      <a:r>
                        <a:rPr lang="en-US" sz="1400" b="0" i="0" u="none" strike="noStrike" dirty="0">
                          <a:solidFill>
                            <a:srgbClr val="000000"/>
                          </a:solidFill>
                          <a:effectLst/>
                          <a:latin typeface="Calibri" panose="020F0502020204030204" pitchFamily="34" charset="0"/>
                        </a:rPr>
                        <a:t>Separate Connectivity to DR center</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extLst>
                  <a:ext uri="{0D108BD9-81ED-4DB2-BD59-A6C34878D82A}">
                    <a16:rowId xmlns:a16="http://schemas.microsoft.com/office/drawing/2014/main" val="1035313543"/>
                  </a:ext>
                </a:extLst>
              </a:tr>
              <a:tr h="361202">
                <a:tc>
                  <a:txBody>
                    <a:bodyPr/>
                    <a:lstStyle/>
                    <a:p>
                      <a:pPr algn="ctr" fontAlgn="b"/>
                      <a:r>
                        <a:rPr lang="en-US" sz="1400" b="0" i="0" u="none" strike="noStrike">
                          <a:solidFill>
                            <a:srgbClr val="000000"/>
                          </a:solidFill>
                          <a:effectLst/>
                          <a:latin typeface="Calibri" panose="020F0502020204030204" pitchFamily="34" charset="0"/>
                        </a:rPr>
                        <a:t>4</a:t>
                      </a: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tc>
                  <a:txBody>
                    <a:bodyPr/>
                    <a:lstStyle/>
                    <a:p>
                      <a:pPr algn="l" fontAlgn="b"/>
                      <a:r>
                        <a:rPr lang="en-US" sz="1400" b="0" i="0" u="none" strike="noStrike" dirty="0">
                          <a:solidFill>
                            <a:srgbClr val="000000"/>
                          </a:solidFill>
                          <a:effectLst/>
                          <a:latin typeface="Calibri" panose="020F0502020204030204" pitchFamily="34" charset="0"/>
                        </a:rPr>
                        <a:t>Data center civil, electrical construction within STELCO</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extLst>
                  <a:ext uri="{0D108BD9-81ED-4DB2-BD59-A6C34878D82A}">
                    <a16:rowId xmlns:a16="http://schemas.microsoft.com/office/drawing/2014/main" val="4186956720"/>
                  </a:ext>
                </a:extLst>
              </a:tr>
              <a:tr h="361202">
                <a:tc>
                  <a:txBody>
                    <a:bodyPr/>
                    <a:lstStyle/>
                    <a:p>
                      <a:pPr algn="ctr" fontAlgn="b"/>
                      <a:r>
                        <a:rPr lang="en-US" sz="1400" b="0" i="0" u="none" strike="noStrike">
                          <a:solidFill>
                            <a:srgbClr val="000000"/>
                          </a:solidFill>
                          <a:effectLst/>
                          <a:latin typeface="Calibri" panose="020F0502020204030204" pitchFamily="34" charset="0"/>
                        </a:rPr>
                        <a:t>5</a:t>
                      </a:r>
                    </a:p>
                  </a:txBody>
                  <a:tcPr marT="91440" marB="91440" anchor="b">
                    <a:lnL w="6350" cap="flat" cmpd="sng" algn="ctr">
                      <a:solidFill>
                        <a:srgbClr val="0D8390"/>
                      </a:solidFill>
                      <a:prstDash val="solid"/>
                      <a:round/>
                      <a:headEnd type="none" w="med" len="med"/>
                      <a:tailEnd type="none" w="med" len="med"/>
                    </a:lnL>
                    <a:lnR>
                      <a:noFill/>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tc>
                  <a:txBody>
                    <a:bodyPr/>
                    <a:lstStyle/>
                    <a:p>
                      <a:pPr algn="l" fontAlgn="b"/>
                      <a:r>
                        <a:rPr lang="en-US" sz="1400" b="0" i="0" u="none" strike="noStrike" dirty="0">
                          <a:solidFill>
                            <a:srgbClr val="000000"/>
                          </a:solidFill>
                          <a:effectLst/>
                          <a:latin typeface="Calibri" panose="020F0502020204030204" pitchFamily="34" charset="0"/>
                        </a:rPr>
                        <a:t>CRM and Billing software (to be taken up separately)</a:t>
                      </a:r>
                    </a:p>
                  </a:txBody>
                  <a:tcPr marT="91440" marB="91440" anchor="b">
                    <a:lnL>
                      <a:noFill/>
                    </a:lnL>
                    <a:lnR w="6350" cap="flat" cmpd="sng" algn="ctr">
                      <a:solidFill>
                        <a:srgbClr val="0D8390"/>
                      </a:solidFill>
                      <a:prstDash val="solid"/>
                      <a:round/>
                      <a:headEnd type="none" w="med" len="med"/>
                      <a:tailEnd type="none" w="med" len="med"/>
                    </a:lnR>
                    <a:lnT w="6350" cap="flat" cmpd="sng" algn="ctr">
                      <a:solidFill>
                        <a:srgbClr val="0D8390"/>
                      </a:solidFill>
                      <a:prstDash val="solid"/>
                      <a:round/>
                      <a:headEnd type="none" w="med" len="med"/>
                      <a:tailEnd type="none" w="med" len="med"/>
                    </a:lnT>
                    <a:lnB w="6350" cap="flat" cmpd="sng" algn="ctr">
                      <a:solidFill>
                        <a:srgbClr val="0D8390"/>
                      </a:solidFill>
                      <a:prstDash val="solid"/>
                      <a:round/>
                      <a:headEnd type="none" w="med" len="med"/>
                      <a:tailEnd type="none" w="med" len="med"/>
                    </a:lnB>
                  </a:tcPr>
                </a:tc>
                <a:extLst>
                  <a:ext uri="{0D108BD9-81ED-4DB2-BD59-A6C34878D82A}">
                    <a16:rowId xmlns:a16="http://schemas.microsoft.com/office/drawing/2014/main" val="4137954581"/>
                  </a:ext>
                </a:extLst>
              </a:tr>
            </a:tbl>
          </a:graphicData>
        </a:graphic>
      </p:graphicFrame>
    </p:spTree>
    <p:extLst>
      <p:ext uri="{BB962C8B-B14F-4D97-AF65-F5344CB8AC3E}">
        <p14:creationId xmlns:p14="http://schemas.microsoft.com/office/powerpoint/2010/main" val="141117129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extLst>
              <p:ext uri="{D42A27DB-BD31-4B8C-83A1-F6EECF244321}">
                <p14:modId xmlns:p14="http://schemas.microsoft.com/office/powerpoint/2010/main" val="19253632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In the base case for benefits estimation, the ERP implementation costs is expected to have a payback period of 3 years only</a:t>
            </a:r>
            <a:endParaRPr lang="en-IN" b="1" dirty="0"/>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Cost-Benefit Analysis (Summary)</a:t>
            </a:r>
            <a:endParaRPr lang="en-GB" dirty="0"/>
          </a:p>
        </p:txBody>
      </p:sp>
      <p:sp>
        <p:nvSpPr>
          <p:cNvPr id="193" name="TextBox 192">
            <a:extLst>
              <a:ext uri="{FF2B5EF4-FFF2-40B4-BE49-F238E27FC236}">
                <a16:creationId xmlns:a16="http://schemas.microsoft.com/office/drawing/2014/main" id="{6A76F19C-7AC8-417A-950F-90A16B836354}"/>
              </a:ext>
            </a:extLst>
          </p:cNvPr>
          <p:cNvSpPr txBox="1"/>
          <p:nvPr/>
        </p:nvSpPr>
        <p:spPr>
          <a:xfrm>
            <a:off x="3669903" y="1331280"/>
            <a:ext cx="4852194" cy="276999"/>
          </a:xfrm>
          <a:prstGeom prst="rect">
            <a:avLst/>
          </a:prstGeom>
          <a:noFill/>
        </p:spPr>
        <p:txBody>
          <a:bodyPr wrap="square" lIns="0" tIns="0" rIns="0" bIns="0" rtlCol="0">
            <a:spAutoFit/>
          </a:bodyPr>
          <a:lstStyle/>
          <a:p>
            <a:pPr algn="ctr">
              <a:spcBef>
                <a:spcPts val="600"/>
              </a:spcBef>
              <a:buSzPct val="100000"/>
            </a:pPr>
            <a:r>
              <a:rPr lang="en-US" b="1" i="1" dirty="0">
                <a:solidFill>
                  <a:srgbClr val="313131"/>
                </a:solidFill>
              </a:rPr>
              <a:t>YoY Estimated Cost Benefit Realization (Mn USD)</a:t>
            </a:r>
          </a:p>
        </p:txBody>
      </p:sp>
      <p:sp>
        <p:nvSpPr>
          <p:cNvPr id="27" name="Rectangle 26" hidden="1">
            <a:extLst>
              <a:ext uri="{FF2B5EF4-FFF2-40B4-BE49-F238E27FC236}">
                <a16:creationId xmlns:a16="http://schemas.microsoft.com/office/drawing/2014/main" id="{0C424A78-685D-4AD2-9957-F532F86BEC0D}"/>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1200" dirty="0">
              <a:solidFill>
                <a:schemeClr val="bg1"/>
              </a:solidFill>
              <a:cs typeface="Calibri Light" panose="020F0302020204030204" pitchFamily="34" charset="0"/>
            </a:endParaRPr>
          </a:p>
        </p:txBody>
      </p:sp>
      <p:graphicFrame>
        <p:nvGraphicFramePr>
          <p:cNvPr id="22" name="Table 21">
            <a:extLst>
              <a:ext uri="{FF2B5EF4-FFF2-40B4-BE49-F238E27FC236}">
                <a16:creationId xmlns:a16="http://schemas.microsoft.com/office/drawing/2014/main" id="{5A5D7891-DE71-4E3E-92CD-41F70FABB136}"/>
              </a:ext>
            </a:extLst>
          </p:cNvPr>
          <p:cNvGraphicFramePr>
            <a:graphicFrameLocks noGrp="1"/>
          </p:cNvGraphicFramePr>
          <p:nvPr>
            <p:extLst>
              <p:ext uri="{D42A27DB-BD31-4B8C-83A1-F6EECF244321}">
                <p14:modId xmlns:p14="http://schemas.microsoft.com/office/powerpoint/2010/main" val="2984543786"/>
              </p:ext>
            </p:extLst>
          </p:nvPr>
        </p:nvGraphicFramePr>
        <p:xfrm>
          <a:off x="716018" y="1847450"/>
          <a:ext cx="10974332" cy="2590800"/>
        </p:xfrm>
        <a:graphic>
          <a:graphicData uri="http://schemas.openxmlformats.org/drawingml/2006/table">
            <a:tbl>
              <a:tblPr/>
              <a:tblGrid>
                <a:gridCol w="1927435">
                  <a:extLst>
                    <a:ext uri="{9D8B030D-6E8A-4147-A177-3AD203B41FA5}">
                      <a16:colId xmlns:a16="http://schemas.microsoft.com/office/drawing/2014/main" val="3281110448"/>
                    </a:ext>
                  </a:extLst>
                </a:gridCol>
                <a:gridCol w="1014147">
                  <a:extLst>
                    <a:ext uri="{9D8B030D-6E8A-4147-A177-3AD203B41FA5}">
                      <a16:colId xmlns:a16="http://schemas.microsoft.com/office/drawing/2014/main" val="1909548476"/>
                    </a:ext>
                  </a:extLst>
                </a:gridCol>
                <a:gridCol w="803275">
                  <a:extLst>
                    <a:ext uri="{9D8B030D-6E8A-4147-A177-3AD203B41FA5}">
                      <a16:colId xmlns:a16="http://schemas.microsoft.com/office/drawing/2014/main" val="3809675153"/>
                    </a:ext>
                  </a:extLst>
                </a:gridCol>
                <a:gridCol w="803275">
                  <a:extLst>
                    <a:ext uri="{9D8B030D-6E8A-4147-A177-3AD203B41FA5}">
                      <a16:colId xmlns:a16="http://schemas.microsoft.com/office/drawing/2014/main" val="281764648"/>
                    </a:ext>
                  </a:extLst>
                </a:gridCol>
                <a:gridCol w="803275">
                  <a:extLst>
                    <a:ext uri="{9D8B030D-6E8A-4147-A177-3AD203B41FA5}">
                      <a16:colId xmlns:a16="http://schemas.microsoft.com/office/drawing/2014/main" val="2674569701"/>
                    </a:ext>
                  </a:extLst>
                </a:gridCol>
                <a:gridCol w="803275">
                  <a:extLst>
                    <a:ext uri="{9D8B030D-6E8A-4147-A177-3AD203B41FA5}">
                      <a16:colId xmlns:a16="http://schemas.microsoft.com/office/drawing/2014/main" val="4204177897"/>
                    </a:ext>
                  </a:extLst>
                </a:gridCol>
                <a:gridCol w="803275">
                  <a:extLst>
                    <a:ext uri="{9D8B030D-6E8A-4147-A177-3AD203B41FA5}">
                      <a16:colId xmlns:a16="http://schemas.microsoft.com/office/drawing/2014/main" val="2435168792"/>
                    </a:ext>
                  </a:extLst>
                </a:gridCol>
                <a:gridCol w="803275">
                  <a:extLst>
                    <a:ext uri="{9D8B030D-6E8A-4147-A177-3AD203B41FA5}">
                      <a16:colId xmlns:a16="http://schemas.microsoft.com/office/drawing/2014/main" val="3615526631"/>
                    </a:ext>
                  </a:extLst>
                </a:gridCol>
                <a:gridCol w="803275">
                  <a:extLst>
                    <a:ext uri="{9D8B030D-6E8A-4147-A177-3AD203B41FA5}">
                      <a16:colId xmlns:a16="http://schemas.microsoft.com/office/drawing/2014/main" val="4049552973"/>
                    </a:ext>
                  </a:extLst>
                </a:gridCol>
                <a:gridCol w="803275">
                  <a:extLst>
                    <a:ext uri="{9D8B030D-6E8A-4147-A177-3AD203B41FA5}">
                      <a16:colId xmlns:a16="http://schemas.microsoft.com/office/drawing/2014/main" val="4084958074"/>
                    </a:ext>
                  </a:extLst>
                </a:gridCol>
                <a:gridCol w="803275">
                  <a:extLst>
                    <a:ext uri="{9D8B030D-6E8A-4147-A177-3AD203B41FA5}">
                      <a16:colId xmlns:a16="http://schemas.microsoft.com/office/drawing/2014/main" val="3689653164"/>
                    </a:ext>
                  </a:extLst>
                </a:gridCol>
                <a:gridCol w="803275">
                  <a:extLst>
                    <a:ext uri="{9D8B030D-6E8A-4147-A177-3AD203B41FA5}">
                      <a16:colId xmlns:a16="http://schemas.microsoft.com/office/drawing/2014/main" val="208017981"/>
                    </a:ext>
                  </a:extLst>
                </a:gridCol>
              </a:tblGrid>
              <a:tr h="316858">
                <a:tc>
                  <a:txBody>
                    <a:bodyPr/>
                    <a:lstStyle/>
                    <a:p>
                      <a:pPr algn="l" fontAlgn="b"/>
                      <a:r>
                        <a:rPr lang="en-US" sz="1200" b="1" i="0" u="none" strike="noStrike" dirty="0">
                          <a:solidFill>
                            <a:srgbClr val="FFFFFF"/>
                          </a:solidFill>
                          <a:effectLst/>
                          <a:latin typeface="Calibri" panose="020F0502020204030204" pitchFamily="34" charset="0"/>
                        </a:rPr>
                        <a:t>Particulars</a:t>
                      </a:r>
                    </a:p>
                  </a:txBody>
                  <a:tcPr marT="91440" marB="91440" anchor="b">
                    <a:lnL w="6350" cap="flat" cmpd="sng" algn="ctr">
                      <a:solidFill>
                        <a:srgbClr val="84DD71"/>
                      </a:solidFill>
                      <a:prstDash val="solid"/>
                      <a:round/>
                      <a:headEnd type="none" w="med" len="med"/>
                      <a:tailEnd type="none" w="med" len="med"/>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tc>
                  <a:txBody>
                    <a:bodyPr/>
                    <a:lstStyle/>
                    <a:p>
                      <a:pPr algn="ctr" fontAlgn="b"/>
                      <a:r>
                        <a:rPr lang="en-US" sz="1200" b="1" i="0" u="none" strike="noStrike" dirty="0">
                          <a:solidFill>
                            <a:srgbClr val="FFFFFF"/>
                          </a:solidFill>
                          <a:effectLst/>
                          <a:latin typeface="Calibri" panose="020F0502020204030204" pitchFamily="34" charset="0"/>
                        </a:rPr>
                        <a:t>Unit</a:t>
                      </a:r>
                    </a:p>
                  </a:txBody>
                  <a:tcPr marT="91440" marB="91440" anchor="b">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tc>
                  <a:txBody>
                    <a:bodyPr/>
                    <a:lstStyle/>
                    <a:p>
                      <a:pPr algn="ctr" fontAlgn="b"/>
                      <a:r>
                        <a:rPr lang="en-US" sz="1200" b="1" i="0" u="none" strike="noStrike" dirty="0">
                          <a:solidFill>
                            <a:srgbClr val="FFFFFF"/>
                          </a:solidFill>
                          <a:effectLst/>
                          <a:latin typeface="Calibri" panose="020F0502020204030204" pitchFamily="34" charset="0"/>
                        </a:rPr>
                        <a:t>Y1</a:t>
                      </a:r>
                    </a:p>
                  </a:txBody>
                  <a:tcPr marT="91440" marB="91440" anchor="b">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tc>
                  <a:txBody>
                    <a:bodyPr/>
                    <a:lstStyle/>
                    <a:p>
                      <a:pPr algn="ctr" fontAlgn="b"/>
                      <a:r>
                        <a:rPr lang="en-US" sz="1200" b="1" i="0" u="none" strike="noStrike">
                          <a:solidFill>
                            <a:srgbClr val="FFFFFF"/>
                          </a:solidFill>
                          <a:effectLst/>
                          <a:latin typeface="Calibri" panose="020F0502020204030204" pitchFamily="34" charset="0"/>
                        </a:rPr>
                        <a:t>Y2</a:t>
                      </a:r>
                    </a:p>
                  </a:txBody>
                  <a:tcPr marT="91440" marB="91440" anchor="b">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tc>
                  <a:txBody>
                    <a:bodyPr/>
                    <a:lstStyle/>
                    <a:p>
                      <a:pPr algn="ctr" fontAlgn="b"/>
                      <a:r>
                        <a:rPr lang="en-US" sz="1200" b="1" i="0" u="none" strike="noStrike">
                          <a:solidFill>
                            <a:srgbClr val="FFFFFF"/>
                          </a:solidFill>
                          <a:effectLst/>
                          <a:latin typeface="Calibri" panose="020F0502020204030204" pitchFamily="34" charset="0"/>
                        </a:rPr>
                        <a:t>Y3</a:t>
                      </a:r>
                    </a:p>
                  </a:txBody>
                  <a:tcPr marT="91440" marB="91440" anchor="b">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tc>
                  <a:txBody>
                    <a:bodyPr/>
                    <a:lstStyle/>
                    <a:p>
                      <a:pPr algn="ctr" fontAlgn="b"/>
                      <a:r>
                        <a:rPr lang="en-US" sz="1200" b="1" i="0" u="none" strike="noStrike">
                          <a:solidFill>
                            <a:srgbClr val="FFFFFF"/>
                          </a:solidFill>
                          <a:effectLst/>
                          <a:latin typeface="Calibri" panose="020F0502020204030204" pitchFamily="34" charset="0"/>
                        </a:rPr>
                        <a:t>Y4</a:t>
                      </a:r>
                    </a:p>
                  </a:txBody>
                  <a:tcPr marT="91440" marB="91440" anchor="b">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tc>
                  <a:txBody>
                    <a:bodyPr/>
                    <a:lstStyle/>
                    <a:p>
                      <a:pPr algn="ctr" fontAlgn="b"/>
                      <a:r>
                        <a:rPr lang="en-US" sz="1200" b="1" i="0" u="none" strike="noStrike" dirty="0">
                          <a:solidFill>
                            <a:srgbClr val="FFFFFF"/>
                          </a:solidFill>
                          <a:effectLst/>
                          <a:latin typeface="Calibri" panose="020F0502020204030204" pitchFamily="34" charset="0"/>
                        </a:rPr>
                        <a:t>Y5</a:t>
                      </a:r>
                    </a:p>
                  </a:txBody>
                  <a:tcPr marT="91440" marB="91440" anchor="b">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tc>
                  <a:txBody>
                    <a:bodyPr/>
                    <a:lstStyle/>
                    <a:p>
                      <a:pPr algn="ctr" fontAlgn="b"/>
                      <a:r>
                        <a:rPr lang="en-US" sz="1200" b="1" i="0" u="none" strike="noStrike">
                          <a:solidFill>
                            <a:srgbClr val="FFFFFF"/>
                          </a:solidFill>
                          <a:effectLst/>
                          <a:latin typeface="Calibri" panose="020F0502020204030204" pitchFamily="34" charset="0"/>
                        </a:rPr>
                        <a:t>Y6</a:t>
                      </a:r>
                    </a:p>
                  </a:txBody>
                  <a:tcPr marT="91440" marB="91440" anchor="b">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tc>
                  <a:txBody>
                    <a:bodyPr/>
                    <a:lstStyle/>
                    <a:p>
                      <a:pPr algn="ctr" fontAlgn="b"/>
                      <a:r>
                        <a:rPr lang="en-US" sz="1200" b="1" i="0" u="none" strike="noStrike">
                          <a:solidFill>
                            <a:srgbClr val="FFFFFF"/>
                          </a:solidFill>
                          <a:effectLst/>
                          <a:latin typeface="Calibri" panose="020F0502020204030204" pitchFamily="34" charset="0"/>
                        </a:rPr>
                        <a:t>Y7</a:t>
                      </a:r>
                    </a:p>
                  </a:txBody>
                  <a:tcPr marT="91440" marB="91440" anchor="b">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tc>
                  <a:txBody>
                    <a:bodyPr/>
                    <a:lstStyle/>
                    <a:p>
                      <a:pPr algn="ctr" fontAlgn="b"/>
                      <a:r>
                        <a:rPr lang="en-US" sz="1200" b="1" i="0" u="none" strike="noStrike">
                          <a:solidFill>
                            <a:srgbClr val="FFFFFF"/>
                          </a:solidFill>
                          <a:effectLst/>
                          <a:latin typeface="Calibri" panose="020F0502020204030204" pitchFamily="34" charset="0"/>
                        </a:rPr>
                        <a:t>Y8</a:t>
                      </a:r>
                    </a:p>
                  </a:txBody>
                  <a:tcPr marT="91440" marB="91440" anchor="b">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tc>
                  <a:txBody>
                    <a:bodyPr/>
                    <a:lstStyle/>
                    <a:p>
                      <a:pPr algn="ctr" fontAlgn="b"/>
                      <a:r>
                        <a:rPr lang="en-US" sz="1200" b="1" i="0" u="none" strike="noStrike">
                          <a:solidFill>
                            <a:srgbClr val="FFFFFF"/>
                          </a:solidFill>
                          <a:effectLst/>
                          <a:latin typeface="Calibri" panose="020F0502020204030204" pitchFamily="34" charset="0"/>
                        </a:rPr>
                        <a:t>Y9</a:t>
                      </a:r>
                    </a:p>
                  </a:txBody>
                  <a:tcPr marT="91440" marB="91440" anchor="b">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tc>
                  <a:txBody>
                    <a:bodyPr/>
                    <a:lstStyle/>
                    <a:p>
                      <a:pPr algn="ctr" fontAlgn="b"/>
                      <a:r>
                        <a:rPr lang="en-US" sz="1200" b="1" i="0" u="none" strike="noStrike" dirty="0">
                          <a:solidFill>
                            <a:srgbClr val="FFFFFF"/>
                          </a:solidFill>
                          <a:effectLst/>
                          <a:latin typeface="Calibri" panose="020F0502020204030204" pitchFamily="34" charset="0"/>
                        </a:rPr>
                        <a:t>Y10</a:t>
                      </a:r>
                    </a:p>
                  </a:txBody>
                  <a:tcPr marT="91440" marB="91440" anchor="b">
                    <a:lnL>
                      <a:noFill/>
                    </a:lnL>
                    <a:lnR w="6350" cap="flat" cmpd="sng" algn="ctr">
                      <a:solidFill>
                        <a:srgbClr val="84DD71"/>
                      </a:solidFill>
                      <a:prstDash val="solid"/>
                      <a:round/>
                      <a:headEnd type="none" w="med" len="med"/>
                      <a:tailEnd type="none" w="med" len="med"/>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43B02A"/>
                    </a:solidFill>
                  </a:tcPr>
                </a:tc>
                <a:extLst>
                  <a:ext uri="{0D108BD9-81ED-4DB2-BD59-A6C34878D82A}">
                    <a16:rowId xmlns:a16="http://schemas.microsoft.com/office/drawing/2014/main" val="1274454468"/>
                  </a:ext>
                </a:extLst>
              </a:tr>
              <a:tr h="475287">
                <a:tc>
                  <a:txBody>
                    <a:bodyPr/>
                    <a:lstStyle/>
                    <a:p>
                      <a:pPr algn="l" fontAlgn="b"/>
                      <a:r>
                        <a:rPr lang="en-US" sz="1400" b="0" i="0" u="none" strike="noStrike" dirty="0">
                          <a:solidFill>
                            <a:srgbClr val="000000"/>
                          </a:solidFill>
                          <a:effectLst/>
                          <a:latin typeface="Calibri" panose="020F0502020204030204" pitchFamily="34" charset="0"/>
                        </a:rPr>
                        <a:t>Estimated Implementation Cost</a:t>
                      </a:r>
                    </a:p>
                  </a:txBody>
                  <a:tcPr marT="91440" marB="91440" anchor="ctr">
                    <a:lnL w="6350" cap="flat" cmpd="sng" algn="ctr">
                      <a:solidFill>
                        <a:srgbClr val="84DD71"/>
                      </a:solidFill>
                      <a:prstDash val="solid"/>
                      <a:round/>
                      <a:headEnd type="none" w="med" len="med"/>
                      <a:tailEnd type="none" w="med" len="med"/>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400" b="0" i="0" u="none" strike="noStrike" dirty="0">
                          <a:solidFill>
                            <a:srgbClr val="000000"/>
                          </a:solidFill>
                          <a:effectLst/>
                          <a:latin typeface="Calibri" panose="020F0502020204030204" pitchFamily="34" charset="0"/>
                        </a:rPr>
                        <a:t>Mn USD</a:t>
                      </a:r>
                    </a:p>
                  </a:txBody>
                  <a:tcPr marT="91440" marB="9144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0" i="0" u="none" strike="noStrike" dirty="0">
                          <a:solidFill>
                            <a:srgbClr val="DA291C"/>
                          </a:solidFill>
                          <a:effectLst/>
                          <a:latin typeface="Calibri" panose="020F0502020204030204" pitchFamily="34" charset="0"/>
                        </a:rPr>
                        <a:t>(5.05)</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0" i="0" u="none" strike="noStrike" dirty="0">
                          <a:solidFill>
                            <a:srgbClr val="DA291C"/>
                          </a:solidFill>
                          <a:effectLst/>
                          <a:latin typeface="Calibri" panose="020F0502020204030204" pitchFamily="34" charset="0"/>
                        </a:rPr>
                        <a:t>(0.77)</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0" i="0" u="none" strike="noStrike">
                          <a:solidFill>
                            <a:srgbClr val="DA291C"/>
                          </a:solidFill>
                          <a:effectLst/>
                          <a:latin typeface="Calibri" panose="020F0502020204030204" pitchFamily="34" charset="0"/>
                        </a:rPr>
                        <a:t>(0.77)</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0" i="0" u="none" strike="noStrike" dirty="0">
                          <a:solidFill>
                            <a:srgbClr val="DA291C"/>
                          </a:solidFill>
                          <a:effectLst/>
                          <a:latin typeface="Calibri" panose="020F0502020204030204" pitchFamily="34" charset="0"/>
                        </a:rPr>
                        <a:t>(0.77)</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0" i="0" u="none" strike="noStrike">
                          <a:solidFill>
                            <a:srgbClr val="DA291C"/>
                          </a:solidFill>
                          <a:effectLst/>
                          <a:latin typeface="Calibri" panose="020F0502020204030204" pitchFamily="34" charset="0"/>
                        </a:rPr>
                        <a:t>(0.77)</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0" i="0" u="none" strike="noStrike" dirty="0">
                          <a:solidFill>
                            <a:srgbClr val="DA291C"/>
                          </a:solidFill>
                          <a:effectLst/>
                          <a:latin typeface="Calibri" panose="020F0502020204030204" pitchFamily="34" charset="0"/>
                        </a:rPr>
                        <a:t>(0.49)</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0" i="0" u="none" strike="noStrike" dirty="0">
                          <a:solidFill>
                            <a:srgbClr val="DA291C"/>
                          </a:solidFill>
                          <a:effectLst/>
                          <a:latin typeface="Calibri" panose="020F0502020204030204" pitchFamily="34" charset="0"/>
                        </a:rPr>
                        <a:t>(0.49)</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0" i="0" u="none" strike="noStrike" dirty="0">
                          <a:solidFill>
                            <a:srgbClr val="DA291C"/>
                          </a:solidFill>
                          <a:effectLst/>
                          <a:latin typeface="Calibri" panose="020F0502020204030204" pitchFamily="34" charset="0"/>
                        </a:rPr>
                        <a:t>(0.49)</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0" i="0" u="none" strike="noStrike" dirty="0">
                          <a:solidFill>
                            <a:srgbClr val="DA291C"/>
                          </a:solidFill>
                          <a:effectLst/>
                          <a:latin typeface="Calibri" panose="020F0502020204030204" pitchFamily="34" charset="0"/>
                        </a:rPr>
                        <a:t>(0.49)</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0" i="0" u="none" strike="noStrike" dirty="0">
                          <a:solidFill>
                            <a:srgbClr val="DA291C"/>
                          </a:solidFill>
                          <a:effectLst/>
                          <a:latin typeface="Calibri" panose="020F0502020204030204" pitchFamily="34" charset="0"/>
                        </a:rPr>
                        <a:t>(0.17)</a:t>
                      </a:r>
                    </a:p>
                  </a:txBody>
                  <a:tcPr marL="7620" marR="7620" marT="7620" marB="0" anchor="ctr">
                    <a:lnL>
                      <a:noFill/>
                    </a:lnL>
                    <a:lnR w="6350" cap="flat" cmpd="sng" algn="ctr">
                      <a:solidFill>
                        <a:srgbClr val="84DD71"/>
                      </a:solidFill>
                      <a:prstDash val="solid"/>
                      <a:round/>
                      <a:headEnd type="none" w="med" len="med"/>
                      <a:tailEnd type="none" w="med" len="med"/>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extLst>
                  <a:ext uri="{0D108BD9-81ED-4DB2-BD59-A6C34878D82A}">
                    <a16:rowId xmlns:a16="http://schemas.microsoft.com/office/drawing/2014/main" val="3701720964"/>
                  </a:ext>
                </a:extLst>
              </a:tr>
              <a:tr h="475287">
                <a:tc>
                  <a:txBody>
                    <a:bodyPr/>
                    <a:lstStyle/>
                    <a:p>
                      <a:pPr algn="l" fontAlgn="b"/>
                      <a:r>
                        <a:rPr lang="en-US" sz="1400" b="0" i="0" u="none" strike="noStrike" dirty="0">
                          <a:solidFill>
                            <a:srgbClr val="000000"/>
                          </a:solidFill>
                          <a:effectLst/>
                          <a:latin typeface="Calibri" panose="020F0502020204030204" pitchFamily="34" charset="0"/>
                        </a:rPr>
                        <a:t>Estimated Benefit Realization - Base Case</a:t>
                      </a:r>
                    </a:p>
                  </a:txBody>
                  <a:tcPr marT="91440" marB="91440" anchor="ctr">
                    <a:lnL w="6350" cap="flat" cmpd="sng" algn="ctr">
                      <a:solidFill>
                        <a:srgbClr val="84DD71"/>
                      </a:solidFill>
                      <a:prstDash val="solid"/>
                      <a:round/>
                      <a:headEnd type="none" w="med" len="med"/>
                      <a:tailEnd type="none" w="med" len="med"/>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Mn USD</a:t>
                      </a:r>
                      <a:endPar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T="91440" marB="9144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Calibri" panose="020F0502020204030204" pitchFamily="34" charset="0"/>
                        </a:rPr>
                        <a:t>1.14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0" i="0" u="none" strike="noStrike" dirty="0">
                          <a:solidFill>
                            <a:srgbClr val="000000"/>
                          </a:solidFill>
                          <a:effectLst/>
                          <a:latin typeface="Calibri" panose="020F0502020204030204" pitchFamily="34" charset="0"/>
                        </a:rPr>
                        <a:t>2.27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3.25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3.25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3.25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3.25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3.25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3.25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3.25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3.25 </a:t>
                      </a:r>
                    </a:p>
                  </a:txBody>
                  <a:tcPr marL="7620" marR="7620" marT="7620" marB="0" anchor="ctr">
                    <a:lnL>
                      <a:noFill/>
                    </a:lnL>
                    <a:lnR w="6350" cap="flat" cmpd="sng" algn="ctr">
                      <a:solidFill>
                        <a:srgbClr val="84DD71"/>
                      </a:solidFill>
                      <a:prstDash val="solid"/>
                      <a:round/>
                      <a:headEnd type="none" w="med" len="med"/>
                      <a:tailEnd type="none" w="med" len="med"/>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extLst>
                  <a:ext uri="{0D108BD9-81ED-4DB2-BD59-A6C34878D82A}">
                    <a16:rowId xmlns:a16="http://schemas.microsoft.com/office/drawing/2014/main" val="3567303841"/>
                  </a:ext>
                </a:extLst>
              </a:tr>
              <a:tr h="316858">
                <a:tc>
                  <a:txBody>
                    <a:bodyPr/>
                    <a:lstStyle/>
                    <a:p>
                      <a:pPr algn="l" fontAlgn="b"/>
                      <a:r>
                        <a:rPr lang="en-US" sz="1400" b="1" i="0" u="none" strike="noStrike" dirty="0">
                          <a:solidFill>
                            <a:srgbClr val="000000"/>
                          </a:solidFill>
                          <a:effectLst/>
                          <a:latin typeface="Calibri" panose="020F0502020204030204" pitchFamily="34" charset="0"/>
                        </a:rPr>
                        <a:t>Net Cost / Savings</a:t>
                      </a:r>
                    </a:p>
                  </a:txBody>
                  <a:tcPr marT="91440" marB="91440" anchor="ctr">
                    <a:lnL w="6350" cap="flat" cmpd="sng" algn="ctr">
                      <a:solidFill>
                        <a:srgbClr val="84DD71"/>
                      </a:solidFill>
                      <a:prstDash val="solid"/>
                      <a:round/>
                      <a:headEnd type="none" w="med" len="med"/>
                      <a:tailEnd type="none" w="med" len="med"/>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Mn USD</a:t>
                      </a:r>
                      <a:endPar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T="91440" marB="9144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1" i="0" u="none" strike="noStrike" dirty="0">
                          <a:solidFill>
                            <a:srgbClr val="DA291C"/>
                          </a:solidFill>
                          <a:effectLst/>
                          <a:latin typeface="Calibri" panose="020F0502020204030204" pitchFamily="34" charset="0"/>
                        </a:rPr>
                        <a:t>(3.91)</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1" i="0" u="none" strike="noStrike" dirty="0">
                          <a:solidFill>
                            <a:srgbClr val="000000"/>
                          </a:solidFill>
                          <a:effectLst/>
                          <a:latin typeface="Calibri" panose="020F0502020204030204" pitchFamily="34" charset="0"/>
                        </a:rPr>
                        <a:t>1.50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1" i="0" u="none" strike="noStrike" dirty="0">
                          <a:solidFill>
                            <a:srgbClr val="000000"/>
                          </a:solidFill>
                          <a:effectLst/>
                          <a:latin typeface="Calibri" panose="020F0502020204030204" pitchFamily="34" charset="0"/>
                        </a:rPr>
                        <a:t>2.47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1" i="0" u="none" strike="noStrike" dirty="0">
                          <a:solidFill>
                            <a:srgbClr val="000000"/>
                          </a:solidFill>
                          <a:effectLst/>
                          <a:latin typeface="Calibri" panose="020F0502020204030204" pitchFamily="34" charset="0"/>
                        </a:rPr>
                        <a:t>2.47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1" i="0" u="none" strike="noStrike" dirty="0">
                          <a:solidFill>
                            <a:srgbClr val="000000"/>
                          </a:solidFill>
                          <a:effectLst/>
                          <a:latin typeface="Calibri" panose="020F0502020204030204" pitchFamily="34" charset="0"/>
                        </a:rPr>
                        <a:t>2.47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1" i="0" u="none" strike="noStrike" dirty="0">
                          <a:solidFill>
                            <a:srgbClr val="000000"/>
                          </a:solidFill>
                          <a:effectLst/>
                          <a:latin typeface="Calibri" panose="020F0502020204030204" pitchFamily="34" charset="0"/>
                        </a:rPr>
                        <a:t>2.76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1" i="0" u="none" strike="noStrike" dirty="0">
                          <a:solidFill>
                            <a:srgbClr val="000000"/>
                          </a:solidFill>
                          <a:effectLst/>
                          <a:latin typeface="Calibri" panose="020F0502020204030204" pitchFamily="34" charset="0"/>
                        </a:rPr>
                        <a:t>2.76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1" i="0" u="none" strike="noStrike" dirty="0">
                          <a:solidFill>
                            <a:srgbClr val="000000"/>
                          </a:solidFill>
                          <a:effectLst/>
                          <a:latin typeface="Calibri" panose="020F0502020204030204" pitchFamily="34" charset="0"/>
                        </a:rPr>
                        <a:t>2.76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1" i="0" u="none" strike="noStrike" dirty="0">
                          <a:solidFill>
                            <a:srgbClr val="000000"/>
                          </a:solidFill>
                          <a:effectLst/>
                          <a:latin typeface="Calibri" panose="020F0502020204030204" pitchFamily="34" charset="0"/>
                        </a:rPr>
                        <a:t>2.76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tc>
                  <a:txBody>
                    <a:bodyPr/>
                    <a:lstStyle/>
                    <a:p>
                      <a:pPr algn="ctr" fontAlgn="b"/>
                      <a:r>
                        <a:rPr lang="en-US" sz="1200" b="1" i="0" u="none" strike="noStrike" dirty="0">
                          <a:solidFill>
                            <a:srgbClr val="000000"/>
                          </a:solidFill>
                          <a:effectLst/>
                          <a:latin typeface="Calibri" panose="020F0502020204030204" pitchFamily="34" charset="0"/>
                        </a:rPr>
                        <a:t>3.07 </a:t>
                      </a:r>
                    </a:p>
                  </a:txBody>
                  <a:tcPr marL="7620" marR="7620" marT="7620" marB="0" anchor="ctr">
                    <a:lnL>
                      <a:noFill/>
                    </a:lnL>
                    <a:lnR w="6350" cap="flat" cmpd="sng" algn="ctr">
                      <a:solidFill>
                        <a:srgbClr val="84DD71"/>
                      </a:solidFill>
                      <a:prstDash val="solid"/>
                      <a:round/>
                      <a:headEnd type="none" w="med" len="med"/>
                      <a:tailEnd type="none" w="med" len="med"/>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solidFill>
                      <a:srgbClr val="D6F3CF"/>
                    </a:solidFill>
                  </a:tcPr>
                </a:tc>
                <a:extLst>
                  <a:ext uri="{0D108BD9-81ED-4DB2-BD59-A6C34878D82A}">
                    <a16:rowId xmlns:a16="http://schemas.microsoft.com/office/drawing/2014/main" val="2355485775"/>
                  </a:ext>
                </a:extLst>
              </a:tr>
              <a:tr h="475287">
                <a:tc>
                  <a:txBody>
                    <a:bodyPr/>
                    <a:lstStyle/>
                    <a:p>
                      <a:pPr algn="l" fontAlgn="b"/>
                      <a:r>
                        <a:rPr lang="en-US" sz="1400" b="1" i="0" u="none" strike="noStrike" dirty="0">
                          <a:solidFill>
                            <a:srgbClr val="000000"/>
                          </a:solidFill>
                          <a:effectLst/>
                          <a:latin typeface="Calibri" panose="020F0502020204030204" pitchFamily="34" charset="0"/>
                        </a:rPr>
                        <a:t>Cumulative Cost / Savings (YoY)</a:t>
                      </a:r>
                    </a:p>
                  </a:txBody>
                  <a:tcPr marT="91440" marB="91440" anchor="ctr">
                    <a:lnL w="6350" cap="flat" cmpd="sng" algn="ctr">
                      <a:solidFill>
                        <a:srgbClr val="84DD71"/>
                      </a:solidFill>
                      <a:prstDash val="solid"/>
                      <a:round/>
                      <a:headEnd type="none" w="med" len="med"/>
                      <a:tailEnd type="none" w="med" len="med"/>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Mn USD</a:t>
                      </a:r>
                    </a:p>
                  </a:txBody>
                  <a:tcPr marT="91440" marB="9144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1" i="0" u="none" strike="noStrike" dirty="0">
                          <a:solidFill>
                            <a:srgbClr val="DA291C"/>
                          </a:solidFill>
                          <a:effectLst/>
                          <a:latin typeface="Calibri" panose="020F0502020204030204" pitchFamily="34" charset="0"/>
                        </a:rPr>
                        <a:t>(3.91)</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1" i="0" u="none" strike="noStrike" dirty="0">
                          <a:solidFill>
                            <a:srgbClr val="DA291C"/>
                          </a:solidFill>
                          <a:effectLst/>
                          <a:latin typeface="Calibri" panose="020F0502020204030204" pitchFamily="34" charset="0"/>
                        </a:rPr>
                        <a:t>(2.41)</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1" i="0" u="none" strike="noStrike" dirty="0">
                          <a:solidFill>
                            <a:srgbClr val="000000"/>
                          </a:solidFill>
                          <a:effectLst/>
                          <a:latin typeface="Calibri" panose="020F0502020204030204" pitchFamily="34" charset="0"/>
                        </a:rPr>
                        <a:t>0.06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1" i="0" u="none" strike="noStrike">
                          <a:solidFill>
                            <a:srgbClr val="000000"/>
                          </a:solidFill>
                          <a:effectLst/>
                          <a:latin typeface="Calibri" panose="020F0502020204030204" pitchFamily="34" charset="0"/>
                        </a:rPr>
                        <a:t>2.53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1" i="0" u="none" strike="noStrike">
                          <a:solidFill>
                            <a:srgbClr val="000000"/>
                          </a:solidFill>
                          <a:effectLst/>
                          <a:latin typeface="Calibri" panose="020F0502020204030204" pitchFamily="34" charset="0"/>
                        </a:rPr>
                        <a:t>5.01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1" i="0" u="none" strike="noStrike">
                          <a:solidFill>
                            <a:srgbClr val="000000"/>
                          </a:solidFill>
                          <a:effectLst/>
                          <a:latin typeface="Calibri" panose="020F0502020204030204" pitchFamily="34" charset="0"/>
                        </a:rPr>
                        <a:t>7.77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1" i="0" u="none" strike="noStrike">
                          <a:solidFill>
                            <a:srgbClr val="000000"/>
                          </a:solidFill>
                          <a:effectLst/>
                          <a:latin typeface="Calibri" panose="020F0502020204030204" pitchFamily="34" charset="0"/>
                        </a:rPr>
                        <a:t>10.53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1" i="0" u="none" strike="noStrike" dirty="0">
                          <a:solidFill>
                            <a:srgbClr val="000000"/>
                          </a:solidFill>
                          <a:effectLst/>
                          <a:latin typeface="Calibri" panose="020F0502020204030204" pitchFamily="34" charset="0"/>
                        </a:rPr>
                        <a:t>13.29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1" i="0" u="none" strike="noStrike" dirty="0">
                          <a:solidFill>
                            <a:srgbClr val="000000"/>
                          </a:solidFill>
                          <a:effectLst/>
                          <a:latin typeface="Calibri" panose="020F0502020204030204" pitchFamily="34" charset="0"/>
                        </a:rPr>
                        <a:t>16.05 </a:t>
                      </a:r>
                    </a:p>
                  </a:txBody>
                  <a:tcPr marL="7620" marR="7620" marT="7620" marB="0" anchor="ctr">
                    <a:lnL>
                      <a:noFill/>
                    </a:lnL>
                    <a:lnR>
                      <a:noFill/>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tc>
                  <a:txBody>
                    <a:bodyPr/>
                    <a:lstStyle/>
                    <a:p>
                      <a:pPr algn="ctr" fontAlgn="b"/>
                      <a:r>
                        <a:rPr lang="en-US" sz="1200" b="1" i="0" u="none" strike="noStrike" dirty="0">
                          <a:solidFill>
                            <a:srgbClr val="000000"/>
                          </a:solidFill>
                          <a:effectLst/>
                          <a:latin typeface="Calibri" panose="020F0502020204030204" pitchFamily="34" charset="0"/>
                        </a:rPr>
                        <a:t>19.13 </a:t>
                      </a:r>
                    </a:p>
                  </a:txBody>
                  <a:tcPr marL="7620" marR="7620" marT="7620" marB="0" anchor="ctr">
                    <a:lnL>
                      <a:noFill/>
                    </a:lnL>
                    <a:lnR w="6350" cap="flat" cmpd="sng" algn="ctr">
                      <a:solidFill>
                        <a:srgbClr val="84DD71"/>
                      </a:solidFill>
                      <a:prstDash val="solid"/>
                      <a:round/>
                      <a:headEnd type="none" w="med" len="med"/>
                      <a:tailEnd type="none" w="med" len="med"/>
                    </a:lnR>
                    <a:lnT w="6350" cap="flat" cmpd="sng" algn="ctr">
                      <a:solidFill>
                        <a:srgbClr val="84DD71"/>
                      </a:solidFill>
                      <a:prstDash val="solid"/>
                      <a:round/>
                      <a:headEnd type="none" w="med" len="med"/>
                      <a:tailEnd type="none" w="med" len="med"/>
                    </a:lnT>
                    <a:lnB w="6350" cap="flat" cmpd="sng" algn="ctr">
                      <a:solidFill>
                        <a:srgbClr val="84DD71"/>
                      </a:solidFill>
                      <a:prstDash val="solid"/>
                      <a:round/>
                      <a:headEnd type="none" w="med" len="med"/>
                      <a:tailEnd type="none" w="med" len="med"/>
                    </a:lnB>
                  </a:tcPr>
                </a:tc>
                <a:extLst>
                  <a:ext uri="{0D108BD9-81ED-4DB2-BD59-A6C34878D82A}">
                    <a16:rowId xmlns:a16="http://schemas.microsoft.com/office/drawing/2014/main" val="2984152537"/>
                  </a:ext>
                </a:extLst>
              </a:tr>
            </a:tbl>
          </a:graphicData>
        </a:graphic>
      </p:graphicFrame>
      <p:sp>
        <p:nvSpPr>
          <p:cNvPr id="23" name="Rectangle 22">
            <a:extLst>
              <a:ext uri="{FF2B5EF4-FFF2-40B4-BE49-F238E27FC236}">
                <a16:creationId xmlns:a16="http://schemas.microsoft.com/office/drawing/2014/main" id="{8F485B54-A5F1-4395-9CB9-1C14C255A799}"/>
              </a:ext>
            </a:extLst>
          </p:cNvPr>
          <p:cNvSpPr/>
          <p:nvPr/>
        </p:nvSpPr>
        <p:spPr bwMode="gray">
          <a:xfrm>
            <a:off x="5246254" y="1716049"/>
            <a:ext cx="849746" cy="2867933"/>
          </a:xfrm>
          <a:prstGeom prst="rect">
            <a:avLst/>
          </a:prstGeom>
          <a:noFill/>
          <a:ln w="19050" algn="ctr">
            <a:solidFill>
              <a:srgbClr val="DA291C"/>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16" name="TextBox 215">
            <a:extLst>
              <a:ext uri="{FF2B5EF4-FFF2-40B4-BE49-F238E27FC236}">
                <a16:creationId xmlns:a16="http://schemas.microsoft.com/office/drawing/2014/main" id="{5EACFF93-6197-44A2-9CB9-2EF5D458B257}"/>
              </a:ext>
            </a:extLst>
          </p:cNvPr>
          <p:cNvSpPr txBox="1"/>
          <p:nvPr/>
        </p:nvSpPr>
        <p:spPr>
          <a:xfrm>
            <a:off x="3299402" y="4639153"/>
            <a:ext cx="4743449" cy="276999"/>
          </a:xfrm>
          <a:prstGeom prst="rect">
            <a:avLst/>
          </a:prstGeom>
          <a:noFill/>
        </p:spPr>
        <p:txBody>
          <a:bodyPr wrap="square" lIns="0" tIns="0" rIns="0" bIns="0" rtlCol="0">
            <a:spAutoFit/>
          </a:bodyPr>
          <a:lstStyle/>
          <a:p>
            <a:pPr algn="ctr">
              <a:spcBef>
                <a:spcPts val="600"/>
              </a:spcBef>
              <a:buSzPct val="100000"/>
            </a:pPr>
            <a:r>
              <a:rPr lang="en-US" b="1" i="1" dirty="0">
                <a:solidFill>
                  <a:srgbClr val="313131"/>
                </a:solidFill>
              </a:rPr>
              <a:t>Payback in ~3 Years</a:t>
            </a:r>
          </a:p>
        </p:txBody>
      </p:sp>
      <p:sp>
        <p:nvSpPr>
          <p:cNvPr id="217" name="TextBox 216">
            <a:extLst>
              <a:ext uri="{FF2B5EF4-FFF2-40B4-BE49-F238E27FC236}">
                <a16:creationId xmlns:a16="http://schemas.microsoft.com/office/drawing/2014/main" id="{0ECB0F08-52AC-446F-BD58-972A91EE9C7A}"/>
              </a:ext>
            </a:extLst>
          </p:cNvPr>
          <p:cNvSpPr txBox="1"/>
          <p:nvPr/>
        </p:nvSpPr>
        <p:spPr>
          <a:xfrm>
            <a:off x="468312" y="5102592"/>
            <a:ext cx="11255375" cy="615553"/>
          </a:xfrm>
          <a:prstGeom prst="rect">
            <a:avLst/>
          </a:prstGeom>
          <a:noFill/>
        </p:spPr>
        <p:txBody>
          <a:bodyPr wrap="square" lIns="0" tIns="0" rIns="0" bIns="0" rtlCol="0">
            <a:spAutoFit/>
          </a:bodyPr>
          <a:lstStyle/>
          <a:p>
            <a:pPr algn="ctr">
              <a:spcBef>
                <a:spcPts val="600"/>
              </a:spcBef>
              <a:buSzPct val="100000"/>
            </a:pPr>
            <a:r>
              <a:rPr lang="en-US" sz="2000" b="1" i="1" dirty="0">
                <a:solidFill>
                  <a:schemeClr val="accent6"/>
                </a:solidFill>
              </a:rPr>
              <a:t>Implementation of the core ERP modules and add on software / tools discussed earlier could lead to a Net Savings of USD 18-20 Mn over 10 years for STELCO in the base case assessment</a:t>
            </a:r>
          </a:p>
        </p:txBody>
      </p:sp>
    </p:spTree>
    <p:extLst>
      <p:ext uri="{BB962C8B-B14F-4D97-AF65-F5344CB8AC3E}">
        <p14:creationId xmlns:p14="http://schemas.microsoft.com/office/powerpoint/2010/main" val="134788176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55B10ABB-E9A4-4736-A870-78C42B8FBF9F}"/>
              </a:ext>
            </a:extLst>
          </p:cNvPr>
          <p:cNvGraphicFramePr>
            <a:graphicFrameLocks noChangeAspect="1"/>
          </p:cNvGraphicFramePr>
          <p:nvPr>
            <p:custDataLst>
              <p:tags r:id="rId1"/>
            </p:custDataLst>
            <p:extLst>
              <p:ext uri="{D42A27DB-BD31-4B8C-83A1-F6EECF244321}">
                <p14:modId xmlns:p14="http://schemas.microsoft.com/office/powerpoint/2010/main" val="18886343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98" imgH="499" progId="TCLayout.ActiveDocument.1">
                  <p:embed/>
                </p:oleObj>
              </mc:Choice>
              <mc:Fallback>
                <p:oleObj name="think-cell Slide" r:id="rId4" imgW="498" imgH="499" progId="TCLayout.ActiveDocument.1">
                  <p:embed/>
                  <p:pic>
                    <p:nvPicPr>
                      <p:cNvPr id="8" name="Object 7" hidden="1">
                        <a:extLst>
                          <a:ext uri="{FF2B5EF4-FFF2-40B4-BE49-F238E27FC236}">
                            <a16:creationId xmlns:a16="http://schemas.microsoft.com/office/drawing/2014/main" id="{55B10ABB-E9A4-4736-A870-78C42B8FBF9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448D1022-EF62-4289-8204-8F73168E21F8}"/>
              </a:ext>
            </a:extLst>
          </p:cNvPr>
          <p:cNvSpPr>
            <a:spLocks noGrp="1"/>
          </p:cNvSpPr>
          <p:nvPr>
            <p:ph type="title"/>
          </p:nvPr>
        </p:nvSpPr>
        <p:spPr/>
        <p:txBody>
          <a:bodyPr vert="horz"/>
          <a:lstStyle/>
          <a:p>
            <a:r>
              <a:rPr lang="en-US" dirty="0"/>
              <a:t>Cost-Benefit Analysis (Summary)</a:t>
            </a:r>
          </a:p>
        </p:txBody>
      </p:sp>
      <p:sp>
        <p:nvSpPr>
          <p:cNvPr id="21" name="Rectangle 8">
            <a:extLst>
              <a:ext uri="{FF2B5EF4-FFF2-40B4-BE49-F238E27FC236}">
                <a16:creationId xmlns:a16="http://schemas.microsoft.com/office/drawing/2014/main" id="{3DCAC9A5-27CF-4A1E-B1CB-DA1E0DFE7A3A}"/>
              </a:ext>
            </a:extLst>
          </p:cNvPr>
          <p:cNvSpPr>
            <a:spLocks noChangeArrowheads="1"/>
          </p:cNvSpPr>
          <p:nvPr/>
        </p:nvSpPr>
        <p:spPr bwMode="auto">
          <a:xfrm>
            <a:off x="1615457" y="972029"/>
            <a:ext cx="8961085" cy="292388"/>
          </a:xfrm>
          <a:prstGeom prst="rect">
            <a:avLst/>
          </a:prstGeom>
          <a:noFill/>
          <a:ln w="9525">
            <a:noFill/>
            <a:miter lim="800000"/>
            <a:headEnd/>
            <a:tailEnd/>
          </a:ln>
        </p:spPr>
        <p:txBody>
          <a:bodyPr wrap="square" lIns="0" tIns="0" rIns="0" bIns="0" anchor="b" anchorCtr="0">
            <a:spAutoFit/>
          </a:bodyPr>
          <a:lstStyle/>
          <a:p>
            <a:pPr algn="ctr" defTabSz="787400">
              <a:lnSpc>
                <a:spcPct val="95000"/>
              </a:lnSpc>
              <a:spcBef>
                <a:spcPct val="80000"/>
              </a:spcBef>
              <a:buClr>
                <a:schemeClr val="tx1"/>
              </a:buClr>
            </a:pPr>
            <a:r>
              <a:rPr lang="en-US" sz="2000" b="1" i="1" u="sng" dirty="0"/>
              <a:t>ERP Implementation provides both Tangible and Intangible benefits (10-Year horizon)</a:t>
            </a:r>
          </a:p>
        </p:txBody>
      </p:sp>
      <p:grpSp>
        <p:nvGrpSpPr>
          <p:cNvPr id="4" name="Group 3">
            <a:extLst>
              <a:ext uri="{FF2B5EF4-FFF2-40B4-BE49-F238E27FC236}">
                <a16:creationId xmlns:a16="http://schemas.microsoft.com/office/drawing/2014/main" id="{5AE943D1-4CDE-4A2A-BC59-828169E3DED4}"/>
              </a:ext>
            </a:extLst>
          </p:cNvPr>
          <p:cNvGrpSpPr/>
          <p:nvPr/>
        </p:nvGrpSpPr>
        <p:grpSpPr>
          <a:xfrm>
            <a:off x="881745" y="1655482"/>
            <a:ext cx="10561200" cy="4572195"/>
            <a:chOff x="881745" y="1581051"/>
            <a:chExt cx="10561200" cy="4572195"/>
          </a:xfrm>
        </p:grpSpPr>
        <p:sp>
          <p:nvSpPr>
            <p:cNvPr id="23" name="Oval 7">
              <a:extLst>
                <a:ext uri="{FF2B5EF4-FFF2-40B4-BE49-F238E27FC236}">
                  <a16:creationId xmlns:a16="http://schemas.microsoft.com/office/drawing/2014/main" id="{6D018DFC-9ED8-47D2-B5E4-5D940F01FA60}"/>
                </a:ext>
              </a:extLst>
            </p:cNvPr>
            <p:cNvSpPr>
              <a:spLocks noChangeArrowheads="1"/>
            </p:cNvSpPr>
            <p:nvPr/>
          </p:nvSpPr>
          <p:spPr bwMode="blackWhite">
            <a:xfrm>
              <a:off x="3083953" y="1581051"/>
              <a:ext cx="2240816" cy="2241381"/>
            </a:xfrm>
            <a:prstGeom prst="ellipse">
              <a:avLst/>
            </a:prstGeom>
            <a:solidFill>
              <a:srgbClr val="005587"/>
            </a:solidFill>
            <a:ln w="12700">
              <a:solidFill>
                <a:schemeClr val="bg1"/>
              </a:solidFill>
              <a:round/>
              <a:headEnd/>
              <a:tailEnd/>
            </a:ln>
          </p:spPr>
          <p:txBody>
            <a:bodyPr wrap="none" lIns="0" tIns="0" rIns="0" bIns="36000" anchor="ctr"/>
            <a:lstStyle/>
            <a:p>
              <a:pPr algn="ctr"/>
              <a:r>
                <a:rPr lang="en-US" sz="1050" b="1" dirty="0">
                  <a:solidFill>
                    <a:schemeClr val="bg1"/>
                  </a:solidFill>
                </a:rPr>
                <a:t>Intangible Investments</a:t>
              </a:r>
            </a:p>
            <a:p>
              <a:pPr marL="117475" indent="-117475">
                <a:spcAft>
                  <a:spcPts val="300"/>
                </a:spcAft>
                <a:buFont typeface="Arial" panose="020B0604020202020204" pitchFamily="34" charset="0"/>
                <a:buChar char="•"/>
              </a:pPr>
              <a:r>
                <a:rPr lang="en-US" sz="1050" dirty="0">
                  <a:solidFill>
                    <a:schemeClr val="bg1"/>
                  </a:solidFill>
                </a:rPr>
                <a:t>Disruption in day to day work</a:t>
              </a:r>
            </a:p>
            <a:p>
              <a:pPr marL="117475" indent="-117475">
                <a:spcAft>
                  <a:spcPts val="300"/>
                </a:spcAft>
                <a:buFont typeface="Arial" panose="020B0604020202020204" pitchFamily="34" charset="0"/>
                <a:buChar char="•"/>
              </a:pPr>
              <a:r>
                <a:rPr lang="en-US" sz="1050" dirty="0">
                  <a:solidFill>
                    <a:schemeClr val="bg1"/>
                  </a:solidFill>
                </a:rPr>
                <a:t>Change Management Program</a:t>
              </a:r>
            </a:p>
            <a:p>
              <a:pPr marL="117475" indent="-117475">
                <a:spcAft>
                  <a:spcPts val="300"/>
                </a:spcAft>
                <a:buFont typeface="Arial" panose="020B0604020202020204" pitchFamily="34" charset="0"/>
                <a:buChar char="•"/>
              </a:pPr>
              <a:r>
                <a:rPr lang="en-US" sz="1050" dirty="0">
                  <a:solidFill>
                    <a:schemeClr val="bg1"/>
                  </a:solidFill>
                </a:rPr>
                <a:t>Project Cost Overruns </a:t>
              </a:r>
            </a:p>
            <a:p>
              <a:pPr>
                <a:spcAft>
                  <a:spcPts val="300"/>
                </a:spcAft>
              </a:pPr>
              <a:r>
                <a:rPr lang="en-US" sz="1050" dirty="0">
                  <a:solidFill>
                    <a:schemeClr val="bg1"/>
                  </a:solidFill>
                </a:rPr>
                <a:t>   (Avoidable with Deloitte PMC)</a:t>
              </a:r>
            </a:p>
            <a:p>
              <a:pPr marL="117475" indent="-117475">
                <a:spcAft>
                  <a:spcPts val="300"/>
                </a:spcAft>
                <a:buFont typeface="Arial" panose="020B0604020202020204" pitchFamily="34" charset="0"/>
                <a:buChar char="•"/>
              </a:pPr>
              <a:r>
                <a:rPr lang="en-US" sz="1050" dirty="0">
                  <a:solidFill>
                    <a:schemeClr val="bg1"/>
                  </a:solidFill>
                </a:rPr>
                <a:t>Increased Transparency and </a:t>
              </a:r>
            </a:p>
            <a:p>
              <a:pPr>
                <a:spcAft>
                  <a:spcPts val="300"/>
                </a:spcAft>
              </a:pPr>
              <a:r>
                <a:rPr lang="en-US" sz="1050" dirty="0">
                  <a:solidFill>
                    <a:schemeClr val="bg1"/>
                  </a:solidFill>
                </a:rPr>
                <a:t>    Employee Resistance</a:t>
              </a:r>
            </a:p>
            <a:p>
              <a:pPr marL="117475" indent="-117475">
                <a:spcAft>
                  <a:spcPts val="300"/>
                </a:spcAft>
                <a:buFont typeface="Arial" panose="020B0604020202020204" pitchFamily="34" charset="0"/>
                <a:buChar char="•"/>
              </a:pPr>
              <a:r>
                <a:rPr lang="en-US" sz="1050" dirty="0">
                  <a:solidFill>
                    <a:schemeClr val="bg1"/>
                  </a:solidFill>
                </a:rPr>
                <a:t>Cost of future upgrades</a:t>
              </a:r>
            </a:p>
          </p:txBody>
        </p:sp>
        <p:grpSp>
          <p:nvGrpSpPr>
            <p:cNvPr id="30" name="Group 29">
              <a:extLst>
                <a:ext uri="{FF2B5EF4-FFF2-40B4-BE49-F238E27FC236}">
                  <a16:creationId xmlns:a16="http://schemas.microsoft.com/office/drawing/2014/main" id="{38283B33-B4C3-4701-B1F2-A8B83842F37C}"/>
                </a:ext>
              </a:extLst>
            </p:cNvPr>
            <p:cNvGrpSpPr/>
            <p:nvPr/>
          </p:nvGrpSpPr>
          <p:grpSpPr>
            <a:xfrm>
              <a:off x="881745" y="1866770"/>
              <a:ext cx="10561200" cy="4286476"/>
              <a:chOff x="881745" y="1866770"/>
              <a:chExt cx="10561200" cy="4286476"/>
            </a:xfrm>
          </p:grpSpPr>
          <p:sp>
            <p:nvSpPr>
              <p:cNvPr id="16" name="Freeform 3">
                <a:extLst>
                  <a:ext uri="{FF2B5EF4-FFF2-40B4-BE49-F238E27FC236}">
                    <a16:creationId xmlns:a16="http://schemas.microsoft.com/office/drawing/2014/main" id="{43FF50CD-7C1C-4118-9637-873830EAD83C}"/>
                  </a:ext>
                </a:extLst>
              </p:cNvPr>
              <p:cNvSpPr>
                <a:spLocks/>
              </p:cNvSpPr>
              <p:nvPr/>
            </p:nvSpPr>
            <p:spPr bwMode="blackWhite">
              <a:xfrm>
                <a:off x="5325430" y="5254277"/>
                <a:ext cx="1217542" cy="596205"/>
              </a:xfrm>
              <a:custGeom>
                <a:avLst/>
                <a:gdLst>
                  <a:gd name="T0" fmla="*/ 0 w 321"/>
                  <a:gd name="T1" fmla="*/ 2147483647 h 241"/>
                  <a:gd name="T2" fmla="*/ 2147483647 w 321"/>
                  <a:gd name="T3" fmla="*/ 2147483647 h 241"/>
                  <a:gd name="T4" fmla="*/ 2147483647 w 321"/>
                  <a:gd name="T5" fmla="*/ 0 h 241"/>
                  <a:gd name="T6" fmla="*/ 0 w 321"/>
                  <a:gd name="T7" fmla="*/ 2147483647 h 241"/>
                  <a:gd name="T8" fmla="*/ 0 60000 65536"/>
                  <a:gd name="T9" fmla="*/ 0 60000 65536"/>
                  <a:gd name="T10" fmla="*/ 0 60000 65536"/>
                  <a:gd name="T11" fmla="*/ 0 60000 65536"/>
                  <a:gd name="T12" fmla="*/ 0 w 321"/>
                  <a:gd name="T13" fmla="*/ 0 h 241"/>
                  <a:gd name="T14" fmla="*/ 321 w 321"/>
                  <a:gd name="T15" fmla="*/ 241 h 241"/>
                </a:gdLst>
                <a:ahLst/>
                <a:cxnLst>
                  <a:cxn ang="T8">
                    <a:pos x="T0" y="T1"/>
                  </a:cxn>
                  <a:cxn ang="T9">
                    <a:pos x="T2" y="T3"/>
                  </a:cxn>
                  <a:cxn ang="T10">
                    <a:pos x="T4" y="T5"/>
                  </a:cxn>
                  <a:cxn ang="T11">
                    <a:pos x="T6" y="T7"/>
                  </a:cxn>
                </a:cxnLst>
                <a:rect l="T12" t="T13" r="T14" b="T15"/>
                <a:pathLst>
                  <a:path w="321" h="241">
                    <a:moveTo>
                      <a:pt x="0" y="240"/>
                    </a:moveTo>
                    <a:lnTo>
                      <a:pt x="320" y="240"/>
                    </a:lnTo>
                    <a:lnTo>
                      <a:pt x="160" y="0"/>
                    </a:lnTo>
                    <a:lnTo>
                      <a:pt x="0" y="240"/>
                    </a:lnTo>
                  </a:path>
                </a:pathLst>
              </a:custGeom>
              <a:solidFill>
                <a:schemeClr val="tx1"/>
              </a:solidFill>
              <a:ln w="12700" cap="rnd">
                <a:solidFill>
                  <a:schemeClr val="bg1"/>
                </a:solidFill>
                <a:round/>
                <a:headEnd/>
                <a:tailEnd/>
              </a:ln>
            </p:spPr>
            <p:txBody>
              <a:bodyPr lIns="36000" tIns="36000" rIns="36000" bIns="36000"/>
              <a:lstStyle/>
              <a:p>
                <a:pPr>
                  <a:defRPr/>
                </a:pPr>
                <a:endParaRPr lang="en-US" dirty="0"/>
              </a:p>
            </p:txBody>
          </p:sp>
          <p:sp>
            <p:nvSpPr>
              <p:cNvPr id="17" name="Freeform 4">
                <a:extLst>
                  <a:ext uri="{FF2B5EF4-FFF2-40B4-BE49-F238E27FC236}">
                    <a16:creationId xmlns:a16="http://schemas.microsoft.com/office/drawing/2014/main" id="{C71C380C-B50A-47D6-9655-4A139DD8501A}"/>
                  </a:ext>
                </a:extLst>
              </p:cNvPr>
              <p:cNvSpPr>
                <a:spLocks/>
              </p:cNvSpPr>
              <p:nvPr/>
            </p:nvSpPr>
            <p:spPr bwMode="blackWhite">
              <a:xfrm>
                <a:off x="881745" y="4180251"/>
                <a:ext cx="9829760" cy="1752022"/>
              </a:xfrm>
              <a:custGeom>
                <a:avLst/>
                <a:gdLst>
                  <a:gd name="T0" fmla="*/ 2147483647 w 2599"/>
                  <a:gd name="T1" fmla="*/ 0 h 704"/>
                  <a:gd name="T2" fmla="*/ 0 w 2599"/>
                  <a:gd name="T3" fmla="*/ 2147483647 h 704"/>
                  <a:gd name="T4" fmla="*/ 2147483647 w 2599"/>
                  <a:gd name="T5" fmla="*/ 2147483647 h 704"/>
                  <a:gd name="T6" fmla="*/ 2147483647 w 2599"/>
                  <a:gd name="T7" fmla="*/ 2147483647 h 704"/>
                  <a:gd name="T8" fmla="*/ 2147483647 w 2599"/>
                  <a:gd name="T9" fmla="*/ 0 h 704"/>
                  <a:gd name="T10" fmla="*/ 0 60000 65536"/>
                  <a:gd name="T11" fmla="*/ 0 60000 65536"/>
                  <a:gd name="T12" fmla="*/ 0 60000 65536"/>
                  <a:gd name="T13" fmla="*/ 0 60000 65536"/>
                  <a:gd name="T14" fmla="*/ 0 60000 65536"/>
                  <a:gd name="T15" fmla="*/ 0 w 2599"/>
                  <a:gd name="T16" fmla="*/ 0 h 704"/>
                  <a:gd name="T17" fmla="*/ 2599 w 2599"/>
                  <a:gd name="T18" fmla="*/ 704 h 704"/>
                </a:gdLst>
                <a:ahLst/>
                <a:cxnLst>
                  <a:cxn ang="T10">
                    <a:pos x="T0" y="T1"/>
                  </a:cxn>
                  <a:cxn ang="T11">
                    <a:pos x="T2" y="T3"/>
                  </a:cxn>
                  <a:cxn ang="T12">
                    <a:pos x="T4" y="T5"/>
                  </a:cxn>
                  <a:cxn ang="T13">
                    <a:pos x="T6" y="T7"/>
                  </a:cxn>
                  <a:cxn ang="T14">
                    <a:pos x="T8" y="T9"/>
                  </a:cxn>
                </a:cxnLst>
                <a:rect l="T15" t="T16" r="T17" b="T18"/>
                <a:pathLst>
                  <a:path w="2599" h="704">
                    <a:moveTo>
                      <a:pt x="16" y="0"/>
                    </a:moveTo>
                    <a:lnTo>
                      <a:pt x="0" y="72"/>
                    </a:lnTo>
                    <a:lnTo>
                      <a:pt x="2582" y="703"/>
                    </a:lnTo>
                    <a:lnTo>
                      <a:pt x="2598" y="631"/>
                    </a:lnTo>
                    <a:lnTo>
                      <a:pt x="16" y="0"/>
                    </a:lnTo>
                  </a:path>
                </a:pathLst>
              </a:custGeom>
              <a:solidFill>
                <a:schemeClr val="tx1"/>
              </a:solidFill>
              <a:ln w="12700" cap="rnd">
                <a:solidFill>
                  <a:schemeClr val="bg1"/>
                </a:solidFill>
                <a:round/>
                <a:headEnd/>
                <a:tailEnd/>
              </a:ln>
            </p:spPr>
            <p:txBody>
              <a:bodyPr lIns="36000" tIns="36000" rIns="36000" bIns="36000"/>
              <a:lstStyle/>
              <a:p>
                <a:pPr>
                  <a:defRPr/>
                </a:pPr>
                <a:endParaRPr lang="en-US" dirty="0"/>
              </a:p>
            </p:txBody>
          </p:sp>
          <p:sp>
            <p:nvSpPr>
              <p:cNvPr id="18" name="Oval 5">
                <a:extLst>
                  <a:ext uri="{FF2B5EF4-FFF2-40B4-BE49-F238E27FC236}">
                    <a16:creationId xmlns:a16="http://schemas.microsoft.com/office/drawing/2014/main" id="{B1902E3D-1F87-418A-8884-877513AFD381}"/>
                  </a:ext>
                </a:extLst>
              </p:cNvPr>
              <p:cNvSpPr>
                <a:spLocks noChangeArrowheads="1"/>
              </p:cNvSpPr>
              <p:nvPr/>
            </p:nvSpPr>
            <p:spPr bwMode="blackWhite">
              <a:xfrm>
                <a:off x="8783013" y="2991361"/>
                <a:ext cx="2659932" cy="2652441"/>
              </a:xfrm>
              <a:prstGeom prst="ellipse">
                <a:avLst/>
              </a:prstGeom>
              <a:solidFill>
                <a:schemeClr val="accent3"/>
              </a:solidFill>
              <a:ln w="12700">
                <a:solidFill>
                  <a:schemeClr val="bg1"/>
                </a:solidFill>
                <a:round/>
                <a:headEnd/>
                <a:tailEnd/>
              </a:ln>
            </p:spPr>
            <p:txBody>
              <a:bodyPr wrap="square" lIns="91440" tIns="91440" rIns="91440" bIns="91440" anchor="ctr"/>
              <a:lstStyle/>
              <a:p>
                <a:pPr algn="ctr"/>
                <a:endParaRPr lang="en-US" sz="1200" dirty="0">
                  <a:solidFill>
                    <a:schemeClr val="bg1"/>
                  </a:solidFill>
                </a:endParaRPr>
              </a:p>
            </p:txBody>
          </p:sp>
          <p:sp>
            <p:nvSpPr>
              <p:cNvPr id="19" name="Arc 6">
                <a:extLst>
                  <a:ext uri="{FF2B5EF4-FFF2-40B4-BE49-F238E27FC236}">
                    <a16:creationId xmlns:a16="http://schemas.microsoft.com/office/drawing/2014/main" id="{9914E4C2-85C2-4CC6-AC72-6AD5FE62E535}"/>
                  </a:ext>
                </a:extLst>
              </p:cNvPr>
              <p:cNvSpPr>
                <a:spLocks/>
              </p:cNvSpPr>
              <p:nvPr/>
            </p:nvSpPr>
            <p:spPr bwMode="blackWhite">
              <a:xfrm>
                <a:off x="1139695" y="2893180"/>
                <a:ext cx="1552785" cy="2076985"/>
              </a:xfrm>
              <a:custGeom>
                <a:avLst/>
                <a:gdLst>
                  <a:gd name="T0" fmla="*/ 0 w 20759"/>
                  <a:gd name="T1" fmla="*/ 2147483647 h 20020"/>
                  <a:gd name="T2" fmla="*/ 2147483647 w 20759"/>
                  <a:gd name="T3" fmla="*/ 0 h 20020"/>
                  <a:gd name="T4" fmla="*/ 2147483647 w 20759"/>
                  <a:gd name="T5" fmla="*/ 2147483647 h 20020"/>
                  <a:gd name="T6" fmla="*/ 0 60000 65536"/>
                  <a:gd name="T7" fmla="*/ 0 60000 65536"/>
                  <a:gd name="T8" fmla="*/ 0 60000 65536"/>
                  <a:gd name="T9" fmla="*/ 0 w 20759"/>
                  <a:gd name="T10" fmla="*/ 0 h 20020"/>
                  <a:gd name="T11" fmla="*/ 20759 w 20759"/>
                  <a:gd name="T12" fmla="*/ 20020 h 20020"/>
                </a:gdLst>
                <a:ahLst/>
                <a:cxnLst>
                  <a:cxn ang="T6">
                    <a:pos x="T0" y="T1"/>
                  </a:cxn>
                  <a:cxn ang="T7">
                    <a:pos x="T2" y="T3"/>
                  </a:cxn>
                  <a:cxn ang="T8">
                    <a:pos x="T4" y="T5"/>
                  </a:cxn>
                </a:cxnLst>
                <a:rect l="T9" t="T10" r="T11" b="T12"/>
                <a:pathLst>
                  <a:path w="20759" h="20020" fill="none" extrusionOk="0">
                    <a:moveTo>
                      <a:pt x="0" y="14051"/>
                    </a:moveTo>
                    <a:cubicBezTo>
                      <a:pt x="1834" y="7672"/>
                      <a:pt x="6499" y="2491"/>
                      <a:pt x="12650" y="-1"/>
                    </a:cubicBezTo>
                  </a:path>
                  <a:path w="20759" h="20020" stroke="0" extrusionOk="0">
                    <a:moveTo>
                      <a:pt x="0" y="14051"/>
                    </a:moveTo>
                    <a:cubicBezTo>
                      <a:pt x="1834" y="7672"/>
                      <a:pt x="6499" y="2491"/>
                      <a:pt x="12650" y="-1"/>
                    </a:cubicBezTo>
                    <a:lnTo>
                      <a:pt x="20759" y="20020"/>
                    </a:lnTo>
                    <a:close/>
                  </a:path>
                </a:pathLst>
              </a:custGeom>
              <a:noFill/>
              <a:ln w="28575" cap="rnd">
                <a:solidFill>
                  <a:schemeClr val="bg1">
                    <a:lumMod val="50000"/>
                  </a:schemeClr>
                </a:solidFill>
                <a:prstDash val="sysDot"/>
                <a:round/>
                <a:headEnd type="none" w="sm" len="sm"/>
                <a:tailEnd type="none" w="sm" len="sm"/>
              </a:ln>
            </p:spPr>
            <p:txBody>
              <a:bodyPr wrap="none" lIns="36000" tIns="36000" rIns="36000" bIns="36000" anchor="ctr"/>
              <a:lstStyle/>
              <a:p>
                <a:pPr algn="ctr">
                  <a:defRPr/>
                </a:pPr>
                <a:endParaRPr lang="en-US" sz="1400" dirty="0"/>
              </a:p>
            </p:txBody>
          </p:sp>
          <p:grpSp>
            <p:nvGrpSpPr>
              <p:cNvPr id="24" name="Group 23">
                <a:extLst>
                  <a:ext uri="{FF2B5EF4-FFF2-40B4-BE49-F238E27FC236}">
                    <a16:creationId xmlns:a16="http://schemas.microsoft.com/office/drawing/2014/main" id="{122572F0-7F1A-49D9-970A-733473F9F666}"/>
                  </a:ext>
                </a:extLst>
              </p:cNvPr>
              <p:cNvGrpSpPr/>
              <p:nvPr/>
            </p:nvGrpSpPr>
            <p:grpSpPr>
              <a:xfrm>
                <a:off x="1493405" y="1866770"/>
                <a:ext cx="1669525" cy="1669945"/>
                <a:chOff x="1818618" y="1790577"/>
                <a:chExt cx="1316737" cy="1317068"/>
              </a:xfrm>
              <a:solidFill>
                <a:srgbClr val="00B0F0"/>
              </a:solidFill>
            </p:grpSpPr>
            <p:sp>
              <p:nvSpPr>
                <p:cNvPr id="20" name="Oval 7">
                  <a:extLst>
                    <a:ext uri="{FF2B5EF4-FFF2-40B4-BE49-F238E27FC236}">
                      <a16:creationId xmlns:a16="http://schemas.microsoft.com/office/drawing/2014/main" id="{E56B3F7F-89D3-4141-AF0D-E341FDEC40BE}"/>
                    </a:ext>
                  </a:extLst>
                </p:cNvPr>
                <p:cNvSpPr>
                  <a:spLocks noChangeArrowheads="1"/>
                </p:cNvSpPr>
                <p:nvPr/>
              </p:nvSpPr>
              <p:spPr bwMode="blackWhite">
                <a:xfrm>
                  <a:off x="1818619" y="1790577"/>
                  <a:ext cx="1316736" cy="1317068"/>
                </a:xfrm>
                <a:prstGeom prst="ellipse">
                  <a:avLst/>
                </a:prstGeom>
                <a:grpFill/>
                <a:ln w="12700">
                  <a:solidFill>
                    <a:schemeClr val="bg1"/>
                  </a:solidFill>
                  <a:round/>
                  <a:headEnd/>
                  <a:tailEnd/>
                </a:ln>
              </p:spPr>
              <p:txBody>
                <a:bodyPr wrap="none" lIns="36000" tIns="36000" rIns="36000" bIns="36000" anchor="ctr"/>
                <a:lstStyle/>
                <a:p>
                  <a:pPr algn="ctr"/>
                  <a:endParaRPr lang="en-US" sz="1400" dirty="0"/>
                </a:p>
              </p:txBody>
            </p:sp>
            <p:sp>
              <p:nvSpPr>
                <p:cNvPr id="22" name="Rectangle 21">
                  <a:extLst>
                    <a:ext uri="{FF2B5EF4-FFF2-40B4-BE49-F238E27FC236}">
                      <a16:creationId xmlns:a16="http://schemas.microsoft.com/office/drawing/2014/main" id="{3FD0304A-3E2D-4E6A-A0FC-5DFF78159A4B}"/>
                    </a:ext>
                  </a:extLst>
                </p:cNvPr>
                <p:cNvSpPr/>
                <p:nvPr/>
              </p:nvSpPr>
              <p:spPr>
                <a:xfrm>
                  <a:off x="1818618" y="2179370"/>
                  <a:ext cx="1316737" cy="710015"/>
                </a:xfrm>
                <a:prstGeom prst="rect">
                  <a:avLst/>
                </a:prstGeom>
                <a:noFill/>
              </p:spPr>
              <p:txBody>
                <a:bodyPr wrap="square">
                  <a:spAutoFit/>
                </a:bodyPr>
                <a:lstStyle/>
                <a:p>
                  <a:pPr algn="ctr"/>
                  <a:r>
                    <a:rPr lang="en-US" sz="1050" b="1" dirty="0">
                      <a:solidFill>
                        <a:schemeClr val="bg1"/>
                      </a:solidFill>
                    </a:rPr>
                    <a:t>Tangible Investments</a:t>
                  </a:r>
                </a:p>
                <a:p>
                  <a:pPr algn="ctr"/>
                  <a:endParaRPr lang="en-US" sz="1050" dirty="0">
                    <a:solidFill>
                      <a:schemeClr val="bg1"/>
                    </a:solidFill>
                  </a:endParaRPr>
                </a:p>
                <a:p>
                  <a:pPr algn="ctr"/>
                  <a:r>
                    <a:rPr lang="en-US" sz="1050" dirty="0">
                      <a:solidFill>
                        <a:schemeClr val="bg1"/>
                      </a:solidFill>
                    </a:rPr>
                    <a:t>Software, Hardware, Resources, Support, Training</a:t>
                  </a:r>
                </a:p>
              </p:txBody>
            </p:sp>
          </p:grpSp>
          <p:sp>
            <p:nvSpPr>
              <p:cNvPr id="25" name="Oval 5">
                <a:extLst>
                  <a:ext uri="{FF2B5EF4-FFF2-40B4-BE49-F238E27FC236}">
                    <a16:creationId xmlns:a16="http://schemas.microsoft.com/office/drawing/2014/main" id="{6CC7326F-99AB-497F-920B-7A7F86050196}"/>
                  </a:ext>
                </a:extLst>
              </p:cNvPr>
              <p:cNvSpPr>
                <a:spLocks noChangeArrowheads="1"/>
              </p:cNvSpPr>
              <p:nvPr/>
            </p:nvSpPr>
            <p:spPr bwMode="blackWhite">
              <a:xfrm>
                <a:off x="6672550" y="3123025"/>
                <a:ext cx="2144096" cy="2138059"/>
              </a:xfrm>
              <a:prstGeom prst="ellipse">
                <a:avLst/>
              </a:prstGeom>
              <a:solidFill>
                <a:schemeClr val="accent5"/>
              </a:solidFill>
              <a:ln w="12700">
                <a:solidFill>
                  <a:schemeClr val="bg1"/>
                </a:solidFill>
                <a:round/>
                <a:headEnd/>
                <a:tailEnd/>
              </a:ln>
            </p:spPr>
            <p:txBody>
              <a:bodyPr wrap="square" lIns="91440" tIns="91440" rIns="91440" bIns="91440" anchor="ctr"/>
              <a:lstStyle/>
              <a:p>
                <a:pPr algn="ctr"/>
                <a:endParaRPr lang="en-US" sz="1200" dirty="0">
                  <a:solidFill>
                    <a:schemeClr val="bg1"/>
                  </a:solidFill>
                </a:endParaRPr>
              </a:p>
            </p:txBody>
          </p:sp>
          <p:sp>
            <p:nvSpPr>
              <p:cNvPr id="26" name="Rectangle 25">
                <a:extLst>
                  <a:ext uri="{FF2B5EF4-FFF2-40B4-BE49-F238E27FC236}">
                    <a16:creationId xmlns:a16="http://schemas.microsoft.com/office/drawing/2014/main" id="{F8A93E49-AF89-476B-95B0-F54E20E91F2C}"/>
                  </a:ext>
                </a:extLst>
              </p:cNvPr>
              <p:cNvSpPr/>
              <p:nvPr/>
            </p:nvSpPr>
            <p:spPr>
              <a:xfrm>
                <a:off x="6873197" y="3357381"/>
                <a:ext cx="1845027" cy="1754326"/>
              </a:xfrm>
              <a:prstGeom prst="rect">
                <a:avLst/>
              </a:prstGeom>
            </p:spPr>
            <p:txBody>
              <a:bodyPr wrap="square">
                <a:spAutoFit/>
              </a:bodyPr>
              <a:lstStyle/>
              <a:p>
                <a:pPr algn="ctr"/>
                <a:r>
                  <a:rPr lang="en-US" sz="1200" b="1" dirty="0">
                    <a:solidFill>
                      <a:schemeClr val="bg1"/>
                    </a:solidFill>
                  </a:rPr>
                  <a:t>Indicative Tangible Benefits</a:t>
                </a:r>
              </a:p>
              <a:p>
                <a:pPr marL="171450" indent="-171450">
                  <a:buFont typeface="Arial" panose="020B0604020202020204" pitchFamily="34" charset="0"/>
                  <a:buChar char="•"/>
                </a:pPr>
                <a:r>
                  <a:rPr lang="en-US" sz="1200" dirty="0">
                    <a:solidFill>
                      <a:schemeClr val="bg1"/>
                    </a:solidFill>
                  </a:rPr>
                  <a:t>Optimum Inventory Level</a:t>
                </a:r>
              </a:p>
              <a:p>
                <a:pPr marL="171450" indent="-171450">
                  <a:buFont typeface="Arial" panose="020B0604020202020204" pitchFamily="34" charset="0"/>
                  <a:buChar char="•"/>
                </a:pPr>
                <a:r>
                  <a:rPr lang="en-US" sz="1200" dirty="0">
                    <a:solidFill>
                      <a:schemeClr val="bg1"/>
                    </a:solidFill>
                  </a:rPr>
                  <a:t>Reduced Proc. Costs</a:t>
                </a:r>
              </a:p>
              <a:p>
                <a:pPr marL="171450" indent="-171450">
                  <a:buFont typeface="Arial" panose="020B0604020202020204" pitchFamily="34" charset="0"/>
                  <a:buChar char="•"/>
                </a:pPr>
                <a:r>
                  <a:rPr lang="en-US" sz="1200" dirty="0">
                    <a:solidFill>
                      <a:schemeClr val="bg1"/>
                    </a:solidFill>
                  </a:rPr>
                  <a:t>Better manpower utilization</a:t>
                </a:r>
              </a:p>
              <a:p>
                <a:pPr marL="171450" indent="-171450">
                  <a:buFont typeface="Arial" panose="020B0604020202020204" pitchFamily="34" charset="0"/>
                  <a:buChar char="•"/>
                </a:pPr>
                <a:r>
                  <a:rPr lang="en-US" sz="1200" dirty="0">
                    <a:solidFill>
                      <a:schemeClr val="bg1"/>
                    </a:solidFill>
                  </a:rPr>
                  <a:t>Better Revenue Realization</a:t>
                </a:r>
              </a:p>
            </p:txBody>
          </p:sp>
          <p:sp>
            <p:nvSpPr>
              <p:cNvPr id="27" name="Rectangle 26">
                <a:extLst>
                  <a:ext uri="{FF2B5EF4-FFF2-40B4-BE49-F238E27FC236}">
                    <a16:creationId xmlns:a16="http://schemas.microsoft.com/office/drawing/2014/main" id="{9E3E7F83-EE90-421C-A20B-5DE44564880C}"/>
                  </a:ext>
                </a:extLst>
              </p:cNvPr>
              <p:cNvSpPr/>
              <p:nvPr/>
            </p:nvSpPr>
            <p:spPr>
              <a:xfrm>
                <a:off x="9017471" y="3366701"/>
                <a:ext cx="2243034" cy="1938992"/>
              </a:xfrm>
              <a:prstGeom prst="rect">
                <a:avLst/>
              </a:prstGeom>
            </p:spPr>
            <p:txBody>
              <a:bodyPr wrap="square">
                <a:spAutoFit/>
              </a:bodyPr>
              <a:lstStyle/>
              <a:p>
                <a:pPr algn="ctr"/>
                <a:r>
                  <a:rPr lang="en-US" sz="1200" b="1" dirty="0">
                    <a:solidFill>
                      <a:schemeClr val="bg1"/>
                    </a:solidFill>
                  </a:rPr>
                  <a:t>Indicative Intangible Benefits</a:t>
                </a:r>
              </a:p>
              <a:p>
                <a:pPr marL="171450" indent="-171450">
                  <a:buFont typeface="Arial" panose="020B0604020202020204" pitchFamily="34" charset="0"/>
                  <a:buChar char="•"/>
                </a:pPr>
                <a:r>
                  <a:rPr lang="en-US" sz="1200" dirty="0">
                    <a:solidFill>
                      <a:schemeClr val="bg1"/>
                    </a:solidFill>
                  </a:rPr>
                  <a:t>Quicker and better decision making</a:t>
                </a:r>
              </a:p>
              <a:p>
                <a:pPr marL="171450" indent="-171450">
                  <a:buFont typeface="Arial" panose="020B0604020202020204" pitchFamily="34" charset="0"/>
                  <a:buChar char="•"/>
                </a:pPr>
                <a:r>
                  <a:rPr lang="en-US" sz="1200" dirty="0">
                    <a:solidFill>
                      <a:schemeClr val="bg1"/>
                    </a:solidFill>
                  </a:rPr>
                  <a:t>Improved MIS reporting and system tracking</a:t>
                </a:r>
              </a:p>
              <a:p>
                <a:pPr marL="171450" indent="-171450">
                  <a:buFont typeface="Arial" panose="020B0604020202020204" pitchFamily="34" charset="0"/>
                  <a:buChar char="•"/>
                </a:pPr>
                <a:r>
                  <a:rPr lang="en-US" sz="1200" dirty="0">
                    <a:solidFill>
                      <a:schemeClr val="bg1"/>
                    </a:solidFill>
                  </a:rPr>
                  <a:t>Improved Customer Service</a:t>
                </a:r>
              </a:p>
              <a:p>
                <a:pPr marL="171450" indent="-171450">
                  <a:buFont typeface="Arial" panose="020B0604020202020204" pitchFamily="34" charset="0"/>
                  <a:buChar char="•"/>
                </a:pPr>
                <a:r>
                  <a:rPr lang="en-US" sz="1200" dirty="0">
                    <a:solidFill>
                      <a:schemeClr val="bg1"/>
                    </a:solidFill>
                  </a:rPr>
                  <a:t>Integrated business processes reducing turnaround times</a:t>
                </a:r>
              </a:p>
              <a:p>
                <a:pPr marL="171450" indent="-171450">
                  <a:buFont typeface="Arial" panose="020B0604020202020204" pitchFamily="34" charset="0"/>
                  <a:buChar char="•"/>
                </a:pPr>
                <a:r>
                  <a:rPr lang="en-US" sz="1200" dirty="0">
                    <a:solidFill>
                      <a:schemeClr val="bg1"/>
                    </a:solidFill>
                  </a:rPr>
                  <a:t>Ability to initiate business analytics</a:t>
                </a:r>
              </a:p>
            </p:txBody>
          </p:sp>
          <p:sp>
            <p:nvSpPr>
              <p:cNvPr id="28" name="Rectangle 27">
                <a:extLst>
                  <a:ext uri="{FF2B5EF4-FFF2-40B4-BE49-F238E27FC236}">
                    <a16:creationId xmlns:a16="http://schemas.microsoft.com/office/drawing/2014/main" id="{8BC7F424-23B6-4E6E-B4F9-9906C2A0BE28}"/>
                  </a:ext>
                </a:extLst>
              </p:cNvPr>
              <p:cNvSpPr/>
              <p:nvPr/>
            </p:nvSpPr>
            <p:spPr bwMode="gray">
              <a:xfrm rot="546570">
                <a:off x="1026541" y="4781221"/>
                <a:ext cx="3334336" cy="379956"/>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Investment</a:t>
                </a:r>
              </a:p>
            </p:txBody>
          </p:sp>
          <p:sp>
            <p:nvSpPr>
              <p:cNvPr id="29" name="Rectangle 28">
                <a:extLst>
                  <a:ext uri="{FF2B5EF4-FFF2-40B4-BE49-F238E27FC236}">
                    <a16:creationId xmlns:a16="http://schemas.microsoft.com/office/drawing/2014/main" id="{593021AD-5F7E-49F4-A765-06856A51B71D}"/>
                  </a:ext>
                </a:extLst>
              </p:cNvPr>
              <p:cNvSpPr/>
              <p:nvPr/>
            </p:nvSpPr>
            <p:spPr bwMode="gray">
              <a:xfrm rot="546570">
                <a:off x="7252261" y="5773290"/>
                <a:ext cx="3334336" cy="379956"/>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t>Benefits</a:t>
                </a:r>
              </a:p>
            </p:txBody>
          </p:sp>
        </p:grpSp>
      </p:grpSp>
      <p:sp>
        <p:nvSpPr>
          <p:cNvPr id="3" name="Rectangle 2">
            <a:extLst>
              <a:ext uri="{FF2B5EF4-FFF2-40B4-BE49-F238E27FC236}">
                <a16:creationId xmlns:a16="http://schemas.microsoft.com/office/drawing/2014/main" id="{7BFF5FE4-C25E-4E5D-902E-91DBF72F1D1E}"/>
              </a:ext>
            </a:extLst>
          </p:cNvPr>
          <p:cNvSpPr/>
          <p:nvPr/>
        </p:nvSpPr>
        <p:spPr bwMode="gray">
          <a:xfrm>
            <a:off x="7534733" y="1978420"/>
            <a:ext cx="2769392" cy="900247"/>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4000" b="1" dirty="0">
                <a:solidFill>
                  <a:srgbClr val="009A44"/>
                </a:solidFill>
              </a:rPr>
              <a:t>$29.4* </a:t>
            </a:r>
            <a:r>
              <a:rPr lang="en-US" sz="2400" b="1" dirty="0">
                <a:solidFill>
                  <a:srgbClr val="009A44"/>
                </a:solidFill>
              </a:rPr>
              <a:t>Mn USD</a:t>
            </a:r>
            <a:endParaRPr lang="en-US" sz="4000" b="1" dirty="0">
              <a:solidFill>
                <a:srgbClr val="009A44"/>
              </a:solidFill>
            </a:endParaRPr>
          </a:p>
        </p:txBody>
      </p:sp>
      <p:sp>
        <p:nvSpPr>
          <p:cNvPr id="31" name="Rectangle 30">
            <a:extLst>
              <a:ext uri="{FF2B5EF4-FFF2-40B4-BE49-F238E27FC236}">
                <a16:creationId xmlns:a16="http://schemas.microsoft.com/office/drawing/2014/main" id="{8F2B2FDE-5D80-4293-9646-01DB42033544}"/>
              </a:ext>
            </a:extLst>
          </p:cNvPr>
          <p:cNvSpPr/>
          <p:nvPr/>
        </p:nvSpPr>
        <p:spPr bwMode="gray">
          <a:xfrm>
            <a:off x="1480495" y="3497426"/>
            <a:ext cx="2559766" cy="900247"/>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3600" b="1" dirty="0">
                <a:solidFill>
                  <a:schemeClr val="accent6"/>
                </a:solidFill>
              </a:rPr>
              <a:t>$10.3* </a:t>
            </a:r>
            <a:r>
              <a:rPr lang="en-US" sz="2000" b="1" dirty="0">
                <a:solidFill>
                  <a:schemeClr val="accent6"/>
                </a:solidFill>
              </a:rPr>
              <a:t>Mn USD</a:t>
            </a:r>
            <a:endParaRPr lang="en-US" sz="3600" b="1" dirty="0">
              <a:solidFill>
                <a:schemeClr val="accent6"/>
              </a:solidFill>
            </a:endParaRPr>
          </a:p>
        </p:txBody>
      </p:sp>
      <p:sp>
        <p:nvSpPr>
          <p:cNvPr id="32" name="TextBox 31">
            <a:extLst>
              <a:ext uri="{FF2B5EF4-FFF2-40B4-BE49-F238E27FC236}">
                <a16:creationId xmlns:a16="http://schemas.microsoft.com/office/drawing/2014/main" id="{9CFECAF8-1795-482B-ACFA-958F7B7DC967}"/>
              </a:ext>
            </a:extLst>
          </p:cNvPr>
          <p:cNvSpPr txBox="1"/>
          <p:nvPr/>
        </p:nvSpPr>
        <p:spPr>
          <a:xfrm>
            <a:off x="501648" y="6622327"/>
            <a:ext cx="11115921" cy="123111"/>
          </a:xfrm>
          <a:prstGeom prst="rect">
            <a:avLst/>
          </a:prstGeom>
          <a:noFill/>
        </p:spPr>
        <p:txBody>
          <a:bodyPr wrap="square" lIns="0" tIns="0" rIns="0" bIns="0" rtlCol="0">
            <a:spAutoFit/>
          </a:bodyPr>
          <a:lstStyle/>
          <a:p>
            <a:pPr>
              <a:buSzPct val="100000"/>
            </a:pPr>
            <a:r>
              <a:rPr lang="en-US" sz="800" dirty="0">
                <a:solidFill>
                  <a:srgbClr val="313131"/>
                </a:solidFill>
              </a:rPr>
              <a:t>*Tangible Investments and Savings estimated over 10-year horizon</a:t>
            </a:r>
          </a:p>
        </p:txBody>
      </p:sp>
    </p:spTree>
    <p:extLst>
      <p:ext uri="{BB962C8B-B14F-4D97-AF65-F5344CB8AC3E}">
        <p14:creationId xmlns:p14="http://schemas.microsoft.com/office/powerpoint/2010/main" val="16763249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extLst>
              <p:ext uri="{D42A27DB-BD31-4B8C-83A1-F6EECF244321}">
                <p14:modId xmlns:p14="http://schemas.microsoft.com/office/powerpoint/2010/main" val="33049797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334099"/>
          </a:xfrm>
        </p:spPr>
        <p:txBody>
          <a:bodyPr/>
          <a:lstStyle/>
          <a:p>
            <a:pPr algn="just"/>
            <a:r>
              <a:rPr lang="en-US" dirty="0"/>
              <a:t>Investment costs can be optimized based on various factors</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Cost Optimization Assessment</a:t>
            </a:r>
            <a:endParaRPr lang="en-GB" dirty="0"/>
          </a:p>
        </p:txBody>
      </p:sp>
      <p:sp>
        <p:nvSpPr>
          <p:cNvPr id="27" name="Rectangle 26" hidden="1">
            <a:extLst>
              <a:ext uri="{FF2B5EF4-FFF2-40B4-BE49-F238E27FC236}">
                <a16:creationId xmlns:a16="http://schemas.microsoft.com/office/drawing/2014/main" id="{0C424A78-685D-4AD2-9957-F532F86BEC0D}"/>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1200" dirty="0">
              <a:solidFill>
                <a:schemeClr val="bg1"/>
              </a:solidFill>
              <a:cs typeface="Calibri Light" panose="020F0302020204030204" pitchFamily="34" charset="0"/>
            </a:endParaRPr>
          </a:p>
        </p:txBody>
      </p:sp>
      <p:graphicFrame>
        <p:nvGraphicFramePr>
          <p:cNvPr id="6" name="Table 6">
            <a:extLst>
              <a:ext uri="{FF2B5EF4-FFF2-40B4-BE49-F238E27FC236}">
                <a16:creationId xmlns:a16="http://schemas.microsoft.com/office/drawing/2014/main" id="{AD5DF0CF-96EB-4B4C-8845-6CD3749D5B5E}"/>
              </a:ext>
            </a:extLst>
          </p:cNvPr>
          <p:cNvGraphicFramePr>
            <a:graphicFrameLocks noGrp="1"/>
          </p:cNvGraphicFramePr>
          <p:nvPr>
            <p:extLst>
              <p:ext uri="{D42A27DB-BD31-4B8C-83A1-F6EECF244321}">
                <p14:modId xmlns:p14="http://schemas.microsoft.com/office/powerpoint/2010/main" val="1729526987"/>
              </p:ext>
            </p:extLst>
          </p:nvPr>
        </p:nvGraphicFramePr>
        <p:xfrm>
          <a:off x="501650" y="1263892"/>
          <a:ext cx="11188701" cy="5220081"/>
        </p:xfrm>
        <a:graphic>
          <a:graphicData uri="http://schemas.openxmlformats.org/drawingml/2006/table">
            <a:tbl>
              <a:tblPr firstRow="1" bandRow="1">
                <a:tableStyleId>{F2DE63D5-997A-4646-A377-4702673A728D}</a:tableStyleId>
              </a:tblPr>
              <a:tblGrid>
                <a:gridCol w="546565">
                  <a:extLst>
                    <a:ext uri="{9D8B030D-6E8A-4147-A177-3AD203B41FA5}">
                      <a16:colId xmlns:a16="http://schemas.microsoft.com/office/drawing/2014/main" val="3975281295"/>
                    </a:ext>
                  </a:extLst>
                </a:gridCol>
                <a:gridCol w="1260087">
                  <a:extLst>
                    <a:ext uri="{9D8B030D-6E8A-4147-A177-3AD203B41FA5}">
                      <a16:colId xmlns:a16="http://schemas.microsoft.com/office/drawing/2014/main" val="1363905944"/>
                    </a:ext>
                  </a:extLst>
                </a:gridCol>
                <a:gridCol w="5943600">
                  <a:extLst>
                    <a:ext uri="{9D8B030D-6E8A-4147-A177-3AD203B41FA5}">
                      <a16:colId xmlns:a16="http://schemas.microsoft.com/office/drawing/2014/main" val="1595619111"/>
                    </a:ext>
                  </a:extLst>
                </a:gridCol>
                <a:gridCol w="3438449">
                  <a:extLst>
                    <a:ext uri="{9D8B030D-6E8A-4147-A177-3AD203B41FA5}">
                      <a16:colId xmlns:a16="http://schemas.microsoft.com/office/drawing/2014/main" val="4014438584"/>
                    </a:ext>
                  </a:extLst>
                </a:gridCol>
              </a:tblGrid>
              <a:tr h="535161">
                <a:tc>
                  <a:txBody>
                    <a:bodyPr/>
                    <a:lstStyle/>
                    <a:p>
                      <a:pPr>
                        <a:lnSpc>
                          <a:spcPct val="114000"/>
                        </a:lnSpc>
                        <a:spcAft>
                          <a:spcPts val="600"/>
                        </a:spcAft>
                      </a:pPr>
                      <a:r>
                        <a:rPr lang="en-US" sz="1400" dirty="0"/>
                        <a:t>Sl. No.</a:t>
                      </a:r>
                    </a:p>
                  </a:txBody>
                  <a:tcPr/>
                </a:tc>
                <a:tc>
                  <a:txBody>
                    <a:bodyPr/>
                    <a:lstStyle/>
                    <a:p>
                      <a:pPr>
                        <a:lnSpc>
                          <a:spcPct val="114000"/>
                        </a:lnSpc>
                        <a:spcAft>
                          <a:spcPts val="600"/>
                        </a:spcAft>
                      </a:pPr>
                      <a:r>
                        <a:rPr lang="en-US" sz="1400" dirty="0"/>
                        <a:t>Aspect</a:t>
                      </a:r>
                    </a:p>
                  </a:txBody>
                  <a:tcPr/>
                </a:tc>
                <a:tc>
                  <a:txBody>
                    <a:bodyPr/>
                    <a:lstStyle/>
                    <a:p>
                      <a:pPr>
                        <a:lnSpc>
                          <a:spcPct val="114000"/>
                        </a:lnSpc>
                        <a:spcAft>
                          <a:spcPts val="600"/>
                        </a:spcAft>
                      </a:pPr>
                      <a:r>
                        <a:rPr lang="en-US" sz="1400" dirty="0"/>
                        <a:t>Optimization factors</a:t>
                      </a:r>
                    </a:p>
                  </a:txBody>
                  <a:tcPr/>
                </a:tc>
                <a:tc>
                  <a:txBody>
                    <a:bodyPr/>
                    <a:lstStyle/>
                    <a:p>
                      <a:pPr>
                        <a:lnSpc>
                          <a:spcPct val="114000"/>
                        </a:lnSpc>
                        <a:spcAft>
                          <a:spcPts val="600"/>
                        </a:spcAft>
                      </a:pPr>
                      <a:r>
                        <a:rPr lang="en-US" sz="1400" dirty="0"/>
                        <a:t>Decision Points for STELCO</a:t>
                      </a:r>
                    </a:p>
                  </a:txBody>
                  <a:tcPr/>
                </a:tc>
                <a:extLst>
                  <a:ext uri="{0D108BD9-81ED-4DB2-BD59-A6C34878D82A}">
                    <a16:rowId xmlns:a16="http://schemas.microsoft.com/office/drawing/2014/main" val="622652363"/>
                  </a:ext>
                </a:extLst>
              </a:tr>
              <a:tr h="2281271">
                <a:tc>
                  <a:txBody>
                    <a:bodyPr/>
                    <a:lstStyle/>
                    <a:p>
                      <a:pPr>
                        <a:lnSpc>
                          <a:spcPct val="114000"/>
                        </a:lnSpc>
                        <a:spcAft>
                          <a:spcPts val="600"/>
                        </a:spcAft>
                      </a:pPr>
                      <a:r>
                        <a:rPr lang="en-US" sz="1400" dirty="0"/>
                        <a:t>1</a:t>
                      </a:r>
                    </a:p>
                  </a:txBody>
                  <a:tcPr/>
                </a:tc>
                <a:tc>
                  <a:txBody>
                    <a:bodyPr/>
                    <a:lstStyle/>
                    <a:p>
                      <a:pPr>
                        <a:lnSpc>
                          <a:spcPct val="114000"/>
                        </a:lnSpc>
                        <a:spcAft>
                          <a:spcPts val="600"/>
                        </a:spcAft>
                      </a:pPr>
                      <a:r>
                        <a:rPr lang="en-US" sz="1400" b="1" dirty="0"/>
                        <a:t>License Cost and Annual Technical Services</a:t>
                      </a:r>
                    </a:p>
                  </a:txBody>
                  <a:tcPr/>
                </a:tc>
                <a:tc>
                  <a:txBody>
                    <a:bodyPr/>
                    <a:lstStyle/>
                    <a:p>
                      <a:pPr marL="285750" indent="-285750">
                        <a:lnSpc>
                          <a:spcPct val="114000"/>
                        </a:lnSpc>
                        <a:spcAft>
                          <a:spcPts val="600"/>
                        </a:spcAft>
                        <a:buFont typeface="Arial" panose="020B0604020202020204" pitchFamily="34" charset="0"/>
                        <a:buChar char="•"/>
                      </a:pPr>
                      <a:r>
                        <a:rPr lang="en-US" sz="1400" dirty="0"/>
                        <a:t>Selection of ERP Modules (will phase the costs)</a:t>
                      </a:r>
                    </a:p>
                    <a:p>
                      <a:pPr marL="285750" indent="-285750">
                        <a:lnSpc>
                          <a:spcPct val="114000"/>
                        </a:lnSpc>
                        <a:spcAft>
                          <a:spcPts val="600"/>
                        </a:spcAft>
                        <a:buFont typeface="Arial" panose="020B0604020202020204" pitchFamily="34" charset="0"/>
                        <a:buChar char="•"/>
                      </a:pPr>
                      <a:r>
                        <a:rPr lang="en-US" sz="1400" dirty="0"/>
                        <a:t>Implementation Phasing Strategy by location / islands (will phase the costs)</a:t>
                      </a:r>
                    </a:p>
                    <a:p>
                      <a:pPr marL="285750" indent="-285750">
                        <a:lnSpc>
                          <a:spcPct val="114000"/>
                        </a:lnSpc>
                        <a:spcAft>
                          <a:spcPts val="600"/>
                        </a:spcAft>
                        <a:buFont typeface="Arial" panose="020B0604020202020204" pitchFamily="34" charset="0"/>
                        <a:buChar char="•"/>
                      </a:pPr>
                      <a:r>
                        <a:rPr lang="en-US" sz="1400" dirty="0"/>
                        <a:t>Detailed User Access Assessment – and need for licenses  (will reduce the costs)</a:t>
                      </a:r>
                    </a:p>
                    <a:p>
                      <a:pPr marL="285750" indent="-285750">
                        <a:lnSpc>
                          <a:spcPct val="114000"/>
                        </a:lnSpc>
                        <a:spcAft>
                          <a:spcPts val="600"/>
                        </a:spcAft>
                        <a:buFont typeface="Arial" panose="020B0604020202020204" pitchFamily="34" charset="0"/>
                        <a:buChar char="•"/>
                      </a:pPr>
                      <a:r>
                        <a:rPr lang="en-US" sz="1400" dirty="0"/>
                        <a:t>Selection of Tier 2 / Tier 3 ERP Vendors  (will reduce the costs)</a:t>
                      </a:r>
                    </a:p>
                    <a:p>
                      <a:pPr marL="285750" indent="-285750">
                        <a:lnSpc>
                          <a:spcPct val="114000"/>
                        </a:lnSpc>
                        <a:spcAft>
                          <a:spcPts val="600"/>
                        </a:spcAft>
                        <a:buFont typeface="Arial" panose="020B0604020202020204" pitchFamily="34" charset="0"/>
                        <a:buChar char="•"/>
                      </a:pPr>
                      <a:r>
                        <a:rPr lang="en-US" sz="1400" dirty="0"/>
                        <a:t>Ensuring Competition amongst Tier 1 players</a:t>
                      </a:r>
                    </a:p>
                    <a:p>
                      <a:pPr marL="285750" indent="-285750">
                        <a:lnSpc>
                          <a:spcPct val="114000"/>
                        </a:lnSpc>
                        <a:spcAft>
                          <a:spcPts val="600"/>
                        </a:spcAft>
                        <a:buFont typeface="Arial" panose="020B0604020202020204" pitchFamily="34" charset="0"/>
                        <a:buChar char="•"/>
                      </a:pPr>
                      <a:r>
                        <a:rPr lang="en-US" sz="1400" dirty="0"/>
                        <a:t>Reduced License costs entails reduced ATS costs as it is a fixed percentage of license costs</a:t>
                      </a:r>
                    </a:p>
                  </a:txBody>
                  <a:tcPr/>
                </a:tc>
                <a:tc>
                  <a:txBody>
                    <a:bodyPr/>
                    <a:lstStyle/>
                    <a:p>
                      <a:pPr marL="285750" indent="-285750">
                        <a:lnSpc>
                          <a:spcPct val="114000"/>
                        </a:lnSpc>
                        <a:spcAft>
                          <a:spcPts val="600"/>
                        </a:spcAft>
                        <a:buFont typeface="Arial" panose="020B0604020202020204" pitchFamily="34" charset="0"/>
                        <a:buChar char="•"/>
                      </a:pPr>
                      <a:r>
                        <a:rPr lang="en-US" sz="1400" dirty="0"/>
                        <a:t>Big Bang or phased modular approach?</a:t>
                      </a:r>
                    </a:p>
                    <a:p>
                      <a:pPr marL="285750" indent="-285750">
                        <a:lnSpc>
                          <a:spcPct val="114000"/>
                        </a:lnSpc>
                        <a:spcAft>
                          <a:spcPts val="600"/>
                        </a:spcAft>
                        <a:buFont typeface="Arial" panose="020B0604020202020204" pitchFamily="34" charset="0"/>
                        <a:buChar char="•"/>
                      </a:pPr>
                      <a:r>
                        <a:rPr lang="en-US" sz="1400" dirty="0"/>
                        <a:t>Male and some islands first and rest thereafter?</a:t>
                      </a:r>
                    </a:p>
                    <a:p>
                      <a:pPr marL="285750" indent="-285750">
                        <a:lnSpc>
                          <a:spcPct val="114000"/>
                        </a:lnSpc>
                        <a:spcAft>
                          <a:spcPts val="600"/>
                        </a:spcAft>
                        <a:buFont typeface="Arial" panose="020B0604020202020204" pitchFamily="34" charset="0"/>
                        <a:buChar char="•"/>
                      </a:pPr>
                      <a:r>
                        <a:rPr lang="en-US" sz="1400" dirty="0"/>
                        <a:t>Does STLECO need 527 licenses (for all Senior and support staff)?</a:t>
                      </a:r>
                    </a:p>
                    <a:p>
                      <a:pPr marL="285750" indent="-285750">
                        <a:lnSpc>
                          <a:spcPct val="114000"/>
                        </a:lnSpc>
                        <a:spcAft>
                          <a:spcPts val="600"/>
                        </a:spcAft>
                        <a:buFont typeface="Arial" panose="020B0604020202020204" pitchFamily="34" charset="0"/>
                        <a:buChar char="•"/>
                      </a:pPr>
                      <a:r>
                        <a:rPr lang="en-US" sz="1400" dirty="0"/>
                        <a:t>STELCO desirous of Tier 1 products like SAP or Oracle</a:t>
                      </a:r>
                    </a:p>
                    <a:p>
                      <a:pPr marL="742950" lvl="1" indent="-285750">
                        <a:lnSpc>
                          <a:spcPct val="114000"/>
                        </a:lnSpc>
                        <a:spcAft>
                          <a:spcPts val="600"/>
                        </a:spcAft>
                        <a:buFont typeface="Arial" panose="020B0604020202020204" pitchFamily="34" charset="0"/>
                        <a:buChar char="•"/>
                      </a:pPr>
                      <a:r>
                        <a:rPr lang="en-US" sz="1400" dirty="0"/>
                        <a:t>With Billing and CRM solution?</a:t>
                      </a:r>
                    </a:p>
                  </a:txBody>
                  <a:tcPr/>
                </a:tc>
                <a:extLst>
                  <a:ext uri="{0D108BD9-81ED-4DB2-BD59-A6C34878D82A}">
                    <a16:rowId xmlns:a16="http://schemas.microsoft.com/office/drawing/2014/main" val="1745805812"/>
                  </a:ext>
                </a:extLst>
              </a:tr>
              <a:tr h="2208968">
                <a:tc>
                  <a:txBody>
                    <a:bodyPr/>
                    <a:lstStyle/>
                    <a:p>
                      <a:pPr>
                        <a:lnSpc>
                          <a:spcPct val="114000"/>
                        </a:lnSpc>
                        <a:spcAft>
                          <a:spcPts val="600"/>
                        </a:spcAft>
                      </a:pPr>
                      <a:r>
                        <a:rPr lang="en-US" sz="1400" dirty="0"/>
                        <a:t>3</a:t>
                      </a:r>
                    </a:p>
                  </a:txBody>
                  <a:tcPr/>
                </a:tc>
                <a:tc>
                  <a:txBody>
                    <a:bodyPr/>
                    <a:lstStyle/>
                    <a:p>
                      <a:pPr>
                        <a:lnSpc>
                          <a:spcPct val="114000"/>
                        </a:lnSpc>
                        <a:spcAft>
                          <a:spcPts val="600"/>
                        </a:spcAft>
                      </a:pPr>
                      <a:r>
                        <a:rPr lang="en-US" sz="1400" b="1" dirty="0"/>
                        <a:t>Hardware Implementation Model</a:t>
                      </a:r>
                    </a:p>
                  </a:txBody>
                  <a:tcPr/>
                </a:tc>
                <a:tc>
                  <a:txBody>
                    <a:bodyPr/>
                    <a:lstStyle/>
                    <a:p>
                      <a:pPr marL="285750" indent="-285750" algn="l" defTabSz="914400" rtl="0" eaLnBrk="1" latinLnBrk="0" hangingPunct="1">
                        <a:lnSpc>
                          <a:spcPct val="114000"/>
                        </a:lnSpc>
                        <a:spcAft>
                          <a:spcPts val="600"/>
                        </a:spcAft>
                        <a:buFont typeface="Arial" panose="020B0604020202020204" pitchFamily="34" charset="0"/>
                        <a:buChar char="•"/>
                      </a:pPr>
                      <a:r>
                        <a:rPr lang="en-US" sz="1400" kern="1200" dirty="0"/>
                        <a:t>Moving to Cloud Based Model can lead to direct savings of USD 1.72 Mn in Cost (USD 8,70,000 x2) for Data Center and Disaster Recovery Hardware requirement. However, there would be rental costs for:</a:t>
                      </a:r>
                    </a:p>
                    <a:p>
                      <a:pPr marL="742950" lvl="1" indent="-285750" algn="l" defTabSz="914400" rtl="0" eaLnBrk="1" latinLnBrk="0" hangingPunct="1">
                        <a:lnSpc>
                          <a:spcPct val="114000"/>
                        </a:lnSpc>
                        <a:spcAft>
                          <a:spcPts val="600"/>
                        </a:spcAft>
                        <a:buFont typeface="Arial" panose="020B0604020202020204" pitchFamily="34" charset="0"/>
                        <a:buChar char="•"/>
                      </a:pPr>
                      <a:r>
                        <a:rPr lang="en-US" sz="1400" kern="1200" dirty="0"/>
                        <a:t>the cloud access (storage and utilization)</a:t>
                      </a:r>
                    </a:p>
                    <a:p>
                      <a:pPr marL="742950" lvl="1" indent="-285750" algn="l" defTabSz="914400" rtl="0" eaLnBrk="1" latinLnBrk="0" hangingPunct="1">
                        <a:lnSpc>
                          <a:spcPct val="114000"/>
                        </a:lnSpc>
                        <a:spcAft>
                          <a:spcPts val="600"/>
                        </a:spcAft>
                        <a:buFont typeface="Arial" panose="020B0604020202020204" pitchFamily="34" charset="0"/>
                        <a:buChar char="•"/>
                      </a:pPr>
                      <a:r>
                        <a:rPr lang="en-US" sz="1400" kern="1200" dirty="0"/>
                        <a:t>investments for connectivity to the cloud</a:t>
                      </a:r>
                    </a:p>
                    <a:p>
                      <a:pPr marL="285750" marR="0" lvl="0" indent="-285750" algn="l" defTabSz="914400" rtl="0" eaLnBrk="1" fontAlgn="auto" latinLnBrk="0" hangingPunct="1">
                        <a:lnSpc>
                          <a:spcPct val="114000"/>
                        </a:lnSpc>
                        <a:spcBef>
                          <a:spcPts val="0"/>
                        </a:spcBef>
                        <a:spcAft>
                          <a:spcPts val="600"/>
                        </a:spcAft>
                        <a:buClrTx/>
                        <a:buSzTx/>
                        <a:buFont typeface="Arial" panose="020B0604020202020204" pitchFamily="34" charset="0"/>
                        <a:buChar char="•"/>
                        <a:tabLst/>
                        <a:defRPr/>
                      </a:pPr>
                      <a:r>
                        <a:rPr lang="en-US" sz="1400" kern="1200" dirty="0"/>
                        <a:t>Hybrid models can also be assessed (Data Center – Physical / On Premise and Disaster Recovery – Cloud or vice versa)</a:t>
                      </a:r>
                    </a:p>
                  </a:txBody>
                  <a:tcPr/>
                </a:tc>
                <a:tc>
                  <a:txBody>
                    <a:bodyPr/>
                    <a:lstStyle/>
                    <a:p>
                      <a:pPr marL="285750" indent="-285750" algn="l" defTabSz="914400" rtl="0" eaLnBrk="1" latinLnBrk="0" hangingPunct="1">
                        <a:lnSpc>
                          <a:spcPct val="114000"/>
                        </a:lnSpc>
                        <a:spcAft>
                          <a:spcPts val="600"/>
                        </a:spcAft>
                        <a:buFont typeface="Arial" panose="020B0604020202020204" pitchFamily="34" charset="0"/>
                        <a:buChar char="•"/>
                      </a:pPr>
                      <a:r>
                        <a:rPr lang="en-US" sz="1400" kern="1200" dirty="0">
                          <a:solidFill>
                            <a:schemeClr val="dk1"/>
                          </a:solidFill>
                          <a:latin typeface="+mn-lt"/>
                          <a:ea typeface="+mn-ea"/>
                          <a:cs typeface="+mn-cs"/>
                        </a:rPr>
                        <a:t>Hardware on cloud is essentially a CAPEX v/s OPEX decision. Further supported by benefits of the cloud:</a:t>
                      </a:r>
                    </a:p>
                    <a:p>
                      <a:pPr marL="285750" indent="-285750" algn="l" defTabSz="914400" rtl="0" eaLnBrk="1" latinLnBrk="0" hangingPunct="1">
                        <a:lnSpc>
                          <a:spcPct val="114000"/>
                        </a:lnSpc>
                        <a:spcAft>
                          <a:spcPts val="600"/>
                        </a:spcAft>
                        <a:buFont typeface="Arial" panose="020B0604020202020204" pitchFamily="34" charset="0"/>
                        <a:buChar char="•"/>
                      </a:pPr>
                      <a:r>
                        <a:rPr lang="en-US" sz="1400" kern="1200" dirty="0">
                          <a:solidFill>
                            <a:schemeClr val="dk1"/>
                          </a:solidFill>
                          <a:latin typeface="+mn-lt"/>
                          <a:ea typeface="+mn-ea"/>
                          <a:cs typeface="+mn-cs"/>
                        </a:rPr>
                        <a:t>No separate HW or data centre maintenance </a:t>
                      </a:r>
                    </a:p>
                    <a:p>
                      <a:pPr marL="285750" indent="-285750" algn="l" defTabSz="914400" rtl="0" eaLnBrk="1" latinLnBrk="0" hangingPunct="1">
                        <a:lnSpc>
                          <a:spcPct val="114000"/>
                        </a:lnSpc>
                        <a:spcAft>
                          <a:spcPts val="600"/>
                        </a:spcAft>
                        <a:buFont typeface="Arial" panose="020B0604020202020204" pitchFamily="34" charset="0"/>
                        <a:buChar char="•"/>
                      </a:pPr>
                      <a:r>
                        <a:rPr lang="en-US" sz="1400" kern="1200" dirty="0">
                          <a:solidFill>
                            <a:schemeClr val="dk1"/>
                          </a:solidFill>
                          <a:latin typeface="+mn-lt"/>
                          <a:ea typeface="+mn-ea"/>
                          <a:cs typeface="+mn-cs"/>
                        </a:rPr>
                        <a:t>Easy ramping up of infrastructure whenever required</a:t>
                      </a:r>
                    </a:p>
                    <a:p>
                      <a:pPr marL="285750" indent="-285750" algn="l" defTabSz="914400" rtl="0" eaLnBrk="1" latinLnBrk="0" hangingPunct="1">
                        <a:lnSpc>
                          <a:spcPct val="114000"/>
                        </a:lnSpc>
                        <a:spcAft>
                          <a:spcPts val="600"/>
                        </a:spcAft>
                        <a:buFont typeface="Arial" panose="020B0604020202020204" pitchFamily="34" charset="0"/>
                        <a:buChar char="•"/>
                      </a:pPr>
                      <a:r>
                        <a:rPr lang="en-US" sz="1400" kern="1200" dirty="0">
                          <a:solidFill>
                            <a:schemeClr val="dk1"/>
                          </a:solidFill>
                          <a:latin typeface="+mn-lt"/>
                          <a:ea typeface="+mn-ea"/>
                          <a:cs typeface="+mn-cs"/>
                        </a:rPr>
                        <a:t>No re-fresh required every 5-6 years</a:t>
                      </a:r>
                    </a:p>
                  </a:txBody>
                  <a:tcPr/>
                </a:tc>
                <a:extLst>
                  <a:ext uri="{0D108BD9-81ED-4DB2-BD59-A6C34878D82A}">
                    <a16:rowId xmlns:a16="http://schemas.microsoft.com/office/drawing/2014/main" val="3671410152"/>
                  </a:ext>
                </a:extLst>
              </a:tr>
            </a:tbl>
          </a:graphicData>
        </a:graphic>
      </p:graphicFrame>
      <p:sp>
        <p:nvSpPr>
          <p:cNvPr id="7" name="Text Placeholder 1">
            <a:extLst>
              <a:ext uri="{FF2B5EF4-FFF2-40B4-BE49-F238E27FC236}">
                <a16:creationId xmlns:a16="http://schemas.microsoft.com/office/drawing/2014/main" id="{1FD4E17C-7AB0-4F49-AF47-DBA56D75A5C5}"/>
              </a:ext>
            </a:extLst>
          </p:cNvPr>
          <p:cNvSpPr txBox="1">
            <a:spLocks/>
          </p:cNvSpPr>
          <p:nvPr/>
        </p:nvSpPr>
        <p:spPr>
          <a:xfrm>
            <a:off x="497935" y="993573"/>
            <a:ext cx="11188700" cy="334099"/>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just"/>
            <a:r>
              <a:rPr lang="en-US" sz="1400" dirty="0"/>
              <a:t>Investment costs estimates are worked out assuming maximum levels for each type of costs. These can be optimized by:</a:t>
            </a:r>
          </a:p>
        </p:txBody>
      </p:sp>
    </p:spTree>
    <p:extLst>
      <p:ext uri="{BB962C8B-B14F-4D97-AF65-F5344CB8AC3E}">
        <p14:creationId xmlns:p14="http://schemas.microsoft.com/office/powerpoint/2010/main" val="200968972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DB8768C5-F5D3-4AA4-B9DC-F1531888E79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30" imgH="531" progId="TCLayout.ActiveDocument.1">
                  <p:embed/>
                </p:oleObj>
              </mc:Choice>
              <mc:Fallback>
                <p:oleObj name="think-cell Slide" r:id="rId5" imgW="530" imgH="531" progId="TCLayout.ActiveDocument.1">
                  <p:embed/>
                  <p:pic>
                    <p:nvPicPr>
                      <p:cNvPr id="7" name="Object 6" hidden="1">
                        <a:extLst>
                          <a:ext uri="{FF2B5EF4-FFF2-40B4-BE49-F238E27FC236}">
                            <a16:creationId xmlns:a16="http://schemas.microsoft.com/office/drawing/2014/main" id="{DB8768C5-F5D3-4AA4-B9DC-F1531888E79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0" name="Rectangle 9" hidden="1">
            <a:extLst>
              <a:ext uri="{FF2B5EF4-FFF2-40B4-BE49-F238E27FC236}">
                <a16:creationId xmlns:a16="http://schemas.microsoft.com/office/drawing/2014/main" id="{7D6AF2CF-F743-4D7E-8E62-E7F58FB9F075}"/>
              </a:ext>
            </a:extLst>
          </p:cNvPr>
          <p:cNvSpPr/>
          <p:nvPr>
            <p:custDataLst>
              <p:tags r:id="rId2"/>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Light" panose="020F0302020204030204" pitchFamily="34" charset="0"/>
              <a:sym typeface="Calibri" panose="020F0502020204030204" pitchFamily="34" charset="0"/>
            </a:endParaRPr>
          </a:p>
        </p:txBody>
      </p:sp>
      <p:sp>
        <p:nvSpPr>
          <p:cNvPr id="8" name="Text Placeholder 1">
            <a:extLst>
              <a:ext uri="{FF2B5EF4-FFF2-40B4-BE49-F238E27FC236}">
                <a16:creationId xmlns:a16="http://schemas.microsoft.com/office/drawing/2014/main" id="{4400732C-C579-4226-B421-251EA9036DD1}"/>
              </a:ext>
            </a:extLst>
          </p:cNvPr>
          <p:cNvSpPr>
            <a:spLocks noGrp="1"/>
          </p:cNvSpPr>
          <p:nvPr>
            <p:ph type="body" sz="quarter" idx="13"/>
          </p:nvPr>
        </p:nvSpPr>
        <p:spPr>
          <a:xfrm>
            <a:off x="501650" y="640584"/>
            <a:ext cx="11188700" cy="757255"/>
          </a:xfrm>
        </p:spPr>
        <p:txBody>
          <a:bodyPr/>
          <a:lstStyle/>
          <a:p>
            <a:pPr algn="just"/>
            <a:r>
              <a:rPr lang="en-US" dirty="0"/>
              <a:t>The Decision making tree for ERP design</a:t>
            </a:r>
            <a:endParaRPr lang="en-IN" b="1" dirty="0"/>
          </a:p>
        </p:txBody>
      </p:sp>
      <p:graphicFrame>
        <p:nvGraphicFramePr>
          <p:cNvPr id="2" name="Diagram 1">
            <a:extLst>
              <a:ext uri="{FF2B5EF4-FFF2-40B4-BE49-F238E27FC236}">
                <a16:creationId xmlns:a16="http://schemas.microsoft.com/office/drawing/2014/main" id="{0C4EA145-5BF6-4D6A-9D59-DAB6310A9C00}"/>
              </a:ext>
            </a:extLst>
          </p:cNvPr>
          <p:cNvGraphicFramePr/>
          <p:nvPr/>
        </p:nvGraphicFramePr>
        <p:xfrm>
          <a:off x="501650" y="1258833"/>
          <a:ext cx="11188700" cy="497393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 name="Title 3">
            <a:extLst>
              <a:ext uri="{FF2B5EF4-FFF2-40B4-BE49-F238E27FC236}">
                <a16:creationId xmlns:a16="http://schemas.microsoft.com/office/drawing/2014/main" id="{ADD2EDA5-7AA8-469A-A118-9E0491B189D0}"/>
              </a:ext>
            </a:extLst>
          </p:cNvPr>
          <p:cNvSpPr>
            <a:spLocks noGrp="1"/>
          </p:cNvSpPr>
          <p:nvPr>
            <p:ph type="title"/>
          </p:nvPr>
        </p:nvSpPr>
        <p:spPr/>
        <p:txBody>
          <a:bodyPr vert="horz"/>
          <a:lstStyle/>
          <a:p>
            <a:r>
              <a:rPr lang="en-US" dirty="0"/>
              <a:t>ERP Roadmap</a:t>
            </a:r>
          </a:p>
        </p:txBody>
      </p:sp>
    </p:spTree>
    <p:extLst>
      <p:ext uri="{BB962C8B-B14F-4D97-AF65-F5344CB8AC3E}">
        <p14:creationId xmlns:p14="http://schemas.microsoft.com/office/powerpoint/2010/main" val="412893336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98" imgH="499" progId="TCLayout.ActiveDocument.1">
                  <p:embed/>
                </p:oleObj>
              </mc:Choice>
              <mc:Fallback>
                <p:oleObj name="think-cell Slide" r:id="rId3"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334099"/>
          </a:xfrm>
        </p:spPr>
        <p:txBody>
          <a:bodyPr/>
          <a:lstStyle/>
          <a:p>
            <a:pPr algn="just"/>
            <a:r>
              <a:rPr lang="en-US" dirty="0"/>
              <a:t>Risks in ERP procurement and implementation can be mitigated by a series of well thought of steps / measures</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Challenges in ERP Implementation and Risk Mitigation Steps</a:t>
            </a:r>
            <a:endParaRPr lang="en-GB" dirty="0"/>
          </a:p>
        </p:txBody>
      </p:sp>
      <p:sp>
        <p:nvSpPr>
          <p:cNvPr id="27" name="Rectangle 26" hidden="1">
            <a:extLst>
              <a:ext uri="{FF2B5EF4-FFF2-40B4-BE49-F238E27FC236}">
                <a16:creationId xmlns:a16="http://schemas.microsoft.com/office/drawing/2014/main" id="{0C424A78-685D-4AD2-9957-F532F86BEC0D}"/>
              </a:ext>
            </a:extLst>
          </p:cNvPr>
          <p:cNvSpPr/>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algn="ctr">
              <a:lnSpc>
                <a:spcPct val="106000"/>
              </a:lnSpc>
            </a:pPr>
            <a:endParaRPr lang="en-US" sz="1200" dirty="0">
              <a:solidFill>
                <a:schemeClr val="bg1"/>
              </a:solidFill>
              <a:cs typeface="Calibri Light" panose="020F0302020204030204" pitchFamily="34" charset="0"/>
            </a:endParaRPr>
          </a:p>
        </p:txBody>
      </p:sp>
      <p:graphicFrame>
        <p:nvGraphicFramePr>
          <p:cNvPr id="6" name="Table 6">
            <a:extLst>
              <a:ext uri="{FF2B5EF4-FFF2-40B4-BE49-F238E27FC236}">
                <a16:creationId xmlns:a16="http://schemas.microsoft.com/office/drawing/2014/main" id="{AD5DF0CF-96EB-4B4C-8845-6CD3749D5B5E}"/>
              </a:ext>
            </a:extLst>
          </p:cNvPr>
          <p:cNvGraphicFramePr>
            <a:graphicFrameLocks noGrp="1"/>
          </p:cNvGraphicFramePr>
          <p:nvPr>
            <p:extLst>
              <p:ext uri="{D42A27DB-BD31-4B8C-83A1-F6EECF244321}">
                <p14:modId xmlns:p14="http://schemas.microsoft.com/office/powerpoint/2010/main" val="2817825785"/>
              </p:ext>
            </p:extLst>
          </p:nvPr>
        </p:nvGraphicFramePr>
        <p:xfrm>
          <a:off x="245328" y="1085473"/>
          <a:ext cx="11445023" cy="5332676"/>
        </p:xfrm>
        <a:graphic>
          <a:graphicData uri="http://schemas.openxmlformats.org/drawingml/2006/table">
            <a:tbl>
              <a:tblPr firstRow="1" bandRow="1">
                <a:tableStyleId>{F2DE63D5-997A-4646-A377-4702673A728D}</a:tableStyleId>
              </a:tblPr>
              <a:tblGrid>
                <a:gridCol w="512955">
                  <a:extLst>
                    <a:ext uri="{9D8B030D-6E8A-4147-A177-3AD203B41FA5}">
                      <a16:colId xmlns:a16="http://schemas.microsoft.com/office/drawing/2014/main" val="3975281295"/>
                    </a:ext>
                  </a:extLst>
                </a:gridCol>
                <a:gridCol w="1260088">
                  <a:extLst>
                    <a:ext uri="{9D8B030D-6E8A-4147-A177-3AD203B41FA5}">
                      <a16:colId xmlns:a16="http://schemas.microsoft.com/office/drawing/2014/main" val="1363905944"/>
                    </a:ext>
                  </a:extLst>
                </a:gridCol>
                <a:gridCol w="4705814">
                  <a:extLst>
                    <a:ext uri="{9D8B030D-6E8A-4147-A177-3AD203B41FA5}">
                      <a16:colId xmlns:a16="http://schemas.microsoft.com/office/drawing/2014/main" val="1595619111"/>
                    </a:ext>
                  </a:extLst>
                </a:gridCol>
                <a:gridCol w="4966166">
                  <a:extLst>
                    <a:ext uri="{9D8B030D-6E8A-4147-A177-3AD203B41FA5}">
                      <a16:colId xmlns:a16="http://schemas.microsoft.com/office/drawing/2014/main" val="4014438584"/>
                    </a:ext>
                  </a:extLst>
                </a:gridCol>
              </a:tblGrid>
              <a:tr h="535161">
                <a:tc>
                  <a:txBody>
                    <a:bodyPr/>
                    <a:lstStyle/>
                    <a:p>
                      <a:pPr>
                        <a:lnSpc>
                          <a:spcPct val="114000"/>
                        </a:lnSpc>
                        <a:spcAft>
                          <a:spcPts val="600"/>
                        </a:spcAft>
                      </a:pPr>
                      <a:r>
                        <a:rPr lang="en-US" sz="1400" dirty="0"/>
                        <a:t>Sl. No.</a:t>
                      </a:r>
                    </a:p>
                  </a:txBody>
                  <a:tcPr/>
                </a:tc>
                <a:tc>
                  <a:txBody>
                    <a:bodyPr/>
                    <a:lstStyle/>
                    <a:p>
                      <a:pPr>
                        <a:lnSpc>
                          <a:spcPct val="114000"/>
                        </a:lnSpc>
                        <a:spcAft>
                          <a:spcPts val="600"/>
                        </a:spcAft>
                      </a:pPr>
                      <a:r>
                        <a:rPr lang="en-US" sz="1400" dirty="0"/>
                        <a:t>Aspect</a:t>
                      </a:r>
                    </a:p>
                  </a:txBody>
                  <a:tcPr/>
                </a:tc>
                <a:tc>
                  <a:txBody>
                    <a:bodyPr/>
                    <a:lstStyle/>
                    <a:p>
                      <a:pPr>
                        <a:lnSpc>
                          <a:spcPct val="114000"/>
                        </a:lnSpc>
                        <a:spcAft>
                          <a:spcPts val="600"/>
                        </a:spcAft>
                      </a:pPr>
                      <a:r>
                        <a:rPr lang="en-US" sz="1400" dirty="0"/>
                        <a:t>Risk factors</a:t>
                      </a:r>
                    </a:p>
                  </a:txBody>
                  <a:tcPr/>
                </a:tc>
                <a:tc>
                  <a:txBody>
                    <a:bodyPr/>
                    <a:lstStyle/>
                    <a:p>
                      <a:pPr>
                        <a:lnSpc>
                          <a:spcPct val="114000"/>
                        </a:lnSpc>
                        <a:spcAft>
                          <a:spcPts val="600"/>
                        </a:spcAft>
                      </a:pPr>
                      <a:r>
                        <a:rPr lang="en-US" sz="1400" dirty="0"/>
                        <a:t>Mitigation steps</a:t>
                      </a:r>
                    </a:p>
                  </a:txBody>
                  <a:tcPr/>
                </a:tc>
                <a:extLst>
                  <a:ext uri="{0D108BD9-81ED-4DB2-BD59-A6C34878D82A}">
                    <a16:rowId xmlns:a16="http://schemas.microsoft.com/office/drawing/2014/main" val="622652363"/>
                  </a:ext>
                </a:extLst>
              </a:tr>
              <a:tr h="2030422">
                <a:tc>
                  <a:txBody>
                    <a:bodyPr/>
                    <a:lstStyle/>
                    <a:p>
                      <a:pPr>
                        <a:lnSpc>
                          <a:spcPct val="114000"/>
                        </a:lnSpc>
                        <a:spcAft>
                          <a:spcPts val="600"/>
                        </a:spcAft>
                      </a:pPr>
                      <a:r>
                        <a:rPr lang="en-US" sz="1400" dirty="0"/>
                        <a:t>1</a:t>
                      </a:r>
                    </a:p>
                  </a:txBody>
                  <a:tcPr/>
                </a:tc>
                <a:tc>
                  <a:txBody>
                    <a:bodyPr/>
                    <a:lstStyle/>
                    <a:p>
                      <a:pPr>
                        <a:lnSpc>
                          <a:spcPct val="114000"/>
                        </a:lnSpc>
                        <a:spcAft>
                          <a:spcPts val="600"/>
                        </a:spcAft>
                      </a:pPr>
                      <a:r>
                        <a:rPr lang="en-US" sz="1400" b="1" dirty="0"/>
                        <a:t>Difficulty of implementing ERP in Maldives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Global ERP products availability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400"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Availability of Tier 1 ERP Implementation partners / Hardware vendors in Maldives for Implementation and support of the ERP </a:t>
                      </a:r>
                    </a:p>
                    <a:p>
                      <a:pPr marL="285750" indent="-285750">
                        <a:lnSpc>
                          <a:spcPct val="100000"/>
                        </a:lnSpc>
                        <a:spcAft>
                          <a:spcPts val="0"/>
                        </a:spcAft>
                        <a:buFont typeface="Arial" panose="020B0604020202020204" pitchFamily="34" charset="0"/>
                        <a:buChar char="•"/>
                      </a:pPr>
                      <a:endParaRPr lang="en-US" sz="1400" dirty="0"/>
                    </a:p>
                    <a:p>
                      <a:pPr marL="285750" indent="-285750">
                        <a:lnSpc>
                          <a:spcPct val="100000"/>
                        </a:lnSpc>
                        <a:spcAft>
                          <a:spcPts val="0"/>
                        </a:spcAft>
                        <a:buFont typeface="Arial" panose="020B0604020202020204" pitchFamily="34" charset="0"/>
                        <a:buChar char="•"/>
                      </a:pPr>
                      <a:endParaRPr lang="en-US" sz="1400" dirty="0"/>
                    </a:p>
                    <a:p>
                      <a:pPr marL="0" indent="0">
                        <a:lnSpc>
                          <a:spcPct val="100000"/>
                        </a:lnSpc>
                        <a:spcAft>
                          <a:spcPts val="0"/>
                        </a:spcAft>
                        <a:buFont typeface="Arial" panose="020B0604020202020204" pitchFamily="34" charset="0"/>
                        <a:buNone/>
                      </a:pPr>
                      <a:endParaRPr lang="en-US" sz="1400" dirty="0"/>
                    </a:p>
                  </a:txBody>
                  <a:tcPr/>
                </a:tc>
                <a:tc>
                  <a:txBody>
                    <a:bodyPr/>
                    <a:lstStyle/>
                    <a:p>
                      <a:pPr marL="285750" indent="-285750">
                        <a:lnSpc>
                          <a:spcPct val="100000"/>
                        </a:lnSpc>
                        <a:spcAft>
                          <a:spcPts val="0"/>
                        </a:spcAft>
                        <a:buFont typeface="Arial" panose="020B0604020202020204" pitchFamily="34" charset="0"/>
                        <a:buChar char="•"/>
                      </a:pPr>
                      <a:r>
                        <a:rPr lang="en-US" sz="1400" dirty="0"/>
                        <a:t>Global ERP products like SAP or Oracle or Microsoft Dynamics has been implemented in Maldives</a:t>
                      </a:r>
                    </a:p>
                    <a:p>
                      <a:pPr marL="285750" indent="-285750">
                        <a:lnSpc>
                          <a:spcPct val="100000"/>
                        </a:lnSpc>
                        <a:spcAft>
                          <a:spcPts val="0"/>
                        </a:spcAft>
                        <a:buFont typeface="Arial" panose="020B0604020202020204" pitchFamily="34" charset="0"/>
                        <a:buChar char="•"/>
                      </a:pPr>
                      <a:endParaRPr lang="en-US" sz="1400" dirty="0"/>
                    </a:p>
                    <a:p>
                      <a:pPr marL="285750" indent="-285750">
                        <a:lnSpc>
                          <a:spcPct val="100000"/>
                        </a:lnSpc>
                        <a:spcAft>
                          <a:spcPts val="600"/>
                        </a:spcAft>
                        <a:buFont typeface="Arial" panose="020B0604020202020204" pitchFamily="34" charset="0"/>
                        <a:buChar char="•"/>
                      </a:pPr>
                      <a:r>
                        <a:rPr lang="en-US" sz="1400" dirty="0"/>
                        <a:t>Well established ERP Implementation Partners based out of Sri Lanka and India are available for Maldives and can provide a cost efficient onsite / offsite cost model</a:t>
                      </a:r>
                    </a:p>
                    <a:p>
                      <a:pPr marL="285750" indent="-285750">
                        <a:lnSpc>
                          <a:spcPct val="100000"/>
                        </a:lnSpc>
                        <a:spcAft>
                          <a:spcPts val="600"/>
                        </a:spcAft>
                        <a:buFont typeface="Arial" panose="020B0604020202020204" pitchFamily="34" charset="0"/>
                        <a:buChar char="•"/>
                      </a:pPr>
                      <a:r>
                        <a:rPr lang="en-US" sz="1400" kern="1200" dirty="0">
                          <a:solidFill>
                            <a:schemeClr val="tx1"/>
                          </a:solidFill>
                          <a:latin typeface="+mn-lt"/>
                          <a:ea typeface="+mn-ea"/>
                          <a:cs typeface="+mn-cs"/>
                        </a:rPr>
                        <a:t>ERP product vendors offer 24 X 7 support</a:t>
                      </a:r>
                    </a:p>
                    <a:p>
                      <a:pPr marL="285750" indent="-285750">
                        <a:lnSpc>
                          <a:spcPct val="100000"/>
                        </a:lnSpc>
                        <a:spcAft>
                          <a:spcPts val="600"/>
                        </a:spcAft>
                        <a:buFont typeface="Arial" panose="020B0604020202020204" pitchFamily="34" charset="0"/>
                        <a:buChar char="•"/>
                      </a:pPr>
                      <a:r>
                        <a:rPr lang="en-US" sz="1400" kern="1200" dirty="0">
                          <a:solidFill>
                            <a:schemeClr val="tx1"/>
                          </a:solidFill>
                          <a:latin typeface="+mn-lt"/>
                          <a:ea typeface="+mn-ea"/>
                          <a:cs typeface="+mn-cs"/>
                        </a:rPr>
                        <a:t>Most Hardware could be maintained through the cloud</a:t>
                      </a:r>
                    </a:p>
                  </a:txBody>
                  <a:tcPr/>
                </a:tc>
                <a:extLst>
                  <a:ext uri="{0D108BD9-81ED-4DB2-BD59-A6C34878D82A}">
                    <a16:rowId xmlns:a16="http://schemas.microsoft.com/office/drawing/2014/main" val="1745805812"/>
                  </a:ext>
                </a:extLst>
              </a:tr>
              <a:tr h="1544498">
                <a:tc>
                  <a:txBody>
                    <a:bodyPr/>
                    <a:lstStyle/>
                    <a:p>
                      <a:pPr>
                        <a:lnSpc>
                          <a:spcPct val="114000"/>
                        </a:lnSpc>
                        <a:spcAft>
                          <a:spcPts val="600"/>
                        </a:spcAft>
                      </a:pPr>
                      <a:r>
                        <a:rPr lang="en-US" sz="1400" dirty="0"/>
                        <a:t>2</a:t>
                      </a:r>
                    </a:p>
                  </a:txBody>
                  <a:tcPr/>
                </a:tc>
                <a:tc>
                  <a:txBody>
                    <a:bodyPr/>
                    <a:lstStyle/>
                    <a:p>
                      <a:pPr>
                        <a:lnSpc>
                          <a:spcPct val="114000"/>
                        </a:lnSpc>
                        <a:spcAft>
                          <a:spcPts val="600"/>
                        </a:spcAft>
                      </a:pPr>
                      <a:r>
                        <a:rPr lang="en-US" sz="1400" b="1" dirty="0"/>
                        <a:t>Difficulty in implementing ERP in STELCO</a:t>
                      </a:r>
                    </a:p>
                  </a:txBody>
                  <a:tcPr/>
                </a:tc>
                <a:tc>
                  <a:txBody>
                    <a:bodyPr/>
                    <a:lstStyle/>
                    <a:p>
                      <a:pPr marL="285750" marR="0" lvl="0" indent="-285750" algn="l" defTabSz="914400" rtl="0" eaLnBrk="1" fontAlgn="auto" latinLnBrk="0" hangingPunct="1">
                        <a:lnSpc>
                          <a:spcPct val="114000"/>
                        </a:lnSpc>
                        <a:spcBef>
                          <a:spcPts val="0"/>
                        </a:spcBef>
                        <a:spcAft>
                          <a:spcPts val="600"/>
                        </a:spcAft>
                        <a:buClrTx/>
                        <a:buSzTx/>
                        <a:buFont typeface="Arial" panose="020B0604020202020204" pitchFamily="34" charset="0"/>
                        <a:buChar char="•"/>
                        <a:tabLst/>
                        <a:defRPr/>
                      </a:pPr>
                      <a:r>
                        <a:rPr lang="en-US" sz="1400" kern="1200" dirty="0"/>
                        <a:t>Implementing all modules of ERP at the same time could be a major challenge. Also ERP Implementation could mean changes in the existing way of doing work.</a:t>
                      </a:r>
                    </a:p>
                    <a:p>
                      <a:pPr marL="285750" marR="0" lvl="0" indent="-285750" algn="l" defTabSz="914400" rtl="0" eaLnBrk="1" fontAlgn="auto" latinLnBrk="0" hangingPunct="1">
                        <a:lnSpc>
                          <a:spcPct val="114000"/>
                        </a:lnSpc>
                        <a:spcBef>
                          <a:spcPts val="0"/>
                        </a:spcBef>
                        <a:spcAft>
                          <a:spcPts val="600"/>
                        </a:spcAft>
                        <a:buClrTx/>
                        <a:buSzTx/>
                        <a:buFont typeface="Arial" panose="020B0604020202020204" pitchFamily="34" charset="0"/>
                        <a:buChar char="•"/>
                        <a:tabLst/>
                        <a:defRPr/>
                      </a:pPr>
                      <a:endParaRPr lang="en-US" sz="1400" kern="1200" dirty="0"/>
                    </a:p>
                    <a:p>
                      <a:pPr marL="285750" marR="0" lvl="0" indent="-285750" algn="l" defTabSz="914400" rtl="0" eaLnBrk="1" fontAlgn="auto" latinLnBrk="0" hangingPunct="1">
                        <a:lnSpc>
                          <a:spcPct val="114000"/>
                        </a:lnSpc>
                        <a:spcBef>
                          <a:spcPts val="0"/>
                        </a:spcBef>
                        <a:spcAft>
                          <a:spcPts val="600"/>
                        </a:spcAft>
                        <a:buClrTx/>
                        <a:buSzTx/>
                        <a:buFont typeface="Arial" panose="020B0604020202020204" pitchFamily="34" charset="0"/>
                        <a:buChar char="•"/>
                        <a:tabLst/>
                        <a:defRPr/>
                      </a:pPr>
                      <a:endParaRPr lang="en-US" sz="1400" kern="1200" dirty="0"/>
                    </a:p>
                    <a:p>
                      <a:pPr marL="285750" marR="0" lvl="0" indent="-285750" algn="l" defTabSz="914400" rtl="0" eaLnBrk="1" fontAlgn="auto" latinLnBrk="0" hangingPunct="1">
                        <a:lnSpc>
                          <a:spcPct val="114000"/>
                        </a:lnSpc>
                        <a:spcBef>
                          <a:spcPts val="0"/>
                        </a:spcBef>
                        <a:spcAft>
                          <a:spcPts val="600"/>
                        </a:spcAft>
                        <a:buClrTx/>
                        <a:buSzTx/>
                        <a:buFont typeface="Arial" panose="020B0604020202020204" pitchFamily="34" charset="0"/>
                        <a:buChar char="•"/>
                        <a:tabLst/>
                        <a:defRPr/>
                      </a:pPr>
                      <a:endParaRPr lang="en-US" sz="1400" kern="1200" dirty="0"/>
                    </a:p>
                    <a:p>
                      <a:pPr marL="285750" marR="0" lvl="0" indent="-285750" algn="l" defTabSz="914400" rtl="0" eaLnBrk="1" fontAlgn="auto" latinLnBrk="0" hangingPunct="1">
                        <a:lnSpc>
                          <a:spcPct val="114000"/>
                        </a:lnSpc>
                        <a:spcBef>
                          <a:spcPts val="0"/>
                        </a:spcBef>
                        <a:spcAft>
                          <a:spcPts val="600"/>
                        </a:spcAft>
                        <a:buClrTx/>
                        <a:buSzTx/>
                        <a:buFont typeface="Arial" panose="020B0604020202020204" pitchFamily="34" charset="0"/>
                        <a:buChar char="•"/>
                        <a:tabLst/>
                        <a:defRPr/>
                      </a:pPr>
                      <a:endParaRPr lang="en-US" sz="1400" kern="1200" dirty="0"/>
                    </a:p>
                  </a:txBody>
                  <a:tcPr/>
                </a:tc>
                <a:tc>
                  <a:txBody>
                    <a:bodyPr/>
                    <a:lstStyle/>
                    <a:p>
                      <a:pPr marL="285750" indent="-285750" algn="l" defTabSz="914400" rtl="0" eaLnBrk="1" latinLnBrk="0" hangingPunct="1">
                        <a:lnSpc>
                          <a:spcPct val="114000"/>
                        </a:lnSpc>
                        <a:spcAft>
                          <a:spcPts val="600"/>
                        </a:spcAft>
                        <a:buFont typeface="Arial" panose="020B0604020202020204" pitchFamily="34" charset="0"/>
                        <a:buChar char="•"/>
                      </a:pPr>
                      <a:r>
                        <a:rPr lang="en-US" sz="1400" kern="1200" dirty="0">
                          <a:solidFill>
                            <a:schemeClr val="dk1"/>
                          </a:solidFill>
                          <a:latin typeface="+mn-lt"/>
                          <a:ea typeface="+mn-ea"/>
                          <a:cs typeface="+mn-cs"/>
                        </a:rPr>
                        <a:t>STELCO can go for phased approach in terms of which Modules can be taken for implementation in phases</a:t>
                      </a:r>
                    </a:p>
                    <a:p>
                      <a:pPr marL="285750" indent="-285750" algn="l" defTabSz="914400" rtl="0" eaLnBrk="1" latinLnBrk="0" hangingPunct="1">
                        <a:lnSpc>
                          <a:spcPct val="114000"/>
                        </a:lnSpc>
                        <a:spcAft>
                          <a:spcPts val="600"/>
                        </a:spcAft>
                        <a:buFont typeface="Arial" panose="020B0604020202020204" pitchFamily="34" charset="0"/>
                        <a:buChar char="•"/>
                      </a:pPr>
                      <a:r>
                        <a:rPr lang="en-US" sz="1400" kern="1200" dirty="0">
                          <a:solidFill>
                            <a:schemeClr val="dk1"/>
                          </a:solidFill>
                          <a:latin typeface="+mn-lt"/>
                          <a:ea typeface="+mn-ea"/>
                          <a:cs typeface="+mn-cs"/>
                        </a:rPr>
                        <a:t>STELCO can decide on other Third-party products and vendors for non-ERP Modules in a phased manner</a:t>
                      </a:r>
                    </a:p>
                    <a:p>
                      <a:pPr marL="285750" indent="-285750" algn="l" defTabSz="914400" rtl="0" eaLnBrk="1" latinLnBrk="0" hangingPunct="1">
                        <a:lnSpc>
                          <a:spcPct val="114000"/>
                        </a:lnSpc>
                        <a:spcAft>
                          <a:spcPts val="600"/>
                        </a:spcAft>
                        <a:buFont typeface="Arial" panose="020B0604020202020204" pitchFamily="34" charset="0"/>
                        <a:buChar char="•"/>
                      </a:pPr>
                      <a:r>
                        <a:rPr lang="en-US" sz="1400" kern="1200" dirty="0">
                          <a:solidFill>
                            <a:schemeClr val="dk1"/>
                          </a:solidFill>
                          <a:latin typeface="+mn-lt"/>
                          <a:ea typeface="+mn-ea"/>
                          <a:cs typeface="+mn-cs"/>
                        </a:rPr>
                        <a:t>STELCO can go for a phased implementation in the islands</a:t>
                      </a:r>
                    </a:p>
                    <a:p>
                      <a:pPr marL="285750" indent="-285750" algn="l" defTabSz="914400" rtl="0" eaLnBrk="1" latinLnBrk="0" hangingPunct="1">
                        <a:lnSpc>
                          <a:spcPct val="114000"/>
                        </a:lnSpc>
                        <a:spcAft>
                          <a:spcPts val="600"/>
                        </a:spcAft>
                        <a:buFont typeface="Arial" panose="020B0604020202020204" pitchFamily="34" charset="0"/>
                        <a:buChar char="•"/>
                      </a:pPr>
                      <a:r>
                        <a:rPr lang="en-US" sz="1400" kern="1200" dirty="0">
                          <a:solidFill>
                            <a:schemeClr val="dk1"/>
                          </a:solidFill>
                          <a:latin typeface="+mn-lt"/>
                          <a:ea typeface="+mn-ea"/>
                          <a:cs typeface="+mn-cs"/>
                        </a:rPr>
                        <a:t>Deloitte available as per our contract to handhold STELCO throughout implementation for Program  Management. As a part of the scope, Deloitte will assist in managing the ERP project and will also guide STELCO employees on the changes required and its benefits to them  and STELCO as a whole.</a:t>
                      </a:r>
                    </a:p>
                  </a:txBody>
                  <a:tcPr/>
                </a:tc>
                <a:extLst>
                  <a:ext uri="{0D108BD9-81ED-4DB2-BD59-A6C34878D82A}">
                    <a16:rowId xmlns:a16="http://schemas.microsoft.com/office/drawing/2014/main" val="363547979"/>
                  </a:ext>
                </a:extLst>
              </a:tr>
            </a:tbl>
          </a:graphicData>
        </a:graphic>
      </p:graphicFrame>
    </p:spTree>
    <p:extLst>
      <p:ext uri="{BB962C8B-B14F-4D97-AF65-F5344CB8AC3E}">
        <p14:creationId xmlns:p14="http://schemas.microsoft.com/office/powerpoint/2010/main" val="326363244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4294967295"/>
          </p:nvPr>
        </p:nvSpPr>
        <p:spPr>
          <a:xfrm>
            <a:off x="437744" y="4102100"/>
            <a:ext cx="11177081" cy="2197100"/>
          </a:xfrm>
        </p:spPr>
        <p:txBody>
          <a:bodyPr anchor="b">
            <a:noAutofit/>
          </a:bodyPr>
          <a:lstStyle/>
          <a:p>
            <a:pPr>
              <a:spcAft>
                <a:spcPts val="600"/>
              </a:spcAft>
            </a:pPr>
            <a:r>
              <a:rPr lang="en-US" sz="1000" dirty="0">
                <a:solidFill>
                  <a:schemeClr val="bg1"/>
                </a:solidFill>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spcAft>
                <a:spcPts val="600"/>
              </a:spcAft>
            </a:pPr>
            <a:r>
              <a:rPr lang="en-US" sz="1000" dirty="0">
                <a:solidFill>
                  <a:schemeClr val="bg1"/>
                </a:solidFill>
              </a:rPr>
              <a:t>This material has been prepared by Deloitte Touche Tohmatsu India LLP (“DTTI LLP”), a member of Deloitte Touche Tohmatsu Limited, on a specific request from you and contains proprietary and confidential information. This material may contain information sourced from publicly available information or other third party sources. DTTI 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spcAft>
                <a:spcPts val="600"/>
              </a:spcAft>
            </a:pPr>
            <a:r>
              <a:rPr lang="en-US" sz="1000" dirty="0">
                <a:solidFill>
                  <a:schemeClr val="bg1"/>
                </a:solidFill>
              </a:rPr>
              <a:t>Nothing in this material creates any contractual relationship between DTT ILLP and you. Any mutually binding legal obligations or rights may only be created between you and DTTI LLP upon execution of a legally binding contract. By using this material and any information contained in it, the user accepts this entire notice and terms of use.</a:t>
            </a:r>
          </a:p>
          <a:p>
            <a:pPr>
              <a:spcAft>
                <a:spcPts val="600"/>
              </a:spcAft>
            </a:pPr>
            <a:r>
              <a:rPr lang="en-US" sz="1000" dirty="0">
                <a:solidFill>
                  <a:schemeClr val="bg1"/>
                </a:solidFill>
              </a:rPr>
              <a:t>©2020 Deloitte Touche Tohmatsu India LLP. Member of Deloitte Touche Tohmatsu Limited</a:t>
            </a:r>
          </a:p>
          <a:p>
            <a:pPr>
              <a:spcAft>
                <a:spcPts val="600"/>
              </a:spcAft>
            </a:pPr>
            <a:r>
              <a:rPr lang="en-US" sz="1000" dirty="0">
                <a:solidFill>
                  <a:schemeClr val="bg1"/>
                </a:solidFill>
              </a:rPr>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extLst>
      <p:ext uri="{BB962C8B-B14F-4D97-AF65-F5344CB8AC3E}">
        <p14:creationId xmlns:p14="http://schemas.microsoft.com/office/powerpoint/2010/main" val="2293846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extLst>
              <p:ext uri="{D42A27DB-BD31-4B8C-83A1-F6EECF244321}">
                <p14:modId xmlns:p14="http://schemas.microsoft.com/office/powerpoint/2010/main" val="3477030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98" imgH="499" progId="TCLayout.ActiveDocument.1">
                  <p:embed/>
                </p:oleObj>
              </mc:Choice>
              <mc:Fallback>
                <p:oleObj name="think-cell Slide" r:id="rId27"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While STELCO leads in managing its Fuel and Lube Oil Inventory levels, it can optimize its Spares Inventory levels by 40%-50% to achieve best in class inventory levels among its peer group</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Peer Group – Inventory Benchmarking</a:t>
            </a:r>
            <a:endParaRPr lang="en-GB" dirty="0"/>
          </a:p>
        </p:txBody>
      </p:sp>
      <p:graphicFrame>
        <p:nvGraphicFramePr>
          <p:cNvPr id="193" name="Chart 192">
            <a:extLst>
              <a:ext uri="{FF2B5EF4-FFF2-40B4-BE49-F238E27FC236}">
                <a16:creationId xmlns:a16="http://schemas.microsoft.com/office/drawing/2014/main" id="{A276E7E0-BA6E-4998-A6A7-8F9865C946EF}"/>
              </a:ext>
            </a:extLst>
          </p:cNvPr>
          <p:cNvGraphicFramePr/>
          <p:nvPr>
            <p:custDataLst>
              <p:tags r:id="rId2"/>
            </p:custDataLst>
            <p:extLst>
              <p:ext uri="{D42A27DB-BD31-4B8C-83A1-F6EECF244321}">
                <p14:modId xmlns:p14="http://schemas.microsoft.com/office/powerpoint/2010/main" val="1520038089"/>
              </p:ext>
            </p:extLst>
          </p:nvPr>
        </p:nvGraphicFramePr>
        <p:xfrm>
          <a:off x="419100" y="2701925"/>
          <a:ext cx="5099050" cy="1638300"/>
        </p:xfrm>
        <a:graphic>
          <a:graphicData uri="http://schemas.openxmlformats.org/drawingml/2006/chart">
            <c:chart xmlns:c="http://schemas.openxmlformats.org/drawingml/2006/chart" xmlns:r="http://schemas.openxmlformats.org/officeDocument/2006/relationships" r:id="rId29"/>
          </a:graphicData>
        </a:graphic>
      </p:graphicFrame>
      <p:sp>
        <p:nvSpPr>
          <p:cNvPr id="158" name="Text Placeholder 18">
            <a:extLst>
              <a:ext uri="{FF2B5EF4-FFF2-40B4-BE49-F238E27FC236}">
                <a16:creationId xmlns:a16="http://schemas.microsoft.com/office/drawing/2014/main" id="{59C70B09-1B06-46B6-A4C8-1815EC4CD387}"/>
              </a:ext>
            </a:extLst>
          </p:cNvPr>
          <p:cNvSpPr>
            <a:spLocks noGrp="1"/>
          </p:cNvSpPr>
          <p:nvPr>
            <p:custDataLst>
              <p:tags r:id="rId3"/>
            </p:custDataLst>
          </p:nvPr>
        </p:nvSpPr>
        <p:spPr bwMode="gray">
          <a:xfrm>
            <a:off x="3368675" y="3595688"/>
            <a:ext cx="4318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6D986D24-A560-45EC-8D38-E1534FC0EE97}" type="datetime'''''''3''''''''''.''''''''''''''''''''''''''''5''''''''''''7%'">
              <a:rPr lang="en-US" altLang="en-US" sz="1200" smtClean="0"/>
              <a:pPr algn="ctr">
                <a:spcBef>
                  <a:spcPct val="0"/>
                </a:spcBef>
                <a:spcAft>
                  <a:spcPct val="0"/>
                </a:spcAft>
              </a:pPr>
              <a:t>3.57%</a:t>
            </a:fld>
            <a:endParaRPr lang="en-US" sz="1200" noProof="0" dirty="0"/>
          </a:p>
        </p:txBody>
      </p:sp>
      <p:sp>
        <p:nvSpPr>
          <p:cNvPr id="48" name="Text Placeholder 18">
            <a:extLst>
              <a:ext uri="{FF2B5EF4-FFF2-40B4-BE49-F238E27FC236}">
                <a16:creationId xmlns:a16="http://schemas.microsoft.com/office/drawing/2014/main" id="{E4457E6E-8512-4E14-B969-5DD490DF9570}"/>
              </a:ext>
            </a:extLst>
          </p:cNvPr>
          <p:cNvSpPr>
            <a:spLocks noGrp="1"/>
          </p:cNvSpPr>
          <p:nvPr>
            <p:custDataLst>
              <p:tags r:id="rId4"/>
            </p:custDataLst>
          </p:nvPr>
        </p:nvSpPr>
        <p:spPr bwMode="auto">
          <a:xfrm>
            <a:off x="4427538" y="4359275"/>
            <a:ext cx="78263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046FCF9B-4AB2-4A0A-9D51-DEFDE02C139F}" type="datetime'''''''''EP''''''C'' ''''- ''''''Sa''''''''m''''''o''a'''''''''">
              <a:rPr lang="en-US" altLang="en-US" sz="1200" smtClean="0"/>
              <a:pPr/>
              <a:t>EPC - Samoa</a:t>
            </a:fld>
            <a:endParaRPr lang="en-US" sz="1200" noProof="0" dirty="0"/>
          </a:p>
        </p:txBody>
      </p:sp>
      <p:sp>
        <p:nvSpPr>
          <p:cNvPr id="34" name="Text Placeholder 18">
            <a:extLst>
              <a:ext uri="{FF2B5EF4-FFF2-40B4-BE49-F238E27FC236}">
                <a16:creationId xmlns:a16="http://schemas.microsoft.com/office/drawing/2014/main" id="{49ECE79E-AF9B-4E77-B5A1-8888C884327B}"/>
              </a:ext>
            </a:extLst>
          </p:cNvPr>
          <p:cNvSpPr>
            <a:spLocks noGrp="1"/>
          </p:cNvSpPr>
          <p:nvPr>
            <p:custDataLst>
              <p:tags r:id="rId5"/>
            </p:custDataLst>
          </p:nvPr>
        </p:nvSpPr>
        <p:spPr bwMode="auto">
          <a:xfrm>
            <a:off x="881063" y="4359275"/>
            <a:ext cx="4746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E9655663-8C96-4FBD-B53C-2676238540AF}" type="datetime'''''''''''''''''''''''S''''''''''TE''L''''''C''O'''''">
              <a:rPr lang="en-US" altLang="en-US" sz="1200" smtClean="0"/>
              <a:pPr/>
              <a:t>STELCO</a:t>
            </a:fld>
            <a:endParaRPr lang="en-US" sz="1200" noProof="0" dirty="0"/>
          </a:p>
        </p:txBody>
      </p:sp>
      <p:sp>
        <p:nvSpPr>
          <p:cNvPr id="45" name="Text Placeholder 18">
            <a:extLst>
              <a:ext uri="{FF2B5EF4-FFF2-40B4-BE49-F238E27FC236}">
                <a16:creationId xmlns:a16="http://schemas.microsoft.com/office/drawing/2014/main" id="{180683E4-EB8D-4323-A981-FE138808EE4B}"/>
              </a:ext>
            </a:extLst>
          </p:cNvPr>
          <p:cNvSpPr>
            <a:spLocks noGrp="1"/>
          </p:cNvSpPr>
          <p:nvPr>
            <p:custDataLst>
              <p:tags r:id="rId6"/>
            </p:custDataLst>
          </p:nvPr>
        </p:nvSpPr>
        <p:spPr bwMode="auto">
          <a:xfrm>
            <a:off x="3144838" y="4359275"/>
            <a:ext cx="8810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FB3616C6-3A12-461D-9094-1E3ED6C48947}" type="datetime'C''''''E''''''''''''B M''''''''a''''''u''''''''''r''i''''tius'">
              <a:rPr lang="en-US" altLang="en-US" sz="1200" smtClean="0"/>
              <a:pPr/>
              <a:t>CEB Mauritius</a:t>
            </a:fld>
            <a:endParaRPr lang="en-US" sz="1200" noProof="0" dirty="0"/>
          </a:p>
        </p:txBody>
      </p:sp>
      <p:sp>
        <p:nvSpPr>
          <p:cNvPr id="42" name="Text Placeholder 18">
            <a:extLst>
              <a:ext uri="{FF2B5EF4-FFF2-40B4-BE49-F238E27FC236}">
                <a16:creationId xmlns:a16="http://schemas.microsoft.com/office/drawing/2014/main" id="{3F9517DB-8B0C-44B7-B22B-1DDB0518F964}"/>
              </a:ext>
            </a:extLst>
          </p:cNvPr>
          <p:cNvSpPr>
            <a:spLocks noGrp="1"/>
          </p:cNvSpPr>
          <p:nvPr>
            <p:custDataLst>
              <p:tags r:id="rId7"/>
            </p:custDataLst>
          </p:nvPr>
        </p:nvSpPr>
        <p:spPr bwMode="auto">
          <a:xfrm>
            <a:off x="2095500" y="4359275"/>
            <a:ext cx="5127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191C0443-C76A-4DA1-BBC5-45F10AE3ADBA}" type="datetime'F''''''''''E''N''''A''''''''''''K''''''''A'''''''''''''">
              <a:rPr lang="en-US" altLang="en-US" sz="1200" smtClean="0"/>
              <a:pPr/>
              <a:t>FENAKA</a:t>
            </a:fld>
            <a:endParaRPr lang="en-US" sz="1200" noProof="0" dirty="0"/>
          </a:p>
        </p:txBody>
      </p:sp>
      <p:sp>
        <p:nvSpPr>
          <p:cNvPr id="156" name="Text Placeholder 18">
            <a:extLst>
              <a:ext uri="{FF2B5EF4-FFF2-40B4-BE49-F238E27FC236}">
                <a16:creationId xmlns:a16="http://schemas.microsoft.com/office/drawing/2014/main" id="{5FE061FA-64F4-44C3-9A93-12B5FC9CB7CB}"/>
              </a:ext>
            </a:extLst>
          </p:cNvPr>
          <p:cNvSpPr>
            <a:spLocks noGrp="1"/>
          </p:cNvSpPr>
          <p:nvPr>
            <p:custDataLst>
              <p:tags r:id="rId8"/>
            </p:custDataLst>
          </p:nvPr>
        </p:nvSpPr>
        <p:spPr bwMode="gray">
          <a:xfrm>
            <a:off x="901700" y="3768725"/>
            <a:ext cx="4318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6B98686D-C0B5-46B4-9A6F-CE5B4761F36D}" type="datetime'''2''.2''''''''''1''%'''''''''''''''''''''''''''''''''''''">
              <a:rPr lang="en-US" altLang="en-US" sz="1200" smtClean="0"/>
              <a:pPr algn="ctr">
                <a:spcBef>
                  <a:spcPct val="0"/>
                </a:spcBef>
                <a:spcAft>
                  <a:spcPct val="0"/>
                </a:spcAft>
              </a:pPr>
              <a:t>2.21%</a:t>
            </a:fld>
            <a:endParaRPr lang="en-US" sz="1200" noProof="0" dirty="0"/>
          </a:p>
        </p:txBody>
      </p:sp>
      <p:sp>
        <p:nvSpPr>
          <p:cNvPr id="157" name="Text Placeholder 18">
            <a:extLst>
              <a:ext uri="{FF2B5EF4-FFF2-40B4-BE49-F238E27FC236}">
                <a16:creationId xmlns:a16="http://schemas.microsoft.com/office/drawing/2014/main" id="{6D341F36-0EC6-49DB-B1CC-8C4E2A488312}"/>
              </a:ext>
            </a:extLst>
          </p:cNvPr>
          <p:cNvSpPr>
            <a:spLocks noGrp="1"/>
          </p:cNvSpPr>
          <p:nvPr>
            <p:custDataLst>
              <p:tags r:id="rId9"/>
            </p:custDataLst>
          </p:nvPr>
        </p:nvSpPr>
        <p:spPr bwMode="gray">
          <a:xfrm>
            <a:off x="2135188" y="3754438"/>
            <a:ext cx="4318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05A6B61C-B9D9-423D-962F-BC98A89D694A}" type="datetime'2''.''''3''''''''''3''''''''%'''''''''''''''''''''">
              <a:rPr lang="en-US" altLang="en-US" sz="1200" smtClean="0"/>
              <a:pPr algn="ctr">
                <a:spcBef>
                  <a:spcPct val="0"/>
                </a:spcBef>
                <a:spcAft>
                  <a:spcPct val="0"/>
                </a:spcAft>
              </a:pPr>
              <a:t>2.33%</a:t>
            </a:fld>
            <a:endParaRPr lang="en-US" sz="1200" noProof="0" dirty="0"/>
          </a:p>
        </p:txBody>
      </p:sp>
      <p:sp>
        <p:nvSpPr>
          <p:cNvPr id="116" name="Text Placeholder 18">
            <a:extLst>
              <a:ext uri="{FF2B5EF4-FFF2-40B4-BE49-F238E27FC236}">
                <a16:creationId xmlns:a16="http://schemas.microsoft.com/office/drawing/2014/main" id="{2F892EA5-3FA5-4D2F-84F4-8848711B24E6}"/>
              </a:ext>
            </a:extLst>
          </p:cNvPr>
          <p:cNvSpPr>
            <a:spLocks noGrp="1"/>
          </p:cNvSpPr>
          <p:nvPr>
            <p:custDataLst>
              <p:tags r:id="rId10"/>
            </p:custDataLst>
          </p:nvPr>
        </p:nvSpPr>
        <p:spPr bwMode="gray">
          <a:xfrm>
            <a:off x="4564063" y="2576513"/>
            <a:ext cx="50958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1B2641EB-D549-4F23-BC06-73AFC14A123F}" type="datetime'''''''1''1''''''''''''''.6''''''''''''0''''''''%'''''''">
              <a:rPr lang="en-US" altLang="en-US" sz="1200" smtClean="0"/>
              <a:pPr/>
              <a:t>11.60%</a:t>
            </a:fld>
            <a:endParaRPr lang="en-US" sz="1200" noProof="0" dirty="0"/>
          </a:p>
        </p:txBody>
      </p:sp>
      <p:graphicFrame>
        <p:nvGraphicFramePr>
          <p:cNvPr id="88" name="Chart 87">
            <a:extLst>
              <a:ext uri="{FF2B5EF4-FFF2-40B4-BE49-F238E27FC236}">
                <a16:creationId xmlns:a16="http://schemas.microsoft.com/office/drawing/2014/main" id="{A01153E2-6115-4E56-BB94-C0715BBBA810}"/>
              </a:ext>
            </a:extLst>
          </p:cNvPr>
          <p:cNvGraphicFramePr/>
          <p:nvPr>
            <p:custDataLst>
              <p:tags r:id="rId11"/>
            </p:custDataLst>
            <p:extLst>
              <p:ext uri="{D42A27DB-BD31-4B8C-83A1-F6EECF244321}">
                <p14:modId xmlns:p14="http://schemas.microsoft.com/office/powerpoint/2010/main" val="1502796600"/>
              </p:ext>
            </p:extLst>
          </p:nvPr>
        </p:nvGraphicFramePr>
        <p:xfrm>
          <a:off x="6567488" y="2701925"/>
          <a:ext cx="5108575" cy="1638300"/>
        </p:xfrm>
        <a:graphic>
          <a:graphicData uri="http://schemas.openxmlformats.org/drawingml/2006/chart">
            <c:chart xmlns:c="http://schemas.openxmlformats.org/drawingml/2006/chart" xmlns:r="http://schemas.openxmlformats.org/officeDocument/2006/relationships" r:id="rId30"/>
          </a:graphicData>
        </a:graphic>
      </p:graphicFrame>
      <p:cxnSp>
        <p:nvCxnSpPr>
          <p:cNvPr id="24" name="Straight Connector 23">
            <a:extLst>
              <a:ext uri="{FF2B5EF4-FFF2-40B4-BE49-F238E27FC236}">
                <a16:creationId xmlns:a16="http://schemas.microsoft.com/office/drawing/2014/main" id="{292FE145-DFDF-4BC2-9067-FF45405EE992}"/>
              </a:ext>
            </a:extLst>
          </p:cNvPr>
          <p:cNvCxnSpPr/>
          <p:nvPr>
            <p:custDataLst>
              <p:tags r:id="rId12"/>
            </p:custDataLst>
          </p:nvPr>
        </p:nvCxnSpPr>
        <p:spPr bwMode="auto">
          <a:xfrm>
            <a:off x="9739313" y="2370137"/>
            <a:ext cx="0" cy="985838"/>
          </a:xfrm>
          <a:prstGeom prst="line">
            <a:avLst/>
          </a:prstGeom>
          <a:ln w="6350" cap="flat" cmpd="sng" algn="ctr">
            <a:solidFill>
              <a:schemeClr val="tx1"/>
            </a:solidFill>
            <a:prstDash val="solid"/>
            <a:round/>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1BB01D3B-DF71-4A41-B070-8DBA1A85F612}"/>
              </a:ext>
            </a:extLst>
          </p:cNvPr>
          <p:cNvCxnSpPr>
            <a:cxnSpLocks/>
          </p:cNvCxnSpPr>
          <p:nvPr>
            <p:custDataLst>
              <p:tags r:id="rId13"/>
            </p:custDataLst>
          </p:nvPr>
        </p:nvCxnSpPr>
        <p:spPr bwMode="auto">
          <a:xfrm flipV="1">
            <a:off x="7267575" y="2370138"/>
            <a:ext cx="0" cy="533400"/>
          </a:xfrm>
          <a:prstGeom prst="line">
            <a:avLst/>
          </a:prstGeom>
          <a:ln w="6350" cap="flat" cmpd="sng" algn="ctr">
            <a:solidFill>
              <a:schemeClr val="tx1"/>
            </a:solidFill>
            <a:prstDash val="solid"/>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010E5ECF-9173-4F79-89F9-CCD7E2A691E2}"/>
              </a:ext>
            </a:extLst>
          </p:cNvPr>
          <p:cNvCxnSpPr/>
          <p:nvPr>
            <p:custDataLst>
              <p:tags r:id="rId14"/>
            </p:custDataLst>
          </p:nvPr>
        </p:nvCxnSpPr>
        <p:spPr bwMode="auto">
          <a:xfrm>
            <a:off x="7267575" y="2370138"/>
            <a:ext cx="3708400" cy="0"/>
          </a:xfrm>
          <a:prstGeom prst="line">
            <a:avLst/>
          </a:prstGeom>
          <a:ln w="6350" cap="flat" cmpd="sng" algn="ctr">
            <a:solidFill>
              <a:schemeClr val="tx1"/>
            </a:solidFill>
            <a:prstDash val="solid"/>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552D6595-D0B0-46DE-B722-71042C7D3100}"/>
              </a:ext>
            </a:extLst>
          </p:cNvPr>
          <p:cNvCxnSpPr/>
          <p:nvPr>
            <p:custDataLst>
              <p:tags r:id="rId15"/>
            </p:custDataLst>
          </p:nvPr>
        </p:nvCxnSpPr>
        <p:spPr bwMode="auto">
          <a:xfrm>
            <a:off x="10975975" y="2370138"/>
            <a:ext cx="0" cy="1509713"/>
          </a:xfrm>
          <a:prstGeom prst="line">
            <a:avLst/>
          </a:prstGeom>
          <a:ln w="6350" cap="flat" cmpd="sng" algn="ctr">
            <a:solidFill>
              <a:schemeClr val="tx1"/>
            </a:solidFill>
            <a:prstDash val="solid"/>
            <a:round/>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46" name="Text Placeholder 18">
            <a:extLst>
              <a:ext uri="{FF2B5EF4-FFF2-40B4-BE49-F238E27FC236}">
                <a16:creationId xmlns:a16="http://schemas.microsoft.com/office/drawing/2014/main" id="{A159A302-BD6C-419B-89B4-EA43DF759900}"/>
              </a:ext>
            </a:extLst>
          </p:cNvPr>
          <p:cNvSpPr>
            <a:spLocks noGrp="1"/>
          </p:cNvSpPr>
          <p:nvPr>
            <p:custDataLst>
              <p:tags r:id="rId16"/>
            </p:custDataLst>
          </p:nvPr>
        </p:nvSpPr>
        <p:spPr bwMode="gray">
          <a:xfrm>
            <a:off x="10760075" y="3917950"/>
            <a:ext cx="4318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10640AC5-F2DF-4502-A6EA-159F0DF7C6A2}" type="datetime'''''''''1''''''''''''.38''''''''%'''''''''''''''''''''''''''">
              <a:rPr lang="en-US" altLang="en-US" sz="1200" smtClean="0"/>
              <a:pPr/>
              <a:t>1.38%</a:t>
            </a:fld>
            <a:endParaRPr lang="en-US" sz="1200" noProof="0" dirty="0"/>
          </a:p>
        </p:txBody>
      </p:sp>
      <p:sp>
        <p:nvSpPr>
          <p:cNvPr id="105" name="Text Placeholder 18">
            <a:extLst>
              <a:ext uri="{FF2B5EF4-FFF2-40B4-BE49-F238E27FC236}">
                <a16:creationId xmlns:a16="http://schemas.microsoft.com/office/drawing/2014/main" id="{8A2F24B4-0427-4AE1-9DC0-55FE457BC33D}"/>
              </a:ext>
            </a:extLst>
          </p:cNvPr>
          <p:cNvSpPr>
            <a:spLocks noGrp="1"/>
          </p:cNvSpPr>
          <p:nvPr>
            <p:custDataLst>
              <p:tags r:id="rId17"/>
            </p:custDataLst>
          </p:nvPr>
        </p:nvSpPr>
        <p:spPr bwMode="auto">
          <a:xfrm>
            <a:off x="7031038" y="4359275"/>
            <a:ext cx="4746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0D9F1233-2A59-4972-AC50-38EEBE68B2F2}" type="datetime'S''''''T''''''''''''''''''''''E''''LC''''''''''''O'">
              <a:rPr lang="en-US" altLang="en-US" sz="1200" smtClean="0"/>
              <a:pPr/>
              <a:t>STELCO</a:t>
            </a:fld>
            <a:endParaRPr lang="en-US" sz="1200" noProof="0" dirty="0"/>
          </a:p>
        </p:txBody>
      </p:sp>
      <p:sp>
        <p:nvSpPr>
          <p:cNvPr id="106" name="Text Placeholder 18">
            <a:extLst>
              <a:ext uri="{FF2B5EF4-FFF2-40B4-BE49-F238E27FC236}">
                <a16:creationId xmlns:a16="http://schemas.microsoft.com/office/drawing/2014/main" id="{1C73AC9C-D18F-4A83-99EB-53EFFC141B79}"/>
              </a:ext>
            </a:extLst>
          </p:cNvPr>
          <p:cNvSpPr>
            <a:spLocks noGrp="1"/>
          </p:cNvSpPr>
          <p:nvPr>
            <p:custDataLst>
              <p:tags r:id="rId18"/>
            </p:custDataLst>
          </p:nvPr>
        </p:nvSpPr>
        <p:spPr bwMode="auto">
          <a:xfrm>
            <a:off x="8248650" y="4359275"/>
            <a:ext cx="5127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0CCF79D7-549A-430C-B9F5-1F153BE29357}" type="datetime'F''''''E''''''''''''''N''A''''''''''K''''''A'''''''">
              <a:rPr lang="en-US" altLang="en-US" sz="1200" smtClean="0"/>
              <a:pPr/>
              <a:t>FENAKA</a:t>
            </a:fld>
            <a:endParaRPr lang="en-US" sz="1200" noProof="0" dirty="0"/>
          </a:p>
        </p:txBody>
      </p:sp>
      <p:sp>
        <p:nvSpPr>
          <p:cNvPr id="104" name="Text Placeholder 18">
            <a:extLst>
              <a:ext uri="{FF2B5EF4-FFF2-40B4-BE49-F238E27FC236}">
                <a16:creationId xmlns:a16="http://schemas.microsoft.com/office/drawing/2014/main" id="{AF0EC640-1128-45D8-8C0E-E14809BB21EF}"/>
              </a:ext>
            </a:extLst>
          </p:cNvPr>
          <p:cNvSpPr>
            <a:spLocks noGrp="1"/>
          </p:cNvSpPr>
          <p:nvPr>
            <p:custDataLst>
              <p:tags r:id="rId19"/>
            </p:custDataLst>
          </p:nvPr>
        </p:nvSpPr>
        <p:spPr bwMode="auto">
          <a:xfrm>
            <a:off x="9299575" y="4359275"/>
            <a:ext cx="881063"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36FE690D-5268-4027-A35F-E7F4A550A778}" type="datetime'''''''''''C''E''''''B'''' M''aur''''''''''''''''iti''''''us'''">
              <a:rPr lang="en-US" altLang="en-US" sz="1200" smtClean="0"/>
              <a:pPr/>
              <a:t>CEB Mauritius</a:t>
            </a:fld>
            <a:endParaRPr lang="en-US" sz="1200" noProof="0" dirty="0"/>
          </a:p>
        </p:txBody>
      </p:sp>
      <p:sp>
        <p:nvSpPr>
          <p:cNvPr id="107" name="Text Placeholder 18">
            <a:extLst>
              <a:ext uri="{FF2B5EF4-FFF2-40B4-BE49-F238E27FC236}">
                <a16:creationId xmlns:a16="http://schemas.microsoft.com/office/drawing/2014/main" id="{A2957C31-40B8-4002-9F1F-0FA007F79C9A}"/>
              </a:ext>
            </a:extLst>
          </p:cNvPr>
          <p:cNvSpPr>
            <a:spLocks noGrp="1"/>
          </p:cNvSpPr>
          <p:nvPr>
            <p:custDataLst>
              <p:tags r:id="rId20"/>
            </p:custDataLst>
          </p:nvPr>
        </p:nvSpPr>
        <p:spPr bwMode="auto">
          <a:xfrm>
            <a:off x="10585450" y="4359275"/>
            <a:ext cx="78263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4032BA99-37F7-4418-8822-83730D16D9A6}" type="datetime'''''''EPC'' ''-'' ''''''''''''''S''am''''o''''a'''">
              <a:rPr lang="en-US" altLang="en-US" sz="1200" smtClean="0"/>
              <a:pPr/>
              <a:t>EPC - Samoa</a:t>
            </a:fld>
            <a:endParaRPr lang="en-US" sz="1200" noProof="0" dirty="0"/>
          </a:p>
        </p:txBody>
      </p:sp>
      <p:sp>
        <p:nvSpPr>
          <p:cNvPr id="145" name="Text Placeholder 18">
            <a:extLst>
              <a:ext uri="{FF2B5EF4-FFF2-40B4-BE49-F238E27FC236}">
                <a16:creationId xmlns:a16="http://schemas.microsoft.com/office/drawing/2014/main" id="{EA100653-A954-4395-AAA1-7B60192D5E15}"/>
              </a:ext>
            </a:extLst>
          </p:cNvPr>
          <p:cNvSpPr>
            <a:spLocks noGrp="1"/>
          </p:cNvSpPr>
          <p:nvPr>
            <p:custDataLst>
              <p:tags r:id="rId21"/>
            </p:custDataLst>
          </p:nvPr>
        </p:nvSpPr>
        <p:spPr bwMode="gray">
          <a:xfrm>
            <a:off x="9523413" y="3394075"/>
            <a:ext cx="431800"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C5A27F03-51AE-4910-A683-7558FF15516C}" type="datetime'6''''''''.''8''''''''''''''''''''''''''''''''''''''''''3%'''''">
              <a:rPr lang="en-US" altLang="en-US" sz="1200" smtClean="0"/>
              <a:pPr/>
              <a:t>6.83%</a:t>
            </a:fld>
            <a:endParaRPr lang="en-US" sz="1200" noProof="0" dirty="0"/>
          </a:p>
        </p:txBody>
      </p:sp>
      <p:sp>
        <p:nvSpPr>
          <p:cNvPr id="135" name="Text Placeholder 18">
            <a:extLst>
              <a:ext uri="{FF2B5EF4-FFF2-40B4-BE49-F238E27FC236}">
                <a16:creationId xmlns:a16="http://schemas.microsoft.com/office/drawing/2014/main" id="{F7DCEF21-893E-46C1-9C21-E6AD5F04B624}"/>
              </a:ext>
            </a:extLst>
          </p:cNvPr>
          <p:cNvSpPr>
            <a:spLocks noGrp="1"/>
          </p:cNvSpPr>
          <p:nvPr>
            <p:custDataLst>
              <p:tags r:id="rId22"/>
            </p:custDataLst>
          </p:nvPr>
        </p:nvSpPr>
        <p:spPr bwMode="gray">
          <a:xfrm>
            <a:off x="7013575" y="2941638"/>
            <a:ext cx="50958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05D6B80A-4131-4B5F-ADC8-A2BCDAB74B78}" type="datetime'''''''''''''''''''''''''''''''1''1''''.5''''5%'''''''''''''">
              <a:rPr lang="en-US" altLang="en-US" sz="1200" smtClean="0"/>
              <a:pPr/>
              <a:t>11.55%</a:t>
            </a:fld>
            <a:endParaRPr lang="en-US" sz="1200" noProof="0" dirty="0"/>
          </a:p>
        </p:txBody>
      </p:sp>
      <p:sp>
        <p:nvSpPr>
          <p:cNvPr id="129" name="Text Placeholder 18">
            <a:extLst>
              <a:ext uri="{FF2B5EF4-FFF2-40B4-BE49-F238E27FC236}">
                <a16:creationId xmlns:a16="http://schemas.microsoft.com/office/drawing/2014/main" id="{3E1F3DB5-1C1A-46B2-954F-F89DE153DBE4}"/>
              </a:ext>
            </a:extLst>
          </p:cNvPr>
          <p:cNvSpPr>
            <a:spLocks noGrp="1"/>
          </p:cNvSpPr>
          <p:nvPr>
            <p:custDataLst>
              <p:tags r:id="rId23"/>
            </p:custDataLst>
          </p:nvPr>
        </p:nvSpPr>
        <p:spPr bwMode="gray">
          <a:xfrm>
            <a:off x="8250238" y="2576513"/>
            <a:ext cx="509588" cy="18256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5400" tIns="0" rIns="25400" bIns="0" numCol="1" spcCol="0" rtlCol="0" anchor="b"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A18519E3-6ADA-4536-868F-F606E244BFD0}" type="datetime'''''''''1''5''''''.''''3''6''''''''''''''''''''''%'''">
              <a:rPr lang="en-US" altLang="en-US" sz="1200" smtClean="0"/>
              <a:pPr/>
              <a:t>15.36%</a:t>
            </a:fld>
            <a:endParaRPr lang="en-US" sz="1200" noProof="0" dirty="0"/>
          </a:p>
        </p:txBody>
      </p:sp>
      <p:sp>
        <p:nvSpPr>
          <p:cNvPr id="36" name="Text Placeholder 18">
            <a:extLst>
              <a:ext uri="{FF2B5EF4-FFF2-40B4-BE49-F238E27FC236}">
                <a16:creationId xmlns:a16="http://schemas.microsoft.com/office/drawing/2014/main" id="{40A60B05-0126-465F-AB92-61C1B3A5C7E5}"/>
              </a:ext>
            </a:extLst>
          </p:cNvPr>
          <p:cNvSpPr>
            <a:spLocks noGrp="1"/>
          </p:cNvSpPr>
          <p:nvPr>
            <p:custDataLst>
              <p:tags r:id="rId24"/>
            </p:custDataLst>
          </p:nvPr>
        </p:nvSpPr>
        <p:spPr bwMode="auto">
          <a:xfrm>
            <a:off x="8281988" y="2241550"/>
            <a:ext cx="442913" cy="258763"/>
          </a:xfrm>
          <a:prstGeom prst="ellipse">
            <a:avLst/>
          </a:prstGeom>
          <a:solidFill>
            <a:srgbClr val="FFFFFF"/>
          </a:solidFill>
          <a:ln w="9525" algn="ctr">
            <a:solidFill>
              <a:schemeClr val="tx1"/>
            </a:solidFill>
          </a:ln>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863370B6-A619-459D-BF47-1A04349F7900}" type="datetime'''''''''''''''''''''''''''''''''''-4''''1''''''''''''''''%'''">
              <a:rPr lang="en-US" altLang="en-US" sz="1200" b="1" smtClean="0"/>
              <a:pPr/>
              <a:t>-41%</a:t>
            </a:fld>
            <a:endParaRPr lang="en-US" sz="1200" b="1" noProof="0" dirty="0"/>
          </a:p>
        </p:txBody>
      </p:sp>
      <p:sp>
        <p:nvSpPr>
          <p:cNvPr id="70" name="Text Placeholder 18">
            <a:extLst>
              <a:ext uri="{FF2B5EF4-FFF2-40B4-BE49-F238E27FC236}">
                <a16:creationId xmlns:a16="http://schemas.microsoft.com/office/drawing/2014/main" id="{C326A3DA-4950-45EF-B270-026D75E34498}"/>
              </a:ext>
            </a:extLst>
          </p:cNvPr>
          <p:cNvSpPr>
            <a:spLocks noGrp="1"/>
          </p:cNvSpPr>
          <p:nvPr>
            <p:custDataLst>
              <p:tags r:id="rId25"/>
            </p:custDataLst>
          </p:nvPr>
        </p:nvSpPr>
        <p:spPr bwMode="auto">
          <a:xfrm>
            <a:off x="9996489" y="2241550"/>
            <a:ext cx="720725" cy="258763"/>
          </a:xfrm>
          <a:prstGeom prst="ellipse">
            <a:avLst/>
          </a:prstGeom>
          <a:solidFill>
            <a:srgbClr val="FFFFFF"/>
          </a:solidFill>
          <a:ln w="9525" algn="ctr">
            <a:solidFill>
              <a:schemeClr val="tx1"/>
            </a:solidFill>
          </a:ln>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D9FDCE71-6EFA-492B-9D26-C0798944B3FE}" type="datetime'''''''-8''''''''''8''''''''''''''.''''''''0''''''''5''%'''''''">
              <a:rPr lang="en-US" altLang="en-US" sz="1200" b="1" smtClean="0"/>
              <a:pPr/>
              <a:t>-88.05%</a:t>
            </a:fld>
            <a:endParaRPr lang="en-US" sz="1200" b="1" noProof="0" dirty="0"/>
          </a:p>
        </p:txBody>
      </p:sp>
      <p:sp>
        <p:nvSpPr>
          <p:cNvPr id="169" name="Rectangle 10">
            <a:extLst>
              <a:ext uri="{FF2B5EF4-FFF2-40B4-BE49-F238E27FC236}">
                <a16:creationId xmlns:a16="http://schemas.microsoft.com/office/drawing/2014/main" id="{064961CB-2B4E-47B7-94F5-2662CAD3EC1E}"/>
              </a:ext>
            </a:extLst>
          </p:cNvPr>
          <p:cNvSpPr>
            <a:spLocks noChangeArrowheads="1"/>
          </p:cNvSpPr>
          <p:nvPr/>
        </p:nvSpPr>
        <p:spPr bwMode="auto">
          <a:xfrm>
            <a:off x="501651" y="1559147"/>
            <a:ext cx="4929188" cy="297364"/>
          </a:xfrm>
          <a:prstGeom prst="rect">
            <a:avLst/>
          </a:prstGeom>
          <a:solidFill>
            <a:schemeClr val="accent1">
              <a:alpha val="57000"/>
            </a:schemeClr>
          </a:solidFill>
          <a:ln w="6350">
            <a:solidFill>
              <a:schemeClr val="accent1">
                <a:lumMod val="20000"/>
                <a:lumOff val="80000"/>
              </a:schemeClr>
            </a:solidFill>
          </a:ln>
        </p:spPr>
        <p:txBody>
          <a:bodyPr vert="horz" lIns="0" tIns="0" rIns="0" bIns="0" rtlCol="0" anchor="ctr" anchorCtr="1">
            <a:normAutofit/>
          </a:bodyPr>
          <a:lstStyle/>
          <a:p>
            <a:pPr>
              <a:spcBef>
                <a:spcPts val="600"/>
              </a:spcBef>
            </a:pPr>
            <a:r>
              <a:rPr lang="en-GB" sz="1400" b="1" dirty="0">
                <a:cs typeface="Arial" pitchFamily="34" charset="0"/>
              </a:rPr>
              <a:t>Fuel &amp; Lubricating Oil Inventory as % of Sales</a:t>
            </a:r>
          </a:p>
        </p:txBody>
      </p:sp>
      <p:sp>
        <p:nvSpPr>
          <p:cNvPr id="170" name="Rectangle 10">
            <a:extLst>
              <a:ext uri="{FF2B5EF4-FFF2-40B4-BE49-F238E27FC236}">
                <a16:creationId xmlns:a16="http://schemas.microsoft.com/office/drawing/2014/main" id="{83A47075-D23F-491E-96EC-0B3DEB15E7A0}"/>
              </a:ext>
            </a:extLst>
          </p:cNvPr>
          <p:cNvSpPr>
            <a:spLocks noChangeArrowheads="1"/>
          </p:cNvSpPr>
          <p:nvPr/>
        </p:nvSpPr>
        <p:spPr bwMode="auto">
          <a:xfrm>
            <a:off x="6657181" y="1559897"/>
            <a:ext cx="4929188" cy="297364"/>
          </a:xfrm>
          <a:prstGeom prst="rect">
            <a:avLst/>
          </a:prstGeom>
          <a:solidFill>
            <a:schemeClr val="accent6">
              <a:alpha val="57000"/>
            </a:schemeClr>
          </a:solidFill>
          <a:ln w="6350">
            <a:solidFill>
              <a:schemeClr val="accent5">
                <a:lumMod val="20000"/>
                <a:lumOff val="80000"/>
              </a:schemeClr>
            </a:solidFill>
          </a:ln>
        </p:spPr>
        <p:txBody>
          <a:bodyPr vert="horz" lIns="0" tIns="0" rIns="0" bIns="0" rtlCol="0" anchor="ctr" anchorCtr="1">
            <a:normAutofit/>
          </a:bodyPr>
          <a:lstStyle/>
          <a:p>
            <a:pPr>
              <a:spcBef>
                <a:spcPts val="600"/>
              </a:spcBef>
            </a:pPr>
            <a:r>
              <a:rPr lang="en-GB" sz="1400" b="1" dirty="0">
                <a:cs typeface="Arial" pitchFamily="34" charset="0"/>
              </a:rPr>
              <a:t>Spares Inventory as % of Sales</a:t>
            </a:r>
          </a:p>
        </p:txBody>
      </p:sp>
      <p:sp>
        <p:nvSpPr>
          <p:cNvPr id="188" name="Rectangle 10">
            <a:extLst>
              <a:ext uri="{FF2B5EF4-FFF2-40B4-BE49-F238E27FC236}">
                <a16:creationId xmlns:a16="http://schemas.microsoft.com/office/drawing/2014/main" id="{25FA0CD8-3E0D-4321-956F-D7585EAE5642}"/>
              </a:ext>
            </a:extLst>
          </p:cNvPr>
          <p:cNvSpPr>
            <a:spLocks noChangeArrowheads="1"/>
          </p:cNvSpPr>
          <p:nvPr/>
        </p:nvSpPr>
        <p:spPr bwMode="auto">
          <a:xfrm>
            <a:off x="498793" y="4685426"/>
            <a:ext cx="4932046" cy="1174009"/>
          </a:xfrm>
          <a:prstGeom prst="rect">
            <a:avLst/>
          </a:prstGeom>
          <a:solidFill>
            <a:schemeClr val="accent1">
              <a:lumMod val="20000"/>
              <a:lumOff val="80000"/>
              <a:alpha val="57000"/>
            </a:schemeClr>
          </a:solidFill>
          <a:ln w="6350">
            <a:solidFill>
              <a:schemeClr val="accent1">
                <a:lumMod val="20000"/>
                <a:lumOff val="80000"/>
              </a:schemeClr>
            </a:solidFill>
          </a:ln>
        </p:spPr>
        <p:txBody>
          <a:bodyPr vert="horz" lIns="91440" tIns="91440" rIns="91440" bIns="91440" rtlCol="0" anchor="ctr" anchorCtr="1">
            <a:normAutofit/>
          </a:bodyPr>
          <a:lstStyle/>
          <a:p>
            <a:pPr algn="ctr">
              <a:spcBef>
                <a:spcPts val="600"/>
              </a:spcBef>
            </a:pPr>
            <a:r>
              <a:rPr lang="en-GB" sz="1600" b="1" i="1" dirty="0">
                <a:cs typeface="Arial" pitchFamily="34" charset="0"/>
              </a:rPr>
              <a:t>STELCO is already practising one of the best-in-class Fuel &amp; Lubricating Oil Inventory Management</a:t>
            </a:r>
          </a:p>
        </p:txBody>
      </p:sp>
      <p:sp>
        <p:nvSpPr>
          <p:cNvPr id="189" name="Rectangle 10">
            <a:extLst>
              <a:ext uri="{FF2B5EF4-FFF2-40B4-BE49-F238E27FC236}">
                <a16:creationId xmlns:a16="http://schemas.microsoft.com/office/drawing/2014/main" id="{272324FC-8246-4B13-A995-E5653D464039}"/>
              </a:ext>
            </a:extLst>
          </p:cNvPr>
          <p:cNvSpPr>
            <a:spLocks noChangeArrowheads="1"/>
          </p:cNvSpPr>
          <p:nvPr/>
        </p:nvSpPr>
        <p:spPr bwMode="auto">
          <a:xfrm>
            <a:off x="6657181" y="4691062"/>
            <a:ext cx="4932046" cy="1174009"/>
          </a:xfrm>
          <a:prstGeom prst="rect">
            <a:avLst/>
          </a:prstGeom>
          <a:solidFill>
            <a:schemeClr val="accent6">
              <a:lumMod val="20000"/>
              <a:lumOff val="80000"/>
              <a:alpha val="57000"/>
            </a:schemeClr>
          </a:solidFill>
          <a:ln w="6350">
            <a:solidFill>
              <a:schemeClr val="accent1">
                <a:lumMod val="20000"/>
                <a:lumOff val="80000"/>
              </a:schemeClr>
            </a:solidFill>
          </a:ln>
        </p:spPr>
        <p:txBody>
          <a:bodyPr vert="horz" lIns="91440" tIns="91440" rIns="91440" bIns="91440" rtlCol="0" anchor="ctr" anchorCtr="1">
            <a:normAutofit/>
          </a:bodyPr>
          <a:lstStyle/>
          <a:p>
            <a:pPr algn="ctr">
              <a:spcBef>
                <a:spcPts val="600"/>
              </a:spcBef>
            </a:pPr>
            <a:r>
              <a:rPr lang="en-GB" sz="1600" b="1" i="1" dirty="0">
                <a:cs typeface="Arial" pitchFamily="34" charset="0"/>
              </a:rPr>
              <a:t>STELCO may be able to optimize its spares inventory levels by 40%-50% by following industry best practices and ERP integration</a:t>
            </a:r>
          </a:p>
        </p:txBody>
      </p:sp>
      <p:sp>
        <p:nvSpPr>
          <p:cNvPr id="191" name="TextBox 190">
            <a:extLst>
              <a:ext uri="{FF2B5EF4-FFF2-40B4-BE49-F238E27FC236}">
                <a16:creationId xmlns:a16="http://schemas.microsoft.com/office/drawing/2014/main" id="{D2569A67-B136-4B8D-99C5-E336A7E2B6C0}"/>
              </a:ext>
            </a:extLst>
          </p:cNvPr>
          <p:cNvSpPr txBox="1"/>
          <p:nvPr/>
        </p:nvSpPr>
        <p:spPr>
          <a:xfrm>
            <a:off x="501648" y="6622327"/>
            <a:ext cx="11115921" cy="246221"/>
          </a:xfrm>
          <a:prstGeom prst="rect">
            <a:avLst/>
          </a:prstGeom>
          <a:noFill/>
        </p:spPr>
        <p:txBody>
          <a:bodyPr wrap="square" lIns="0" tIns="0" rIns="0" bIns="0" rtlCol="0">
            <a:spAutoFit/>
          </a:bodyPr>
          <a:lstStyle/>
          <a:p>
            <a:pPr>
              <a:buSzPct val="100000"/>
            </a:pPr>
            <a:r>
              <a:rPr lang="en-US" sz="800" dirty="0">
                <a:solidFill>
                  <a:srgbClr val="313131"/>
                </a:solidFill>
              </a:rPr>
              <a:t>Source: Annual Reports of Utilities considered in Benchmarking. </a:t>
            </a:r>
          </a:p>
          <a:p>
            <a:pPr>
              <a:buSzPct val="100000"/>
            </a:pPr>
            <a:r>
              <a:rPr lang="en-US" sz="800" dirty="0">
                <a:solidFill>
                  <a:srgbClr val="313131"/>
                </a:solidFill>
              </a:rPr>
              <a:t>Note: 1) For STELCO and </a:t>
            </a:r>
            <a:r>
              <a:rPr lang="en-US" sz="800" dirty="0" err="1">
                <a:solidFill>
                  <a:srgbClr val="313131"/>
                </a:solidFill>
              </a:rPr>
              <a:t>Fenaka</a:t>
            </a:r>
            <a:r>
              <a:rPr lang="en-US" sz="800" dirty="0">
                <a:solidFill>
                  <a:srgbClr val="313131"/>
                </a:solidFill>
              </a:rPr>
              <a:t>, the benchmarking has been done on FY18 and FY19 Annual Reports while for CEB Mauritius and EPC Samoa the benchmark has been done basis FY17 and FY18 figures (latest publicly available data)</a:t>
            </a:r>
          </a:p>
        </p:txBody>
      </p:sp>
      <p:sp>
        <p:nvSpPr>
          <p:cNvPr id="89" name="TextBox 88">
            <a:extLst>
              <a:ext uri="{FF2B5EF4-FFF2-40B4-BE49-F238E27FC236}">
                <a16:creationId xmlns:a16="http://schemas.microsoft.com/office/drawing/2014/main" id="{091656CF-FC55-4FB9-A22D-7CFAF55847D3}"/>
              </a:ext>
            </a:extLst>
          </p:cNvPr>
          <p:cNvSpPr txBox="1"/>
          <p:nvPr/>
        </p:nvSpPr>
        <p:spPr>
          <a:xfrm>
            <a:off x="6676232" y="5915732"/>
            <a:ext cx="4910138" cy="338554"/>
          </a:xfrm>
          <a:prstGeom prst="rect">
            <a:avLst/>
          </a:prstGeom>
          <a:noFill/>
        </p:spPr>
        <p:txBody>
          <a:bodyPr wrap="square" lIns="0" tIns="0" rIns="0" bIns="0" rtlCol="0">
            <a:spAutoFit/>
          </a:bodyPr>
          <a:lstStyle/>
          <a:p>
            <a:pPr>
              <a:buSzPct val="100000"/>
            </a:pPr>
            <a:r>
              <a:rPr lang="en-US" sz="1100" i="1" dirty="0">
                <a:solidFill>
                  <a:srgbClr val="313131"/>
                </a:solidFill>
              </a:rPr>
              <a:t>Note: Arrow marks the potential reduction in Spares Inventory that can be targeted for STELCO </a:t>
            </a:r>
          </a:p>
        </p:txBody>
      </p:sp>
    </p:spTree>
    <p:extLst>
      <p:ext uri="{BB962C8B-B14F-4D97-AF65-F5344CB8AC3E}">
        <p14:creationId xmlns:p14="http://schemas.microsoft.com/office/powerpoint/2010/main" val="251481598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Object 58" hidden="1">
            <a:extLst>
              <a:ext uri="{FF2B5EF4-FFF2-40B4-BE49-F238E27FC236}">
                <a16:creationId xmlns:a16="http://schemas.microsoft.com/office/drawing/2014/main" id="{A25CCB05-7EBC-4009-81D2-980E70646E1F}"/>
              </a:ext>
            </a:extLst>
          </p:cNvPr>
          <p:cNvGraphicFramePr>
            <a:graphicFrameLocks noChangeAspect="1"/>
          </p:cNvGraphicFramePr>
          <p:nvPr>
            <p:custDataLst>
              <p:tags r:id="rId1"/>
            </p:custDataLst>
            <p:extLst>
              <p:ext uri="{D42A27DB-BD31-4B8C-83A1-F6EECF244321}">
                <p14:modId xmlns:p14="http://schemas.microsoft.com/office/powerpoint/2010/main" val="2968150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98" imgH="499" progId="TCLayout.ActiveDocument.1">
                  <p:embed/>
                </p:oleObj>
              </mc:Choice>
              <mc:Fallback>
                <p:oleObj name="think-cell Slide" r:id="rId16" imgW="498" imgH="499" progId="TCLayout.ActiveDocument.1">
                  <p:embed/>
                  <p:pic>
                    <p:nvPicPr>
                      <p:cNvPr id="59" name="Object 58" hidden="1">
                        <a:extLst>
                          <a:ext uri="{FF2B5EF4-FFF2-40B4-BE49-F238E27FC236}">
                            <a16:creationId xmlns:a16="http://schemas.microsoft.com/office/drawing/2014/main" id="{A25CCB05-7EBC-4009-81D2-980E70646E1F}"/>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56" name="Text Placeholder 1">
            <a:extLst>
              <a:ext uri="{FF2B5EF4-FFF2-40B4-BE49-F238E27FC236}">
                <a16:creationId xmlns:a16="http://schemas.microsoft.com/office/drawing/2014/main" id="{1E159E32-CF7E-4000-851A-9D2889C481BC}"/>
              </a:ext>
            </a:extLst>
          </p:cNvPr>
          <p:cNvSpPr>
            <a:spLocks noGrp="1"/>
          </p:cNvSpPr>
          <p:nvPr>
            <p:ph type="body" sz="quarter" idx="13"/>
          </p:nvPr>
        </p:nvSpPr>
        <p:spPr>
          <a:xfrm>
            <a:off x="501650" y="651600"/>
            <a:ext cx="11188700" cy="757255"/>
          </a:xfrm>
        </p:spPr>
        <p:txBody>
          <a:bodyPr/>
          <a:lstStyle/>
          <a:p>
            <a:pPr algn="just"/>
            <a:r>
              <a:rPr lang="en-US" dirty="0"/>
              <a:t>STELCO’s fuel efficiency while higher than most peers still provides an opportunity for optimization by timely maintenance, monitoring and tracking of fuel supply chain</a:t>
            </a:r>
          </a:p>
        </p:txBody>
      </p:sp>
      <p:sp>
        <p:nvSpPr>
          <p:cNvPr id="57" name="Title 5">
            <a:extLst>
              <a:ext uri="{FF2B5EF4-FFF2-40B4-BE49-F238E27FC236}">
                <a16:creationId xmlns:a16="http://schemas.microsoft.com/office/drawing/2014/main" id="{FCD26E0C-B5C4-4927-98D1-16C73688CCF8}"/>
              </a:ext>
            </a:extLst>
          </p:cNvPr>
          <p:cNvSpPr>
            <a:spLocks noGrp="1"/>
          </p:cNvSpPr>
          <p:nvPr>
            <p:ph type="title"/>
          </p:nvPr>
        </p:nvSpPr>
        <p:spPr>
          <a:xfrm>
            <a:off x="501650" y="317500"/>
            <a:ext cx="11188700" cy="334099"/>
          </a:xfrm>
        </p:spPr>
        <p:txBody>
          <a:bodyPr vert="horz"/>
          <a:lstStyle/>
          <a:p>
            <a:r>
              <a:rPr lang="en-US" dirty="0"/>
              <a:t>Peer Group – Fuel Efficiency Benchmarking</a:t>
            </a:r>
            <a:endParaRPr lang="en-GB" dirty="0"/>
          </a:p>
        </p:txBody>
      </p:sp>
      <p:graphicFrame>
        <p:nvGraphicFramePr>
          <p:cNvPr id="90" name="Chart 89">
            <a:extLst>
              <a:ext uri="{FF2B5EF4-FFF2-40B4-BE49-F238E27FC236}">
                <a16:creationId xmlns:a16="http://schemas.microsoft.com/office/drawing/2014/main" id="{DE9CC746-9077-4E73-9D02-9BA258307601}"/>
              </a:ext>
            </a:extLst>
          </p:cNvPr>
          <p:cNvGraphicFramePr/>
          <p:nvPr>
            <p:custDataLst>
              <p:tags r:id="rId2"/>
            </p:custDataLst>
            <p:extLst>
              <p:ext uri="{D42A27DB-BD31-4B8C-83A1-F6EECF244321}">
                <p14:modId xmlns:p14="http://schemas.microsoft.com/office/powerpoint/2010/main" val="343968789"/>
              </p:ext>
            </p:extLst>
          </p:nvPr>
        </p:nvGraphicFramePr>
        <p:xfrm>
          <a:off x="419100" y="2524125"/>
          <a:ext cx="6584950" cy="2243138"/>
        </p:xfrm>
        <a:graphic>
          <a:graphicData uri="http://schemas.openxmlformats.org/drawingml/2006/chart">
            <c:chart xmlns:c="http://schemas.openxmlformats.org/drawingml/2006/chart" xmlns:r="http://schemas.openxmlformats.org/officeDocument/2006/relationships" r:id="rId18"/>
          </a:graphicData>
        </a:graphic>
      </p:graphicFrame>
      <p:cxnSp>
        <p:nvCxnSpPr>
          <p:cNvPr id="17" name="Straight Connector 16">
            <a:extLst>
              <a:ext uri="{FF2B5EF4-FFF2-40B4-BE49-F238E27FC236}">
                <a16:creationId xmlns:a16="http://schemas.microsoft.com/office/drawing/2014/main" id="{1D5C5ABC-241B-45A6-883C-9CB3C83F475B}"/>
              </a:ext>
            </a:extLst>
          </p:cNvPr>
          <p:cNvCxnSpPr/>
          <p:nvPr>
            <p:custDataLst>
              <p:tags r:id="rId3"/>
            </p:custDataLst>
          </p:nvPr>
        </p:nvCxnSpPr>
        <p:spPr bwMode="auto">
          <a:xfrm>
            <a:off x="3176588" y="2319338"/>
            <a:ext cx="0" cy="188913"/>
          </a:xfrm>
          <a:prstGeom prst="line">
            <a:avLst/>
          </a:prstGeom>
          <a:ln w="6350" cap="flat" cmpd="sng" algn="ctr">
            <a:solidFill>
              <a:schemeClr val="tx1"/>
            </a:solidFill>
            <a:prstDash val="solid"/>
            <a:round/>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27A21EF1-C4EF-40D1-B98A-A504F6A6C67E}"/>
              </a:ext>
            </a:extLst>
          </p:cNvPr>
          <p:cNvCxnSpPr/>
          <p:nvPr>
            <p:custDataLst>
              <p:tags r:id="rId4"/>
            </p:custDataLst>
          </p:nvPr>
        </p:nvCxnSpPr>
        <p:spPr bwMode="auto">
          <a:xfrm flipV="1">
            <a:off x="1036638" y="2319337"/>
            <a:ext cx="0" cy="592138"/>
          </a:xfrm>
          <a:prstGeom prst="line">
            <a:avLst/>
          </a:prstGeom>
          <a:ln w="6350" cap="flat" cmpd="sng" algn="ctr">
            <a:solidFill>
              <a:schemeClr val="tx1"/>
            </a:solidFill>
            <a:prstDash val="solid"/>
            <a:roun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6A4CAE0-CB7C-4BD1-9FCB-D6D3AA674A7A}"/>
              </a:ext>
            </a:extLst>
          </p:cNvPr>
          <p:cNvCxnSpPr/>
          <p:nvPr>
            <p:custDataLst>
              <p:tags r:id="rId5"/>
            </p:custDataLst>
          </p:nvPr>
        </p:nvCxnSpPr>
        <p:spPr bwMode="auto">
          <a:xfrm>
            <a:off x="4246563" y="2319338"/>
            <a:ext cx="0" cy="473075"/>
          </a:xfrm>
          <a:prstGeom prst="line">
            <a:avLst/>
          </a:prstGeom>
          <a:ln w="6350" cap="flat" cmpd="sng" algn="ctr">
            <a:solidFill>
              <a:schemeClr val="tx1"/>
            </a:solidFill>
            <a:prstDash val="solid"/>
            <a:round/>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4E7DC661-F40A-416F-A27C-8CF4981CDF69}"/>
              </a:ext>
            </a:extLst>
          </p:cNvPr>
          <p:cNvCxnSpPr/>
          <p:nvPr>
            <p:custDataLst>
              <p:tags r:id="rId6"/>
            </p:custDataLst>
          </p:nvPr>
        </p:nvCxnSpPr>
        <p:spPr bwMode="auto">
          <a:xfrm>
            <a:off x="1036638" y="2319338"/>
            <a:ext cx="3209925" cy="0"/>
          </a:xfrm>
          <a:prstGeom prst="line">
            <a:avLst/>
          </a:prstGeom>
          <a:ln w="6350" cap="flat" cmpd="sng" algn="ctr">
            <a:solidFill>
              <a:schemeClr val="tx1"/>
            </a:solidFill>
            <a:prstDash val="solid"/>
            <a:round/>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4" name="Text Placeholder 18">
            <a:extLst>
              <a:ext uri="{FF2B5EF4-FFF2-40B4-BE49-F238E27FC236}">
                <a16:creationId xmlns:a16="http://schemas.microsoft.com/office/drawing/2014/main" id="{49ECE79E-AF9B-4E77-B5A1-8888C884327B}"/>
              </a:ext>
            </a:extLst>
          </p:cNvPr>
          <p:cNvSpPr>
            <a:spLocks noGrp="1"/>
          </p:cNvSpPr>
          <p:nvPr>
            <p:custDataLst>
              <p:tags r:id="rId7"/>
            </p:custDataLst>
          </p:nvPr>
        </p:nvSpPr>
        <p:spPr bwMode="auto">
          <a:xfrm>
            <a:off x="762000" y="4802188"/>
            <a:ext cx="550863"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E9655663-8C96-4FBD-B53C-2676238540AF}" type="datetime'''''''''''''''''''''''S''''''''''TE''L''''''C''O'''''">
              <a:rPr lang="en-US" altLang="en-US" sz="1400" smtClean="0"/>
              <a:pPr/>
              <a:t>STELCO</a:t>
            </a:fld>
            <a:endParaRPr lang="en-US" sz="1400" noProof="0" dirty="0"/>
          </a:p>
        </p:txBody>
      </p:sp>
      <p:sp>
        <p:nvSpPr>
          <p:cNvPr id="42" name="Text Placeholder 18">
            <a:extLst>
              <a:ext uri="{FF2B5EF4-FFF2-40B4-BE49-F238E27FC236}">
                <a16:creationId xmlns:a16="http://schemas.microsoft.com/office/drawing/2014/main" id="{3F9517DB-8B0C-44B7-B22B-1DDB0518F964}"/>
              </a:ext>
            </a:extLst>
          </p:cNvPr>
          <p:cNvSpPr>
            <a:spLocks noGrp="1"/>
          </p:cNvSpPr>
          <p:nvPr>
            <p:custDataLst>
              <p:tags r:id="rId8"/>
            </p:custDataLst>
          </p:nvPr>
        </p:nvSpPr>
        <p:spPr bwMode="auto">
          <a:xfrm>
            <a:off x="1809750" y="4802188"/>
            <a:ext cx="593725"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191C0443-C76A-4DA1-BBC5-45F10AE3ADBA}" type="datetime'F''''''''''E''N''''A''''''''''''K''''''''A'''''''''''''">
              <a:rPr lang="en-US" altLang="en-US" sz="1400" smtClean="0"/>
              <a:pPr/>
              <a:t>FENAKA</a:t>
            </a:fld>
            <a:endParaRPr lang="en-US" sz="1400" noProof="0" dirty="0"/>
          </a:p>
        </p:txBody>
      </p:sp>
      <p:sp>
        <p:nvSpPr>
          <p:cNvPr id="45" name="Text Placeholder 18">
            <a:extLst>
              <a:ext uri="{FF2B5EF4-FFF2-40B4-BE49-F238E27FC236}">
                <a16:creationId xmlns:a16="http://schemas.microsoft.com/office/drawing/2014/main" id="{180683E4-EB8D-4323-A981-FE138808EE4B}"/>
              </a:ext>
            </a:extLst>
          </p:cNvPr>
          <p:cNvSpPr>
            <a:spLocks noGrp="1"/>
          </p:cNvSpPr>
          <p:nvPr>
            <p:custDataLst>
              <p:tags r:id="rId9"/>
            </p:custDataLst>
          </p:nvPr>
        </p:nvSpPr>
        <p:spPr bwMode="auto">
          <a:xfrm>
            <a:off x="2660650" y="4802188"/>
            <a:ext cx="1031875"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FB3616C6-3A12-461D-9094-1E3ED6C48947}" type="datetime'C''''''E''''''''''''B M''''''''a''''''u''''''''''r''i''''tius'">
              <a:rPr lang="en-US" altLang="en-US" sz="1400" smtClean="0"/>
              <a:pPr/>
              <a:t>CEB Mauritius</a:t>
            </a:fld>
            <a:endParaRPr lang="en-US" sz="1400" noProof="0" dirty="0"/>
          </a:p>
        </p:txBody>
      </p:sp>
      <p:sp>
        <p:nvSpPr>
          <p:cNvPr id="48" name="Text Placeholder 18">
            <a:extLst>
              <a:ext uri="{FF2B5EF4-FFF2-40B4-BE49-F238E27FC236}">
                <a16:creationId xmlns:a16="http://schemas.microsoft.com/office/drawing/2014/main" id="{E4457E6E-8512-4E14-B969-5DD490DF9570}"/>
              </a:ext>
            </a:extLst>
          </p:cNvPr>
          <p:cNvSpPr>
            <a:spLocks noGrp="1"/>
          </p:cNvSpPr>
          <p:nvPr>
            <p:custDataLst>
              <p:tags r:id="rId10"/>
            </p:custDataLst>
          </p:nvPr>
        </p:nvSpPr>
        <p:spPr bwMode="auto">
          <a:xfrm>
            <a:off x="3792538" y="4802188"/>
            <a:ext cx="908050"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046FCF9B-4AB2-4A0A-9D51-DEFDE02C139F}" type="datetime'''''''''EP''''''C'' ''''- ''''''Sa''''''''m''''''o''a'''''''''">
              <a:rPr lang="en-US" altLang="en-US" sz="1400" smtClean="0"/>
              <a:pPr/>
              <a:t>EPC - Samoa</a:t>
            </a:fld>
            <a:endParaRPr lang="en-US" sz="1400" noProof="0" dirty="0"/>
          </a:p>
        </p:txBody>
      </p:sp>
      <p:sp>
        <p:nvSpPr>
          <p:cNvPr id="41" name="Text Placeholder 18">
            <a:extLst>
              <a:ext uri="{FF2B5EF4-FFF2-40B4-BE49-F238E27FC236}">
                <a16:creationId xmlns:a16="http://schemas.microsoft.com/office/drawing/2014/main" id="{CF8780D6-CC98-4FF7-894C-C3BB2ABE73C7}"/>
              </a:ext>
            </a:extLst>
          </p:cNvPr>
          <p:cNvSpPr>
            <a:spLocks noGrp="1"/>
          </p:cNvSpPr>
          <p:nvPr>
            <p:custDataLst>
              <p:tags r:id="rId11"/>
            </p:custDataLst>
          </p:nvPr>
        </p:nvSpPr>
        <p:spPr bwMode="auto">
          <a:xfrm>
            <a:off x="4859337" y="4802188"/>
            <a:ext cx="914400"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D8A05C66-1D36-42E0-8FCF-DF2841658793}" type="datetime'''C''o''ok'''''''''' ''''I''''sl''''''''and''s'''''''''">
              <a:rPr lang="en-US" altLang="en-US" sz="1400" smtClean="0"/>
              <a:pPr/>
              <a:t>Cook Islands</a:t>
            </a:fld>
            <a:endParaRPr lang="en-US" sz="1400" noProof="0" dirty="0"/>
          </a:p>
        </p:txBody>
      </p:sp>
      <p:sp>
        <p:nvSpPr>
          <p:cNvPr id="47" name="Text Placeholder 18">
            <a:extLst>
              <a:ext uri="{FF2B5EF4-FFF2-40B4-BE49-F238E27FC236}">
                <a16:creationId xmlns:a16="http://schemas.microsoft.com/office/drawing/2014/main" id="{93B2C6A8-B45A-486F-83CA-F817CC141BC6}"/>
              </a:ext>
            </a:extLst>
          </p:cNvPr>
          <p:cNvSpPr>
            <a:spLocks noGrp="1"/>
          </p:cNvSpPr>
          <p:nvPr>
            <p:custDataLst>
              <p:tags r:id="rId12"/>
            </p:custDataLst>
          </p:nvPr>
        </p:nvSpPr>
        <p:spPr bwMode="auto">
          <a:xfrm>
            <a:off x="5942013" y="4802188"/>
            <a:ext cx="889000" cy="2127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F2AA7DE6-A600-4026-9447-294370830EDD}" type="datetime'''''A''&amp;''''''''N'''' ''I''''''s''''l''a''''n''d''s'">
              <a:rPr lang="en-US" altLang="en-US" sz="1400" smtClean="0"/>
              <a:pPr/>
              <a:t>A&amp;N Islands</a:t>
            </a:fld>
            <a:endParaRPr lang="en-US" sz="1400" noProof="0" dirty="0"/>
          </a:p>
        </p:txBody>
      </p:sp>
      <p:sp>
        <p:nvSpPr>
          <p:cNvPr id="64" name="Text Placeholder 18">
            <a:extLst>
              <a:ext uri="{FF2B5EF4-FFF2-40B4-BE49-F238E27FC236}">
                <a16:creationId xmlns:a16="http://schemas.microsoft.com/office/drawing/2014/main" id="{4B680890-F2D7-40A8-BFF2-E5421F1D5252}"/>
              </a:ext>
            </a:extLst>
          </p:cNvPr>
          <p:cNvSpPr>
            <a:spLocks noGrp="1"/>
          </p:cNvSpPr>
          <p:nvPr>
            <p:custDataLst>
              <p:tags r:id="rId13"/>
            </p:custDataLst>
          </p:nvPr>
        </p:nvSpPr>
        <p:spPr bwMode="auto">
          <a:xfrm>
            <a:off x="1662113" y="2168525"/>
            <a:ext cx="890588" cy="301625"/>
          </a:xfrm>
          <a:prstGeom prst="ellipse">
            <a:avLst/>
          </a:prstGeom>
          <a:solidFill>
            <a:srgbClr val="FFFFFF"/>
          </a:solidFill>
          <a:ln w="9525" algn="ctr">
            <a:solidFill>
              <a:schemeClr val="tx1"/>
            </a:solidFill>
          </a:ln>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9B03F327-E54A-481B-AAA4-49C6661AA527}" type="datetime'''+2''''''6''''''''''''''''''''''.9''''''9''''''''''''%'''">
              <a:rPr lang="en-US" altLang="en-US" sz="1400" b="1" smtClean="0"/>
              <a:pPr algn="ctr">
                <a:spcBef>
                  <a:spcPct val="0"/>
                </a:spcBef>
                <a:spcAft>
                  <a:spcPct val="0"/>
                </a:spcAft>
              </a:pPr>
              <a:t>+26.99%</a:t>
            </a:fld>
            <a:endParaRPr lang="en-US" sz="1400" b="1" noProof="0" dirty="0"/>
          </a:p>
        </p:txBody>
      </p:sp>
      <p:sp>
        <p:nvSpPr>
          <p:cNvPr id="69" name="Text Placeholder 18">
            <a:extLst>
              <a:ext uri="{FF2B5EF4-FFF2-40B4-BE49-F238E27FC236}">
                <a16:creationId xmlns:a16="http://schemas.microsoft.com/office/drawing/2014/main" id="{8977BE98-6818-4A53-8734-87A777B37AEC}"/>
              </a:ext>
            </a:extLst>
          </p:cNvPr>
          <p:cNvSpPr>
            <a:spLocks noGrp="1"/>
          </p:cNvSpPr>
          <p:nvPr>
            <p:custDataLst>
              <p:tags r:id="rId14"/>
            </p:custDataLst>
          </p:nvPr>
        </p:nvSpPr>
        <p:spPr bwMode="auto">
          <a:xfrm>
            <a:off x="3330575" y="2168525"/>
            <a:ext cx="762000" cy="301625"/>
          </a:xfrm>
          <a:prstGeom prst="ellipse">
            <a:avLst/>
          </a:prstGeom>
          <a:solidFill>
            <a:srgbClr val="FFFFFF"/>
          </a:solidFill>
          <a:ln w="9525" algn="ctr">
            <a:solidFill>
              <a:schemeClr val="tx1"/>
            </a:solidFill>
          </a:ln>
        </p:spPr>
        <p:txBody>
          <a:bodyPr vert="horz" wrap="none" lIns="0" tIns="0" rIns="0" bIns="0" numCol="1" spcCol="0" rtlCol="0" anchor="ctr" anchorCtr="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ctr">
              <a:spcBef>
                <a:spcPct val="0"/>
              </a:spcBef>
              <a:spcAft>
                <a:spcPct val="0"/>
              </a:spcAft>
            </a:pPr>
            <a:fld id="{8DF0FC23-DA2F-47CA-A577-CB358E5B523D}" type="datetime'''+7''''''''''''.''''''''''''''''''''''97''%'''''''''">
              <a:rPr lang="en-US" altLang="en-US" sz="1400" b="1" smtClean="0"/>
              <a:pPr algn="ctr">
                <a:spcBef>
                  <a:spcPct val="0"/>
                </a:spcBef>
                <a:spcAft>
                  <a:spcPct val="0"/>
                </a:spcAft>
              </a:pPr>
              <a:t>+7.97%</a:t>
            </a:fld>
            <a:endParaRPr lang="en-US" sz="1400" b="1" noProof="0" dirty="0"/>
          </a:p>
        </p:txBody>
      </p:sp>
      <p:sp>
        <p:nvSpPr>
          <p:cNvPr id="169" name="Rectangle 10">
            <a:extLst>
              <a:ext uri="{FF2B5EF4-FFF2-40B4-BE49-F238E27FC236}">
                <a16:creationId xmlns:a16="http://schemas.microsoft.com/office/drawing/2014/main" id="{064961CB-2B4E-47B7-94F5-2662CAD3EC1E}"/>
              </a:ext>
            </a:extLst>
          </p:cNvPr>
          <p:cNvSpPr>
            <a:spLocks noChangeArrowheads="1"/>
          </p:cNvSpPr>
          <p:nvPr/>
        </p:nvSpPr>
        <p:spPr bwMode="auto">
          <a:xfrm>
            <a:off x="501651" y="1559146"/>
            <a:ext cx="6502393" cy="466423"/>
          </a:xfrm>
          <a:prstGeom prst="rect">
            <a:avLst/>
          </a:prstGeom>
          <a:solidFill>
            <a:schemeClr val="accent1">
              <a:alpha val="57000"/>
            </a:schemeClr>
          </a:solidFill>
          <a:ln w="6350">
            <a:solidFill>
              <a:schemeClr val="accent1">
                <a:lumMod val="20000"/>
                <a:lumOff val="80000"/>
              </a:schemeClr>
            </a:solidFill>
          </a:ln>
        </p:spPr>
        <p:txBody>
          <a:bodyPr vert="horz" lIns="0" tIns="0" rIns="0" bIns="0" rtlCol="0" anchor="ctr" anchorCtr="1">
            <a:normAutofit/>
          </a:bodyPr>
          <a:lstStyle/>
          <a:p>
            <a:pPr>
              <a:spcBef>
                <a:spcPts val="600"/>
              </a:spcBef>
            </a:pPr>
            <a:r>
              <a:rPr lang="en-GB" sz="1400" b="1" dirty="0">
                <a:cs typeface="Arial" pitchFamily="34" charset="0"/>
              </a:rPr>
              <a:t>Fuel Efficiency (Units / </a:t>
            </a:r>
            <a:r>
              <a:rPr lang="en-GB" sz="1400" b="1" dirty="0" err="1">
                <a:cs typeface="Arial" pitchFamily="34" charset="0"/>
              </a:rPr>
              <a:t>Liter</a:t>
            </a:r>
            <a:r>
              <a:rPr lang="en-GB" sz="1400" b="1" dirty="0">
                <a:cs typeface="Arial" pitchFamily="34" charset="0"/>
              </a:rPr>
              <a:t>) – Higher is Better</a:t>
            </a:r>
          </a:p>
        </p:txBody>
      </p:sp>
      <p:sp>
        <p:nvSpPr>
          <p:cNvPr id="188" name="Rectangle 10">
            <a:extLst>
              <a:ext uri="{FF2B5EF4-FFF2-40B4-BE49-F238E27FC236}">
                <a16:creationId xmlns:a16="http://schemas.microsoft.com/office/drawing/2014/main" id="{25FA0CD8-3E0D-4321-956F-D7585EAE5642}"/>
              </a:ext>
            </a:extLst>
          </p:cNvPr>
          <p:cNvSpPr>
            <a:spLocks noChangeArrowheads="1"/>
          </p:cNvSpPr>
          <p:nvPr/>
        </p:nvSpPr>
        <p:spPr bwMode="auto">
          <a:xfrm>
            <a:off x="537122" y="4980644"/>
            <a:ext cx="6505251" cy="747790"/>
          </a:xfrm>
          <a:prstGeom prst="rect">
            <a:avLst/>
          </a:prstGeom>
          <a:solidFill>
            <a:schemeClr val="accent1">
              <a:lumMod val="20000"/>
              <a:lumOff val="80000"/>
              <a:alpha val="57000"/>
            </a:schemeClr>
          </a:solidFill>
          <a:ln w="6350">
            <a:solidFill>
              <a:schemeClr val="accent1">
                <a:lumMod val="20000"/>
                <a:lumOff val="80000"/>
              </a:schemeClr>
            </a:solidFill>
          </a:ln>
        </p:spPr>
        <p:txBody>
          <a:bodyPr vert="horz" lIns="91440" tIns="91440" rIns="91440" bIns="91440" rtlCol="0" anchor="ctr" anchorCtr="1">
            <a:normAutofit/>
          </a:bodyPr>
          <a:lstStyle/>
          <a:p>
            <a:pPr algn="ctr">
              <a:spcBef>
                <a:spcPts val="600"/>
              </a:spcBef>
            </a:pPr>
            <a:r>
              <a:rPr lang="en-GB" sz="1600" b="1" i="1" dirty="0">
                <a:cs typeface="Arial" pitchFamily="34" charset="0"/>
              </a:rPr>
              <a:t>STELCO can expect to improve its fuel efficiency by 10-25% to achieve best-in-class consumption factor</a:t>
            </a:r>
          </a:p>
        </p:txBody>
      </p:sp>
      <p:sp>
        <p:nvSpPr>
          <p:cNvPr id="191" name="TextBox 190">
            <a:extLst>
              <a:ext uri="{FF2B5EF4-FFF2-40B4-BE49-F238E27FC236}">
                <a16:creationId xmlns:a16="http://schemas.microsoft.com/office/drawing/2014/main" id="{D2569A67-B136-4B8D-99C5-E336A7E2B6C0}"/>
              </a:ext>
            </a:extLst>
          </p:cNvPr>
          <p:cNvSpPr txBox="1"/>
          <p:nvPr/>
        </p:nvSpPr>
        <p:spPr>
          <a:xfrm>
            <a:off x="501648" y="6622327"/>
            <a:ext cx="11115921" cy="246221"/>
          </a:xfrm>
          <a:prstGeom prst="rect">
            <a:avLst/>
          </a:prstGeom>
          <a:noFill/>
        </p:spPr>
        <p:txBody>
          <a:bodyPr wrap="square" lIns="0" tIns="0" rIns="0" bIns="0" rtlCol="0">
            <a:spAutoFit/>
          </a:bodyPr>
          <a:lstStyle/>
          <a:p>
            <a:pPr>
              <a:buSzPct val="100000"/>
            </a:pPr>
            <a:r>
              <a:rPr lang="en-US" sz="800" dirty="0">
                <a:solidFill>
                  <a:srgbClr val="313131"/>
                </a:solidFill>
              </a:rPr>
              <a:t>Source: Industry Reports</a:t>
            </a:r>
          </a:p>
          <a:p>
            <a:pPr>
              <a:buSzPct val="100000"/>
            </a:pPr>
            <a:r>
              <a:rPr lang="en-US" sz="800" dirty="0">
                <a:solidFill>
                  <a:srgbClr val="313131"/>
                </a:solidFill>
              </a:rPr>
              <a:t>Note: 1) Improvement in Fuel Efficiency may require installation of OT Tools for Fuel Supply Monitoring and Quality Assurance apart from standard ERP Modules for Maintenance, Procurement among others </a:t>
            </a:r>
          </a:p>
        </p:txBody>
      </p:sp>
      <p:sp>
        <p:nvSpPr>
          <p:cNvPr id="75" name="TextBox 74">
            <a:extLst>
              <a:ext uri="{FF2B5EF4-FFF2-40B4-BE49-F238E27FC236}">
                <a16:creationId xmlns:a16="http://schemas.microsoft.com/office/drawing/2014/main" id="{96EF2FE7-A889-4D46-9352-07E36A0C0AC9}"/>
              </a:ext>
            </a:extLst>
          </p:cNvPr>
          <p:cNvSpPr txBox="1"/>
          <p:nvPr/>
        </p:nvSpPr>
        <p:spPr>
          <a:xfrm>
            <a:off x="504826" y="6073637"/>
            <a:ext cx="7483473" cy="169277"/>
          </a:xfrm>
          <a:prstGeom prst="rect">
            <a:avLst/>
          </a:prstGeom>
          <a:noFill/>
        </p:spPr>
        <p:txBody>
          <a:bodyPr wrap="square" lIns="0" tIns="0" rIns="0" bIns="0" rtlCol="0">
            <a:spAutoFit/>
          </a:bodyPr>
          <a:lstStyle/>
          <a:p>
            <a:pPr>
              <a:buSzPct val="100000"/>
            </a:pPr>
            <a:r>
              <a:rPr lang="en-US" sz="1100" i="1" dirty="0">
                <a:solidFill>
                  <a:srgbClr val="313131"/>
                </a:solidFill>
              </a:rPr>
              <a:t>Note: Arrow marks the potential increase in Fuel Efficiency that can be targeted for STELCO</a:t>
            </a:r>
          </a:p>
        </p:txBody>
      </p:sp>
      <p:sp>
        <p:nvSpPr>
          <p:cNvPr id="22" name="Isosceles Triangle 21">
            <a:extLst>
              <a:ext uri="{FF2B5EF4-FFF2-40B4-BE49-F238E27FC236}">
                <a16:creationId xmlns:a16="http://schemas.microsoft.com/office/drawing/2014/main" id="{6CCC0AAC-E811-4DDB-9A20-225E02F22ADA}"/>
              </a:ext>
            </a:extLst>
          </p:cNvPr>
          <p:cNvSpPr/>
          <p:nvPr/>
        </p:nvSpPr>
        <p:spPr bwMode="gray">
          <a:xfrm rot="5400000">
            <a:off x="5848776" y="3788754"/>
            <a:ext cx="3409097" cy="470265"/>
          </a:xfrm>
          <a:prstGeom prst="triangle">
            <a:avLst/>
          </a:prstGeom>
          <a:solidFill>
            <a:schemeClr val="bg1">
              <a:lumMod val="8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pSp>
        <p:nvGrpSpPr>
          <p:cNvPr id="28" name="Group 27">
            <a:extLst>
              <a:ext uri="{FF2B5EF4-FFF2-40B4-BE49-F238E27FC236}">
                <a16:creationId xmlns:a16="http://schemas.microsoft.com/office/drawing/2014/main" id="{B5C8E3E4-070D-4AF7-930F-F6ABECE28B0F}"/>
              </a:ext>
            </a:extLst>
          </p:cNvPr>
          <p:cNvGrpSpPr/>
          <p:nvPr/>
        </p:nvGrpSpPr>
        <p:grpSpPr>
          <a:xfrm>
            <a:off x="7932551" y="2439233"/>
            <a:ext cx="3722326" cy="499881"/>
            <a:chOff x="7932551" y="2439233"/>
            <a:chExt cx="3722326" cy="499881"/>
          </a:xfrm>
        </p:grpSpPr>
        <p:sp>
          <p:nvSpPr>
            <p:cNvPr id="23" name="Oval 22">
              <a:extLst>
                <a:ext uri="{FF2B5EF4-FFF2-40B4-BE49-F238E27FC236}">
                  <a16:creationId xmlns:a16="http://schemas.microsoft.com/office/drawing/2014/main" id="{DBB39748-1FCC-4096-A54E-7A77BE5C92FA}"/>
                </a:ext>
              </a:extLst>
            </p:cNvPr>
            <p:cNvSpPr/>
            <p:nvPr/>
          </p:nvSpPr>
          <p:spPr bwMode="gray">
            <a:xfrm>
              <a:off x="7932551" y="2439233"/>
              <a:ext cx="499881" cy="499881"/>
            </a:xfrm>
            <a:prstGeom prst="ellips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1</a:t>
              </a:r>
            </a:p>
          </p:txBody>
        </p:sp>
        <p:sp>
          <p:nvSpPr>
            <p:cNvPr id="24" name="Rectangle: Rounded Corners 23">
              <a:extLst>
                <a:ext uri="{FF2B5EF4-FFF2-40B4-BE49-F238E27FC236}">
                  <a16:creationId xmlns:a16="http://schemas.microsoft.com/office/drawing/2014/main" id="{C1CE6AEB-C195-45B0-88B2-B51F5DB2737B}"/>
                </a:ext>
              </a:extLst>
            </p:cNvPr>
            <p:cNvSpPr/>
            <p:nvPr/>
          </p:nvSpPr>
          <p:spPr bwMode="gray">
            <a:xfrm>
              <a:off x="8497157" y="2439233"/>
              <a:ext cx="3157720" cy="499881"/>
            </a:xfrm>
            <a:prstGeom prst="round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Timely Maintenance</a:t>
              </a:r>
            </a:p>
          </p:txBody>
        </p:sp>
      </p:grpSp>
      <p:grpSp>
        <p:nvGrpSpPr>
          <p:cNvPr id="26" name="Group 25">
            <a:extLst>
              <a:ext uri="{FF2B5EF4-FFF2-40B4-BE49-F238E27FC236}">
                <a16:creationId xmlns:a16="http://schemas.microsoft.com/office/drawing/2014/main" id="{D636E416-B82A-4390-BAEE-A1D6E28C4ECC}"/>
              </a:ext>
            </a:extLst>
          </p:cNvPr>
          <p:cNvGrpSpPr/>
          <p:nvPr/>
        </p:nvGrpSpPr>
        <p:grpSpPr>
          <a:xfrm>
            <a:off x="7932212" y="3741570"/>
            <a:ext cx="3722326" cy="499881"/>
            <a:chOff x="7932212" y="3799380"/>
            <a:chExt cx="3722326" cy="499881"/>
          </a:xfrm>
        </p:grpSpPr>
        <p:sp>
          <p:nvSpPr>
            <p:cNvPr id="81" name="Oval 80">
              <a:extLst>
                <a:ext uri="{FF2B5EF4-FFF2-40B4-BE49-F238E27FC236}">
                  <a16:creationId xmlns:a16="http://schemas.microsoft.com/office/drawing/2014/main" id="{9A57613B-B78D-46B0-99FF-45BBB8723A47}"/>
                </a:ext>
              </a:extLst>
            </p:cNvPr>
            <p:cNvSpPr/>
            <p:nvPr/>
          </p:nvSpPr>
          <p:spPr bwMode="gray">
            <a:xfrm>
              <a:off x="7932212" y="3799380"/>
              <a:ext cx="499881" cy="499881"/>
            </a:xfrm>
            <a:prstGeom prst="ellipse">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2</a:t>
              </a:r>
            </a:p>
          </p:txBody>
        </p:sp>
        <p:sp>
          <p:nvSpPr>
            <p:cNvPr id="82" name="Rectangle: Rounded Corners 81">
              <a:extLst>
                <a:ext uri="{FF2B5EF4-FFF2-40B4-BE49-F238E27FC236}">
                  <a16:creationId xmlns:a16="http://schemas.microsoft.com/office/drawing/2014/main" id="{484BDDBE-AA76-40D2-988A-DEA238663244}"/>
                </a:ext>
              </a:extLst>
            </p:cNvPr>
            <p:cNvSpPr/>
            <p:nvPr/>
          </p:nvSpPr>
          <p:spPr bwMode="gray">
            <a:xfrm>
              <a:off x="8496818" y="3799380"/>
              <a:ext cx="3157720" cy="499881"/>
            </a:xfrm>
            <a:prstGeom prst="round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Improved Fuel Consumption Monitoring</a:t>
              </a:r>
            </a:p>
          </p:txBody>
        </p:sp>
      </p:grpSp>
      <p:grpSp>
        <p:nvGrpSpPr>
          <p:cNvPr id="27" name="Group 26">
            <a:extLst>
              <a:ext uri="{FF2B5EF4-FFF2-40B4-BE49-F238E27FC236}">
                <a16:creationId xmlns:a16="http://schemas.microsoft.com/office/drawing/2014/main" id="{26AB1D26-51D8-491D-8D7B-F82BF7B55B00}"/>
              </a:ext>
            </a:extLst>
          </p:cNvPr>
          <p:cNvGrpSpPr/>
          <p:nvPr/>
        </p:nvGrpSpPr>
        <p:grpSpPr>
          <a:xfrm>
            <a:off x="7932550" y="5043907"/>
            <a:ext cx="3722327" cy="499881"/>
            <a:chOff x="7932550" y="5043907"/>
            <a:chExt cx="3722327" cy="499881"/>
          </a:xfrm>
        </p:grpSpPr>
        <p:sp>
          <p:nvSpPr>
            <p:cNvPr id="83" name="Oval 82">
              <a:extLst>
                <a:ext uri="{FF2B5EF4-FFF2-40B4-BE49-F238E27FC236}">
                  <a16:creationId xmlns:a16="http://schemas.microsoft.com/office/drawing/2014/main" id="{4F17E0F8-C444-4554-96B8-B8B76243631B}"/>
                </a:ext>
              </a:extLst>
            </p:cNvPr>
            <p:cNvSpPr/>
            <p:nvPr/>
          </p:nvSpPr>
          <p:spPr bwMode="gray">
            <a:xfrm>
              <a:off x="7932550" y="5043907"/>
              <a:ext cx="499881" cy="499881"/>
            </a:xfrm>
            <a:prstGeom prst="ellipse">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3</a:t>
              </a:r>
            </a:p>
          </p:txBody>
        </p:sp>
        <p:sp>
          <p:nvSpPr>
            <p:cNvPr id="84" name="Rectangle: Rounded Corners 83">
              <a:extLst>
                <a:ext uri="{FF2B5EF4-FFF2-40B4-BE49-F238E27FC236}">
                  <a16:creationId xmlns:a16="http://schemas.microsoft.com/office/drawing/2014/main" id="{815ACBF4-62A6-457A-8922-3A3391A322F6}"/>
                </a:ext>
              </a:extLst>
            </p:cNvPr>
            <p:cNvSpPr/>
            <p:nvPr/>
          </p:nvSpPr>
          <p:spPr bwMode="gray">
            <a:xfrm>
              <a:off x="8497157" y="5043907"/>
              <a:ext cx="3157720" cy="455634"/>
            </a:xfrm>
            <a:prstGeom prst="roundRect">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Tracking of Fuel Supply Chain</a:t>
              </a:r>
            </a:p>
          </p:txBody>
        </p:sp>
      </p:grpSp>
      <p:sp>
        <p:nvSpPr>
          <p:cNvPr id="87" name="Rectangle 10">
            <a:extLst>
              <a:ext uri="{FF2B5EF4-FFF2-40B4-BE49-F238E27FC236}">
                <a16:creationId xmlns:a16="http://schemas.microsoft.com/office/drawing/2014/main" id="{C53A3834-ADE8-4770-BC0B-1EC379313D54}"/>
              </a:ext>
            </a:extLst>
          </p:cNvPr>
          <p:cNvSpPr>
            <a:spLocks noChangeArrowheads="1"/>
          </p:cNvSpPr>
          <p:nvPr/>
        </p:nvSpPr>
        <p:spPr bwMode="auto">
          <a:xfrm>
            <a:off x="7769228" y="1559146"/>
            <a:ext cx="3921121" cy="466423"/>
          </a:xfrm>
          <a:prstGeom prst="rect">
            <a:avLst/>
          </a:prstGeom>
          <a:solidFill>
            <a:srgbClr val="00B0F0">
              <a:alpha val="57000"/>
            </a:srgbClr>
          </a:solidFill>
          <a:ln w="6350">
            <a:solidFill>
              <a:schemeClr val="accent1">
                <a:lumMod val="20000"/>
                <a:lumOff val="80000"/>
              </a:schemeClr>
            </a:solidFill>
          </a:ln>
        </p:spPr>
        <p:txBody>
          <a:bodyPr vert="horz" lIns="0" tIns="0" rIns="0" bIns="0" rtlCol="0" anchor="ctr" anchorCtr="1">
            <a:normAutofit/>
          </a:bodyPr>
          <a:lstStyle/>
          <a:p>
            <a:pPr>
              <a:spcBef>
                <a:spcPts val="600"/>
              </a:spcBef>
            </a:pPr>
            <a:r>
              <a:rPr lang="en-GB" sz="1400" b="1" dirty="0">
                <a:cs typeface="Arial" pitchFamily="34" charset="0"/>
              </a:rPr>
              <a:t>Efficiency Improvement Enablers</a:t>
            </a:r>
          </a:p>
        </p:txBody>
      </p:sp>
    </p:spTree>
    <p:extLst>
      <p:ext uri="{BB962C8B-B14F-4D97-AF65-F5344CB8AC3E}">
        <p14:creationId xmlns:p14="http://schemas.microsoft.com/office/powerpoint/2010/main" val="403441056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090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4&quot;/&gt;&lt;end val=&quot;4&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nLYdyAw40_2iUgz9EtAR5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r0LmpPjHTq2U0Z67rHnPl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nLYdyAw40_2iUgz9EtAR5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ewT53HJ_aGkMMJ3gsvl2I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nLYdyAw40_2iUgz9EtAR5A"/>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ZsSq433HolSm9uA3MqcA_w"/>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vS78mcfheUSzXjJFmZ8KTg"/>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UjQAtsHZK2IsoFzbmzFLv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CrDg2nDMWXvvTm3NE13SGA"/>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wX5akpmMlGxtk3nQgYwWiQ"/>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ssnq__d8dezVPkUus00Xjg"/>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yGnmx7PmzkStmMrOaGR98A"/>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WjouCNz0jOBmzvwvJOy.s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uvrxdySdkO.PoeUdVSNVpg"/>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CmuFFenyml4_q5RemFGpfg"/>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aVQQK7P4s.WrjWrcjdqXjQ"/>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IVL5Sfw36cBpHgo2ucdBp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2TqBRyVpVCCOaJKep26a9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TLXQzgHEg_9HrOHGyrmKK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mQW9bescqDbkFIYsrctPBQ"/>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3lq88FW.ERvCrFHvz6HPb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f.faJccz.ecsHAFcRU.gDw"/>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VM4VQjoLG6PynfUeqbEeg"/>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pBTq4c4GnpuLGag7PrsNj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FrjcqS0yejBxVcbYAwENx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k0aH48f72_xd6rXnibyM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C1hhCAXVXbOeyAuaBJBgxA"/>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nd4mIc97Yf2S.guH4ug3TQ"/>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F83qgEMsdheBu8hej9ZrlQ"/>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2TqBRyVpVCCOaJKep26a9A"/>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JnRGrEZgGwURs_CDiRkex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1_T0LYB6KFQc4RC7y4W.Uw"/>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EF4ccbmqjC6q1tcq8nqh_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pBTq4c4GnpuLGag7PrsNjw"/>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mQW9bescqDbkFIYsrctPBQ"/>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KNx4L0jGXsBlkEo.rasCG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qnzKs7f50JNfZJ.XpO2OtQ"/>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uGrmU_MibIDmHqCjxeOrCg"/>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3lq88FW.ERvCrFHvz6HPbw"/>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f.faJccz.ecsHAFcRU.gD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VM4VQjoLG6PynfUeqbEe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TLXQzgHEg_9HrOHGyrmKKw"/>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FrjcqS0yejBxVcbYAwENxw"/>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6aQlPE8MVtSjUGgBUeFMz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k0aH48f72_xd6rXnibyM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XrnTk5ZmAhK8EbGhERnCgw"/>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C1hhCAXVXbOeyAuaBJBgx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F83qgEMsdheBu8hej9ZrlQ"/>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nd4mIc97Yf2S.guH4ug3TQ"/>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fEZ0mn8aKy06JqV0ata08w"/>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xKul7g7msUG1S_cnEZ6Qgg"/>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segDaOASWCpZ9stGNT13Jw"/>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F59iIZKDvhqSoOtitmx4pA"/>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B_MxsO0NnB1zFJGu2G_l.Q"/>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ZAa7z55aPWUMp4EP6oB0Q"/>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dk_nJ5Yhh4vHBgLhfA0W7g"/>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YORGqGxDqDWDApxe2jQO5Q"/>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wHxEOngSFRf2DAJJPEorw"/>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fx58mim8koCHER6sQQ1xdw"/>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6gA9gKLEJ8qN2NjLf4FHPw"/>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6yVHGYZvwrLFws5nMmOw9Q"/>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PF8imH7yYG6lNfbhKcvpKA"/>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kB1xRmwa89LbAplMAVZ0A"/>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e2ybIPlA1qqMKJw_3zjVpg"/>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cBcLzwWF6wayAtFOpJN0sQ"/>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EcDMZCL4iSPnV4YSWZyj7Q"/>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Ft06mkdnzwJm7HBPm.6aoQ"/>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0D0Lk83x.X2fKMSMY49mHA"/>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Ru7E.l7nmeITa0slKyYQVw"/>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pYECm6qqviYXUNHT_y7H1A"/>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m1HzosJRVb_p9N3xBKg9Yw"/>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PjadUeW2S31C.WFg2IO7mA"/>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t.9O_KRZ7lbUs9nSzwkwFQ"/>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RWOMN92odQ94ggCJjfr_Rg"/>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j63FR9mDHIz3fQQR3Bc.hA"/>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f.GfU0XPo87A2xrOhzQajw"/>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1QTapE3014wMNQfcoeQmAQ"/>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JZSiYlc2Y3Vt6H4aEAJkjg"/>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iObG.9JChkh1Hk8wXYB71Q"/>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xY7XOxSOd1kQk0Oc00AYKA"/>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DIkstzJdruwyA46Tel1rUw"/>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p9D_vChEufhGuG85XdTGXA"/>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tdXBKJhRAlVcbGYr_STXtQ"/>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UBdGeDFXkN1natgy.yo.7g"/>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Vm_GWuuBovhk.jSDv1mazg"/>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LzM0l4vWq5dC3yumyTWkHQ"/>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5PH89_HIjyoDpTYer8aMVQ"/>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86hC7pVu8q05Xb8KA4V6Ig"/>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dU1O0QAyGdZB2_NidUtOxw"/>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f2HkUwLIVbAah8xzWHDZsQ"/>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R9iOvsue2MW1jekJw9EoQ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XIBVrNurUBUNlE0GeMqmgQ"/>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FjsMPIO006UGIO_ZolrOew"/>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YyC1cU9nqbgwYVGMhFVbKA"/>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pViQNKeeGR2pHpgzMWhyMg"/>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MD2PyqJxB6tfHBWqLX0x7Q"/>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WUFumINThb91fyXK.0Nlyw"/>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cDoIEeeDFD3CYrrv1b1IkA"/>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SyhOHTaoFgvVwKePjKNzQ"/>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uu21epR8v53ANSaBLliRDw"/>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QDphP2EVcH0Bomr_k1WBrw"/>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Ov040.bnTqIIcB_m76_mwA"/>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Czuj5I7XmGcyTOZ7wOi47g"/>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R8c5mT2y0pDHBIIiDtCGTw"/>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0CbsFtrnGdgUjPm.qEaGyA"/>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6KKMXmbWWrU5dLEJ7le8eA"/>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1hVA0sOAp7CFPY2zFJ8Xuw"/>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jqUbGJzJgEM5iQFUsxu98Q"/>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wHWCPvb8M0s9brMDb440Q"/>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MVuSwvOlNAt46jU0uyhXfA"/>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mfWgRUrazvG9vD6iAtaLgA"/>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eBKnGB5ekKMyF4HhQD8b9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zRPKdm_IXezjBA.5Fl99E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e0emvUscFYjE1V1RkWOTjg"/>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0Is_rj7RorP4REYyKrOAjg"/>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bke6kgUJfiTJxnYyXFFVCg"/>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z6b0PvnrSihdcYQm40khtg"/>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I8.fz7El4XWHSv3SU1QcKA"/>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z93ioSjAYi9o55sGbSqo3g"/>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3iY6Wg0On712DbGp_dvpyA"/>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vcmsHJ4BbgP0FQy3dtDzZg"/>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vuchRALlscA1Xv.ZcsLLOg"/>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FoPHxrcXe28QadoXKUeaiw"/>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DW5gE02fsTKI8BgL1Wekyw"/>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TdBD9Ky91KJ_UaY57fEcAg"/>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OGqDs5woSZjv7r84RRlj0w"/>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uveMrmCIX8.XGLnRaLGtoA"/>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_g67_EgvVlcXHx50gOYR9g"/>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qxJxWF0JDFTtCyh.6YTubQ"/>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2qR8zj3uj_PzHeUADuXcFA"/>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OJgKi3LtH7SRypZMJyZWGg"/>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poZT.Kk7kNOmPQiT6s21sA"/>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ydm3kADIeDpum9pidTyVPQ"/>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4uF_uALnNF8j6LNx2MkXyQ"/>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apZzLsgP40E3YZZJ0Fhc6w"/>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txsnjjaAhkIwuo0gwlTB3w"/>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kl875iK0xorP.2edGAoPSA"/>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UxfYW7uMjljetu0SpqjN2w"/>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JAtpyzmko28oPzdXnvbO8g"/>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VoxcDb8Gk2TwrYGbdX4qlQ"/>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60UZxad7DX4EArxi1lSJ0w"/>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9.pv65axRhEiOBjg3V2v.g"/>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yogd5baOy80CpCGtCB9dnA"/>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ONF2RxbHfA3lpEY0UdAP_w"/>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4Av5otfoC.gHD_0v68wmJg"/>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nPWkAVHP1wUfNoOEpCejig"/>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2TNtBPf2pkhXgrs.a2W5zw"/>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wpmPBWzZL9gMuDOUgkZ4Ag"/>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qUtAuvSd3pnDNvdVj42jdA"/>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m0vbdS_J9FKElu1jcWuHgw"/>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U1XN1p9SFdPFxYcfpPNtFw"/>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x9pNRUOFCSPESok7_rpOhg"/>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kIjCwYoPNrV5xb8YwK914w"/>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vwrghDfsz3_UxWuaJtfxgg"/>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X_HEISnxQdRvZF1B.RycRw"/>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i4gZr4lNEv2_4l_yTTBgIw"/>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A3bipTLxhkLAFypArjDc6g"/>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rkXcteLwpLAwg3WQieNtnA"/>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CmUi3.3o5llXlldhZ4afkw"/>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c__4tfeS2iPgM0pjTjHPGA"/>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HjwLI753PdV8HIrDwnjXPA"/>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WU3o6gWlm6vAmYUWpr7o4A"/>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keWLQZZC9BTEZrg4D_.Cqw"/>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1vMAWRuMFifwSAQsBKN0Yg"/>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926yyYwg3.2wMKlxICJ0OA"/>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2j.wb3W0p9RRF9dvxwADUA"/>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bokG_M.o3AXJABvhzsAkpA"/>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jgqqAO55qA.x_aLTxbdPuw"/>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o7XKdfGxOOeFkitxyZjqdw"/>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_4Z31YEbuKHfqjx8joyzhg"/>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6H_h9nO3_.1peeZz0DXTFw"/>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OuCl_ekoSjpzBnc.sWWKaA"/>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NPXhjmibuhjkOxxoVviLig"/>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tIwcBB4fV3t9YDHYBghw6g"/>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OPyxjQ1mP3ToeNrPV1yobw"/>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5LKUNU8egbrzkFcxLnT.Fg"/>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QdLRlvqn6I6Iea1x_FH6Ig"/>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jM80OEVReM9CdKTfYRWRBA"/>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RgM9KqbIs5Szfc5U.FomLw"/>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Z5R8AHbe3TE9F4tE_tuXQ"/>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UcyEhdtK2MhpvlcjEXOV7Q"/>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L7eLINsMOxpv5Szp44X6MQ"/>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YGSx6yeLYLQGXGVpVoVD6g"/>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zzZSYWHcQoMxy6112dk0Bw"/>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DI3.xyPwrwWCdjGXyWLVHA"/>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cR6X9xE6mgiNmQGQYvnuFA"/>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wLgQXPlS9Fwg2FJCn.l1Tg"/>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kq1X6mr.shMMx_MB.Ia67A"/>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MXoCN3VdBsW2Ubt21ZdqGQ"/>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Gyjmg0zBmhVH0xT1emYxqg"/>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VvgHOZaZf6bv0Z2blUIcNQ"/>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h.HQyA3L3OLtfJcANvo2.g"/>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VvgNLLXishxUHqf2JTZoFg"/>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d.R9Sq2LEVSutI_XJzrUrQ"/>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YJJ_KjdvDyY2ptjFJc6HRA"/>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NcvzteLJkz8LO0DK4La4Og"/>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3tE8L0gpvIfgh1wXN0o9bA"/>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O3kzWGpBAQg1rnLkwbVZgw"/>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KsSNpOFz5qLC4fqIhQPnWw"/>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jP7_1nLNN0SPjCwdAxLxeg"/>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SC8DwE5EnVHw8fV6SZnR8A"/>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cacppos0k32H641E4ra_OQ"/>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1BzqCSEGGApGqsOzoF3KTw"/>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Z5R8AHbe3TE9F4tE_tuXQ"/>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57sjS8jx5cwcrFFYnE_YVA"/>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jkvu6EVrljKHIRrpVz9EPw"/>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vgMvdy93e4B_4SedqljArQ"/>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UAIy6.Jk.KMZIDDDC8YdBQ"/>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tYGSx6yeLYLQGXGVpVoVD6g"/>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tDI3.xyPwrwWCdjGXyWLVHA"/>
</p:tagLst>
</file>

<file path=ppt/tags/tag311.xml><?xml version="1.0" encoding="utf-8"?>
<p:tagLst xmlns:a="http://schemas.openxmlformats.org/drawingml/2006/main" xmlns:r="http://schemas.openxmlformats.org/officeDocument/2006/relationships" xmlns:p="http://schemas.openxmlformats.org/presentationml/2006/main">
  <p:tag name="THINKCELLSHAPEDONOTDELETE" val="tzzZSYWHcQoMxy6112dk0Bw"/>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tL7eLINsMOxpv5Szp44X6MQ"/>
</p:tagLst>
</file>

<file path=ppt/tags/tag313.xml><?xml version="1.0" encoding="utf-8"?>
<p:tagLst xmlns:a="http://schemas.openxmlformats.org/drawingml/2006/main" xmlns:r="http://schemas.openxmlformats.org/officeDocument/2006/relationships" xmlns:p="http://schemas.openxmlformats.org/presentationml/2006/main">
  <p:tag name="THINKCELLSHAPEDONOTDELETE" val="txKLWIcYNbugmqeW2NF_YEQ"/>
</p:tagLst>
</file>

<file path=ppt/tags/tag314.xml><?xml version="1.0" encoding="utf-8"?>
<p:tagLst xmlns:a="http://schemas.openxmlformats.org/drawingml/2006/main" xmlns:r="http://schemas.openxmlformats.org/officeDocument/2006/relationships" xmlns:p="http://schemas.openxmlformats.org/presentationml/2006/main">
  <p:tag name="THINKCELLSHAPEDONOTDELETE" val="ta21pJBRVI9r_OUz9UCDXDw"/>
</p:tagLst>
</file>

<file path=ppt/tags/tag315.xml><?xml version="1.0" encoding="utf-8"?>
<p:tagLst xmlns:a="http://schemas.openxmlformats.org/drawingml/2006/main" xmlns:r="http://schemas.openxmlformats.org/officeDocument/2006/relationships" xmlns:p="http://schemas.openxmlformats.org/presentationml/2006/main">
  <p:tag name="THINKCELLSHAPEDONOTDELETE" val="twqtvRZv1NTI9jaHSM0fyYg"/>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Iom63ioLG1KLQlDHgn7EGQ"/>
</p:tagLst>
</file>

<file path=ppt/theme/theme1.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2.xml><?xml version="1.0" encoding="utf-8"?>
<a:theme xmlns:a="http://schemas.openxmlformats.org/drawingml/2006/main" name="2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lank_Template_16_9" id="{590E97A3-4408-485A-95E8-81133B6C641E}" vid="{A7A7DD32-BEFD-4667-AB23-4AFD4B9FDC4B}"/>
    </a:ext>
  </a:extLst>
</a:theme>
</file>

<file path=ppt/theme/theme3.xml><?xml version="1.0" encoding="utf-8"?>
<a:theme xmlns:a="http://schemas.openxmlformats.org/drawingml/2006/main" name="1_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4.xml><?xml version="1.0" encoding="utf-8"?>
<a:theme xmlns:a="http://schemas.openxmlformats.org/drawingml/2006/main" name="2_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5.xml><?xml version="1.0" encoding="utf-8"?>
<a:theme xmlns:a="http://schemas.openxmlformats.org/drawingml/2006/main" name="3_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67F41651-E429-4C1A-90CE-6D892B348A8C}">
  <ds:schemaRefs>
    <ds:schemaRef ds:uri="http://schemas.microsoft.com/sharepoint/v3/contenttype/forms"/>
  </ds:schemaRefs>
</ds:datastoreItem>
</file>

<file path=customXml/itemProps2.xml><?xml version="1.0" encoding="utf-8"?>
<ds:datastoreItem xmlns:ds="http://schemas.openxmlformats.org/officeDocument/2006/customXml" ds:itemID="{90BF27B5-4878-4F2C-B2F2-4005109DA63C}"/>
</file>

<file path=customXml/itemProps3.xml><?xml version="1.0" encoding="utf-8"?>
<ds:datastoreItem xmlns:ds="http://schemas.openxmlformats.org/officeDocument/2006/customXml" ds:itemID="{740CAE57-E6D5-4A19-A8FF-362A28EB537E}">
  <ds:schemaRefs>
    <ds:schemaRef ds:uri="http://www.w3.org/XML/1998/namespace"/>
    <ds:schemaRef ds:uri="http://schemas.microsoft.com/office/infopath/2007/PartnerControls"/>
    <ds:schemaRef ds:uri="http://purl.org/dc/terms/"/>
    <ds:schemaRef ds:uri="http://schemas.microsoft.com/office/2006/documentManagement/types"/>
    <ds:schemaRef ds:uri="http://purl.org/dc/dcmitype/"/>
    <ds:schemaRef ds:uri="7ac29c9a-ede1-4c31-be28-e9db5018f30e"/>
    <ds:schemaRef ds:uri="http://schemas.openxmlformats.org/package/2006/metadata/core-properties"/>
    <ds:schemaRef ds:uri="7b43ac7d-c802-4be2-b443-75b70fba9103"/>
    <ds:schemaRef ds:uri="http://schemas.microsoft.com/office/2006/metadata/properties"/>
    <ds:schemaRef ds:uri="http://purl.org/dc/elements/1.1/"/>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
  <TotalTime>30030</TotalTime>
  <Words>4574</Words>
  <Application>Microsoft Office PowerPoint</Application>
  <PresentationFormat>Widescreen</PresentationFormat>
  <Paragraphs>994</Paragraphs>
  <Slides>25</Slides>
  <Notes>6</Notes>
  <HiddenSlides>0</HiddenSlides>
  <MMClips>0</MMClips>
  <ScaleCrop>false</ScaleCrop>
  <HeadingPairs>
    <vt:vector size="8" baseType="variant">
      <vt:variant>
        <vt:lpstr>Fonts Used</vt:lpstr>
      </vt:variant>
      <vt:variant>
        <vt:i4>6</vt:i4>
      </vt:variant>
      <vt:variant>
        <vt:lpstr>Theme</vt:lpstr>
      </vt:variant>
      <vt:variant>
        <vt:i4>5</vt:i4>
      </vt:variant>
      <vt:variant>
        <vt:lpstr>Embedded OLE Servers</vt:lpstr>
      </vt:variant>
      <vt:variant>
        <vt:i4>1</vt:i4>
      </vt:variant>
      <vt:variant>
        <vt:lpstr>Slide Titles</vt:lpstr>
      </vt:variant>
      <vt:variant>
        <vt:i4>25</vt:i4>
      </vt:variant>
    </vt:vector>
  </HeadingPairs>
  <TitlesOfParts>
    <vt:vector size="37" baseType="lpstr">
      <vt:lpstr>ＭＳ Ｐゴシック</vt:lpstr>
      <vt:lpstr>Arial</vt:lpstr>
      <vt:lpstr>Calibri</vt:lpstr>
      <vt:lpstr>Calibri Light</vt:lpstr>
      <vt:lpstr>Verdana</vt:lpstr>
      <vt:lpstr>Wingdings 2</vt:lpstr>
      <vt:lpstr>Theme1</vt:lpstr>
      <vt:lpstr>2_Deloitte 16_9 onscreen</vt:lpstr>
      <vt:lpstr>1_Theme1</vt:lpstr>
      <vt:lpstr>2_Theme1</vt:lpstr>
      <vt:lpstr>3_Theme1</vt:lpstr>
      <vt:lpstr>think-cell Slide</vt:lpstr>
      <vt:lpstr>PowerPoint Presentation</vt:lpstr>
      <vt:lpstr>Benefits for Implementing ERP System and Add-on Modules</vt:lpstr>
      <vt:lpstr>PowerPoint Presentation</vt:lpstr>
      <vt:lpstr>Cost Benefit Analysis – Tangible Benefit Assessment</vt:lpstr>
      <vt:lpstr>1. Improvement in Procurement Management</vt:lpstr>
      <vt:lpstr>2. Improvement in Inventory Management</vt:lpstr>
      <vt:lpstr>3. a) Improvement in Generation Efficiency – Base Case</vt:lpstr>
      <vt:lpstr>3. b) Improvement in Generation Efficiency – Optimistic Case</vt:lpstr>
      <vt:lpstr>Benefit Analysis – Summary (Tangible Benefits)</vt:lpstr>
      <vt:lpstr>Cost Benefit Analysis – Intangible Benefits</vt:lpstr>
      <vt:lpstr>PowerPoint Presentation</vt:lpstr>
      <vt:lpstr>Considerations for ERP Cost Assessment</vt:lpstr>
      <vt:lpstr>ERP Licenses Assessment</vt:lpstr>
      <vt:lpstr>Cost Workings (1/3) – Tangible Costs</vt:lpstr>
      <vt:lpstr>Cost Workings (2/3) – Tangible Costs</vt:lpstr>
      <vt:lpstr>Cost Workings (3/3) – Tangible Costs</vt:lpstr>
      <vt:lpstr>Exclusions</vt:lpstr>
      <vt:lpstr>Cost-Benefit Analysis (Summary)</vt:lpstr>
      <vt:lpstr>Cost-Benefit Analysis (Summary)</vt:lpstr>
      <vt:lpstr>Cost Optimization Assessment</vt:lpstr>
      <vt:lpstr>ERP Roadmap</vt:lpstr>
      <vt:lpstr>Challenges in ERP Implementation and Risk Mitigation Steps</vt:lpstr>
      <vt:lpstr>PowerPoint Presentation</vt:lpstr>
      <vt:lpstr>Peer Group – Inventory Benchmarking</vt:lpstr>
      <vt:lpstr>Peer Group – Fuel Efficiency Benchmarking</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Siddharth Mani</dc:creator>
  <cp:lastModifiedBy>Khiroria, Adit</cp:lastModifiedBy>
  <cp:revision>1685</cp:revision>
  <dcterms:created xsi:type="dcterms:W3CDTF">2020-08-21T09:31:26Z</dcterms:created>
  <dcterms:modified xsi:type="dcterms:W3CDTF">2025-06-25T15:30:50Z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ies>
</file>