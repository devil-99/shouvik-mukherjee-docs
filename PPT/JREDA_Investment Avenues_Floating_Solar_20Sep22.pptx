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entation.xml" ContentType="application/vnd.openxmlformats-officedocument.presentationml.presentation.main+xml"/>
  <Override PartName="/ppt/diagrams/data1.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charts/colors4.xml" ContentType="application/vnd.ms-office.chartcolorstyle+xml"/>
  <Override PartName="/ppt/theme/theme2.xml" ContentType="application/vnd.openxmlformats-officedocument.theme+xml"/>
  <Override PartName="/ppt/charts/style4.xml" ContentType="application/vnd.ms-office.chartstyle+xml"/>
  <Override PartName="/ppt/charts/chart4.xml" ContentType="application/vnd.openxmlformats-officedocument.drawingml.chart+xml"/>
  <Override PartName="/ppt/diagrams/layout1.xml" ContentType="application/vnd.openxmlformats-officedocument.drawingml.diagramLayout+xml"/>
  <Override PartName="/ppt/diagrams/drawing1.xml" ContentType="application/vnd.ms-office.drawingml.diagramDrawing+xml"/>
  <Override PartName="/ppt/diagrams/quickStyle1.xml" ContentType="application/vnd.openxmlformats-officedocument.drawingml.diagramStyle+xml"/>
  <Override PartName="/ppt/charts/colors2.xml" ContentType="application/vnd.ms-office.chartcolorstyle+xml"/>
  <Override PartName="/ppt/charts/style2.xml" ContentType="application/vnd.ms-office.chartstyle+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heme/theme3.xml" ContentType="application/vnd.openxmlformats-officedocument.them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iagrams/colors1.xml" ContentType="application/vnd.openxmlformats-officedocument.drawingml.diagramCol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21"/>
  </p:notesMasterIdLst>
  <p:sldIdLst>
    <p:sldId id="497" r:id="rId3"/>
    <p:sldId id="6125" r:id="rId4"/>
    <p:sldId id="6140" r:id="rId5"/>
    <p:sldId id="6123" r:id="rId6"/>
    <p:sldId id="6119" r:id="rId7"/>
    <p:sldId id="6135" r:id="rId8"/>
    <p:sldId id="6143" r:id="rId9"/>
    <p:sldId id="6121" r:id="rId10"/>
    <p:sldId id="6122" r:id="rId11"/>
    <p:sldId id="6139" r:id="rId12"/>
    <p:sldId id="6133" r:id="rId13"/>
    <p:sldId id="6144" r:id="rId14"/>
    <p:sldId id="258" r:id="rId15"/>
    <p:sldId id="6132" r:id="rId16"/>
    <p:sldId id="1100" r:id="rId17"/>
    <p:sldId id="6130" r:id="rId18"/>
    <p:sldId id="6131" r:id="rId19"/>
    <p:sldId id="613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B83E"/>
    <a:srgbClr val="5DD242"/>
    <a:srgbClr val="EAEAEA"/>
    <a:srgbClr val="86BC25"/>
    <a:srgbClr val="0097A9"/>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8" autoAdjust="0"/>
    <p:restoredTop sz="94660"/>
  </p:normalViewPr>
  <p:slideViewPr>
    <p:cSldViewPr snapToGrid="0">
      <p:cViewPr varScale="1">
        <p:scale>
          <a:sx n="62" d="100"/>
          <a:sy n="62" d="100"/>
        </p:scale>
        <p:origin x="7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customXml" Target="../customXml/item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openxmlformats.org/officeDocument/2006/relationships/customXml" Target="../customXml/item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dirty="0">
                <a:latin typeface="Verdana" panose="020B0604030504040204" pitchFamily="34" charset="0"/>
                <a:ea typeface="Verdana" panose="020B0604030504040204" pitchFamily="34" charset="0"/>
              </a:rPr>
              <a:t>Expense</a:t>
            </a:r>
            <a:r>
              <a:rPr lang="en-US" sz="1000" b="1" baseline="0" dirty="0">
                <a:latin typeface="Verdana" panose="020B0604030504040204" pitchFamily="34" charset="0"/>
                <a:ea typeface="Verdana" panose="020B0604030504040204" pitchFamily="34" charset="0"/>
              </a:rPr>
              <a:t> Vs Income (Rs.Cr)</a:t>
            </a:r>
            <a:endParaRPr lang="en-US" sz="1000" b="1" dirty="0">
              <a:latin typeface="Verdana" panose="020B0604030504040204" pitchFamily="34" charset="0"/>
              <a:ea typeface="Verdana" panose="020B0604030504040204" pitchFamily="34" charset="0"/>
            </a:endParaRPr>
          </a:p>
        </c:rich>
      </c:tx>
      <c:layout>
        <c:manualLayout>
          <c:xMode val="edge"/>
          <c:yMode val="edge"/>
          <c:x val="0.41253934630244171"/>
          <c:y val="3.146195715235070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4746941069164457E-2"/>
          <c:y val="5.9088185886968882E-2"/>
          <c:w val="0.97525309336332955"/>
          <c:h val="0.74269480837314783"/>
        </c:manualLayout>
      </c:layout>
      <c:barChart>
        <c:barDir val="col"/>
        <c:grouping val="clustered"/>
        <c:varyColors val="0"/>
        <c:ser>
          <c:idx val="0"/>
          <c:order val="0"/>
          <c:tx>
            <c:strRef>
              <c:f>Sheet1!$B$1</c:f>
              <c:strCache>
                <c:ptCount val="1"/>
                <c:pt idx="0">
                  <c:v>Expense</c:v>
                </c:pt>
              </c:strCache>
            </c:strRef>
          </c:tx>
          <c:spPr>
            <a:solidFill>
              <a:schemeClr val="tx1">
                <a:lumMod val="50000"/>
                <a:lumOff val="50000"/>
              </a:schemeClr>
            </a:solidFill>
            <a:ln>
              <a:noFill/>
            </a:ln>
            <a:effectLst/>
          </c:spPr>
          <c:invertIfNegative val="0"/>
          <c:dLbls>
            <c:dLbl>
              <c:idx val="0"/>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C16-4E03-928D-588FC05FDE4B}"/>
                </c:ext>
              </c:extLst>
            </c:dLbl>
            <c:dLbl>
              <c:idx val="1"/>
              <c:layout>
                <c:manualLayout>
                  <c:x val="-1.29106224603037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C16-4E03-928D-588FC05FDE4B}"/>
                </c:ext>
              </c:extLst>
            </c:dLbl>
            <c:dLbl>
              <c:idx val="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16-4E03-928D-588FC05FDE4B}"/>
                </c:ext>
              </c:extLst>
            </c:dLbl>
            <c:dLbl>
              <c:idx val="3"/>
              <c:layout>
                <c:manualLayout>
                  <c:x val="-1.0041595246902946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16-4E03-928D-588FC05FDE4B}"/>
                </c:ext>
              </c:extLst>
            </c:dLbl>
            <c:dLbl>
              <c:idx val="4"/>
              <c:layout>
                <c:manualLayout>
                  <c:x val="-4.3035408201012896E-3"/>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C16-4E03-928D-588FC05FDE4B}"/>
                </c:ext>
              </c:extLst>
            </c:dLbl>
            <c:dLbl>
              <c:idx val="5"/>
              <c:layout>
                <c:manualLayout>
                  <c:x val="-1.14761088536033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C16-4E03-928D-588FC05FDE4B}"/>
                </c:ext>
              </c:extLst>
            </c:dLbl>
            <c:dLbl>
              <c:idx val="6"/>
              <c:layout>
                <c:manualLayout>
                  <c:x val="-1.43451360670042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16-4E03-928D-588FC05FDE4B}"/>
                </c:ext>
              </c:extLst>
            </c:dLbl>
            <c:dLbl>
              <c:idx val="7"/>
              <c:layout>
                <c:manualLayout>
                  <c:x val="-1.577964967370468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16-4E03-928D-588FC05FDE4B}"/>
                </c:ext>
              </c:extLst>
            </c:dLbl>
            <c:dLbl>
              <c:idx val="8"/>
              <c:layout>
                <c:manualLayout>
                  <c:x val="-1.5779649673704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C16-4E03-928D-588FC05FDE4B}"/>
                </c:ext>
              </c:extLst>
            </c:dLbl>
            <c:dLbl>
              <c:idx val="9"/>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16-4E03-928D-588FC05FDE4B}"/>
                </c:ext>
              </c:extLst>
            </c:dLbl>
            <c:dLbl>
              <c:idx val="10"/>
              <c:layout>
                <c:manualLayout>
                  <c:x val="-1.4345136067004211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C16-4E03-928D-588FC05FDE4B}"/>
                </c:ext>
              </c:extLst>
            </c:dLbl>
            <c:dLbl>
              <c:idx val="11"/>
              <c:layout>
                <c:manualLayout>
                  <c:x val="-1.5779649673704738E-2"/>
                  <c:y val="2.1312694142701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16-4E03-928D-588FC05FDE4B}"/>
                </c:ext>
              </c:extLst>
            </c:dLbl>
            <c:dLbl>
              <c:idx val="12"/>
              <c:layout>
                <c:manualLayout>
                  <c:x val="-8.6070816402026313E-3"/>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C16-4E03-928D-588FC05FDE4B}"/>
                </c:ext>
              </c:extLst>
            </c:dLbl>
            <c:dLbl>
              <c:idx val="13"/>
              <c:layout>
                <c:manualLayout>
                  <c:x val="-1.1476108853603369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16-4E03-928D-588FC05FDE4B}"/>
                </c:ext>
              </c:extLst>
            </c:dLbl>
            <c:dLbl>
              <c:idx val="14"/>
              <c:layout>
                <c:manualLayout>
                  <c:x val="-8.6070816402026313E-3"/>
                  <c:y val="-6.5121368703978322E-17"/>
                </c:manualLayout>
              </c:layout>
              <c:showLegendKey val="0"/>
              <c:showVal val="1"/>
              <c:showCatName val="0"/>
              <c:showSerName val="0"/>
              <c:showPercent val="0"/>
              <c:showBubbleSize val="0"/>
              <c:extLst>
                <c:ext xmlns:c15="http://schemas.microsoft.com/office/drawing/2012/chart" uri="{CE6537A1-D6FC-4f65-9D91-7224C49458BB}">
                  <c15:layout>
                    <c:manualLayout>
                      <c:w val="2.7757838289653149E-2"/>
                      <c:h val="8.1769703194163115E-2"/>
                    </c:manualLayout>
                  </c15:layout>
                </c:ext>
                <c:ext xmlns:c16="http://schemas.microsoft.com/office/drawing/2014/chart" uri="{C3380CC4-5D6E-409C-BE32-E72D297353CC}">
                  <c16:uniqueId val="{0000000D-AC16-4E03-928D-588FC05FDE4B}"/>
                </c:ext>
              </c:extLst>
            </c:dLbl>
            <c:dLbl>
              <c:idx val="15"/>
              <c:layout>
                <c:manualLayout>
                  <c:x val="-1.4345136067004211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16-4E03-928D-588FC05FDE4B}"/>
                </c:ext>
              </c:extLst>
            </c:dLbl>
            <c:dLbl>
              <c:idx val="16"/>
              <c:layout>
                <c:manualLayout>
                  <c:x val="-1.0041595246902946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C16-4E03-928D-588FC05FDE4B}"/>
                </c:ext>
              </c:extLst>
            </c:dLbl>
            <c:dLbl>
              <c:idx val="17"/>
              <c:layout>
                <c:manualLayout>
                  <c:x val="-1.4345136067004315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C16-4E03-928D-588FC05FDE4B}"/>
                </c:ext>
              </c:extLst>
            </c:dLbl>
            <c:dLbl>
              <c:idx val="18"/>
              <c:layout>
                <c:manualLayout>
                  <c:x val="-1.434513606700431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C16-4E03-928D-588FC05FDE4B}"/>
                </c:ext>
              </c:extLst>
            </c:dLbl>
            <c:dLbl>
              <c:idx val="19"/>
              <c:layout>
                <c:manualLayout>
                  <c:x val="-1.1476108853603473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C16-4E03-928D-588FC05FDE4B}"/>
                </c:ext>
              </c:extLst>
            </c:dLbl>
            <c:dLbl>
              <c:idx val="20"/>
              <c:layout>
                <c:manualLayout>
                  <c:x val="-1.2910622460303894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C16-4E03-928D-588FC05FDE4B}"/>
                </c:ext>
              </c:extLst>
            </c:dLbl>
            <c:dLbl>
              <c:idx val="21"/>
              <c:layout>
                <c:manualLayout>
                  <c:x val="-1.1476108853603369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C16-4E03-928D-588FC05FDE4B}"/>
                </c:ext>
              </c:extLst>
            </c:dLbl>
            <c:dLbl>
              <c:idx val="2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C16-4E03-928D-588FC05FDE4B}"/>
                </c:ext>
              </c:extLst>
            </c:dLbl>
            <c:dLbl>
              <c:idx val="23"/>
              <c:layout>
                <c:manualLayout>
                  <c:x val="-1.4345136067004211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C16-4E03-928D-588FC05FDE4B}"/>
                </c:ext>
              </c:extLst>
            </c:dLbl>
            <c:dLbl>
              <c:idx val="24"/>
              <c:layout>
                <c:manualLayout>
                  <c:x val="-5.7380544268016845E-3"/>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C16-4E03-928D-588FC05FDE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50000"/>
                        <a:lumOff val="50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Sheet1!$B$2:$B$26</c:f>
              <c:numCache>
                <c:formatCode>General</c:formatCode>
                <c:ptCount val="25"/>
                <c:pt idx="0">
                  <c:v>513</c:v>
                </c:pt>
                <c:pt idx="1">
                  <c:v>513</c:v>
                </c:pt>
                <c:pt idx="2">
                  <c:v>513</c:v>
                </c:pt>
                <c:pt idx="3">
                  <c:v>513</c:v>
                </c:pt>
                <c:pt idx="4">
                  <c:v>513</c:v>
                </c:pt>
                <c:pt idx="5">
                  <c:v>513</c:v>
                </c:pt>
                <c:pt idx="6">
                  <c:v>513</c:v>
                </c:pt>
                <c:pt idx="7">
                  <c:v>513</c:v>
                </c:pt>
                <c:pt idx="8">
                  <c:v>513</c:v>
                </c:pt>
                <c:pt idx="9">
                  <c:v>513</c:v>
                </c:pt>
                <c:pt idx="10">
                  <c:v>513</c:v>
                </c:pt>
                <c:pt idx="11">
                  <c:v>513</c:v>
                </c:pt>
                <c:pt idx="12">
                  <c:v>513</c:v>
                </c:pt>
                <c:pt idx="13">
                  <c:v>513</c:v>
                </c:pt>
                <c:pt idx="14">
                  <c:v>513</c:v>
                </c:pt>
                <c:pt idx="15">
                  <c:v>513</c:v>
                </c:pt>
                <c:pt idx="16">
                  <c:v>513</c:v>
                </c:pt>
                <c:pt idx="17">
                  <c:v>513</c:v>
                </c:pt>
                <c:pt idx="18">
                  <c:v>513</c:v>
                </c:pt>
                <c:pt idx="19">
                  <c:v>513</c:v>
                </c:pt>
                <c:pt idx="20">
                  <c:v>513</c:v>
                </c:pt>
                <c:pt idx="21">
                  <c:v>513</c:v>
                </c:pt>
                <c:pt idx="22">
                  <c:v>513</c:v>
                </c:pt>
                <c:pt idx="23">
                  <c:v>513</c:v>
                </c:pt>
                <c:pt idx="24">
                  <c:v>513</c:v>
                </c:pt>
              </c:numCache>
            </c:numRef>
          </c:val>
          <c:extLst>
            <c:ext xmlns:c16="http://schemas.microsoft.com/office/drawing/2014/chart" uri="{C3380CC4-5D6E-409C-BE32-E72D297353CC}">
              <c16:uniqueId val="{00000000-680C-42E7-AD60-CC6A7267CA1B}"/>
            </c:ext>
          </c:extLst>
        </c:ser>
        <c:ser>
          <c:idx val="1"/>
          <c:order val="1"/>
          <c:tx>
            <c:strRef>
              <c:f>Sheet1!$C$1</c:f>
              <c:strCache>
                <c:ptCount val="1"/>
                <c:pt idx="0">
                  <c:v>Income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Sheet1!$C$2:$C$26</c:f>
              <c:numCache>
                <c:formatCode>General</c:formatCode>
                <c:ptCount val="25"/>
                <c:pt idx="0">
                  <c:v>629</c:v>
                </c:pt>
                <c:pt idx="1">
                  <c:v>629</c:v>
                </c:pt>
                <c:pt idx="2">
                  <c:v>629</c:v>
                </c:pt>
                <c:pt idx="3">
                  <c:v>629</c:v>
                </c:pt>
                <c:pt idx="4">
                  <c:v>629</c:v>
                </c:pt>
                <c:pt idx="5">
                  <c:v>629</c:v>
                </c:pt>
                <c:pt idx="6">
                  <c:v>629</c:v>
                </c:pt>
                <c:pt idx="7">
                  <c:v>629</c:v>
                </c:pt>
                <c:pt idx="8">
                  <c:v>629</c:v>
                </c:pt>
                <c:pt idx="9">
                  <c:v>629</c:v>
                </c:pt>
                <c:pt idx="10">
                  <c:v>629</c:v>
                </c:pt>
                <c:pt idx="11">
                  <c:v>629</c:v>
                </c:pt>
                <c:pt idx="12">
                  <c:v>629</c:v>
                </c:pt>
                <c:pt idx="13">
                  <c:v>629</c:v>
                </c:pt>
                <c:pt idx="14">
                  <c:v>629</c:v>
                </c:pt>
                <c:pt idx="15">
                  <c:v>629</c:v>
                </c:pt>
                <c:pt idx="16">
                  <c:v>629</c:v>
                </c:pt>
                <c:pt idx="17">
                  <c:v>629</c:v>
                </c:pt>
                <c:pt idx="18">
                  <c:v>629</c:v>
                </c:pt>
                <c:pt idx="19">
                  <c:v>629</c:v>
                </c:pt>
                <c:pt idx="20">
                  <c:v>629</c:v>
                </c:pt>
                <c:pt idx="21">
                  <c:v>629</c:v>
                </c:pt>
                <c:pt idx="22">
                  <c:v>629</c:v>
                </c:pt>
                <c:pt idx="23">
                  <c:v>629</c:v>
                </c:pt>
                <c:pt idx="24">
                  <c:v>629</c:v>
                </c:pt>
              </c:numCache>
            </c:numRef>
          </c:val>
          <c:extLst>
            <c:ext xmlns:c16="http://schemas.microsoft.com/office/drawing/2014/chart" uri="{C3380CC4-5D6E-409C-BE32-E72D297353CC}">
              <c16:uniqueId val="{00000001-680C-42E7-AD60-CC6A7267CA1B}"/>
            </c:ext>
          </c:extLst>
        </c:ser>
        <c:dLbls>
          <c:showLegendKey val="0"/>
          <c:showVal val="0"/>
          <c:showCatName val="0"/>
          <c:showSerName val="0"/>
          <c:showPercent val="0"/>
          <c:showBubbleSize val="0"/>
        </c:dLbls>
        <c:gapWidth val="219"/>
        <c:axId val="860058224"/>
        <c:axId val="860071952"/>
      </c:barChart>
      <c:catAx>
        <c:axId val="860058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860071952"/>
        <c:crosses val="autoZero"/>
        <c:auto val="1"/>
        <c:lblAlgn val="ctr"/>
        <c:lblOffset val="100"/>
        <c:noMultiLvlLbl val="0"/>
      </c:catAx>
      <c:valAx>
        <c:axId val="860071952"/>
        <c:scaling>
          <c:orientation val="minMax"/>
        </c:scaling>
        <c:delete val="1"/>
        <c:axPos val="l"/>
        <c:numFmt formatCode="General" sourceLinked="1"/>
        <c:majorTickMark val="none"/>
        <c:minorTickMark val="none"/>
        <c:tickLblPos val="nextTo"/>
        <c:crossAx val="860058224"/>
        <c:crosses val="autoZero"/>
        <c:crossBetween val="between"/>
      </c:valAx>
      <c:spPr>
        <a:noFill/>
        <a:ln>
          <a:noFill/>
        </a:ln>
        <a:effectLst/>
      </c:spPr>
    </c:plotArea>
    <c:legend>
      <c:legendPos val="b"/>
      <c:layout>
        <c:manualLayout>
          <c:xMode val="edge"/>
          <c:yMode val="edge"/>
          <c:x val="0.7646204168884031"/>
          <c:y val="2.5795262356585545E-2"/>
          <c:w val="0.21464107509452823"/>
          <c:h val="0.121567961576044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dirty="0">
                <a:latin typeface="Verdana" panose="020B0604030504040204" pitchFamily="34" charset="0"/>
                <a:ea typeface="Verdana" panose="020B0604030504040204" pitchFamily="34" charset="0"/>
              </a:rPr>
              <a:t>*Expense</a:t>
            </a:r>
            <a:r>
              <a:rPr lang="en-US" sz="1000" b="1" baseline="0" dirty="0">
                <a:latin typeface="Verdana" panose="020B0604030504040204" pitchFamily="34" charset="0"/>
                <a:ea typeface="Verdana" panose="020B0604030504040204" pitchFamily="34" charset="0"/>
              </a:rPr>
              <a:t> Vs Income (Rs.Cr)</a:t>
            </a:r>
            <a:endParaRPr lang="en-US" sz="1000" b="1" dirty="0">
              <a:latin typeface="Verdana" panose="020B0604030504040204" pitchFamily="34" charset="0"/>
              <a:ea typeface="Verdana" panose="020B0604030504040204" pitchFamily="34" charset="0"/>
            </a:endParaRPr>
          </a:p>
        </c:rich>
      </c:tx>
      <c:layout>
        <c:manualLayout>
          <c:xMode val="edge"/>
          <c:yMode val="edge"/>
          <c:x val="0.41253934630244171"/>
          <c:y val="3.1461957152350707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4746941069164457E-2"/>
          <c:y val="5.9088185886968882E-2"/>
          <c:w val="0.97525309336332955"/>
          <c:h val="0.74269480837314783"/>
        </c:manualLayout>
      </c:layout>
      <c:barChart>
        <c:barDir val="col"/>
        <c:grouping val="clustered"/>
        <c:varyColors val="0"/>
        <c:ser>
          <c:idx val="0"/>
          <c:order val="0"/>
          <c:tx>
            <c:strRef>
              <c:f>Sheet1!$B$1</c:f>
              <c:strCache>
                <c:ptCount val="1"/>
                <c:pt idx="0">
                  <c:v>Expense</c:v>
                </c:pt>
              </c:strCache>
            </c:strRef>
          </c:tx>
          <c:spPr>
            <a:solidFill>
              <a:schemeClr val="tx1">
                <a:lumMod val="50000"/>
                <a:lumOff val="50000"/>
              </a:schemeClr>
            </a:solidFill>
            <a:ln>
              <a:noFill/>
            </a:ln>
            <a:effectLst/>
          </c:spPr>
          <c:invertIfNegative val="0"/>
          <c:dLbls>
            <c:dLbl>
              <c:idx val="0"/>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C16-4E03-928D-588FC05FDE4B}"/>
                </c:ext>
              </c:extLst>
            </c:dLbl>
            <c:dLbl>
              <c:idx val="1"/>
              <c:layout>
                <c:manualLayout>
                  <c:x val="-1.29106224603037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C16-4E03-928D-588FC05FDE4B}"/>
                </c:ext>
              </c:extLst>
            </c:dLbl>
            <c:dLbl>
              <c:idx val="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16-4E03-928D-588FC05FDE4B}"/>
                </c:ext>
              </c:extLst>
            </c:dLbl>
            <c:dLbl>
              <c:idx val="3"/>
              <c:layout>
                <c:manualLayout>
                  <c:x val="-1.0041595246902946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16-4E03-928D-588FC05FDE4B}"/>
                </c:ext>
              </c:extLst>
            </c:dLbl>
            <c:dLbl>
              <c:idx val="4"/>
              <c:layout>
                <c:manualLayout>
                  <c:x val="-4.3035408201012896E-3"/>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C16-4E03-928D-588FC05FDE4B}"/>
                </c:ext>
              </c:extLst>
            </c:dLbl>
            <c:dLbl>
              <c:idx val="5"/>
              <c:layout>
                <c:manualLayout>
                  <c:x val="-1.14761088536033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C16-4E03-928D-588FC05FDE4B}"/>
                </c:ext>
              </c:extLst>
            </c:dLbl>
            <c:dLbl>
              <c:idx val="6"/>
              <c:layout>
                <c:manualLayout>
                  <c:x val="-1.43451360670042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16-4E03-928D-588FC05FDE4B}"/>
                </c:ext>
              </c:extLst>
            </c:dLbl>
            <c:dLbl>
              <c:idx val="7"/>
              <c:layout>
                <c:manualLayout>
                  <c:x val="-1.577964967370468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16-4E03-928D-588FC05FDE4B}"/>
                </c:ext>
              </c:extLst>
            </c:dLbl>
            <c:dLbl>
              <c:idx val="8"/>
              <c:layout>
                <c:manualLayout>
                  <c:x val="-1.5779649673704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C16-4E03-928D-588FC05FDE4B}"/>
                </c:ext>
              </c:extLst>
            </c:dLbl>
            <c:dLbl>
              <c:idx val="9"/>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16-4E03-928D-588FC05FDE4B}"/>
                </c:ext>
              </c:extLst>
            </c:dLbl>
            <c:dLbl>
              <c:idx val="10"/>
              <c:layout>
                <c:manualLayout>
                  <c:x val="-1.4345136067004211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C16-4E03-928D-588FC05FDE4B}"/>
                </c:ext>
              </c:extLst>
            </c:dLbl>
            <c:dLbl>
              <c:idx val="11"/>
              <c:layout>
                <c:manualLayout>
                  <c:x val="-1.5779649673704738E-2"/>
                  <c:y val="2.1312694142701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16-4E03-928D-588FC05FDE4B}"/>
                </c:ext>
              </c:extLst>
            </c:dLbl>
            <c:dLbl>
              <c:idx val="12"/>
              <c:layout>
                <c:manualLayout>
                  <c:x val="-8.6070816402026313E-3"/>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C16-4E03-928D-588FC05FDE4B}"/>
                </c:ext>
              </c:extLst>
            </c:dLbl>
            <c:dLbl>
              <c:idx val="13"/>
              <c:layout>
                <c:manualLayout>
                  <c:x val="-1.1476108853603369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16-4E03-928D-588FC05FDE4B}"/>
                </c:ext>
              </c:extLst>
            </c:dLbl>
            <c:dLbl>
              <c:idx val="14"/>
              <c:layout>
                <c:manualLayout>
                  <c:x val="-8.6070816402026313E-3"/>
                  <c:y val="-6.5121368703978322E-17"/>
                </c:manualLayout>
              </c:layout>
              <c:showLegendKey val="0"/>
              <c:showVal val="1"/>
              <c:showCatName val="0"/>
              <c:showSerName val="0"/>
              <c:showPercent val="0"/>
              <c:showBubbleSize val="0"/>
              <c:extLst>
                <c:ext xmlns:c15="http://schemas.microsoft.com/office/drawing/2012/chart" uri="{CE6537A1-D6FC-4f65-9D91-7224C49458BB}">
                  <c15:layout>
                    <c:manualLayout>
                      <c:w val="2.7757838289653149E-2"/>
                      <c:h val="8.1769703194163115E-2"/>
                    </c:manualLayout>
                  </c15:layout>
                </c:ext>
                <c:ext xmlns:c16="http://schemas.microsoft.com/office/drawing/2014/chart" uri="{C3380CC4-5D6E-409C-BE32-E72D297353CC}">
                  <c16:uniqueId val="{0000000D-AC16-4E03-928D-588FC05FDE4B}"/>
                </c:ext>
              </c:extLst>
            </c:dLbl>
            <c:dLbl>
              <c:idx val="15"/>
              <c:layout>
                <c:manualLayout>
                  <c:x val="-1.4345136067004211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16-4E03-928D-588FC05FDE4B}"/>
                </c:ext>
              </c:extLst>
            </c:dLbl>
            <c:dLbl>
              <c:idx val="16"/>
              <c:layout>
                <c:manualLayout>
                  <c:x val="-1.0041595246902946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C16-4E03-928D-588FC05FDE4B}"/>
                </c:ext>
              </c:extLst>
            </c:dLbl>
            <c:dLbl>
              <c:idx val="17"/>
              <c:layout>
                <c:manualLayout>
                  <c:x val="-1.4345136067004315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C16-4E03-928D-588FC05FDE4B}"/>
                </c:ext>
              </c:extLst>
            </c:dLbl>
            <c:dLbl>
              <c:idx val="18"/>
              <c:layout>
                <c:manualLayout>
                  <c:x val="-1.434513606700431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C16-4E03-928D-588FC05FDE4B}"/>
                </c:ext>
              </c:extLst>
            </c:dLbl>
            <c:dLbl>
              <c:idx val="19"/>
              <c:layout>
                <c:manualLayout>
                  <c:x val="-1.1476108853603473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C16-4E03-928D-588FC05FDE4B}"/>
                </c:ext>
              </c:extLst>
            </c:dLbl>
            <c:dLbl>
              <c:idx val="20"/>
              <c:layout>
                <c:manualLayout>
                  <c:x val="-1.2910622460303894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C16-4E03-928D-588FC05FDE4B}"/>
                </c:ext>
              </c:extLst>
            </c:dLbl>
            <c:dLbl>
              <c:idx val="21"/>
              <c:layout>
                <c:manualLayout>
                  <c:x val="-1.1476108853603369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C16-4E03-928D-588FC05FDE4B}"/>
                </c:ext>
              </c:extLst>
            </c:dLbl>
            <c:dLbl>
              <c:idx val="2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C16-4E03-928D-588FC05FDE4B}"/>
                </c:ext>
              </c:extLst>
            </c:dLbl>
            <c:dLbl>
              <c:idx val="23"/>
              <c:layout>
                <c:manualLayout>
                  <c:x val="-1.4345136067004211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C16-4E03-928D-588FC05FDE4B}"/>
                </c:ext>
              </c:extLst>
            </c:dLbl>
            <c:dLbl>
              <c:idx val="24"/>
              <c:layout>
                <c:manualLayout>
                  <c:x val="-5.7380544268016845E-3"/>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C16-4E03-928D-588FC05FDE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50000"/>
                        <a:lumOff val="50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Sheet1!$B$2:$B$26</c:f>
              <c:numCache>
                <c:formatCode>0</c:formatCode>
                <c:ptCount val="25"/>
                <c:pt idx="0">
                  <c:v>153.75376800000001</c:v>
                </c:pt>
                <c:pt idx="1">
                  <c:v>153.75376800000001</c:v>
                </c:pt>
                <c:pt idx="2">
                  <c:v>153.75376800000001</c:v>
                </c:pt>
                <c:pt idx="3">
                  <c:v>153.75376800000001</c:v>
                </c:pt>
                <c:pt idx="4">
                  <c:v>153.75376800000001</c:v>
                </c:pt>
                <c:pt idx="5">
                  <c:v>153.75376800000001</c:v>
                </c:pt>
                <c:pt idx="6">
                  <c:v>153.75376800000001</c:v>
                </c:pt>
                <c:pt idx="7">
                  <c:v>153.75376800000001</c:v>
                </c:pt>
                <c:pt idx="8">
                  <c:v>153.75376800000001</c:v>
                </c:pt>
                <c:pt idx="9">
                  <c:v>153.75376800000001</c:v>
                </c:pt>
                <c:pt idx="10">
                  <c:v>153.75376800000001</c:v>
                </c:pt>
                <c:pt idx="11">
                  <c:v>153.75376800000001</c:v>
                </c:pt>
                <c:pt idx="12">
                  <c:v>153.75376800000001</c:v>
                </c:pt>
                <c:pt idx="13">
                  <c:v>153.75376800000001</c:v>
                </c:pt>
                <c:pt idx="14">
                  <c:v>153.75376800000001</c:v>
                </c:pt>
                <c:pt idx="15">
                  <c:v>153.75376800000001</c:v>
                </c:pt>
                <c:pt idx="16">
                  <c:v>153.75376800000001</c:v>
                </c:pt>
                <c:pt idx="17">
                  <c:v>153.75376800000001</c:v>
                </c:pt>
                <c:pt idx="18">
                  <c:v>153.75376800000001</c:v>
                </c:pt>
                <c:pt idx="19">
                  <c:v>153.75376800000001</c:v>
                </c:pt>
                <c:pt idx="20">
                  <c:v>153.75376800000001</c:v>
                </c:pt>
                <c:pt idx="21">
                  <c:v>153.75376800000001</c:v>
                </c:pt>
                <c:pt idx="22">
                  <c:v>153.75376800000001</c:v>
                </c:pt>
                <c:pt idx="23">
                  <c:v>153.75376800000001</c:v>
                </c:pt>
                <c:pt idx="24">
                  <c:v>153.75376800000001</c:v>
                </c:pt>
              </c:numCache>
            </c:numRef>
          </c:val>
          <c:extLst>
            <c:ext xmlns:c16="http://schemas.microsoft.com/office/drawing/2014/chart" uri="{C3380CC4-5D6E-409C-BE32-E72D297353CC}">
              <c16:uniqueId val="{00000000-680C-42E7-AD60-CC6A7267CA1B}"/>
            </c:ext>
          </c:extLst>
        </c:ser>
        <c:ser>
          <c:idx val="1"/>
          <c:order val="1"/>
          <c:tx>
            <c:strRef>
              <c:f>Sheet1!$C$1</c:f>
              <c:strCache>
                <c:ptCount val="1"/>
                <c:pt idx="0">
                  <c:v>Income</c:v>
                </c:pt>
              </c:strCache>
            </c:strRef>
          </c:tx>
          <c:spPr>
            <a:solidFill>
              <a:schemeClr val="accent1"/>
            </a:solidFill>
            <a:ln>
              <a:noFill/>
            </a:ln>
            <a:effectLst/>
          </c:spPr>
          <c:invertIfNegative val="0"/>
          <c:dLbls>
            <c:dLbl>
              <c:idx val="0"/>
              <c:layout>
                <c:manualLayout>
                  <c:x val="5.66013282326177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528-4F56-8592-747EE445781B}"/>
                </c:ext>
              </c:extLst>
            </c:dLbl>
            <c:dLbl>
              <c:idx val="1"/>
              <c:layout>
                <c:manualLayout>
                  <c:x val="4.528106258609418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528-4F56-8592-747EE445781B}"/>
                </c:ext>
              </c:extLst>
            </c:dLbl>
            <c:dLbl>
              <c:idx val="2"/>
              <c:layout>
                <c:manualLayout>
                  <c:x val="5.660132823261752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528-4F56-8592-747EE445781B}"/>
                </c:ext>
              </c:extLst>
            </c:dLbl>
            <c:dLbl>
              <c:idx val="3"/>
              <c:layout>
                <c:manualLayout>
                  <c:x val="5.66013282326177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528-4F56-8592-747EE445781B}"/>
                </c:ext>
              </c:extLst>
            </c:dLbl>
            <c:dLbl>
              <c:idx val="4"/>
              <c:layout>
                <c:manualLayout>
                  <c:x val="7.924185952566482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528-4F56-8592-747EE445781B}"/>
                </c:ext>
              </c:extLst>
            </c:dLbl>
            <c:dLbl>
              <c:idx val="5"/>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528-4F56-8592-747EE445781B}"/>
                </c:ext>
              </c:extLst>
            </c:dLbl>
            <c:dLbl>
              <c:idx val="6"/>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528-4F56-8592-747EE445781B}"/>
                </c:ext>
              </c:extLst>
            </c:dLbl>
            <c:dLbl>
              <c:idx val="7"/>
              <c:layout>
                <c:manualLayout>
                  <c:x val="1.132026564652354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528-4F56-8592-747EE445781B}"/>
                </c:ext>
              </c:extLst>
            </c:dLbl>
            <c:dLbl>
              <c:idx val="8"/>
              <c:layout>
                <c:manualLayout>
                  <c:x val="1.132026564652350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528-4F56-8592-747EE445781B}"/>
                </c:ext>
              </c:extLst>
            </c:dLbl>
            <c:dLbl>
              <c:idx val="9"/>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528-4F56-8592-747EE445781B}"/>
                </c:ext>
              </c:extLst>
            </c:dLbl>
            <c:dLbl>
              <c:idx val="10"/>
              <c:layout>
                <c:manualLayout>
                  <c:x val="1.132026564652354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528-4F56-8592-747EE445781B}"/>
                </c:ext>
              </c:extLst>
            </c:dLbl>
            <c:dLbl>
              <c:idx val="11"/>
              <c:layout>
                <c:manualLayout>
                  <c:x val="1.018823908187110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528-4F56-8592-747EE445781B}"/>
                </c:ext>
              </c:extLst>
            </c:dLbl>
            <c:dLbl>
              <c:idx val="12"/>
              <c:layout>
                <c:manualLayout>
                  <c:x val="1.132026564652354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528-4F56-8592-747EE445781B}"/>
                </c:ext>
              </c:extLst>
            </c:dLbl>
            <c:dLbl>
              <c:idx val="13"/>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528-4F56-8592-747EE445781B}"/>
                </c:ext>
              </c:extLst>
            </c:dLbl>
            <c:dLbl>
              <c:idx val="14"/>
              <c:layout>
                <c:manualLayout>
                  <c:x val="1.132026564652354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528-4F56-8592-747EE445781B}"/>
                </c:ext>
              </c:extLst>
            </c:dLbl>
            <c:dLbl>
              <c:idx val="15"/>
              <c:layout>
                <c:manualLayout>
                  <c:x val="9.0562125172187549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528-4F56-8592-747EE445781B}"/>
                </c:ext>
              </c:extLst>
            </c:dLbl>
            <c:dLbl>
              <c:idx val="16"/>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528-4F56-8592-747EE445781B}"/>
                </c:ext>
              </c:extLst>
            </c:dLbl>
            <c:dLbl>
              <c:idx val="17"/>
              <c:layout>
                <c:manualLayout>
                  <c:x val="7.9241859525663993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9528-4F56-8592-747EE445781B}"/>
                </c:ext>
              </c:extLst>
            </c:dLbl>
            <c:dLbl>
              <c:idx val="18"/>
              <c:layout>
                <c:manualLayout>
                  <c:x val="7.924185952566482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528-4F56-8592-747EE445781B}"/>
                </c:ext>
              </c:extLst>
            </c:dLbl>
            <c:dLbl>
              <c:idx val="19"/>
              <c:layout>
                <c:manualLayout>
                  <c:x val="9.0562125172188365E-3"/>
                  <c:y val="-5.58186798310847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528-4F56-8592-747EE445781B}"/>
                </c:ext>
              </c:extLst>
            </c:dLbl>
            <c:dLbl>
              <c:idx val="20"/>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528-4F56-8592-747EE445781B}"/>
                </c:ext>
              </c:extLst>
            </c:dLbl>
            <c:dLbl>
              <c:idx val="21"/>
              <c:layout>
                <c:manualLayout>
                  <c:x val="7.924185952566482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528-4F56-8592-747EE445781B}"/>
                </c:ext>
              </c:extLst>
            </c:dLbl>
            <c:dLbl>
              <c:idx val="22"/>
              <c:layout>
                <c:manualLayout>
                  <c:x val="1.0188239081871192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528-4F56-8592-747EE445781B}"/>
                </c:ext>
              </c:extLst>
            </c:dLbl>
            <c:dLbl>
              <c:idx val="23"/>
              <c:layout>
                <c:manualLayout>
                  <c:x val="9.0562125172188365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9528-4F56-8592-747EE445781B}"/>
                </c:ext>
              </c:extLst>
            </c:dLbl>
            <c:dLbl>
              <c:idx val="24"/>
              <c:layout>
                <c:manualLayout>
                  <c:x val="3.3960796939568978E-3"/>
                  <c:y val="-5.581867983108476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9528-4F56-8592-747EE445781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Sheet1!$C$2:$C$26</c:f>
              <c:numCache>
                <c:formatCode>0</c:formatCode>
                <c:ptCount val="25"/>
                <c:pt idx="0">
                  <c:v>109.491744</c:v>
                </c:pt>
                <c:pt idx="1">
                  <c:v>109.491744</c:v>
                </c:pt>
                <c:pt idx="2">
                  <c:v>109.491744</c:v>
                </c:pt>
                <c:pt idx="3">
                  <c:v>109.491744</c:v>
                </c:pt>
                <c:pt idx="4">
                  <c:v>109.491744</c:v>
                </c:pt>
                <c:pt idx="5">
                  <c:v>109.491744</c:v>
                </c:pt>
                <c:pt idx="6">
                  <c:v>109.491744</c:v>
                </c:pt>
                <c:pt idx="7">
                  <c:v>109.491744</c:v>
                </c:pt>
                <c:pt idx="8">
                  <c:v>109.491744</c:v>
                </c:pt>
                <c:pt idx="9">
                  <c:v>109.491744</c:v>
                </c:pt>
                <c:pt idx="10">
                  <c:v>109.491744</c:v>
                </c:pt>
                <c:pt idx="11">
                  <c:v>109.491744</c:v>
                </c:pt>
                <c:pt idx="12">
                  <c:v>109.491744</c:v>
                </c:pt>
                <c:pt idx="13">
                  <c:v>109.491744</c:v>
                </c:pt>
                <c:pt idx="14">
                  <c:v>109.491744</c:v>
                </c:pt>
                <c:pt idx="15">
                  <c:v>109.491744</c:v>
                </c:pt>
                <c:pt idx="16">
                  <c:v>109.491744</c:v>
                </c:pt>
                <c:pt idx="17">
                  <c:v>109.491744</c:v>
                </c:pt>
                <c:pt idx="18">
                  <c:v>109.491744</c:v>
                </c:pt>
                <c:pt idx="19">
                  <c:v>109.491744</c:v>
                </c:pt>
                <c:pt idx="20">
                  <c:v>109.491744</c:v>
                </c:pt>
                <c:pt idx="21">
                  <c:v>109.491744</c:v>
                </c:pt>
                <c:pt idx="22">
                  <c:v>109.491744</c:v>
                </c:pt>
                <c:pt idx="23">
                  <c:v>109.491744</c:v>
                </c:pt>
                <c:pt idx="24">
                  <c:v>109.491744</c:v>
                </c:pt>
              </c:numCache>
            </c:numRef>
          </c:val>
          <c:extLst>
            <c:ext xmlns:c16="http://schemas.microsoft.com/office/drawing/2014/chart" uri="{C3380CC4-5D6E-409C-BE32-E72D297353CC}">
              <c16:uniqueId val="{00000001-680C-42E7-AD60-CC6A7267CA1B}"/>
            </c:ext>
          </c:extLst>
        </c:ser>
        <c:dLbls>
          <c:showLegendKey val="0"/>
          <c:showVal val="0"/>
          <c:showCatName val="0"/>
          <c:showSerName val="0"/>
          <c:showPercent val="0"/>
          <c:showBubbleSize val="0"/>
        </c:dLbls>
        <c:gapWidth val="219"/>
        <c:axId val="860058224"/>
        <c:axId val="860071952"/>
      </c:barChart>
      <c:catAx>
        <c:axId val="860058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860071952"/>
        <c:crosses val="autoZero"/>
        <c:auto val="1"/>
        <c:lblAlgn val="ctr"/>
        <c:lblOffset val="100"/>
        <c:noMultiLvlLbl val="0"/>
      </c:catAx>
      <c:valAx>
        <c:axId val="860071952"/>
        <c:scaling>
          <c:orientation val="minMax"/>
        </c:scaling>
        <c:delete val="1"/>
        <c:axPos val="l"/>
        <c:numFmt formatCode="0" sourceLinked="1"/>
        <c:majorTickMark val="none"/>
        <c:minorTickMark val="none"/>
        <c:tickLblPos val="nextTo"/>
        <c:crossAx val="860058224"/>
        <c:crosses val="autoZero"/>
        <c:crossBetween val="between"/>
      </c:valAx>
      <c:spPr>
        <a:noFill/>
        <a:ln>
          <a:noFill/>
        </a:ln>
        <a:effectLst/>
      </c:spPr>
    </c:plotArea>
    <c:legend>
      <c:legendPos val="b"/>
      <c:layout>
        <c:manualLayout>
          <c:xMode val="edge"/>
          <c:yMode val="edge"/>
          <c:x val="0.7646204168884031"/>
          <c:y val="2.5795262356585545E-2"/>
          <c:w val="0.21464107509452823"/>
          <c:h val="0.121567961576044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dirty="0">
                <a:latin typeface="Verdana" panose="020B0604030504040204" pitchFamily="34" charset="0"/>
                <a:ea typeface="Verdana" panose="020B0604030504040204" pitchFamily="34" charset="0"/>
              </a:rPr>
              <a:t>Expense</a:t>
            </a:r>
            <a:r>
              <a:rPr lang="en-US" sz="1000" b="1" baseline="0" dirty="0">
                <a:latin typeface="Verdana" panose="020B0604030504040204" pitchFamily="34" charset="0"/>
                <a:ea typeface="Verdana" panose="020B0604030504040204" pitchFamily="34" charset="0"/>
              </a:rPr>
              <a:t> Vs Income (Rs.Cr)</a:t>
            </a:r>
            <a:endParaRPr lang="en-US" sz="1000" b="1" dirty="0">
              <a:latin typeface="Verdana" panose="020B0604030504040204" pitchFamily="34" charset="0"/>
              <a:ea typeface="Verdana" panose="020B0604030504040204" pitchFamily="34" charset="0"/>
            </a:endParaRPr>
          </a:p>
        </c:rich>
      </c:tx>
      <c:layout>
        <c:manualLayout>
          <c:xMode val="edge"/>
          <c:yMode val="edge"/>
          <c:x val="0.41693087508153853"/>
          <c:y val="7.1042313809003582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4746941069164457E-2"/>
          <c:y val="6.619241726786923E-2"/>
          <c:w val="0.97525309336332955"/>
          <c:h val="0.74269480837314783"/>
        </c:manualLayout>
      </c:layout>
      <c:barChart>
        <c:barDir val="col"/>
        <c:grouping val="clustered"/>
        <c:varyColors val="0"/>
        <c:ser>
          <c:idx val="0"/>
          <c:order val="0"/>
          <c:tx>
            <c:strRef>
              <c:f>Sheet1!$B$1</c:f>
              <c:strCache>
                <c:ptCount val="1"/>
                <c:pt idx="0">
                  <c:v>Expense</c:v>
                </c:pt>
              </c:strCache>
            </c:strRef>
          </c:tx>
          <c:spPr>
            <a:solidFill>
              <a:schemeClr val="tx1">
                <a:lumMod val="50000"/>
                <a:lumOff val="50000"/>
              </a:schemeClr>
            </a:solidFill>
            <a:ln>
              <a:noFill/>
            </a:ln>
            <a:effectLst/>
          </c:spPr>
          <c:invertIfNegative val="0"/>
          <c:dLbls>
            <c:dLbl>
              <c:idx val="0"/>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C16-4E03-928D-588FC05FDE4B}"/>
                </c:ext>
              </c:extLst>
            </c:dLbl>
            <c:dLbl>
              <c:idx val="1"/>
              <c:layout>
                <c:manualLayout>
                  <c:x val="-1.29106224603037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C16-4E03-928D-588FC05FDE4B}"/>
                </c:ext>
              </c:extLst>
            </c:dLbl>
            <c:dLbl>
              <c:idx val="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16-4E03-928D-588FC05FDE4B}"/>
                </c:ext>
              </c:extLst>
            </c:dLbl>
            <c:dLbl>
              <c:idx val="3"/>
              <c:layout>
                <c:manualLayout>
                  <c:x val="-1.0041595246902946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16-4E03-928D-588FC05FDE4B}"/>
                </c:ext>
              </c:extLst>
            </c:dLbl>
            <c:dLbl>
              <c:idx val="4"/>
              <c:layout>
                <c:manualLayout>
                  <c:x val="-4.3035408201012896E-3"/>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C16-4E03-928D-588FC05FDE4B}"/>
                </c:ext>
              </c:extLst>
            </c:dLbl>
            <c:dLbl>
              <c:idx val="5"/>
              <c:layout>
                <c:manualLayout>
                  <c:x val="-1.14761088536033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C16-4E03-928D-588FC05FDE4B}"/>
                </c:ext>
              </c:extLst>
            </c:dLbl>
            <c:dLbl>
              <c:idx val="6"/>
              <c:layout>
                <c:manualLayout>
                  <c:x val="-1.43451360670042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16-4E03-928D-588FC05FDE4B}"/>
                </c:ext>
              </c:extLst>
            </c:dLbl>
            <c:dLbl>
              <c:idx val="7"/>
              <c:layout>
                <c:manualLayout>
                  <c:x val="-1.577964967370468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16-4E03-928D-588FC05FDE4B}"/>
                </c:ext>
              </c:extLst>
            </c:dLbl>
            <c:dLbl>
              <c:idx val="8"/>
              <c:layout>
                <c:manualLayout>
                  <c:x val="-1.5779649673704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C16-4E03-928D-588FC05FDE4B}"/>
                </c:ext>
              </c:extLst>
            </c:dLbl>
            <c:dLbl>
              <c:idx val="9"/>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16-4E03-928D-588FC05FDE4B}"/>
                </c:ext>
              </c:extLst>
            </c:dLbl>
            <c:dLbl>
              <c:idx val="10"/>
              <c:layout>
                <c:manualLayout>
                  <c:x val="-1.4345136067004211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C16-4E03-928D-588FC05FDE4B}"/>
                </c:ext>
              </c:extLst>
            </c:dLbl>
            <c:dLbl>
              <c:idx val="11"/>
              <c:layout>
                <c:manualLayout>
                  <c:x val="-1.5779649673704738E-2"/>
                  <c:y val="2.1312694142701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16-4E03-928D-588FC05FDE4B}"/>
                </c:ext>
              </c:extLst>
            </c:dLbl>
            <c:dLbl>
              <c:idx val="12"/>
              <c:layout>
                <c:manualLayout>
                  <c:x val="-8.6070816402026313E-3"/>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C16-4E03-928D-588FC05FDE4B}"/>
                </c:ext>
              </c:extLst>
            </c:dLbl>
            <c:dLbl>
              <c:idx val="13"/>
              <c:layout>
                <c:manualLayout>
                  <c:x val="-1.1476108853603369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16-4E03-928D-588FC05FDE4B}"/>
                </c:ext>
              </c:extLst>
            </c:dLbl>
            <c:dLbl>
              <c:idx val="14"/>
              <c:layout>
                <c:manualLayout>
                  <c:x val="-7.1725680335021054E-3"/>
                  <c:y val="4.262538828540216E-2"/>
                </c:manualLayout>
              </c:layout>
              <c:spPr>
                <a:noFill/>
                <a:ln>
                  <a:noFill/>
                </a:ln>
                <a:effectLst/>
              </c:spPr>
              <c:txPr>
                <a:bodyPr rot="0" spcFirstLastPara="1" vertOverflow="ellipsis" vert="horz" wrap="square" lIns="38100" tIns="19050" rIns="38100" bIns="19050" anchor="ctr" anchorCtr="1">
                  <a:noAutofit/>
                </a:bodyPr>
                <a:lstStyle/>
                <a:p>
                  <a:pPr>
                    <a:defRPr sz="700" b="0" i="0" u="none" strike="noStrike" kern="1200" baseline="0">
                      <a:solidFill>
                        <a:schemeClr val="tx1">
                          <a:lumMod val="50000"/>
                          <a:lumOff val="50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2.7757838289653149E-2"/>
                      <c:h val="0.16702047976496742"/>
                    </c:manualLayout>
                  </c15:layout>
                </c:ext>
                <c:ext xmlns:c16="http://schemas.microsoft.com/office/drawing/2014/chart" uri="{C3380CC4-5D6E-409C-BE32-E72D297353CC}">
                  <c16:uniqueId val="{0000000D-AC16-4E03-928D-588FC05FDE4B}"/>
                </c:ext>
              </c:extLst>
            </c:dLbl>
            <c:dLbl>
              <c:idx val="15"/>
              <c:layout>
                <c:manualLayout>
                  <c:x val="-1.4345136067004211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16-4E03-928D-588FC05FDE4B}"/>
                </c:ext>
              </c:extLst>
            </c:dLbl>
            <c:dLbl>
              <c:idx val="16"/>
              <c:layout>
                <c:manualLayout>
                  <c:x val="-1.0041595246902946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C16-4E03-928D-588FC05FDE4B}"/>
                </c:ext>
              </c:extLst>
            </c:dLbl>
            <c:dLbl>
              <c:idx val="17"/>
              <c:layout>
                <c:manualLayout>
                  <c:x val="-1.4345136067004315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C16-4E03-928D-588FC05FDE4B}"/>
                </c:ext>
              </c:extLst>
            </c:dLbl>
            <c:dLbl>
              <c:idx val="18"/>
              <c:layout>
                <c:manualLayout>
                  <c:x val="-1.434513606700431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C16-4E03-928D-588FC05FDE4B}"/>
                </c:ext>
              </c:extLst>
            </c:dLbl>
            <c:dLbl>
              <c:idx val="19"/>
              <c:layout>
                <c:manualLayout>
                  <c:x val="-1.1476108853603473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C16-4E03-928D-588FC05FDE4B}"/>
                </c:ext>
              </c:extLst>
            </c:dLbl>
            <c:dLbl>
              <c:idx val="20"/>
              <c:layout>
                <c:manualLayout>
                  <c:x val="-1.2910622460303894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C16-4E03-928D-588FC05FDE4B}"/>
                </c:ext>
              </c:extLst>
            </c:dLbl>
            <c:dLbl>
              <c:idx val="21"/>
              <c:layout>
                <c:manualLayout>
                  <c:x val="-1.1476108853603369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C16-4E03-928D-588FC05FDE4B}"/>
                </c:ext>
              </c:extLst>
            </c:dLbl>
            <c:dLbl>
              <c:idx val="2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C16-4E03-928D-588FC05FDE4B}"/>
                </c:ext>
              </c:extLst>
            </c:dLbl>
            <c:dLbl>
              <c:idx val="23"/>
              <c:layout>
                <c:manualLayout>
                  <c:x val="-1.4345136067004211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C16-4E03-928D-588FC05FDE4B}"/>
                </c:ext>
              </c:extLst>
            </c:dLbl>
            <c:dLbl>
              <c:idx val="24"/>
              <c:layout>
                <c:manualLayout>
                  <c:x val="-5.7380544268016845E-3"/>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C16-4E03-928D-588FC05FDE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lumMod val="50000"/>
                        <a:lumOff val="50000"/>
                      </a:schemeClr>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Sheet1!$B$2:$B$26</c:f>
              <c:numCache>
                <c:formatCode>_ * #,##0_ ;_ * \-#,##0_ ;_ * "-"??_ ;_ @_ </c:formatCode>
                <c:ptCount val="25"/>
                <c:pt idx="0">
                  <c:v>155</c:v>
                </c:pt>
                <c:pt idx="1">
                  <c:v>157.86000000000001</c:v>
                </c:pt>
                <c:pt idx="2">
                  <c:v>381.35041378746178</c:v>
                </c:pt>
                <c:pt idx="3">
                  <c:v>384.54695524986181</c:v>
                </c:pt>
                <c:pt idx="4">
                  <c:v>387.92633888391106</c:v>
                </c:pt>
                <c:pt idx="5">
                  <c:v>391.49902326182797</c:v>
                </c:pt>
                <c:pt idx="6">
                  <c:v>395.2760651861617</c:v>
                </c:pt>
                <c:pt idx="7">
                  <c:v>399.26915390856732</c:v>
                </c:pt>
                <c:pt idx="8">
                  <c:v>403.49064730589458</c:v>
                </c:pt>
                <c:pt idx="9">
                  <c:v>407.95361012554895</c:v>
                </c:pt>
                <c:pt idx="10">
                  <c:v>412.6718544184875</c:v>
                </c:pt>
                <c:pt idx="11">
                  <c:v>417.65998228498216</c:v>
                </c:pt>
                <c:pt idx="12">
                  <c:v>422.93343106544035</c:v>
                </c:pt>
                <c:pt idx="13">
                  <c:v>428.50852111614068</c:v>
                </c:pt>
                <c:pt idx="14">
                  <c:v>434.40250631774109</c:v>
                </c:pt>
                <c:pt idx="15">
                  <c:v>115.16680568541128</c:v>
                </c:pt>
                <c:pt idx="16">
                  <c:v>121.75434697061679</c:v>
                </c:pt>
                <c:pt idx="17">
                  <c:v>128.71869561733607</c:v>
                </c:pt>
                <c:pt idx="18">
                  <c:v>136.08140500664769</c:v>
                </c:pt>
                <c:pt idx="19">
                  <c:v>143.86526137302792</c:v>
                </c:pt>
                <c:pt idx="20">
                  <c:v>152.09435432356511</c:v>
                </c:pt>
                <c:pt idx="21">
                  <c:v>160.79415139087303</c:v>
                </c:pt>
                <c:pt idx="22">
                  <c:v>169.99157685043096</c:v>
                </c:pt>
                <c:pt idx="23">
                  <c:v>179.71509504627559</c:v>
                </c:pt>
                <c:pt idx="24">
                  <c:v>189.99479848292253</c:v>
                </c:pt>
              </c:numCache>
            </c:numRef>
          </c:val>
          <c:extLst>
            <c:ext xmlns:c16="http://schemas.microsoft.com/office/drawing/2014/chart" uri="{C3380CC4-5D6E-409C-BE32-E72D297353CC}">
              <c16:uniqueId val="{00000000-680C-42E7-AD60-CC6A7267CA1B}"/>
            </c:ext>
          </c:extLst>
        </c:ser>
        <c:ser>
          <c:idx val="1"/>
          <c:order val="1"/>
          <c:tx>
            <c:strRef>
              <c:f>Sheet1!$C$1</c:f>
              <c:strCache>
                <c:ptCount val="1"/>
                <c:pt idx="0">
                  <c:v>Income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Sheet1!$C$2:$C$26</c:f>
              <c:numCache>
                <c:formatCode>General</c:formatCode>
                <c:ptCount val="25"/>
                <c:pt idx="0">
                  <c:v>679</c:v>
                </c:pt>
                <c:pt idx="1">
                  <c:v>679</c:v>
                </c:pt>
                <c:pt idx="2">
                  <c:v>679</c:v>
                </c:pt>
                <c:pt idx="3">
                  <c:v>679</c:v>
                </c:pt>
                <c:pt idx="4">
                  <c:v>679</c:v>
                </c:pt>
                <c:pt idx="5">
                  <c:v>679</c:v>
                </c:pt>
                <c:pt idx="6">
                  <c:v>679</c:v>
                </c:pt>
                <c:pt idx="7">
                  <c:v>679</c:v>
                </c:pt>
                <c:pt idx="8">
                  <c:v>679</c:v>
                </c:pt>
                <c:pt idx="9">
                  <c:v>679</c:v>
                </c:pt>
                <c:pt idx="10">
                  <c:v>679</c:v>
                </c:pt>
                <c:pt idx="11">
                  <c:v>679</c:v>
                </c:pt>
                <c:pt idx="12">
                  <c:v>679</c:v>
                </c:pt>
                <c:pt idx="13">
                  <c:v>679</c:v>
                </c:pt>
                <c:pt idx="14">
                  <c:v>679</c:v>
                </c:pt>
                <c:pt idx="15">
                  <c:v>679</c:v>
                </c:pt>
                <c:pt idx="16">
                  <c:v>679</c:v>
                </c:pt>
                <c:pt idx="17">
                  <c:v>679</c:v>
                </c:pt>
                <c:pt idx="18">
                  <c:v>679</c:v>
                </c:pt>
                <c:pt idx="19">
                  <c:v>679</c:v>
                </c:pt>
                <c:pt idx="20">
                  <c:v>679</c:v>
                </c:pt>
                <c:pt idx="21">
                  <c:v>679</c:v>
                </c:pt>
                <c:pt idx="22">
                  <c:v>679</c:v>
                </c:pt>
                <c:pt idx="23">
                  <c:v>679</c:v>
                </c:pt>
                <c:pt idx="24">
                  <c:v>679</c:v>
                </c:pt>
              </c:numCache>
            </c:numRef>
          </c:val>
          <c:extLst>
            <c:ext xmlns:c16="http://schemas.microsoft.com/office/drawing/2014/chart" uri="{C3380CC4-5D6E-409C-BE32-E72D297353CC}">
              <c16:uniqueId val="{00000001-680C-42E7-AD60-CC6A7267CA1B}"/>
            </c:ext>
          </c:extLst>
        </c:ser>
        <c:dLbls>
          <c:showLegendKey val="0"/>
          <c:showVal val="0"/>
          <c:showCatName val="0"/>
          <c:showSerName val="0"/>
          <c:showPercent val="0"/>
          <c:showBubbleSize val="0"/>
        </c:dLbls>
        <c:gapWidth val="219"/>
        <c:axId val="860058224"/>
        <c:axId val="860071952"/>
      </c:barChart>
      <c:catAx>
        <c:axId val="860058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60071952"/>
        <c:crosses val="autoZero"/>
        <c:auto val="1"/>
        <c:lblAlgn val="ctr"/>
        <c:lblOffset val="100"/>
        <c:noMultiLvlLbl val="0"/>
      </c:catAx>
      <c:valAx>
        <c:axId val="860071952"/>
        <c:scaling>
          <c:orientation val="minMax"/>
        </c:scaling>
        <c:delete val="1"/>
        <c:axPos val="l"/>
        <c:numFmt formatCode="_ * #,##0_ ;_ * \-#,##0_ ;_ * &quot;-&quot;??_ ;_ @_ " sourceLinked="1"/>
        <c:majorTickMark val="none"/>
        <c:minorTickMark val="none"/>
        <c:tickLblPos val="nextTo"/>
        <c:crossAx val="860058224"/>
        <c:crosses val="autoZero"/>
        <c:crossBetween val="between"/>
      </c:valAx>
      <c:spPr>
        <a:noFill/>
        <a:ln>
          <a:noFill/>
        </a:ln>
        <a:effectLst/>
      </c:spPr>
    </c:plotArea>
    <c:legend>
      <c:legendPos val="b"/>
      <c:layout>
        <c:manualLayout>
          <c:xMode val="edge"/>
          <c:yMode val="edge"/>
          <c:x val="0.76132675565545693"/>
          <c:y val="6.6897805911279903E-2"/>
          <c:w val="0.21464107509452823"/>
          <c:h val="0.121567961576044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000" b="1" dirty="0">
                <a:latin typeface="Verdana" panose="020B0604030504040204" pitchFamily="34" charset="0"/>
                <a:ea typeface="Verdana" panose="020B0604030504040204" pitchFamily="34" charset="0"/>
              </a:rPr>
              <a:t>Expense</a:t>
            </a:r>
            <a:r>
              <a:rPr lang="en-US" sz="1000" b="1" baseline="0" dirty="0">
                <a:latin typeface="Verdana" panose="020B0604030504040204" pitchFamily="34" charset="0"/>
                <a:ea typeface="Verdana" panose="020B0604030504040204" pitchFamily="34" charset="0"/>
              </a:rPr>
              <a:t> Vs Income (Rs.Cr)</a:t>
            </a:r>
            <a:endParaRPr lang="en-US" sz="1000" b="1" dirty="0">
              <a:latin typeface="Verdana" panose="020B0604030504040204" pitchFamily="34" charset="0"/>
              <a:ea typeface="Verdana" panose="020B0604030504040204" pitchFamily="34" charset="0"/>
            </a:endParaRPr>
          </a:p>
        </c:rich>
      </c:tx>
      <c:layout>
        <c:manualLayout>
          <c:xMode val="edge"/>
          <c:yMode val="edge"/>
          <c:x val="0.41693087508153853"/>
          <c:y val="0.12077193347530608"/>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4746941069164457E-2"/>
          <c:y val="5.9088185886968882E-2"/>
          <c:w val="0.97525309336332955"/>
          <c:h val="0.74269480837314783"/>
        </c:manualLayout>
      </c:layout>
      <c:barChart>
        <c:barDir val="col"/>
        <c:grouping val="clustered"/>
        <c:varyColors val="0"/>
        <c:ser>
          <c:idx val="0"/>
          <c:order val="0"/>
          <c:tx>
            <c:strRef>
              <c:f>Sheet1!$B$1</c:f>
              <c:strCache>
                <c:ptCount val="1"/>
                <c:pt idx="0">
                  <c:v>Expense</c:v>
                </c:pt>
              </c:strCache>
            </c:strRef>
          </c:tx>
          <c:spPr>
            <a:solidFill>
              <a:schemeClr val="accent1"/>
            </a:solidFill>
            <a:ln>
              <a:noFill/>
            </a:ln>
            <a:effectLst/>
          </c:spPr>
          <c:invertIfNegative val="0"/>
          <c:dLbls>
            <c:dLbl>
              <c:idx val="0"/>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AC16-4E03-928D-588FC05FDE4B}"/>
                </c:ext>
              </c:extLst>
            </c:dLbl>
            <c:dLbl>
              <c:idx val="1"/>
              <c:layout>
                <c:manualLayout>
                  <c:x val="-1.29106224603037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AC16-4E03-928D-588FC05FDE4B}"/>
                </c:ext>
              </c:extLst>
            </c:dLbl>
            <c:dLbl>
              <c:idx val="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AC16-4E03-928D-588FC05FDE4B}"/>
                </c:ext>
              </c:extLst>
            </c:dLbl>
            <c:dLbl>
              <c:idx val="3"/>
              <c:layout>
                <c:manualLayout>
                  <c:x val="-1.0041595246902946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AC16-4E03-928D-588FC05FDE4B}"/>
                </c:ext>
              </c:extLst>
            </c:dLbl>
            <c:dLbl>
              <c:idx val="4"/>
              <c:layout>
                <c:manualLayout>
                  <c:x val="-4.3035408201012896E-3"/>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AC16-4E03-928D-588FC05FDE4B}"/>
                </c:ext>
              </c:extLst>
            </c:dLbl>
            <c:dLbl>
              <c:idx val="5"/>
              <c:layout>
                <c:manualLayout>
                  <c:x val="-1.147610885360339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AC16-4E03-928D-588FC05FDE4B}"/>
                </c:ext>
              </c:extLst>
            </c:dLbl>
            <c:dLbl>
              <c:idx val="6"/>
              <c:layout>
                <c:manualLayout>
                  <c:x val="-1.43451360670042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AC16-4E03-928D-588FC05FDE4B}"/>
                </c:ext>
              </c:extLst>
            </c:dLbl>
            <c:dLbl>
              <c:idx val="7"/>
              <c:layout>
                <c:manualLayout>
                  <c:x val="-1.577964967370468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C16-4E03-928D-588FC05FDE4B}"/>
                </c:ext>
              </c:extLst>
            </c:dLbl>
            <c:dLbl>
              <c:idx val="8"/>
              <c:layout>
                <c:manualLayout>
                  <c:x val="-1.577964967370463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C16-4E03-928D-588FC05FDE4B}"/>
                </c:ext>
              </c:extLst>
            </c:dLbl>
            <c:dLbl>
              <c:idx val="9"/>
              <c:layout>
                <c:manualLayout>
                  <c:x val="-1.577964967370463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C16-4E03-928D-588FC05FDE4B}"/>
                </c:ext>
              </c:extLst>
            </c:dLbl>
            <c:dLbl>
              <c:idx val="10"/>
              <c:layout>
                <c:manualLayout>
                  <c:x val="-1.4345136067004211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C16-4E03-928D-588FC05FDE4B}"/>
                </c:ext>
              </c:extLst>
            </c:dLbl>
            <c:dLbl>
              <c:idx val="11"/>
              <c:layout>
                <c:manualLayout>
                  <c:x val="-1.5779649673704738E-2"/>
                  <c:y val="2.131269414270100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AC16-4E03-928D-588FC05FDE4B}"/>
                </c:ext>
              </c:extLst>
            </c:dLbl>
            <c:dLbl>
              <c:idx val="12"/>
              <c:layout>
                <c:manualLayout>
                  <c:x val="-8.6070816402026313E-3"/>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AC16-4E03-928D-588FC05FDE4B}"/>
                </c:ext>
              </c:extLst>
            </c:dLbl>
            <c:dLbl>
              <c:idx val="13"/>
              <c:layout>
                <c:manualLayout>
                  <c:x val="-1.1476108853603369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AC16-4E03-928D-588FC05FDE4B}"/>
                </c:ext>
              </c:extLst>
            </c:dLbl>
            <c:dLbl>
              <c:idx val="14"/>
              <c:layout>
                <c:manualLayout>
                  <c:x val="-8.6070816402026313E-3"/>
                  <c:y val="-6.5121368703978322E-17"/>
                </c:manualLayout>
              </c:layout>
              <c:showLegendKey val="0"/>
              <c:showVal val="1"/>
              <c:showCatName val="0"/>
              <c:showSerName val="0"/>
              <c:showPercent val="0"/>
              <c:showBubbleSize val="0"/>
              <c:extLst>
                <c:ext xmlns:c15="http://schemas.microsoft.com/office/drawing/2012/chart" uri="{CE6537A1-D6FC-4f65-9D91-7224C49458BB}">
                  <c15:layout>
                    <c:manualLayout>
                      <c:w val="2.7757838289653149E-2"/>
                      <c:h val="8.1769703194163115E-2"/>
                    </c:manualLayout>
                  </c15:layout>
                </c:ext>
                <c:ext xmlns:c16="http://schemas.microsoft.com/office/drawing/2014/chart" uri="{C3380CC4-5D6E-409C-BE32-E72D297353CC}">
                  <c16:uniqueId val="{0000000D-AC16-4E03-928D-588FC05FDE4B}"/>
                </c:ext>
              </c:extLst>
            </c:dLbl>
            <c:dLbl>
              <c:idx val="15"/>
              <c:layout>
                <c:manualLayout>
                  <c:x val="-1.4345136067004211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AC16-4E03-928D-588FC05FDE4B}"/>
                </c:ext>
              </c:extLst>
            </c:dLbl>
            <c:dLbl>
              <c:idx val="16"/>
              <c:layout>
                <c:manualLayout>
                  <c:x val="-1.0041595246902946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AC16-4E03-928D-588FC05FDE4B}"/>
                </c:ext>
              </c:extLst>
            </c:dLbl>
            <c:dLbl>
              <c:idx val="17"/>
              <c:layout>
                <c:manualLayout>
                  <c:x val="-1.4345136067004315E-2"/>
                  <c:y val="1.42084627618007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C16-4E03-928D-588FC05FDE4B}"/>
                </c:ext>
              </c:extLst>
            </c:dLbl>
            <c:dLbl>
              <c:idx val="18"/>
              <c:layout>
                <c:manualLayout>
                  <c:x val="-1.4345136067004315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AC16-4E03-928D-588FC05FDE4B}"/>
                </c:ext>
              </c:extLst>
            </c:dLbl>
            <c:dLbl>
              <c:idx val="19"/>
              <c:layout>
                <c:manualLayout>
                  <c:x val="-1.1476108853603473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AC16-4E03-928D-588FC05FDE4B}"/>
                </c:ext>
              </c:extLst>
            </c:dLbl>
            <c:dLbl>
              <c:idx val="20"/>
              <c:layout>
                <c:manualLayout>
                  <c:x val="-1.2910622460303894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AC16-4E03-928D-588FC05FDE4B}"/>
                </c:ext>
              </c:extLst>
            </c:dLbl>
            <c:dLbl>
              <c:idx val="21"/>
              <c:layout>
                <c:manualLayout>
                  <c:x val="-1.1476108853603369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AC16-4E03-928D-588FC05FDE4B}"/>
                </c:ext>
              </c:extLst>
            </c:dLbl>
            <c:dLbl>
              <c:idx val="22"/>
              <c:layout>
                <c:manualLayout>
                  <c:x val="-1.0041595246902946E-2"/>
                  <c:y val="-6.512136870397832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AC16-4E03-928D-588FC05FDE4B}"/>
                </c:ext>
              </c:extLst>
            </c:dLbl>
            <c:dLbl>
              <c:idx val="23"/>
              <c:layout>
                <c:manualLayout>
                  <c:x val="-1.4345136067004211E-2"/>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AC16-4E03-928D-588FC05FDE4B}"/>
                </c:ext>
              </c:extLst>
            </c:dLbl>
            <c:dLbl>
              <c:idx val="24"/>
              <c:layout>
                <c:manualLayout>
                  <c:x val="-5.7380544268016845E-3"/>
                  <c:y val="7.10423138090029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AC16-4E03-928D-588FC05FDE4B}"/>
                </c:ext>
              </c:extLst>
            </c:dLbl>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1"/>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Sheet1!$B$2:$B$26</c:f>
              <c:numCache>
                <c:formatCode>General</c:formatCode>
                <c:ptCount val="25"/>
                <c:pt idx="0">
                  <c:v>513</c:v>
                </c:pt>
                <c:pt idx="1">
                  <c:v>513</c:v>
                </c:pt>
                <c:pt idx="2">
                  <c:v>513</c:v>
                </c:pt>
                <c:pt idx="3">
                  <c:v>513</c:v>
                </c:pt>
                <c:pt idx="4">
                  <c:v>513</c:v>
                </c:pt>
                <c:pt idx="5">
                  <c:v>513</c:v>
                </c:pt>
                <c:pt idx="6">
                  <c:v>513</c:v>
                </c:pt>
                <c:pt idx="7">
                  <c:v>513</c:v>
                </c:pt>
                <c:pt idx="8">
                  <c:v>513</c:v>
                </c:pt>
                <c:pt idx="9">
                  <c:v>513</c:v>
                </c:pt>
                <c:pt idx="10">
                  <c:v>513</c:v>
                </c:pt>
                <c:pt idx="11">
                  <c:v>513</c:v>
                </c:pt>
                <c:pt idx="12">
                  <c:v>513</c:v>
                </c:pt>
                <c:pt idx="13">
                  <c:v>513</c:v>
                </c:pt>
                <c:pt idx="14">
                  <c:v>513</c:v>
                </c:pt>
                <c:pt idx="15">
                  <c:v>513</c:v>
                </c:pt>
                <c:pt idx="16">
                  <c:v>513</c:v>
                </c:pt>
                <c:pt idx="17">
                  <c:v>513</c:v>
                </c:pt>
                <c:pt idx="18">
                  <c:v>513</c:v>
                </c:pt>
                <c:pt idx="19">
                  <c:v>513</c:v>
                </c:pt>
                <c:pt idx="20">
                  <c:v>513</c:v>
                </c:pt>
                <c:pt idx="21">
                  <c:v>513</c:v>
                </c:pt>
                <c:pt idx="22">
                  <c:v>513</c:v>
                </c:pt>
                <c:pt idx="23">
                  <c:v>513</c:v>
                </c:pt>
                <c:pt idx="24">
                  <c:v>513</c:v>
                </c:pt>
              </c:numCache>
            </c:numRef>
          </c:val>
          <c:extLst>
            <c:ext xmlns:c16="http://schemas.microsoft.com/office/drawing/2014/chart" uri="{C3380CC4-5D6E-409C-BE32-E72D297353CC}">
              <c16:uniqueId val="{00000000-680C-42E7-AD60-CC6A7267CA1B}"/>
            </c:ext>
          </c:extLst>
        </c:ser>
        <c:ser>
          <c:idx val="1"/>
          <c:order val="1"/>
          <c:tx>
            <c:strRef>
              <c:f>Sheet1!$C$1</c:f>
              <c:strCache>
                <c:ptCount val="1"/>
                <c:pt idx="0">
                  <c:v>Income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accent6"/>
                    </a:solidFill>
                    <a:latin typeface="Verdana" panose="020B0604030504040204" pitchFamily="34" charset="0"/>
                    <a:ea typeface="Verdana" panose="020B0604030504040204" pitchFamily="34" charset="0"/>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Sheet1!$A$2:$A$26</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cat>
          <c:val>
            <c:numRef>
              <c:f>Sheet1!$C$2:$C$26</c:f>
              <c:numCache>
                <c:formatCode>General</c:formatCode>
                <c:ptCount val="25"/>
                <c:pt idx="0">
                  <c:v>629</c:v>
                </c:pt>
                <c:pt idx="1">
                  <c:v>629</c:v>
                </c:pt>
                <c:pt idx="2">
                  <c:v>629</c:v>
                </c:pt>
                <c:pt idx="3">
                  <c:v>629</c:v>
                </c:pt>
                <c:pt idx="4">
                  <c:v>629</c:v>
                </c:pt>
                <c:pt idx="5">
                  <c:v>629</c:v>
                </c:pt>
                <c:pt idx="6">
                  <c:v>629</c:v>
                </c:pt>
                <c:pt idx="7">
                  <c:v>629</c:v>
                </c:pt>
                <c:pt idx="8">
                  <c:v>629</c:v>
                </c:pt>
                <c:pt idx="9">
                  <c:v>629</c:v>
                </c:pt>
                <c:pt idx="10">
                  <c:v>629</c:v>
                </c:pt>
                <c:pt idx="11">
                  <c:v>629</c:v>
                </c:pt>
                <c:pt idx="12">
                  <c:v>629</c:v>
                </c:pt>
                <c:pt idx="13">
                  <c:v>629</c:v>
                </c:pt>
                <c:pt idx="14">
                  <c:v>629</c:v>
                </c:pt>
                <c:pt idx="15">
                  <c:v>629</c:v>
                </c:pt>
                <c:pt idx="16">
                  <c:v>629</c:v>
                </c:pt>
                <c:pt idx="17">
                  <c:v>629</c:v>
                </c:pt>
                <c:pt idx="18">
                  <c:v>629</c:v>
                </c:pt>
                <c:pt idx="19">
                  <c:v>629</c:v>
                </c:pt>
                <c:pt idx="20">
                  <c:v>629</c:v>
                </c:pt>
                <c:pt idx="21">
                  <c:v>629</c:v>
                </c:pt>
                <c:pt idx="22">
                  <c:v>629</c:v>
                </c:pt>
                <c:pt idx="23">
                  <c:v>629</c:v>
                </c:pt>
                <c:pt idx="24">
                  <c:v>629</c:v>
                </c:pt>
              </c:numCache>
            </c:numRef>
          </c:val>
          <c:extLst>
            <c:ext xmlns:c16="http://schemas.microsoft.com/office/drawing/2014/chart" uri="{C3380CC4-5D6E-409C-BE32-E72D297353CC}">
              <c16:uniqueId val="{00000001-680C-42E7-AD60-CC6A7267CA1B}"/>
            </c:ext>
          </c:extLst>
        </c:ser>
        <c:dLbls>
          <c:showLegendKey val="0"/>
          <c:showVal val="0"/>
          <c:showCatName val="0"/>
          <c:showSerName val="0"/>
          <c:showPercent val="0"/>
          <c:showBubbleSize val="0"/>
        </c:dLbls>
        <c:gapWidth val="219"/>
        <c:axId val="860058224"/>
        <c:axId val="860071952"/>
      </c:barChart>
      <c:catAx>
        <c:axId val="8600582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60071952"/>
        <c:crosses val="autoZero"/>
        <c:auto val="1"/>
        <c:lblAlgn val="ctr"/>
        <c:lblOffset val="100"/>
        <c:noMultiLvlLbl val="0"/>
      </c:catAx>
      <c:valAx>
        <c:axId val="860071952"/>
        <c:scaling>
          <c:orientation val="minMax"/>
        </c:scaling>
        <c:delete val="1"/>
        <c:axPos val="l"/>
        <c:numFmt formatCode="General" sourceLinked="1"/>
        <c:majorTickMark val="none"/>
        <c:minorTickMark val="none"/>
        <c:tickLblPos val="nextTo"/>
        <c:crossAx val="860058224"/>
        <c:crosses val="autoZero"/>
        <c:crossBetween val="between"/>
      </c:valAx>
      <c:spPr>
        <a:noFill/>
        <a:ln>
          <a:noFill/>
        </a:ln>
        <a:effectLst/>
      </c:spPr>
    </c:plotArea>
    <c:legend>
      <c:legendPos val="b"/>
      <c:layout>
        <c:manualLayout>
          <c:xMode val="edge"/>
          <c:yMode val="edge"/>
          <c:x val="0.76132675565545693"/>
          <c:y val="0.10952319419668205"/>
          <c:w val="0.21464107509452823"/>
          <c:h val="0.1215679615760445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1"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E8800E-B022-40F7-B28F-2C3A48CEE2E8}" type="doc">
      <dgm:prSet loTypeId="urn:microsoft.com/office/officeart/2008/layout/CircularPictureCallout" loCatId="picture" qsTypeId="urn:microsoft.com/office/officeart/2005/8/quickstyle/simple1" qsCatId="simple" csTypeId="urn:microsoft.com/office/officeart/2005/8/colors/accent1_2" csCatId="accent1" phldr="1"/>
      <dgm:spPr/>
    </dgm:pt>
    <dgm:pt modelId="{4E4642EB-05A6-48EE-99EE-41BDEEC1E144}">
      <dgm:prSet phldrT="[Text]" phldr="1"/>
      <dgm:spPr/>
      <dgm:t>
        <a:bodyPr/>
        <a:lstStyle/>
        <a:p>
          <a:endParaRPr lang="en-US" dirty="0"/>
        </a:p>
      </dgm:t>
    </dgm:pt>
    <dgm:pt modelId="{5F6C724D-2132-4CBD-86C1-A0A6AD949F96}" type="parTrans" cxnId="{3DAB4D00-FF0C-4453-9AA9-2E4171CAFFEE}">
      <dgm:prSet/>
      <dgm:spPr/>
      <dgm:t>
        <a:bodyPr/>
        <a:lstStyle/>
        <a:p>
          <a:endParaRPr lang="en-US"/>
        </a:p>
      </dgm:t>
    </dgm:pt>
    <dgm:pt modelId="{57269A15-1F17-4927-8454-C4A8BEEC8B0D}" type="sibTrans" cxnId="{3DAB4D00-FF0C-4453-9AA9-2E4171CAFFEE}">
      <dgm:prSet/>
      <dgm:spPr>
        <a:blipFill>
          <a:blip xmlns:r="http://schemas.openxmlformats.org/officeDocument/2006/relationships" r:embed="rId1"/>
          <a:srcRect/>
          <a:stretch>
            <a:fillRect l="-10000" r="-10000"/>
          </a:stretch>
        </a:blipFill>
        <a:ln>
          <a:solidFill>
            <a:schemeClr val="accent1">
              <a:lumMod val="20000"/>
              <a:lumOff val="80000"/>
            </a:schemeClr>
          </a:solidFill>
        </a:ln>
      </dgm:spPr>
      <dgm:t>
        <a:bodyPr/>
        <a:lstStyle/>
        <a:p>
          <a:endParaRPr lang="en-US"/>
        </a:p>
      </dgm:t>
    </dgm:pt>
    <dgm:pt modelId="{40FE4D96-86CC-49A9-B04C-FBBCB4FD9417}" type="pres">
      <dgm:prSet presAssocID="{3AE8800E-B022-40F7-B28F-2C3A48CEE2E8}" presName="Name0" presStyleCnt="0">
        <dgm:presLayoutVars>
          <dgm:chMax val="7"/>
          <dgm:chPref val="7"/>
          <dgm:dir/>
        </dgm:presLayoutVars>
      </dgm:prSet>
      <dgm:spPr/>
    </dgm:pt>
    <dgm:pt modelId="{42EFEF1A-CEE8-4CA1-91C4-4840E456E3E9}" type="pres">
      <dgm:prSet presAssocID="{3AE8800E-B022-40F7-B28F-2C3A48CEE2E8}" presName="Name1" presStyleCnt="0"/>
      <dgm:spPr/>
    </dgm:pt>
    <dgm:pt modelId="{89B8E2EE-2A46-4331-A2A3-15090F3B6766}" type="pres">
      <dgm:prSet presAssocID="{57269A15-1F17-4927-8454-C4A8BEEC8B0D}" presName="picture_1" presStyleCnt="0"/>
      <dgm:spPr/>
    </dgm:pt>
    <dgm:pt modelId="{877AC2CC-32F4-424E-B1AE-AA63BA6285EE}" type="pres">
      <dgm:prSet presAssocID="{57269A15-1F17-4927-8454-C4A8BEEC8B0D}" presName="pictureRepeatNode" presStyleLbl="alignImgPlace1" presStyleIdx="0" presStyleCnt="1" custLinFactNeighborX="-1939" custLinFactNeighborY="-16450"/>
      <dgm:spPr/>
    </dgm:pt>
    <dgm:pt modelId="{A10B38D1-F07A-483F-808E-8D61612354F8}" type="pres">
      <dgm:prSet presAssocID="{4E4642EB-05A6-48EE-99EE-41BDEEC1E144}" presName="text_1" presStyleLbl="node1" presStyleIdx="0" presStyleCnt="0">
        <dgm:presLayoutVars>
          <dgm:bulletEnabled val="1"/>
        </dgm:presLayoutVars>
      </dgm:prSet>
      <dgm:spPr/>
    </dgm:pt>
  </dgm:ptLst>
  <dgm:cxnLst>
    <dgm:cxn modelId="{3DAB4D00-FF0C-4453-9AA9-2E4171CAFFEE}" srcId="{3AE8800E-B022-40F7-B28F-2C3A48CEE2E8}" destId="{4E4642EB-05A6-48EE-99EE-41BDEEC1E144}" srcOrd="0" destOrd="0" parTransId="{5F6C724D-2132-4CBD-86C1-A0A6AD949F96}" sibTransId="{57269A15-1F17-4927-8454-C4A8BEEC8B0D}"/>
    <dgm:cxn modelId="{9BFC7F30-9799-4179-ADD0-788FAE281512}" type="presOf" srcId="{4E4642EB-05A6-48EE-99EE-41BDEEC1E144}" destId="{A10B38D1-F07A-483F-808E-8D61612354F8}" srcOrd="0" destOrd="0" presId="urn:microsoft.com/office/officeart/2008/layout/CircularPictureCallout"/>
    <dgm:cxn modelId="{67AD3E49-6AD8-4C60-B21A-888C78DDC35A}" type="presOf" srcId="{3AE8800E-B022-40F7-B28F-2C3A48CEE2E8}" destId="{40FE4D96-86CC-49A9-B04C-FBBCB4FD9417}" srcOrd="0" destOrd="0" presId="urn:microsoft.com/office/officeart/2008/layout/CircularPictureCallout"/>
    <dgm:cxn modelId="{55F9F09B-7EE3-49BF-94AD-2E2E044D34FD}" type="presOf" srcId="{57269A15-1F17-4927-8454-C4A8BEEC8B0D}" destId="{877AC2CC-32F4-424E-B1AE-AA63BA6285EE}" srcOrd="0" destOrd="0" presId="urn:microsoft.com/office/officeart/2008/layout/CircularPictureCallout"/>
    <dgm:cxn modelId="{50C62823-E460-44DC-8C23-2A28E9BE8B99}" type="presParOf" srcId="{40FE4D96-86CC-49A9-B04C-FBBCB4FD9417}" destId="{42EFEF1A-CEE8-4CA1-91C4-4840E456E3E9}" srcOrd="0" destOrd="0" presId="urn:microsoft.com/office/officeart/2008/layout/CircularPictureCallout"/>
    <dgm:cxn modelId="{11F035C6-DDFB-42D7-88DC-6398D70A0C53}" type="presParOf" srcId="{42EFEF1A-CEE8-4CA1-91C4-4840E456E3E9}" destId="{89B8E2EE-2A46-4331-A2A3-15090F3B6766}" srcOrd="0" destOrd="0" presId="urn:microsoft.com/office/officeart/2008/layout/CircularPictureCallout"/>
    <dgm:cxn modelId="{3C82E5AF-B436-4779-BD21-9835D2829886}" type="presParOf" srcId="{89B8E2EE-2A46-4331-A2A3-15090F3B6766}" destId="{877AC2CC-32F4-424E-B1AE-AA63BA6285EE}" srcOrd="0" destOrd="0" presId="urn:microsoft.com/office/officeart/2008/layout/CircularPictureCallout"/>
    <dgm:cxn modelId="{6BE33E3E-BD8D-46A2-9D45-B9FBD9CD28E3}" type="presParOf" srcId="{42EFEF1A-CEE8-4CA1-91C4-4840E456E3E9}" destId="{A10B38D1-F07A-483F-808E-8D61612354F8}" srcOrd="1" destOrd="0" presId="urn:microsoft.com/office/officeart/2008/layout/CircularPictureCallou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7AC2CC-32F4-424E-B1AE-AA63BA6285EE}">
      <dsp:nvSpPr>
        <dsp:cNvPr id="0" name=""/>
        <dsp:cNvSpPr/>
      </dsp:nvSpPr>
      <dsp:spPr>
        <a:xfrm>
          <a:off x="215640" y="89728"/>
          <a:ext cx="448681" cy="448681"/>
        </a:xfrm>
        <a:prstGeom prst="ellipse">
          <a:avLst/>
        </a:prstGeom>
        <a:blipFill>
          <a:blip xmlns:r="http://schemas.openxmlformats.org/officeDocument/2006/relationships" r:embed="rId1"/>
          <a:srcRect/>
          <a:stretch>
            <a:fillRect l="-10000" r="-10000"/>
          </a:stretch>
        </a:blipFill>
        <a:ln w="25400" cap="flat" cmpd="sng" algn="ctr">
          <a:solidFill>
            <a:schemeClr val="accent1">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A10B38D1-F07A-483F-808E-8D61612354F8}">
      <dsp:nvSpPr>
        <dsp:cNvPr id="0" name=""/>
        <dsp:cNvSpPr/>
      </dsp:nvSpPr>
      <dsp:spPr>
        <a:xfrm>
          <a:off x="305103" y="401786"/>
          <a:ext cx="287155" cy="148064"/>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400050">
            <a:lnSpc>
              <a:spcPct val="90000"/>
            </a:lnSpc>
            <a:spcBef>
              <a:spcPct val="0"/>
            </a:spcBef>
            <a:spcAft>
              <a:spcPct val="35000"/>
            </a:spcAft>
            <a:buNone/>
          </a:pPr>
          <a:endParaRPr lang="en-US" sz="900" kern="1200" dirty="0"/>
        </a:p>
      </dsp:txBody>
      <dsp:txXfrm>
        <a:off x="305103" y="401786"/>
        <a:ext cx="287155" cy="148064"/>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63541-43A7-4E54-A31F-B7F75B6D365F}" type="datetimeFigureOut">
              <a:rPr lang="en-US" smtClean="0"/>
              <a:t>9/20/2022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D918D-3A64-45D1-8443-D03EC18B02CC}" type="slidenum">
              <a:rPr lang="en-US" smtClean="0"/>
              <a:t>‹#›</a:t>
            </a:fld>
            <a:endParaRPr lang="en-US"/>
          </a:p>
        </p:txBody>
      </p:sp>
    </p:spTree>
    <p:extLst>
      <p:ext uri="{BB962C8B-B14F-4D97-AF65-F5344CB8AC3E}">
        <p14:creationId xmlns:p14="http://schemas.microsoft.com/office/powerpoint/2010/main" val="3262775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US"/>
              <a:pPr/>
              <a:t>13</a:t>
            </a:fld>
            <a:endParaRPr lang="en-US" dirty="0"/>
          </a:p>
        </p:txBody>
      </p:sp>
    </p:spTree>
    <p:extLst>
      <p:ext uri="{BB962C8B-B14F-4D97-AF65-F5344CB8AC3E}">
        <p14:creationId xmlns:p14="http://schemas.microsoft.com/office/powerpoint/2010/main" val="1864572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501651" y="3048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869342" y="1203221"/>
            <a:ext cx="4448748" cy="4448748"/>
          </a:xfrm>
          <a:prstGeom prst="rect">
            <a:avLst/>
          </a:prstGeom>
        </p:spPr>
        <p:txBody>
          <a:bodyPr/>
          <a:lstStyle/>
          <a:p>
            <a:r>
              <a:rPr lang="en-US" noProof="0" dirty="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495299" y="5408938"/>
            <a:ext cx="6327774" cy="416140"/>
          </a:xfrm>
          <a:prstGeom prst="rect">
            <a:avLst/>
          </a:prstGeom>
        </p:spPr>
        <p:txBody>
          <a:bodyPr anchor="b" anchorCtr="0">
            <a:spAutoFit/>
          </a:bodyPr>
          <a:lstStyle>
            <a:lvl1pPr algn="l">
              <a:lnSpc>
                <a:spcPts val="3200"/>
              </a:lnSpc>
              <a:defRPr sz="3200" b="0">
                <a:solidFill>
                  <a:schemeClr val="accent1"/>
                </a:solidFill>
                <a:latin typeface="Calibri Light" panose="020F0302020204030204" pitchFamily="34" charset="0"/>
                <a:ea typeface="Calibri" panose="020F0502020204030204" pitchFamily="34" charset="0"/>
                <a:cs typeface="Calibri Light" panose="020F0302020204030204" pitchFamily="34" charset="0"/>
              </a:defRPr>
            </a:lvl1pPr>
          </a:lstStyle>
          <a:p>
            <a:r>
              <a:rPr lang="en-US" noProof="0" dirty="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95299" y="6435989"/>
            <a:ext cx="6327775" cy="215444"/>
          </a:xfrm>
          <a:prstGeom prst="rect">
            <a:avLst/>
          </a:prstGeom>
        </p:spPr>
        <p:txBody>
          <a:bodyPr anchor="b">
            <a:spAutoFit/>
          </a:bodyPr>
          <a:lstStyle>
            <a:lvl1pPr>
              <a:spcAft>
                <a:spcPts val="0"/>
              </a:spcAft>
              <a:defRPr sz="1400" b="1">
                <a:solidFill>
                  <a:schemeClr val="bg1"/>
                </a:solidFill>
                <a:latin typeface="+mj-lt"/>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sp>
        <p:nvSpPr>
          <p:cNvPr id="3" name="Text Placeholder 2"/>
          <p:cNvSpPr>
            <a:spLocks noGrp="1"/>
          </p:cNvSpPr>
          <p:nvPr>
            <p:ph type="body" sz="quarter" idx="12" hasCustomPrompt="1"/>
          </p:nvPr>
        </p:nvSpPr>
        <p:spPr>
          <a:xfrm>
            <a:off x="495299" y="5849179"/>
            <a:ext cx="6327775" cy="323165"/>
          </a:xfrm>
        </p:spPr>
        <p:txBody>
          <a:bodyPr wrap="square" anchor="b" anchorCtr="0">
            <a:spAutoFit/>
          </a:bodyPr>
          <a:lstStyle>
            <a:lvl1pPr>
              <a:defRPr sz="2100">
                <a:solidFill>
                  <a:schemeClr val="bg1"/>
                </a:solidFill>
                <a:latin typeface="Calibri Light" panose="020F0302020204030204" pitchFamily="34" charset="0"/>
                <a:cs typeface="Calibri Light" panose="020F03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p:txBody>
      </p:sp>
      <p:sp>
        <p:nvSpPr>
          <p:cNvPr id="4" name="Text Placeholder 3">
            <a:extLst>
              <a:ext uri="{FF2B5EF4-FFF2-40B4-BE49-F238E27FC236}">
                <a16:creationId xmlns:a16="http://schemas.microsoft.com/office/drawing/2014/main" id="{7D482699-9BC5-4D61-86B8-F23A48252BDF}"/>
              </a:ext>
            </a:extLst>
          </p:cNvPr>
          <p:cNvSpPr>
            <a:spLocks noGrp="1"/>
          </p:cNvSpPr>
          <p:nvPr>
            <p:ph type="body" sz="quarter" idx="13"/>
          </p:nvPr>
        </p:nvSpPr>
        <p:spPr>
          <a:xfrm>
            <a:off x="495299" y="6196445"/>
            <a:ext cx="5594350" cy="215444"/>
          </a:xfrm>
        </p:spPr>
        <p:txBody>
          <a:bodyPr>
            <a:spAutoFit/>
          </a:bodyPr>
          <a:lstStyle>
            <a:lvl1pPr>
              <a:defRPr sz="1400" b="1">
                <a:solidFill>
                  <a:schemeClr val="bg1"/>
                </a:solidFill>
                <a:latin typeface="+mj-lt"/>
              </a:defRPr>
            </a:lvl1pPr>
            <a:lvl2pPr>
              <a:defRPr sz="1400">
                <a:solidFill>
                  <a:schemeClr val="bg1"/>
                </a:solidFill>
                <a:latin typeface="+mj-lt"/>
              </a:defRPr>
            </a:lvl2pPr>
            <a:lvl3pPr>
              <a:defRPr sz="1400">
                <a:solidFill>
                  <a:schemeClr val="bg1"/>
                </a:solidFill>
                <a:latin typeface="+mj-lt"/>
              </a:defRPr>
            </a:lvl3pPr>
            <a:lvl4pPr>
              <a:defRPr sz="1400">
                <a:solidFill>
                  <a:schemeClr val="bg1"/>
                </a:solidFill>
                <a:latin typeface="+mj-lt"/>
              </a:defRPr>
            </a:lvl4pPr>
            <a:lvl5pPr>
              <a:defRPr sz="1400">
                <a:solidFill>
                  <a:schemeClr val="bg1"/>
                </a:solidFill>
                <a:latin typeface="+mj-lt"/>
              </a:defRPr>
            </a:lvl5pPr>
          </a:lstStyle>
          <a:p>
            <a:pPr lvl="0"/>
            <a:r>
              <a:rPr lang="en-US" dirty="0"/>
              <a:t>Click to edit Master text styles</a:t>
            </a:r>
            <a:endParaRPr lang="en-IN" dirty="0"/>
          </a:p>
        </p:txBody>
      </p:sp>
    </p:spTree>
    <p:extLst>
      <p:ext uri="{BB962C8B-B14F-4D97-AF65-F5344CB8AC3E}">
        <p14:creationId xmlns:p14="http://schemas.microsoft.com/office/powerpoint/2010/main" val="3587447352"/>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88622698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2014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1743663415"/>
      </p:ext>
    </p:extLst>
  </p:cSld>
  <p:clrMapOvr>
    <a:masterClrMapping/>
  </p:clrMapOvr>
  <p:transition>
    <p:fade/>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black">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618733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End slide">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95300" y="4231004"/>
            <a:ext cx="11201400" cy="2169796"/>
          </a:xfrm>
        </p:spPr>
        <p:txBody>
          <a:bodyPr anchor="b" anchorCtr="0"/>
          <a:lstStyle>
            <a:lvl1pPr>
              <a:lnSpc>
                <a:spcPct val="100000"/>
              </a:lnSpc>
              <a:spcAft>
                <a:spcPts val="600"/>
              </a:spcAft>
              <a:defRPr sz="900">
                <a:solidFill>
                  <a:schemeClr val="bg1"/>
                </a:solidFill>
              </a:defRPr>
            </a:lvl1pPr>
          </a:lstStyle>
          <a:p>
            <a:pPr lvl="0"/>
            <a:r>
              <a:rPr lang="en-US"/>
              <a:t>Click to edit Master text styles</a:t>
            </a:r>
          </a:p>
        </p:txBody>
      </p:sp>
      <p:grpSp>
        <p:nvGrpSpPr>
          <p:cNvPr id="14" name="Group 13">
            <a:extLst>
              <a:ext uri="{FF2B5EF4-FFF2-40B4-BE49-F238E27FC236}">
                <a16:creationId xmlns:a16="http://schemas.microsoft.com/office/drawing/2014/main" id="{56FC3EA7-1721-423E-BD92-BF52C8E55ED3}"/>
              </a:ext>
            </a:extLst>
          </p:cNvPr>
          <p:cNvGrpSpPr>
            <a:grpSpLocks noChangeAspect="1"/>
          </p:cNvGrpSpPr>
          <p:nvPr userDrawn="1"/>
        </p:nvGrpSpPr>
        <p:grpSpPr>
          <a:xfrm>
            <a:off x="501652" y="307975"/>
            <a:ext cx="1998000" cy="374400"/>
            <a:chOff x="398463" y="404813"/>
            <a:chExt cx="1627187" cy="307976"/>
          </a:xfrm>
          <a:solidFill>
            <a:schemeClr val="tx1"/>
          </a:solidFill>
        </p:grpSpPr>
        <p:sp>
          <p:nvSpPr>
            <p:cNvPr id="15" name="Oval 5">
              <a:extLst>
                <a:ext uri="{FF2B5EF4-FFF2-40B4-BE49-F238E27FC236}">
                  <a16:creationId xmlns:a16="http://schemas.microsoft.com/office/drawing/2014/main" id="{E561C1C1-2B98-4CC9-8F98-D7A4B407B2E1}"/>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a:extLst>
                <a:ext uri="{FF2B5EF4-FFF2-40B4-BE49-F238E27FC236}">
                  <a16:creationId xmlns:a16="http://schemas.microsoft.com/office/drawing/2014/main" id="{B54708D0-C022-4036-985F-DC8A697DE0E5}"/>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16">
              <a:extLst>
                <a:ext uri="{FF2B5EF4-FFF2-40B4-BE49-F238E27FC236}">
                  <a16:creationId xmlns:a16="http://schemas.microsoft.com/office/drawing/2014/main" id="{7BFE37DE-F4EB-4923-848C-6A29C41CCEC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a:extLst>
                <a:ext uri="{FF2B5EF4-FFF2-40B4-BE49-F238E27FC236}">
                  <a16:creationId xmlns:a16="http://schemas.microsoft.com/office/drawing/2014/main" id="{A094F87C-0B97-448C-92EA-7E9861F0E722}"/>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18">
              <a:extLst>
                <a:ext uri="{FF2B5EF4-FFF2-40B4-BE49-F238E27FC236}">
                  <a16:creationId xmlns:a16="http://schemas.microsoft.com/office/drawing/2014/main" id="{2F949800-976D-4AF6-B49C-8ED71527CE65}"/>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30">
              <a:extLst>
                <a:ext uri="{FF2B5EF4-FFF2-40B4-BE49-F238E27FC236}">
                  <a16:creationId xmlns:a16="http://schemas.microsoft.com/office/drawing/2014/main" id="{B431FBA3-8BD7-494A-AB40-4F1160D440B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a:extLst>
                <a:ext uri="{FF2B5EF4-FFF2-40B4-BE49-F238E27FC236}">
                  <a16:creationId xmlns:a16="http://schemas.microsoft.com/office/drawing/2014/main" id="{68729F5B-D88D-4677-B7AE-7EC541EE5E92}"/>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a:extLst>
                <a:ext uri="{FF2B5EF4-FFF2-40B4-BE49-F238E27FC236}">
                  <a16:creationId xmlns:a16="http://schemas.microsoft.com/office/drawing/2014/main" id="{2482CA86-669E-4652-BD41-41145EFF2C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a:extLst>
                <a:ext uri="{FF2B5EF4-FFF2-40B4-BE49-F238E27FC236}">
                  <a16:creationId xmlns:a16="http://schemas.microsoft.com/office/drawing/2014/main" id="{62A2206A-76FD-4C0E-96B4-23AA91BBDC91}"/>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a:extLst>
                <a:ext uri="{FF2B5EF4-FFF2-40B4-BE49-F238E27FC236}">
                  <a16:creationId xmlns:a16="http://schemas.microsoft.com/office/drawing/2014/main" id="{EFBC7E22-7B38-44FB-A62F-4F39614B48A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958739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0"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0" y="317500"/>
            <a:ext cx="11162350" cy="334101"/>
          </a:xfrm>
          <a:prstGeom prst="rect">
            <a:avLst/>
          </a:prstGeom>
        </p:spPr>
        <p:txBody>
          <a:bodyPr vert="horz" lIns="0" tIns="0" rIns="0" bIns="0" rtlCol="0" anchor="t" anchorCtr="0">
            <a:noAutofit/>
          </a:bodyPr>
          <a:lstStyle>
            <a:lvl1pPr>
              <a:defRPr/>
            </a:lvl1pPr>
          </a:lstStyle>
          <a:p>
            <a:r>
              <a:rPr lang="en-US" noProof="0" dirty="0"/>
              <a:t>Click to edit Master title style</a:t>
            </a:r>
          </a:p>
        </p:txBody>
      </p:sp>
      <p:sp>
        <p:nvSpPr>
          <p:cNvPr id="8" name="Text Placeholder 18"/>
          <p:cNvSpPr>
            <a:spLocks noGrp="1"/>
          </p:cNvSpPr>
          <p:nvPr>
            <p:ph idx="1"/>
          </p:nvPr>
        </p:nvSpPr>
        <p:spPr>
          <a:xfrm>
            <a:off x="501652" y="1700213"/>
            <a:ext cx="11165416" cy="4678986"/>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6007650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1" y="317502"/>
            <a:ext cx="11188700" cy="334099"/>
          </a:xfrm>
          <a:prstGeom prst="rect">
            <a:avLst/>
          </a:prstGeom>
        </p:spPr>
        <p:txBody>
          <a:bodyPr vert="horz" lIns="0" tIns="0" rIns="0" bIns="0" rtlCol="0" anchor="t" anchorCtr="0">
            <a:noAutofit/>
          </a:bodyPr>
          <a:lstStyle>
            <a:lvl1pPr>
              <a:defRPr sz="2100">
                <a:latin typeface="+mj-lt"/>
              </a:defRPr>
            </a:lvl1pPr>
          </a:lstStyle>
          <a:p>
            <a:r>
              <a:rPr lang="en-US" dirty="0"/>
              <a:t>Click to add title</a:t>
            </a:r>
          </a:p>
        </p:txBody>
      </p:sp>
    </p:spTree>
    <p:extLst>
      <p:ext uri="{BB962C8B-B14F-4D97-AF65-F5344CB8AC3E}">
        <p14:creationId xmlns:p14="http://schemas.microsoft.com/office/powerpoint/2010/main" val="272841460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End slide">
    <p:spTree>
      <p:nvGrpSpPr>
        <p:cNvPr id="1" name=""/>
        <p:cNvGrpSpPr/>
        <p:nvPr/>
      </p:nvGrpSpPr>
      <p:grpSpPr>
        <a:xfrm>
          <a:off x="0" y="0"/>
          <a:ext cx="0" cy="0"/>
          <a:chOff x="0" y="0"/>
          <a:chExt cx="0" cy="0"/>
        </a:xfrm>
      </p:grpSpPr>
      <p:sp>
        <p:nvSpPr>
          <p:cNvPr id="3"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lvl1pPr marL="0" indent="0" algn="l">
              <a:buFontTx/>
              <a:buNone/>
              <a:defRPr sz="1200">
                <a:latin typeface="+mn-lt"/>
              </a:defRPr>
            </a:lvl1pPr>
            <a:lvl2pPr marL="139690" indent="-139690" algn="l">
              <a:buClrTx/>
              <a:buSzPct val="100000"/>
              <a:buFont typeface="Arial" panose="020B0604020202020204" pitchFamily="34" charset="0"/>
              <a:buChar char="•"/>
              <a:defRPr sz="1200">
                <a:latin typeface="+mj-lt"/>
              </a:defRPr>
            </a:lvl2pPr>
            <a:lvl3pPr marL="304778" indent="-139690" algn="l">
              <a:buClrTx/>
              <a:buSzPct val="100000"/>
              <a:buFont typeface="Arial" panose="020B0604020202020204" pitchFamily="34" charset="0"/>
              <a:buChar char="−"/>
              <a:defRPr sz="1200">
                <a:latin typeface="+mn-lt"/>
              </a:defRPr>
            </a:lvl3pPr>
            <a:lvl4pPr marL="469867" indent="-139690" algn="l">
              <a:buClrTx/>
              <a:buSzPct val="100000"/>
              <a:buFont typeface="Arial" panose="020B0604020202020204" pitchFamily="34" charset="0"/>
              <a:buChar char="◦"/>
              <a:defRPr sz="1200">
                <a:latin typeface="+mn-lt"/>
              </a:defRPr>
            </a:lvl4pPr>
            <a:lvl5pPr marL="634955" indent="-139690" algn="l">
              <a:buClrTx/>
              <a:buSzPct val="100000"/>
              <a:buFont typeface="Arial" panose="020B0604020202020204" pitchFamily="34" charset="0"/>
              <a:buChar char="−"/>
              <a:defRPr sz="12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grpSp>
        <p:nvGrpSpPr>
          <p:cNvPr id="19" name="Group 18">
            <a:extLst>
              <a:ext uri="{FF2B5EF4-FFF2-40B4-BE49-F238E27FC236}">
                <a16:creationId xmlns:a16="http://schemas.microsoft.com/office/drawing/2014/main" id="{6864AC88-71A8-4E5D-B8F0-DE6A766FCAC4}"/>
              </a:ext>
            </a:extLst>
          </p:cNvPr>
          <p:cNvGrpSpPr>
            <a:grpSpLocks noChangeAspect="1"/>
          </p:cNvGrpSpPr>
          <p:nvPr userDrawn="1"/>
        </p:nvGrpSpPr>
        <p:grpSpPr>
          <a:xfrm>
            <a:off x="469900" y="350578"/>
            <a:ext cx="1998000" cy="374400"/>
            <a:chOff x="398463" y="404813"/>
            <a:chExt cx="1627187" cy="307976"/>
          </a:xfrm>
          <a:solidFill>
            <a:schemeClr val="tx1"/>
          </a:solidFill>
        </p:grpSpPr>
        <p:sp>
          <p:nvSpPr>
            <p:cNvPr id="20" name="Oval 5">
              <a:extLst>
                <a:ext uri="{FF2B5EF4-FFF2-40B4-BE49-F238E27FC236}">
                  <a16:creationId xmlns:a16="http://schemas.microsoft.com/office/drawing/2014/main" id="{8E63FCE9-1745-4F67-960F-88370CA226F6}"/>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a:extLst>
                <a:ext uri="{FF2B5EF4-FFF2-40B4-BE49-F238E27FC236}">
                  <a16:creationId xmlns:a16="http://schemas.microsoft.com/office/drawing/2014/main" id="{A306FA2F-25EC-4135-BDA6-DAD246058373}"/>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a:extLst>
                <a:ext uri="{FF2B5EF4-FFF2-40B4-BE49-F238E27FC236}">
                  <a16:creationId xmlns:a16="http://schemas.microsoft.com/office/drawing/2014/main" id="{56FEA82E-F8B5-44B7-8CD8-6FA416F414E4}"/>
                </a:ext>
              </a:extLst>
            </p:cNvPr>
            <p:cNvSpPr>
              <a:spLocks noChangeArrowheads="1"/>
            </p:cNvSpPr>
            <p:nvPr userDrawn="1"/>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a:extLst>
                <a:ext uri="{FF2B5EF4-FFF2-40B4-BE49-F238E27FC236}">
                  <a16:creationId xmlns:a16="http://schemas.microsoft.com/office/drawing/2014/main" id="{768C150B-2388-4284-924A-962D8155598A}"/>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a:extLst>
                <a:ext uri="{FF2B5EF4-FFF2-40B4-BE49-F238E27FC236}">
                  <a16:creationId xmlns:a16="http://schemas.microsoft.com/office/drawing/2014/main" id="{4233E59C-62D3-4506-BC18-FCA9C97A174A}"/>
                </a:ext>
              </a:extLst>
            </p:cNvPr>
            <p:cNvSpPr>
              <a:spLocks noChangeArrowheads="1"/>
            </p:cNvSpPr>
            <p:nvPr userDrawn="1"/>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a:extLst>
                <a:ext uri="{FF2B5EF4-FFF2-40B4-BE49-F238E27FC236}">
                  <a16:creationId xmlns:a16="http://schemas.microsoft.com/office/drawing/2014/main" id="{1F7C560D-BED9-47C3-BACF-4080521B3D69}"/>
                </a:ext>
              </a:extLst>
            </p:cNvPr>
            <p:cNvSpPr>
              <a:spLocks noChangeArrowheads="1"/>
            </p:cNvSpPr>
            <p:nvPr userDrawn="1"/>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a:extLst>
                <a:ext uri="{FF2B5EF4-FFF2-40B4-BE49-F238E27FC236}">
                  <a16:creationId xmlns:a16="http://schemas.microsoft.com/office/drawing/2014/main" id="{CAED97FA-7F84-4484-99E2-54CA0A2C3B5B}"/>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a:extLst>
                <a:ext uri="{FF2B5EF4-FFF2-40B4-BE49-F238E27FC236}">
                  <a16:creationId xmlns:a16="http://schemas.microsoft.com/office/drawing/2014/main" id="{77129045-66C6-44E5-92C9-034E4D5ADDA7}"/>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a:extLst>
                <a:ext uri="{FF2B5EF4-FFF2-40B4-BE49-F238E27FC236}">
                  <a16:creationId xmlns:a16="http://schemas.microsoft.com/office/drawing/2014/main" id="{B51F1447-6DA3-404D-8048-E745EC5DD96A}"/>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a:extLst>
                <a:ext uri="{FF2B5EF4-FFF2-40B4-BE49-F238E27FC236}">
                  <a16:creationId xmlns:a16="http://schemas.microsoft.com/office/drawing/2014/main" id="{0B0F1B7E-73B3-48C5-8571-856DECCDE293}"/>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121415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1_Key statement teal">
    <p:bg>
      <p:bgPr>
        <a:solidFill>
          <a:schemeClr val="tx1"/>
        </a:solidFill>
        <a:effectLst/>
      </p:bgPr>
    </p:bg>
    <p:spTree>
      <p:nvGrpSpPr>
        <p:cNvPr id="1" name=""/>
        <p:cNvGrpSpPr/>
        <p:nvPr/>
      </p:nvGrpSpPr>
      <p:grpSpPr>
        <a:xfrm>
          <a:off x="0" y="0"/>
          <a:ext cx="0" cy="0"/>
          <a:chOff x="0" y="0"/>
          <a:chExt cx="0" cy="0"/>
        </a:xfrm>
      </p:grpSpPr>
      <p:sp>
        <p:nvSpPr>
          <p:cNvPr id="94" name="TextBox 93"/>
          <p:cNvSpPr txBox="1"/>
          <p:nvPr userDrawn="1"/>
        </p:nvSpPr>
        <p:spPr>
          <a:xfrm>
            <a:off x="11414619"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270" name="Title Placeholder 1"/>
          <p:cNvSpPr>
            <a:spLocks noGrp="1"/>
          </p:cNvSpPr>
          <p:nvPr>
            <p:ph type="title"/>
          </p:nvPr>
        </p:nvSpPr>
        <p:spPr>
          <a:xfrm>
            <a:off x="469899" y="395762"/>
            <a:ext cx="11251691" cy="334102"/>
          </a:xfrm>
          <a:prstGeom prst="rect">
            <a:avLst/>
          </a:prstGeom>
        </p:spPr>
        <p:txBody>
          <a:bodyPr vert="horz" lIns="0" tIns="0" rIns="0" bIns="0" rtlCol="0" anchor="t" anchorCtr="0">
            <a:noAutofit/>
          </a:bodyPr>
          <a:lstStyle>
            <a:lvl1pPr>
              <a:defRPr sz="2000" b="0">
                <a:solidFill>
                  <a:srgbClr val="C4D600"/>
                </a:solidFill>
              </a:defRPr>
            </a:lvl1pPr>
          </a:lstStyle>
          <a:p>
            <a:r>
              <a:rPr lang="en-US" noProof="0" dirty="0"/>
              <a:t>Click to edit Master title style</a:t>
            </a:r>
          </a:p>
        </p:txBody>
      </p:sp>
      <p:sp>
        <p:nvSpPr>
          <p:cNvPr id="271" name="Content Placeholder 7"/>
          <p:cNvSpPr>
            <a:spLocks noGrp="1"/>
          </p:cNvSpPr>
          <p:nvPr>
            <p:ph sz="quarter" idx="10"/>
          </p:nvPr>
        </p:nvSpPr>
        <p:spPr>
          <a:xfrm>
            <a:off x="469899" y="729864"/>
            <a:ext cx="11251691" cy="848111"/>
          </a:xfrm>
        </p:spPr>
        <p:txBody>
          <a:bodyPr/>
          <a:lstStyle>
            <a:lvl1pPr algn="l" defTabSz="1219170" rtl="0" eaLnBrk="1" latinLnBrk="0" hangingPunct="1">
              <a:spcBef>
                <a:spcPct val="0"/>
              </a:spcBef>
              <a:buNone/>
              <a:defRPr lang="en-US" sz="1800" kern="1200" dirty="0" smtClean="0">
                <a:solidFill>
                  <a:schemeClr val="bg1">
                    <a:lumMod val="85000"/>
                  </a:schemeClr>
                </a:solidFill>
                <a:latin typeface="+mj-lt"/>
                <a:ea typeface="+mj-ea"/>
                <a:cs typeface="+mj-cs"/>
              </a:defRPr>
            </a:lvl1pPr>
          </a:lstStyle>
          <a:p>
            <a:pPr lvl="0"/>
            <a:r>
              <a:rPr lang="en-US" dirty="0"/>
              <a:t>Edit Master text styles</a:t>
            </a:r>
          </a:p>
        </p:txBody>
      </p:sp>
    </p:spTree>
    <p:extLst>
      <p:ext uri="{BB962C8B-B14F-4D97-AF65-F5344CB8AC3E}">
        <p14:creationId xmlns:p14="http://schemas.microsoft.com/office/powerpoint/2010/main" val="24937277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subtitle &amp; chart">
    <p:spTree>
      <p:nvGrpSpPr>
        <p:cNvPr id="1" name=""/>
        <p:cNvGrpSpPr/>
        <p:nvPr/>
      </p:nvGrpSpPr>
      <p:grpSpPr>
        <a:xfrm>
          <a:off x="0" y="0"/>
          <a:ext cx="0" cy="0"/>
          <a:chOff x="0" y="0"/>
          <a:chExt cx="0" cy="0"/>
        </a:xfrm>
      </p:grpSpPr>
      <p:sp>
        <p:nvSpPr>
          <p:cNvPr id="8" name="Title Placeholder 1"/>
          <p:cNvSpPr>
            <a:spLocks noGrp="1"/>
          </p:cNvSpPr>
          <p:nvPr>
            <p:ph type="title"/>
          </p:nvPr>
        </p:nvSpPr>
        <p:spPr bwMode="gray">
          <a:xfrm>
            <a:off x="501651" y="307975"/>
            <a:ext cx="11192256" cy="365760"/>
          </a:xfrm>
          <a:prstGeom prst="rect">
            <a:avLst/>
          </a:prstGeom>
        </p:spPr>
        <p:txBody>
          <a:bodyPr vert="horz" lIns="0" tIns="0" rIns="0" bIns="0" rtlCol="0" anchor="t" anchorCtr="0">
            <a:noAutofit/>
          </a:bodyPr>
          <a:lstStyle/>
          <a:p>
            <a:r>
              <a:rPr lang="en-US" noProof="0" dirty="0"/>
              <a:t>Click to edit Master title style</a:t>
            </a:r>
          </a:p>
        </p:txBody>
      </p:sp>
      <p:sp>
        <p:nvSpPr>
          <p:cNvPr id="9" name="Text Placeholder 8"/>
          <p:cNvSpPr>
            <a:spLocks noGrp="1"/>
          </p:cNvSpPr>
          <p:nvPr>
            <p:ph type="body" sz="quarter" idx="13" hasCustomPrompt="1"/>
          </p:nvPr>
        </p:nvSpPr>
        <p:spPr>
          <a:xfrm>
            <a:off x="501651" y="669124"/>
            <a:ext cx="11192256" cy="626418"/>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220221722"/>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85654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31446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010355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Ref idx="1001">
        <a:schemeClr val="bg1"/>
      </p:bgRef>
    </p:bg>
    <p:spTree>
      <p:nvGrpSpPr>
        <p:cNvPr id="1" name=""/>
        <p:cNvGrpSpPr/>
        <p:nvPr/>
      </p:nvGrpSpPr>
      <p:grpSpPr>
        <a:xfrm>
          <a:off x="0" y="0"/>
          <a:ext cx="0" cy="0"/>
          <a:chOff x="0" y="0"/>
          <a:chExt cx="0" cy="0"/>
        </a:xfrm>
      </p:grpSpPr>
      <p:sp>
        <p:nvSpPr>
          <p:cNvPr id="33" name="Picture Placeholder 8"/>
          <p:cNvSpPr>
            <a:spLocks noGrp="1"/>
          </p:cNvSpPr>
          <p:nvPr>
            <p:ph type="pic" sz="quarter" idx="11"/>
          </p:nvPr>
        </p:nvSpPr>
        <p:spPr>
          <a:xfrm>
            <a:off x="3393716" y="727595"/>
            <a:ext cx="5400000" cy="5400000"/>
          </a:xfrm>
          <a:prstGeom prst="rect">
            <a:avLst/>
          </a:prstGeom>
        </p:spPr>
        <p:txBody>
          <a:bodyPr/>
          <a:lstStyle>
            <a:lvl1pPr>
              <a:defRPr>
                <a:solidFill>
                  <a:schemeClr val="tx1"/>
                </a:solidFill>
              </a:defRPr>
            </a:lvl1pPr>
          </a:lstStyle>
          <a:p>
            <a:r>
              <a:rPr lang="en-GB" noProof="0" dirty="0"/>
              <a:t>Click icon to add picture</a:t>
            </a:r>
          </a:p>
        </p:txBody>
      </p:sp>
      <p:sp>
        <p:nvSpPr>
          <p:cNvPr id="2" name="Title"/>
          <p:cNvSpPr>
            <a:spLocks noGrp="1"/>
          </p:cNvSpPr>
          <p:nvPr>
            <p:ph type="ctrTitle" hasCustomPrompt="1"/>
          </p:nvPr>
        </p:nvSpPr>
        <p:spPr bwMode="gray">
          <a:xfrm>
            <a:off x="475200" y="5480578"/>
            <a:ext cx="5620800" cy="324000"/>
          </a:xfrm>
        </p:spPr>
        <p:txBody>
          <a:bodyPr anchor="b"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GB" dirty="0"/>
              <a:t>Presentation  title runs here</a:t>
            </a:r>
            <a:endParaRPr lang="en-GB" noProof="0" dirty="0"/>
          </a:p>
        </p:txBody>
      </p:sp>
      <p:sp>
        <p:nvSpPr>
          <p:cNvPr id="3" name="Subtitle"/>
          <p:cNvSpPr>
            <a:spLocks noGrp="1"/>
          </p:cNvSpPr>
          <p:nvPr>
            <p:ph type="subTitle" idx="1" hasCustomPrompt="1"/>
          </p:nvPr>
        </p:nvSpPr>
        <p:spPr bwMode="gray">
          <a:xfrm>
            <a:off x="475200" y="5845180"/>
            <a:ext cx="5620800"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pPr lvl="0"/>
            <a:r>
              <a:rPr lang="en-GB" dirty="0"/>
              <a:t>Subtitle here two lines max</a:t>
            </a:r>
            <a:endParaRPr lang="en-GB"/>
          </a:p>
        </p:txBody>
      </p:sp>
      <p:sp>
        <p:nvSpPr>
          <p:cNvPr id="18" name="SD_ART_Logo_White"/>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78483047" name="LogoFrontSlide"/>
          <p:cNvPicPr>
            <a:picLocks noChangeAspect="1"/>
          </p:cNvPicPr>
          <p:nvPr/>
        </p:nvPicPr>
        <p:blipFill>
          <a:blip r:embed="rId2"/>
          <a:stretch>
            <a:fillRect/>
          </a:stretch>
        </p:blipFill>
        <p:spPr>
          <a:xfrm>
            <a:off x="413999" y="503999"/>
            <a:ext cx="1655999" cy="725867"/>
          </a:xfrm>
          <a:prstGeom prst="rect">
            <a:avLst/>
          </a:prstGeom>
        </p:spPr>
      </p:pic>
      <p:sp>
        <p:nvSpPr>
          <p:cNvPr id="4" name="Footer Placeholder 3" hidden="1"/>
          <p:cNvSpPr>
            <a:spLocks noGrp="1"/>
          </p:cNvSpPr>
          <p:nvPr>
            <p:ph type="ftr" sz="quarter" idx="12"/>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121314315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5849926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57600292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Ref idx="1001">
        <a:schemeClr val="bg1"/>
      </p:bgRef>
    </p:bg>
    <p:spTree>
      <p:nvGrpSpPr>
        <p:cNvPr id="1" name=""/>
        <p:cNvGrpSpPr/>
        <p:nvPr/>
      </p:nvGrpSpPr>
      <p:grpSpPr>
        <a:xfrm>
          <a:off x="0" y="0"/>
          <a:ext cx="0" cy="0"/>
          <a:chOff x="0" y="0"/>
          <a:chExt cx="0" cy="0"/>
        </a:xfrm>
      </p:grpSpPr>
      <p:sp>
        <p:nvSpPr>
          <p:cNvPr id="10" name="Colored background"/>
          <p:cNvSpPr/>
          <p:nvPr userDrawn="1"/>
        </p:nvSpPr>
        <p:spPr bwMode="gray">
          <a:xfrm>
            <a:off x="0" y="0"/>
            <a:ext cx="12189600" cy="6858000"/>
          </a:xfrm>
          <a:prstGeom prst="rect">
            <a:avLst/>
          </a:prstGeom>
          <a:solidFill>
            <a:srgbClr val="62B5E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0700122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2457808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5" y="665988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1948974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noProof="0"/>
              <a:t>Edit Master text styles</a:t>
            </a:r>
            <a:endParaRPr lang="en-GB"/>
          </a:p>
        </p:txBody>
      </p:sp>
      <p:sp>
        <p:nvSpPr>
          <p:cNvPr id="4" name="Footer Placeholder 3"/>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062385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9042807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9033247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7"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13646086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Ref idx="1001">
        <a:schemeClr val="bg1"/>
      </p:bgRef>
    </p:bg>
    <p:spTree>
      <p:nvGrpSpPr>
        <p:cNvPr id="1" name=""/>
        <p:cNvGrpSpPr/>
        <p:nvPr/>
      </p:nvGrpSpPr>
      <p:grpSpPr>
        <a:xfrm>
          <a:off x="0" y="0"/>
          <a:ext cx="0" cy="0"/>
          <a:chOff x="0" y="0"/>
          <a:chExt cx="0" cy="0"/>
        </a:xfrm>
      </p:grpSpPr>
      <p:sp>
        <p:nvSpPr>
          <p:cNvPr id="6"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3" name="Text Placeholder 3"/>
          <p:cNvSpPr>
            <a:spLocks noGrp="1"/>
          </p:cNvSpPr>
          <p:nvPr>
            <p:ph type="body" sz="quarter" idx="10"/>
          </p:nvPr>
        </p:nvSpPr>
        <p:spPr>
          <a:xfrm>
            <a:off x="480484"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39561275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rm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GB" noProof="0"/>
              <a:t>Edit Master text styles</a:t>
            </a:r>
            <a:endParaRPr lang="en-GB"/>
          </a:p>
        </p:txBody>
      </p:sp>
      <p:sp>
        <p:nvSpPr>
          <p:cNvPr id="2" name="Footer Placeholder 1"/>
          <p:cNvSpPr>
            <a:spLocks noGrp="1"/>
          </p:cNvSpPr>
          <p:nvPr>
            <p:ph type="ftr" sz="quarter" idx="1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557623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marL="475188" indent="0">
              <a:buNone/>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GB"/>
              <a:t>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826375956"/>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Picture Placeholder 9"/>
          <p:cNvSpPr>
            <a:spLocks noGrp="1"/>
          </p:cNvSpPr>
          <p:nvPr>
            <p:ph type="pic" sz="quarter" idx="15"/>
          </p:nvPr>
        </p:nvSpPr>
        <p:spPr>
          <a:xfrm>
            <a:off x="5604867" y="1700213"/>
            <a:ext cx="6117233" cy="4598988"/>
          </a:xfrm>
        </p:spPr>
        <p:txBody>
          <a:bodyPr/>
          <a:lstStyle/>
          <a:p>
            <a:r>
              <a:rPr lang="en-GB" noProof="0" dirty="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2398262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56316104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239356723"/>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89418612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8"/>
          </p:nvPr>
        </p:nvSpPr>
        <p:spPr>
          <a:xfrm>
            <a:off x="468000" y="1684868"/>
            <a:ext cx="11252200" cy="357187"/>
          </a:xfrm>
        </p:spPr>
        <p:txBody>
          <a:bodyPr/>
          <a:lstStyle/>
          <a:p>
            <a:pPr lvl="0"/>
            <a:r>
              <a:rPr lang="en-GB" noProof="0"/>
              <a:t>Edit Master text styles</a:t>
            </a:r>
            <a:endParaRPr lang="en-GB"/>
          </a:p>
        </p:txBody>
      </p:sp>
      <p:sp>
        <p:nvSpPr>
          <p:cNvPr id="1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Chart Placeholder 3"/>
          <p:cNvSpPr>
            <a:spLocks noGrp="1"/>
          </p:cNvSpPr>
          <p:nvPr>
            <p:ph type="chart" sz="quarter" idx="15"/>
          </p:nvPr>
        </p:nvSpPr>
        <p:spPr>
          <a:xfrm>
            <a:off x="468000" y="2036656"/>
            <a:ext cx="11252200" cy="3946134"/>
          </a:xfrm>
          <a:prstGeom prst="rect">
            <a:avLst/>
          </a:prstGeom>
        </p:spPr>
        <p:txBody>
          <a:bodyPr/>
          <a:lstStyle/>
          <a:p>
            <a:r>
              <a:rPr lang="en-GB" noProof="0" dirty="0"/>
              <a:t>Click icon to add chart</a:t>
            </a: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14164017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8" name="Text Placeholder 8"/>
          <p:cNvSpPr>
            <a:spLocks noGrp="1"/>
          </p:cNvSpPr>
          <p:nvPr>
            <p:ph type="body" sz="quarter" idx="18"/>
          </p:nvPr>
        </p:nvSpPr>
        <p:spPr>
          <a:xfrm>
            <a:off x="468000" y="1665289"/>
            <a:ext cx="3600000" cy="392112"/>
          </a:xfrm>
        </p:spPr>
        <p:txBody>
          <a:bodyPr/>
          <a:lstStyle/>
          <a:p>
            <a:pPr lvl="0"/>
            <a:r>
              <a:rPr lang="en-GB" noProof="0"/>
              <a:t>Edit Master text styles</a:t>
            </a:r>
            <a:endParaRPr lang="en-GB"/>
          </a:p>
        </p:txBody>
      </p:sp>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GB" noProof="0" dirty="0"/>
              <a:t>Click icon to add chart</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GB" noProof="0" dirty="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GB" noProof="0"/>
              <a:t>Edit Master text styles</a:t>
            </a:r>
            <a:endParaRPr lang="en-GB"/>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GB" noProof="0" dirty="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GB" noProof="0"/>
              <a:t>Edit Master text styles</a:t>
            </a:r>
            <a:endParaRPr lang="en-GB"/>
          </a:p>
        </p:txBody>
      </p:sp>
      <p:sp>
        <p:nvSpPr>
          <p:cNvPr id="11"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4741901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spcAft>
                <a:spcPts val="500"/>
              </a:spcAft>
              <a:tabLst>
                <a:tab pos="6705432" algn="r"/>
              </a:tabLst>
              <a:defRPr sz="1100"/>
            </a:lvl1pPr>
            <a:lvl2pPr>
              <a:spcAft>
                <a:spcPts val="500"/>
              </a:spcAft>
              <a:tabLst>
                <a:tab pos="6705432" algn="r"/>
              </a:tabLst>
              <a:defRPr sz="1100"/>
            </a:lvl2pPr>
            <a:lvl3pPr>
              <a:spcAft>
                <a:spcPts val="500"/>
              </a:spcAft>
              <a:tabLst>
                <a:tab pos="6705432" algn="r"/>
              </a:tabLst>
              <a:defRPr sz="1100"/>
            </a:lvl3pPr>
            <a:lvl4pPr>
              <a:spcAft>
                <a:spcPts val="500"/>
              </a:spcAft>
              <a:tabLst>
                <a:tab pos="6705432" algn="r"/>
              </a:tabLst>
              <a:defRPr sz="1100"/>
            </a:lvl4pPr>
            <a:lvl5pPr>
              <a:spcAft>
                <a:spcPts val="500"/>
              </a:spcAft>
              <a:tabLst>
                <a:tab pos="6705432" algn="r"/>
              </a:tabLst>
              <a:defRPr sz="1100" baseline="0"/>
            </a:lvl5pPr>
          </a:lstStyle>
          <a:p>
            <a:pPr lvl="0"/>
            <a:r>
              <a:rPr lang="en-GB" noProof="0" dirty="0"/>
              <a:t>Edit Master text styles</a:t>
            </a:r>
            <a:endParaRPr lang="en-GB" dirty="0"/>
          </a:p>
          <a:p>
            <a:pPr lvl="1"/>
            <a:r>
              <a:rPr lang="en-GB" noProof="0" dirty="0"/>
              <a:t>Second level</a:t>
            </a:r>
            <a:endParaRPr lang="en-GB" dirty="0"/>
          </a:p>
          <a:p>
            <a:pPr lvl="2"/>
            <a:r>
              <a:rPr lang="en-GB" noProof="0" dirty="0"/>
              <a:t>Third level</a:t>
            </a:r>
            <a:endParaRPr lang="en-GB" dirty="0"/>
          </a:p>
          <a:p>
            <a:pPr lvl="3"/>
            <a:r>
              <a:rPr lang="en-GB" noProof="0" dirty="0"/>
              <a:t>Fourth level</a:t>
            </a:r>
            <a:endParaRPr lang="en-GB" dirty="0"/>
          </a:p>
          <a:p>
            <a:pPr lvl="4"/>
            <a:r>
              <a:rPr lang="en-GB" noProof="0" dirty="0"/>
              <a:t>Fifth level</a:t>
            </a:r>
          </a:p>
        </p:txBody>
      </p:sp>
      <p:sp>
        <p:nvSpPr>
          <p:cNvPr id="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24114162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1000"/>
            </a:lvl6pPr>
            <a:lvl7pPr>
              <a:defRPr sz="1000"/>
            </a:lvl7pPr>
            <a:lvl8pPr>
              <a:defRPr sz="1000"/>
            </a:lvl8pPr>
            <a:lvl9pPr>
              <a:defRPr sz="1000"/>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25340855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vl6pPr marL="475188" indent="0">
              <a:buNone/>
              <a:defRPr/>
            </a:lvl6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GB" noProof="0" dirty="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GB" noProof="0"/>
              <a:t>Edit Master text styles</a:t>
            </a:r>
            <a:endParaRPr lang="en-GB"/>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99090590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GB" noProof="0" dirty="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GB" noProof="0"/>
              <a:t>Edit Master text styles</a:t>
            </a:r>
            <a:endParaRPr lang="en-GB"/>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GB" noProof="0" dirty="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GB" noProof="0"/>
              <a:t>Edit Master text styles</a:t>
            </a:r>
            <a:endParaRPr lang="en-GB"/>
          </a:p>
        </p:txBody>
      </p:sp>
      <p:sp>
        <p:nvSpPr>
          <p:cNvPr id="14"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GB" noProof="0"/>
              <a:t>Edit Master text styles</a:t>
            </a:r>
            <a:endParaRPr lang="en-GB"/>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20424188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3395712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7"/>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30313651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GB" noProof="0" dirty="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GB" noProof="0" dirty="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GB" noProof="0" dirty="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GB" noProof="0" dirty="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240006" indent="0">
              <a:spcAft>
                <a:spcPts val="0"/>
              </a:spcAft>
              <a:buFont typeface="Verdana" panose="020B0604030504040204" pitchFamily="34" charset="0"/>
              <a:buNone/>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Font typeface="Arial" panose="020B0604020202020204" pitchFamily="34" charset="0"/>
              <a:buChar char="​"/>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2"/>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771429211"/>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GB" noProof="0" dirty="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GB" noProof="0" dirty="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GB" noProof="0" dirty="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GB" noProof="0" dirty="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vl3pPr marL="0" indent="0">
              <a:buNone/>
              <a:defRPr/>
            </a:lvl3pPr>
          </a:lstStyle>
          <a:p>
            <a:pPr lvl="0"/>
            <a:r>
              <a:rPr lang="en-GB" noProof="0"/>
              <a:t>Edit Master text styles</a:t>
            </a:r>
            <a:endParaRPr lang="en-GB"/>
          </a:p>
          <a:p>
            <a:pPr lvl="1"/>
            <a:r>
              <a:rPr lang="en-GB" noProof="0"/>
              <a:t>Second level</a:t>
            </a:r>
            <a:endParaRPr lang="en-GB"/>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GB" noProof="0"/>
              <a:t>Edit Master text styles</a:t>
            </a:r>
            <a:endParaRPr lang="en-GB"/>
          </a:p>
          <a:p>
            <a:pPr lvl="1"/>
            <a:r>
              <a:rPr lang="en-GB" noProof="0"/>
              <a:t>Second level</a:t>
            </a:r>
            <a:endParaRPr lang="en-GB"/>
          </a:p>
        </p:txBody>
      </p:sp>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36"/>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27912328"/>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picture &amp;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0" y="1700213"/>
            <a:ext cx="3627438" cy="2052830"/>
          </a:xfrm>
        </p:spPr>
        <p:txBody>
          <a:bodyPr/>
          <a:lstStyle/>
          <a:p>
            <a:r>
              <a:rPr lang="en-GB" noProof="0" dirty="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GB" noProof="0" dirty="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GB" noProof="0" dirty="0"/>
              <a:t>Click icon to add picture</a:t>
            </a:r>
          </a:p>
        </p:txBody>
      </p:sp>
      <p:sp>
        <p:nvSpPr>
          <p:cNvPr id="9" name="Text Placeholder 18"/>
          <p:cNvSpPr>
            <a:spLocks noGrp="1"/>
          </p:cNvSpPr>
          <p:nvPr>
            <p:ph idx="1" hasCustomPrompt="1"/>
          </p:nvPr>
        </p:nvSpPr>
        <p:spPr>
          <a:xfrm>
            <a:off x="469900" y="3832225"/>
            <a:ext cx="3627438" cy="2181440"/>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9"/>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609787776"/>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70250221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239994" indent="0">
              <a:spcAft>
                <a:spcPts val="1333"/>
              </a:spcAft>
              <a:buFont typeface="Verdana" panose="020B0604030504040204" pitchFamily="34" charset="0"/>
              <a:buNone/>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Content Placeholder 9"/>
          <p:cNvSpPr>
            <a:spLocks noGrp="1"/>
          </p:cNvSpPr>
          <p:nvPr>
            <p:ph sz="quarter" idx="22"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3" name="Content Placeholder 10"/>
          <p:cNvSpPr>
            <a:spLocks noGrp="1"/>
          </p:cNvSpPr>
          <p:nvPr>
            <p:ph sz="quarter" idx="23"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2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95139784"/>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19"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6" name="Content Placeholder 9"/>
          <p:cNvSpPr>
            <a:spLocks noGrp="1"/>
          </p:cNvSpPr>
          <p:nvPr>
            <p:ph sz="quarter" idx="26" hasCustomPrompt="1"/>
          </p:nvPr>
        </p:nvSpPr>
        <p:spPr>
          <a:xfrm>
            <a:off x="4734795"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0" name="Content Placeholder 10"/>
          <p:cNvSpPr>
            <a:spLocks noGrp="1"/>
          </p:cNvSpPr>
          <p:nvPr>
            <p:ph sz="quarter" idx="27" hasCustomPrompt="1"/>
          </p:nvPr>
        </p:nvSpPr>
        <p:spPr>
          <a:xfrm>
            <a:off x="10451382" y="1857891"/>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1" name="Content Placeholder 11"/>
          <p:cNvSpPr>
            <a:spLocks noGrp="1"/>
          </p:cNvSpPr>
          <p:nvPr>
            <p:ph sz="quarter" idx="28" hasCustomPrompt="1"/>
          </p:nvPr>
        </p:nvSpPr>
        <p:spPr>
          <a:xfrm>
            <a:off x="4742449"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22" name="Content Placeholder 12"/>
          <p:cNvSpPr>
            <a:spLocks noGrp="1"/>
          </p:cNvSpPr>
          <p:nvPr>
            <p:ph sz="quarter" idx="29" hasCustomPrompt="1"/>
          </p:nvPr>
        </p:nvSpPr>
        <p:spPr>
          <a:xfrm>
            <a:off x="10451382" y="4248208"/>
            <a:ext cx="1270718" cy="720000"/>
          </a:xfrm>
        </p:spPr>
        <p:txBody>
          <a:bodyPr>
            <a:noAutofit/>
          </a:bodyPr>
          <a:lstStyle>
            <a:lvl1pPr algn="ctr">
              <a:defRPr sz="900" baseline="0"/>
            </a:lvl1pPr>
          </a:lstStyle>
          <a:p>
            <a:pPr lvl="0"/>
            <a:r>
              <a:rPr lang="en-GB" dirty="0"/>
              <a:t>Click here, go to INSERT tab and choose Pictures to insert Co-brand Logo</a:t>
            </a:r>
            <a:endParaRPr lang="en-GB"/>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GB" sz="1467" noProof="0" dirty="0">
              <a:solidFill>
                <a:schemeClr val="bg1"/>
              </a:solidFill>
            </a:endParaRPr>
          </a:p>
        </p:txBody>
      </p:sp>
      <p:sp>
        <p:nvSpPr>
          <p:cNvPr id="2" name="Footer Placeholder 1"/>
          <p:cNvSpPr>
            <a:spLocks noGrp="1"/>
          </p:cNvSpPr>
          <p:nvPr>
            <p:ph type="ftr" sz="quarter" idx="3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48881302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467" noProof="0" dirty="0">
              <a:solidFill>
                <a:schemeClr val="bg1"/>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832917034"/>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Font typeface="Arial" panose="020B0604020202020204" pitchFamily="34" charset="0"/>
              <a:buChar char="​"/>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0"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6696757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Ref idx="1001">
        <a:schemeClr val="bg1"/>
      </p:bgRef>
    </p:bg>
    <p:spTree>
      <p:nvGrpSpPr>
        <p:cNvPr id="1" name=""/>
        <p:cNvGrpSpPr/>
        <p:nvPr/>
      </p:nvGrpSpPr>
      <p:grpSpPr>
        <a:xfrm>
          <a:off x="0" y="0"/>
          <a:ext cx="0" cy="0"/>
          <a:chOff x="0" y="0"/>
          <a:chExt cx="0" cy="0"/>
        </a:xfrm>
      </p:grpSpPr>
      <p:sp>
        <p:nvSpPr>
          <p:cNvPr id="11" name="Colored background"/>
          <p:cNvSpPr/>
          <p:nvPr userDrawn="1"/>
        </p:nvSpPr>
        <p:spPr bwMode="gray">
          <a:xfrm>
            <a:off x="0" y="0"/>
            <a:ext cx="12189600" cy="6858000"/>
          </a:xfrm>
          <a:prstGeom prst="rect">
            <a:avLst/>
          </a:prstGeom>
          <a:solidFill>
            <a:srgbClr val="046A38"/>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4" name="Text Placeholder 8"/>
          <p:cNvSpPr>
            <a:spLocks noGrp="1"/>
          </p:cNvSpPr>
          <p:nvPr>
            <p:ph type="body" sz="quarter" idx="17"/>
          </p:nvPr>
        </p:nvSpPr>
        <p:spPr>
          <a:xfrm>
            <a:off x="469903"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tx1"/>
                </a:solidFill>
              </a:defRPr>
            </a:lvl1pPr>
            <a:lvl2pPr>
              <a:spcAft>
                <a:spcPts val="1333"/>
              </a:spcAft>
              <a:defRPr>
                <a:solidFill>
                  <a:schemeClr val="tx1"/>
                </a:solidFill>
              </a:defRPr>
            </a:lvl2pPr>
            <a:lvl3pPr marL="0" indent="0">
              <a:spcAft>
                <a:spcPts val="1333"/>
              </a:spcAft>
              <a:buFont typeface="Arial" panose="020B0604020202020204" pitchFamily="34" charset="0"/>
              <a:buChar char="​"/>
              <a:defRPr>
                <a:solidFill>
                  <a:schemeClr val="tx1"/>
                </a:solidFill>
              </a:defRPr>
            </a:lvl3pPr>
            <a:lvl4pPr marL="235194" indent="-235194">
              <a:spcAft>
                <a:spcPts val="1333"/>
              </a:spcAft>
              <a:buFont typeface="Arial" panose="020B0604020202020204" pitchFamily="34" charset="0"/>
              <a:buChar char="•"/>
              <a:defRPr>
                <a:solidFill>
                  <a:schemeClr val="tx1"/>
                </a:solidFill>
              </a:defRPr>
            </a:lvl4pPr>
            <a:lvl5pPr marL="475188" indent="-235194">
              <a:spcAft>
                <a:spcPts val="1333"/>
              </a:spcAft>
              <a:defRPr baseline="0">
                <a:solidFill>
                  <a:schemeClr val="tx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17"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solidFill>
                  <a:schemeClr val="tx1"/>
                </a:solidFill>
              </a:defRPr>
            </a:lvl1pPr>
          </a:lstStyle>
          <a:p>
            <a:r>
              <a:rPr lang="en-GB" noProof="0"/>
              <a:t>Click to edit Master title style</a:t>
            </a:r>
            <a:endParaRPr lang="en-GB" noProof="0" dirty="0"/>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tx1"/>
                </a:solidFill>
              </a:defRPr>
            </a:lvl1pPr>
          </a:lstStyle>
          <a:p>
            <a:pPr lvl="0"/>
            <a:r>
              <a:rPr lang="en-GB" noProof="0" dirty="0"/>
              <a:t>Click to add subtitle</a:t>
            </a:r>
            <a:endParaRPr lang="en-GB"/>
          </a:p>
        </p:txBody>
      </p:sp>
      <p:sp>
        <p:nvSpPr>
          <p:cNvPr id="2" name="Footer Placeholder 1"/>
          <p:cNvSpPr>
            <a:spLocks noGrp="1"/>
          </p:cNvSpPr>
          <p:nvPr>
            <p:ph type="ftr" sz="quarter" idx="21"/>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14637023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6"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2" name="Footer Placeholder 1"/>
          <p:cNvSpPr>
            <a:spLocks noGrp="1"/>
          </p:cNvSpPr>
          <p:nvPr>
            <p:ph type="ftr" sz="quarter" idx="14"/>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06260848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GB" noProof="0"/>
              <a:t>Click to edit Master title style</a:t>
            </a:r>
            <a:endParaRPr lang="en-GB" noProof="0" dirty="0"/>
          </a:p>
        </p:txBody>
      </p:sp>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373117375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a:xfrm>
            <a:off x="6184900" y="6476999"/>
            <a:ext cx="4536726" cy="244476"/>
          </a:xfrm>
          <a:prstGeom prst="rect">
            <a:avLst/>
          </a:prstGeom>
        </p:spPr>
        <p:txBody>
          <a:bodyPr/>
          <a:lstStyle/>
          <a:p>
            <a:endParaRPr lang="en-GB" dirty="0"/>
          </a:p>
        </p:txBody>
      </p:sp>
    </p:spTree>
    <p:extLst>
      <p:ext uri="{BB962C8B-B14F-4D97-AF65-F5344CB8AC3E}">
        <p14:creationId xmlns:p14="http://schemas.microsoft.com/office/powerpoint/2010/main" val="234046651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dirty="0"/>
              <a:t>Insert sponsorship mark here</a:t>
            </a:r>
            <a:endParaRPr lang="en-GB" noProof="0" dirty="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dirty="0"/>
          </a:p>
        </p:txBody>
      </p:sp>
    </p:spTree>
    <p:extLst>
      <p:ext uri="{BB962C8B-B14F-4D97-AF65-F5344CB8AC3E}">
        <p14:creationId xmlns:p14="http://schemas.microsoft.com/office/powerpoint/2010/main" val="42662773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5" y="6362699"/>
            <a:ext cx="5594349" cy="298451"/>
          </a:xfrm>
          <a:prstGeom prst="rect">
            <a:avLst/>
          </a:prstGeom>
        </p:spPr>
        <p:txBody>
          <a:bodyPr>
            <a:norm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36958434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2014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2014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5878429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vmlDrawing" Target="../drawings/vmlDrawing2.v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image" Target="../media/image1.emf"/><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oleObject" Target="../embeddings/oleObject2.bin"/><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tags" Target="../tags/tag2.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20" Type="http://schemas.openxmlformats.org/officeDocument/2006/relationships/slideLayout" Target="../slideLayouts/slideLayout33.xml"/><Relationship Id="rId4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6"/>
            </p:custDataLst>
            <p:extLst>
              <p:ext uri="{D42A27DB-BD31-4B8C-83A1-F6EECF244321}">
                <p14:modId xmlns:p14="http://schemas.microsoft.com/office/powerpoint/2010/main" val="118522289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165" name="think-cell Slide" r:id="rId17" imgW="270" imgH="270" progId="TCLayout.ActiveDocument.1">
                  <p:embed/>
                </p:oleObj>
              </mc:Choice>
              <mc:Fallback>
                <p:oleObj name="think-cell Slide" r:id="rId17" imgW="270" imgH="270" progId="TCLayout.ActiveDocument.1">
                  <p:embed/>
                  <p:pic>
                    <p:nvPicPr>
                      <p:cNvPr id="4" name="Object 3" hidden="1"/>
                      <p:cNvPicPr/>
                      <p:nvPr/>
                    </p:nvPicPr>
                    <p:blipFill>
                      <a:blip r:embed="rId18"/>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Copyright"/>
          <p:cNvSpPr txBox="1"/>
          <p:nvPr/>
        </p:nvSpPr>
        <p:spPr>
          <a:xfrm>
            <a:off x="501649" y="6543402"/>
            <a:ext cx="5355168" cy="123111"/>
          </a:xfrm>
          <a:prstGeom prst="rect">
            <a:avLst/>
          </a:prstGeom>
          <a:noFill/>
        </p:spPr>
        <p:txBody>
          <a:bodyPr wrap="square" lIns="0" tIns="0" rIns="0" bIns="0" rtlCol="0">
            <a:spAutoFit/>
          </a:bodyPr>
          <a:lstStyle/>
          <a:p>
            <a:pPr marL="0" indent="0">
              <a:spcBef>
                <a:spcPts val="600"/>
              </a:spcBef>
              <a:buSzPct val="100000"/>
              <a:buFont typeface="Arial"/>
              <a:buNone/>
            </a:pPr>
            <a:r>
              <a:rPr lang="fr-FR" sz="800" noProof="0" dirty="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8000" y="1600200"/>
            <a:ext cx="11188700" cy="48006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568522" y="6543402"/>
            <a:ext cx="121828" cy="123111"/>
          </a:xfrm>
          <a:prstGeom prst="rect">
            <a:avLst/>
          </a:prstGeom>
        </p:spPr>
        <p:txBody>
          <a:bodyPr wrap="none" lIns="0" tIns="0" rIns="0" bIns="0">
            <a:spAutoFit/>
          </a:bodyPr>
          <a:lstStyle/>
          <a:p>
            <a:fld id="{C58DF478-B544-4ED8-9ED4-6A2648E2D233}" type="slidenum">
              <a:rPr lang="en-US" sz="800" noProof="0" smtClean="0">
                <a:solidFill>
                  <a:schemeClr val="tx1"/>
                </a:solidFill>
                <a:latin typeface="Calibri" panose="020F0502020204030204" pitchFamily="34" charset="0"/>
                <a:cs typeface="Calibri" panose="020F0502020204030204" pitchFamily="34" charset="0"/>
              </a:rPr>
              <a:pPr/>
              <a:t>‹#›</a:t>
            </a:fld>
            <a:endParaRPr lang="en-US" sz="800" dirty="0"/>
          </a:p>
        </p:txBody>
      </p:sp>
    </p:spTree>
    <p:extLst>
      <p:ext uri="{BB962C8B-B14F-4D97-AF65-F5344CB8AC3E}">
        <p14:creationId xmlns:p14="http://schemas.microsoft.com/office/powerpoint/2010/main" val="41169952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713" r:id="rId13"/>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12">
          <p15:clr>
            <a:srgbClr val="F26B43"/>
          </p15:clr>
        </p15:guide>
        <p15:guide id="8" pos="7368">
          <p15:clr>
            <a:srgbClr val="F26B43"/>
          </p15:clr>
        </p15:guide>
        <p15:guide id="14" orient="horz" pos="4104">
          <p15:clr>
            <a:srgbClr val="F26B43"/>
          </p15:clr>
        </p15:guide>
        <p15:guide id="15" orient="horz" pos="4032">
          <p15:clr>
            <a:srgbClr val="F26B43"/>
          </p15:clr>
        </p15:guide>
        <p15:guide id="18" orient="horz" pos="192">
          <p15:clr>
            <a:srgbClr val="F26B43"/>
          </p15:clr>
        </p15:guide>
        <p15:guide id="19" orient="horz" pos="1008">
          <p15:clr>
            <a:srgbClr val="F26B43"/>
          </p15:clr>
        </p15:guide>
        <p15:guide id="20" pos="3768">
          <p15:clr>
            <a:srgbClr val="F26B43"/>
          </p15:clr>
        </p15:guide>
        <p15:guide id="21" pos="3912">
          <p15:clr>
            <a:srgbClr val="F26B43"/>
          </p15:clr>
        </p15:guide>
        <p15:guide id="2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4170685715"/>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2170"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GB" noProof="0"/>
              <a:t>Click to edit Master title style</a:t>
            </a:r>
            <a:endParaRPr lang="en-GB" noProof="0" dirty="0"/>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GB" noProof="0"/>
              <a:t>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noProof="0" dirty="0"/>
          </a:p>
        </p:txBody>
      </p:sp>
      <p:sp>
        <p:nvSpPr>
          <p:cNvPr id="12" name="TextBox 11"/>
          <p:cNvSpPr txBox="1"/>
          <p:nvPr userDrawn="1"/>
        </p:nvSpPr>
        <p:spPr>
          <a:xfrm>
            <a:off x="11410953" y="6656294"/>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0" noProof="0">
                <a:solidFill>
                  <a:schemeClr val="tx1"/>
                </a:solidFill>
              </a:rPr>
              <a:pPr marL="0" indent="0" algn="r">
                <a:spcBef>
                  <a:spcPts val="800"/>
                </a:spcBef>
                <a:buSzPct val="100000"/>
                <a:buFont typeface="Arial"/>
                <a:buNone/>
              </a:pPr>
              <a:t>‹#›</a:t>
            </a:fld>
            <a:endParaRPr lang="en-GB" sz="650" noProof="0" dirty="0">
              <a:solidFill>
                <a:schemeClr val="tx1"/>
              </a:solidFill>
            </a:endParaRPr>
          </a:p>
        </p:txBody>
      </p:sp>
      <p:sp>
        <p:nvSpPr>
          <p:cNvPr id="8" name="TextBox 7"/>
          <p:cNvSpPr txBox="1"/>
          <p:nvPr userDrawn="1"/>
        </p:nvSpPr>
        <p:spPr>
          <a:xfrm>
            <a:off x="501649" y="6654807"/>
            <a:ext cx="5355168" cy="201260"/>
          </a:xfrm>
          <a:prstGeom prst="rect">
            <a:avLst/>
          </a:prstGeom>
          <a:noFill/>
        </p:spPr>
        <p:txBody>
          <a:bodyPr wrap="square" lIns="0" tIns="0" rIns="0" bIns="0" rtlCol="0">
            <a:noAutofit/>
          </a:bodyPr>
          <a:lstStyle/>
          <a:p>
            <a:pPr marL="0" indent="0">
              <a:spcBef>
                <a:spcPts val="717"/>
              </a:spcBef>
              <a:buSzPct val="100000"/>
              <a:buFont typeface="Arial"/>
              <a:buNone/>
            </a:pPr>
            <a:r>
              <a:rPr lang="fr-FR" sz="650" noProof="0" dirty="0">
                <a:solidFill>
                  <a:schemeClr val="tx1"/>
                </a:solidFill>
              </a:rPr>
              <a:t>© 2022 Deloitte Touche Tohmatsu India LLP</a:t>
            </a:r>
          </a:p>
        </p:txBody>
      </p:sp>
    </p:spTree>
    <p:extLst>
      <p:ext uri="{BB962C8B-B14F-4D97-AF65-F5344CB8AC3E}">
        <p14:creationId xmlns:p14="http://schemas.microsoft.com/office/powerpoint/2010/main" val="3294180389"/>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4" r:id="rId40"/>
  </p:sldLayoutIdLst>
  <p:transition>
    <p:fade/>
  </p:transition>
  <p:hf sldNum="0"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ClrTx/>
        <a:buSzPct val="100000"/>
        <a:buFont typeface="Arial" panose="020B0604020202020204" pitchFamily="34" charset="0"/>
        <a:buChar char="​"/>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Char char="​"/>
        <a:defRPr lang="en-US" sz="1200" b="1" kern="1200" dirty="0">
          <a:solidFill>
            <a:schemeClr val="tx1"/>
          </a:solidFill>
          <a:latin typeface="+mn-lt"/>
          <a:ea typeface="+mn-ea"/>
          <a:cs typeface="+mn-cs"/>
        </a:defRPr>
      </a:lvl2pPr>
      <a:lvl3pPr marL="235194" indent="-235194" algn="l" defTabSz="1219170" rtl="0" eaLnBrk="1" latinLnBrk="0" hangingPunct="1">
        <a:spcBef>
          <a:spcPts val="0"/>
        </a:spcBef>
        <a:spcAft>
          <a:spcPts val="1333"/>
        </a:spcAft>
        <a:buClrTx/>
        <a:buSzPct val="100000"/>
        <a:buFont typeface="Arial" panose="020B0604020202020204" pitchFamily="34" charset="0"/>
        <a:buChar char="•"/>
        <a:defRPr lang="en-US" sz="1200" kern="1200" dirty="0">
          <a:solidFill>
            <a:schemeClr val="tx1"/>
          </a:solidFill>
          <a:latin typeface="+mn-lt"/>
          <a:ea typeface="+mn-ea"/>
          <a:cs typeface="+mn-cs"/>
        </a:defRPr>
      </a:lvl3pPr>
      <a:lvl4pPr marL="475188" indent="-235194" algn="l" defTabSz="1219170" rtl="0" eaLnBrk="1" latinLnBrk="0" hangingPunct="1">
        <a:spcBef>
          <a:spcPts val="0"/>
        </a:spcBef>
        <a:spcAft>
          <a:spcPts val="1333"/>
        </a:spcAft>
        <a:buClrTx/>
        <a:buSzPct val="100000"/>
        <a:buFont typeface="Verdana" panose="020B0604030504040204" pitchFamily="34" charset="0"/>
        <a:buChar char="−"/>
        <a:defRPr lang="en-US" sz="1200" kern="1200" baseline="0" dirty="0">
          <a:solidFill>
            <a:schemeClr val="tx1"/>
          </a:solidFill>
          <a:latin typeface="+mn-lt"/>
          <a:ea typeface="+mn-ea"/>
          <a:cs typeface="+mn-cs"/>
        </a:defRPr>
      </a:lvl4pPr>
      <a:lvl5pPr marL="710382" indent="-235194" algn="l" defTabSz="1064657" rtl="0" eaLnBrk="1" latinLnBrk="0" hangingPunct="1">
        <a:spcBef>
          <a:spcPts val="0"/>
        </a:spcBef>
        <a:spcAft>
          <a:spcPts val="1333"/>
        </a:spcAft>
        <a:buClrTx/>
        <a:buSzPct val="100000"/>
        <a:buFont typeface="Verdana" panose="020B0604030504040204" pitchFamily="34" charset="0"/>
        <a:buChar char="−"/>
        <a:tabLst/>
        <a:defRPr lang="en-US" sz="1200" kern="1200" baseline="0" dirty="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2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Layout" Target="../slideLayouts/slideLayout53.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75325" y="5622289"/>
            <a:ext cx="9925973" cy="505645"/>
          </a:xfrm>
        </p:spPr>
        <p:txBody>
          <a:bodyPr/>
          <a:lstStyle/>
          <a:p>
            <a:pPr>
              <a:spcAft>
                <a:spcPts val="600"/>
              </a:spcAft>
            </a:pPr>
            <a:r>
              <a:rPr lang="en-US" sz="2000" b="1" dirty="0"/>
              <a:t>Investment Modes for 1000 MW Floating Solar Power Plant -JREDA</a:t>
            </a:r>
          </a:p>
          <a:p>
            <a:pPr>
              <a:spcAft>
                <a:spcPts val="600"/>
              </a:spcAft>
            </a:pPr>
            <a:endParaRPr lang="en-US" sz="2000" dirty="0"/>
          </a:p>
        </p:txBody>
      </p:sp>
      <p:pic>
        <p:nvPicPr>
          <p:cNvPr id="14" name="Picture 13">
            <a:extLst>
              <a:ext uri="{FF2B5EF4-FFF2-40B4-BE49-F238E27FC236}">
                <a16:creationId xmlns:a16="http://schemas.microsoft.com/office/drawing/2014/main" id="{A6D825D4-734E-41AA-AE47-AC5360D490D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00612" y="911422"/>
            <a:ext cx="4405948" cy="4367848"/>
          </a:xfrm>
          <a:prstGeom prst="rect">
            <a:avLst/>
          </a:prstGeom>
          <a:noFill/>
          <a:ln>
            <a:noFill/>
          </a:ln>
        </p:spPr>
      </p:pic>
      <p:sp>
        <p:nvSpPr>
          <p:cNvPr id="7" name="Text Placeholder 6">
            <a:extLst>
              <a:ext uri="{FF2B5EF4-FFF2-40B4-BE49-F238E27FC236}">
                <a16:creationId xmlns:a16="http://schemas.microsoft.com/office/drawing/2014/main" id="{EFA6233F-9700-4140-928C-FEC60B8CD466}"/>
              </a:ext>
            </a:extLst>
          </p:cNvPr>
          <p:cNvSpPr>
            <a:spLocks noGrp="1"/>
          </p:cNvSpPr>
          <p:nvPr>
            <p:ph type="body" sz="quarter" idx="10"/>
          </p:nvPr>
        </p:nvSpPr>
        <p:spPr>
          <a:xfrm>
            <a:off x="475325" y="6362699"/>
            <a:ext cx="5594349" cy="298451"/>
          </a:xfrm>
        </p:spPr>
        <p:txBody>
          <a:bodyPr/>
          <a:lstStyle/>
          <a:p>
            <a:endParaRPr lang="en-US" dirty="0"/>
          </a:p>
        </p:txBody>
      </p:sp>
    </p:spTree>
    <p:extLst>
      <p:ext uri="{BB962C8B-B14F-4D97-AF65-F5344CB8AC3E}">
        <p14:creationId xmlns:p14="http://schemas.microsoft.com/office/powerpoint/2010/main" val="23480021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427559" y="209096"/>
            <a:ext cx="11409210" cy="453612"/>
          </a:xfrm>
        </p:spPr>
        <p:txBody>
          <a:bodyPr/>
          <a:lstStyle/>
          <a:p>
            <a:r>
              <a:rPr lang="en-US" sz="1600" b="1" dirty="0">
                <a:solidFill>
                  <a:schemeClr val="tx1"/>
                </a:solidFill>
                <a:latin typeface="Verdana" panose="020B0604030504040204" pitchFamily="34" charset="0"/>
                <a:ea typeface="Verdana" panose="020B0604030504040204" pitchFamily="34" charset="0"/>
              </a:rPr>
              <a:t>State Solar Policy (1/2)</a:t>
            </a:r>
            <a:endParaRPr lang="en-US" sz="1600" dirty="0">
              <a:solidFill>
                <a:schemeClr val="tx1"/>
              </a:solidFill>
              <a:latin typeface="Verdana" panose="020B0604030504040204" pitchFamily="34" charset="0"/>
              <a:ea typeface="Verdana" panose="020B0604030504040204" pitchFamily="34" charset="0"/>
            </a:endParaRPr>
          </a:p>
        </p:txBody>
      </p:sp>
      <p:sp>
        <p:nvSpPr>
          <p:cNvPr id="31" name="Text Placeholder 2">
            <a:extLst>
              <a:ext uri="{FF2B5EF4-FFF2-40B4-BE49-F238E27FC236}">
                <a16:creationId xmlns:a16="http://schemas.microsoft.com/office/drawing/2014/main" id="{A41C5D87-2E9E-48DE-AAB5-7A3EB6DC109A}"/>
              </a:ext>
            </a:extLst>
          </p:cNvPr>
          <p:cNvSpPr txBox="1">
            <a:spLocks/>
          </p:cNvSpPr>
          <p:nvPr/>
        </p:nvSpPr>
        <p:spPr>
          <a:xfrm>
            <a:off x="455925" y="59577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Verdana" panose="020B0604030504040204" pitchFamily="34" charset="0"/>
                <a:ea typeface="Verdana" panose="020B0604030504040204" pitchFamily="34" charset="0"/>
                <a:cs typeface="Calibri Light" panose="020F0302020204030204" pitchFamily="34" charset="0"/>
              </a:rPr>
              <a:t>Jharkhand Solar Policy 2022</a:t>
            </a:r>
          </a:p>
        </p:txBody>
      </p:sp>
      <p:sp>
        <p:nvSpPr>
          <p:cNvPr id="74" name="TextBox 73">
            <a:extLst>
              <a:ext uri="{FF2B5EF4-FFF2-40B4-BE49-F238E27FC236}">
                <a16:creationId xmlns:a16="http://schemas.microsoft.com/office/drawing/2014/main" id="{D45FC909-A71D-410D-838B-C13B664B70E3}"/>
              </a:ext>
            </a:extLst>
          </p:cNvPr>
          <p:cNvSpPr txBox="1"/>
          <p:nvPr/>
        </p:nvSpPr>
        <p:spPr>
          <a:xfrm>
            <a:off x="470089" y="1209200"/>
            <a:ext cx="11409210"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The State intends to contribute to India’s clean energy ambitions by deploying a </a:t>
            </a: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cumulative capacity of 4000 MW in the state by 2027</a:t>
            </a: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The nodal agency, JREDA, will therefore engage in support and coordination as per the provisions of the Policy.</a:t>
            </a:r>
            <a:endParaRPr kumimoji="0" lang="en-US" sz="1200" b="0" i="1" u="none" strike="noStrike" kern="1200" cap="none" spc="0" normalizeH="0" baseline="0" noProof="0" dirty="0">
              <a:ln>
                <a:noFill/>
              </a:ln>
              <a:solidFill>
                <a:srgbClr val="313131"/>
              </a:solidFill>
              <a:effectLst/>
              <a:uLnTx/>
              <a:uFillTx/>
              <a:latin typeface="Verdana" panose="020B0604030504040204" pitchFamily="34" charset="0"/>
              <a:ea typeface="Verdana" panose="020B0604030504040204" pitchFamily="34" charset="0"/>
              <a:cs typeface="+mn-cs"/>
            </a:endParaRPr>
          </a:p>
        </p:txBody>
      </p:sp>
      <p:graphicFrame>
        <p:nvGraphicFramePr>
          <p:cNvPr id="24" name="Group 3">
            <a:extLst>
              <a:ext uri="{FF2B5EF4-FFF2-40B4-BE49-F238E27FC236}">
                <a16:creationId xmlns:a16="http://schemas.microsoft.com/office/drawing/2014/main" id="{A93F466D-5C5D-4509-8FAB-3A09C29F9DC7}"/>
              </a:ext>
            </a:extLst>
          </p:cNvPr>
          <p:cNvGraphicFramePr>
            <a:graphicFrameLocks/>
          </p:cNvGraphicFramePr>
          <p:nvPr>
            <p:custDataLst>
              <p:tags r:id="rId1"/>
            </p:custDataLst>
            <p:extLst>
              <p:ext uri="{D42A27DB-BD31-4B8C-83A1-F6EECF244321}">
                <p14:modId xmlns:p14="http://schemas.microsoft.com/office/powerpoint/2010/main" val="2148537595"/>
              </p:ext>
            </p:extLst>
          </p:nvPr>
        </p:nvGraphicFramePr>
        <p:xfrm>
          <a:off x="563525" y="4572751"/>
          <a:ext cx="5029203" cy="1828798"/>
        </p:xfrm>
        <a:graphic>
          <a:graphicData uri="http://schemas.openxmlformats.org/drawingml/2006/table">
            <a:tbl>
              <a:tblPr/>
              <a:tblGrid>
                <a:gridCol w="2287466">
                  <a:extLst>
                    <a:ext uri="{9D8B030D-6E8A-4147-A177-3AD203B41FA5}">
                      <a16:colId xmlns:a16="http://schemas.microsoft.com/office/drawing/2014/main" val="20000"/>
                    </a:ext>
                  </a:extLst>
                </a:gridCol>
                <a:gridCol w="2741737">
                  <a:extLst>
                    <a:ext uri="{9D8B030D-6E8A-4147-A177-3AD203B41FA5}">
                      <a16:colId xmlns:a16="http://schemas.microsoft.com/office/drawing/2014/main" val="20001"/>
                    </a:ext>
                  </a:extLst>
                </a:gridCol>
              </a:tblGrid>
              <a:tr h="32859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rgbClr val="009A44"/>
                          </a:solidFill>
                          <a:effectLst/>
                          <a:latin typeface="Verdana" panose="020B0604030504040204" pitchFamily="34" charset="0"/>
                          <a:ea typeface="Verdana" panose="020B0604030504040204" pitchFamily="34" charset="0"/>
                          <a:cs typeface="+mn-cs"/>
                        </a:rPr>
                        <a:t>Project Categories</a:t>
                      </a:r>
                    </a:p>
                  </a:txBody>
                  <a:tcPr marT="0" marB="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u="none" strike="noStrike" cap="none" normalizeH="0" baseline="0" dirty="0">
                          <a:ln>
                            <a:noFill/>
                          </a:ln>
                          <a:solidFill>
                            <a:srgbClr val="009A44"/>
                          </a:solidFill>
                          <a:effectLst/>
                          <a:latin typeface="Verdana" panose="020B0604030504040204" pitchFamily="34" charset="0"/>
                          <a:ea typeface="Verdana" panose="020B0604030504040204" pitchFamily="34" charset="0"/>
                        </a:rPr>
                        <a:t>Cumulative Target (in MW)</a:t>
                      </a:r>
                      <a:endParaRPr kumimoji="0" lang="en-US" sz="1200" b="1" i="0" u="none" strike="noStrike" cap="none" normalizeH="0" baseline="0" dirty="0">
                        <a:ln>
                          <a:noFill/>
                        </a:ln>
                        <a:solidFill>
                          <a:srgbClr val="009A44"/>
                        </a:solidFill>
                        <a:effectLst/>
                        <a:latin typeface="Verdana" panose="020B0604030504040204" pitchFamily="34" charset="0"/>
                        <a:ea typeface="Verdana" panose="020B0604030504040204" pitchFamily="34" charset="0"/>
                      </a:endParaRPr>
                    </a:p>
                  </a:txBody>
                  <a:tcPr marT="0" marB="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rgbClr val="009A44"/>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00002">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Utility-scale solar</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3,000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00002">
                <a:tc>
                  <a:txBody>
                    <a:bodyPr/>
                    <a:lstStyle/>
                    <a:p>
                      <a:pPr marL="45720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lang="en-US" sz="1200" b="0" i="1" u="none" strike="noStrike" kern="1200" baseline="0" dirty="0">
                          <a:solidFill>
                            <a:schemeClr val="tx1"/>
                          </a:solidFill>
                          <a:latin typeface="Verdana" panose="020B0604030504040204" pitchFamily="34" charset="0"/>
                          <a:ea typeface="Verdana" panose="020B0604030504040204" pitchFamily="34" charset="0"/>
                          <a:cs typeface="+mn-cs"/>
                        </a:rPr>
                        <a:t>Solar parks</a:t>
                      </a:r>
                      <a:endParaRPr kumimoji="0" lang="en-US" sz="1200" b="0" i="1"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700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00002">
                <a:tc>
                  <a:txBody>
                    <a:bodyPr/>
                    <a:lstStyle/>
                    <a:p>
                      <a:pPr marL="45720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Non- Solar Parks</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1,000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00002">
                <a:tc>
                  <a:txBody>
                    <a:bodyPr/>
                    <a:lstStyle/>
                    <a:p>
                      <a:pPr marL="45720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Floating Solar</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900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21218509"/>
                  </a:ext>
                </a:extLst>
              </a:tr>
              <a:tr h="200002">
                <a:tc>
                  <a:txBody>
                    <a:bodyPr/>
                    <a:lstStyle/>
                    <a:p>
                      <a:pPr marL="457200" marR="0" lvl="1"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cap="none" normalizeH="0" baseline="0" dirty="0">
                          <a:ln>
                            <a:noFill/>
                          </a:ln>
                          <a:solidFill>
                            <a:schemeClr val="tx1"/>
                          </a:solidFill>
                          <a:effectLst/>
                          <a:latin typeface="Verdana" panose="020B0604030504040204" pitchFamily="34" charset="0"/>
                          <a:ea typeface="Verdana" panose="020B0604030504040204" pitchFamily="34" charset="0"/>
                        </a:rPr>
                        <a:t>Canal Tops</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0" i="1"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400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00002">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Distributed Solar</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0786708"/>
                  </a:ext>
                </a:extLst>
              </a:tr>
              <a:tr h="300187">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Off-Grid Solar Projects</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2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280</a:t>
                      </a:r>
                    </a:p>
                  </a:txBody>
                  <a:tcPr marT="0" marB="0" anchor="ctr"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2616225"/>
                  </a:ext>
                </a:extLst>
              </a:tr>
            </a:tbl>
          </a:graphicData>
        </a:graphic>
      </p:graphicFrame>
      <p:grpSp>
        <p:nvGrpSpPr>
          <p:cNvPr id="25" name="Group 24">
            <a:extLst>
              <a:ext uri="{FF2B5EF4-FFF2-40B4-BE49-F238E27FC236}">
                <a16:creationId xmlns:a16="http://schemas.microsoft.com/office/drawing/2014/main" id="{2E8684DA-941A-436C-98A3-A0C2EB650520}"/>
              </a:ext>
            </a:extLst>
          </p:cNvPr>
          <p:cNvGrpSpPr/>
          <p:nvPr/>
        </p:nvGrpSpPr>
        <p:grpSpPr>
          <a:xfrm>
            <a:off x="563525" y="2011470"/>
            <a:ext cx="5029204" cy="2390409"/>
            <a:chOff x="470090" y="2877061"/>
            <a:chExt cx="3687240" cy="2045085"/>
          </a:xfrm>
        </p:grpSpPr>
        <p:sp>
          <p:nvSpPr>
            <p:cNvPr id="26" name="Text Box 10">
              <a:extLst>
                <a:ext uri="{FF2B5EF4-FFF2-40B4-BE49-F238E27FC236}">
                  <a16:creationId xmlns:a16="http://schemas.microsoft.com/office/drawing/2014/main" id="{13455E70-1EF0-4CA8-B3DF-2B65CB6A802A}"/>
                </a:ext>
              </a:extLst>
            </p:cNvPr>
            <p:cNvSpPr txBox="1">
              <a:spLocks noChangeArrowheads="1"/>
            </p:cNvSpPr>
            <p:nvPr/>
          </p:nvSpPr>
          <p:spPr bwMode="auto">
            <a:xfrm>
              <a:off x="470090" y="2877061"/>
              <a:ext cx="3687240" cy="297579"/>
            </a:xfrm>
            <a:prstGeom prst="rect">
              <a:avLst/>
            </a:prstGeom>
            <a:solidFill>
              <a:srgbClr val="0097A9"/>
            </a:solidFill>
            <a:ln w="12700" algn="ctr">
              <a:solidFill>
                <a:srgbClr val="009A44"/>
              </a:solid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itchFamily="34" charset="0"/>
                </a:rPr>
                <a:t>VISION</a:t>
              </a:r>
            </a:p>
          </p:txBody>
        </p:sp>
        <p:sp>
          <p:nvSpPr>
            <p:cNvPr id="27" name="Rectangle 11">
              <a:extLst>
                <a:ext uri="{FF2B5EF4-FFF2-40B4-BE49-F238E27FC236}">
                  <a16:creationId xmlns:a16="http://schemas.microsoft.com/office/drawing/2014/main" id="{9014D82E-C7F8-4394-A88C-E11D8886B881}"/>
                </a:ext>
              </a:extLst>
            </p:cNvPr>
            <p:cNvSpPr>
              <a:spLocks noChangeArrowheads="1"/>
            </p:cNvSpPr>
            <p:nvPr/>
          </p:nvSpPr>
          <p:spPr bwMode="auto">
            <a:xfrm>
              <a:off x="470090" y="3174639"/>
              <a:ext cx="3687240" cy="1747507"/>
            </a:xfrm>
            <a:prstGeom prst="rect">
              <a:avLst/>
            </a:prstGeom>
            <a:noFill/>
            <a:ln w="12700" algn="ctr">
              <a:solidFill>
                <a:srgbClr val="0097A9"/>
              </a:solidFill>
              <a:miter lim="800000"/>
              <a:headEnd/>
              <a:tailEnd/>
            </a:ln>
          </p:spPr>
          <p:txBody>
            <a:bodyPr lIns="88900" tIns="88900" rIns="88900" bIns="88900" anchor="t" anchorCtr="0"/>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Contribute to India’s clean energy ambitions by bringing energy transition closer to communities, businesses and industries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Enable ‘ease of doing’ business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Promote efficient technologies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Creating enabling infrastructure</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Meet various sustainable development goals</a:t>
              </a:r>
            </a:p>
          </p:txBody>
        </p:sp>
      </p:grpSp>
      <p:grpSp>
        <p:nvGrpSpPr>
          <p:cNvPr id="39" name="Group 38">
            <a:extLst>
              <a:ext uri="{FF2B5EF4-FFF2-40B4-BE49-F238E27FC236}">
                <a16:creationId xmlns:a16="http://schemas.microsoft.com/office/drawing/2014/main" id="{7EC0AFA1-70EF-4C94-8F48-DE1A37ABD302}"/>
              </a:ext>
            </a:extLst>
          </p:cNvPr>
          <p:cNvGrpSpPr/>
          <p:nvPr/>
        </p:nvGrpSpPr>
        <p:grpSpPr>
          <a:xfrm>
            <a:off x="5993939" y="2011470"/>
            <a:ext cx="5465075" cy="4266292"/>
            <a:chOff x="470090" y="2877061"/>
            <a:chExt cx="3687240" cy="3505036"/>
          </a:xfrm>
        </p:grpSpPr>
        <p:sp>
          <p:nvSpPr>
            <p:cNvPr id="40" name="Text Box 10">
              <a:extLst>
                <a:ext uri="{FF2B5EF4-FFF2-40B4-BE49-F238E27FC236}">
                  <a16:creationId xmlns:a16="http://schemas.microsoft.com/office/drawing/2014/main" id="{1F85CC6B-16A4-472A-AF82-542BB88A4B7E}"/>
                </a:ext>
              </a:extLst>
            </p:cNvPr>
            <p:cNvSpPr txBox="1">
              <a:spLocks noChangeArrowheads="1"/>
            </p:cNvSpPr>
            <p:nvPr/>
          </p:nvSpPr>
          <p:spPr bwMode="auto">
            <a:xfrm>
              <a:off x="470090" y="2877061"/>
              <a:ext cx="3687240" cy="297579"/>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itchFamily="34" charset="0"/>
                </a:rPr>
                <a:t>KEY OBJECTIVES</a:t>
              </a:r>
            </a:p>
          </p:txBody>
        </p:sp>
        <p:sp>
          <p:nvSpPr>
            <p:cNvPr id="41" name="Rectangle 11">
              <a:extLst>
                <a:ext uri="{FF2B5EF4-FFF2-40B4-BE49-F238E27FC236}">
                  <a16:creationId xmlns:a16="http://schemas.microsoft.com/office/drawing/2014/main" id="{F515A16D-D97E-4176-9E8D-E35CB384D41C}"/>
                </a:ext>
              </a:extLst>
            </p:cNvPr>
            <p:cNvSpPr>
              <a:spLocks noChangeArrowheads="1"/>
            </p:cNvSpPr>
            <p:nvPr/>
          </p:nvSpPr>
          <p:spPr bwMode="auto">
            <a:xfrm>
              <a:off x="470090" y="3174639"/>
              <a:ext cx="3687240" cy="3207458"/>
            </a:xfrm>
            <a:prstGeom prst="rect">
              <a:avLst/>
            </a:prstGeom>
            <a:noFill/>
            <a:ln w="12700" algn="ctr">
              <a:solidFill>
                <a:srgbClr val="009A44"/>
              </a:solidFill>
              <a:miter lim="800000"/>
              <a:headEnd/>
              <a:tailEnd/>
            </a:ln>
          </p:spPr>
          <p:txBody>
            <a:bodyPr lIns="88900" tIns="88900" rIns="88900" bIns="88900" anchor="t" anchorCtr="0"/>
            <a:lstStyle/>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Increase the share of solar electricity in State’s power purchase portfolio and subsequently help DISCOMs meet its RPO trajectory.</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Provide investment avenues for private players and all electricity consumers to collaborate with the Government to invest in RE projects.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Provide last-mile connectivity to rural consumers in remote areas, who are off-grid.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Scale energy storage in the state by identifying viable use cases, providing financing options, and promoting research and development activities.</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Support domestic manufacturing of solar PV technologies, its components such as energy storage and related ancillaries. </a:t>
              </a: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Create more investment and employment opportunities in the state to bring in the overall development of the state and its people.</a:t>
              </a:r>
            </a:p>
          </p:txBody>
        </p:sp>
      </p:grpSp>
    </p:spTree>
    <p:extLst>
      <p:ext uri="{BB962C8B-B14F-4D97-AF65-F5344CB8AC3E}">
        <p14:creationId xmlns:p14="http://schemas.microsoft.com/office/powerpoint/2010/main" val="188389226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5AAEA23-5EBF-443D-8614-CDA38877B9B8}"/>
              </a:ext>
            </a:extLst>
          </p:cNvPr>
          <p:cNvGrpSpPr/>
          <p:nvPr/>
        </p:nvGrpSpPr>
        <p:grpSpPr>
          <a:xfrm>
            <a:off x="7260286" y="2029195"/>
            <a:ext cx="4931713" cy="4373419"/>
            <a:chOff x="7469829" y="2042452"/>
            <a:chExt cx="4452776" cy="3896179"/>
          </a:xfrm>
        </p:grpSpPr>
        <p:pic>
          <p:nvPicPr>
            <p:cNvPr id="75" name="Picture 74" descr="A picture containing nature&#10;&#10;Description automatically generated">
              <a:extLst>
                <a:ext uri="{FF2B5EF4-FFF2-40B4-BE49-F238E27FC236}">
                  <a16:creationId xmlns:a16="http://schemas.microsoft.com/office/drawing/2014/main" id="{1B9F2CCF-33AC-4134-AA77-6DD299DFB1F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7469829" y="2042452"/>
              <a:ext cx="4452776" cy="3896179"/>
            </a:xfrm>
            <a:prstGeom prst="rect">
              <a:avLst/>
            </a:prstGeom>
          </p:spPr>
        </p:pic>
        <p:pic>
          <p:nvPicPr>
            <p:cNvPr id="92" name="Graphic 91" descr="Marker with solid fill">
              <a:extLst>
                <a:ext uri="{FF2B5EF4-FFF2-40B4-BE49-F238E27FC236}">
                  <a16:creationId xmlns:a16="http://schemas.microsoft.com/office/drawing/2014/main" id="{82A7C2D3-9B98-47D5-8C34-4A0B1E6A44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64569" y="4150219"/>
              <a:ext cx="526897" cy="526897"/>
            </a:xfrm>
            <a:prstGeom prst="rect">
              <a:avLst/>
            </a:prstGeom>
          </p:spPr>
        </p:pic>
        <p:pic>
          <p:nvPicPr>
            <p:cNvPr id="94" name="Graphic 93" descr="Marker with solid fill">
              <a:extLst>
                <a:ext uri="{FF2B5EF4-FFF2-40B4-BE49-F238E27FC236}">
                  <a16:creationId xmlns:a16="http://schemas.microsoft.com/office/drawing/2014/main" id="{560AC84E-FA99-4435-B45A-A17A8BFA21B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38700" y="3533516"/>
              <a:ext cx="526897" cy="526897"/>
            </a:xfrm>
            <a:prstGeom prst="rect">
              <a:avLst/>
            </a:prstGeom>
          </p:spPr>
        </p:pic>
      </p:grpSp>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427559" y="209096"/>
            <a:ext cx="11409210" cy="453612"/>
          </a:xfrm>
        </p:spPr>
        <p:txBody>
          <a:bodyPr/>
          <a:lstStyle/>
          <a:p>
            <a:r>
              <a:rPr lang="en-US" sz="1600" b="1" dirty="0">
                <a:solidFill>
                  <a:schemeClr val="tx1"/>
                </a:solidFill>
                <a:latin typeface="Verdana" panose="020B0604030504040204" pitchFamily="34" charset="0"/>
                <a:ea typeface="Verdana" panose="020B0604030504040204" pitchFamily="34" charset="0"/>
              </a:rPr>
              <a:t>State Solar Policy (2/2)</a:t>
            </a:r>
            <a:endParaRPr lang="en-US" sz="1600" dirty="0">
              <a:solidFill>
                <a:schemeClr val="tx1"/>
              </a:solidFill>
              <a:latin typeface="Verdana" panose="020B0604030504040204" pitchFamily="34" charset="0"/>
              <a:ea typeface="Verdana" panose="020B0604030504040204" pitchFamily="34" charset="0"/>
            </a:endParaRPr>
          </a:p>
        </p:txBody>
      </p:sp>
      <p:sp>
        <p:nvSpPr>
          <p:cNvPr id="31" name="Text Placeholder 2">
            <a:extLst>
              <a:ext uri="{FF2B5EF4-FFF2-40B4-BE49-F238E27FC236}">
                <a16:creationId xmlns:a16="http://schemas.microsoft.com/office/drawing/2014/main" id="{A41C5D87-2E9E-48DE-AAB5-7A3EB6DC109A}"/>
              </a:ext>
            </a:extLst>
          </p:cNvPr>
          <p:cNvSpPr txBox="1">
            <a:spLocks/>
          </p:cNvSpPr>
          <p:nvPr/>
        </p:nvSpPr>
        <p:spPr>
          <a:xfrm>
            <a:off x="455925" y="59577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Verdana" panose="020B0604030504040204" pitchFamily="34" charset="0"/>
                <a:ea typeface="Verdana" panose="020B0604030504040204" pitchFamily="34" charset="0"/>
                <a:cs typeface="Calibri Light" panose="020F0302020204030204" pitchFamily="34" charset="0"/>
              </a:rPr>
              <a:t>Jharkhand</a:t>
            </a:r>
          </a:p>
        </p:txBody>
      </p:sp>
      <p:grpSp>
        <p:nvGrpSpPr>
          <p:cNvPr id="7" name="Group 6">
            <a:extLst>
              <a:ext uri="{FF2B5EF4-FFF2-40B4-BE49-F238E27FC236}">
                <a16:creationId xmlns:a16="http://schemas.microsoft.com/office/drawing/2014/main" id="{0059A47B-FD73-4C5E-AA65-8AD45BA4D76B}"/>
              </a:ext>
            </a:extLst>
          </p:cNvPr>
          <p:cNvGrpSpPr/>
          <p:nvPr/>
        </p:nvGrpSpPr>
        <p:grpSpPr>
          <a:xfrm>
            <a:off x="486377" y="2150673"/>
            <a:ext cx="6722496" cy="1330957"/>
            <a:chOff x="592704" y="1227779"/>
            <a:chExt cx="6722496" cy="1330957"/>
          </a:xfrm>
        </p:grpSpPr>
        <p:grpSp>
          <p:nvGrpSpPr>
            <p:cNvPr id="6" name="Group 5">
              <a:extLst>
                <a:ext uri="{FF2B5EF4-FFF2-40B4-BE49-F238E27FC236}">
                  <a16:creationId xmlns:a16="http://schemas.microsoft.com/office/drawing/2014/main" id="{27D796A4-0244-4A41-B0AD-0781C76CFBD1}"/>
                </a:ext>
              </a:extLst>
            </p:cNvPr>
            <p:cNvGrpSpPr/>
            <p:nvPr/>
          </p:nvGrpSpPr>
          <p:grpSpPr>
            <a:xfrm>
              <a:off x="592704" y="1233714"/>
              <a:ext cx="6722496" cy="1325022"/>
              <a:chOff x="592704" y="652438"/>
              <a:chExt cx="3960215" cy="4166251"/>
            </a:xfrm>
          </p:grpSpPr>
          <p:sp>
            <p:nvSpPr>
              <p:cNvPr id="51" name="Freeform: Shape 50">
                <a:extLst>
                  <a:ext uri="{FF2B5EF4-FFF2-40B4-BE49-F238E27FC236}">
                    <a16:creationId xmlns:a16="http://schemas.microsoft.com/office/drawing/2014/main" id="{CD912E3B-534F-4458-94E4-8F1F8C4AF22D}"/>
                  </a:ext>
                </a:extLst>
              </p:cNvPr>
              <p:cNvSpPr/>
              <p:nvPr/>
            </p:nvSpPr>
            <p:spPr>
              <a:xfrm>
                <a:off x="592704" y="652438"/>
                <a:ext cx="824024" cy="1144263"/>
              </a:xfrm>
              <a:custGeom>
                <a:avLst/>
                <a:gdLst>
                  <a:gd name="connsiteX0" fmla="*/ 156582 w 1398788"/>
                  <a:gd name="connsiteY0" fmla="*/ 0 h 398011"/>
                  <a:gd name="connsiteX1" fmla="*/ 981787 w 1398788"/>
                  <a:gd name="connsiteY1" fmla="*/ 0 h 398011"/>
                  <a:gd name="connsiteX2" fmla="*/ 1118577 w 1398788"/>
                  <a:gd name="connsiteY2" fmla="*/ 74289 h 398011"/>
                  <a:gd name="connsiteX3" fmla="*/ 1267657 w 1398788"/>
                  <a:gd name="connsiteY3" fmla="*/ 322842 h 398011"/>
                  <a:gd name="connsiteX4" fmla="*/ 1324918 w 1398788"/>
                  <a:gd name="connsiteY4" fmla="*/ 377778 h 398011"/>
                  <a:gd name="connsiteX5" fmla="*/ 1398788 w 1398788"/>
                  <a:gd name="connsiteY5" fmla="*/ 398011 h 398011"/>
                  <a:gd name="connsiteX6" fmla="*/ 0 w 1398788"/>
                  <a:gd name="connsiteY6" fmla="*/ 398011 h 398011"/>
                  <a:gd name="connsiteX7" fmla="*/ 0 w 1398788"/>
                  <a:gd name="connsiteY7" fmla="*/ 146378 h 398011"/>
                  <a:gd name="connsiteX8" fmla="*/ 156582 w 1398788"/>
                  <a:gd name="connsiteY8" fmla="*/ 0 h 39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8788" h="398011">
                    <a:moveTo>
                      <a:pt x="156582" y="0"/>
                    </a:moveTo>
                    <a:lnTo>
                      <a:pt x="981787" y="0"/>
                    </a:lnTo>
                    <a:cubicBezTo>
                      <a:pt x="1039089" y="0"/>
                      <a:pt x="1091283" y="27887"/>
                      <a:pt x="1118577" y="74289"/>
                    </a:cubicBezTo>
                    <a:lnTo>
                      <a:pt x="1267657" y="322842"/>
                    </a:lnTo>
                    <a:cubicBezTo>
                      <a:pt x="1281383" y="346101"/>
                      <a:pt x="1301295" y="364702"/>
                      <a:pt x="1324918" y="377778"/>
                    </a:cubicBezTo>
                    <a:lnTo>
                      <a:pt x="1398788" y="398011"/>
                    </a:lnTo>
                    <a:lnTo>
                      <a:pt x="0" y="398011"/>
                    </a:lnTo>
                    <a:lnTo>
                      <a:pt x="0" y="146378"/>
                    </a:lnTo>
                    <a:cubicBezTo>
                      <a:pt x="0" y="65031"/>
                      <a:pt x="69592" y="0"/>
                      <a:pt x="156582" y="0"/>
                    </a:cubicBezTo>
                    <a:close/>
                  </a:path>
                </a:pathLst>
              </a:custGeom>
              <a:solidFill>
                <a:schemeClr val="accent3"/>
              </a:solidFill>
              <a:ln w="12700">
                <a:miter lim="400000"/>
              </a:ln>
            </p:spPr>
            <p:txBody>
              <a:bodyPr wrap="square" lIns="38100" tIns="38100" rIns="38100" bIns="381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2800" b="0" i="0" u="none" strike="noStrike" kern="1200" cap="none" spc="0" normalizeH="0" baseline="0" noProof="0">
                  <a:ln>
                    <a:noFill/>
                  </a:ln>
                  <a:solidFill>
                    <a:prstClr val="white"/>
                  </a:solidFill>
                  <a:effectLst>
                    <a:outerShdw blurRad="38100" dist="12700" dir="5400000" rotWithShape="0">
                      <a:srgbClr val="000000">
                        <a:alpha val="50000"/>
                      </a:srgbClr>
                    </a:outerShdw>
                  </a:effectLst>
                  <a:uLnTx/>
                  <a:uFillTx/>
                  <a:latin typeface="Verdana" panose="020B0604030504040204" pitchFamily="34" charset="0"/>
                  <a:ea typeface="Verdana" panose="020B0604030504040204" pitchFamily="34" charset="0"/>
                  <a:cs typeface="+mn-cs"/>
                </a:endParaRPr>
              </a:p>
            </p:txBody>
          </p:sp>
          <p:sp>
            <p:nvSpPr>
              <p:cNvPr id="50" name="Freeform: Shape 49">
                <a:extLst>
                  <a:ext uri="{FF2B5EF4-FFF2-40B4-BE49-F238E27FC236}">
                    <a16:creationId xmlns:a16="http://schemas.microsoft.com/office/drawing/2014/main" id="{3DCE4457-6EFA-4CE4-9F5E-EBFB3B7AB7D0}"/>
                  </a:ext>
                </a:extLst>
              </p:cNvPr>
              <p:cNvSpPr/>
              <p:nvPr/>
            </p:nvSpPr>
            <p:spPr bwMode="gray">
              <a:xfrm>
                <a:off x="592704" y="1757847"/>
                <a:ext cx="3960215" cy="3060842"/>
              </a:xfrm>
              <a:custGeom>
                <a:avLst/>
                <a:gdLst>
                  <a:gd name="connsiteX0" fmla="*/ 0 w 3530733"/>
                  <a:gd name="connsiteY0" fmla="*/ 0 h 4223653"/>
                  <a:gd name="connsiteX1" fmla="*/ 1454116 w 3530733"/>
                  <a:gd name="connsiteY1" fmla="*/ 0 h 4223653"/>
                  <a:gd name="connsiteX2" fmla="*/ 3408406 w 3530733"/>
                  <a:gd name="connsiteY2" fmla="*/ 0 h 4223653"/>
                  <a:gd name="connsiteX3" fmla="*/ 3447668 w 3530733"/>
                  <a:gd name="connsiteY3" fmla="*/ 0 h 4223653"/>
                  <a:gd name="connsiteX4" fmla="*/ 3447668 w 3530733"/>
                  <a:gd name="connsiteY4" fmla="*/ 7927 h 4223653"/>
                  <a:gd name="connsiteX5" fmla="*/ 3456021 w 3530733"/>
                  <a:gd name="connsiteY5" fmla="*/ 9613 h 4223653"/>
                  <a:gd name="connsiteX6" fmla="*/ 3530733 w 3530733"/>
                  <a:gd name="connsiteY6" fmla="*/ 122327 h 4223653"/>
                  <a:gd name="connsiteX7" fmla="*/ 3530733 w 3530733"/>
                  <a:gd name="connsiteY7" fmla="*/ 2068104 h 4223653"/>
                  <a:gd name="connsiteX8" fmla="*/ 3530733 w 3530733"/>
                  <a:gd name="connsiteY8" fmla="*/ 2160199 h 4223653"/>
                  <a:gd name="connsiteX9" fmla="*/ 3530733 w 3530733"/>
                  <a:gd name="connsiteY9" fmla="*/ 4096676 h 4223653"/>
                  <a:gd name="connsiteX10" fmla="*/ 3403756 w 3530733"/>
                  <a:gd name="connsiteY10" fmla="*/ 4223653 h 4223653"/>
                  <a:gd name="connsiteX11" fmla="*/ 126977 w 3530733"/>
                  <a:gd name="connsiteY11" fmla="*/ 4223653 h 4223653"/>
                  <a:gd name="connsiteX12" fmla="*/ 0 w 3530733"/>
                  <a:gd name="connsiteY12" fmla="*/ 4096676 h 4223653"/>
                  <a:gd name="connsiteX13" fmla="*/ 0 w 3530733"/>
                  <a:gd name="connsiteY13" fmla="*/ 2282526 h 4223653"/>
                  <a:gd name="connsiteX14" fmla="*/ 0 w 3530733"/>
                  <a:gd name="connsiteY14" fmla="*/ 2068104 h 422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30733" h="4223653">
                    <a:moveTo>
                      <a:pt x="0" y="0"/>
                    </a:moveTo>
                    <a:lnTo>
                      <a:pt x="1454116" y="0"/>
                    </a:lnTo>
                    <a:lnTo>
                      <a:pt x="3408406" y="0"/>
                    </a:lnTo>
                    <a:lnTo>
                      <a:pt x="3447668" y="0"/>
                    </a:lnTo>
                    <a:lnTo>
                      <a:pt x="3447668" y="7927"/>
                    </a:lnTo>
                    <a:lnTo>
                      <a:pt x="3456021" y="9613"/>
                    </a:lnTo>
                    <a:cubicBezTo>
                      <a:pt x="3499926" y="28184"/>
                      <a:pt x="3530733" y="71658"/>
                      <a:pt x="3530733" y="122327"/>
                    </a:cubicBezTo>
                    <a:lnTo>
                      <a:pt x="3530733" y="2068104"/>
                    </a:lnTo>
                    <a:lnTo>
                      <a:pt x="3530733" y="2160199"/>
                    </a:lnTo>
                    <a:lnTo>
                      <a:pt x="3530733" y="4096676"/>
                    </a:lnTo>
                    <a:cubicBezTo>
                      <a:pt x="3530733" y="4166803"/>
                      <a:pt x="3473883" y="4223653"/>
                      <a:pt x="3403756" y="4223653"/>
                    </a:cubicBezTo>
                    <a:lnTo>
                      <a:pt x="126977" y="4223653"/>
                    </a:lnTo>
                    <a:cubicBezTo>
                      <a:pt x="56850" y="4223653"/>
                      <a:pt x="0" y="4166803"/>
                      <a:pt x="0" y="4096676"/>
                    </a:cubicBezTo>
                    <a:lnTo>
                      <a:pt x="0" y="2282526"/>
                    </a:lnTo>
                    <a:lnTo>
                      <a:pt x="0" y="2068104"/>
                    </a:lnTo>
                    <a:close/>
                  </a:path>
                </a:pathLst>
              </a:custGeom>
              <a:solidFill>
                <a:schemeClr val="bg1">
                  <a:lumMod val="95000"/>
                </a:schemeClr>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70" name="TextBox 69">
              <a:extLst>
                <a:ext uri="{FF2B5EF4-FFF2-40B4-BE49-F238E27FC236}">
                  <a16:creationId xmlns:a16="http://schemas.microsoft.com/office/drawing/2014/main" id="{B3AE0B63-ECD2-440C-BDDD-D17B1463323E}"/>
                </a:ext>
              </a:extLst>
            </p:cNvPr>
            <p:cNvSpPr txBox="1"/>
            <p:nvPr/>
          </p:nvSpPr>
          <p:spPr>
            <a:xfrm>
              <a:off x="761849" y="1227779"/>
              <a:ext cx="59561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01</a:t>
              </a:r>
            </a:p>
          </p:txBody>
        </p:sp>
      </p:grpSp>
      <p:grpSp>
        <p:nvGrpSpPr>
          <p:cNvPr id="44" name="Group 43">
            <a:extLst>
              <a:ext uri="{FF2B5EF4-FFF2-40B4-BE49-F238E27FC236}">
                <a16:creationId xmlns:a16="http://schemas.microsoft.com/office/drawing/2014/main" id="{3EE8B0EF-61F4-43DA-9BC9-0A6ADD559806}"/>
              </a:ext>
            </a:extLst>
          </p:cNvPr>
          <p:cNvGrpSpPr/>
          <p:nvPr/>
        </p:nvGrpSpPr>
        <p:grpSpPr>
          <a:xfrm>
            <a:off x="499629" y="3605093"/>
            <a:ext cx="6722496" cy="1053159"/>
            <a:chOff x="592704" y="1210394"/>
            <a:chExt cx="6722496" cy="1053159"/>
          </a:xfrm>
          <a:solidFill>
            <a:schemeClr val="bg1">
              <a:lumMod val="95000"/>
            </a:schemeClr>
          </a:solidFill>
        </p:grpSpPr>
        <p:grpSp>
          <p:nvGrpSpPr>
            <p:cNvPr id="47" name="Group 46">
              <a:extLst>
                <a:ext uri="{FF2B5EF4-FFF2-40B4-BE49-F238E27FC236}">
                  <a16:creationId xmlns:a16="http://schemas.microsoft.com/office/drawing/2014/main" id="{581E865B-F73E-4464-9FD3-EBE5CCC9B267}"/>
                </a:ext>
              </a:extLst>
            </p:cNvPr>
            <p:cNvGrpSpPr/>
            <p:nvPr/>
          </p:nvGrpSpPr>
          <p:grpSpPr>
            <a:xfrm>
              <a:off x="592704" y="1233714"/>
              <a:ext cx="6722496" cy="1029839"/>
              <a:chOff x="592704" y="652438"/>
              <a:chExt cx="3960215" cy="3238110"/>
            </a:xfrm>
            <a:grpFill/>
          </p:grpSpPr>
          <p:sp>
            <p:nvSpPr>
              <p:cNvPr id="49" name="Freeform: Shape 48">
                <a:extLst>
                  <a:ext uri="{FF2B5EF4-FFF2-40B4-BE49-F238E27FC236}">
                    <a16:creationId xmlns:a16="http://schemas.microsoft.com/office/drawing/2014/main" id="{DC4EB09A-D0AF-4115-8C83-A62F76FC0342}"/>
                  </a:ext>
                </a:extLst>
              </p:cNvPr>
              <p:cNvSpPr/>
              <p:nvPr/>
            </p:nvSpPr>
            <p:spPr>
              <a:xfrm>
                <a:off x="592704" y="652438"/>
                <a:ext cx="824024" cy="1144263"/>
              </a:xfrm>
              <a:custGeom>
                <a:avLst/>
                <a:gdLst>
                  <a:gd name="connsiteX0" fmla="*/ 156582 w 1398788"/>
                  <a:gd name="connsiteY0" fmla="*/ 0 h 398011"/>
                  <a:gd name="connsiteX1" fmla="*/ 981787 w 1398788"/>
                  <a:gd name="connsiteY1" fmla="*/ 0 h 398011"/>
                  <a:gd name="connsiteX2" fmla="*/ 1118577 w 1398788"/>
                  <a:gd name="connsiteY2" fmla="*/ 74289 h 398011"/>
                  <a:gd name="connsiteX3" fmla="*/ 1267657 w 1398788"/>
                  <a:gd name="connsiteY3" fmla="*/ 322842 h 398011"/>
                  <a:gd name="connsiteX4" fmla="*/ 1324918 w 1398788"/>
                  <a:gd name="connsiteY4" fmla="*/ 377778 h 398011"/>
                  <a:gd name="connsiteX5" fmla="*/ 1398788 w 1398788"/>
                  <a:gd name="connsiteY5" fmla="*/ 398011 h 398011"/>
                  <a:gd name="connsiteX6" fmla="*/ 0 w 1398788"/>
                  <a:gd name="connsiteY6" fmla="*/ 398011 h 398011"/>
                  <a:gd name="connsiteX7" fmla="*/ 0 w 1398788"/>
                  <a:gd name="connsiteY7" fmla="*/ 146378 h 398011"/>
                  <a:gd name="connsiteX8" fmla="*/ 156582 w 1398788"/>
                  <a:gd name="connsiteY8" fmla="*/ 0 h 39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8788" h="398011">
                    <a:moveTo>
                      <a:pt x="156582" y="0"/>
                    </a:moveTo>
                    <a:lnTo>
                      <a:pt x="981787" y="0"/>
                    </a:lnTo>
                    <a:cubicBezTo>
                      <a:pt x="1039089" y="0"/>
                      <a:pt x="1091283" y="27887"/>
                      <a:pt x="1118577" y="74289"/>
                    </a:cubicBezTo>
                    <a:lnTo>
                      <a:pt x="1267657" y="322842"/>
                    </a:lnTo>
                    <a:cubicBezTo>
                      <a:pt x="1281383" y="346101"/>
                      <a:pt x="1301295" y="364702"/>
                      <a:pt x="1324918" y="377778"/>
                    </a:cubicBezTo>
                    <a:lnTo>
                      <a:pt x="1398788" y="398011"/>
                    </a:lnTo>
                    <a:lnTo>
                      <a:pt x="0" y="398011"/>
                    </a:lnTo>
                    <a:lnTo>
                      <a:pt x="0" y="146378"/>
                    </a:lnTo>
                    <a:cubicBezTo>
                      <a:pt x="0" y="65031"/>
                      <a:pt x="69592" y="0"/>
                      <a:pt x="156582" y="0"/>
                    </a:cubicBezTo>
                    <a:close/>
                  </a:path>
                </a:pathLst>
              </a:custGeom>
              <a:solidFill>
                <a:srgbClr val="0097A9"/>
              </a:solidFill>
              <a:ln w="12700">
                <a:miter lim="400000"/>
              </a:ln>
            </p:spPr>
            <p:txBody>
              <a:bodyPr wrap="square" lIns="38100" tIns="38100" rIns="38100" bIns="381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2800" b="0" i="0" u="none" strike="noStrike" kern="1200" cap="none" spc="0" normalizeH="0" baseline="0" noProof="0">
                  <a:ln>
                    <a:noFill/>
                  </a:ln>
                  <a:solidFill>
                    <a:prstClr val="white"/>
                  </a:solidFill>
                  <a:effectLst>
                    <a:outerShdw blurRad="38100" dist="12700" dir="5400000" rotWithShape="0">
                      <a:srgbClr val="000000">
                        <a:alpha val="50000"/>
                      </a:srgbClr>
                    </a:outerShdw>
                  </a:effectLst>
                  <a:uLnTx/>
                  <a:uFillTx/>
                  <a:latin typeface="Verdana" panose="020B0604030504040204" pitchFamily="34" charset="0"/>
                  <a:ea typeface="Verdana" panose="020B0604030504040204" pitchFamily="34" charset="0"/>
                  <a:cs typeface="+mn-cs"/>
                </a:endParaRPr>
              </a:p>
            </p:txBody>
          </p:sp>
          <p:sp>
            <p:nvSpPr>
              <p:cNvPr id="52" name="Freeform: Shape 51">
                <a:extLst>
                  <a:ext uri="{FF2B5EF4-FFF2-40B4-BE49-F238E27FC236}">
                    <a16:creationId xmlns:a16="http://schemas.microsoft.com/office/drawing/2014/main" id="{000666A6-E1ED-43A8-81E7-E320D5AF4A22}"/>
                  </a:ext>
                </a:extLst>
              </p:cNvPr>
              <p:cNvSpPr/>
              <p:nvPr/>
            </p:nvSpPr>
            <p:spPr bwMode="gray">
              <a:xfrm>
                <a:off x="592704" y="1757850"/>
                <a:ext cx="3960215" cy="2132698"/>
              </a:xfrm>
              <a:custGeom>
                <a:avLst/>
                <a:gdLst>
                  <a:gd name="connsiteX0" fmla="*/ 0 w 3530733"/>
                  <a:gd name="connsiteY0" fmla="*/ 0 h 4223653"/>
                  <a:gd name="connsiteX1" fmla="*/ 1454116 w 3530733"/>
                  <a:gd name="connsiteY1" fmla="*/ 0 h 4223653"/>
                  <a:gd name="connsiteX2" fmla="*/ 3408406 w 3530733"/>
                  <a:gd name="connsiteY2" fmla="*/ 0 h 4223653"/>
                  <a:gd name="connsiteX3" fmla="*/ 3447668 w 3530733"/>
                  <a:gd name="connsiteY3" fmla="*/ 0 h 4223653"/>
                  <a:gd name="connsiteX4" fmla="*/ 3447668 w 3530733"/>
                  <a:gd name="connsiteY4" fmla="*/ 7927 h 4223653"/>
                  <a:gd name="connsiteX5" fmla="*/ 3456021 w 3530733"/>
                  <a:gd name="connsiteY5" fmla="*/ 9613 h 4223653"/>
                  <a:gd name="connsiteX6" fmla="*/ 3530733 w 3530733"/>
                  <a:gd name="connsiteY6" fmla="*/ 122327 h 4223653"/>
                  <a:gd name="connsiteX7" fmla="*/ 3530733 w 3530733"/>
                  <a:gd name="connsiteY7" fmla="*/ 2068104 h 4223653"/>
                  <a:gd name="connsiteX8" fmla="*/ 3530733 w 3530733"/>
                  <a:gd name="connsiteY8" fmla="*/ 2160199 h 4223653"/>
                  <a:gd name="connsiteX9" fmla="*/ 3530733 w 3530733"/>
                  <a:gd name="connsiteY9" fmla="*/ 4096676 h 4223653"/>
                  <a:gd name="connsiteX10" fmla="*/ 3403756 w 3530733"/>
                  <a:gd name="connsiteY10" fmla="*/ 4223653 h 4223653"/>
                  <a:gd name="connsiteX11" fmla="*/ 126977 w 3530733"/>
                  <a:gd name="connsiteY11" fmla="*/ 4223653 h 4223653"/>
                  <a:gd name="connsiteX12" fmla="*/ 0 w 3530733"/>
                  <a:gd name="connsiteY12" fmla="*/ 4096676 h 4223653"/>
                  <a:gd name="connsiteX13" fmla="*/ 0 w 3530733"/>
                  <a:gd name="connsiteY13" fmla="*/ 2282526 h 4223653"/>
                  <a:gd name="connsiteX14" fmla="*/ 0 w 3530733"/>
                  <a:gd name="connsiteY14" fmla="*/ 2068104 h 422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30733" h="4223653">
                    <a:moveTo>
                      <a:pt x="0" y="0"/>
                    </a:moveTo>
                    <a:lnTo>
                      <a:pt x="1454116" y="0"/>
                    </a:lnTo>
                    <a:lnTo>
                      <a:pt x="3408406" y="0"/>
                    </a:lnTo>
                    <a:lnTo>
                      <a:pt x="3447668" y="0"/>
                    </a:lnTo>
                    <a:lnTo>
                      <a:pt x="3447668" y="7927"/>
                    </a:lnTo>
                    <a:lnTo>
                      <a:pt x="3456021" y="9613"/>
                    </a:lnTo>
                    <a:cubicBezTo>
                      <a:pt x="3499926" y="28184"/>
                      <a:pt x="3530733" y="71658"/>
                      <a:pt x="3530733" y="122327"/>
                    </a:cubicBezTo>
                    <a:lnTo>
                      <a:pt x="3530733" y="2068104"/>
                    </a:lnTo>
                    <a:lnTo>
                      <a:pt x="3530733" y="2160199"/>
                    </a:lnTo>
                    <a:lnTo>
                      <a:pt x="3530733" y="4096676"/>
                    </a:lnTo>
                    <a:cubicBezTo>
                      <a:pt x="3530733" y="4166803"/>
                      <a:pt x="3473883" y="4223653"/>
                      <a:pt x="3403756" y="4223653"/>
                    </a:cubicBezTo>
                    <a:lnTo>
                      <a:pt x="126977" y="4223653"/>
                    </a:lnTo>
                    <a:cubicBezTo>
                      <a:pt x="56850" y="4223653"/>
                      <a:pt x="0" y="4166803"/>
                      <a:pt x="0" y="4096676"/>
                    </a:cubicBezTo>
                    <a:lnTo>
                      <a:pt x="0" y="2282526"/>
                    </a:lnTo>
                    <a:lnTo>
                      <a:pt x="0" y="2068104"/>
                    </a:lnTo>
                    <a:close/>
                  </a:path>
                </a:pathLst>
              </a:custGeom>
              <a:grp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46" name="TextBox 45">
              <a:extLst>
                <a:ext uri="{FF2B5EF4-FFF2-40B4-BE49-F238E27FC236}">
                  <a16:creationId xmlns:a16="http://schemas.microsoft.com/office/drawing/2014/main" id="{2AB3CDB6-D83C-45B8-B516-C8742FC887A5}"/>
                </a:ext>
              </a:extLst>
            </p:cNvPr>
            <p:cNvSpPr txBox="1"/>
            <p:nvPr/>
          </p:nvSpPr>
          <p:spPr>
            <a:xfrm>
              <a:off x="761849" y="1210394"/>
              <a:ext cx="59561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02</a:t>
              </a:r>
            </a:p>
          </p:txBody>
        </p:sp>
      </p:grpSp>
      <p:grpSp>
        <p:nvGrpSpPr>
          <p:cNvPr id="53" name="Group 52">
            <a:extLst>
              <a:ext uri="{FF2B5EF4-FFF2-40B4-BE49-F238E27FC236}">
                <a16:creationId xmlns:a16="http://schemas.microsoft.com/office/drawing/2014/main" id="{07E72573-BBCA-4EE1-86E6-49427230FFBD}"/>
              </a:ext>
            </a:extLst>
          </p:cNvPr>
          <p:cNvGrpSpPr/>
          <p:nvPr/>
        </p:nvGrpSpPr>
        <p:grpSpPr>
          <a:xfrm>
            <a:off x="486377" y="4745551"/>
            <a:ext cx="6722496" cy="1465352"/>
            <a:chOff x="592704" y="1210394"/>
            <a:chExt cx="6722496" cy="1465352"/>
          </a:xfrm>
        </p:grpSpPr>
        <p:grpSp>
          <p:nvGrpSpPr>
            <p:cNvPr id="56" name="Group 55">
              <a:extLst>
                <a:ext uri="{FF2B5EF4-FFF2-40B4-BE49-F238E27FC236}">
                  <a16:creationId xmlns:a16="http://schemas.microsoft.com/office/drawing/2014/main" id="{66CC3954-5777-452B-91B3-96AD65E77D03}"/>
                </a:ext>
              </a:extLst>
            </p:cNvPr>
            <p:cNvGrpSpPr/>
            <p:nvPr/>
          </p:nvGrpSpPr>
          <p:grpSpPr>
            <a:xfrm>
              <a:off x="592704" y="1233714"/>
              <a:ext cx="6722496" cy="1442032"/>
              <a:chOff x="592704" y="652438"/>
              <a:chExt cx="3960215" cy="4534164"/>
            </a:xfrm>
          </p:grpSpPr>
          <p:sp>
            <p:nvSpPr>
              <p:cNvPr id="73" name="Freeform: Shape 72">
                <a:extLst>
                  <a:ext uri="{FF2B5EF4-FFF2-40B4-BE49-F238E27FC236}">
                    <a16:creationId xmlns:a16="http://schemas.microsoft.com/office/drawing/2014/main" id="{B2CE3167-B32F-4A1B-9D00-4D5E6F2A89C6}"/>
                  </a:ext>
                </a:extLst>
              </p:cNvPr>
              <p:cNvSpPr/>
              <p:nvPr/>
            </p:nvSpPr>
            <p:spPr>
              <a:xfrm>
                <a:off x="592704" y="652438"/>
                <a:ext cx="824024" cy="1144263"/>
              </a:xfrm>
              <a:custGeom>
                <a:avLst/>
                <a:gdLst>
                  <a:gd name="connsiteX0" fmla="*/ 156582 w 1398788"/>
                  <a:gd name="connsiteY0" fmla="*/ 0 h 398011"/>
                  <a:gd name="connsiteX1" fmla="*/ 981787 w 1398788"/>
                  <a:gd name="connsiteY1" fmla="*/ 0 h 398011"/>
                  <a:gd name="connsiteX2" fmla="*/ 1118577 w 1398788"/>
                  <a:gd name="connsiteY2" fmla="*/ 74289 h 398011"/>
                  <a:gd name="connsiteX3" fmla="*/ 1267657 w 1398788"/>
                  <a:gd name="connsiteY3" fmla="*/ 322842 h 398011"/>
                  <a:gd name="connsiteX4" fmla="*/ 1324918 w 1398788"/>
                  <a:gd name="connsiteY4" fmla="*/ 377778 h 398011"/>
                  <a:gd name="connsiteX5" fmla="*/ 1398788 w 1398788"/>
                  <a:gd name="connsiteY5" fmla="*/ 398011 h 398011"/>
                  <a:gd name="connsiteX6" fmla="*/ 0 w 1398788"/>
                  <a:gd name="connsiteY6" fmla="*/ 398011 h 398011"/>
                  <a:gd name="connsiteX7" fmla="*/ 0 w 1398788"/>
                  <a:gd name="connsiteY7" fmla="*/ 146378 h 398011"/>
                  <a:gd name="connsiteX8" fmla="*/ 156582 w 1398788"/>
                  <a:gd name="connsiteY8" fmla="*/ 0 h 39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98788" h="398011">
                    <a:moveTo>
                      <a:pt x="156582" y="0"/>
                    </a:moveTo>
                    <a:lnTo>
                      <a:pt x="981787" y="0"/>
                    </a:lnTo>
                    <a:cubicBezTo>
                      <a:pt x="1039089" y="0"/>
                      <a:pt x="1091283" y="27887"/>
                      <a:pt x="1118577" y="74289"/>
                    </a:cubicBezTo>
                    <a:lnTo>
                      <a:pt x="1267657" y="322842"/>
                    </a:lnTo>
                    <a:cubicBezTo>
                      <a:pt x="1281383" y="346101"/>
                      <a:pt x="1301295" y="364702"/>
                      <a:pt x="1324918" y="377778"/>
                    </a:cubicBezTo>
                    <a:lnTo>
                      <a:pt x="1398788" y="398011"/>
                    </a:lnTo>
                    <a:lnTo>
                      <a:pt x="0" y="398011"/>
                    </a:lnTo>
                    <a:lnTo>
                      <a:pt x="0" y="146378"/>
                    </a:lnTo>
                    <a:cubicBezTo>
                      <a:pt x="0" y="65031"/>
                      <a:pt x="69592" y="0"/>
                      <a:pt x="156582" y="0"/>
                    </a:cubicBezTo>
                    <a:close/>
                  </a:path>
                </a:pathLst>
              </a:custGeom>
              <a:solidFill>
                <a:srgbClr val="86BC25"/>
              </a:solidFill>
              <a:ln w="12700">
                <a:miter lim="400000"/>
              </a:ln>
            </p:spPr>
            <p:txBody>
              <a:bodyPr wrap="square" lIns="38100" tIns="38100" rIns="38100" bIns="381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2800" b="0" i="0" u="none" strike="noStrike" kern="1200" cap="none" spc="0" normalizeH="0" baseline="0" noProof="0">
                  <a:ln>
                    <a:noFill/>
                  </a:ln>
                  <a:solidFill>
                    <a:prstClr val="white"/>
                  </a:solidFill>
                  <a:effectLst>
                    <a:outerShdw blurRad="38100" dist="12700" dir="5400000" rotWithShape="0">
                      <a:srgbClr val="000000">
                        <a:alpha val="50000"/>
                      </a:srgbClr>
                    </a:outerShdw>
                  </a:effectLst>
                  <a:uLnTx/>
                  <a:uFillTx/>
                  <a:latin typeface="Verdana" panose="020B0604030504040204" pitchFamily="34" charset="0"/>
                  <a:ea typeface="Verdana" panose="020B0604030504040204" pitchFamily="34" charset="0"/>
                  <a:cs typeface="+mn-cs"/>
                </a:endParaRPr>
              </a:p>
            </p:txBody>
          </p:sp>
          <p:sp>
            <p:nvSpPr>
              <p:cNvPr id="74" name="Freeform: Shape 73">
                <a:extLst>
                  <a:ext uri="{FF2B5EF4-FFF2-40B4-BE49-F238E27FC236}">
                    <a16:creationId xmlns:a16="http://schemas.microsoft.com/office/drawing/2014/main" id="{39D04F46-5C39-40A2-8770-5CD1FA58168F}"/>
                  </a:ext>
                </a:extLst>
              </p:cNvPr>
              <p:cNvSpPr/>
              <p:nvPr/>
            </p:nvSpPr>
            <p:spPr bwMode="gray">
              <a:xfrm>
                <a:off x="592704" y="1757850"/>
                <a:ext cx="3960215" cy="3428752"/>
              </a:xfrm>
              <a:custGeom>
                <a:avLst/>
                <a:gdLst>
                  <a:gd name="connsiteX0" fmla="*/ 0 w 3530733"/>
                  <a:gd name="connsiteY0" fmla="*/ 0 h 4223653"/>
                  <a:gd name="connsiteX1" fmla="*/ 1454116 w 3530733"/>
                  <a:gd name="connsiteY1" fmla="*/ 0 h 4223653"/>
                  <a:gd name="connsiteX2" fmla="*/ 3408406 w 3530733"/>
                  <a:gd name="connsiteY2" fmla="*/ 0 h 4223653"/>
                  <a:gd name="connsiteX3" fmla="*/ 3447668 w 3530733"/>
                  <a:gd name="connsiteY3" fmla="*/ 0 h 4223653"/>
                  <a:gd name="connsiteX4" fmla="*/ 3447668 w 3530733"/>
                  <a:gd name="connsiteY4" fmla="*/ 7927 h 4223653"/>
                  <a:gd name="connsiteX5" fmla="*/ 3456021 w 3530733"/>
                  <a:gd name="connsiteY5" fmla="*/ 9613 h 4223653"/>
                  <a:gd name="connsiteX6" fmla="*/ 3530733 w 3530733"/>
                  <a:gd name="connsiteY6" fmla="*/ 122327 h 4223653"/>
                  <a:gd name="connsiteX7" fmla="*/ 3530733 w 3530733"/>
                  <a:gd name="connsiteY7" fmla="*/ 2068104 h 4223653"/>
                  <a:gd name="connsiteX8" fmla="*/ 3530733 w 3530733"/>
                  <a:gd name="connsiteY8" fmla="*/ 2160199 h 4223653"/>
                  <a:gd name="connsiteX9" fmla="*/ 3530733 w 3530733"/>
                  <a:gd name="connsiteY9" fmla="*/ 4096676 h 4223653"/>
                  <a:gd name="connsiteX10" fmla="*/ 3403756 w 3530733"/>
                  <a:gd name="connsiteY10" fmla="*/ 4223653 h 4223653"/>
                  <a:gd name="connsiteX11" fmla="*/ 126977 w 3530733"/>
                  <a:gd name="connsiteY11" fmla="*/ 4223653 h 4223653"/>
                  <a:gd name="connsiteX12" fmla="*/ 0 w 3530733"/>
                  <a:gd name="connsiteY12" fmla="*/ 4096676 h 4223653"/>
                  <a:gd name="connsiteX13" fmla="*/ 0 w 3530733"/>
                  <a:gd name="connsiteY13" fmla="*/ 2282526 h 4223653"/>
                  <a:gd name="connsiteX14" fmla="*/ 0 w 3530733"/>
                  <a:gd name="connsiteY14" fmla="*/ 2068104 h 422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530733" h="4223653">
                    <a:moveTo>
                      <a:pt x="0" y="0"/>
                    </a:moveTo>
                    <a:lnTo>
                      <a:pt x="1454116" y="0"/>
                    </a:lnTo>
                    <a:lnTo>
                      <a:pt x="3408406" y="0"/>
                    </a:lnTo>
                    <a:lnTo>
                      <a:pt x="3447668" y="0"/>
                    </a:lnTo>
                    <a:lnTo>
                      <a:pt x="3447668" y="7927"/>
                    </a:lnTo>
                    <a:lnTo>
                      <a:pt x="3456021" y="9613"/>
                    </a:lnTo>
                    <a:cubicBezTo>
                      <a:pt x="3499926" y="28184"/>
                      <a:pt x="3530733" y="71658"/>
                      <a:pt x="3530733" y="122327"/>
                    </a:cubicBezTo>
                    <a:lnTo>
                      <a:pt x="3530733" y="2068104"/>
                    </a:lnTo>
                    <a:lnTo>
                      <a:pt x="3530733" y="2160199"/>
                    </a:lnTo>
                    <a:lnTo>
                      <a:pt x="3530733" y="4096676"/>
                    </a:lnTo>
                    <a:cubicBezTo>
                      <a:pt x="3530733" y="4166803"/>
                      <a:pt x="3473883" y="4223653"/>
                      <a:pt x="3403756" y="4223653"/>
                    </a:cubicBezTo>
                    <a:lnTo>
                      <a:pt x="126977" y="4223653"/>
                    </a:lnTo>
                    <a:cubicBezTo>
                      <a:pt x="56850" y="4223653"/>
                      <a:pt x="0" y="4166803"/>
                      <a:pt x="0" y="4096676"/>
                    </a:cubicBezTo>
                    <a:lnTo>
                      <a:pt x="0" y="2282526"/>
                    </a:lnTo>
                    <a:lnTo>
                      <a:pt x="0" y="2068104"/>
                    </a:lnTo>
                    <a:close/>
                  </a:path>
                </a:pathLst>
              </a:custGeom>
              <a:solidFill>
                <a:schemeClr val="bg1">
                  <a:lumMod val="95000"/>
                </a:schemeClr>
              </a:solidFill>
              <a:ln w="19050" algn="ctr">
                <a:noFill/>
                <a:miter lim="800000"/>
                <a:headEnd/>
                <a:tailEnd/>
              </a:ln>
            </p:spPr>
            <p:txBody>
              <a:bodyPr wrap="square" lIns="88900" tIns="88900" rIns="88900" bIns="88900" rtlCol="0" anchor="ctr">
                <a:no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endParaRPr>
              </a:p>
            </p:txBody>
          </p:sp>
        </p:grpSp>
        <p:sp>
          <p:nvSpPr>
            <p:cNvPr id="55" name="TextBox 54">
              <a:extLst>
                <a:ext uri="{FF2B5EF4-FFF2-40B4-BE49-F238E27FC236}">
                  <a16:creationId xmlns:a16="http://schemas.microsoft.com/office/drawing/2014/main" id="{6D0978F5-6E86-4614-B55B-C27C64703121}"/>
                </a:ext>
              </a:extLst>
            </p:cNvPr>
            <p:cNvSpPr txBox="1"/>
            <p:nvPr/>
          </p:nvSpPr>
          <p:spPr>
            <a:xfrm>
              <a:off x="761849" y="1210394"/>
              <a:ext cx="595618"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03</a:t>
              </a:r>
            </a:p>
          </p:txBody>
        </p:sp>
      </p:grpSp>
      <p:graphicFrame>
        <p:nvGraphicFramePr>
          <p:cNvPr id="12" name="Table 12">
            <a:extLst>
              <a:ext uri="{FF2B5EF4-FFF2-40B4-BE49-F238E27FC236}">
                <a16:creationId xmlns:a16="http://schemas.microsoft.com/office/drawing/2014/main" id="{E3E55958-7B34-498D-8B67-6FD779D2214D}"/>
              </a:ext>
            </a:extLst>
          </p:cNvPr>
          <p:cNvGraphicFramePr>
            <a:graphicFrameLocks noGrp="1"/>
          </p:cNvGraphicFramePr>
          <p:nvPr>
            <p:extLst>
              <p:ext uri="{D42A27DB-BD31-4B8C-83A1-F6EECF244321}">
                <p14:modId xmlns:p14="http://schemas.microsoft.com/office/powerpoint/2010/main" val="1404224202"/>
              </p:ext>
            </p:extLst>
          </p:nvPr>
        </p:nvGraphicFramePr>
        <p:xfrm>
          <a:off x="650896" y="2545338"/>
          <a:ext cx="6387653" cy="936292"/>
        </p:xfrm>
        <a:graphic>
          <a:graphicData uri="http://schemas.openxmlformats.org/drawingml/2006/table">
            <a:tbl>
              <a:tblPr>
                <a:tableStyleId>{5C22544A-7EE6-4342-B048-85BDC9FD1C3A}</a:tableStyleId>
              </a:tblPr>
              <a:tblGrid>
                <a:gridCol w="920461">
                  <a:extLst>
                    <a:ext uri="{9D8B030D-6E8A-4147-A177-3AD203B41FA5}">
                      <a16:colId xmlns:a16="http://schemas.microsoft.com/office/drawing/2014/main" val="299852128"/>
                    </a:ext>
                  </a:extLst>
                </a:gridCol>
                <a:gridCol w="5467192">
                  <a:extLst>
                    <a:ext uri="{9D8B030D-6E8A-4147-A177-3AD203B41FA5}">
                      <a16:colId xmlns:a16="http://schemas.microsoft.com/office/drawing/2014/main" val="1495043056"/>
                    </a:ext>
                  </a:extLst>
                </a:gridCol>
              </a:tblGrid>
              <a:tr h="468146">
                <a:tc>
                  <a:txBody>
                    <a:bodyPr/>
                    <a:lstStyle/>
                    <a:p>
                      <a:r>
                        <a:rPr lang="en-US" sz="1200" b="1" i="1" dirty="0">
                          <a:latin typeface="Verdana" panose="020B0604030504040204" pitchFamily="34" charset="0"/>
                          <a:ea typeface="Verdana" panose="020B0604030504040204" pitchFamily="34" charset="0"/>
                        </a:rPr>
                        <a:t>LOAN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effectLst/>
                          <a:latin typeface="Verdana" panose="020B0604030504040204" pitchFamily="34" charset="0"/>
                          <a:ea typeface="Verdana" panose="020B0604030504040204" pitchFamily="34" charset="0"/>
                          <a:cs typeface="Times New Roman" panose="02020603050405020304" pitchFamily="18" charset="0"/>
                        </a:rPr>
                        <a:t>70 percent </a:t>
                      </a:r>
                      <a:r>
                        <a:rPr lang="en-US" sz="1200" dirty="0">
                          <a:effectLst/>
                          <a:latin typeface="Verdana" panose="020B0604030504040204" pitchFamily="34" charset="0"/>
                          <a:ea typeface="Verdana" panose="020B0604030504040204" pitchFamily="34" charset="0"/>
                          <a:cs typeface="Times New Roman" panose="02020603050405020304" pitchFamily="18" charset="0"/>
                        </a:rPr>
                        <a:t>i.e., Rs. 3,500 crore as loan on the guarantee of the state government from a multilateral development bank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0687337"/>
                  </a:ext>
                </a:extLst>
              </a:tr>
              <a:tr h="468146">
                <a:tc>
                  <a:txBody>
                    <a:bodyPr/>
                    <a:lstStyle/>
                    <a:p>
                      <a:r>
                        <a:rPr lang="en-US" sz="1200" b="1" i="1" dirty="0">
                          <a:latin typeface="Verdana" panose="020B0604030504040204" pitchFamily="34" charset="0"/>
                          <a:ea typeface="Verdana" panose="020B0604030504040204" pitchFamily="34" charset="0"/>
                        </a:rPr>
                        <a:t>EQUITY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b="1" dirty="0">
                          <a:effectLst/>
                          <a:latin typeface="Verdana" panose="020B0604030504040204" pitchFamily="34" charset="0"/>
                          <a:ea typeface="Verdana" panose="020B0604030504040204" pitchFamily="34" charset="0"/>
                          <a:cs typeface="Times New Roman" panose="02020603050405020304" pitchFamily="18" charset="0"/>
                        </a:rPr>
                        <a:t>30 percent </a:t>
                      </a:r>
                      <a:r>
                        <a:rPr lang="en-US" sz="1200" dirty="0">
                          <a:effectLst/>
                          <a:latin typeface="Verdana" panose="020B0604030504040204" pitchFamily="34" charset="0"/>
                          <a:ea typeface="Verdana" panose="020B0604030504040204" pitchFamily="34" charset="0"/>
                          <a:cs typeface="Times New Roman" panose="02020603050405020304" pitchFamily="18" charset="0"/>
                        </a:rPr>
                        <a:t>i.e., Rs. 1,500 crore is proposed to be borne by the state government of Jharkhand</a:t>
                      </a:r>
                      <a:endParaRPr lang="en-US" sz="1200" dirty="0">
                        <a:latin typeface="Verdana" panose="020B0604030504040204" pitchFamily="34" charset="0"/>
                        <a:ea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94700100"/>
                  </a:ext>
                </a:extLst>
              </a:tr>
            </a:tbl>
          </a:graphicData>
        </a:graphic>
      </p:graphicFrame>
      <p:graphicFrame>
        <p:nvGraphicFramePr>
          <p:cNvPr id="81" name="Table 12">
            <a:extLst>
              <a:ext uri="{FF2B5EF4-FFF2-40B4-BE49-F238E27FC236}">
                <a16:creationId xmlns:a16="http://schemas.microsoft.com/office/drawing/2014/main" id="{E88956DB-12C7-4D9F-AA18-E803A8B5F105}"/>
              </a:ext>
            </a:extLst>
          </p:cNvPr>
          <p:cNvGraphicFramePr>
            <a:graphicFrameLocks noGrp="1"/>
          </p:cNvGraphicFramePr>
          <p:nvPr>
            <p:extLst>
              <p:ext uri="{D42A27DB-BD31-4B8C-83A1-F6EECF244321}">
                <p14:modId xmlns:p14="http://schemas.microsoft.com/office/powerpoint/2010/main" val="1178857765"/>
              </p:ext>
            </p:extLst>
          </p:nvPr>
        </p:nvGraphicFramePr>
        <p:xfrm>
          <a:off x="650896" y="4084036"/>
          <a:ext cx="6387653" cy="678277"/>
        </p:xfrm>
        <a:graphic>
          <a:graphicData uri="http://schemas.openxmlformats.org/drawingml/2006/table">
            <a:tbl>
              <a:tblPr>
                <a:tableStyleId>{5C22544A-7EE6-4342-B048-85BDC9FD1C3A}</a:tableStyleId>
              </a:tblPr>
              <a:tblGrid>
                <a:gridCol w="920461">
                  <a:extLst>
                    <a:ext uri="{9D8B030D-6E8A-4147-A177-3AD203B41FA5}">
                      <a16:colId xmlns:a16="http://schemas.microsoft.com/office/drawing/2014/main" val="299852128"/>
                    </a:ext>
                  </a:extLst>
                </a:gridCol>
                <a:gridCol w="5467192">
                  <a:extLst>
                    <a:ext uri="{9D8B030D-6E8A-4147-A177-3AD203B41FA5}">
                      <a16:colId xmlns:a16="http://schemas.microsoft.com/office/drawing/2014/main" val="1495043056"/>
                    </a:ext>
                  </a:extLst>
                </a:gridCol>
              </a:tblGrid>
              <a:tr h="678277">
                <a:tc>
                  <a:txBody>
                    <a:bodyPr/>
                    <a:lstStyle/>
                    <a:p>
                      <a:r>
                        <a:rPr lang="en-US" sz="1200" b="1" i="1" dirty="0">
                          <a:latin typeface="Verdana" panose="020B0604030504040204" pitchFamily="34" charset="0"/>
                          <a:ea typeface="Verdana" panose="020B0604030504040204" pitchFamily="34" charset="0"/>
                        </a:rPr>
                        <a:t>PPP Mode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Verdana" panose="020B0604030504040204" pitchFamily="34" charset="0"/>
                          <a:ea typeface="Verdana" panose="020B0604030504040204" pitchFamily="34" charset="0"/>
                          <a:cs typeface="Times New Roman" panose="02020603050405020304" pitchFamily="18" charset="0"/>
                        </a:rPr>
                        <a:t>Total 1,000 MW capacity can be approved on PPP mode, under which the plant will be installed by private investors at private cost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0687337"/>
                  </a:ext>
                </a:extLst>
              </a:tr>
            </a:tbl>
          </a:graphicData>
        </a:graphic>
      </p:graphicFrame>
      <p:graphicFrame>
        <p:nvGraphicFramePr>
          <p:cNvPr id="82" name="Table 12">
            <a:extLst>
              <a:ext uri="{FF2B5EF4-FFF2-40B4-BE49-F238E27FC236}">
                <a16:creationId xmlns:a16="http://schemas.microsoft.com/office/drawing/2014/main" id="{002AA20E-00AA-430D-B93C-AE2A401AF8D3}"/>
              </a:ext>
            </a:extLst>
          </p:cNvPr>
          <p:cNvGraphicFramePr>
            <a:graphicFrameLocks noGrp="1"/>
          </p:cNvGraphicFramePr>
          <p:nvPr>
            <p:extLst>
              <p:ext uri="{D42A27DB-BD31-4B8C-83A1-F6EECF244321}">
                <p14:modId xmlns:p14="http://schemas.microsoft.com/office/powerpoint/2010/main" val="4191083306"/>
              </p:ext>
            </p:extLst>
          </p:nvPr>
        </p:nvGraphicFramePr>
        <p:xfrm>
          <a:off x="637623" y="5184864"/>
          <a:ext cx="6387653" cy="936292"/>
        </p:xfrm>
        <a:graphic>
          <a:graphicData uri="http://schemas.openxmlformats.org/drawingml/2006/table">
            <a:tbl>
              <a:tblPr>
                <a:tableStyleId>{5C22544A-7EE6-4342-B048-85BDC9FD1C3A}</a:tableStyleId>
              </a:tblPr>
              <a:tblGrid>
                <a:gridCol w="992085">
                  <a:extLst>
                    <a:ext uri="{9D8B030D-6E8A-4147-A177-3AD203B41FA5}">
                      <a16:colId xmlns:a16="http://schemas.microsoft.com/office/drawing/2014/main" val="299852128"/>
                    </a:ext>
                  </a:extLst>
                </a:gridCol>
                <a:gridCol w="5395568">
                  <a:extLst>
                    <a:ext uri="{9D8B030D-6E8A-4147-A177-3AD203B41FA5}">
                      <a16:colId xmlns:a16="http://schemas.microsoft.com/office/drawing/2014/main" val="1495043056"/>
                    </a:ext>
                  </a:extLst>
                </a:gridCol>
              </a:tblGrid>
              <a:tr h="468146">
                <a:tc>
                  <a:txBody>
                    <a:bodyPr/>
                    <a:lstStyle/>
                    <a:p>
                      <a:r>
                        <a:rPr lang="en-US" sz="1200" b="1" i="1" dirty="0">
                          <a:latin typeface="Verdana" panose="020B0604030504040204" pitchFamily="34" charset="0"/>
                          <a:ea typeface="Verdana" panose="020B0604030504040204" pitchFamily="34" charset="0"/>
                        </a:rPr>
                        <a:t>PPP Mode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Verdana" panose="020B0604030504040204" pitchFamily="34" charset="0"/>
                          <a:ea typeface="Verdana" panose="020B0604030504040204" pitchFamily="34" charset="0"/>
                          <a:cs typeface="Times New Roman" panose="02020603050405020304" pitchFamily="18" charset="0"/>
                        </a:rPr>
                        <a:t>Out of the estimated amount is Rs 5,000 crore, </a:t>
                      </a:r>
                      <a:r>
                        <a:rPr lang="en-US" sz="1200" b="1" i="1" dirty="0">
                          <a:effectLst/>
                          <a:latin typeface="Verdana" panose="020B0604030504040204" pitchFamily="34" charset="0"/>
                          <a:ea typeface="Verdana" panose="020B0604030504040204" pitchFamily="34" charset="0"/>
                          <a:cs typeface="Times New Roman" panose="02020603050405020304" pitchFamily="18" charset="0"/>
                        </a:rPr>
                        <a:t>50 percent</a:t>
                      </a:r>
                      <a:r>
                        <a:rPr lang="en-US" sz="1200" dirty="0">
                          <a:effectLst/>
                          <a:latin typeface="Verdana" panose="020B0604030504040204" pitchFamily="34" charset="0"/>
                          <a:ea typeface="Verdana" panose="020B0604030504040204" pitchFamily="34" charset="0"/>
                          <a:cs typeface="Times New Roman" panose="02020603050405020304" pitchFamily="18" charset="0"/>
                        </a:rPr>
                        <a:t> of the capacity to be done on PPP mode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0687337"/>
                  </a:ext>
                </a:extLst>
              </a:tr>
              <a:tr h="468146">
                <a:tc>
                  <a:txBody>
                    <a:bodyPr/>
                    <a:lstStyle/>
                    <a:p>
                      <a:r>
                        <a:rPr lang="en-US" sz="1200" b="1" i="1" dirty="0">
                          <a:latin typeface="Verdana" panose="020B0604030504040204" pitchFamily="34" charset="0"/>
                          <a:ea typeface="Verdana" panose="020B0604030504040204" pitchFamily="34" charset="0"/>
                        </a:rPr>
                        <a:t>LOAN + EQUITY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dirty="0">
                          <a:effectLst/>
                          <a:latin typeface="Verdana" panose="020B0604030504040204" pitchFamily="34" charset="0"/>
                          <a:ea typeface="Verdana" panose="020B0604030504040204" pitchFamily="34" charset="0"/>
                          <a:cs typeface="Times New Roman" panose="02020603050405020304" pitchFamily="18" charset="0"/>
                        </a:rPr>
                        <a:t>Remaining </a:t>
                      </a:r>
                      <a:r>
                        <a:rPr lang="en-US" sz="1200" b="1" i="1" dirty="0">
                          <a:effectLst/>
                          <a:latin typeface="Verdana" panose="020B0604030504040204" pitchFamily="34" charset="0"/>
                          <a:ea typeface="Verdana" panose="020B0604030504040204" pitchFamily="34" charset="0"/>
                          <a:cs typeface="Times New Roman" panose="02020603050405020304" pitchFamily="18" charset="0"/>
                        </a:rPr>
                        <a:t>50 percent </a:t>
                      </a:r>
                      <a:r>
                        <a:rPr lang="en-US" sz="1200" dirty="0">
                          <a:effectLst/>
                          <a:latin typeface="Verdana" panose="020B0604030504040204" pitchFamily="34" charset="0"/>
                          <a:ea typeface="Verdana" panose="020B0604030504040204" pitchFamily="34" charset="0"/>
                          <a:cs typeface="Times New Roman" panose="02020603050405020304" pitchFamily="18" charset="0"/>
                        </a:rPr>
                        <a:t>divided as 70 percent loan and remaining 30 percent as equity</a:t>
                      </a:r>
                      <a:endParaRPr lang="en-US" sz="1200" dirty="0">
                        <a:latin typeface="Verdana" panose="020B0604030504040204" pitchFamily="34" charset="0"/>
                        <a:ea typeface="Verdana" panose="020B060403050404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94700100"/>
                  </a:ext>
                </a:extLst>
              </a:tr>
            </a:tbl>
          </a:graphicData>
        </a:graphic>
      </p:graphicFrame>
      <p:grpSp>
        <p:nvGrpSpPr>
          <p:cNvPr id="86" name="Group 85">
            <a:extLst>
              <a:ext uri="{FF2B5EF4-FFF2-40B4-BE49-F238E27FC236}">
                <a16:creationId xmlns:a16="http://schemas.microsoft.com/office/drawing/2014/main" id="{3ED1623C-42EF-4639-927D-9D330717C288}"/>
              </a:ext>
            </a:extLst>
          </p:cNvPr>
          <p:cNvGrpSpPr/>
          <p:nvPr/>
        </p:nvGrpSpPr>
        <p:grpSpPr>
          <a:xfrm>
            <a:off x="8545915" y="2228267"/>
            <a:ext cx="2934888" cy="1393372"/>
            <a:chOff x="470090" y="2884063"/>
            <a:chExt cx="3687240" cy="1757813"/>
          </a:xfrm>
        </p:grpSpPr>
        <p:sp>
          <p:nvSpPr>
            <p:cNvPr id="87" name="Text Box 10">
              <a:extLst>
                <a:ext uri="{FF2B5EF4-FFF2-40B4-BE49-F238E27FC236}">
                  <a16:creationId xmlns:a16="http://schemas.microsoft.com/office/drawing/2014/main" id="{852CE0B1-76F0-46D0-8F98-A6EAF1D15A59}"/>
                </a:ext>
              </a:extLst>
            </p:cNvPr>
            <p:cNvSpPr txBox="1">
              <a:spLocks noChangeArrowheads="1"/>
            </p:cNvSpPr>
            <p:nvPr/>
          </p:nvSpPr>
          <p:spPr bwMode="auto">
            <a:xfrm>
              <a:off x="470090" y="2884063"/>
              <a:ext cx="3687240" cy="366213"/>
            </a:xfrm>
            <a:prstGeom prst="rect">
              <a:avLst/>
            </a:prstGeom>
            <a:solidFill>
              <a:srgbClr val="009A44">
                <a:alpha val="70000"/>
              </a:srgbClr>
            </a:solidFill>
            <a:ln w="12700" algn="ctr">
              <a:solidFill>
                <a:srgbClr val="009A44"/>
              </a:solid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prstClr val="white"/>
                  </a:solidFill>
                  <a:effectLst/>
                  <a:uLnTx/>
                  <a:uFillTx/>
                  <a:latin typeface="Verdana" panose="020B0604030504040204" pitchFamily="34" charset="0"/>
                  <a:ea typeface="Verdana" panose="020B0604030504040204" pitchFamily="34" charset="0"/>
                  <a:cs typeface="Arial" pitchFamily="34" charset="0"/>
                </a:rPr>
                <a:t>Tenughat</a:t>
              </a:r>
              <a:r>
                <a:rPr kumimoji="0" lang="en-US" sz="13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itchFamily="34" charset="0"/>
                </a:rPr>
                <a:t> Reservoir, Bokaro</a:t>
              </a:r>
            </a:p>
          </p:txBody>
        </p:sp>
        <p:sp>
          <p:nvSpPr>
            <p:cNvPr id="88" name="Rectangle 11">
              <a:extLst>
                <a:ext uri="{FF2B5EF4-FFF2-40B4-BE49-F238E27FC236}">
                  <a16:creationId xmlns:a16="http://schemas.microsoft.com/office/drawing/2014/main" id="{E8482E04-FB14-4641-842C-6FE96613775E}"/>
                </a:ext>
              </a:extLst>
            </p:cNvPr>
            <p:cNvSpPr>
              <a:spLocks noChangeArrowheads="1"/>
            </p:cNvSpPr>
            <p:nvPr/>
          </p:nvSpPr>
          <p:spPr bwMode="auto">
            <a:xfrm>
              <a:off x="470090" y="3266191"/>
              <a:ext cx="3687240" cy="1375685"/>
            </a:xfrm>
            <a:prstGeom prst="rect">
              <a:avLst/>
            </a:prstGeom>
            <a:solidFill>
              <a:schemeClr val="bg1">
                <a:alpha val="60000"/>
              </a:schemeClr>
            </a:solidFill>
            <a:ln w="12700" algn="ctr">
              <a:solidFill>
                <a:srgbClr val="009A44"/>
              </a:solidFill>
              <a:miter lim="800000"/>
              <a:headEnd/>
              <a:tailEnd/>
            </a:ln>
          </p:spPr>
          <p:txBody>
            <a:bodyPr lIns="88900" tIns="88900" rIns="88900" bIns="88900" anchor="t" anchorCtr="0"/>
            <a:lstStyle/>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Total Reservoir Area: 16007 acres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Avg. Water Level: 64.87 m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Algae Growth: Less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Grid Connectivity: Yes</a:t>
              </a:r>
            </a:p>
          </p:txBody>
        </p:sp>
      </p:grpSp>
      <p:grpSp>
        <p:nvGrpSpPr>
          <p:cNvPr id="89" name="Group 88">
            <a:extLst>
              <a:ext uri="{FF2B5EF4-FFF2-40B4-BE49-F238E27FC236}">
                <a16:creationId xmlns:a16="http://schemas.microsoft.com/office/drawing/2014/main" id="{85A2D42A-1D3E-4929-967C-8575EE49DC0B}"/>
              </a:ext>
            </a:extLst>
          </p:cNvPr>
          <p:cNvGrpSpPr/>
          <p:nvPr/>
        </p:nvGrpSpPr>
        <p:grpSpPr>
          <a:xfrm>
            <a:off x="8545915" y="5009242"/>
            <a:ext cx="2934888" cy="1372106"/>
            <a:chOff x="470090" y="2884063"/>
            <a:chExt cx="3687240" cy="1730985"/>
          </a:xfrm>
        </p:grpSpPr>
        <p:sp>
          <p:nvSpPr>
            <p:cNvPr id="90" name="Text Box 10">
              <a:extLst>
                <a:ext uri="{FF2B5EF4-FFF2-40B4-BE49-F238E27FC236}">
                  <a16:creationId xmlns:a16="http://schemas.microsoft.com/office/drawing/2014/main" id="{D20B8776-063E-40FD-9D59-D5F2CD272629}"/>
                </a:ext>
              </a:extLst>
            </p:cNvPr>
            <p:cNvSpPr txBox="1">
              <a:spLocks noChangeArrowheads="1"/>
            </p:cNvSpPr>
            <p:nvPr/>
          </p:nvSpPr>
          <p:spPr bwMode="auto">
            <a:xfrm>
              <a:off x="470090" y="2884063"/>
              <a:ext cx="3687240" cy="366213"/>
            </a:xfrm>
            <a:prstGeom prst="rect">
              <a:avLst/>
            </a:prstGeom>
            <a:solidFill>
              <a:srgbClr val="0097A9">
                <a:alpha val="70000"/>
              </a:srgbClr>
            </a:solidFill>
            <a:ln w="12700" algn="ctr">
              <a:solidFill>
                <a:srgbClr val="009A44"/>
              </a:solid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pitchFamily="34" charset="0"/>
                </a:rPr>
                <a:t>Chandil Dam, Jamshedpur</a:t>
              </a:r>
            </a:p>
          </p:txBody>
        </p:sp>
        <p:sp>
          <p:nvSpPr>
            <p:cNvPr id="91" name="Rectangle 11">
              <a:extLst>
                <a:ext uri="{FF2B5EF4-FFF2-40B4-BE49-F238E27FC236}">
                  <a16:creationId xmlns:a16="http://schemas.microsoft.com/office/drawing/2014/main" id="{49F83DB4-CBAD-40A1-831E-2532327003CB}"/>
                </a:ext>
              </a:extLst>
            </p:cNvPr>
            <p:cNvSpPr>
              <a:spLocks noChangeArrowheads="1"/>
            </p:cNvSpPr>
            <p:nvPr/>
          </p:nvSpPr>
          <p:spPr bwMode="auto">
            <a:xfrm>
              <a:off x="470090" y="3239363"/>
              <a:ext cx="3687240" cy="1375685"/>
            </a:xfrm>
            <a:prstGeom prst="rect">
              <a:avLst/>
            </a:prstGeom>
            <a:solidFill>
              <a:schemeClr val="bg1">
                <a:alpha val="60000"/>
              </a:schemeClr>
            </a:solidFill>
            <a:ln w="12700" algn="ctr">
              <a:solidFill>
                <a:srgbClr val="0097A9"/>
              </a:solidFill>
              <a:miter lim="800000"/>
              <a:headEnd/>
              <a:tailEnd/>
            </a:ln>
          </p:spPr>
          <p:txBody>
            <a:bodyPr lIns="88900" tIns="88900" rIns="88900" bIns="88900" anchor="t" anchorCtr="0"/>
            <a:lstStyle/>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Total Reservoir Area: 43018 acres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Avg. Water Level: 58.6 m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Algae Growth: Less </a:t>
              </a:r>
            </a:p>
            <a:p>
              <a:pPr marL="114300" marR="0" lvl="1" indent="-114300" algn="l" defTabSz="957263" rtl="0" eaLnBrk="1" fontAlgn="auto" latinLnBrk="0" hangingPunct="1">
                <a:lnSpc>
                  <a:spcPct val="100000"/>
                </a:lnSpc>
                <a:spcBef>
                  <a:spcPts val="200"/>
                </a:spcBef>
                <a:spcAft>
                  <a:spcPts val="300"/>
                </a:spcAft>
                <a:buClrTx/>
                <a:buSzPct val="100000"/>
                <a:buFont typeface="Arial"/>
                <a:buChar char="•"/>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pitchFamily="34" charset="0"/>
                </a:rPr>
                <a:t>Grid Connectivity: Yes </a:t>
              </a:r>
            </a:p>
          </p:txBody>
        </p:sp>
      </p:grpSp>
      <p:sp>
        <p:nvSpPr>
          <p:cNvPr id="34" name="TextBox 33">
            <a:extLst>
              <a:ext uri="{FF2B5EF4-FFF2-40B4-BE49-F238E27FC236}">
                <a16:creationId xmlns:a16="http://schemas.microsoft.com/office/drawing/2014/main" id="{25E46F60-FCBA-4EFE-AA7E-0A87FB74EEF8}"/>
              </a:ext>
            </a:extLst>
          </p:cNvPr>
          <p:cNvSpPr txBox="1"/>
          <p:nvPr/>
        </p:nvSpPr>
        <p:spPr>
          <a:xfrm>
            <a:off x="715197" y="2761723"/>
            <a:ext cx="59561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a:t>
            </a:r>
          </a:p>
        </p:txBody>
      </p:sp>
      <p:sp>
        <p:nvSpPr>
          <p:cNvPr id="33" name="TextBox 32">
            <a:extLst>
              <a:ext uri="{FF2B5EF4-FFF2-40B4-BE49-F238E27FC236}">
                <a16:creationId xmlns:a16="http://schemas.microsoft.com/office/drawing/2014/main" id="{8D68A90B-6721-4D65-8EE7-106BA0362BC8}"/>
              </a:ext>
            </a:extLst>
          </p:cNvPr>
          <p:cNvSpPr txBox="1"/>
          <p:nvPr/>
        </p:nvSpPr>
        <p:spPr>
          <a:xfrm>
            <a:off x="369530" y="1029648"/>
            <a:ext cx="11229766" cy="1272913"/>
          </a:xfrm>
          <a:prstGeom prst="rect">
            <a:avLst/>
          </a:prstGeom>
          <a:noFill/>
        </p:spPr>
        <p:txBody>
          <a:bodyPr wrap="square" rtlCol="0">
            <a:spAutoFit/>
          </a:bodyPr>
          <a:lstStyle/>
          <a:p>
            <a:pPr marL="0" marR="0" lvl="0" indent="0" algn="just" defTabSz="914400" rtl="0" eaLnBrk="1" fontAlgn="auto" latinLnBrk="0" hangingPunct="1">
              <a:lnSpc>
                <a:spcPct val="114000"/>
              </a:lnSpc>
              <a:spcBef>
                <a:spcPts val="0"/>
              </a:spcBef>
              <a:spcAft>
                <a:spcPts val="60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Under the total target of 4000 MW, a total target of 900 MW Floating Solar has been fixed under the Jharkhand Solar Policy 2022.  </a:t>
            </a:r>
          </a:p>
          <a:p>
            <a:pPr marL="0" marR="0" lvl="0" indent="0" algn="just" defTabSz="914400" rtl="0" eaLnBrk="1" fontAlgn="auto" latinLnBrk="0" hangingPunct="1">
              <a:lnSpc>
                <a:spcPct val="114000"/>
              </a:lnSpc>
              <a:spcBef>
                <a:spcPts val="0"/>
              </a:spcBef>
              <a:spcAft>
                <a:spcPts val="600"/>
              </a:spcAft>
              <a:buClrTx/>
              <a:buSzTx/>
              <a:buFontTx/>
              <a:buNone/>
              <a:tabLst/>
              <a:defRPr/>
            </a:pP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JREDA has identified, a </a:t>
            </a: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potential of 1,000 MW floating solar </a:t>
            </a: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from two sites namely, </a:t>
            </a: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Tenughat Reservoir (600MW)</a:t>
            </a: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and </a:t>
            </a: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Chandil Dam (400 MW) </a:t>
            </a: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to be implemented at an </a:t>
            </a:r>
            <a:r>
              <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estimated cost of *Rs. 5,000 Cr</a:t>
            </a: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and is exploring to uptake this project under the following three business models: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5" name="TextBox 34">
            <a:extLst>
              <a:ext uri="{FF2B5EF4-FFF2-40B4-BE49-F238E27FC236}">
                <a16:creationId xmlns:a16="http://schemas.microsoft.com/office/drawing/2014/main" id="{7570A642-B9E6-49A8-B1B9-295F58D44122}"/>
              </a:ext>
            </a:extLst>
          </p:cNvPr>
          <p:cNvSpPr txBox="1"/>
          <p:nvPr/>
        </p:nvSpPr>
        <p:spPr>
          <a:xfrm>
            <a:off x="427559" y="6294126"/>
            <a:ext cx="609777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Times New Roman" panose="02020603050405020304" pitchFamily="18" charset="0"/>
              </a:rPr>
              <a:t>* Per MW project cost considered at Rs. 5 Cr</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65703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4739EB80-5A38-40C4-8BFD-1983D6CEFC44}"/>
              </a:ext>
            </a:extLst>
          </p:cNvPr>
          <p:cNvGrpSpPr/>
          <p:nvPr/>
        </p:nvGrpSpPr>
        <p:grpSpPr>
          <a:xfrm>
            <a:off x="455925" y="1043965"/>
            <a:ext cx="11380844" cy="2665906"/>
            <a:chOff x="455925" y="1043965"/>
            <a:chExt cx="11380844" cy="2665906"/>
          </a:xfrm>
        </p:grpSpPr>
        <p:sp>
          <p:nvSpPr>
            <p:cNvPr id="6" name="Rectangle 5">
              <a:extLst>
                <a:ext uri="{FF2B5EF4-FFF2-40B4-BE49-F238E27FC236}">
                  <a16:creationId xmlns:a16="http://schemas.microsoft.com/office/drawing/2014/main" id="{28B5C564-DC5A-48E1-9F04-A5B11D33C366}"/>
                </a:ext>
              </a:extLst>
            </p:cNvPr>
            <p:cNvSpPr/>
            <p:nvPr/>
          </p:nvSpPr>
          <p:spPr bwMode="gray">
            <a:xfrm>
              <a:off x="455925" y="1081880"/>
              <a:ext cx="6837503" cy="2627991"/>
            </a:xfrm>
            <a:prstGeom prst="rect">
              <a:avLst/>
            </a:prstGeom>
            <a:solidFill>
              <a:schemeClr val="bg1"/>
            </a:solidFill>
            <a:ln w="19050" algn="ctr">
              <a:solidFill>
                <a:schemeClr val="tx1"/>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15B30DE4-AC8A-4832-B54E-A931B97AC8B1}"/>
                </a:ext>
              </a:extLst>
            </p:cNvPr>
            <p:cNvSpPr/>
            <p:nvPr/>
          </p:nvSpPr>
          <p:spPr>
            <a:xfrm>
              <a:off x="4600546" y="1180700"/>
              <a:ext cx="1888072" cy="359740"/>
            </a:xfrm>
            <a:prstGeom prst="rect">
              <a:avLst/>
            </a:prstGeom>
            <a:solidFill>
              <a:schemeClr val="accent4"/>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JREDA</a:t>
              </a:r>
            </a:p>
          </p:txBody>
        </p:sp>
        <p:sp>
          <p:nvSpPr>
            <p:cNvPr id="9" name="TextBox 8">
              <a:extLst>
                <a:ext uri="{FF2B5EF4-FFF2-40B4-BE49-F238E27FC236}">
                  <a16:creationId xmlns:a16="http://schemas.microsoft.com/office/drawing/2014/main" id="{71F598BA-37F4-4F54-ABAF-C19507C662CD}"/>
                </a:ext>
              </a:extLst>
            </p:cNvPr>
            <p:cNvSpPr txBox="1"/>
            <p:nvPr/>
          </p:nvSpPr>
          <p:spPr>
            <a:xfrm>
              <a:off x="1564114" y="1149146"/>
              <a:ext cx="2903331" cy="626775"/>
            </a:xfrm>
            <a:prstGeom prst="rect">
              <a:avLst/>
            </a:prstGeom>
            <a:noFill/>
          </p:spPr>
          <p:txBody>
            <a:bodyPr wrap="square" rtlCol="0">
              <a:spAutoFit/>
            </a:bodyPr>
            <a:lstStyle/>
            <a:p>
              <a:pPr algn="ctr">
                <a:lnSpc>
                  <a:spcPct val="120000"/>
                </a:lnSpc>
              </a:pPr>
              <a:r>
                <a:rPr lang="en-US" sz="1000" b="1" dirty="0">
                  <a:latin typeface="Verdana" panose="020B0604030504040204" pitchFamily="34" charset="0"/>
                  <a:ea typeface="Verdana" panose="020B0604030504040204" pitchFamily="34" charset="0"/>
                </a:rPr>
                <a:t>Step 1: </a:t>
              </a:r>
              <a:r>
                <a:rPr lang="en-US" sz="1000" dirty="0">
                  <a:latin typeface="Verdana" panose="020B0604030504040204" pitchFamily="34" charset="0"/>
                  <a:ea typeface="Verdana" panose="020B0604030504040204" pitchFamily="34" charset="0"/>
                </a:rPr>
                <a:t>JREDA Floats RfP for selection of developers to develop 1000 MW Floating Solar Projects, generate &amp; supply power </a:t>
              </a:r>
            </a:p>
          </p:txBody>
        </p:sp>
        <p:sp>
          <p:nvSpPr>
            <p:cNvPr id="10" name="Rectangle 9">
              <a:extLst>
                <a:ext uri="{FF2B5EF4-FFF2-40B4-BE49-F238E27FC236}">
                  <a16:creationId xmlns:a16="http://schemas.microsoft.com/office/drawing/2014/main" id="{B1AD18F7-A5A6-491A-8B20-608F8E3BCC72}"/>
                </a:ext>
              </a:extLst>
            </p:cNvPr>
            <p:cNvSpPr/>
            <p:nvPr/>
          </p:nvSpPr>
          <p:spPr>
            <a:xfrm>
              <a:off x="698500" y="1962095"/>
              <a:ext cx="1709642" cy="359512"/>
            </a:xfrm>
            <a:prstGeom prst="rect">
              <a:avLst/>
            </a:prstGeom>
            <a:solidFill>
              <a:schemeClr val="accent6"/>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Private Developer / SPD</a:t>
              </a:r>
            </a:p>
          </p:txBody>
        </p:sp>
        <p:sp>
          <p:nvSpPr>
            <p:cNvPr id="11" name="TextBox 10">
              <a:extLst>
                <a:ext uri="{FF2B5EF4-FFF2-40B4-BE49-F238E27FC236}">
                  <a16:creationId xmlns:a16="http://schemas.microsoft.com/office/drawing/2014/main" id="{7801A43B-20EB-4CFE-89C9-4AFBBC71A319}"/>
                </a:ext>
              </a:extLst>
            </p:cNvPr>
            <p:cNvSpPr txBox="1"/>
            <p:nvPr/>
          </p:nvSpPr>
          <p:spPr>
            <a:xfrm>
              <a:off x="1575798" y="2548849"/>
              <a:ext cx="2891646" cy="626776"/>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2: </a:t>
              </a:r>
              <a:r>
                <a:rPr lang="en-US" sz="1000" dirty="0">
                  <a:latin typeface="Verdana" panose="020B0604030504040204" pitchFamily="34" charset="0"/>
                  <a:ea typeface="Verdana" panose="020B0604030504040204" pitchFamily="34" charset="0"/>
                </a:rPr>
                <a:t>SPD signs PPA &amp; Supplies Power to JREDA at rate discovered under competitive bidding reverse auction </a:t>
              </a:r>
            </a:p>
          </p:txBody>
        </p:sp>
        <p:grpSp>
          <p:nvGrpSpPr>
            <p:cNvPr id="12" name="Group 11">
              <a:extLst>
                <a:ext uri="{FF2B5EF4-FFF2-40B4-BE49-F238E27FC236}">
                  <a16:creationId xmlns:a16="http://schemas.microsoft.com/office/drawing/2014/main" id="{93605E78-A5F1-4B10-8988-081A42B950CA}"/>
                </a:ext>
              </a:extLst>
            </p:cNvPr>
            <p:cNvGrpSpPr/>
            <p:nvPr/>
          </p:nvGrpSpPr>
          <p:grpSpPr>
            <a:xfrm>
              <a:off x="4467444" y="2673129"/>
              <a:ext cx="2314355" cy="703393"/>
              <a:chOff x="7729606" y="1716892"/>
              <a:chExt cx="2889480" cy="567530"/>
            </a:xfrm>
          </p:grpSpPr>
          <p:sp>
            <p:nvSpPr>
              <p:cNvPr id="17" name="Rectangle 16">
                <a:extLst>
                  <a:ext uri="{FF2B5EF4-FFF2-40B4-BE49-F238E27FC236}">
                    <a16:creationId xmlns:a16="http://schemas.microsoft.com/office/drawing/2014/main" id="{CCA9A39C-2FF0-4356-AFDF-7F02448F3D52}"/>
                  </a:ext>
                </a:extLst>
              </p:cNvPr>
              <p:cNvSpPr/>
              <p:nvPr/>
            </p:nvSpPr>
            <p:spPr bwMode="gray">
              <a:xfrm rot="5400000">
                <a:off x="8890581" y="555917"/>
                <a:ext cx="567530" cy="2889480"/>
              </a:xfrm>
              <a:prstGeom prst="rect">
                <a:avLst/>
              </a:prstGeom>
              <a:solidFill>
                <a:schemeClr val="bg1"/>
              </a:solid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 name="Rectangle 17">
                <a:extLst>
                  <a:ext uri="{FF2B5EF4-FFF2-40B4-BE49-F238E27FC236}">
                    <a16:creationId xmlns:a16="http://schemas.microsoft.com/office/drawing/2014/main" id="{055EE49F-7423-4975-A2C3-041EA1E3C5B4}"/>
                  </a:ext>
                </a:extLst>
              </p:cNvPr>
              <p:cNvSpPr/>
              <p:nvPr/>
            </p:nvSpPr>
            <p:spPr>
              <a:xfrm>
                <a:off x="7781991" y="1769056"/>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DISCOM 1</a:t>
                </a:r>
              </a:p>
            </p:txBody>
          </p:sp>
          <p:sp>
            <p:nvSpPr>
              <p:cNvPr id="19" name="Rectangle 18">
                <a:extLst>
                  <a:ext uri="{FF2B5EF4-FFF2-40B4-BE49-F238E27FC236}">
                    <a16:creationId xmlns:a16="http://schemas.microsoft.com/office/drawing/2014/main" id="{4B5E3692-4CD3-4203-B022-98D20336E1A8}"/>
                  </a:ext>
                </a:extLst>
              </p:cNvPr>
              <p:cNvSpPr/>
              <p:nvPr/>
            </p:nvSpPr>
            <p:spPr>
              <a:xfrm>
                <a:off x="8733366" y="1769056"/>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DISCOM 2</a:t>
                </a:r>
              </a:p>
            </p:txBody>
          </p:sp>
          <p:sp>
            <p:nvSpPr>
              <p:cNvPr id="20" name="Rectangle 19">
                <a:extLst>
                  <a:ext uri="{FF2B5EF4-FFF2-40B4-BE49-F238E27FC236}">
                    <a16:creationId xmlns:a16="http://schemas.microsoft.com/office/drawing/2014/main" id="{4677B677-E999-4C47-9E3D-BE3A1E9A47E8}"/>
                  </a:ext>
                </a:extLst>
              </p:cNvPr>
              <p:cNvSpPr/>
              <p:nvPr/>
            </p:nvSpPr>
            <p:spPr>
              <a:xfrm>
                <a:off x="9679874" y="1769055"/>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Other States</a:t>
                </a:r>
              </a:p>
            </p:txBody>
          </p:sp>
        </p:grpSp>
        <p:cxnSp>
          <p:nvCxnSpPr>
            <p:cNvPr id="14" name="Connector: Elbow 13">
              <a:extLst>
                <a:ext uri="{FF2B5EF4-FFF2-40B4-BE49-F238E27FC236}">
                  <a16:creationId xmlns:a16="http://schemas.microsoft.com/office/drawing/2014/main" id="{EAB203AA-FBE8-4233-BF85-E6336CEFB6E8}"/>
                </a:ext>
              </a:extLst>
            </p:cNvPr>
            <p:cNvCxnSpPr>
              <a:stCxn id="8" idx="1"/>
              <a:endCxn id="10" idx="0"/>
            </p:cNvCxnSpPr>
            <p:nvPr/>
          </p:nvCxnSpPr>
          <p:spPr>
            <a:xfrm rot="10800000" flipV="1">
              <a:off x="1553323" y="1360570"/>
              <a:ext cx="3047224" cy="6015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E9D3C5D8-CBA8-4114-9ED6-68A7A7C94ADA}"/>
                </a:ext>
              </a:extLst>
            </p:cNvPr>
            <p:cNvCxnSpPr>
              <a:cxnSpLocks/>
              <a:stCxn id="10" idx="2"/>
              <a:endCxn id="8" idx="2"/>
            </p:cNvCxnSpPr>
            <p:nvPr/>
          </p:nvCxnSpPr>
          <p:spPr>
            <a:xfrm rot="5400000" flipH="1" flipV="1">
              <a:off x="3158367" y="-64606"/>
              <a:ext cx="781168" cy="3991260"/>
            </a:xfrm>
            <a:prstGeom prst="bentConnector3">
              <a:avLst>
                <a:gd name="adj1" fmla="val -23159"/>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666F9657-275B-473B-A9D8-E9DDCFD106C3}"/>
                </a:ext>
              </a:extLst>
            </p:cNvPr>
            <p:cNvSpPr txBox="1"/>
            <p:nvPr/>
          </p:nvSpPr>
          <p:spPr>
            <a:xfrm>
              <a:off x="5766002" y="1544414"/>
              <a:ext cx="1593083" cy="996107"/>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3:</a:t>
              </a:r>
              <a:r>
                <a:rPr lang="en-US" sz="1000" dirty="0">
                  <a:latin typeface="Verdana" panose="020B0604030504040204" pitchFamily="34" charset="0"/>
                  <a:ea typeface="Verdana" panose="020B0604030504040204" pitchFamily="34" charset="0"/>
                </a:rPr>
                <a:t> JREDA Signs PSA &amp; Supplies Power to DISCOM’s/States at mutual agreed rates</a:t>
              </a:r>
            </a:p>
          </p:txBody>
        </p:sp>
        <p:cxnSp>
          <p:nvCxnSpPr>
            <p:cNvPr id="5" name="Straight Arrow Connector 4">
              <a:extLst>
                <a:ext uri="{FF2B5EF4-FFF2-40B4-BE49-F238E27FC236}">
                  <a16:creationId xmlns:a16="http://schemas.microsoft.com/office/drawing/2014/main" id="{E649F1D0-4614-4CBC-9732-8620DD11C1B3}"/>
                </a:ext>
              </a:extLst>
            </p:cNvPr>
            <p:cNvCxnSpPr/>
            <p:nvPr/>
          </p:nvCxnSpPr>
          <p:spPr>
            <a:xfrm>
              <a:off x="5791200" y="1540440"/>
              <a:ext cx="0" cy="11326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3" name="Group 32">
              <a:extLst>
                <a:ext uri="{FF2B5EF4-FFF2-40B4-BE49-F238E27FC236}">
                  <a16:creationId xmlns:a16="http://schemas.microsoft.com/office/drawing/2014/main" id="{2479AAD8-4DE7-4840-A0A5-7BF47C9E7D3C}"/>
                </a:ext>
              </a:extLst>
            </p:cNvPr>
            <p:cNvGrpSpPr/>
            <p:nvPr/>
          </p:nvGrpSpPr>
          <p:grpSpPr>
            <a:xfrm>
              <a:off x="7384283" y="1043965"/>
              <a:ext cx="4452486" cy="2656332"/>
              <a:chOff x="8240371" y="1266376"/>
              <a:chExt cx="3531082" cy="6072005"/>
            </a:xfrm>
          </p:grpSpPr>
          <p:sp>
            <p:nvSpPr>
              <p:cNvPr id="34" name="Rectangle 33">
                <a:extLst>
                  <a:ext uri="{FF2B5EF4-FFF2-40B4-BE49-F238E27FC236}">
                    <a16:creationId xmlns:a16="http://schemas.microsoft.com/office/drawing/2014/main" id="{48BB6B55-0FB0-41E1-869E-8F3D960EDA32}"/>
                  </a:ext>
                </a:extLst>
              </p:cNvPr>
              <p:cNvSpPr/>
              <p:nvPr/>
            </p:nvSpPr>
            <p:spPr bwMode="gray">
              <a:xfrm>
                <a:off x="8240371" y="1973194"/>
                <a:ext cx="3531082" cy="5365187"/>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endParaRPr lang="en-US" sz="1200" dirty="0">
                  <a:solidFill>
                    <a:prstClr val="black"/>
                  </a:solidFill>
                  <a:latin typeface="Verdana" panose="020B0604030504040204" pitchFamily="34" charset="0"/>
                  <a:ea typeface="Verdana" panose="020B0604030504040204" pitchFamily="34" charset="0"/>
                </a:endParaRP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will be the nodal agency.</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in capacity of State aggregator of renewable energy will issue RfP.</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GoJ to lease its water reservoirs/dams.</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Floating Solar Projects will be set up on BOOT basis by the developer.</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will pay via JREDA to the developer w.r.t the units generated and as per the rate within the PPA.</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will earn from the sale of power to various DISCOMs as per the rate within the PSA.</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may earn in from of the lease rent or can get rebate in the per unit power purchase cost from the developer</a:t>
                </a:r>
                <a:r>
                  <a:rPr lang="en-US" sz="1200" dirty="0">
                    <a:solidFill>
                      <a:prstClr val="black"/>
                    </a:solidFill>
                    <a:latin typeface="Verdana" panose="020B0604030504040204" pitchFamily="34" charset="0"/>
                    <a:ea typeface="Verdana" panose="020B0604030504040204" pitchFamily="34" charset="0"/>
                  </a:rPr>
                  <a:t>.</a:t>
                </a:r>
              </a:p>
              <a:p>
                <a:pPr marL="509412" marR="0" lvl="1" algn="l" defTabSz="914400" rtl="0" eaLnBrk="1" fontAlgn="auto" latinLnBrk="0" hangingPunct="1">
                  <a:lnSpc>
                    <a:spcPct val="106000"/>
                  </a:lnSpc>
                  <a:spcBef>
                    <a:spcPts val="3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AAA786DF-1137-40E0-94C6-E05BD602D36C}"/>
                  </a:ext>
                </a:extLst>
              </p:cNvPr>
              <p:cNvSpPr/>
              <p:nvPr/>
            </p:nvSpPr>
            <p:spPr bwMode="gray">
              <a:xfrm>
                <a:off x="8243839" y="1266376"/>
                <a:ext cx="3527614" cy="687349"/>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b="1" dirty="0">
                    <a:solidFill>
                      <a:prstClr val="white"/>
                    </a:solidFill>
                    <a:latin typeface="Verdana" panose="020B0604030504040204" pitchFamily="34" charset="0"/>
                    <a:ea typeface="Verdana" panose="020B0604030504040204" pitchFamily="34" charset="0"/>
                  </a:rPr>
                  <a:t>Key Highlights</a:t>
                </a: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endParaRPr>
              </a:p>
            </p:txBody>
          </p:sp>
        </p:grpSp>
      </p:grpSp>
      <p:sp>
        <p:nvSpPr>
          <p:cNvPr id="38" name="Rectangle 37">
            <a:extLst>
              <a:ext uri="{FF2B5EF4-FFF2-40B4-BE49-F238E27FC236}">
                <a16:creationId xmlns:a16="http://schemas.microsoft.com/office/drawing/2014/main" id="{9DDBB4DC-CF0B-4497-A85C-8A2B3251E9AF}"/>
              </a:ext>
            </a:extLst>
          </p:cNvPr>
          <p:cNvSpPr/>
          <p:nvPr/>
        </p:nvSpPr>
        <p:spPr bwMode="gray">
          <a:xfrm>
            <a:off x="455925" y="3837229"/>
            <a:ext cx="6837503" cy="2627991"/>
          </a:xfrm>
          <a:prstGeom prst="rect">
            <a:avLst/>
          </a:prstGeom>
          <a:solidFill>
            <a:schemeClr val="bg1"/>
          </a:solidFill>
          <a:ln w="19050" algn="ctr">
            <a:solidFill>
              <a:schemeClr val="tx1"/>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39E2C84F-38A1-46B6-8760-B35B6BC2D79C}"/>
              </a:ext>
            </a:extLst>
          </p:cNvPr>
          <p:cNvSpPr/>
          <p:nvPr/>
        </p:nvSpPr>
        <p:spPr>
          <a:xfrm>
            <a:off x="4600546" y="3936049"/>
            <a:ext cx="1888072" cy="359740"/>
          </a:xfrm>
          <a:prstGeom prst="rect">
            <a:avLst/>
          </a:prstGeom>
          <a:solidFill>
            <a:schemeClr val="accent4"/>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JREDA</a:t>
            </a:r>
          </a:p>
        </p:txBody>
      </p:sp>
      <p:sp>
        <p:nvSpPr>
          <p:cNvPr id="40" name="TextBox 39">
            <a:extLst>
              <a:ext uri="{FF2B5EF4-FFF2-40B4-BE49-F238E27FC236}">
                <a16:creationId xmlns:a16="http://schemas.microsoft.com/office/drawing/2014/main" id="{A36B5A35-1809-455A-949A-6008EB478BA0}"/>
              </a:ext>
            </a:extLst>
          </p:cNvPr>
          <p:cNvSpPr txBox="1"/>
          <p:nvPr/>
        </p:nvSpPr>
        <p:spPr>
          <a:xfrm>
            <a:off x="1564114" y="3904495"/>
            <a:ext cx="2903331" cy="626775"/>
          </a:xfrm>
          <a:prstGeom prst="rect">
            <a:avLst/>
          </a:prstGeom>
          <a:noFill/>
        </p:spPr>
        <p:txBody>
          <a:bodyPr wrap="square" rtlCol="0">
            <a:spAutoFit/>
          </a:bodyPr>
          <a:lstStyle/>
          <a:p>
            <a:pPr algn="ctr">
              <a:lnSpc>
                <a:spcPct val="120000"/>
              </a:lnSpc>
            </a:pPr>
            <a:r>
              <a:rPr lang="en-US" sz="1000" b="1" dirty="0">
                <a:latin typeface="Verdana" panose="020B0604030504040204" pitchFamily="34" charset="0"/>
                <a:ea typeface="Verdana" panose="020B0604030504040204" pitchFamily="34" charset="0"/>
              </a:rPr>
              <a:t>Step 1: </a:t>
            </a:r>
            <a:r>
              <a:rPr lang="en-US" sz="1000" dirty="0">
                <a:latin typeface="Verdana" panose="020B0604030504040204" pitchFamily="34" charset="0"/>
                <a:ea typeface="Verdana" panose="020B0604030504040204" pitchFamily="34" charset="0"/>
              </a:rPr>
              <a:t>JREDA Floats RfP for selection of developers to develop 1000 MW Floating Solar Projects, generate &amp; supply power </a:t>
            </a:r>
          </a:p>
        </p:txBody>
      </p:sp>
      <p:sp>
        <p:nvSpPr>
          <p:cNvPr id="41" name="Rectangle 40">
            <a:extLst>
              <a:ext uri="{FF2B5EF4-FFF2-40B4-BE49-F238E27FC236}">
                <a16:creationId xmlns:a16="http://schemas.microsoft.com/office/drawing/2014/main" id="{5DEB74A5-E93B-44D4-BBB2-243232655F30}"/>
              </a:ext>
            </a:extLst>
          </p:cNvPr>
          <p:cNvSpPr/>
          <p:nvPr/>
        </p:nvSpPr>
        <p:spPr>
          <a:xfrm>
            <a:off x="698500" y="4717444"/>
            <a:ext cx="1709642" cy="359512"/>
          </a:xfrm>
          <a:prstGeom prst="rect">
            <a:avLst/>
          </a:prstGeom>
          <a:solidFill>
            <a:schemeClr val="accent6"/>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Private Developer / SPD</a:t>
            </a:r>
          </a:p>
        </p:txBody>
      </p:sp>
      <p:sp>
        <p:nvSpPr>
          <p:cNvPr id="42" name="TextBox 41">
            <a:extLst>
              <a:ext uri="{FF2B5EF4-FFF2-40B4-BE49-F238E27FC236}">
                <a16:creationId xmlns:a16="http://schemas.microsoft.com/office/drawing/2014/main" id="{8E0CF331-4815-4DB7-971C-4C4D3A5F5E37}"/>
              </a:ext>
            </a:extLst>
          </p:cNvPr>
          <p:cNvSpPr txBox="1"/>
          <p:nvPr/>
        </p:nvSpPr>
        <p:spPr>
          <a:xfrm>
            <a:off x="664725" y="5284271"/>
            <a:ext cx="2891646" cy="811441"/>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2: </a:t>
            </a:r>
            <a:r>
              <a:rPr lang="en-US" sz="1000" dirty="0">
                <a:latin typeface="Verdana" panose="020B0604030504040204" pitchFamily="34" charset="0"/>
                <a:ea typeface="Verdana" panose="020B0604030504040204" pitchFamily="34" charset="0"/>
              </a:rPr>
              <a:t>SPD signs PPA &amp; Supplies Power to JBVNL/Other DISCOMs at rate discovered under competitive bidding reverse auction </a:t>
            </a:r>
          </a:p>
        </p:txBody>
      </p:sp>
      <p:grpSp>
        <p:nvGrpSpPr>
          <p:cNvPr id="43" name="Group 42">
            <a:extLst>
              <a:ext uri="{FF2B5EF4-FFF2-40B4-BE49-F238E27FC236}">
                <a16:creationId xmlns:a16="http://schemas.microsoft.com/office/drawing/2014/main" id="{DA70107F-5FD0-4175-ACD6-BAA7E3A544C4}"/>
              </a:ext>
            </a:extLst>
          </p:cNvPr>
          <p:cNvGrpSpPr/>
          <p:nvPr/>
        </p:nvGrpSpPr>
        <p:grpSpPr>
          <a:xfrm>
            <a:off x="4467440" y="4590182"/>
            <a:ext cx="2314355" cy="1541691"/>
            <a:chOff x="7729602" y="1040515"/>
            <a:chExt cx="2889480" cy="1243906"/>
          </a:xfrm>
        </p:grpSpPr>
        <p:sp>
          <p:nvSpPr>
            <p:cNvPr id="51" name="Rectangle 50">
              <a:extLst>
                <a:ext uri="{FF2B5EF4-FFF2-40B4-BE49-F238E27FC236}">
                  <a16:creationId xmlns:a16="http://schemas.microsoft.com/office/drawing/2014/main" id="{E4411C91-9AC7-403A-A290-E828DDA31F4E}"/>
                </a:ext>
              </a:extLst>
            </p:cNvPr>
            <p:cNvSpPr/>
            <p:nvPr/>
          </p:nvSpPr>
          <p:spPr bwMode="gray">
            <a:xfrm rot="5400000">
              <a:off x="8890577" y="555916"/>
              <a:ext cx="567530" cy="2889480"/>
            </a:xfrm>
            <a:prstGeom prst="rect">
              <a:avLst/>
            </a:prstGeom>
            <a:solidFill>
              <a:schemeClr val="bg1"/>
            </a:solidFill>
            <a:ln w="19050" algn="ctr">
              <a:solidFill>
                <a:schemeClr val="bg2"/>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2" name="Rectangle 51">
              <a:extLst>
                <a:ext uri="{FF2B5EF4-FFF2-40B4-BE49-F238E27FC236}">
                  <a16:creationId xmlns:a16="http://schemas.microsoft.com/office/drawing/2014/main" id="{FC788682-AC0F-4D9F-8AFB-F139D78415CE}"/>
                </a:ext>
              </a:extLst>
            </p:cNvPr>
            <p:cNvSpPr/>
            <p:nvPr/>
          </p:nvSpPr>
          <p:spPr>
            <a:xfrm>
              <a:off x="7781991" y="1769056"/>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DISCOM 1</a:t>
              </a:r>
            </a:p>
          </p:txBody>
        </p:sp>
        <p:sp>
          <p:nvSpPr>
            <p:cNvPr id="53" name="Rectangle 52">
              <a:extLst>
                <a:ext uri="{FF2B5EF4-FFF2-40B4-BE49-F238E27FC236}">
                  <a16:creationId xmlns:a16="http://schemas.microsoft.com/office/drawing/2014/main" id="{EB4A8249-98B5-473E-908A-394D105D8664}"/>
                </a:ext>
              </a:extLst>
            </p:cNvPr>
            <p:cNvSpPr/>
            <p:nvPr/>
          </p:nvSpPr>
          <p:spPr>
            <a:xfrm>
              <a:off x="8733366" y="1769056"/>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DISCOM 2</a:t>
              </a:r>
            </a:p>
          </p:txBody>
        </p:sp>
        <p:sp>
          <p:nvSpPr>
            <p:cNvPr id="54" name="Rectangle 53">
              <a:extLst>
                <a:ext uri="{FF2B5EF4-FFF2-40B4-BE49-F238E27FC236}">
                  <a16:creationId xmlns:a16="http://schemas.microsoft.com/office/drawing/2014/main" id="{0BB5EA79-1C91-4360-B02A-8338DFB9B49F}"/>
                </a:ext>
              </a:extLst>
            </p:cNvPr>
            <p:cNvSpPr/>
            <p:nvPr/>
          </p:nvSpPr>
          <p:spPr>
            <a:xfrm>
              <a:off x="9679874" y="1769055"/>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Other States</a:t>
              </a:r>
            </a:p>
          </p:txBody>
        </p:sp>
        <p:sp>
          <p:nvSpPr>
            <p:cNvPr id="61" name="Rectangle 60">
              <a:extLst>
                <a:ext uri="{FF2B5EF4-FFF2-40B4-BE49-F238E27FC236}">
                  <a16:creationId xmlns:a16="http://schemas.microsoft.com/office/drawing/2014/main" id="{F1A62B6D-80F8-4463-A31D-D739B5709DBB}"/>
                </a:ext>
              </a:extLst>
            </p:cNvPr>
            <p:cNvSpPr/>
            <p:nvPr/>
          </p:nvSpPr>
          <p:spPr>
            <a:xfrm>
              <a:off x="8632682" y="1040515"/>
              <a:ext cx="883472" cy="452674"/>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JBVNL</a:t>
              </a:r>
            </a:p>
          </p:txBody>
        </p:sp>
      </p:grpSp>
      <p:cxnSp>
        <p:nvCxnSpPr>
          <p:cNvPr id="44" name="Connector: Elbow 43">
            <a:extLst>
              <a:ext uri="{FF2B5EF4-FFF2-40B4-BE49-F238E27FC236}">
                <a16:creationId xmlns:a16="http://schemas.microsoft.com/office/drawing/2014/main" id="{6A1F62DB-C81C-4396-9419-8082169E6BB2}"/>
              </a:ext>
            </a:extLst>
          </p:cNvPr>
          <p:cNvCxnSpPr>
            <a:cxnSpLocks/>
          </p:cNvCxnSpPr>
          <p:nvPr/>
        </p:nvCxnSpPr>
        <p:spPr>
          <a:xfrm rot="10800000" flipV="1">
            <a:off x="1553322" y="4115918"/>
            <a:ext cx="3047225" cy="601525"/>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5542FB54-CC65-4689-A46A-7E4260F5D93E}"/>
              </a:ext>
            </a:extLst>
          </p:cNvPr>
          <p:cNvCxnSpPr/>
          <p:nvPr/>
        </p:nvCxnSpPr>
        <p:spPr>
          <a:xfrm>
            <a:off x="2440800" y="4897200"/>
            <a:ext cx="26972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Connector: Elbow 66">
            <a:extLst>
              <a:ext uri="{FF2B5EF4-FFF2-40B4-BE49-F238E27FC236}">
                <a16:creationId xmlns:a16="http://schemas.microsoft.com/office/drawing/2014/main" id="{115CD641-76DA-4DAA-9DEE-349313518B83}"/>
              </a:ext>
            </a:extLst>
          </p:cNvPr>
          <p:cNvCxnSpPr/>
          <p:nvPr/>
        </p:nvCxnSpPr>
        <p:spPr>
          <a:xfrm>
            <a:off x="2451686" y="4997806"/>
            <a:ext cx="1964070" cy="80871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9E0185D0-6BED-432D-B6C6-56E686EA403A}"/>
              </a:ext>
            </a:extLst>
          </p:cNvPr>
          <p:cNvSpPr txBox="1"/>
          <p:nvPr/>
        </p:nvSpPr>
        <p:spPr>
          <a:xfrm>
            <a:off x="698500" y="1344661"/>
            <a:ext cx="732512"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Verdana" panose="020B0604030504040204" pitchFamily="34" charset="0"/>
                <a:ea typeface="Verdana" panose="020B0604030504040204" pitchFamily="34" charset="0"/>
              </a:rPr>
              <a:t>Case:1</a:t>
            </a:r>
          </a:p>
        </p:txBody>
      </p:sp>
      <p:sp>
        <p:nvSpPr>
          <p:cNvPr id="69" name="TextBox 68">
            <a:extLst>
              <a:ext uri="{FF2B5EF4-FFF2-40B4-BE49-F238E27FC236}">
                <a16:creationId xmlns:a16="http://schemas.microsoft.com/office/drawing/2014/main" id="{E859DE7C-C564-4757-8743-659A94A10515}"/>
              </a:ext>
            </a:extLst>
          </p:cNvPr>
          <p:cNvSpPr txBox="1"/>
          <p:nvPr/>
        </p:nvSpPr>
        <p:spPr>
          <a:xfrm>
            <a:off x="698500" y="4067353"/>
            <a:ext cx="732512"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Verdana" panose="020B0604030504040204" pitchFamily="34" charset="0"/>
                <a:ea typeface="Verdana" panose="020B0604030504040204" pitchFamily="34" charset="0"/>
              </a:rPr>
              <a:t>Case:2</a:t>
            </a:r>
          </a:p>
        </p:txBody>
      </p:sp>
      <p:grpSp>
        <p:nvGrpSpPr>
          <p:cNvPr id="80" name="Group 79">
            <a:extLst>
              <a:ext uri="{FF2B5EF4-FFF2-40B4-BE49-F238E27FC236}">
                <a16:creationId xmlns:a16="http://schemas.microsoft.com/office/drawing/2014/main" id="{21F72728-4A6D-4CF1-945E-F354F30AD8A9}"/>
              </a:ext>
            </a:extLst>
          </p:cNvPr>
          <p:cNvGrpSpPr/>
          <p:nvPr/>
        </p:nvGrpSpPr>
        <p:grpSpPr>
          <a:xfrm>
            <a:off x="7383175" y="3832442"/>
            <a:ext cx="4453596" cy="2627991"/>
            <a:chOff x="8197376" y="1266374"/>
            <a:chExt cx="3574077" cy="5441926"/>
          </a:xfrm>
        </p:grpSpPr>
        <p:sp>
          <p:nvSpPr>
            <p:cNvPr id="81" name="Rectangle 80">
              <a:extLst>
                <a:ext uri="{FF2B5EF4-FFF2-40B4-BE49-F238E27FC236}">
                  <a16:creationId xmlns:a16="http://schemas.microsoft.com/office/drawing/2014/main" id="{1CCF4F2A-FADC-4CD1-B741-0816977CEA5C}"/>
                </a:ext>
              </a:extLst>
            </p:cNvPr>
            <p:cNvSpPr/>
            <p:nvPr/>
          </p:nvSpPr>
          <p:spPr bwMode="gray">
            <a:xfrm>
              <a:off x="8197376" y="1853940"/>
              <a:ext cx="3574077" cy="4854360"/>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will be the nodal agency.</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in capacity of State aggregator of renewable energy will issue RfP.</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GoJ to lease its water reservoirs/dams.</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Floating Solar Projects will be set up on BOOT basis by the developer.</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JBVNL will pay to the developer w.r.t the units procured and as per the rate within the PPA.</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may earn in from of the lease rent.</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JBVNL will save in annual power Purchase cost.</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will benefit in form of reduction in subsidy paid by it to JBVNL.</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2" name="Rectangle 81">
              <a:extLst>
                <a:ext uri="{FF2B5EF4-FFF2-40B4-BE49-F238E27FC236}">
                  <a16:creationId xmlns:a16="http://schemas.microsoft.com/office/drawing/2014/main" id="{EA129D7D-EE9E-480E-9336-DB2A55691F40}"/>
                </a:ext>
              </a:extLst>
            </p:cNvPr>
            <p:cNvSpPr/>
            <p:nvPr/>
          </p:nvSpPr>
          <p:spPr bwMode="gray">
            <a:xfrm>
              <a:off x="8197376" y="1266374"/>
              <a:ext cx="3574077" cy="578121"/>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b="1" dirty="0">
                  <a:solidFill>
                    <a:prstClr val="white"/>
                  </a:solidFill>
                  <a:latin typeface="Verdana" panose="020B0604030504040204" pitchFamily="34" charset="0"/>
                  <a:ea typeface="Verdana" panose="020B0604030504040204" pitchFamily="34" charset="0"/>
                </a:rPr>
                <a:t>Key Highlights</a:t>
              </a: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endParaRPr>
            </a:p>
          </p:txBody>
        </p:sp>
      </p:grpSp>
      <p:sp>
        <p:nvSpPr>
          <p:cNvPr id="49" name="Title 1">
            <a:extLst>
              <a:ext uri="{FF2B5EF4-FFF2-40B4-BE49-F238E27FC236}">
                <a16:creationId xmlns:a16="http://schemas.microsoft.com/office/drawing/2014/main" id="{0FD3380D-DD0B-4CD1-B2CA-F53758AB1A1D}"/>
              </a:ext>
            </a:extLst>
          </p:cNvPr>
          <p:cNvSpPr>
            <a:spLocks noGrp="1"/>
          </p:cNvSpPr>
          <p:nvPr>
            <p:ph type="title"/>
          </p:nvPr>
        </p:nvSpPr>
        <p:spPr>
          <a:xfrm>
            <a:off x="455925" y="222685"/>
            <a:ext cx="11128668" cy="346004"/>
          </a:xfrm>
        </p:spPr>
        <p:txBody>
          <a:bodyPr/>
          <a:lstStyle/>
          <a:p>
            <a:r>
              <a:rPr lang="en-US" sz="1600" b="1" dirty="0">
                <a:solidFill>
                  <a:schemeClr val="tx1"/>
                </a:solidFill>
                <a:latin typeface="Verdana" panose="020B0604030504040204" pitchFamily="34" charset="0"/>
                <a:ea typeface="Verdana" panose="020B0604030504040204" pitchFamily="34" charset="0"/>
              </a:rPr>
              <a:t>Competitive Bidding/Plug &amp; Play Model/OPEX (1/4)</a:t>
            </a:r>
            <a:endParaRPr lang="en-US" sz="1600" dirty="0">
              <a:solidFill>
                <a:schemeClr val="tx1"/>
              </a:solidFill>
              <a:latin typeface="Verdana" panose="020B0604030504040204" pitchFamily="34" charset="0"/>
              <a:ea typeface="Verdana" panose="020B0604030504040204" pitchFamily="34" charset="0"/>
            </a:endParaRPr>
          </a:p>
        </p:txBody>
      </p:sp>
      <p:sp>
        <p:nvSpPr>
          <p:cNvPr id="50" name="Text Placeholder 2">
            <a:extLst>
              <a:ext uri="{FF2B5EF4-FFF2-40B4-BE49-F238E27FC236}">
                <a16:creationId xmlns:a16="http://schemas.microsoft.com/office/drawing/2014/main" id="{D96FFC79-720F-42B5-8014-E40201079E14}"/>
              </a:ext>
            </a:extLst>
          </p:cNvPr>
          <p:cNvSpPr txBox="1">
            <a:spLocks/>
          </p:cNvSpPr>
          <p:nvPr/>
        </p:nvSpPr>
        <p:spPr>
          <a:xfrm>
            <a:off x="455925" y="568689"/>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Business Model: Case 1 &amp; Case 2</a:t>
            </a:r>
          </a:p>
        </p:txBody>
      </p:sp>
    </p:spTree>
    <p:extLst>
      <p:ext uri="{BB962C8B-B14F-4D97-AF65-F5344CB8AC3E}">
        <p14:creationId xmlns:p14="http://schemas.microsoft.com/office/powerpoint/2010/main" val="27247813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A56C2F-0450-483B-86E7-A942B79CABF3}"/>
              </a:ext>
            </a:extLst>
          </p:cNvPr>
          <p:cNvSpPr>
            <a:spLocks noGrp="1"/>
          </p:cNvSpPr>
          <p:nvPr>
            <p:ph type="title"/>
          </p:nvPr>
        </p:nvSpPr>
        <p:spPr>
          <a:xfrm>
            <a:off x="455925" y="222685"/>
            <a:ext cx="11128668" cy="346004"/>
          </a:xfrm>
        </p:spPr>
        <p:txBody>
          <a:bodyPr/>
          <a:lstStyle/>
          <a:p>
            <a:r>
              <a:rPr lang="en-US" sz="1600" b="1" dirty="0">
                <a:latin typeface="Verdana" panose="020B0604030504040204" pitchFamily="34" charset="0"/>
                <a:ea typeface="Verdana" panose="020B0604030504040204" pitchFamily="34" charset="0"/>
              </a:rPr>
              <a:t>Competitive Bidding/Plug &amp; Play Model/OPEX (2/4) </a:t>
            </a:r>
          </a:p>
        </p:txBody>
      </p:sp>
      <p:sp>
        <p:nvSpPr>
          <p:cNvPr id="8" name="Text Placeholder 2">
            <a:extLst>
              <a:ext uri="{FF2B5EF4-FFF2-40B4-BE49-F238E27FC236}">
                <a16:creationId xmlns:a16="http://schemas.microsoft.com/office/drawing/2014/main" id="{6EA5F69A-4E76-489C-960A-A5FABDE236CC}"/>
              </a:ext>
            </a:extLst>
          </p:cNvPr>
          <p:cNvSpPr txBox="1">
            <a:spLocks/>
          </p:cNvSpPr>
          <p:nvPr/>
        </p:nvSpPr>
        <p:spPr>
          <a:xfrm>
            <a:off x="455925" y="568689"/>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Financial Analysis: Case 1</a:t>
            </a:r>
          </a:p>
        </p:txBody>
      </p:sp>
      <p:graphicFrame>
        <p:nvGraphicFramePr>
          <p:cNvPr id="9" name="Table 8">
            <a:extLst>
              <a:ext uri="{FF2B5EF4-FFF2-40B4-BE49-F238E27FC236}">
                <a16:creationId xmlns:a16="http://schemas.microsoft.com/office/drawing/2014/main" id="{692E17D5-536F-417F-BA74-010A6005C82C}"/>
              </a:ext>
            </a:extLst>
          </p:cNvPr>
          <p:cNvGraphicFramePr>
            <a:graphicFrameLocks noGrp="1"/>
          </p:cNvGraphicFramePr>
          <p:nvPr>
            <p:extLst>
              <p:ext uri="{D42A27DB-BD31-4B8C-83A1-F6EECF244321}">
                <p14:modId xmlns:p14="http://schemas.microsoft.com/office/powerpoint/2010/main" val="1765489665"/>
              </p:ext>
            </p:extLst>
          </p:nvPr>
        </p:nvGraphicFramePr>
        <p:xfrm>
          <a:off x="455925" y="1051398"/>
          <a:ext cx="2592075" cy="2956560"/>
        </p:xfrm>
        <a:graphic>
          <a:graphicData uri="http://schemas.openxmlformats.org/drawingml/2006/table">
            <a:tbl>
              <a:tblPr firstRow="1" bandRow="1"/>
              <a:tblGrid>
                <a:gridCol w="1141966">
                  <a:extLst>
                    <a:ext uri="{9D8B030D-6E8A-4147-A177-3AD203B41FA5}">
                      <a16:colId xmlns:a16="http://schemas.microsoft.com/office/drawing/2014/main" val="1519637469"/>
                    </a:ext>
                  </a:extLst>
                </a:gridCol>
                <a:gridCol w="748145">
                  <a:extLst>
                    <a:ext uri="{9D8B030D-6E8A-4147-A177-3AD203B41FA5}">
                      <a16:colId xmlns:a16="http://schemas.microsoft.com/office/drawing/2014/main" val="679067988"/>
                    </a:ext>
                  </a:extLst>
                </a:gridCol>
                <a:gridCol w="701964">
                  <a:extLst>
                    <a:ext uri="{9D8B030D-6E8A-4147-A177-3AD203B41FA5}">
                      <a16:colId xmlns:a16="http://schemas.microsoft.com/office/drawing/2014/main" val="1869945321"/>
                    </a:ext>
                  </a:extLst>
                </a:gridCol>
              </a:tblGrid>
              <a:tr h="239501">
                <a:tc gridSpan="3">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Input Values</a:t>
                      </a:r>
                    </a:p>
                  </a:txBody>
                  <a:tcPr marL="45720" marR="45720"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80859489"/>
                  </a:ext>
                </a:extLst>
              </a:tr>
              <a:tr h="239501">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239501">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Project Size</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MW</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1,000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38918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Competitive Tariff (PPA)</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KWh</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2.94</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6399209"/>
                  </a:ext>
                </a:extLst>
              </a:tr>
              <a:tr h="239501">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CUF</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71017641"/>
                  </a:ext>
                </a:extLst>
              </a:tr>
              <a:tr h="38918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Degradation Factor</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0.50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55544692"/>
                  </a:ext>
                </a:extLst>
              </a:tr>
              <a:tr h="38918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Lease</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Cr/MW</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0.03</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299069226"/>
                  </a:ext>
                </a:extLst>
              </a:tr>
              <a:tr h="38918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Annual units Generated</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MUs</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1,743</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12318963"/>
                  </a:ext>
                </a:extLst>
              </a:tr>
              <a:tr h="38918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PSA rate from DISCOM’s</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KWh</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30584628"/>
                  </a:ext>
                </a:extLst>
              </a:tr>
            </a:tbl>
          </a:graphicData>
        </a:graphic>
      </p:graphicFrame>
      <p:graphicFrame>
        <p:nvGraphicFramePr>
          <p:cNvPr id="13" name="Chart 12">
            <a:extLst>
              <a:ext uri="{FF2B5EF4-FFF2-40B4-BE49-F238E27FC236}">
                <a16:creationId xmlns:a16="http://schemas.microsoft.com/office/drawing/2014/main" id="{9A22FDBF-CB5D-4463-8F9B-7E73F7136169}"/>
              </a:ext>
            </a:extLst>
          </p:cNvPr>
          <p:cNvGraphicFramePr/>
          <p:nvPr>
            <p:extLst>
              <p:ext uri="{D42A27DB-BD31-4B8C-83A1-F6EECF244321}">
                <p14:modId xmlns:p14="http://schemas.microsoft.com/office/powerpoint/2010/main" val="219295766"/>
              </p:ext>
            </p:extLst>
          </p:nvPr>
        </p:nvGraphicFramePr>
        <p:xfrm>
          <a:off x="455925" y="4317559"/>
          <a:ext cx="11218818" cy="22752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Table 13">
            <a:extLst>
              <a:ext uri="{FF2B5EF4-FFF2-40B4-BE49-F238E27FC236}">
                <a16:creationId xmlns:a16="http://schemas.microsoft.com/office/drawing/2014/main" id="{27497F9D-A06F-4783-9986-EB43DF1FE1B9}"/>
              </a:ext>
            </a:extLst>
          </p:cNvPr>
          <p:cNvGraphicFramePr>
            <a:graphicFrameLocks noGrp="1"/>
          </p:cNvGraphicFramePr>
          <p:nvPr>
            <p:extLst>
              <p:ext uri="{D42A27DB-BD31-4B8C-83A1-F6EECF244321}">
                <p14:modId xmlns:p14="http://schemas.microsoft.com/office/powerpoint/2010/main" val="664709603"/>
              </p:ext>
            </p:extLst>
          </p:nvPr>
        </p:nvGraphicFramePr>
        <p:xfrm>
          <a:off x="8155173" y="1062161"/>
          <a:ext cx="3427108" cy="2943639"/>
        </p:xfrm>
        <a:graphic>
          <a:graphicData uri="http://schemas.openxmlformats.org/drawingml/2006/table">
            <a:tbl>
              <a:tblPr firstRow="1" bandRow="1"/>
              <a:tblGrid>
                <a:gridCol w="1798007">
                  <a:extLst>
                    <a:ext uri="{9D8B030D-6E8A-4147-A177-3AD203B41FA5}">
                      <a16:colId xmlns:a16="http://schemas.microsoft.com/office/drawing/2014/main" val="863211157"/>
                    </a:ext>
                  </a:extLst>
                </a:gridCol>
                <a:gridCol w="701000">
                  <a:extLst>
                    <a:ext uri="{9D8B030D-6E8A-4147-A177-3AD203B41FA5}">
                      <a16:colId xmlns:a16="http://schemas.microsoft.com/office/drawing/2014/main" val="1030504356"/>
                    </a:ext>
                  </a:extLst>
                </a:gridCol>
                <a:gridCol w="928101">
                  <a:extLst>
                    <a:ext uri="{9D8B030D-6E8A-4147-A177-3AD203B41FA5}">
                      <a16:colId xmlns:a16="http://schemas.microsoft.com/office/drawing/2014/main" val="1625386413"/>
                    </a:ext>
                  </a:extLst>
                </a:gridCol>
              </a:tblGrid>
              <a:tr h="447809">
                <a:tc gridSpan="3">
                  <a:txBody>
                    <a:bodyPr/>
                    <a:lstStyle/>
                    <a:p>
                      <a:pPr marL="0" marR="0" indent="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45720" marR="45720"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252931">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425165">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Payables to Selected Bidder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12,813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622935">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 from sale of Power and lease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13,824</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769634">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Savings in Power Purchase cost specific to JBVNL</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1,909</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818629487"/>
                  </a:ext>
                </a:extLst>
              </a:tr>
              <a:tr h="425165">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 on account of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2,920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bl>
          </a:graphicData>
        </a:graphic>
      </p:graphicFrame>
      <p:graphicFrame>
        <p:nvGraphicFramePr>
          <p:cNvPr id="17" name="Table 16">
            <a:extLst>
              <a:ext uri="{FF2B5EF4-FFF2-40B4-BE49-F238E27FC236}">
                <a16:creationId xmlns:a16="http://schemas.microsoft.com/office/drawing/2014/main" id="{092B7933-066E-49A7-9E2C-9A6F0B77DD4C}"/>
              </a:ext>
            </a:extLst>
          </p:cNvPr>
          <p:cNvGraphicFramePr>
            <a:graphicFrameLocks noGrp="1"/>
          </p:cNvGraphicFramePr>
          <p:nvPr>
            <p:extLst>
              <p:ext uri="{D42A27DB-BD31-4B8C-83A1-F6EECF244321}">
                <p14:modId xmlns:p14="http://schemas.microsoft.com/office/powerpoint/2010/main" val="3885547069"/>
              </p:ext>
            </p:extLst>
          </p:nvPr>
        </p:nvGraphicFramePr>
        <p:xfrm>
          <a:off x="3666257" y="1053802"/>
          <a:ext cx="4127409" cy="2979192"/>
        </p:xfrm>
        <a:graphic>
          <a:graphicData uri="http://schemas.openxmlformats.org/drawingml/2006/table">
            <a:tbl>
              <a:tblPr firstRow="1" bandRow="1"/>
              <a:tblGrid>
                <a:gridCol w="2165415">
                  <a:extLst>
                    <a:ext uri="{9D8B030D-6E8A-4147-A177-3AD203B41FA5}">
                      <a16:colId xmlns:a16="http://schemas.microsoft.com/office/drawing/2014/main" val="863211157"/>
                    </a:ext>
                  </a:extLst>
                </a:gridCol>
                <a:gridCol w="844244">
                  <a:extLst>
                    <a:ext uri="{9D8B030D-6E8A-4147-A177-3AD203B41FA5}">
                      <a16:colId xmlns:a16="http://schemas.microsoft.com/office/drawing/2014/main" val="1030504356"/>
                    </a:ext>
                  </a:extLst>
                </a:gridCol>
                <a:gridCol w="1117750">
                  <a:extLst>
                    <a:ext uri="{9D8B030D-6E8A-4147-A177-3AD203B41FA5}">
                      <a16:colId xmlns:a16="http://schemas.microsoft.com/office/drawing/2014/main" val="1625386413"/>
                    </a:ext>
                  </a:extLst>
                </a:gridCol>
              </a:tblGrid>
              <a:tr h="246030">
                <a:tc gridSpan="3">
                  <a:txBody>
                    <a:bodyPr/>
                    <a:lstStyle/>
                    <a:p>
                      <a:pPr marL="0" marR="0" indent="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Yearly Financials for Project</a:t>
                      </a:r>
                    </a:p>
                  </a:txBody>
                  <a:tcPr marL="45720" marR="45720"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246030">
                <a:tc>
                  <a:txBody>
                    <a:bodyPr/>
                    <a:lstStyle/>
                    <a:p>
                      <a:pPr marL="0" marR="0" indent="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369046">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Up-front Equity Infusion by GoJ</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0</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41540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to  Selected Bidder</a:t>
                      </a:r>
                    </a:p>
                  </a:txBody>
                  <a:tcPr marL="45720" marR="4572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513</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41540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sale of Power to DISCOMs</a:t>
                      </a:r>
                      <a:endPar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45720" marR="4572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523</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818629487"/>
                  </a:ext>
                </a:extLst>
              </a:tr>
              <a:tr h="304633">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Lease</a:t>
                      </a:r>
                    </a:p>
                  </a:txBody>
                  <a:tcPr marL="45720" marR="4572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30</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r h="540032">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Power Purchase cost specific to JBVNL</a:t>
                      </a:r>
                    </a:p>
                  </a:txBody>
                  <a:tcPr marL="45720" marR="4572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p>
                      <a:pPr marL="91440" marR="0" algn="ctr">
                        <a:lnSpc>
                          <a:spcPts val="1200"/>
                        </a:lnSpc>
                        <a:spcBef>
                          <a:spcPts val="300"/>
                        </a:spcBef>
                        <a:spcAft>
                          <a:spcPts val="300"/>
                        </a:spcAft>
                      </a:pPr>
                      <a:endPar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77</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966338095"/>
                  </a:ext>
                </a:extLst>
              </a:tr>
              <a:tr h="41540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 on account of GoJ</a:t>
                      </a:r>
                    </a:p>
                  </a:txBody>
                  <a:tcPr marL="45720" marR="4572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117</a:t>
                      </a:r>
                    </a:p>
                  </a:txBody>
                  <a:tcPr marL="45720" marR="4572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195151990"/>
                  </a:ext>
                </a:extLst>
              </a:tr>
            </a:tbl>
          </a:graphicData>
        </a:graphic>
      </p:graphicFrame>
    </p:spTree>
    <p:extLst>
      <p:ext uri="{BB962C8B-B14F-4D97-AF65-F5344CB8AC3E}">
        <p14:creationId xmlns:p14="http://schemas.microsoft.com/office/powerpoint/2010/main" val="368105139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A56C2F-0450-483B-86E7-A942B79CABF3}"/>
              </a:ext>
            </a:extLst>
          </p:cNvPr>
          <p:cNvSpPr>
            <a:spLocks noGrp="1"/>
          </p:cNvSpPr>
          <p:nvPr>
            <p:ph type="title"/>
          </p:nvPr>
        </p:nvSpPr>
        <p:spPr>
          <a:xfrm>
            <a:off x="455925" y="222685"/>
            <a:ext cx="11128668" cy="346004"/>
          </a:xfrm>
        </p:spPr>
        <p:txBody>
          <a:bodyPr/>
          <a:lstStyle/>
          <a:p>
            <a:r>
              <a:rPr lang="en-US" sz="1600" b="1" dirty="0">
                <a:latin typeface="Verdana" panose="020B0604030504040204" pitchFamily="34" charset="0"/>
                <a:ea typeface="Verdana" panose="020B0604030504040204" pitchFamily="34" charset="0"/>
              </a:rPr>
              <a:t>Competitive Bidding/Plug &amp; Play Model/OPEX (3/4) </a:t>
            </a:r>
          </a:p>
        </p:txBody>
      </p:sp>
      <p:sp>
        <p:nvSpPr>
          <p:cNvPr id="8" name="Text Placeholder 2">
            <a:extLst>
              <a:ext uri="{FF2B5EF4-FFF2-40B4-BE49-F238E27FC236}">
                <a16:creationId xmlns:a16="http://schemas.microsoft.com/office/drawing/2014/main" id="{6EA5F69A-4E76-489C-960A-A5FABDE236CC}"/>
              </a:ext>
            </a:extLst>
          </p:cNvPr>
          <p:cNvSpPr txBox="1">
            <a:spLocks/>
          </p:cNvSpPr>
          <p:nvPr/>
        </p:nvSpPr>
        <p:spPr>
          <a:xfrm>
            <a:off x="455925" y="568689"/>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Financial Analysis: Case 2</a:t>
            </a:r>
          </a:p>
        </p:txBody>
      </p:sp>
      <p:graphicFrame>
        <p:nvGraphicFramePr>
          <p:cNvPr id="9" name="Table 8">
            <a:extLst>
              <a:ext uri="{FF2B5EF4-FFF2-40B4-BE49-F238E27FC236}">
                <a16:creationId xmlns:a16="http://schemas.microsoft.com/office/drawing/2014/main" id="{692E17D5-536F-417F-BA74-010A6005C82C}"/>
              </a:ext>
            </a:extLst>
          </p:cNvPr>
          <p:cNvGraphicFramePr>
            <a:graphicFrameLocks noGrp="1"/>
          </p:cNvGraphicFramePr>
          <p:nvPr>
            <p:extLst>
              <p:ext uri="{D42A27DB-BD31-4B8C-83A1-F6EECF244321}">
                <p14:modId xmlns:p14="http://schemas.microsoft.com/office/powerpoint/2010/main" val="1650397815"/>
              </p:ext>
            </p:extLst>
          </p:nvPr>
        </p:nvGraphicFramePr>
        <p:xfrm>
          <a:off x="455925" y="1051397"/>
          <a:ext cx="2592075" cy="2956560"/>
        </p:xfrm>
        <a:graphic>
          <a:graphicData uri="http://schemas.openxmlformats.org/drawingml/2006/table">
            <a:tbl>
              <a:tblPr firstRow="1" bandRow="1"/>
              <a:tblGrid>
                <a:gridCol w="1141966">
                  <a:extLst>
                    <a:ext uri="{9D8B030D-6E8A-4147-A177-3AD203B41FA5}">
                      <a16:colId xmlns:a16="http://schemas.microsoft.com/office/drawing/2014/main" val="1519637469"/>
                    </a:ext>
                  </a:extLst>
                </a:gridCol>
                <a:gridCol w="748145">
                  <a:extLst>
                    <a:ext uri="{9D8B030D-6E8A-4147-A177-3AD203B41FA5}">
                      <a16:colId xmlns:a16="http://schemas.microsoft.com/office/drawing/2014/main" val="679067988"/>
                    </a:ext>
                  </a:extLst>
                </a:gridCol>
                <a:gridCol w="701964">
                  <a:extLst>
                    <a:ext uri="{9D8B030D-6E8A-4147-A177-3AD203B41FA5}">
                      <a16:colId xmlns:a16="http://schemas.microsoft.com/office/drawing/2014/main" val="1869945321"/>
                    </a:ext>
                  </a:extLst>
                </a:gridCol>
              </a:tblGrid>
              <a:tr h="171851">
                <a:tc gridSpan="3">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Input Values</a:t>
                      </a:r>
                    </a:p>
                  </a:txBody>
                  <a:tcPr marL="45720" marR="45720"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80859489"/>
                  </a:ext>
                </a:extLst>
              </a:tr>
              <a:tr h="171851">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171851">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Project Size</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MW</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1,000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27925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Competitive Tariff (PPA)</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KWh</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2.94</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6399209"/>
                  </a:ext>
                </a:extLst>
              </a:tr>
              <a:tr h="171851">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CUF</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71017641"/>
                  </a:ext>
                </a:extLst>
              </a:tr>
              <a:tr h="27925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Degradation Factor</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0.50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55544692"/>
                  </a:ext>
                </a:extLst>
              </a:tr>
              <a:tr h="27925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Lease</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Cr/MW</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0.03</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299069226"/>
                  </a:ext>
                </a:extLst>
              </a:tr>
              <a:tr h="27925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Annual units Generated</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MUs</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1,743</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12318963"/>
                  </a:ext>
                </a:extLst>
              </a:tr>
              <a:tr h="27925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power sold to JBVNL</a:t>
                      </a:r>
                    </a:p>
                  </a:txBody>
                  <a:tcPr marL="45720" marR="45720"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45720" marR="4572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30</a:t>
                      </a:r>
                    </a:p>
                  </a:txBody>
                  <a:tcPr marL="45720" marR="45720"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30584628"/>
                  </a:ext>
                </a:extLst>
              </a:tr>
            </a:tbl>
          </a:graphicData>
        </a:graphic>
      </p:graphicFrame>
      <p:graphicFrame>
        <p:nvGraphicFramePr>
          <p:cNvPr id="13" name="Chart 12">
            <a:extLst>
              <a:ext uri="{FF2B5EF4-FFF2-40B4-BE49-F238E27FC236}">
                <a16:creationId xmlns:a16="http://schemas.microsoft.com/office/drawing/2014/main" id="{9A22FDBF-CB5D-4463-8F9B-7E73F7136169}"/>
              </a:ext>
            </a:extLst>
          </p:cNvPr>
          <p:cNvGraphicFramePr/>
          <p:nvPr>
            <p:extLst>
              <p:ext uri="{D42A27DB-BD31-4B8C-83A1-F6EECF244321}">
                <p14:modId xmlns:p14="http://schemas.microsoft.com/office/powerpoint/2010/main" val="2949595477"/>
              </p:ext>
            </p:extLst>
          </p:nvPr>
        </p:nvGraphicFramePr>
        <p:xfrm>
          <a:off x="365775" y="4317559"/>
          <a:ext cx="11218818" cy="22752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Table 13">
            <a:extLst>
              <a:ext uri="{FF2B5EF4-FFF2-40B4-BE49-F238E27FC236}">
                <a16:creationId xmlns:a16="http://schemas.microsoft.com/office/drawing/2014/main" id="{27497F9D-A06F-4783-9986-EB43DF1FE1B9}"/>
              </a:ext>
            </a:extLst>
          </p:cNvPr>
          <p:cNvGraphicFramePr>
            <a:graphicFrameLocks noGrp="1"/>
          </p:cNvGraphicFramePr>
          <p:nvPr>
            <p:extLst>
              <p:ext uri="{D42A27DB-BD31-4B8C-83A1-F6EECF244321}">
                <p14:modId xmlns:p14="http://schemas.microsoft.com/office/powerpoint/2010/main" val="3920870496"/>
              </p:ext>
            </p:extLst>
          </p:nvPr>
        </p:nvGraphicFramePr>
        <p:xfrm>
          <a:off x="7682406" y="1051397"/>
          <a:ext cx="3843290" cy="2967450"/>
        </p:xfrm>
        <a:graphic>
          <a:graphicData uri="http://schemas.openxmlformats.org/drawingml/2006/table">
            <a:tbl>
              <a:tblPr firstRow="1" bandRow="1"/>
              <a:tblGrid>
                <a:gridCol w="1313885">
                  <a:extLst>
                    <a:ext uri="{9D8B030D-6E8A-4147-A177-3AD203B41FA5}">
                      <a16:colId xmlns:a16="http://schemas.microsoft.com/office/drawing/2014/main" val="863211157"/>
                    </a:ext>
                  </a:extLst>
                </a:gridCol>
                <a:gridCol w="891385">
                  <a:extLst>
                    <a:ext uri="{9D8B030D-6E8A-4147-A177-3AD203B41FA5}">
                      <a16:colId xmlns:a16="http://schemas.microsoft.com/office/drawing/2014/main" val="1030504356"/>
                    </a:ext>
                  </a:extLst>
                </a:gridCol>
                <a:gridCol w="819010">
                  <a:extLst>
                    <a:ext uri="{9D8B030D-6E8A-4147-A177-3AD203B41FA5}">
                      <a16:colId xmlns:a16="http://schemas.microsoft.com/office/drawing/2014/main" val="1625386413"/>
                    </a:ext>
                  </a:extLst>
                </a:gridCol>
                <a:gridCol w="819010">
                  <a:extLst>
                    <a:ext uri="{9D8B030D-6E8A-4147-A177-3AD203B41FA5}">
                      <a16:colId xmlns:a16="http://schemas.microsoft.com/office/drawing/2014/main" val="2867613149"/>
                    </a:ext>
                  </a:extLst>
                </a:gridCol>
              </a:tblGrid>
              <a:tr h="296506">
                <a:tc gridSpan="4">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just">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230171">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386907">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Payables by JBVNL</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3,844</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1,538</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496375">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 from lease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750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750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857113">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Savings in Power Purchase cost specific to JBVNL</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1,987</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795</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818629487"/>
                  </a:ext>
                </a:extLst>
              </a:tr>
              <a:tr h="700378">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Profit/(Loss) on account of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(1,107)</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bl>
          </a:graphicData>
        </a:graphic>
      </p:graphicFrame>
      <p:graphicFrame>
        <p:nvGraphicFramePr>
          <p:cNvPr id="17" name="Table 16">
            <a:extLst>
              <a:ext uri="{FF2B5EF4-FFF2-40B4-BE49-F238E27FC236}">
                <a16:creationId xmlns:a16="http://schemas.microsoft.com/office/drawing/2014/main" id="{092B7933-066E-49A7-9E2C-9A6F0B77DD4C}"/>
              </a:ext>
            </a:extLst>
          </p:cNvPr>
          <p:cNvGraphicFramePr>
            <a:graphicFrameLocks noGrp="1"/>
          </p:cNvGraphicFramePr>
          <p:nvPr>
            <p:extLst>
              <p:ext uri="{D42A27DB-BD31-4B8C-83A1-F6EECF244321}">
                <p14:modId xmlns:p14="http://schemas.microsoft.com/office/powerpoint/2010/main" val="2194967854"/>
              </p:ext>
            </p:extLst>
          </p:nvPr>
        </p:nvGraphicFramePr>
        <p:xfrm>
          <a:off x="3294117" y="1053802"/>
          <a:ext cx="4182292" cy="2967449"/>
        </p:xfrm>
        <a:graphic>
          <a:graphicData uri="http://schemas.openxmlformats.org/drawingml/2006/table">
            <a:tbl>
              <a:tblPr firstRow="1" bandRow="1"/>
              <a:tblGrid>
                <a:gridCol w="1609735">
                  <a:extLst>
                    <a:ext uri="{9D8B030D-6E8A-4147-A177-3AD203B41FA5}">
                      <a16:colId xmlns:a16="http://schemas.microsoft.com/office/drawing/2014/main" val="863211157"/>
                    </a:ext>
                  </a:extLst>
                </a:gridCol>
                <a:gridCol w="737507">
                  <a:extLst>
                    <a:ext uri="{9D8B030D-6E8A-4147-A177-3AD203B41FA5}">
                      <a16:colId xmlns:a16="http://schemas.microsoft.com/office/drawing/2014/main" val="1030504356"/>
                    </a:ext>
                  </a:extLst>
                </a:gridCol>
                <a:gridCol w="721007">
                  <a:extLst>
                    <a:ext uri="{9D8B030D-6E8A-4147-A177-3AD203B41FA5}">
                      <a16:colId xmlns:a16="http://schemas.microsoft.com/office/drawing/2014/main" val="1625386413"/>
                    </a:ext>
                  </a:extLst>
                </a:gridCol>
                <a:gridCol w="1114043">
                  <a:extLst>
                    <a:ext uri="{9D8B030D-6E8A-4147-A177-3AD203B41FA5}">
                      <a16:colId xmlns:a16="http://schemas.microsoft.com/office/drawing/2014/main" val="208595509"/>
                    </a:ext>
                  </a:extLst>
                </a:gridCol>
              </a:tblGrid>
              <a:tr h="259982">
                <a:tc gridSpan="4">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Yearly Financials for Project</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just">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320791">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385618">
                <a:tc>
                  <a:txBody>
                    <a:bodyPr/>
                    <a:lstStyle/>
                    <a:p>
                      <a:pPr marL="92075"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Up-front Equity Infusion by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a:t>
                      </a:r>
                    </a:p>
                  </a:txBody>
                  <a:tcPr marL="91561" marR="91561" marT="91440" marB="91440" anchor="ctr" horzOverflow="overflow">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a:t>
                      </a:r>
                    </a:p>
                  </a:txBody>
                  <a:tcPr marL="91561" marR="91561" marT="91440" marB="9144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46778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to  Selected Bidder</a:t>
                      </a:r>
                    </a:p>
                  </a:txBody>
                  <a:tcPr marL="91561" marR="91561" marT="91440" marB="9144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154</a:t>
                      </a:r>
                    </a:p>
                  </a:txBody>
                  <a:tcPr marL="91561" marR="91561" marT="91440" marB="91440" anchor="ctr" horzOverflow="overflow">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62</a:t>
                      </a:r>
                    </a:p>
                  </a:txBody>
                  <a:tcPr marL="91561" marR="91561" marT="91440" marB="9144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38561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Lease</a:t>
                      </a:r>
                    </a:p>
                  </a:txBody>
                  <a:tcPr marL="91561" marR="91561" marT="91440" marB="9144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30</a:t>
                      </a:r>
                    </a:p>
                  </a:txBody>
                  <a:tcPr marL="91561" marR="91561" marT="91440" marB="91440" anchor="ctr" horzOverflow="overflow">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30</a:t>
                      </a:r>
                    </a:p>
                  </a:txBody>
                  <a:tcPr marL="91561" marR="91561" marT="91440" marB="9144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r h="414724">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Power Purchase cost specific to JBVNL</a:t>
                      </a:r>
                    </a:p>
                  </a:txBody>
                  <a:tcPr marL="91561" marR="91561" marT="91440" marB="9144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79</a:t>
                      </a:r>
                    </a:p>
                  </a:txBody>
                  <a:tcPr marL="91561" marR="91561" marT="91440" marB="91440" anchor="ctr" horzOverflow="overflow">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31.80</a:t>
                      </a:r>
                    </a:p>
                  </a:txBody>
                  <a:tcPr marL="91561" marR="91561" marT="91440" marB="9144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966338095"/>
                  </a:ext>
                </a:extLst>
              </a:tr>
              <a:tr h="46778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 on account of GoJ</a:t>
                      </a:r>
                    </a:p>
                  </a:txBody>
                  <a:tcPr marL="91561" marR="91561" marT="91440" marB="91440" anchor="ctr" horzOverflow="overflow">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(45)</a:t>
                      </a:r>
                    </a:p>
                  </a:txBody>
                  <a:tcPr marL="91561" marR="91561" marT="91440" marB="91440" anchor="ctr" horzOverflow="overflow">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0.30</a:t>
                      </a:r>
                    </a:p>
                  </a:txBody>
                  <a:tcPr marL="91561" marR="91561" marT="91440" marB="91440" anchor="ctr" horzOverflow="overflow">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195151990"/>
                  </a:ext>
                </a:extLst>
              </a:tr>
            </a:tbl>
          </a:graphicData>
        </a:graphic>
      </p:graphicFrame>
      <p:sp>
        <p:nvSpPr>
          <p:cNvPr id="2" name="TextBox 1">
            <a:extLst>
              <a:ext uri="{FF2B5EF4-FFF2-40B4-BE49-F238E27FC236}">
                <a16:creationId xmlns:a16="http://schemas.microsoft.com/office/drawing/2014/main" id="{173BCD00-E85E-4CD3-9A68-2E2BB47EC134}"/>
              </a:ext>
            </a:extLst>
          </p:cNvPr>
          <p:cNvSpPr txBox="1"/>
          <p:nvPr/>
        </p:nvSpPr>
        <p:spPr>
          <a:xfrm>
            <a:off x="3262218" y="4101624"/>
            <a:ext cx="5541540" cy="138499"/>
          </a:xfrm>
          <a:prstGeom prst="rect">
            <a:avLst/>
          </a:prstGeom>
          <a:noFill/>
        </p:spPr>
        <p:txBody>
          <a:bodyPr wrap="square" lIns="0" tIns="0" rIns="0" bIns="0" rtlCol="0">
            <a:spAutoFit/>
          </a:bodyPr>
          <a:lstStyle/>
          <a:p>
            <a:pPr>
              <a:spcBef>
                <a:spcPts val="600"/>
              </a:spcBef>
              <a:buSzPct val="100000"/>
            </a:pPr>
            <a:r>
              <a:rPr lang="en-US" sz="900" b="1" i="1" dirty="0">
                <a:solidFill>
                  <a:srgbClr val="313131"/>
                </a:solidFill>
                <a:latin typeface="Verdana" panose="020B0604030504040204" pitchFamily="34" charset="0"/>
                <a:ea typeface="Verdana" panose="020B0604030504040204" pitchFamily="34" charset="0"/>
              </a:rPr>
              <a:t>* 30% of total power generated sold to JBVNL, # 12% of power sold to JBVNL</a:t>
            </a:r>
          </a:p>
        </p:txBody>
      </p:sp>
    </p:spTree>
    <p:extLst>
      <p:ext uri="{BB962C8B-B14F-4D97-AF65-F5344CB8AC3E}">
        <p14:creationId xmlns:p14="http://schemas.microsoft.com/office/powerpoint/2010/main" val="35840106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92CB599-5CED-48C5-AAA3-882A66E9EB5B}"/>
              </a:ext>
            </a:extLst>
          </p:cNvPr>
          <p:cNvGrpSpPr/>
          <p:nvPr/>
        </p:nvGrpSpPr>
        <p:grpSpPr>
          <a:xfrm>
            <a:off x="427558" y="1238692"/>
            <a:ext cx="5419059" cy="5143632"/>
            <a:chOff x="8240371" y="1266374"/>
            <a:chExt cx="3531082" cy="4982648"/>
          </a:xfrm>
        </p:grpSpPr>
        <p:sp>
          <p:nvSpPr>
            <p:cNvPr id="29" name="Rectangle 28">
              <a:extLst>
                <a:ext uri="{FF2B5EF4-FFF2-40B4-BE49-F238E27FC236}">
                  <a16:creationId xmlns:a16="http://schemas.microsoft.com/office/drawing/2014/main" id="{33EF4BBB-23A7-4A9D-A645-655BA5F070F8}"/>
                </a:ext>
              </a:extLst>
            </p:cNvPr>
            <p:cNvSpPr/>
            <p:nvPr/>
          </p:nvSpPr>
          <p:spPr bwMode="gray">
            <a:xfrm>
              <a:off x="8240371" y="1650289"/>
              <a:ext cx="3531082" cy="4598733"/>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0" marR="0" lvl="1" algn="l" defTabSz="914400" rtl="0" eaLnBrk="1" fontAlgn="auto" latinLnBrk="0" hangingPunct="1">
                <a:spcBef>
                  <a:spcPts val="300"/>
                </a:spcBef>
                <a:spcAft>
                  <a:spcPts val="0"/>
                </a:spcAft>
                <a:buClrTx/>
                <a:buSzTx/>
                <a:tabLst>
                  <a:tab pos="88900" algn="l"/>
                </a:tabLst>
                <a:defRPr/>
              </a:pPr>
              <a:endParaRPr lang="en-US" sz="1100" dirty="0">
                <a:solidFill>
                  <a:prstClr val="black"/>
                </a:solidFill>
                <a:latin typeface="Verdana" panose="020B0604030504040204" pitchFamily="34" charset="0"/>
                <a:ea typeface="Verdana" panose="020B0604030504040204" pitchFamily="34" charset="0"/>
              </a:endParaRPr>
            </a:p>
            <a:p>
              <a:pPr marL="0" marR="0" lvl="1" algn="l" defTabSz="914400" rtl="0" eaLnBrk="1" fontAlgn="auto" latinLnBrk="0" hangingPunct="1">
                <a:spcBef>
                  <a:spcPts val="300"/>
                </a:spcBef>
                <a:spcAft>
                  <a:spcPts val="0"/>
                </a:spcAft>
                <a:buClrTx/>
                <a:buSzTx/>
                <a:tabLst>
                  <a:tab pos="88900" algn="l"/>
                </a:tabLst>
                <a:defRPr/>
              </a:pPr>
              <a:endParaRPr lang="en-US" sz="1100" b="1" dirty="0">
                <a:solidFill>
                  <a:prstClr val="black"/>
                </a:solidFill>
                <a:latin typeface="Verdana" panose="020B0604030504040204" pitchFamily="34" charset="0"/>
                <a:ea typeface="Verdana" panose="020B0604030504040204" pitchFamily="34" charset="0"/>
              </a:endParaRPr>
            </a:p>
            <a:p>
              <a:pPr marL="0" marR="0" lvl="1" algn="l" defTabSz="914400" rtl="0" eaLnBrk="1" fontAlgn="auto" latinLnBrk="0" hangingPunct="1">
                <a:spcBef>
                  <a:spcPts val="300"/>
                </a:spcBef>
                <a:spcAft>
                  <a:spcPts val="0"/>
                </a:spcAft>
                <a:buClrTx/>
                <a:buSzTx/>
                <a:tabLst>
                  <a:tab pos="88900" algn="l"/>
                </a:tabLst>
                <a:defRPr/>
              </a:pPr>
              <a:r>
                <a:rPr lang="en-US" sz="1100" b="1" dirty="0">
                  <a:solidFill>
                    <a:prstClr val="black"/>
                  </a:solidFill>
                  <a:latin typeface="Verdana" panose="020B0604030504040204" pitchFamily="34" charset="0"/>
                  <a:ea typeface="Verdana" panose="020B0604030504040204" pitchFamily="34" charset="0"/>
                </a:rPr>
                <a:t>CASE 1:</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will act as a renewable aggregator of the State and will sell power generated to State DISCOM as well as other DISCOMs outside the State.</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This model is profitable as it yields annual profit of Rs. 117 Cr.</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Further, this project not only helps in fulfilling RPO obligation of the State and State DISCOM. It also leads to annual saving of Rs. 77 Cr. in the Power purchase cost of JBVNL.</a:t>
              </a:r>
            </a:p>
            <a:p>
              <a:pPr marL="0" marR="0" lvl="1" algn="l" defTabSz="914400" rtl="0" eaLnBrk="1" fontAlgn="auto" latinLnBrk="0" hangingPunct="1">
                <a:spcBef>
                  <a:spcPts val="300"/>
                </a:spcBef>
                <a:spcAft>
                  <a:spcPts val="0"/>
                </a:spcAft>
                <a:buClrTx/>
                <a:buSzTx/>
                <a:tabLst>
                  <a:tab pos="88900" algn="l"/>
                </a:tabLst>
                <a:defRPr/>
              </a:pPr>
              <a:endParaRPr lang="en-US" sz="1100" b="1" dirty="0">
                <a:solidFill>
                  <a:prstClr val="black"/>
                </a:solidFill>
                <a:latin typeface="Verdana" panose="020B0604030504040204" pitchFamily="34" charset="0"/>
                <a:ea typeface="Verdana" panose="020B0604030504040204" pitchFamily="34" charset="0"/>
              </a:endParaRPr>
            </a:p>
            <a:p>
              <a:pPr marL="0" marR="0" lvl="1" algn="l" defTabSz="914400" rtl="0" eaLnBrk="1" fontAlgn="auto" latinLnBrk="0" hangingPunct="1">
                <a:spcBef>
                  <a:spcPts val="300"/>
                </a:spcBef>
                <a:spcAft>
                  <a:spcPts val="0"/>
                </a:spcAft>
                <a:buClrTx/>
                <a:buSzTx/>
                <a:tabLst>
                  <a:tab pos="88900" algn="l"/>
                </a:tabLst>
                <a:defRPr/>
              </a:pPr>
              <a:r>
                <a:rPr lang="en-US" sz="1100" b="1" dirty="0">
                  <a:solidFill>
                    <a:prstClr val="black"/>
                  </a:solidFill>
                  <a:latin typeface="Verdana" panose="020B0604030504040204" pitchFamily="34" charset="0"/>
                  <a:ea typeface="Verdana" panose="020B0604030504040204" pitchFamily="34" charset="0"/>
                </a:rPr>
                <a:t>CASE 2:</a:t>
              </a:r>
            </a:p>
            <a:p>
              <a:pPr marL="171450" lvl="1" indent="-171450">
                <a:spcBef>
                  <a:spcPts val="300"/>
                </a:spcBef>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will act as a nodal agency of the State and will facilitate in selecting developers for setting up of Floating solar power plant.</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The Developer will sale minimum 30% power to State DISCOM (JBVNL) and further will sale rest of the power to other DISCOMs outside the State.</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This project will help in fulfilling RPO obligation of the State and JBVNL.</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It will also lead to annual saving of Rs. 79 Cr. in the Power purchase cost of JBVNL.</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This project is not profitable as the only tangible source of income is from lease rent.</a:t>
              </a:r>
            </a:p>
            <a:p>
              <a:pPr marL="171450" lvl="1" indent="-171450">
                <a:spcBef>
                  <a:spcPts val="300"/>
                </a:spcBef>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The Project becomes profitable when ~12% of the total power is sold to JBVNL and rest of the power is sold to other DISCOMs outside the State. This altogether defeats the purpose and objective of the State Solar Policy 2022.</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endParaRPr lang="en-US" sz="1100" dirty="0">
                <a:solidFill>
                  <a:prstClr val="black"/>
                </a:solidFill>
                <a:latin typeface="Verdana" panose="020B0604030504040204" pitchFamily="34" charset="0"/>
                <a:ea typeface="Verdana" panose="020B0604030504040204" pitchFamily="34" charset="0"/>
              </a:endParaRPr>
            </a:p>
            <a:p>
              <a:pPr marL="171450" lvl="1" indent="-171450">
                <a:spcBef>
                  <a:spcPts val="300"/>
                </a:spcBef>
                <a:buFont typeface="Arial" panose="020B0604020202020204" pitchFamily="34" charset="0"/>
                <a:buChar char="•"/>
                <a:tabLst>
                  <a:tab pos="88900" algn="l"/>
                </a:tabLst>
                <a:defRPr/>
              </a:pPr>
              <a:endParaRPr lang="en-US" sz="1100" dirty="0">
                <a:solidFill>
                  <a:prstClr val="black"/>
                </a:solidFill>
                <a:latin typeface="Verdana" panose="020B0604030504040204" pitchFamily="34" charset="0"/>
                <a:ea typeface="Verdana" panose="020B0604030504040204" pitchFamily="34" charset="0"/>
              </a:endParaRP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endParaRPr lang="en-US" sz="1100" dirty="0">
                <a:solidFill>
                  <a:prstClr val="black"/>
                </a:solidFill>
                <a:latin typeface="Verdana" panose="020B0604030504040204" pitchFamily="34" charset="0"/>
                <a:ea typeface="Verdana" panose="020B0604030504040204" pitchFamily="34" charset="0"/>
              </a:endParaRPr>
            </a:p>
          </p:txBody>
        </p:sp>
        <p:sp>
          <p:nvSpPr>
            <p:cNvPr id="30" name="Rectangle 29">
              <a:extLst>
                <a:ext uri="{FF2B5EF4-FFF2-40B4-BE49-F238E27FC236}">
                  <a16:creationId xmlns:a16="http://schemas.microsoft.com/office/drawing/2014/main" id="{6FA56363-A0B6-4F31-96E7-EC444718AA07}"/>
                </a:ext>
              </a:extLst>
            </p:cNvPr>
            <p:cNvSpPr/>
            <p:nvPr/>
          </p:nvSpPr>
          <p:spPr bwMode="gray">
            <a:xfrm>
              <a:off x="8243839" y="1266374"/>
              <a:ext cx="3527614" cy="383915"/>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b="1" dirty="0">
                  <a:solidFill>
                    <a:prstClr val="white"/>
                  </a:solidFill>
                  <a:latin typeface="Verdana" panose="020B0604030504040204" pitchFamily="34" charset="0"/>
                  <a:ea typeface="Verdana" panose="020B0604030504040204" pitchFamily="34" charset="0"/>
                </a:rPr>
                <a:t>Key Dissimilarities</a:t>
              </a: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endParaRPr>
            </a:p>
          </p:txBody>
        </p:sp>
      </p:grpSp>
      <p:grpSp>
        <p:nvGrpSpPr>
          <p:cNvPr id="2" name="Group 1">
            <a:extLst>
              <a:ext uri="{FF2B5EF4-FFF2-40B4-BE49-F238E27FC236}">
                <a16:creationId xmlns:a16="http://schemas.microsoft.com/office/drawing/2014/main" id="{D0774F38-9501-46EA-8DE8-BF2E2CFCD2BE}"/>
              </a:ext>
            </a:extLst>
          </p:cNvPr>
          <p:cNvGrpSpPr/>
          <p:nvPr/>
        </p:nvGrpSpPr>
        <p:grpSpPr>
          <a:xfrm>
            <a:off x="6149751" y="1238693"/>
            <a:ext cx="5582856" cy="5143631"/>
            <a:chOff x="6198939" y="776878"/>
            <a:chExt cx="5582856" cy="5143631"/>
          </a:xfrm>
        </p:grpSpPr>
        <p:grpSp>
          <p:nvGrpSpPr>
            <p:cNvPr id="23" name="Group 22">
              <a:extLst>
                <a:ext uri="{FF2B5EF4-FFF2-40B4-BE49-F238E27FC236}">
                  <a16:creationId xmlns:a16="http://schemas.microsoft.com/office/drawing/2014/main" id="{11109880-3432-411E-8027-3F69705F59C8}"/>
                </a:ext>
              </a:extLst>
            </p:cNvPr>
            <p:cNvGrpSpPr/>
            <p:nvPr/>
          </p:nvGrpSpPr>
          <p:grpSpPr>
            <a:xfrm>
              <a:off x="6204407" y="776878"/>
              <a:ext cx="5577388" cy="2919252"/>
              <a:chOff x="8240371" y="1266374"/>
              <a:chExt cx="3531082" cy="4412084"/>
            </a:xfrm>
          </p:grpSpPr>
          <p:sp>
            <p:nvSpPr>
              <p:cNvPr id="27" name="Rectangle 26">
                <a:extLst>
                  <a:ext uri="{FF2B5EF4-FFF2-40B4-BE49-F238E27FC236}">
                    <a16:creationId xmlns:a16="http://schemas.microsoft.com/office/drawing/2014/main" id="{4B81729B-DD5F-4505-831D-C40E5434BE49}"/>
                  </a:ext>
                </a:extLst>
              </p:cNvPr>
              <p:cNvSpPr/>
              <p:nvPr/>
            </p:nvSpPr>
            <p:spPr bwMode="gray">
              <a:xfrm>
                <a:off x="8240371" y="1813809"/>
                <a:ext cx="3531082" cy="3864649"/>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R="0" lvl="0" algn="l" defTabSz="914400" rtl="0" eaLnBrk="1" fontAlgn="auto" latinLnBrk="0" hangingPunct="1">
                  <a:lnSpc>
                    <a:spcPct val="100000"/>
                  </a:lnSpc>
                  <a:spcBef>
                    <a:spcPts val="0"/>
                  </a:spcBef>
                  <a:spcAft>
                    <a:spcPts val="0"/>
                  </a:spcAft>
                  <a:buClrTx/>
                  <a:buSzPct val="100000"/>
                  <a:tabLst/>
                  <a:defRPr/>
                </a:pPr>
                <a:r>
                  <a:rPr kumimoji="0" lang="en-US" sz="1100" b="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Pros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No-Upfront Capital Cost to be incurred by Government of Jharkhand (GoJ).</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Attracts private investment.</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GoJ/JREDA will receive Competitive rates.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Brings in sector expertise, advanced technology &amp; enhances efficiency.</a:t>
                </a:r>
              </a:p>
              <a:p>
                <a:pPr marL="0" lvl="1">
                  <a:lnSpc>
                    <a:spcPct val="106000"/>
                  </a:lnSpc>
                  <a:spcBef>
                    <a:spcPts val="300"/>
                  </a:spcBef>
                  <a:tabLst>
                    <a:tab pos="88900" algn="l"/>
                  </a:tabLst>
                </a:pPr>
                <a:r>
                  <a:rPr lang="en-US" sz="1100" b="1" dirty="0">
                    <a:solidFill>
                      <a:prstClr val="black"/>
                    </a:solidFill>
                    <a:latin typeface="Verdana" panose="020B0604030504040204" pitchFamily="34" charset="0"/>
                    <a:ea typeface="Verdana" panose="020B0604030504040204" pitchFamily="34" charset="0"/>
                  </a:rPr>
                  <a:t>Cons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Ownership of assets remain with Developer.</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Partial-control on Project Execution.</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Risk of Competitive rates becoming financially unviable due to delay in government process (approval).</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Cancellation of PPA leading to Stranded Projects.</a:t>
                </a:r>
              </a:p>
            </p:txBody>
          </p:sp>
          <p:sp>
            <p:nvSpPr>
              <p:cNvPr id="28" name="Rectangle 27">
                <a:extLst>
                  <a:ext uri="{FF2B5EF4-FFF2-40B4-BE49-F238E27FC236}">
                    <a16:creationId xmlns:a16="http://schemas.microsoft.com/office/drawing/2014/main" id="{B349BA13-D8CF-4609-ABFD-D73974D9A02C}"/>
                  </a:ext>
                </a:extLst>
              </p:cNvPr>
              <p:cNvSpPr/>
              <p:nvPr/>
            </p:nvSpPr>
            <p:spPr bwMode="gray">
              <a:xfrm>
                <a:off x="8243839" y="1266374"/>
                <a:ext cx="3527614" cy="547435"/>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rPr>
                  <a:t>Pros &amp; Cons of Competitive Bidding </a:t>
                </a:r>
              </a:p>
            </p:txBody>
          </p:sp>
        </p:grpSp>
        <p:grpSp>
          <p:nvGrpSpPr>
            <p:cNvPr id="24" name="Group 23">
              <a:extLst>
                <a:ext uri="{FF2B5EF4-FFF2-40B4-BE49-F238E27FC236}">
                  <a16:creationId xmlns:a16="http://schemas.microsoft.com/office/drawing/2014/main" id="{721152F1-FA4A-4370-9C38-015B155A9CB1}"/>
                </a:ext>
              </a:extLst>
            </p:cNvPr>
            <p:cNvGrpSpPr/>
            <p:nvPr/>
          </p:nvGrpSpPr>
          <p:grpSpPr>
            <a:xfrm>
              <a:off x="6198939" y="3729214"/>
              <a:ext cx="5580691" cy="2191295"/>
              <a:chOff x="8240371" y="1270434"/>
              <a:chExt cx="3539397" cy="3311868"/>
            </a:xfrm>
          </p:grpSpPr>
          <p:sp>
            <p:nvSpPr>
              <p:cNvPr id="25" name="Rectangle 24">
                <a:extLst>
                  <a:ext uri="{FF2B5EF4-FFF2-40B4-BE49-F238E27FC236}">
                    <a16:creationId xmlns:a16="http://schemas.microsoft.com/office/drawing/2014/main" id="{60445BD3-8F45-4B0C-A587-0B9DA0625B0C}"/>
                  </a:ext>
                </a:extLst>
              </p:cNvPr>
              <p:cNvSpPr/>
              <p:nvPr/>
            </p:nvSpPr>
            <p:spPr bwMode="gray">
              <a:xfrm>
                <a:off x="8248686" y="1775992"/>
                <a:ext cx="3531082" cy="2806310"/>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Various government bodies such as RUMSL,SJVN, NTPC, SECI, CREST, KGPCL, MSPGCL have invited bids for various capacities of Floating Solar Projects in Madhya Pradesh, Himachal Pradesh, Karnataka, Jharkhand, West Bengal, Chandigarh.</a:t>
                </a:r>
              </a:p>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Out of </a:t>
                </a:r>
                <a:r>
                  <a:rPr lang="en-US" sz="1100" b="1" dirty="0">
                    <a:solidFill>
                      <a:prstClr val="black"/>
                    </a:solidFill>
                    <a:latin typeface="Verdana" panose="020B0604030504040204" pitchFamily="34" charset="0"/>
                    <a:ea typeface="Verdana" panose="020B0604030504040204" pitchFamily="34" charset="0"/>
                  </a:rPr>
                  <a:t>1,43,000 MW </a:t>
                </a:r>
                <a:r>
                  <a:rPr lang="en-US" sz="1100" dirty="0">
                    <a:solidFill>
                      <a:prstClr val="black"/>
                    </a:solidFill>
                    <a:latin typeface="Verdana" panose="020B0604030504040204" pitchFamily="34" charset="0"/>
                    <a:ea typeface="Verdana" panose="020B0604030504040204" pitchFamily="34" charset="0"/>
                  </a:rPr>
                  <a:t>of tenders floated for building solar capacities since FY17, around </a:t>
                </a:r>
                <a:r>
                  <a:rPr lang="en-US" sz="1100" b="1" dirty="0">
                    <a:solidFill>
                      <a:prstClr val="black"/>
                    </a:solidFill>
                    <a:latin typeface="Verdana" panose="020B0604030504040204" pitchFamily="34" charset="0"/>
                    <a:ea typeface="Verdana" panose="020B0604030504040204" pitchFamily="34" charset="0"/>
                  </a:rPr>
                  <a:t>78,000 MW </a:t>
                </a:r>
                <a:r>
                  <a:rPr lang="en-US" sz="1100" dirty="0">
                    <a:solidFill>
                      <a:prstClr val="black"/>
                    </a:solidFill>
                    <a:latin typeface="Verdana" panose="020B0604030504040204" pitchFamily="34" charset="0"/>
                    <a:ea typeface="Verdana" panose="020B0604030504040204" pitchFamily="34" charset="0"/>
                  </a:rPr>
                  <a:t>have been cancelled.</a:t>
                </a:r>
              </a:p>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Among </a:t>
                </a:r>
                <a:r>
                  <a:rPr lang="en-US" sz="1100" b="1" dirty="0">
                    <a:solidFill>
                      <a:prstClr val="black"/>
                    </a:solidFill>
                    <a:latin typeface="Verdana" panose="020B0604030504040204" pitchFamily="34" charset="0"/>
                    <a:ea typeface="Verdana" panose="020B0604030504040204" pitchFamily="34" charset="0"/>
                  </a:rPr>
                  <a:t>84,408 MW </a:t>
                </a:r>
                <a:r>
                  <a:rPr lang="en-US" sz="1100" dirty="0">
                    <a:solidFill>
                      <a:prstClr val="black"/>
                    </a:solidFill>
                    <a:latin typeface="Verdana" panose="020B0604030504040204" pitchFamily="34" charset="0"/>
                    <a:ea typeface="Verdana" panose="020B0604030504040204" pitchFamily="34" charset="0"/>
                  </a:rPr>
                  <a:t>of large-scale RE projects announced since 2018, only </a:t>
                </a:r>
                <a:r>
                  <a:rPr lang="en-US" sz="1100" b="1" dirty="0">
                    <a:solidFill>
                      <a:prstClr val="black"/>
                    </a:solidFill>
                    <a:latin typeface="Verdana" panose="020B0604030504040204" pitchFamily="34" charset="0"/>
                    <a:ea typeface="Verdana" panose="020B0604030504040204" pitchFamily="34" charset="0"/>
                  </a:rPr>
                  <a:t>8,039 MW</a:t>
                </a:r>
                <a:r>
                  <a:rPr lang="en-US" sz="1100" dirty="0">
                    <a:solidFill>
                      <a:prstClr val="black"/>
                    </a:solidFill>
                    <a:latin typeface="Verdana" panose="020B0604030504040204" pitchFamily="34" charset="0"/>
                    <a:ea typeface="Verdana" panose="020B0604030504040204" pitchFamily="34" charset="0"/>
                  </a:rPr>
                  <a:t> are currently under construction and the remaining are still under various stages of implementation.</a:t>
                </a:r>
              </a:p>
            </p:txBody>
          </p:sp>
          <p:sp>
            <p:nvSpPr>
              <p:cNvPr id="26" name="Rectangle 25">
                <a:extLst>
                  <a:ext uri="{FF2B5EF4-FFF2-40B4-BE49-F238E27FC236}">
                    <a16:creationId xmlns:a16="http://schemas.microsoft.com/office/drawing/2014/main" id="{81AC5766-000B-4F5A-B568-C69B37D9F45D}"/>
                  </a:ext>
                </a:extLst>
              </p:cNvPr>
              <p:cNvSpPr/>
              <p:nvPr/>
            </p:nvSpPr>
            <p:spPr bwMode="gray">
              <a:xfrm>
                <a:off x="8240371" y="1270434"/>
                <a:ext cx="3537302" cy="497433"/>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rPr>
                  <a:t>Market insights specific to Competitive Bidding</a:t>
                </a:r>
              </a:p>
            </p:txBody>
          </p:sp>
        </p:grpSp>
      </p:grpSp>
      <p:sp>
        <p:nvSpPr>
          <p:cNvPr id="14" name="Title 1">
            <a:extLst>
              <a:ext uri="{FF2B5EF4-FFF2-40B4-BE49-F238E27FC236}">
                <a16:creationId xmlns:a16="http://schemas.microsoft.com/office/drawing/2014/main" id="{895AE750-7719-4489-A69A-14613A3A7DA5}"/>
              </a:ext>
            </a:extLst>
          </p:cNvPr>
          <p:cNvSpPr>
            <a:spLocks noGrp="1"/>
          </p:cNvSpPr>
          <p:nvPr>
            <p:ph type="title"/>
          </p:nvPr>
        </p:nvSpPr>
        <p:spPr>
          <a:xfrm>
            <a:off x="455925" y="222685"/>
            <a:ext cx="11128668" cy="346004"/>
          </a:xfrm>
        </p:spPr>
        <p:txBody>
          <a:bodyPr/>
          <a:lstStyle/>
          <a:p>
            <a:r>
              <a:rPr lang="en-US" sz="1600" b="1" dirty="0">
                <a:latin typeface="Verdana" panose="020B0604030504040204" pitchFamily="34" charset="0"/>
                <a:ea typeface="Verdana" panose="020B0604030504040204" pitchFamily="34" charset="0"/>
              </a:rPr>
              <a:t>Competitive Bidding/Plug &amp; Play Model/OPEX (4/4)</a:t>
            </a:r>
            <a:endParaRPr lang="en-US" sz="1600" dirty="0">
              <a:solidFill>
                <a:schemeClr val="tx1">
                  <a:lumMod val="50000"/>
                  <a:lumOff val="50000"/>
                </a:schemeClr>
              </a:solidFill>
              <a:latin typeface="Verdana" panose="020B0604030504040204" pitchFamily="34" charset="0"/>
              <a:ea typeface="Verdana" panose="020B0604030504040204" pitchFamily="34" charset="0"/>
            </a:endParaRPr>
          </a:p>
        </p:txBody>
      </p:sp>
      <p:sp>
        <p:nvSpPr>
          <p:cNvPr id="15" name="Text Placeholder 2">
            <a:extLst>
              <a:ext uri="{FF2B5EF4-FFF2-40B4-BE49-F238E27FC236}">
                <a16:creationId xmlns:a16="http://schemas.microsoft.com/office/drawing/2014/main" id="{03CFA0E5-42FC-429E-93B9-05C1AAEDB537}"/>
              </a:ext>
            </a:extLst>
          </p:cNvPr>
          <p:cNvSpPr txBox="1">
            <a:spLocks/>
          </p:cNvSpPr>
          <p:nvPr/>
        </p:nvSpPr>
        <p:spPr>
          <a:xfrm>
            <a:off x="455925" y="568689"/>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Business Model: Case 1 vs Case 2</a:t>
            </a:r>
          </a:p>
        </p:txBody>
      </p:sp>
    </p:spTree>
    <p:extLst>
      <p:ext uri="{BB962C8B-B14F-4D97-AF65-F5344CB8AC3E}">
        <p14:creationId xmlns:p14="http://schemas.microsoft.com/office/powerpoint/2010/main" val="9856500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Placeholder 2">
            <a:extLst>
              <a:ext uri="{FF2B5EF4-FFF2-40B4-BE49-F238E27FC236}">
                <a16:creationId xmlns:a16="http://schemas.microsoft.com/office/drawing/2014/main" id="{DD0297AE-CD1F-4FE4-BC03-47FE391A915B}"/>
              </a:ext>
            </a:extLst>
          </p:cNvPr>
          <p:cNvSpPr txBox="1">
            <a:spLocks/>
          </p:cNvSpPr>
          <p:nvPr/>
        </p:nvSpPr>
        <p:spPr>
          <a:xfrm>
            <a:off x="455925" y="221700"/>
            <a:ext cx="11409210" cy="453612"/>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600" b="1">
                <a:solidFill>
                  <a:schemeClr val="tx1"/>
                </a:solidFill>
                <a:latin typeface="Verdana" panose="020B0604030504040204" pitchFamily="34" charset="0"/>
                <a:ea typeface="Verdana" panose="020B0604030504040204" pitchFamily="34" charset="0"/>
              </a:rPr>
              <a:t>CAPEX (1/2)</a:t>
            </a:r>
            <a:endParaRPr lang="en-US" sz="1600" dirty="0">
              <a:solidFill>
                <a:schemeClr val="tx1"/>
              </a:solidFill>
              <a:latin typeface="Verdana" panose="020B0604030504040204" pitchFamily="34" charset="0"/>
              <a:ea typeface="Verdana" panose="020B0604030504040204" pitchFamily="34" charset="0"/>
            </a:endParaRPr>
          </a:p>
        </p:txBody>
      </p:sp>
      <p:sp>
        <p:nvSpPr>
          <p:cNvPr id="34" name="Text Placeholder 2">
            <a:extLst>
              <a:ext uri="{FF2B5EF4-FFF2-40B4-BE49-F238E27FC236}">
                <a16:creationId xmlns:a16="http://schemas.microsoft.com/office/drawing/2014/main" id="{FBC89B75-EA63-4097-ABAB-D8B85C33B755}"/>
              </a:ext>
            </a:extLst>
          </p:cNvPr>
          <p:cNvSpPr txBox="1">
            <a:spLocks/>
          </p:cNvSpPr>
          <p:nvPr/>
        </p:nvSpPr>
        <p:spPr>
          <a:xfrm>
            <a:off x="455925" y="523896"/>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Business Model</a:t>
            </a:r>
          </a:p>
        </p:txBody>
      </p:sp>
      <p:sp>
        <p:nvSpPr>
          <p:cNvPr id="71" name="Rectangle 70">
            <a:extLst>
              <a:ext uri="{FF2B5EF4-FFF2-40B4-BE49-F238E27FC236}">
                <a16:creationId xmlns:a16="http://schemas.microsoft.com/office/drawing/2014/main" id="{E78C11C4-57AD-4C90-AACB-C71620510989}"/>
              </a:ext>
            </a:extLst>
          </p:cNvPr>
          <p:cNvSpPr/>
          <p:nvPr/>
        </p:nvSpPr>
        <p:spPr bwMode="gray">
          <a:xfrm>
            <a:off x="465613" y="866857"/>
            <a:ext cx="11316182" cy="1922063"/>
          </a:xfrm>
          <a:prstGeom prst="rect">
            <a:avLst/>
          </a:prstGeom>
          <a:solidFill>
            <a:schemeClr val="bg1"/>
          </a:solidFill>
          <a:ln w="19050" algn="ctr">
            <a:solidFill>
              <a:schemeClr val="tx1"/>
            </a:solidFill>
            <a:prstDash val="sysDash"/>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nvGrpSpPr>
          <p:cNvPr id="44" name="Group 43">
            <a:extLst>
              <a:ext uri="{FF2B5EF4-FFF2-40B4-BE49-F238E27FC236}">
                <a16:creationId xmlns:a16="http://schemas.microsoft.com/office/drawing/2014/main" id="{A95CD3B5-E231-4855-8D4B-60C7A2A343A3}"/>
              </a:ext>
            </a:extLst>
          </p:cNvPr>
          <p:cNvGrpSpPr/>
          <p:nvPr/>
        </p:nvGrpSpPr>
        <p:grpSpPr>
          <a:xfrm>
            <a:off x="788831" y="875730"/>
            <a:ext cx="10769023" cy="1856224"/>
            <a:chOff x="621654" y="916584"/>
            <a:chExt cx="10453883" cy="2290363"/>
          </a:xfrm>
        </p:grpSpPr>
        <p:sp>
          <p:nvSpPr>
            <p:cNvPr id="43" name="TextBox 42">
              <a:extLst>
                <a:ext uri="{FF2B5EF4-FFF2-40B4-BE49-F238E27FC236}">
                  <a16:creationId xmlns:a16="http://schemas.microsoft.com/office/drawing/2014/main" id="{447E2887-82F7-470D-8563-F86F7C9F7ED1}"/>
                </a:ext>
              </a:extLst>
            </p:cNvPr>
            <p:cNvSpPr txBox="1"/>
            <p:nvPr/>
          </p:nvSpPr>
          <p:spPr>
            <a:xfrm>
              <a:off x="2311502" y="1171846"/>
              <a:ext cx="2145863" cy="773367"/>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1:</a:t>
              </a:r>
              <a:r>
                <a:rPr lang="en-US" sz="1000" dirty="0">
                  <a:latin typeface="Verdana" panose="020B0604030504040204" pitchFamily="34" charset="0"/>
                  <a:ea typeface="Verdana" panose="020B0604030504040204" pitchFamily="34" charset="0"/>
                </a:rPr>
                <a:t> Government of Jharkhand to assist JREDA with 30% of its equity contribution</a:t>
              </a:r>
            </a:p>
          </p:txBody>
        </p:sp>
        <p:grpSp>
          <p:nvGrpSpPr>
            <p:cNvPr id="41" name="Group 40">
              <a:extLst>
                <a:ext uri="{FF2B5EF4-FFF2-40B4-BE49-F238E27FC236}">
                  <a16:creationId xmlns:a16="http://schemas.microsoft.com/office/drawing/2014/main" id="{625B3463-1C5A-4EAA-95E2-80B7E61E22FF}"/>
                </a:ext>
              </a:extLst>
            </p:cNvPr>
            <p:cNvGrpSpPr/>
            <p:nvPr/>
          </p:nvGrpSpPr>
          <p:grpSpPr>
            <a:xfrm>
              <a:off x="621654" y="916584"/>
              <a:ext cx="10453883" cy="2290363"/>
              <a:chOff x="484494" y="706272"/>
              <a:chExt cx="10453883" cy="2290363"/>
            </a:xfrm>
          </p:grpSpPr>
          <p:sp>
            <p:nvSpPr>
              <p:cNvPr id="35" name="Rectangle 34">
                <a:extLst>
                  <a:ext uri="{FF2B5EF4-FFF2-40B4-BE49-F238E27FC236}">
                    <a16:creationId xmlns:a16="http://schemas.microsoft.com/office/drawing/2014/main" id="{387EA668-FCBF-4BF2-AD6F-57B538F8EBA1}"/>
                  </a:ext>
                </a:extLst>
              </p:cNvPr>
              <p:cNvSpPr/>
              <p:nvPr/>
            </p:nvSpPr>
            <p:spPr>
              <a:xfrm>
                <a:off x="4600336" y="1681642"/>
                <a:ext cx="1383761" cy="452597"/>
              </a:xfrm>
              <a:prstGeom prst="rect">
                <a:avLst/>
              </a:prstGeom>
              <a:solidFill>
                <a:schemeClr val="accent4"/>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JREDA</a:t>
                </a:r>
              </a:p>
            </p:txBody>
          </p:sp>
          <p:sp>
            <p:nvSpPr>
              <p:cNvPr id="36" name="Rectangle 35">
                <a:extLst>
                  <a:ext uri="{FF2B5EF4-FFF2-40B4-BE49-F238E27FC236}">
                    <a16:creationId xmlns:a16="http://schemas.microsoft.com/office/drawing/2014/main" id="{E5E900CB-22BB-4F4E-A6C2-0704E55C2F3F}"/>
                  </a:ext>
                </a:extLst>
              </p:cNvPr>
              <p:cNvSpPr/>
              <p:nvPr/>
            </p:nvSpPr>
            <p:spPr>
              <a:xfrm>
                <a:off x="498352" y="1139969"/>
                <a:ext cx="1383761" cy="452597"/>
              </a:xfrm>
              <a:prstGeom prst="rect">
                <a:avLst/>
              </a:prstGeom>
              <a:solidFill>
                <a:schemeClr val="tx1">
                  <a:lumMod val="65000"/>
                  <a:lumOff val="35000"/>
                </a:schemeClr>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GoJ</a:t>
                </a:r>
              </a:p>
            </p:txBody>
          </p:sp>
          <p:sp>
            <p:nvSpPr>
              <p:cNvPr id="37" name="Rectangle 36">
                <a:extLst>
                  <a:ext uri="{FF2B5EF4-FFF2-40B4-BE49-F238E27FC236}">
                    <a16:creationId xmlns:a16="http://schemas.microsoft.com/office/drawing/2014/main" id="{DB184C7A-FC61-4428-A318-3B81337F1F0E}"/>
                  </a:ext>
                </a:extLst>
              </p:cNvPr>
              <p:cNvSpPr/>
              <p:nvPr/>
            </p:nvSpPr>
            <p:spPr>
              <a:xfrm>
                <a:off x="484494" y="2120379"/>
                <a:ext cx="1383761" cy="452597"/>
              </a:xfrm>
              <a:prstGeom prst="rect">
                <a:avLst/>
              </a:prstGeom>
              <a:solidFill>
                <a:schemeClr val="accent1"/>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Multilateral Banks</a:t>
                </a:r>
              </a:p>
            </p:txBody>
          </p:sp>
          <p:sp>
            <p:nvSpPr>
              <p:cNvPr id="39" name="TextBox 38">
                <a:extLst>
                  <a:ext uri="{FF2B5EF4-FFF2-40B4-BE49-F238E27FC236}">
                    <a16:creationId xmlns:a16="http://schemas.microsoft.com/office/drawing/2014/main" id="{E68AA2E0-56B5-4387-9957-E7A8A1E4AB4C}"/>
                  </a:ext>
                </a:extLst>
              </p:cNvPr>
              <p:cNvSpPr txBox="1"/>
              <p:nvPr/>
            </p:nvSpPr>
            <p:spPr>
              <a:xfrm>
                <a:off x="2174342" y="2083923"/>
                <a:ext cx="2243452" cy="773367"/>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2:</a:t>
                </a:r>
                <a:r>
                  <a:rPr lang="en-US" sz="1000" dirty="0">
                    <a:latin typeface="Verdana" panose="020B0604030504040204" pitchFamily="34" charset="0"/>
                    <a:ea typeface="Verdana" panose="020B0604030504040204" pitchFamily="34" charset="0"/>
                  </a:rPr>
                  <a:t> JREDA to acquire financial assistance from Banks upto 70% of the Project Cost</a:t>
                </a:r>
              </a:p>
            </p:txBody>
          </p:sp>
          <p:cxnSp>
            <p:nvCxnSpPr>
              <p:cNvPr id="6" name="Straight Arrow Connector 5">
                <a:extLst>
                  <a:ext uri="{FF2B5EF4-FFF2-40B4-BE49-F238E27FC236}">
                    <a16:creationId xmlns:a16="http://schemas.microsoft.com/office/drawing/2014/main" id="{AECDE23B-F9F3-44C4-943D-B7504E3E4168}"/>
                  </a:ext>
                </a:extLst>
              </p:cNvPr>
              <p:cNvCxnSpPr>
                <a:cxnSpLocks/>
              </p:cNvCxnSpPr>
              <p:nvPr/>
            </p:nvCxnSpPr>
            <p:spPr>
              <a:xfrm flipV="1">
                <a:off x="1908554" y="1380101"/>
                <a:ext cx="265789" cy="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BAC112C-B14C-44CE-B90B-9997DC8722EB}"/>
                  </a:ext>
                </a:extLst>
              </p:cNvPr>
              <p:cNvCxnSpPr/>
              <p:nvPr/>
            </p:nvCxnSpPr>
            <p:spPr>
              <a:xfrm flipV="1">
                <a:off x="1882113" y="2346677"/>
                <a:ext cx="265789" cy="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EEA9271D-9646-4B35-AF78-4396440C60BB}"/>
                  </a:ext>
                </a:extLst>
              </p:cNvPr>
              <p:cNvCxnSpPr>
                <a:cxnSpLocks/>
              </p:cNvCxnSpPr>
              <p:nvPr/>
            </p:nvCxnSpPr>
            <p:spPr>
              <a:xfrm rot="16200000" flipH="1">
                <a:off x="2720352" y="53486"/>
                <a:ext cx="237213" cy="33251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3" name="Connector: Elbow 22">
                <a:extLst>
                  <a:ext uri="{FF2B5EF4-FFF2-40B4-BE49-F238E27FC236}">
                    <a16:creationId xmlns:a16="http://schemas.microsoft.com/office/drawing/2014/main" id="{92BC82F6-3B78-4896-A06C-8CB7DAC58B15}"/>
                  </a:ext>
                </a:extLst>
              </p:cNvPr>
              <p:cNvCxnSpPr>
                <a:cxnSpLocks/>
                <a:stCxn id="37" idx="0"/>
              </p:cNvCxnSpPr>
              <p:nvPr/>
            </p:nvCxnSpPr>
            <p:spPr>
              <a:xfrm rot="5400000" flipH="1" flipV="1">
                <a:off x="2759368" y="378204"/>
                <a:ext cx="159182" cy="332516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B595953B-7B81-4DE6-87CD-4943B255B768}"/>
                  </a:ext>
                </a:extLst>
              </p:cNvPr>
              <p:cNvSpPr txBox="1"/>
              <p:nvPr/>
            </p:nvSpPr>
            <p:spPr>
              <a:xfrm>
                <a:off x="9731864" y="2168842"/>
                <a:ext cx="1206513" cy="390069"/>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Floating Solar Power Plant</a:t>
                </a:r>
              </a:p>
            </p:txBody>
          </p:sp>
          <p:cxnSp>
            <p:nvCxnSpPr>
              <p:cNvPr id="30" name="Straight Arrow Connector 29">
                <a:extLst>
                  <a:ext uri="{FF2B5EF4-FFF2-40B4-BE49-F238E27FC236}">
                    <a16:creationId xmlns:a16="http://schemas.microsoft.com/office/drawing/2014/main" id="{6EF5F0CC-BFDD-4DB6-B514-37B4F009D2BA}"/>
                  </a:ext>
                </a:extLst>
              </p:cNvPr>
              <p:cNvCxnSpPr/>
              <p:nvPr/>
            </p:nvCxnSpPr>
            <p:spPr>
              <a:xfrm>
                <a:off x="6052660" y="1887159"/>
                <a:ext cx="7491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F571CAAD-8829-42A1-A922-95F1EE7C1F9E}"/>
                  </a:ext>
                </a:extLst>
              </p:cNvPr>
              <p:cNvSpPr/>
              <p:nvPr/>
            </p:nvSpPr>
            <p:spPr>
              <a:xfrm>
                <a:off x="6886334" y="1681642"/>
                <a:ext cx="1383761" cy="452597"/>
              </a:xfrm>
              <a:prstGeom prst="rect">
                <a:avLst/>
              </a:prstGeom>
              <a:solidFill>
                <a:schemeClr val="accent6"/>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EPC</a:t>
                </a:r>
              </a:p>
            </p:txBody>
          </p:sp>
          <p:sp>
            <p:nvSpPr>
              <p:cNvPr id="63" name="TextBox 62">
                <a:extLst>
                  <a:ext uri="{FF2B5EF4-FFF2-40B4-BE49-F238E27FC236}">
                    <a16:creationId xmlns:a16="http://schemas.microsoft.com/office/drawing/2014/main" id="{4ECF82C1-8CF3-433F-8556-A3B4111CA26B}"/>
                  </a:ext>
                </a:extLst>
              </p:cNvPr>
              <p:cNvSpPr txBox="1"/>
              <p:nvPr/>
            </p:nvSpPr>
            <p:spPr>
              <a:xfrm>
                <a:off x="5452709" y="824096"/>
                <a:ext cx="2295235" cy="773367"/>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3: </a:t>
                </a:r>
                <a:r>
                  <a:rPr lang="en-US" sz="1000" dirty="0">
                    <a:latin typeface="Verdana" panose="020B0604030504040204" pitchFamily="34" charset="0"/>
                    <a:ea typeface="Verdana" panose="020B0604030504040204" pitchFamily="34" charset="0"/>
                  </a:rPr>
                  <a:t>JREDA to appoint a third-party EPC to install and maintain the Floating Solar Power Plant</a:t>
                </a:r>
              </a:p>
            </p:txBody>
          </p:sp>
          <p:cxnSp>
            <p:nvCxnSpPr>
              <p:cNvPr id="64" name="Straight Arrow Connector 63">
                <a:extLst>
                  <a:ext uri="{FF2B5EF4-FFF2-40B4-BE49-F238E27FC236}">
                    <a16:creationId xmlns:a16="http://schemas.microsoft.com/office/drawing/2014/main" id="{C8C25020-4483-4C1F-8CB3-D4B821F0E01E}"/>
                  </a:ext>
                </a:extLst>
              </p:cNvPr>
              <p:cNvCxnSpPr/>
              <p:nvPr/>
            </p:nvCxnSpPr>
            <p:spPr>
              <a:xfrm>
                <a:off x="8515428" y="1887159"/>
                <a:ext cx="8711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TextBox 64">
                <a:extLst>
                  <a:ext uri="{FF2B5EF4-FFF2-40B4-BE49-F238E27FC236}">
                    <a16:creationId xmlns:a16="http://schemas.microsoft.com/office/drawing/2014/main" id="{4F93B294-6C73-4DB0-AEE9-2FAAC1DE2B24}"/>
                  </a:ext>
                </a:extLst>
              </p:cNvPr>
              <p:cNvSpPr txBox="1"/>
              <p:nvPr/>
            </p:nvSpPr>
            <p:spPr>
              <a:xfrm>
                <a:off x="8208102" y="706272"/>
                <a:ext cx="1904189" cy="1001223"/>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4: </a:t>
                </a:r>
                <a:r>
                  <a:rPr lang="en-US" sz="1000" dirty="0">
                    <a:latin typeface="Verdana" panose="020B0604030504040204" pitchFamily="34" charset="0"/>
                    <a:ea typeface="Verdana" panose="020B0604030504040204" pitchFamily="34" charset="0"/>
                  </a:rPr>
                  <a:t>Installation, Commissioning &amp; Maintenance of the Floating Solar Power Plant</a:t>
                </a:r>
              </a:p>
            </p:txBody>
          </p:sp>
          <p:sp>
            <p:nvSpPr>
              <p:cNvPr id="94" name="TextBox 93">
                <a:extLst>
                  <a:ext uri="{FF2B5EF4-FFF2-40B4-BE49-F238E27FC236}">
                    <a16:creationId xmlns:a16="http://schemas.microsoft.com/office/drawing/2014/main" id="{312CACCE-703B-4A63-8FFF-96799C198160}"/>
                  </a:ext>
                </a:extLst>
              </p:cNvPr>
              <p:cNvSpPr txBox="1"/>
              <p:nvPr/>
            </p:nvSpPr>
            <p:spPr>
              <a:xfrm>
                <a:off x="7220814" y="2223268"/>
                <a:ext cx="2603947" cy="773367"/>
              </a:xfrm>
              <a:prstGeom prst="rect">
                <a:avLst/>
              </a:prstGeom>
              <a:noFill/>
            </p:spPr>
            <p:txBody>
              <a:bodyPr wrap="square" rtlCol="0">
                <a:spAutoFit/>
              </a:bodyPr>
              <a:lstStyle/>
              <a:p>
                <a:pPr>
                  <a:lnSpc>
                    <a:spcPct val="120000"/>
                  </a:lnSpc>
                </a:pPr>
                <a:r>
                  <a:rPr lang="en-US" sz="1000" b="1" dirty="0">
                    <a:latin typeface="Verdana" panose="020B0604030504040204" pitchFamily="34" charset="0"/>
                    <a:ea typeface="Verdana" panose="020B0604030504040204" pitchFamily="34" charset="0"/>
                  </a:rPr>
                  <a:t>Step 4: </a:t>
                </a:r>
                <a:r>
                  <a:rPr lang="en-US" sz="1000" dirty="0">
                    <a:latin typeface="Verdana" panose="020B0604030504040204" pitchFamily="34" charset="0"/>
                    <a:ea typeface="Verdana" panose="020B0604030504040204" pitchFamily="34" charset="0"/>
                  </a:rPr>
                  <a:t>JREDA Signs PPA &amp; Supplies Power to DISCOM’s/States at mutual agreed rates</a:t>
                </a:r>
              </a:p>
            </p:txBody>
          </p:sp>
        </p:grpSp>
      </p:grpSp>
      <p:grpSp>
        <p:nvGrpSpPr>
          <p:cNvPr id="45" name="Group 44">
            <a:extLst>
              <a:ext uri="{FF2B5EF4-FFF2-40B4-BE49-F238E27FC236}">
                <a16:creationId xmlns:a16="http://schemas.microsoft.com/office/drawing/2014/main" id="{4F6075A5-FA49-4C7F-A12C-06A06B499805}"/>
              </a:ext>
            </a:extLst>
          </p:cNvPr>
          <p:cNvGrpSpPr/>
          <p:nvPr/>
        </p:nvGrpSpPr>
        <p:grpSpPr>
          <a:xfrm>
            <a:off x="10442890" y="1378026"/>
            <a:ext cx="897362" cy="819283"/>
            <a:chOff x="9956779" y="3671476"/>
            <a:chExt cx="897362" cy="849355"/>
          </a:xfrm>
        </p:grpSpPr>
        <p:sp>
          <p:nvSpPr>
            <p:cNvPr id="78" name="Oval 77">
              <a:extLst>
                <a:ext uri="{FF2B5EF4-FFF2-40B4-BE49-F238E27FC236}">
                  <a16:creationId xmlns:a16="http://schemas.microsoft.com/office/drawing/2014/main" id="{42F4C27D-AFAD-45BE-B235-B3A64A2A5530}"/>
                </a:ext>
              </a:extLst>
            </p:cNvPr>
            <p:cNvSpPr/>
            <p:nvPr/>
          </p:nvSpPr>
          <p:spPr bwMode="gray">
            <a:xfrm>
              <a:off x="10021319" y="3671476"/>
              <a:ext cx="777824" cy="745075"/>
            </a:xfrm>
            <a:prstGeom prst="ellipse">
              <a:avLst/>
            </a:prstGeom>
            <a:solidFill>
              <a:schemeClr val="bg1"/>
            </a:solidFill>
            <a:ln w="19050" algn="ctr">
              <a:solidFill>
                <a:schemeClr val="accent1"/>
              </a:solid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graphicFrame>
          <p:nvGraphicFramePr>
            <p:cNvPr id="77" name="Diagram 76">
              <a:extLst>
                <a:ext uri="{FF2B5EF4-FFF2-40B4-BE49-F238E27FC236}">
                  <a16:creationId xmlns:a16="http://schemas.microsoft.com/office/drawing/2014/main" id="{4A71AFFE-AEDD-4C88-AF50-91C84D65DA34}"/>
                </a:ext>
              </a:extLst>
            </p:cNvPr>
            <p:cNvGraphicFramePr/>
            <p:nvPr>
              <p:extLst>
                <p:ext uri="{D42A27DB-BD31-4B8C-83A1-F6EECF244321}">
                  <p14:modId xmlns:p14="http://schemas.microsoft.com/office/powerpoint/2010/main" val="2058330178"/>
                </p:ext>
              </p:extLst>
            </p:nvPr>
          </p:nvGraphicFramePr>
          <p:xfrm>
            <a:off x="9956779" y="3716603"/>
            <a:ext cx="897362" cy="8042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grpSp>
        <p:nvGrpSpPr>
          <p:cNvPr id="79" name="Group 78">
            <a:extLst>
              <a:ext uri="{FF2B5EF4-FFF2-40B4-BE49-F238E27FC236}">
                <a16:creationId xmlns:a16="http://schemas.microsoft.com/office/drawing/2014/main" id="{05143DB5-5D6C-421F-963A-D99F30A47807}"/>
              </a:ext>
            </a:extLst>
          </p:cNvPr>
          <p:cNvGrpSpPr/>
          <p:nvPr/>
        </p:nvGrpSpPr>
        <p:grpSpPr>
          <a:xfrm>
            <a:off x="455925" y="2866734"/>
            <a:ext cx="11325870" cy="3626430"/>
            <a:chOff x="455925" y="2866734"/>
            <a:chExt cx="11325870" cy="3626430"/>
          </a:xfrm>
        </p:grpSpPr>
        <p:grpSp>
          <p:nvGrpSpPr>
            <p:cNvPr id="80" name="Group 79">
              <a:extLst>
                <a:ext uri="{FF2B5EF4-FFF2-40B4-BE49-F238E27FC236}">
                  <a16:creationId xmlns:a16="http://schemas.microsoft.com/office/drawing/2014/main" id="{45517BAF-8745-44BD-9B7C-898FA2F5A59F}"/>
                </a:ext>
              </a:extLst>
            </p:cNvPr>
            <p:cNvGrpSpPr/>
            <p:nvPr/>
          </p:nvGrpSpPr>
          <p:grpSpPr>
            <a:xfrm>
              <a:off x="455925" y="2866734"/>
              <a:ext cx="3531082" cy="3607218"/>
              <a:chOff x="8240371" y="1266374"/>
              <a:chExt cx="3531082" cy="5451857"/>
            </a:xfrm>
          </p:grpSpPr>
          <p:sp>
            <p:nvSpPr>
              <p:cNvPr id="87" name="Rectangle 86">
                <a:extLst>
                  <a:ext uri="{FF2B5EF4-FFF2-40B4-BE49-F238E27FC236}">
                    <a16:creationId xmlns:a16="http://schemas.microsoft.com/office/drawing/2014/main" id="{705D0B6C-B276-44BF-951F-36AB88A1553D}"/>
                  </a:ext>
                </a:extLst>
              </p:cNvPr>
              <p:cNvSpPr/>
              <p:nvPr/>
            </p:nvSpPr>
            <p:spPr bwMode="gray">
              <a:xfrm>
                <a:off x="8240371" y="2119498"/>
                <a:ext cx="3531082" cy="4598733"/>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lvl="1" indent="-171450">
                  <a:spcBef>
                    <a:spcPts val="300"/>
                  </a:spcBef>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JREDA will be the nodal agency.</a:t>
                </a:r>
              </a:p>
              <a:p>
                <a:pPr marL="171450" lvl="1" indent="-171450">
                  <a:spcBef>
                    <a:spcPts val="300"/>
                  </a:spcBef>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Government of Jharkhand (GoJ) will infuse equity @ 30% of the project cost.</a:t>
                </a:r>
              </a:p>
              <a:p>
                <a:pPr marL="171450" marR="0" lvl="1" indent="-171450" algn="l" defTabSz="914400" rtl="0" eaLnBrk="1" fontAlgn="auto" latinLnBrk="0" hangingPunct="1">
                  <a:spcBef>
                    <a:spcPts val="300"/>
                  </a:spcBef>
                  <a:spcAft>
                    <a:spcPts val="0"/>
                  </a:spcAft>
                  <a:buClrTx/>
                  <a:buSzTx/>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GoJ to acquire loan from banks </a:t>
                </a:r>
                <a:r>
                  <a:rPr lang="en-US" sz="1100" dirty="0">
                    <a:latin typeface="Verdana" panose="020B0604030504040204" pitchFamily="34" charset="0"/>
                    <a:ea typeface="Verdana" panose="020B0604030504040204" pitchFamily="34" charset="0"/>
                  </a:rPr>
                  <a:t>upto 70% of the Project Cost for certain period.</a:t>
                </a:r>
                <a:endParaRPr lang="en-US" sz="1100" dirty="0">
                  <a:solidFill>
                    <a:prstClr val="black"/>
                  </a:solidFill>
                  <a:latin typeface="Verdana" panose="020B0604030504040204" pitchFamily="34" charset="0"/>
                  <a:ea typeface="Verdana" panose="020B0604030504040204" pitchFamily="34" charset="0"/>
                </a:endParaRP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Floating Solar Projects will be owned by GoJ.</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Via JREDA will pay to the EPC for installation &amp; O&amp;M.</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Via JREDA will pay monthly EMI to the banks for the loan amount taken to install the project</a:t>
                </a:r>
              </a:p>
              <a:p>
                <a:pPr marL="171450" lvl="1" indent="-171450">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GoJ will earn from the sale of power to various DISCOMs as per the rate within the PPA.</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88" name="Rectangle 87">
                <a:extLst>
                  <a:ext uri="{FF2B5EF4-FFF2-40B4-BE49-F238E27FC236}">
                    <a16:creationId xmlns:a16="http://schemas.microsoft.com/office/drawing/2014/main" id="{7BE86DF1-BB8A-4936-9EE8-E2D990D16720}"/>
                  </a:ext>
                </a:extLst>
              </p:cNvPr>
              <p:cNvSpPr/>
              <p:nvPr/>
            </p:nvSpPr>
            <p:spPr bwMode="gray">
              <a:xfrm>
                <a:off x="8243839" y="1266374"/>
                <a:ext cx="3527614" cy="849794"/>
              </a:xfrm>
              <a:prstGeom prst="rect">
                <a:avLst/>
              </a:prstGeom>
              <a:solidFill>
                <a:schemeClr val="accent1"/>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400" b="1" dirty="0">
                    <a:solidFill>
                      <a:prstClr val="white"/>
                    </a:solidFill>
                    <a:latin typeface="Verdana" panose="020B0604030504040204" pitchFamily="34" charset="0"/>
                    <a:ea typeface="Verdana" panose="020B0604030504040204" pitchFamily="34" charset="0"/>
                  </a:rPr>
                  <a:t>Key Highlights</a:t>
                </a:r>
                <a:endPar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endParaRPr>
              </a:p>
            </p:txBody>
          </p:sp>
        </p:grpSp>
        <p:grpSp>
          <p:nvGrpSpPr>
            <p:cNvPr id="81" name="Group 80">
              <a:extLst>
                <a:ext uri="{FF2B5EF4-FFF2-40B4-BE49-F238E27FC236}">
                  <a16:creationId xmlns:a16="http://schemas.microsoft.com/office/drawing/2014/main" id="{C488BF43-6BF0-485A-A601-C5CC412AD19F}"/>
                </a:ext>
              </a:extLst>
            </p:cNvPr>
            <p:cNvGrpSpPr/>
            <p:nvPr/>
          </p:nvGrpSpPr>
          <p:grpSpPr>
            <a:xfrm>
              <a:off x="4431025" y="2866734"/>
              <a:ext cx="3531082" cy="3607219"/>
              <a:chOff x="8240371" y="1266374"/>
              <a:chExt cx="3531082" cy="5451860"/>
            </a:xfrm>
          </p:grpSpPr>
          <p:sp>
            <p:nvSpPr>
              <p:cNvPr id="85" name="Rectangle 84">
                <a:extLst>
                  <a:ext uri="{FF2B5EF4-FFF2-40B4-BE49-F238E27FC236}">
                    <a16:creationId xmlns:a16="http://schemas.microsoft.com/office/drawing/2014/main" id="{4BB5E6ED-A9C4-44A7-BE1A-6202D33B23B3}"/>
                  </a:ext>
                </a:extLst>
              </p:cNvPr>
              <p:cNvSpPr/>
              <p:nvPr/>
            </p:nvSpPr>
            <p:spPr bwMode="gray">
              <a:xfrm>
                <a:off x="8240371" y="2126484"/>
                <a:ext cx="3531082" cy="4591750"/>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R="0" lvl="0" algn="l" defTabSz="914400" rtl="0" eaLnBrk="1" fontAlgn="auto" latinLnBrk="0" hangingPunct="1">
                  <a:lnSpc>
                    <a:spcPct val="100000"/>
                  </a:lnSpc>
                  <a:spcBef>
                    <a:spcPts val="0"/>
                  </a:spcBef>
                  <a:spcAft>
                    <a:spcPts val="0"/>
                  </a:spcAft>
                  <a:buClrTx/>
                  <a:buSzPct val="100000"/>
                  <a:tabLst/>
                  <a:defRPr/>
                </a:pPr>
                <a:r>
                  <a:rPr kumimoji="0" lang="en-US" sz="1100" b="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Pros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Ownership of the assets remain with GoJ.</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Full Control on Project Execution.</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Execution of the project at competitive price due to nominal interest rates.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Brings in sector expertise, capacity building.</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Employment generation within State.</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Evolution of JREDA as a commercial entity.</a:t>
                </a:r>
              </a:p>
              <a:p>
                <a:pPr marL="0" lvl="1">
                  <a:lnSpc>
                    <a:spcPct val="106000"/>
                  </a:lnSpc>
                  <a:spcBef>
                    <a:spcPts val="300"/>
                  </a:spcBef>
                  <a:tabLst>
                    <a:tab pos="88900" algn="l"/>
                  </a:tabLst>
                </a:pPr>
                <a:r>
                  <a:rPr lang="en-US" sz="1100" b="1" dirty="0">
                    <a:solidFill>
                      <a:prstClr val="black"/>
                    </a:solidFill>
                    <a:latin typeface="Verdana" panose="020B0604030504040204" pitchFamily="34" charset="0"/>
                    <a:ea typeface="Verdana" panose="020B0604030504040204" pitchFamily="34" charset="0"/>
                  </a:rPr>
                  <a:t>Cons</a:t>
                </a:r>
              </a:p>
              <a:p>
                <a:pPr marL="171450" lvl="1" indent="-171450">
                  <a:lnSpc>
                    <a:spcPct val="106000"/>
                  </a:lnSpc>
                  <a:spcBef>
                    <a:spcPts val="300"/>
                  </a:spcBef>
                  <a:buFont typeface="Arial" panose="020B0604020202020204" pitchFamily="34" charset="0"/>
                  <a:buChar char="•"/>
                  <a:tabLst>
                    <a:tab pos="88900" algn="l"/>
                  </a:tabLst>
                </a:pPr>
                <a:r>
                  <a:rPr lang="en-US" sz="1100" dirty="0">
                    <a:solidFill>
                      <a:prstClr val="black"/>
                    </a:solidFill>
                    <a:latin typeface="Verdana" panose="020B0604030504040204" pitchFamily="34" charset="0"/>
                    <a:ea typeface="Verdana" panose="020B0604030504040204" pitchFamily="34" charset="0"/>
                  </a:rPr>
                  <a:t>Up front capital investment for installation of project and government guarantee to acquire financial assistance increases liability on government exchequer.</a:t>
                </a:r>
              </a:p>
            </p:txBody>
          </p:sp>
          <p:sp>
            <p:nvSpPr>
              <p:cNvPr id="86" name="Rectangle 85">
                <a:extLst>
                  <a:ext uri="{FF2B5EF4-FFF2-40B4-BE49-F238E27FC236}">
                    <a16:creationId xmlns:a16="http://schemas.microsoft.com/office/drawing/2014/main" id="{38F156B4-C6F6-4FCF-9992-9CEE4E944E1A}"/>
                  </a:ext>
                </a:extLst>
              </p:cNvPr>
              <p:cNvSpPr/>
              <p:nvPr/>
            </p:nvSpPr>
            <p:spPr bwMode="gray">
              <a:xfrm>
                <a:off x="8243839" y="1266374"/>
                <a:ext cx="3527614" cy="849794"/>
              </a:xfrm>
              <a:prstGeom prst="rect">
                <a:avLst/>
              </a:prstGeom>
              <a:solidFill>
                <a:schemeClr val="accent3"/>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rPr>
                  <a:t>Pros &amp; Cons </a:t>
                </a:r>
              </a:p>
            </p:txBody>
          </p:sp>
        </p:grpSp>
        <p:grpSp>
          <p:nvGrpSpPr>
            <p:cNvPr id="82" name="Group 81">
              <a:extLst>
                <a:ext uri="{FF2B5EF4-FFF2-40B4-BE49-F238E27FC236}">
                  <a16:creationId xmlns:a16="http://schemas.microsoft.com/office/drawing/2014/main" id="{8134FA85-BBCD-481F-A32E-0E6F9E055495}"/>
                </a:ext>
              </a:extLst>
            </p:cNvPr>
            <p:cNvGrpSpPr/>
            <p:nvPr/>
          </p:nvGrpSpPr>
          <p:grpSpPr>
            <a:xfrm>
              <a:off x="8244493" y="2866734"/>
              <a:ext cx="3537302" cy="3626430"/>
              <a:chOff x="8243839" y="1266374"/>
              <a:chExt cx="3537302" cy="5480894"/>
            </a:xfrm>
          </p:grpSpPr>
          <p:sp>
            <p:nvSpPr>
              <p:cNvPr id="83" name="Rectangle 82">
                <a:extLst>
                  <a:ext uri="{FF2B5EF4-FFF2-40B4-BE49-F238E27FC236}">
                    <a16:creationId xmlns:a16="http://schemas.microsoft.com/office/drawing/2014/main" id="{0BE39C0B-32F1-4D5C-86CA-42C8CD97F62E}"/>
                  </a:ext>
                </a:extLst>
              </p:cNvPr>
              <p:cNvSpPr/>
              <p:nvPr/>
            </p:nvSpPr>
            <p:spPr bwMode="gray">
              <a:xfrm>
                <a:off x="8250059" y="2120228"/>
                <a:ext cx="3531082" cy="4627040"/>
              </a:xfrm>
              <a:prstGeom prst="rect">
                <a:avLst/>
              </a:prstGeom>
              <a:solidFill>
                <a:schemeClr val="bg1">
                  <a:lumMod val="95000"/>
                </a:schemeClr>
              </a:solidFill>
              <a:ln w="6350" algn="ctr">
                <a:noFill/>
                <a:miter lim="800000"/>
                <a:headEnd/>
                <a:tailEnd/>
              </a:ln>
            </p:spPr>
            <p:txBody>
              <a:bodyPr wrap="square" lIns="88900" tIns="88900" rIns="88900" bIns="88900" rtlCol="0" anchor="ctr"/>
              <a:lstStyle/>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GOI and the World Bank signed a </a:t>
                </a:r>
                <a:r>
                  <a:rPr lang="en-US" sz="1100" b="1" dirty="0">
                    <a:solidFill>
                      <a:prstClr val="black"/>
                    </a:solidFill>
                    <a:latin typeface="Verdana" panose="020B0604030504040204" pitchFamily="34" charset="0"/>
                    <a:ea typeface="Verdana" panose="020B0604030504040204" pitchFamily="34" charset="0"/>
                  </a:rPr>
                  <a:t>US$98 million</a:t>
                </a:r>
                <a:r>
                  <a:rPr lang="en-US" sz="1100" dirty="0">
                    <a:solidFill>
                      <a:prstClr val="black"/>
                    </a:solidFill>
                    <a:latin typeface="Verdana" panose="020B0604030504040204" pitchFamily="34" charset="0"/>
                    <a:ea typeface="Verdana" panose="020B0604030504040204" pitchFamily="34" charset="0"/>
                  </a:rPr>
                  <a:t> Loan Agreement and </a:t>
                </a:r>
                <a:r>
                  <a:rPr lang="en-US" sz="1100" b="1" dirty="0">
                    <a:solidFill>
                      <a:prstClr val="black"/>
                    </a:solidFill>
                    <a:latin typeface="Verdana" panose="020B0604030504040204" pitchFamily="34" charset="0"/>
                    <a:ea typeface="Verdana" panose="020B0604030504040204" pitchFamily="34" charset="0"/>
                  </a:rPr>
                  <a:t>US$2 million </a:t>
                </a:r>
                <a:r>
                  <a:rPr lang="en-US" sz="1100" dirty="0">
                    <a:solidFill>
                      <a:prstClr val="black"/>
                    </a:solidFill>
                    <a:latin typeface="Verdana" panose="020B0604030504040204" pitchFamily="34" charset="0"/>
                    <a:ea typeface="Verdana" panose="020B0604030504040204" pitchFamily="34" charset="0"/>
                  </a:rPr>
                  <a:t>Grant Agreement to help India set-up large scale solar parks. The first two solar parks to be supported under the project are in the Rewa and Mandsaur districts of Madhya Pradesh, with targeted installed capacities of </a:t>
                </a:r>
                <a:r>
                  <a:rPr lang="en-US" sz="1100" b="1" dirty="0">
                    <a:solidFill>
                      <a:prstClr val="black"/>
                    </a:solidFill>
                    <a:latin typeface="Verdana" panose="020B0604030504040204" pitchFamily="34" charset="0"/>
                    <a:ea typeface="Verdana" panose="020B0604030504040204" pitchFamily="34" charset="0"/>
                  </a:rPr>
                  <a:t>750 MW and 250 MW.</a:t>
                </a:r>
              </a:p>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World Bank Approves </a:t>
                </a:r>
                <a:r>
                  <a:rPr lang="en-US" sz="1100" b="1" dirty="0">
                    <a:solidFill>
                      <a:prstClr val="black"/>
                    </a:solidFill>
                    <a:latin typeface="Verdana" panose="020B0604030504040204" pitchFamily="34" charset="0"/>
                    <a:ea typeface="Verdana" panose="020B0604030504040204" pitchFamily="34" charset="0"/>
                  </a:rPr>
                  <a:t>$165 Million </a:t>
                </a:r>
                <a:r>
                  <a:rPr lang="en-US" sz="1100" dirty="0">
                    <a:solidFill>
                      <a:prstClr val="black"/>
                    </a:solidFill>
                    <a:latin typeface="Verdana" panose="020B0604030504040204" pitchFamily="34" charset="0"/>
                    <a:ea typeface="Verdana" panose="020B0604030504040204" pitchFamily="34" charset="0"/>
                  </a:rPr>
                  <a:t>Funding for </a:t>
                </a:r>
                <a:r>
                  <a:rPr lang="en-US" sz="1100" b="1" dirty="0">
                    <a:solidFill>
                      <a:prstClr val="black"/>
                    </a:solidFill>
                    <a:latin typeface="Verdana" panose="020B0604030504040204" pitchFamily="34" charset="0"/>
                    <a:ea typeface="Verdana" panose="020B0604030504040204" pitchFamily="34" charset="0"/>
                  </a:rPr>
                  <a:t>450 MW </a:t>
                </a:r>
                <a:r>
                  <a:rPr lang="en-US" sz="1100" dirty="0">
                    <a:solidFill>
                      <a:prstClr val="black"/>
                    </a:solidFill>
                    <a:latin typeface="Verdana" panose="020B0604030504040204" pitchFamily="34" charset="0"/>
                    <a:ea typeface="Verdana" panose="020B0604030504040204" pitchFamily="34" charset="0"/>
                  </a:rPr>
                  <a:t>Residential Rooftop Solar Projects in India.</a:t>
                </a:r>
              </a:p>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r>
                  <a:rPr lang="en-US" sz="1100" dirty="0">
                    <a:solidFill>
                      <a:prstClr val="black"/>
                    </a:solidFill>
                    <a:latin typeface="Verdana" panose="020B0604030504040204" pitchFamily="34" charset="0"/>
                    <a:ea typeface="Verdana" panose="020B0604030504040204" pitchFamily="34" charset="0"/>
                  </a:rPr>
                  <a:t>ADB has approved </a:t>
                </a:r>
                <a:r>
                  <a:rPr lang="en-US" sz="1100" b="1" dirty="0">
                    <a:solidFill>
                      <a:prstClr val="black"/>
                    </a:solidFill>
                    <a:latin typeface="Verdana" panose="020B0604030504040204" pitchFamily="34" charset="0"/>
                    <a:ea typeface="Verdana" panose="020B0604030504040204" pitchFamily="34" charset="0"/>
                  </a:rPr>
                  <a:t>~ Rs. 4 billion </a:t>
                </a:r>
                <a:r>
                  <a:rPr lang="en-US" sz="1100" dirty="0">
                    <a:solidFill>
                      <a:prstClr val="black"/>
                    </a:solidFill>
                    <a:latin typeface="Verdana" panose="020B0604030504040204" pitchFamily="34" charset="0"/>
                    <a:ea typeface="Verdana" panose="020B0604030504040204" pitchFamily="34" charset="0"/>
                  </a:rPr>
                  <a:t>to develop </a:t>
                </a:r>
                <a:r>
                  <a:rPr lang="en-US" sz="1100" b="1" dirty="0">
                    <a:solidFill>
                      <a:prstClr val="black"/>
                    </a:solidFill>
                    <a:latin typeface="Verdana" panose="020B0604030504040204" pitchFamily="34" charset="0"/>
                    <a:ea typeface="Verdana" panose="020B0604030504040204" pitchFamily="34" charset="0"/>
                  </a:rPr>
                  <a:t>200 MW solar project </a:t>
                </a:r>
                <a:r>
                  <a:rPr lang="en-US" sz="1100" dirty="0">
                    <a:solidFill>
                      <a:prstClr val="black"/>
                    </a:solidFill>
                    <a:latin typeface="Verdana" panose="020B0604030504040204" pitchFamily="34" charset="0"/>
                    <a:ea typeface="Verdana" panose="020B0604030504040204" pitchFamily="34" charset="0"/>
                  </a:rPr>
                  <a:t>in Gujarat.</a:t>
                </a:r>
              </a:p>
              <a:p>
                <a:pPr marL="171450" marR="0" lvl="1" indent="-171450" fontAlgn="auto">
                  <a:lnSpc>
                    <a:spcPct val="106000"/>
                  </a:lnSpc>
                  <a:spcBef>
                    <a:spcPts val="300"/>
                  </a:spcBef>
                  <a:spcAft>
                    <a:spcPts val="0"/>
                  </a:spcAft>
                  <a:buClrTx/>
                  <a:buSzPct val="100000"/>
                  <a:buFont typeface="Arial" panose="020B0604020202020204" pitchFamily="34" charset="0"/>
                  <a:buChar char="•"/>
                  <a:tabLst>
                    <a:tab pos="88900" algn="l"/>
                  </a:tabLst>
                  <a:defRPr/>
                </a:pPr>
                <a:endParaRPr lang="en-US" sz="1100" dirty="0">
                  <a:solidFill>
                    <a:prstClr val="black"/>
                  </a:solidFill>
                  <a:latin typeface="Verdana" panose="020B0604030504040204" pitchFamily="34" charset="0"/>
                  <a:ea typeface="Verdana" panose="020B0604030504040204" pitchFamily="34" charset="0"/>
                </a:endParaRPr>
              </a:p>
            </p:txBody>
          </p:sp>
          <p:sp>
            <p:nvSpPr>
              <p:cNvPr id="84" name="Rectangle 83">
                <a:extLst>
                  <a:ext uri="{FF2B5EF4-FFF2-40B4-BE49-F238E27FC236}">
                    <a16:creationId xmlns:a16="http://schemas.microsoft.com/office/drawing/2014/main" id="{FDC3741A-CD11-4064-B5CE-633380633414}"/>
                  </a:ext>
                </a:extLst>
              </p:cNvPr>
              <p:cNvSpPr/>
              <p:nvPr/>
            </p:nvSpPr>
            <p:spPr bwMode="gray">
              <a:xfrm>
                <a:off x="8243839" y="1266374"/>
                <a:ext cx="3527614" cy="849794"/>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rPr>
                  <a:t>Market insights </a:t>
                </a:r>
              </a:p>
            </p:txBody>
          </p:sp>
        </p:grpSp>
      </p:grpSp>
      <p:sp>
        <p:nvSpPr>
          <p:cNvPr id="89" name="Rectangle 88">
            <a:extLst>
              <a:ext uri="{FF2B5EF4-FFF2-40B4-BE49-F238E27FC236}">
                <a16:creationId xmlns:a16="http://schemas.microsoft.com/office/drawing/2014/main" id="{144A9898-DE9D-4FA8-810A-8BCA8471CE39}"/>
              </a:ext>
            </a:extLst>
          </p:cNvPr>
          <p:cNvSpPr/>
          <p:nvPr/>
        </p:nvSpPr>
        <p:spPr>
          <a:xfrm>
            <a:off x="6214898" y="2330514"/>
            <a:ext cx="1425474" cy="366792"/>
          </a:xfrm>
          <a:prstGeom prst="rect">
            <a:avLst/>
          </a:prstGeom>
          <a:solidFill>
            <a:srgbClr val="00B050"/>
          </a:solidFill>
        </p:spPr>
        <p:style>
          <a:lnRef idx="0">
            <a:scrgbClr r="0" g="0" b="0"/>
          </a:lnRef>
          <a:fillRef idx="0">
            <a:scrgbClr r="0" g="0" b="0"/>
          </a:fillRef>
          <a:effectRef idx="0">
            <a:scrgbClr r="0" g="0" b="0"/>
          </a:effectRef>
          <a:fontRef idx="minor">
            <a:schemeClr val="lt1"/>
          </a:fontRef>
        </p:style>
        <p:txBody>
          <a:bodyPr spcFirstLastPara="0" vert="horz" wrap="square" lIns="53340" tIns="53340" rIns="53340" bIns="53340" numCol="1" spcCol="1270" anchor="ctr" anchorCtr="0">
            <a:noAutofit/>
          </a:bodyPr>
          <a:lstStyle/>
          <a:p>
            <a:pPr algn="ctr" defTabSz="622284">
              <a:lnSpc>
                <a:spcPct val="90000"/>
              </a:lnSpc>
              <a:spcBef>
                <a:spcPct val="0"/>
              </a:spcBef>
              <a:spcAft>
                <a:spcPct val="35000"/>
              </a:spcAft>
            </a:pPr>
            <a:r>
              <a:rPr lang="en-US" sz="1000" b="1" dirty="0">
                <a:latin typeface="Verdana" panose="020B0604030504040204" pitchFamily="34" charset="0"/>
                <a:ea typeface="Verdana" panose="020B0604030504040204" pitchFamily="34" charset="0"/>
              </a:rPr>
              <a:t>DISCOMs/Other States</a:t>
            </a:r>
          </a:p>
        </p:txBody>
      </p:sp>
      <p:cxnSp>
        <p:nvCxnSpPr>
          <p:cNvPr id="92" name="Connector: Elbow 91">
            <a:extLst>
              <a:ext uri="{FF2B5EF4-FFF2-40B4-BE49-F238E27FC236}">
                <a16:creationId xmlns:a16="http://schemas.microsoft.com/office/drawing/2014/main" id="{F9A6BF29-C552-4E14-B51C-1F0ABE8B0FE0}"/>
              </a:ext>
            </a:extLst>
          </p:cNvPr>
          <p:cNvCxnSpPr>
            <a:cxnSpLocks/>
            <a:endCxn id="89" idx="3"/>
          </p:cNvCxnSpPr>
          <p:nvPr/>
        </p:nvCxnSpPr>
        <p:spPr>
          <a:xfrm rot="10800000" flipV="1">
            <a:off x="7640372" y="1689856"/>
            <a:ext cx="3716476" cy="824054"/>
          </a:xfrm>
          <a:prstGeom prst="bentConnector3">
            <a:avLst>
              <a:gd name="adj1" fmla="val -5605"/>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67516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92E17D5-536F-417F-BA74-010A6005C82C}"/>
              </a:ext>
            </a:extLst>
          </p:cNvPr>
          <p:cNvGraphicFramePr>
            <a:graphicFrameLocks noGrp="1"/>
          </p:cNvGraphicFramePr>
          <p:nvPr>
            <p:extLst>
              <p:ext uri="{D42A27DB-BD31-4B8C-83A1-F6EECF244321}">
                <p14:modId xmlns:p14="http://schemas.microsoft.com/office/powerpoint/2010/main" val="2591625499"/>
              </p:ext>
            </p:extLst>
          </p:nvPr>
        </p:nvGraphicFramePr>
        <p:xfrm>
          <a:off x="455924" y="1023965"/>
          <a:ext cx="2735331" cy="3000040"/>
        </p:xfrm>
        <a:graphic>
          <a:graphicData uri="http://schemas.openxmlformats.org/drawingml/2006/table">
            <a:tbl>
              <a:tblPr firstRow="1" bandRow="1"/>
              <a:tblGrid>
                <a:gridCol w="1226938">
                  <a:extLst>
                    <a:ext uri="{9D8B030D-6E8A-4147-A177-3AD203B41FA5}">
                      <a16:colId xmlns:a16="http://schemas.microsoft.com/office/drawing/2014/main" val="1519637469"/>
                    </a:ext>
                  </a:extLst>
                </a:gridCol>
                <a:gridCol w="699628">
                  <a:extLst>
                    <a:ext uri="{9D8B030D-6E8A-4147-A177-3AD203B41FA5}">
                      <a16:colId xmlns:a16="http://schemas.microsoft.com/office/drawing/2014/main" val="1869945321"/>
                    </a:ext>
                  </a:extLst>
                </a:gridCol>
                <a:gridCol w="808765">
                  <a:extLst>
                    <a:ext uri="{9D8B030D-6E8A-4147-A177-3AD203B41FA5}">
                      <a16:colId xmlns:a16="http://schemas.microsoft.com/office/drawing/2014/main" val="4015422145"/>
                    </a:ext>
                  </a:extLst>
                </a:gridCol>
              </a:tblGrid>
              <a:tr h="200563">
                <a:tc gridSpan="2">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Input Values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no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just">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80859489"/>
                  </a:ext>
                </a:extLst>
              </a:tr>
              <a:tr h="337137">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Levelized tariff</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33713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Project Size (MW)</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1,000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rowSpan="8">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3.65/Kwh</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337137">
                <a:tc>
                  <a:txBody>
                    <a:bodyPr/>
                    <a:lstStyle/>
                    <a:p>
                      <a:pPr marL="91440" marR="0" lvl="0" indent="0" algn="l" defTabSz="914400" rtl="0" eaLnBrk="1" fontAlgn="auto" latinLnBrk="0" hangingPunct="1">
                        <a:lnSpc>
                          <a:spcPts val="1200"/>
                        </a:lnSpc>
                        <a:spcBef>
                          <a:spcPts val="300"/>
                        </a:spcBef>
                        <a:spcAft>
                          <a:spcPts val="300"/>
                        </a:spcAft>
                        <a:buClrTx/>
                        <a:buSzTx/>
                        <a:buFontTx/>
                        <a:buNone/>
                        <a:tabLst/>
                        <a:defRPr/>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Capital Cost (Rs. Cr/MW)</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5</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6399209"/>
                  </a:ext>
                </a:extLst>
              </a:tr>
              <a:tr h="200563">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Interest rate %</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71017641"/>
                  </a:ext>
                </a:extLst>
              </a:tr>
              <a:tr h="200563">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Debt %</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55544692"/>
                  </a:ext>
                </a:extLst>
              </a:tr>
              <a:tr h="200563">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Equity %</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299069226"/>
                  </a:ext>
                </a:extLst>
              </a:tr>
              <a:tr h="33713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Project Cost Rs. Cr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5,000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12318963"/>
                  </a:ext>
                </a:extLst>
              </a:tr>
              <a:tr h="337137">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Equity Rs.Cr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1,500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3969607003"/>
                  </a:ext>
                </a:extLst>
              </a:tr>
              <a:tr h="200563">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Debt Rs.Cr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3,500</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vMerge="1">
                  <a:txBody>
                    <a:bodyPr/>
                    <a:lstStyle/>
                    <a:p>
                      <a:pPr marL="91440" marR="0" algn="ctr">
                        <a:lnSpc>
                          <a:spcPts val="1200"/>
                        </a:lnSpc>
                        <a:spcBef>
                          <a:spcPts val="300"/>
                        </a:spcBef>
                        <a:spcAft>
                          <a:spcPts val="300"/>
                        </a:spcAft>
                      </a:pPr>
                      <a:endPar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30584628"/>
                  </a:ext>
                </a:extLst>
              </a:tr>
            </a:tbl>
          </a:graphicData>
        </a:graphic>
      </p:graphicFrame>
      <p:graphicFrame>
        <p:nvGraphicFramePr>
          <p:cNvPr id="10" name="Table 9">
            <a:extLst>
              <a:ext uri="{FF2B5EF4-FFF2-40B4-BE49-F238E27FC236}">
                <a16:creationId xmlns:a16="http://schemas.microsoft.com/office/drawing/2014/main" id="{C163E4BC-E9AD-4EAB-82B6-471B0F7C3C5C}"/>
              </a:ext>
            </a:extLst>
          </p:cNvPr>
          <p:cNvGraphicFramePr>
            <a:graphicFrameLocks noGrp="1"/>
          </p:cNvGraphicFramePr>
          <p:nvPr>
            <p:extLst>
              <p:ext uri="{D42A27DB-BD31-4B8C-83A1-F6EECF244321}">
                <p14:modId xmlns:p14="http://schemas.microsoft.com/office/powerpoint/2010/main" val="4221899866"/>
              </p:ext>
            </p:extLst>
          </p:nvPr>
        </p:nvGraphicFramePr>
        <p:xfrm>
          <a:off x="455925" y="4066742"/>
          <a:ext cx="2735331" cy="2456933"/>
        </p:xfrm>
        <a:graphic>
          <a:graphicData uri="http://schemas.openxmlformats.org/drawingml/2006/table">
            <a:tbl>
              <a:tblPr firstRow="1" bandRow="1"/>
              <a:tblGrid>
                <a:gridCol w="1205079">
                  <a:extLst>
                    <a:ext uri="{9D8B030D-6E8A-4147-A177-3AD203B41FA5}">
                      <a16:colId xmlns:a16="http://schemas.microsoft.com/office/drawing/2014/main" val="863211157"/>
                    </a:ext>
                  </a:extLst>
                </a:gridCol>
                <a:gridCol w="789493">
                  <a:extLst>
                    <a:ext uri="{9D8B030D-6E8A-4147-A177-3AD203B41FA5}">
                      <a16:colId xmlns:a16="http://schemas.microsoft.com/office/drawing/2014/main" val="1030504356"/>
                    </a:ext>
                  </a:extLst>
                </a:gridCol>
                <a:gridCol w="740759">
                  <a:extLst>
                    <a:ext uri="{9D8B030D-6E8A-4147-A177-3AD203B41FA5}">
                      <a16:colId xmlns:a16="http://schemas.microsoft.com/office/drawing/2014/main" val="1625386413"/>
                    </a:ext>
                  </a:extLst>
                </a:gridCol>
              </a:tblGrid>
              <a:tr h="361701">
                <a:tc gridSpan="3">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215176">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215176">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Payables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7,079</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215176">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16,978</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215176">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9,899</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r h="361701">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Payback Period</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Years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06763682"/>
                  </a:ext>
                </a:extLst>
              </a:tr>
              <a:tr h="215176">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Project IRR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271315772"/>
                  </a:ext>
                </a:extLst>
              </a:tr>
              <a:tr h="215176">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Equity IRR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36%</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014516527"/>
                  </a:ext>
                </a:extLst>
              </a:tr>
              <a:tr h="361701">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GoJ equity Paid back</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Years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~4</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649546434"/>
                  </a:ext>
                </a:extLst>
              </a:tr>
            </a:tbl>
          </a:graphicData>
        </a:graphic>
      </p:graphicFrame>
      <p:graphicFrame>
        <p:nvGraphicFramePr>
          <p:cNvPr id="11" name="Group 3">
            <a:extLst>
              <a:ext uri="{FF2B5EF4-FFF2-40B4-BE49-F238E27FC236}">
                <a16:creationId xmlns:a16="http://schemas.microsoft.com/office/drawing/2014/main" id="{5AC86742-B03A-4A9D-9DA4-94A364E3DCE0}"/>
              </a:ext>
            </a:extLst>
          </p:cNvPr>
          <p:cNvGraphicFramePr>
            <a:graphicFrameLocks/>
          </p:cNvGraphicFramePr>
          <p:nvPr>
            <p:custDataLst>
              <p:tags r:id="rId1"/>
            </p:custDataLst>
            <p:extLst>
              <p:ext uri="{D42A27DB-BD31-4B8C-83A1-F6EECF244321}">
                <p14:modId xmlns:p14="http://schemas.microsoft.com/office/powerpoint/2010/main" val="4116794747"/>
              </p:ext>
            </p:extLst>
          </p:nvPr>
        </p:nvGraphicFramePr>
        <p:xfrm>
          <a:off x="3290170" y="1024148"/>
          <a:ext cx="8643228" cy="1817760"/>
        </p:xfrm>
        <a:graphic>
          <a:graphicData uri="http://schemas.openxmlformats.org/drawingml/2006/table">
            <a:tbl>
              <a:tblPr/>
              <a:tblGrid>
                <a:gridCol w="1799066">
                  <a:extLst>
                    <a:ext uri="{9D8B030D-6E8A-4147-A177-3AD203B41FA5}">
                      <a16:colId xmlns:a16="http://schemas.microsoft.com/office/drawing/2014/main" val="20000"/>
                    </a:ext>
                  </a:extLst>
                </a:gridCol>
                <a:gridCol w="526474">
                  <a:extLst>
                    <a:ext uri="{9D8B030D-6E8A-4147-A177-3AD203B41FA5}">
                      <a16:colId xmlns:a16="http://schemas.microsoft.com/office/drawing/2014/main" val="20001"/>
                    </a:ext>
                  </a:extLst>
                </a:gridCol>
                <a:gridCol w="526474">
                  <a:extLst>
                    <a:ext uri="{9D8B030D-6E8A-4147-A177-3AD203B41FA5}">
                      <a16:colId xmlns:a16="http://schemas.microsoft.com/office/drawing/2014/main" val="3599062624"/>
                    </a:ext>
                  </a:extLst>
                </a:gridCol>
                <a:gridCol w="526474">
                  <a:extLst>
                    <a:ext uri="{9D8B030D-6E8A-4147-A177-3AD203B41FA5}">
                      <a16:colId xmlns:a16="http://schemas.microsoft.com/office/drawing/2014/main" val="3101773808"/>
                    </a:ext>
                  </a:extLst>
                </a:gridCol>
                <a:gridCol w="526474">
                  <a:extLst>
                    <a:ext uri="{9D8B030D-6E8A-4147-A177-3AD203B41FA5}">
                      <a16:colId xmlns:a16="http://schemas.microsoft.com/office/drawing/2014/main" val="1260203290"/>
                    </a:ext>
                  </a:extLst>
                </a:gridCol>
                <a:gridCol w="526474">
                  <a:extLst>
                    <a:ext uri="{9D8B030D-6E8A-4147-A177-3AD203B41FA5}">
                      <a16:colId xmlns:a16="http://schemas.microsoft.com/office/drawing/2014/main" val="399072540"/>
                    </a:ext>
                  </a:extLst>
                </a:gridCol>
                <a:gridCol w="526474">
                  <a:extLst>
                    <a:ext uri="{9D8B030D-6E8A-4147-A177-3AD203B41FA5}">
                      <a16:colId xmlns:a16="http://schemas.microsoft.com/office/drawing/2014/main" val="1221393853"/>
                    </a:ext>
                  </a:extLst>
                </a:gridCol>
                <a:gridCol w="526474">
                  <a:extLst>
                    <a:ext uri="{9D8B030D-6E8A-4147-A177-3AD203B41FA5}">
                      <a16:colId xmlns:a16="http://schemas.microsoft.com/office/drawing/2014/main" val="764624473"/>
                    </a:ext>
                  </a:extLst>
                </a:gridCol>
                <a:gridCol w="526474">
                  <a:extLst>
                    <a:ext uri="{9D8B030D-6E8A-4147-A177-3AD203B41FA5}">
                      <a16:colId xmlns:a16="http://schemas.microsoft.com/office/drawing/2014/main" val="3913509444"/>
                    </a:ext>
                  </a:extLst>
                </a:gridCol>
                <a:gridCol w="526474">
                  <a:extLst>
                    <a:ext uri="{9D8B030D-6E8A-4147-A177-3AD203B41FA5}">
                      <a16:colId xmlns:a16="http://schemas.microsoft.com/office/drawing/2014/main" val="415182970"/>
                    </a:ext>
                  </a:extLst>
                </a:gridCol>
                <a:gridCol w="526474">
                  <a:extLst>
                    <a:ext uri="{9D8B030D-6E8A-4147-A177-3AD203B41FA5}">
                      <a16:colId xmlns:a16="http://schemas.microsoft.com/office/drawing/2014/main" val="1069142456"/>
                    </a:ext>
                  </a:extLst>
                </a:gridCol>
                <a:gridCol w="526474">
                  <a:extLst>
                    <a:ext uri="{9D8B030D-6E8A-4147-A177-3AD203B41FA5}">
                      <a16:colId xmlns:a16="http://schemas.microsoft.com/office/drawing/2014/main" val="1725006996"/>
                    </a:ext>
                  </a:extLst>
                </a:gridCol>
                <a:gridCol w="526474">
                  <a:extLst>
                    <a:ext uri="{9D8B030D-6E8A-4147-A177-3AD203B41FA5}">
                      <a16:colId xmlns:a16="http://schemas.microsoft.com/office/drawing/2014/main" val="152118669"/>
                    </a:ext>
                  </a:extLst>
                </a:gridCol>
                <a:gridCol w="526474">
                  <a:extLst>
                    <a:ext uri="{9D8B030D-6E8A-4147-A177-3AD203B41FA5}">
                      <a16:colId xmlns:a16="http://schemas.microsoft.com/office/drawing/2014/main" val="1601102081"/>
                    </a:ext>
                  </a:extLst>
                </a:gridCol>
              </a:tblGrid>
              <a:tr h="36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accent1"/>
                          </a:solidFill>
                          <a:effectLst/>
                          <a:latin typeface="Verdana" panose="020B0604030504040204" pitchFamily="34" charset="0"/>
                          <a:ea typeface="Verdana" panose="020B0604030504040204" pitchFamily="34" charset="0"/>
                          <a:cs typeface="+mn-cs"/>
                        </a:rPr>
                        <a:t>Particulars</a:t>
                      </a:r>
                    </a:p>
                  </a:txBody>
                  <a:tcPr marL="91561" marR="91561" marT="91440" marB="9144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a:t>
                      </a:r>
                      <a:endPar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endParaRP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4</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6</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7</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8</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9</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10</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11</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(Rs. Cr)</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155</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158</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381</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385</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388</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391</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395</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399</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403</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408</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413</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418</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423</a:t>
                      </a:r>
                    </a:p>
                  </a:txBody>
                  <a:tcPr marL="0" marR="0" marT="0" marB="0" anchor="ctr">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sale of power (Rs.Cr)</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607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607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524</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521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298</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295</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291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288</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284</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280</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271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266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261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256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767F1DD5-1F0E-4373-A889-427BD39354E2}"/>
              </a:ext>
            </a:extLst>
          </p:cNvPr>
          <p:cNvGraphicFramePr>
            <a:graphicFrameLocks noGrp="1"/>
          </p:cNvGraphicFramePr>
          <p:nvPr>
            <p:extLst>
              <p:ext uri="{D42A27DB-BD31-4B8C-83A1-F6EECF244321}">
                <p14:modId xmlns:p14="http://schemas.microsoft.com/office/powerpoint/2010/main" val="1908682035"/>
              </p:ext>
            </p:extLst>
          </p:nvPr>
        </p:nvGraphicFramePr>
        <p:xfrm>
          <a:off x="3290173" y="2931564"/>
          <a:ext cx="8643225" cy="1798320"/>
        </p:xfrm>
        <a:graphic>
          <a:graphicData uri="http://schemas.openxmlformats.org/drawingml/2006/table">
            <a:tbl>
              <a:tblPr/>
              <a:tblGrid>
                <a:gridCol w="1836009">
                  <a:extLst>
                    <a:ext uri="{9D8B030D-6E8A-4147-A177-3AD203B41FA5}">
                      <a16:colId xmlns:a16="http://schemas.microsoft.com/office/drawing/2014/main" val="3569502082"/>
                    </a:ext>
                  </a:extLst>
                </a:gridCol>
                <a:gridCol w="567268">
                  <a:extLst>
                    <a:ext uri="{9D8B030D-6E8A-4147-A177-3AD203B41FA5}">
                      <a16:colId xmlns:a16="http://schemas.microsoft.com/office/drawing/2014/main" val="3769989880"/>
                    </a:ext>
                  </a:extLst>
                </a:gridCol>
                <a:gridCol w="567268">
                  <a:extLst>
                    <a:ext uri="{9D8B030D-6E8A-4147-A177-3AD203B41FA5}">
                      <a16:colId xmlns:a16="http://schemas.microsoft.com/office/drawing/2014/main" val="2688439853"/>
                    </a:ext>
                  </a:extLst>
                </a:gridCol>
                <a:gridCol w="567268">
                  <a:extLst>
                    <a:ext uri="{9D8B030D-6E8A-4147-A177-3AD203B41FA5}">
                      <a16:colId xmlns:a16="http://schemas.microsoft.com/office/drawing/2014/main" val="2782662504"/>
                    </a:ext>
                  </a:extLst>
                </a:gridCol>
                <a:gridCol w="567268">
                  <a:extLst>
                    <a:ext uri="{9D8B030D-6E8A-4147-A177-3AD203B41FA5}">
                      <a16:colId xmlns:a16="http://schemas.microsoft.com/office/drawing/2014/main" val="775487047"/>
                    </a:ext>
                  </a:extLst>
                </a:gridCol>
                <a:gridCol w="567268">
                  <a:extLst>
                    <a:ext uri="{9D8B030D-6E8A-4147-A177-3AD203B41FA5}">
                      <a16:colId xmlns:a16="http://schemas.microsoft.com/office/drawing/2014/main" val="131298814"/>
                    </a:ext>
                  </a:extLst>
                </a:gridCol>
                <a:gridCol w="567268">
                  <a:extLst>
                    <a:ext uri="{9D8B030D-6E8A-4147-A177-3AD203B41FA5}">
                      <a16:colId xmlns:a16="http://schemas.microsoft.com/office/drawing/2014/main" val="1076192191"/>
                    </a:ext>
                  </a:extLst>
                </a:gridCol>
                <a:gridCol w="567268">
                  <a:extLst>
                    <a:ext uri="{9D8B030D-6E8A-4147-A177-3AD203B41FA5}">
                      <a16:colId xmlns:a16="http://schemas.microsoft.com/office/drawing/2014/main" val="2248460237"/>
                    </a:ext>
                  </a:extLst>
                </a:gridCol>
                <a:gridCol w="567268">
                  <a:extLst>
                    <a:ext uri="{9D8B030D-6E8A-4147-A177-3AD203B41FA5}">
                      <a16:colId xmlns:a16="http://schemas.microsoft.com/office/drawing/2014/main" val="2689429909"/>
                    </a:ext>
                  </a:extLst>
                </a:gridCol>
                <a:gridCol w="567268">
                  <a:extLst>
                    <a:ext uri="{9D8B030D-6E8A-4147-A177-3AD203B41FA5}">
                      <a16:colId xmlns:a16="http://schemas.microsoft.com/office/drawing/2014/main" val="1191778161"/>
                    </a:ext>
                  </a:extLst>
                </a:gridCol>
                <a:gridCol w="567268">
                  <a:extLst>
                    <a:ext uri="{9D8B030D-6E8A-4147-A177-3AD203B41FA5}">
                      <a16:colId xmlns:a16="http://schemas.microsoft.com/office/drawing/2014/main" val="4259231675"/>
                    </a:ext>
                  </a:extLst>
                </a:gridCol>
                <a:gridCol w="567268">
                  <a:extLst>
                    <a:ext uri="{9D8B030D-6E8A-4147-A177-3AD203B41FA5}">
                      <a16:colId xmlns:a16="http://schemas.microsoft.com/office/drawing/2014/main" val="1483519396"/>
                    </a:ext>
                  </a:extLst>
                </a:gridCol>
                <a:gridCol w="567268">
                  <a:extLst>
                    <a:ext uri="{9D8B030D-6E8A-4147-A177-3AD203B41FA5}">
                      <a16:colId xmlns:a16="http://schemas.microsoft.com/office/drawing/2014/main" val="3232366169"/>
                    </a:ext>
                  </a:extLst>
                </a:gridCol>
              </a:tblGrid>
              <a:tr h="281943">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accent1"/>
                          </a:solidFill>
                          <a:effectLst/>
                          <a:latin typeface="Verdana" panose="020B0604030504040204" pitchFamily="34" charset="0"/>
                          <a:ea typeface="Verdana" panose="020B0604030504040204" pitchFamily="34" charset="0"/>
                          <a:cs typeface="+mn-cs"/>
                        </a:rPr>
                        <a:t>Particulars</a:t>
                      </a:r>
                    </a:p>
                  </a:txBody>
                  <a:tcPr marL="91561" marR="91561" marT="91440" marB="9144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14</a:t>
                      </a:r>
                      <a:endPar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endParaRP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16</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17</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18</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19</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20</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21</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24</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48544"/>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(Rs. Cr)</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429</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434</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115</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122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129</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136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144</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152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161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170</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180</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190</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239630"/>
                  </a:ext>
                </a:extLst>
              </a:tr>
              <a:tr h="35242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sale of power (Rs.Cr)</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607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607</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607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8248505"/>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72</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1258786"/>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251</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245</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564</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550</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543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535</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527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518</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509</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499</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489</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55469"/>
                  </a:ext>
                </a:extLst>
              </a:tr>
            </a:tbl>
          </a:graphicData>
        </a:graphic>
      </p:graphicFrame>
      <p:graphicFrame>
        <p:nvGraphicFramePr>
          <p:cNvPr id="13" name="Chart 12">
            <a:extLst>
              <a:ext uri="{FF2B5EF4-FFF2-40B4-BE49-F238E27FC236}">
                <a16:creationId xmlns:a16="http://schemas.microsoft.com/office/drawing/2014/main" id="{9A22FDBF-CB5D-4463-8F9B-7E73F7136169}"/>
              </a:ext>
            </a:extLst>
          </p:cNvPr>
          <p:cNvGraphicFramePr/>
          <p:nvPr>
            <p:extLst>
              <p:ext uri="{D42A27DB-BD31-4B8C-83A1-F6EECF244321}">
                <p14:modId xmlns:p14="http://schemas.microsoft.com/office/powerpoint/2010/main" val="1708039570"/>
              </p:ext>
            </p:extLst>
          </p:nvPr>
        </p:nvGraphicFramePr>
        <p:xfrm>
          <a:off x="3080223" y="4700955"/>
          <a:ext cx="8853175" cy="1787667"/>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Placeholder 2">
            <a:extLst>
              <a:ext uri="{FF2B5EF4-FFF2-40B4-BE49-F238E27FC236}">
                <a16:creationId xmlns:a16="http://schemas.microsoft.com/office/drawing/2014/main" id="{A09DB53B-9D78-41BB-83AA-7BE48B71ED6A}"/>
              </a:ext>
            </a:extLst>
          </p:cNvPr>
          <p:cNvSpPr txBox="1">
            <a:spLocks/>
          </p:cNvSpPr>
          <p:nvPr/>
        </p:nvSpPr>
        <p:spPr>
          <a:xfrm>
            <a:off x="455925" y="221700"/>
            <a:ext cx="11409210" cy="453612"/>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600" b="1" dirty="0">
                <a:solidFill>
                  <a:schemeClr val="tx1"/>
                </a:solidFill>
                <a:latin typeface="Verdana" panose="020B0604030504040204" pitchFamily="34" charset="0"/>
                <a:ea typeface="Verdana" panose="020B0604030504040204" pitchFamily="34" charset="0"/>
              </a:rPr>
              <a:t>CAPEX (2/2)</a:t>
            </a:r>
            <a:endParaRPr lang="en-US" sz="1600" dirty="0">
              <a:solidFill>
                <a:schemeClr val="tx1"/>
              </a:solidFill>
              <a:latin typeface="Verdana" panose="020B0604030504040204" pitchFamily="34" charset="0"/>
              <a:ea typeface="Verdana" panose="020B0604030504040204" pitchFamily="34" charset="0"/>
            </a:endParaRPr>
          </a:p>
        </p:txBody>
      </p:sp>
      <p:sp>
        <p:nvSpPr>
          <p:cNvPr id="15" name="Text Placeholder 2">
            <a:extLst>
              <a:ext uri="{FF2B5EF4-FFF2-40B4-BE49-F238E27FC236}">
                <a16:creationId xmlns:a16="http://schemas.microsoft.com/office/drawing/2014/main" id="{1719E8B2-D13F-49D2-80A2-41F573D50449}"/>
              </a:ext>
            </a:extLst>
          </p:cNvPr>
          <p:cNvSpPr txBox="1">
            <a:spLocks/>
          </p:cNvSpPr>
          <p:nvPr/>
        </p:nvSpPr>
        <p:spPr>
          <a:xfrm>
            <a:off x="455925" y="523896"/>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Financial Analysis</a:t>
            </a:r>
          </a:p>
        </p:txBody>
      </p:sp>
    </p:spTree>
    <p:extLst>
      <p:ext uri="{BB962C8B-B14F-4D97-AF65-F5344CB8AC3E}">
        <p14:creationId xmlns:p14="http://schemas.microsoft.com/office/powerpoint/2010/main" val="310123809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8">
            <a:extLst>
              <a:ext uri="{FF2B5EF4-FFF2-40B4-BE49-F238E27FC236}">
                <a16:creationId xmlns:a16="http://schemas.microsoft.com/office/drawing/2014/main" id="{E3E3D34D-05D1-4E18-8DDF-A7F0C43A9F06}"/>
              </a:ext>
            </a:extLst>
          </p:cNvPr>
          <p:cNvGraphicFramePr>
            <a:graphicFrameLocks noGrp="1"/>
          </p:cNvGraphicFramePr>
          <p:nvPr>
            <p:extLst>
              <p:ext uri="{D42A27DB-BD31-4B8C-83A1-F6EECF244321}">
                <p14:modId xmlns:p14="http://schemas.microsoft.com/office/powerpoint/2010/main" val="1111238777"/>
              </p:ext>
            </p:extLst>
          </p:nvPr>
        </p:nvGraphicFramePr>
        <p:xfrm>
          <a:off x="360233" y="1141523"/>
          <a:ext cx="11284918" cy="4551015"/>
        </p:xfrm>
        <a:graphic>
          <a:graphicData uri="http://schemas.openxmlformats.org/drawingml/2006/table">
            <a:tbl>
              <a:tblPr/>
              <a:tblGrid>
                <a:gridCol w="2679634">
                  <a:extLst>
                    <a:ext uri="{9D8B030D-6E8A-4147-A177-3AD203B41FA5}">
                      <a16:colId xmlns:a16="http://schemas.microsoft.com/office/drawing/2014/main" val="20000"/>
                    </a:ext>
                  </a:extLst>
                </a:gridCol>
                <a:gridCol w="3492706">
                  <a:extLst>
                    <a:ext uri="{9D8B030D-6E8A-4147-A177-3AD203B41FA5}">
                      <a16:colId xmlns:a16="http://schemas.microsoft.com/office/drawing/2014/main" val="20001"/>
                    </a:ext>
                  </a:extLst>
                </a:gridCol>
                <a:gridCol w="2930719">
                  <a:extLst>
                    <a:ext uri="{9D8B030D-6E8A-4147-A177-3AD203B41FA5}">
                      <a16:colId xmlns:a16="http://schemas.microsoft.com/office/drawing/2014/main" val="20002"/>
                    </a:ext>
                  </a:extLst>
                </a:gridCol>
                <a:gridCol w="2181859">
                  <a:extLst>
                    <a:ext uri="{9D8B030D-6E8A-4147-A177-3AD203B41FA5}">
                      <a16:colId xmlns:a16="http://schemas.microsoft.com/office/drawing/2014/main" val="20003"/>
                    </a:ext>
                  </a:extLst>
                </a:gridCol>
              </a:tblGrid>
              <a:tr h="348204">
                <a:tc>
                  <a:txBody>
                    <a:bodyPr/>
                    <a:lstStyle/>
                    <a:p>
                      <a:pPr marL="0" marR="0" lvl="0" indent="0" algn="l"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Particulars</a:t>
                      </a:r>
                    </a:p>
                  </a:txBody>
                  <a:tcPr marT="91440" marB="91440" anchor="ctr" horzOverflow="overflow">
                    <a:lnL cap="flat">
                      <a:noFill/>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Competitive Bidding: Model 1</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Competitive Bidding: Model 2</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CAPEX</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50129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Up-front Equity Infusion by GoJ</a:t>
                      </a:r>
                    </a:p>
                  </a:txBody>
                  <a:tcPr marT="91440" marB="91440" anchor="ctr" horzOverflow="overflow">
                    <a:lnL cap="flat">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w="762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1"/>
                  </a:ext>
                </a:extLst>
              </a:tr>
              <a:tr h="348204">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Liability on GOJ</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479810015"/>
                  </a:ext>
                </a:extLst>
              </a:tr>
              <a:tr h="348204">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Profitability</a:t>
                      </a:r>
                      <a:endPar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A291C"/>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87453">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YES</a:t>
                      </a:r>
                      <a:endPar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YES</a:t>
                      </a:r>
                      <a:endPar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56616">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Fulfillment of RPO Obligation</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YES</a:t>
                      </a:r>
                      <a:endPar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9601">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Financially Viable Competitive Tariff</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YES</a:t>
                      </a:r>
                      <a:endPar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18528">
                <a:tc>
                  <a:txBody>
                    <a:body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Risk of Project Completion/Stranded PPA</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NO</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691307405"/>
                  </a:ext>
                </a:extLst>
              </a:tr>
              <a:tr h="50129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Capacity Building (Finance Plus)</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A291C"/>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NO</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DA291C"/>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Verdana" panose="020B0604030504040204" pitchFamily="34" charset="0"/>
                          <a:ea typeface="Verdana" panose="020B0604030504040204" pitchFamily="34" charset="0"/>
                          <a:cs typeface="+mn-cs"/>
                        </a:rPr>
                        <a:t>YES</a:t>
                      </a:r>
                      <a:endPar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511226222"/>
                  </a:ext>
                </a:extLst>
              </a:tr>
              <a:tr h="66347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Manufacturing &amp; Employment generation</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kern="1200" cap="none" normalizeH="0" baseline="0" dirty="0">
                          <a:ln>
                            <a:noFill/>
                          </a:ln>
                          <a:solidFill>
                            <a:schemeClr val="bg1"/>
                          </a:solidFill>
                          <a:effectLst/>
                          <a:latin typeface="Verdana" panose="020B0604030504040204" pitchFamily="34" charset="0"/>
                          <a:ea typeface="Verdana" panose="020B0604030504040204" pitchFamily="34" charset="0"/>
                          <a:cs typeface="+mn-cs"/>
                        </a:rPr>
                        <a:t>YES</a:t>
                      </a: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rgbClr val="FFC000"/>
                    </a:solidFill>
                  </a:tcPr>
                </a:tc>
                <a:tc>
                  <a:txBody>
                    <a:bodyPr/>
                    <a:lstStyle/>
                    <a:p>
                      <a:pPr marL="0" marR="0" lvl="0" indent="0" algn="ctr" defTabSz="914400" rtl="0" eaLnBrk="1" fontAlgn="base" latinLnBrk="0" hangingPunct="1">
                        <a:lnSpc>
                          <a:spcPct val="106000"/>
                        </a:lnSpc>
                        <a:spcBef>
                          <a:spcPct val="50000"/>
                        </a:spcBef>
                        <a:spcAft>
                          <a:spcPct val="0"/>
                        </a:spcAft>
                        <a:buClr>
                          <a:prstClr val="black"/>
                        </a:buClr>
                        <a:buSzTx/>
                        <a:buFont typeface="Wingdings 2" pitchFamily="18" charset="2"/>
                        <a:buNone/>
                        <a:tabLst/>
                        <a:defRPr/>
                      </a:pPr>
                      <a:r>
                        <a:rPr kumimoji="0" lang="en-US" sz="1200" b="1"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mn-cs"/>
                        </a:rPr>
                        <a:t>YES</a:t>
                      </a: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72259295"/>
                  </a:ext>
                </a:extLst>
              </a:tr>
            </a:tbl>
          </a:graphicData>
        </a:graphic>
      </p:graphicFrame>
      <p:sp>
        <p:nvSpPr>
          <p:cNvPr id="3" name="Title 1">
            <a:extLst>
              <a:ext uri="{FF2B5EF4-FFF2-40B4-BE49-F238E27FC236}">
                <a16:creationId xmlns:a16="http://schemas.microsoft.com/office/drawing/2014/main" id="{1AD8A98E-B76C-4CA9-9057-3F481DC6C4D3}"/>
              </a:ext>
            </a:extLst>
          </p:cNvPr>
          <p:cNvSpPr txBox="1">
            <a:spLocks/>
          </p:cNvSpPr>
          <p:nvPr/>
        </p:nvSpPr>
        <p:spPr>
          <a:xfrm>
            <a:off x="239722" y="255226"/>
            <a:ext cx="11128668" cy="346004"/>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r>
              <a:rPr lang="en-US" sz="1600" b="1" dirty="0">
                <a:latin typeface="Verdana" panose="020B0604030504040204" pitchFamily="34" charset="0"/>
                <a:ea typeface="Verdana" panose="020B0604030504040204" pitchFamily="34" charset="0"/>
              </a:rPr>
              <a:t>Key Insights:  Benefits of CAPEX over Competitive Bidding/ PPP (1/4)</a:t>
            </a:r>
          </a:p>
        </p:txBody>
      </p:sp>
      <p:sp>
        <p:nvSpPr>
          <p:cNvPr id="4" name="Text Placeholder 2">
            <a:extLst>
              <a:ext uri="{FF2B5EF4-FFF2-40B4-BE49-F238E27FC236}">
                <a16:creationId xmlns:a16="http://schemas.microsoft.com/office/drawing/2014/main" id="{FE077443-A8FB-4F0D-AD49-FE76813D4FBB}"/>
              </a:ext>
            </a:extLst>
          </p:cNvPr>
          <p:cNvSpPr txBox="1">
            <a:spLocks/>
          </p:cNvSpPr>
          <p:nvPr/>
        </p:nvSpPr>
        <p:spPr>
          <a:xfrm>
            <a:off x="349600" y="65150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Evaluation Matrix</a:t>
            </a:r>
          </a:p>
        </p:txBody>
      </p:sp>
      <p:sp>
        <p:nvSpPr>
          <p:cNvPr id="5" name="TextBox 4">
            <a:extLst>
              <a:ext uri="{FF2B5EF4-FFF2-40B4-BE49-F238E27FC236}">
                <a16:creationId xmlns:a16="http://schemas.microsoft.com/office/drawing/2014/main" id="{1CD79A0A-EC53-4214-9608-32C558A8A2F8}"/>
              </a:ext>
            </a:extLst>
          </p:cNvPr>
          <p:cNvSpPr txBox="1"/>
          <p:nvPr/>
        </p:nvSpPr>
        <p:spPr>
          <a:xfrm>
            <a:off x="386749" y="5845352"/>
            <a:ext cx="977195" cy="184666"/>
          </a:xfrm>
          <a:prstGeom prst="rect">
            <a:avLst/>
          </a:prstGeom>
          <a:solidFill>
            <a:schemeClr val="accent1"/>
          </a:solidFill>
        </p:spPr>
        <p:txBody>
          <a:bodyPr wrap="square" lIns="0" tIns="0" rIns="0" bIns="0" rtlCol="0">
            <a:spAutoFit/>
          </a:bodyPr>
          <a:lstStyle/>
          <a:p>
            <a:pPr algn="ctr">
              <a:spcBef>
                <a:spcPts val="600"/>
              </a:spcBef>
              <a:buSzPct val="100000"/>
            </a:pPr>
            <a:r>
              <a:rPr lang="en-US" sz="1200" b="1" dirty="0">
                <a:solidFill>
                  <a:schemeClr val="bg1"/>
                </a:solidFill>
                <a:latin typeface="Verdana" panose="020B0604030504040204" pitchFamily="34" charset="0"/>
                <a:ea typeface="Verdana" panose="020B0604030504040204" pitchFamily="34" charset="0"/>
              </a:rPr>
              <a:t>No Risk</a:t>
            </a:r>
          </a:p>
        </p:txBody>
      </p:sp>
      <p:sp>
        <p:nvSpPr>
          <p:cNvPr id="40" name="TextBox 39">
            <a:extLst>
              <a:ext uri="{FF2B5EF4-FFF2-40B4-BE49-F238E27FC236}">
                <a16:creationId xmlns:a16="http://schemas.microsoft.com/office/drawing/2014/main" id="{8974B7AA-D464-48F1-9E25-BDAFB2C3A83D}"/>
              </a:ext>
            </a:extLst>
          </p:cNvPr>
          <p:cNvSpPr txBox="1"/>
          <p:nvPr/>
        </p:nvSpPr>
        <p:spPr>
          <a:xfrm>
            <a:off x="1511461" y="5845352"/>
            <a:ext cx="1315524" cy="184666"/>
          </a:xfrm>
          <a:prstGeom prst="rect">
            <a:avLst/>
          </a:prstGeom>
          <a:solidFill>
            <a:srgbClr val="FFC000"/>
          </a:solidFill>
        </p:spPr>
        <p:txBody>
          <a:bodyPr wrap="square" lIns="0" tIns="0" rIns="0" bIns="0" rtlCol="0">
            <a:spAutoFit/>
          </a:bodyPr>
          <a:lstStyle/>
          <a:p>
            <a:pPr algn="ctr">
              <a:spcBef>
                <a:spcPts val="600"/>
              </a:spcBef>
              <a:buSzPct val="100000"/>
            </a:pPr>
            <a:r>
              <a:rPr lang="en-US" sz="1200" b="1" dirty="0">
                <a:solidFill>
                  <a:schemeClr val="bg1"/>
                </a:solidFill>
                <a:latin typeface="Verdana" panose="020B0604030504040204" pitchFamily="34" charset="0"/>
                <a:ea typeface="Verdana" panose="020B0604030504040204" pitchFamily="34" charset="0"/>
              </a:rPr>
              <a:t>Moderate Risk</a:t>
            </a:r>
          </a:p>
        </p:txBody>
      </p:sp>
      <p:sp>
        <p:nvSpPr>
          <p:cNvPr id="41" name="TextBox 40">
            <a:extLst>
              <a:ext uri="{FF2B5EF4-FFF2-40B4-BE49-F238E27FC236}">
                <a16:creationId xmlns:a16="http://schemas.microsoft.com/office/drawing/2014/main" id="{4132D129-362F-4FC7-8B13-C3EA26E9C936}"/>
              </a:ext>
            </a:extLst>
          </p:cNvPr>
          <p:cNvSpPr txBox="1"/>
          <p:nvPr/>
        </p:nvSpPr>
        <p:spPr>
          <a:xfrm>
            <a:off x="3056797" y="5845352"/>
            <a:ext cx="977195" cy="184666"/>
          </a:xfrm>
          <a:prstGeom prst="rect">
            <a:avLst/>
          </a:prstGeom>
          <a:solidFill>
            <a:srgbClr val="DA291C"/>
          </a:solidFill>
        </p:spPr>
        <p:txBody>
          <a:bodyPr wrap="square" lIns="0" tIns="0" rIns="0" bIns="0" rtlCol="0">
            <a:spAutoFit/>
          </a:bodyPr>
          <a:lstStyle/>
          <a:p>
            <a:pPr algn="ctr">
              <a:spcBef>
                <a:spcPts val="600"/>
              </a:spcBef>
              <a:buSzPct val="100000"/>
            </a:pPr>
            <a:r>
              <a:rPr lang="en-US" sz="1200" b="1" dirty="0">
                <a:solidFill>
                  <a:schemeClr val="bg1"/>
                </a:solidFill>
                <a:latin typeface="Verdana" panose="020B0604030504040204" pitchFamily="34" charset="0"/>
                <a:ea typeface="Verdana" panose="020B0604030504040204" pitchFamily="34" charset="0"/>
              </a:rPr>
              <a:t>High Risk</a:t>
            </a:r>
          </a:p>
        </p:txBody>
      </p:sp>
      <p:sp>
        <p:nvSpPr>
          <p:cNvPr id="8" name="TextBox 7">
            <a:extLst>
              <a:ext uri="{FF2B5EF4-FFF2-40B4-BE49-F238E27FC236}">
                <a16:creationId xmlns:a16="http://schemas.microsoft.com/office/drawing/2014/main" id="{9FBF3A76-D80A-422B-9426-8174B279D9F1}"/>
              </a:ext>
            </a:extLst>
          </p:cNvPr>
          <p:cNvSpPr txBox="1"/>
          <p:nvPr/>
        </p:nvSpPr>
        <p:spPr>
          <a:xfrm>
            <a:off x="4263804" y="5868435"/>
            <a:ext cx="4699527" cy="138499"/>
          </a:xfrm>
          <a:prstGeom prst="rect">
            <a:avLst/>
          </a:prstGeom>
          <a:noFill/>
        </p:spPr>
        <p:txBody>
          <a:bodyPr wrap="square" lIns="0" tIns="0" rIns="0" bIns="0" rtlCol="0">
            <a:spAutoFit/>
          </a:bodyPr>
          <a:lstStyle/>
          <a:p>
            <a:pPr>
              <a:spcBef>
                <a:spcPts val="600"/>
              </a:spcBef>
              <a:buSzPct val="100000"/>
            </a:pPr>
            <a:r>
              <a:rPr lang="en-US" sz="900" b="1" i="1" dirty="0">
                <a:solidFill>
                  <a:srgbClr val="313131"/>
                </a:solidFill>
                <a:latin typeface="Verdana" panose="020B0604030504040204" pitchFamily="34" charset="0"/>
                <a:ea typeface="Verdana" panose="020B0604030504040204" pitchFamily="34" charset="0"/>
              </a:rPr>
              <a:t>* When minimum 30% of total power generated sold to JBVNL</a:t>
            </a:r>
          </a:p>
        </p:txBody>
      </p:sp>
    </p:spTree>
    <p:extLst>
      <p:ext uri="{BB962C8B-B14F-4D97-AF65-F5344CB8AC3E}">
        <p14:creationId xmlns:p14="http://schemas.microsoft.com/office/powerpoint/2010/main" val="312805468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Straight Connector 82">
            <a:extLst>
              <a:ext uri="{FF2B5EF4-FFF2-40B4-BE49-F238E27FC236}">
                <a16:creationId xmlns:a16="http://schemas.microsoft.com/office/drawing/2014/main" id="{4B68A5C5-8A0B-49BD-A0CB-3E09B124B06D}"/>
              </a:ext>
            </a:extLst>
          </p:cNvPr>
          <p:cNvCxnSpPr/>
          <p:nvPr/>
        </p:nvCxnSpPr>
        <p:spPr>
          <a:xfrm>
            <a:off x="577811" y="5556520"/>
            <a:ext cx="11408782" cy="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E4819E8-DCCC-49F2-A404-1D9D0FCAB9AE}"/>
              </a:ext>
            </a:extLst>
          </p:cNvPr>
          <p:cNvCxnSpPr/>
          <p:nvPr/>
        </p:nvCxnSpPr>
        <p:spPr>
          <a:xfrm>
            <a:off x="496490" y="4270323"/>
            <a:ext cx="11381551" cy="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63D8AA2-F429-4855-A508-0A2610E8BACC}"/>
              </a:ext>
            </a:extLst>
          </p:cNvPr>
          <p:cNvCxnSpPr/>
          <p:nvPr/>
        </p:nvCxnSpPr>
        <p:spPr>
          <a:xfrm>
            <a:off x="471824" y="3271168"/>
            <a:ext cx="11382072" cy="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B78072F2-1D2F-4402-9EAA-3C6A0CC30459}"/>
              </a:ext>
            </a:extLst>
          </p:cNvPr>
          <p:cNvSpPr txBox="1">
            <a:spLocks/>
          </p:cNvSpPr>
          <p:nvPr/>
        </p:nvSpPr>
        <p:spPr>
          <a:xfrm>
            <a:off x="239722" y="255226"/>
            <a:ext cx="11128668" cy="346004"/>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r>
              <a:rPr lang="en-US" sz="1600" b="1" dirty="0">
                <a:latin typeface="Verdana" panose="020B0604030504040204" pitchFamily="34" charset="0"/>
                <a:ea typeface="Verdana" panose="020B0604030504040204" pitchFamily="34" charset="0"/>
              </a:rPr>
              <a:t>Key Insights:  Benefits of CAPEX over Competitive Bidding/ PPP (2/2)</a:t>
            </a:r>
          </a:p>
        </p:txBody>
      </p:sp>
      <p:sp>
        <p:nvSpPr>
          <p:cNvPr id="30" name="Rounded Rectangle 4">
            <a:extLst>
              <a:ext uri="{FF2B5EF4-FFF2-40B4-BE49-F238E27FC236}">
                <a16:creationId xmlns:a16="http://schemas.microsoft.com/office/drawing/2014/main" id="{AFFFCCC9-82A7-4102-AE1D-84D176529FEB}"/>
              </a:ext>
            </a:extLst>
          </p:cNvPr>
          <p:cNvSpPr/>
          <p:nvPr/>
        </p:nvSpPr>
        <p:spPr bwMode="gray">
          <a:xfrm>
            <a:off x="412275" y="880582"/>
            <a:ext cx="5561415" cy="536626"/>
          </a:xfrm>
          <a:prstGeom prst="roundRect">
            <a:avLst/>
          </a:prstGeom>
          <a:solidFill>
            <a:schemeClr val="accent5"/>
          </a:solidFill>
          <a:ln w="19050" algn="ctr">
            <a:noFill/>
            <a:miter lim="800000"/>
            <a:headEnd/>
            <a:tailEnd/>
          </a:ln>
        </p:spPr>
        <p:txBody>
          <a:bodyPr wrap="square" lIns="80615" tIns="80615" rIns="80615" bIns="80615" numCol="2" spcCol="2926080" rtlCol="0" anchor="ctr"/>
          <a:lstStyle/>
          <a:p>
            <a:pPr lvl="0" algn="ctr">
              <a:lnSpc>
                <a:spcPct val="106000"/>
              </a:lnSpc>
              <a:defRPr/>
            </a:pPr>
            <a:endParaRPr lang="en-US" sz="1088" kern="0" dirty="0">
              <a:solidFill>
                <a:schemeClr val="bg1"/>
              </a:solidFill>
              <a:latin typeface="+mj-lt"/>
            </a:endParaRPr>
          </a:p>
        </p:txBody>
      </p:sp>
      <p:sp>
        <p:nvSpPr>
          <p:cNvPr id="31" name="Rounded Rectangle 5">
            <a:extLst>
              <a:ext uri="{FF2B5EF4-FFF2-40B4-BE49-F238E27FC236}">
                <a16:creationId xmlns:a16="http://schemas.microsoft.com/office/drawing/2014/main" id="{5884A1F3-DE49-4AD3-B554-076E3B0078D9}"/>
              </a:ext>
            </a:extLst>
          </p:cNvPr>
          <p:cNvSpPr/>
          <p:nvPr/>
        </p:nvSpPr>
        <p:spPr bwMode="gray">
          <a:xfrm>
            <a:off x="6282202" y="880582"/>
            <a:ext cx="5609456" cy="536626"/>
          </a:xfrm>
          <a:prstGeom prst="roundRect">
            <a:avLst/>
          </a:prstGeom>
          <a:solidFill>
            <a:srgbClr val="009A44"/>
          </a:solidFill>
          <a:ln w="19050" algn="ctr">
            <a:noFill/>
            <a:miter lim="800000"/>
            <a:headEnd/>
            <a:tailEnd/>
          </a:ln>
        </p:spPr>
        <p:txBody>
          <a:bodyPr wrap="square" lIns="80615" tIns="80615" rIns="80615" bIns="80615" numCol="2" spcCol="2926080" rtlCol="0" anchor="ctr"/>
          <a:lstStyle/>
          <a:p>
            <a:pPr lvl="0" algn="ctr">
              <a:lnSpc>
                <a:spcPct val="106000"/>
              </a:lnSpc>
              <a:defRPr/>
            </a:pPr>
            <a:endParaRPr lang="en-US" sz="1088" kern="0" dirty="0">
              <a:solidFill>
                <a:schemeClr val="bg1"/>
              </a:solidFill>
              <a:latin typeface="+mj-lt"/>
            </a:endParaRPr>
          </a:p>
        </p:txBody>
      </p:sp>
      <p:sp>
        <p:nvSpPr>
          <p:cNvPr id="32" name="Rectangle 31">
            <a:extLst>
              <a:ext uri="{FF2B5EF4-FFF2-40B4-BE49-F238E27FC236}">
                <a16:creationId xmlns:a16="http://schemas.microsoft.com/office/drawing/2014/main" id="{79A35081-9E5A-4708-89D9-527BB2E4F180}"/>
              </a:ext>
            </a:extLst>
          </p:cNvPr>
          <p:cNvSpPr/>
          <p:nvPr/>
        </p:nvSpPr>
        <p:spPr bwMode="gray">
          <a:xfrm>
            <a:off x="6089210" y="1442328"/>
            <a:ext cx="102455" cy="4940607"/>
          </a:xfrm>
          <a:prstGeom prst="rect">
            <a:avLst/>
          </a:prstGeom>
          <a:solidFill>
            <a:schemeClr val="tx2"/>
          </a:solidFill>
          <a:ln w="19050" algn="ctr">
            <a:noFill/>
            <a:miter lim="800000"/>
            <a:headEnd/>
            <a:tailEnd/>
          </a:ln>
        </p:spPr>
        <p:txBody>
          <a:bodyPr wrap="square" lIns="80615" tIns="80615" rIns="80615" bIns="80615" rtlCol="0" anchor="ctr"/>
          <a:lstStyle/>
          <a:p>
            <a:pPr algn="ctr">
              <a:lnSpc>
                <a:spcPct val="106000"/>
              </a:lnSpc>
              <a:buFont typeface="Wingdings 2" pitchFamily="18" charset="2"/>
              <a:buNone/>
            </a:pPr>
            <a:endParaRPr lang="en-US" sz="1451" b="1" dirty="0">
              <a:solidFill>
                <a:schemeClr val="bg1"/>
              </a:solidFill>
            </a:endParaRPr>
          </a:p>
        </p:txBody>
      </p:sp>
      <p:sp>
        <p:nvSpPr>
          <p:cNvPr id="34" name="TextBox 33">
            <a:extLst>
              <a:ext uri="{FF2B5EF4-FFF2-40B4-BE49-F238E27FC236}">
                <a16:creationId xmlns:a16="http://schemas.microsoft.com/office/drawing/2014/main" id="{B74CBC01-E703-49CA-99F5-D1D31F922CA0}"/>
              </a:ext>
            </a:extLst>
          </p:cNvPr>
          <p:cNvSpPr txBox="1"/>
          <p:nvPr/>
        </p:nvSpPr>
        <p:spPr>
          <a:xfrm>
            <a:off x="1389025" y="1042294"/>
            <a:ext cx="3257403" cy="216598"/>
          </a:xfrm>
          <a:prstGeom prst="rect">
            <a:avLst/>
          </a:prstGeom>
          <a:noFill/>
        </p:spPr>
        <p:txBody>
          <a:bodyPr wrap="square" lIns="0" tIns="0" rIns="0" bIns="0" rtlCol="0">
            <a:spAutoFit/>
          </a:bodyPr>
          <a:lstStyle/>
          <a:p>
            <a:pPr lvl="0" algn="ctr">
              <a:lnSpc>
                <a:spcPct val="106000"/>
              </a:lnSpc>
              <a:defRPr/>
            </a:pPr>
            <a:r>
              <a:rPr lang="en-US" sz="1400" b="1" kern="0" dirty="0">
                <a:solidFill>
                  <a:schemeClr val="bg1"/>
                </a:solidFill>
                <a:latin typeface="Verdana" panose="020B0604030504040204" pitchFamily="34" charset="0"/>
                <a:ea typeface="Verdana" panose="020B0604030504040204" pitchFamily="34" charset="0"/>
              </a:rPr>
              <a:t>Capital Expenditure (CAPEX)</a:t>
            </a:r>
            <a:endParaRPr lang="en-US" sz="1400" b="1" kern="0" dirty="0">
              <a:solidFill>
                <a:schemeClr val="bg1"/>
              </a:solidFill>
              <a:latin typeface="+mj-lt"/>
            </a:endParaRPr>
          </a:p>
        </p:txBody>
      </p:sp>
      <p:sp>
        <p:nvSpPr>
          <p:cNvPr id="35" name="TextBox 34">
            <a:extLst>
              <a:ext uri="{FF2B5EF4-FFF2-40B4-BE49-F238E27FC236}">
                <a16:creationId xmlns:a16="http://schemas.microsoft.com/office/drawing/2014/main" id="{E997B485-8380-4802-BF42-1F4345D4E675}"/>
              </a:ext>
            </a:extLst>
          </p:cNvPr>
          <p:cNvSpPr txBox="1"/>
          <p:nvPr/>
        </p:nvSpPr>
        <p:spPr>
          <a:xfrm>
            <a:off x="6367433" y="976219"/>
            <a:ext cx="5438989" cy="436979"/>
          </a:xfrm>
          <a:prstGeom prst="rect">
            <a:avLst/>
          </a:prstGeom>
          <a:noFill/>
        </p:spPr>
        <p:txBody>
          <a:bodyPr wrap="none" lIns="0" tIns="0" rIns="0" bIns="0" rtlCol="0">
            <a:spAutoFit/>
          </a:bodyPr>
          <a:lstStyle/>
          <a:p>
            <a:pPr algn="ctr">
              <a:lnSpc>
                <a:spcPct val="106000"/>
              </a:lnSpc>
            </a:pPr>
            <a:r>
              <a:rPr lang="en-US" sz="1400" b="1" kern="0" dirty="0">
                <a:solidFill>
                  <a:schemeClr val="bg1"/>
                </a:solidFill>
                <a:latin typeface="Verdana" panose="020B0604030504040204" pitchFamily="34" charset="0"/>
                <a:ea typeface="Verdana" panose="020B0604030504040204" pitchFamily="34" charset="0"/>
              </a:rPr>
              <a:t>Competitive Bidding/Public Private Partnership (PPP)</a:t>
            </a:r>
          </a:p>
          <a:p>
            <a:pPr algn="ctr">
              <a:lnSpc>
                <a:spcPct val="106000"/>
              </a:lnSpc>
            </a:pPr>
            <a:r>
              <a:rPr lang="en-US" sz="1400" b="1" kern="0" dirty="0">
                <a:solidFill>
                  <a:schemeClr val="bg1"/>
                </a:solidFill>
                <a:latin typeface="Verdana" panose="020B0604030504040204" pitchFamily="34" charset="0"/>
                <a:ea typeface="Verdana" panose="020B0604030504040204" pitchFamily="34" charset="0"/>
              </a:rPr>
              <a:t>Case:1</a:t>
            </a:r>
            <a:endParaRPr lang="en-US" sz="1400" kern="0" dirty="0">
              <a:solidFill>
                <a:schemeClr val="bg1"/>
              </a:solidFill>
              <a:latin typeface="Verdana" panose="020B0604030504040204" pitchFamily="34" charset="0"/>
              <a:ea typeface="Verdana" panose="020B0604030504040204" pitchFamily="34" charset="0"/>
            </a:endParaRPr>
          </a:p>
        </p:txBody>
      </p:sp>
      <p:sp>
        <p:nvSpPr>
          <p:cNvPr id="40" name="Rounded Rectangle 14">
            <a:extLst>
              <a:ext uri="{FF2B5EF4-FFF2-40B4-BE49-F238E27FC236}">
                <a16:creationId xmlns:a16="http://schemas.microsoft.com/office/drawing/2014/main" id="{1F194326-EF04-4ADA-ADB4-3ACE27B83D56}"/>
              </a:ext>
            </a:extLst>
          </p:cNvPr>
          <p:cNvSpPr/>
          <p:nvPr/>
        </p:nvSpPr>
        <p:spPr bwMode="gray">
          <a:xfrm>
            <a:off x="553847" y="6383223"/>
            <a:ext cx="11376933" cy="44719"/>
          </a:xfrm>
          <a:prstGeom prst="roundRect">
            <a:avLst>
              <a:gd name="adj" fmla="val 0"/>
            </a:avLst>
          </a:prstGeom>
          <a:solidFill>
            <a:schemeClr val="tx2"/>
          </a:solidFill>
          <a:ln w="19050" algn="ctr">
            <a:noFill/>
            <a:miter lim="800000"/>
            <a:headEnd/>
            <a:tailEnd/>
          </a:ln>
        </p:spPr>
        <p:txBody>
          <a:bodyPr wrap="square" lIns="80615" tIns="80615" rIns="80615" bIns="80615" numCol="2" spcCol="2926080" rtlCol="0" anchor="ctr"/>
          <a:lstStyle/>
          <a:p>
            <a:pPr lvl="0" algn="ctr">
              <a:lnSpc>
                <a:spcPct val="106000"/>
              </a:lnSpc>
              <a:defRPr/>
            </a:pPr>
            <a:endParaRPr lang="en-US" sz="1088" kern="0" dirty="0">
              <a:solidFill>
                <a:schemeClr val="bg1"/>
              </a:solidFill>
              <a:latin typeface="+mj-lt"/>
            </a:endParaRPr>
          </a:p>
        </p:txBody>
      </p:sp>
      <p:sp>
        <p:nvSpPr>
          <p:cNvPr id="53" name="Rectangle 52">
            <a:extLst>
              <a:ext uri="{FF2B5EF4-FFF2-40B4-BE49-F238E27FC236}">
                <a16:creationId xmlns:a16="http://schemas.microsoft.com/office/drawing/2014/main" id="{E4881AB8-A588-4763-9FB3-A045C0F7A756}"/>
              </a:ext>
            </a:extLst>
          </p:cNvPr>
          <p:cNvSpPr/>
          <p:nvPr/>
        </p:nvSpPr>
        <p:spPr>
          <a:xfrm>
            <a:off x="6336528" y="1503621"/>
            <a:ext cx="2750400" cy="1283108"/>
          </a:xfrm>
          <a:prstGeom prst="rect">
            <a:avLst/>
          </a:prstGeom>
        </p:spPr>
        <p:txBody>
          <a:bodyPr wrap="square" lIns="0" tIns="0" rIns="0" bIns="0">
            <a:spAutoFit/>
          </a:bodyPr>
          <a:lstStyle/>
          <a:p>
            <a:pPr marL="165836" indent="-165836">
              <a:spcBef>
                <a:spcPts val="272"/>
              </a:spcBef>
              <a:spcAft>
                <a:spcPts val="272"/>
              </a:spcAft>
              <a:buFont typeface="Arial" panose="020B0604020202020204" pitchFamily="34" charset="0"/>
              <a:buChar char="•"/>
              <a:defRPr/>
            </a:pPr>
            <a:r>
              <a:rPr lang="en-US" sz="1088" b="1" kern="0" dirty="0">
                <a:latin typeface="Verdana" panose="020B0604030504040204" pitchFamily="34" charset="0"/>
                <a:ea typeface="Verdana" panose="020B0604030504040204" pitchFamily="34" charset="0"/>
                <a:cs typeface="Verdana" panose="020B0604030504040204" pitchFamily="34" charset="0"/>
              </a:rPr>
              <a:t>Project Cost &amp; Financials</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No Upfront equity infusion is required</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The model is self sustainable as it earns profit from Year1</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Profitability and revenue potential of the project is comparatively less as it will be shared between GoJ and the developer </a:t>
            </a:r>
          </a:p>
        </p:txBody>
      </p:sp>
      <p:sp>
        <p:nvSpPr>
          <p:cNvPr id="55" name="Rectangle 54">
            <a:extLst>
              <a:ext uri="{FF2B5EF4-FFF2-40B4-BE49-F238E27FC236}">
                <a16:creationId xmlns:a16="http://schemas.microsoft.com/office/drawing/2014/main" id="{BB9A47DB-C411-4286-9667-758075BA750B}"/>
              </a:ext>
            </a:extLst>
          </p:cNvPr>
          <p:cNvSpPr/>
          <p:nvPr/>
        </p:nvSpPr>
        <p:spPr>
          <a:xfrm>
            <a:off x="496489" y="5583952"/>
            <a:ext cx="5532233" cy="769441"/>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00" b="1" kern="0" dirty="0">
                <a:latin typeface="Verdana" panose="020B0604030504040204" pitchFamily="34" charset="0"/>
                <a:ea typeface="Verdana" panose="020B0604030504040204" pitchFamily="34" charset="0"/>
                <a:cs typeface="Verdana" panose="020B0604030504040204" pitchFamily="34" charset="0"/>
              </a:rPr>
              <a:t>Collaboration &amp; Other Benefits</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Brings in an excellent opportunity to collaborate with multilateral agencies which will help GoJ build in house capacities with various training programmes.</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Increases employment opportunity within the State an promotes manufacturing.</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Helps in meeting RPO obligations of State DISCOM’s.</a:t>
            </a:r>
          </a:p>
        </p:txBody>
      </p:sp>
      <p:sp>
        <p:nvSpPr>
          <p:cNvPr id="56" name="Rectangle 55">
            <a:extLst>
              <a:ext uri="{FF2B5EF4-FFF2-40B4-BE49-F238E27FC236}">
                <a16:creationId xmlns:a16="http://schemas.microsoft.com/office/drawing/2014/main" id="{B5A58DBB-7EEA-4D9F-8C33-FBE101053962}"/>
              </a:ext>
            </a:extLst>
          </p:cNvPr>
          <p:cNvSpPr/>
          <p:nvPr/>
        </p:nvSpPr>
        <p:spPr>
          <a:xfrm>
            <a:off x="481520" y="4273866"/>
            <a:ext cx="5446550" cy="1244636"/>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88" b="1" kern="0" dirty="0">
                <a:latin typeface="Verdana" panose="020B0604030504040204" pitchFamily="34" charset="0"/>
                <a:ea typeface="Verdana" panose="020B0604030504040204" pitchFamily="34" charset="0"/>
                <a:cs typeface="Verdana" panose="020B0604030504040204" pitchFamily="34" charset="0"/>
              </a:rPr>
              <a:t>Project Implementation</a:t>
            </a:r>
            <a:endParaRPr lang="en-US" sz="1152" b="1" kern="0" dirty="0">
              <a:latin typeface="Verdana" panose="020B0604030504040204" pitchFamily="34" charset="0"/>
              <a:ea typeface="Verdana" panose="020B0604030504040204" pitchFamily="34" charset="0"/>
              <a:cs typeface="Verdana" panose="020B0604030504040204" pitchFamily="34" charset="0"/>
            </a:endParaRP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Full control on Project implementation.</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Ownership of assets will remain with Government of Jharkhand(GoJ).</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Project Implementation will be better streamlined and better managed as the ownership &amp; responsibility of the project will lie with GoJ.</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Quality of products, Technical standards of equipments, Feasibility analysis of the project is well taken care off under CAPEX projects as the responsibility of the entire project is under the ambit of a single umbrella .</a:t>
            </a:r>
          </a:p>
        </p:txBody>
      </p:sp>
      <p:sp>
        <p:nvSpPr>
          <p:cNvPr id="57" name="Rectangle 56">
            <a:extLst>
              <a:ext uri="{FF2B5EF4-FFF2-40B4-BE49-F238E27FC236}">
                <a16:creationId xmlns:a16="http://schemas.microsoft.com/office/drawing/2014/main" id="{FBAB1304-DA30-420E-8821-1B924B1AB0C9}"/>
              </a:ext>
            </a:extLst>
          </p:cNvPr>
          <p:cNvSpPr/>
          <p:nvPr/>
        </p:nvSpPr>
        <p:spPr>
          <a:xfrm>
            <a:off x="440505" y="3309794"/>
            <a:ext cx="5561414" cy="923330"/>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00" b="1" kern="0" dirty="0">
                <a:latin typeface="Verdana" panose="020B0604030504040204" pitchFamily="34" charset="0"/>
                <a:ea typeface="Verdana" panose="020B0604030504040204" pitchFamily="34" charset="0"/>
                <a:cs typeface="Verdana" panose="020B0604030504040204" pitchFamily="34" charset="0"/>
              </a:rPr>
              <a:t>Risk Factor</a:t>
            </a:r>
          </a:p>
          <a:p>
            <a:pPr marL="331671" indent="-165836">
              <a:buFontTx/>
              <a:buChar char="-"/>
            </a:pPr>
            <a:r>
              <a:rPr lang="en-IN" sz="1000" dirty="0">
                <a:latin typeface="Verdana" panose="020B0604030504040204" pitchFamily="34" charset="0"/>
                <a:ea typeface="Verdana" panose="020B0604030504040204" pitchFamily="34" charset="0"/>
                <a:cs typeface="Verdana" panose="020B0604030504040204" pitchFamily="34" charset="0"/>
              </a:rPr>
              <a:t>Risk specific to levelized tariff is minimum as financials considered are not stretched (aided with nominal interest rates) resulting into discovery of financially viable tariff for 25 Years.</a:t>
            </a:r>
          </a:p>
          <a:p>
            <a:pPr marL="331671" indent="-165836">
              <a:buFontTx/>
              <a:buChar char="-"/>
            </a:pPr>
            <a:r>
              <a:rPr lang="en-IN" sz="1000" dirty="0">
                <a:latin typeface="Verdana" panose="020B0604030504040204" pitchFamily="34" charset="0"/>
                <a:ea typeface="Verdana" panose="020B0604030504040204" pitchFamily="34" charset="0"/>
                <a:cs typeface="Verdana" panose="020B0604030504040204" pitchFamily="34" charset="0"/>
              </a:rPr>
              <a:t>Installation of feasible projects, thus no cancellation of PPA.</a:t>
            </a:r>
          </a:p>
          <a:p>
            <a:pPr marL="331671" indent="-165836">
              <a:buFontTx/>
              <a:buChar char="-"/>
            </a:pPr>
            <a:r>
              <a:rPr lang="en-IN" sz="1000" dirty="0">
                <a:latin typeface="Verdana" panose="020B0604030504040204" pitchFamily="34" charset="0"/>
                <a:ea typeface="Verdana" panose="020B0604030504040204" pitchFamily="34" charset="0"/>
                <a:cs typeface="Verdana" panose="020B0604030504040204" pitchFamily="34" charset="0"/>
              </a:rPr>
              <a:t>However, risk of signing PPA’s with DISCOM’s (probable off takers) exist.</a:t>
            </a:r>
            <a:endParaRPr lang="en-US" sz="1000" dirty="0">
              <a:latin typeface="Verdana" panose="020B0604030504040204" pitchFamily="34" charset="0"/>
              <a:ea typeface="Verdana" panose="020B0604030504040204" pitchFamily="34" charset="0"/>
              <a:cs typeface="Verdana" panose="020B0604030504040204" pitchFamily="34" charset="0"/>
            </a:endParaRPr>
          </a:p>
        </p:txBody>
      </p:sp>
      <p:sp>
        <p:nvSpPr>
          <p:cNvPr id="58" name="Rectangle 57">
            <a:extLst>
              <a:ext uri="{FF2B5EF4-FFF2-40B4-BE49-F238E27FC236}">
                <a16:creationId xmlns:a16="http://schemas.microsoft.com/office/drawing/2014/main" id="{A19AB427-A3B7-4423-ADBB-FA8AEB46C98F}"/>
              </a:ext>
            </a:extLst>
          </p:cNvPr>
          <p:cNvSpPr/>
          <p:nvPr/>
        </p:nvSpPr>
        <p:spPr>
          <a:xfrm>
            <a:off x="471824" y="1512493"/>
            <a:ext cx="2750679" cy="1731243"/>
          </a:xfrm>
          <a:prstGeom prst="rect">
            <a:avLst/>
          </a:prstGeom>
        </p:spPr>
        <p:txBody>
          <a:bodyPr wrap="square" lIns="0" tIns="0" rIns="0" bIns="0">
            <a:spAutoFit/>
          </a:bodyPr>
          <a:lstStyle/>
          <a:p>
            <a:pPr marL="165836" indent="-165836">
              <a:spcBef>
                <a:spcPts val="272"/>
              </a:spcBef>
              <a:spcAft>
                <a:spcPts val="272"/>
              </a:spcAft>
              <a:buFont typeface="Arial" panose="020B0604020202020204" pitchFamily="34" charset="0"/>
              <a:buChar char="•"/>
              <a:defRPr/>
            </a:pPr>
            <a:r>
              <a:rPr lang="en-US" sz="1000" b="1" kern="0" dirty="0">
                <a:latin typeface="Verdana" panose="020B0604030504040204" pitchFamily="34" charset="0"/>
                <a:ea typeface="Verdana" panose="020B0604030504040204" pitchFamily="34" charset="0"/>
                <a:cs typeface="Verdana" panose="020B0604030504040204" pitchFamily="34" charset="0"/>
              </a:rPr>
              <a:t>Project Cost &amp; Financials </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Upfront equity infusion is required</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The model is self sustainable as it earns profit from Year1</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Enhances the profitability and revenue potential of the project </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Attracts financial assistance from multilateral banks </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Return on equity, Internal rate of return in CAPEX projects are higher leading to shorter payback periods</a:t>
            </a:r>
          </a:p>
        </p:txBody>
      </p:sp>
      <p:graphicFrame>
        <p:nvGraphicFramePr>
          <p:cNvPr id="2" name="Table 1">
            <a:extLst>
              <a:ext uri="{FF2B5EF4-FFF2-40B4-BE49-F238E27FC236}">
                <a16:creationId xmlns:a16="http://schemas.microsoft.com/office/drawing/2014/main" id="{1C040CA1-8E63-48C8-A5D6-81641B90A4D9}"/>
              </a:ext>
            </a:extLst>
          </p:cNvPr>
          <p:cNvGraphicFramePr>
            <a:graphicFrameLocks noGrp="1"/>
          </p:cNvGraphicFramePr>
          <p:nvPr>
            <p:extLst>
              <p:ext uri="{D42A27DB-BD31-4B8C-83A1-F6EECF244321}">
                <p14:modId xmlns:p14="http://schemas.microsoft.com/office/powerpoint/2010/main" val="3512086606"/>
              </p:ext>
            </p:extLst>
          </p:nvPr>
        </p:nvGraphicFramePr>
        <p:xfrm>
          <a:off x="3217022" y="1456339"/>
          <a:ext cx="2750677" cy="1789397"/>
        </p:xfrm>
        <a:graphic>
          <a:graphicData uri="http://schemas.openxmlformats.org/drawingml/2006/table">
            <a:tbl>
              <a:tblPr firstRow="1" bandRow="1"/>
              <a:tblGrid>
                <a:gridCol w="1443123">
                  <a:extLst>
                    <a:ext uri="{9D8B030D-6E8A-4147-A177-3AD203B41FA5}">
                      <a16:colId xmlns:a16="http://schemas.microsoft.com/office/drawing/2014/main" val="3805635741"/>
                    </a:ext>
                  </a:extLst>
                </a:gridCol>
                <a:gridCol w="562639">
                  <a:extLst>
                    <a:ext uri="{9D8B030D-6E8A-4147-A177-3AD203B41FA5}">
                      <a16:colId xmlns:a16="http://schemas.microsoft.com/office/drawing/2014/main" val="1151820234"/>
                    </a:ext>
                  </a:extLst>
                </a:gridCol>
                <a:gridCol w="744915">
                  <a:extLst>
                    <a:ext uri="{9D8B030D-6E8A-4147-A177-3AD203B41FA5}">
                      <a16:colId xmlns:a16="http://schemas.microsoft.com/office/drawing/2014/main" val="2621298629"/>
                    </a:ext>
                  </a:extLst>
                </a:gridCol>
              </a:tblGrid>
              <a:tr h="244359">
                <a:tc gridSpan="3">
                  <a:txBody>
                    <a:bodyPr/>
                    <a:lstStyle/>
                    <a:p>
                      <a:pPr marL="91440" marR="0" algn="just">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274768145"/>
                  </a:ext>
                </a:extLst>
              </a:tr>
              <a:tr h="192405">
                <a:tc>
                  <a:txBody>
                    <a:bodyPr/>
                    <a:lstStyle/>
                    <a:p>
                      <a:pPr marL="91440" marR="0" algn="just">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933089319"/>
                  </a:ext>
                </a:extLst>
              </a:tr>
              <a:tr h="332443">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Equity Infusion by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1,500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93103467"/>
                  </a:ext>
                </a:extLst>
              </a:tr>
              <a:tr h="192405">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Payable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7,079</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926776136"/>
                  </a:ext>
                </a:extLst>
              </a:tr>
              <a:tr h="192405">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16,978</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05108521"/>
                  </a:ext>
                </a:extLst>
              </a:tr>
              <a:tr h="192405">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9,899</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89245193"/>
                  </a:ext>
                </a:extLst>
              </a:tr>
              <a:tr h="345688">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GoJ equity Paid back</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Years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~4</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68528567"/>
                  </a:ext>
                </a:extLst>
              </a:tr>
            </a:tbl>
          </a:graphicData>
        </a:graphic>
      </p:graphicFrame>
      <p:graphicFrame>
        <p:nvGraphicFramePr>
          <p:cNvPr id="81" name="Table 80">
            <a:extLst>
              <a:ext uri="{FF2B5EF4-FFF2-40B4-BE49-F238E27FC236}">
                <a16:creationId xmlns:a16="http://schemas.microsoft.com/office/drawing/2014/main" id="{96E7C8AA-5D49-4A13-858A-BB9B2C70CB9A}"/>
              </a:ext>
            </a:extLst>
          </p:cNvPr>
          <p:cNvGraphicFramePr>
            <a:graphicFrameLocks noGrp="1"/>
          </p:cNvGraphicFramePr>
          <p:nvPr>
            <p:extLst>
              <p:ext uri="{D42A27DB-BD31-4B8C-83A1-F6EECF244321}">
                <p14:modId xmlns:p14="http://schemas.microsoft.com/office/powerpoint/2010/main" val="4226442759"/>
              </p:ext>
            </p:extLst>
          </p:nvPr>
        </p:nvGraphicFramePr>
        <p:xfrm>
          <a:off x="9116832" y="1474850"/>
          <a:ext cx="2750677" cy="1476867"/>
        </p:xfrm>
        <a:graphic>
          <a:graphicData uri="http://schemas.openxmlformats.org/drawingml/2006/table">
            <a:tbl>
              <a:tblPr firstRow="1" bandRow="1"/>
              <a:tblGrid>
                <a:gridCol w="1443123">
                  <a:extLst>
                    <a:ext uri="{9D8B030D-6E8A-4147-A177-3AD203B41FA5}">
                      <a16:colId xmlns:a16="http://schemas.microsoft.com/office/drawing/2014/main" val="3805635741"/>
                    </a:ext>
                  </a:extLst>
                </a:gridCol>
                <a:gridCol w="562639">
                  <a:extLst>
                    <a:ext uri="{9D8B030D-6E8A-4147-A177-3AD203B41FA5}">
                      <a16:colId xmlns:a16="http://schemas.microsoft.com/office/drawing/2014/main" val="1151820234"/>
                    </a:ext>
                  </a:extLst>
                </a:gridCol>
                <a:gridCol w="744915">
                  <a:extLst>
                    <a:ext uri="{9D8B030D-6E8A-4147-A177-3AD203B41FA5}">
                      <a16:colId xmlns:a16="http://schemas.microsoft.com/office/drawing/2014/main" val="2621298629"/>
                    </a:ext>
                  </a:extLst>
                </a:gridCol>
              </a:tblGrid>
              <a:tr h="277517">
                <a:tc gridSpan="3">
                  <a:txBody>
                    <a:bodyPr/>
                    <a:lstStyle/>
                    <a:p>
                      <a:pPr marL="91440" marR="0" algn="just">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274768145"/>
                  </a:ext>
                </a:extLst>
              </a:tr>
              <a:tr h="183030">
                <a:tc>
                  <a:txBody>
                    <a:bodyPr/>
                    <a:lstStyle/>
                    <a:p>
                      <a:pPr marL="91440" marR="0" algn="just">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9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933089319"/>
                  </a:ext>
                </a:extLst>
              </a:tr>
              <a:tr h="316244">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Equity Infusion by GoJ</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93103467"/>
                  </a:ext>
                </a:extLst>
              </a:tr>
              <a:tr h="183030">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Payable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12,813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926776136"/>
                  </a:ext>
                </a:extLst>
              </a:tr>
              <a:tr h="183030">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15,733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05108521"/>
                  </a:ext>
                </a:extLst>
              </a:tr>
              <a:tr h="183030">
                <a:tc>
                  <a:txBody>
                    <a:bodyPr/>
                    <a:lstStyle/>
                    <a:p>
                      <a:pPr marL="91440" marR="0" algn="l">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9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2,920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89245193"/>
                  </a:ext>
                </a:extLst>
              </a:tr>
            </a:tbl>
          </a:graphicData>
        </a:graphic>
      </p:graphicFrame>
      <p:sp>
        <p:nvSpPr>
          <p:cNvPr id="82" name="Rectangle 81">
            <a:extLst>
              <a:ext uri="{FF2B5EF4-FFF2-40B4-BE49-F238E27FC236}">
                <a16:creationId xmlns:a16="http://schemas.microsoft.com/office/drawing/2014/main" id="{0680E319-1FD3-4F59-A985-A3AFBB88C5E3}"/>
              </a:ext>
            </a:extLst>
          </p:cNvPr>
          <p:cNvSpPr/>
          <p:nvPr/>
        </p:nvSpPr>
        <p:spPr>
          <a:xfrm>
            <a:off x="6320097" y="3309794"/>
            <a:ext cx="5561414" cy="782971"/>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00" b="1" kern="0" dirty="0">
                <a:latin typeface="Verdana" panose="020B0604030504040204" pitchFamily="34" charset="0"/>
                <a:ea typeface="Verdana" panose="020B0604030504040204" pitchFamily="34" charset="0"/>
                <a:cs typeface="Verdana" panose="020B0604030504040204" pitchFamily="34" charset="0"/>
              </a:rPr>
              <a:t>Risk Factor</a:t>
            </a:r>
          </a:p>
          <a:p>
            <a:pPr marL="331671" indent="-165836">
              <a:buFontTx/>
              <a:buChar char="-"/>
            </a:pPr>
            <a:r>
              <a:rPr lang="en-IN" sz="1000" dirty="0">
                <a:latin typeface="Verdana" panose="020B0604030504040204" pitchFamily="34" charset="0"/>
                <a:ea typeface="Verdana" panose="020B0604030504040204" pitchFamily="34" charset="0"/>
                <a:cs typeface="Verdana" panose="020B0604030504040204" pitchFamily="34" charset="0"/>
              </a:rPr>
              <a:t>Private Players quote aggressive tariff which later become financially unviable over the period due to delay in approvals, change in law etc, leading to cancellation of PPA and stranded projects.</a:t>
            </a:r>
          </a:p>
          <a:p>
            <a:pPr marL="331671" indent="-165836">
              <a:buFontTx/>
              <a:buChar char="-"/>
            </a:pPr>
            <a:r>
              <a:rPr lang="en-IN" sz="1000" dirty="0">
                <a:latin typeface="Verdana" panose="020B0604030504040204" pitchFamily="34" charset="0"/>
                <a:ea typeface="Verdana" panose="020B0604030504040204" pitchFamily="34" charset="0"/>
                <a:cs typeface="Verdana" panose="020B0604030504040204" pitchFamily="34" charset="0"/>
              </a:rPr>
              <a:t>Also, risk of signing PSA’s with DISCOM’s (probable off takers) exist.</a:t>
            </a:r>
            <a:endParaRPr lang="en-US" sz="1000" dirty="0">
              <a:latin typeface="Verdana" panose="020B0604030504040204" pitchFamily="34" charset="0"/>
              <a:ea typeface="Verdana" panose="020B0604030504040204" pitchFamily="34" charset="0"/>
              <a:cs typeface="Verdana" panose="020B0604030504040204" pitchFamily="34" charset="0"/>
            </a:endParaRPr>
          </a:p>
        </p:txBody>
      </p:sp>
      <p:sp>
        <p:nvSpPr>
          <p:cNvPr id="84" name="Rectangle 83">
            <a:extLst>
              <a:ext uri="{FF2B5EF4-FFF2-40B4-BE49-F238E27FC236}">
                <a16:creationId xmlns:a16="http://schemas.microsoft.com/office/drawing/2014/main" id="{4BA68CEA-4D6C-4221-815A-E1B4F8C694BD}"/>
              </a:ext>
            </a:extLst>
          </p:cNvPr>
          <p:cNvSpPr/>
          <p:nvPr/>
        </p:nvSpPr>
        <p:spPr>
          <a:xfrm>
            <a:off x="6290908" y="4289619"/>
            <a:ext cx="5446550" cy="1244636"/>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88" b="1" kern="0" dirty="0">
                <a:latin typeface="Verdana" panose="020B0604030504040204" pitchFamily="34" charset="0"/>
                <a:ea typeface="Verdana" panose="020B0604030504040204" pitchFamily="34" charset="0"/>
                <a:cs typeface="Verdana" panose="020B0604030504040204" pitchFamily="34" charset="0"/>
              </a:rPr>
              <a:t>Project Implementation</a:t>
            </a:r>
            <a:endParaRPr lang="en-US" sz="1152" b="1" kern="0" dirty="0">
              <a:latin typeface="Verdana" panose="020B0604030504040204" pitchFamily="34" charset="0"/>
              <a:ea typeface="Verdana" panose="020B0604030504040204" pitchFamily="34" charset="0"/>
              <a:cs typeface="Verdana" panose="020B0604030504040204" pitchFamily="34" charset="0"/>
            </a:endParaRP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Partial control on Project implementation.</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Ownership of assets will remain with Developer and depreciated assets will be transferred to Government of Jharkhand after completion of project period.</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Project Implementation may be delayed since the ownership &amp; responsibility of the project lies with the developer.</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Quality of products, Technical standards of equipments, Feasibility analysis of the project may be compromised.</a:t>
            </a:r>
          </a:p>
        </p:txBody>
      </p:sp>
      <p:sp>
        <p:nvSpPr>
          <p:cNvPr id="85" name="Rectangle 84">
            <a:extLst>
              <a:ext uri="{FF2B5EF4-FFF2-40B4-BE49-F238E27FC236}">
                <a16:creationId xmlns:a16="http://schemas.microsoft.com/office/drawing/2014/main" id="{4A14D12E-1ECB-4ECF-A77C-BD48424DF6EC}"/>
              </a:ext>
            </a:extLst>
          </p:cNvPr>
          <p:cNvSpPr/>
          <p:nvPr/>
        </p:nvSpPr>
        <p:spPr>
          <a:xfrm>
            <a:off x="6266354" y="5672852"/>
            <a:ext cx="5485906" cy="461665"/>
          </a:xfrm>
          <a:prstGeom prst="rect">
            <a:avLst/>
          </a:prstGeom>
        </p:spPr>
        <p:txBody>
          <a:bodyPr wrap="square" lIns="0" tIns="0" rIns="0" bIns="0">
            <a:spAutoFit/>
          </a:bodyPr>
          <a:lstStyle/>
          <a:p>
            <a:pPr marL="165836" indent="-165836">
              <a:buFont typeface="Arial" panose="020B0604020202020204" pitchFamily="34" charset="0"/>
              <a:buChar char="•"/>
              <a:defRPr/>
            </a:pPr>
            <a:r>
              <a:rPr lang="en-US" sz="1000" b="1" kern="0" dirty="0">
                <a:latin typeface="Verdana" panose="020B0604030504040204" pitchFamily="34" charset="0"/>
                <a:ea typeface="Verdana" panose="020B0604030504040204" pitchFamily="34" charset="0"/>
                <a:cs typeface="Verdana" panose="020B0604030504040204" pitchFamily="34" charset="0"/>
              </a:rPr>
              <a:t>Collaboration &amp; Other Benefits</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No such opportunity is available.</a:t>
            </a:r>
          </a:p>
          <a:p>
            <a:pPr marL="331671" indent="-165836">
              <a:buFontTx/>
              <a:buChar char="-"/>
            </a:pPr>
            <a:r>
              <a:rPr lang="en-US" sz="1000" dirty="0">
                <a:latin typeface="Verdana" panose="020B0604030504040204" pitchFamily="34" charset="0"/>
                <a:ea typeface="Verdana" panose="020B0604030504040204" pitchFamily="34" charset="0"/>
                <a:cs typeface="Verdana" panose="020B0604030504040204" pitchFamily="34" charset="0"/>
              </a:rPr>
              <a:t>Helps in meeting RPO obligations of State DISCOM’s</a:t>
            </a:r>
          </a:p>
        </p:txBody>
      </p:sp>
    </p:spTree>
    <p:custDataLst>
      <p:tags r:id="rId1"/>
    </p:custDataLst>
    <p:extLst>
      <p:ext uri="{BB962C8B-B14F-4D97-AF65-F5344CB8AC3E}">
        <p14:creationId xmlns:p14="http://schemas.microsoft.com/office/powerpoint/2010/main" val="400574238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427559" y="209096"/>
            <a:ext cx="11409210" cy="453612"/>
          </a:xfrm>
        </p:spPr>
        <p:txBody>
          <a:bodyPr/>
          <a:lstStyle/>
          <a:p>
            <a:r>
              <a:rPr lang="en-US" sz="1600" b="1" dirty="0">
                <a:solidFill>
                  <a:schemeClr val="tx1"/>
                </a:solidFill>
                <a:latin typeface="Verdana" panose="020B0604030504040204" pitchFamily="34" charset="0"/>
                <a:ea typeface="Verdana" panose="020B0604030504040204" pitchFamily="34" charset="0"/>
              </a:rPr>
              <a:t>Key Insights from Project/ Scheme Implementation</a:t>
            </a:r>
          </a:p>
        </p:txBody>
      </p:sp>
      <p:grpSp>
        <p:nvGrpSpPr>
          <p:cNvPr id="22" name="Group 21">
            <a:extLst>
              <a:ext uri="{FF2B5EF4-FFF2-40B4-BE49-F238E27FC236}">
                <a16:creationId xmlns:a16="http://schemas.microsoft.com/office/drawing/2014/main" id="{D92CB599-5CED-48C5-AAA3-882A66E9EB5B}"/>
              </a:ext>
            </a:extLst>
          </p:cNvPr>
          <p:cNvGrpSpPr/>
          <p:nvPr/>
        </p:nvGrpSpPr>
        <p:grpSpPr>
          <a:xfrm>
            <a:off x="455925" y="1259600"/>
            <a:ext cx="5611205" cy="5173858"/>
            <a:chOff x="8243838" y="1361773"/>
            <a:chExt cx="3531082" cy="5726757"/>
          </a:xfrm>
        </p:grpSpPr>
        <p:sp>
          <p:nvSpPr>
            <p:cNvPr id="29" name="Rectangle 28">
              <a:extLst>
                <a:ext uri="{FF2B5EF4-FFF2-40B4-BE49-F238E27FC236}">
                  <a16:creationId xmlns:a16="http://schemas.microsoft.com/office/drawing/2014/main" id="{33EF4BBB-23A7-4A9D-A645-655BA5F070F8}"/>
                </a:ext>
              </a:extLst>
            </p:cNvPr>
            <p:cNvSpPr/>
            <p:nvPr/>
          </p:nvSpPr>
          <p:spPr bwMode="gray">
            <a:xfrm>
              <a:off x="8243838" y="1800512"/>
              <a:ext cx="3531082" cy="5288018"/>
            </a:xfrm>
            <a:prstGeom prst="rect">
              <a:avLst/>
            </a:prstGeom>
            <a:solidFill>
              <a:schemeClr val="bg1">
                <a:lumMod val="95000"/>
              </a:schemeClr>
            </a:solidFill>
            <a:ln w="6350" algn="ctr">
              <a:noFill/>
              <a:miter lim="800000"/>
              <a:headEnd/>
              <a:tailEnd/>
            </a:ln>
          </p:spPr>
          <p:txBody>
            <a:bodyPr wrap="square" lIns="88900" tIns="88900" rIns="88900" bIns="88900" rtlCol="0" anchor="t" anchorCtr="0"/>
            <a:lstStyle/>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JBVNL has executed Power Supply Agreement (PSA) with SECI in the year 2018 for purchase of 700 MW Solar Power.</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JBVNL has been allotted power from three Solar Power Developers at an average tariff of INR 2.52/kWh plus the trading margin of Rs 0.07/kWh.</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However, JBVNL is receiving partial power against the 700 MW allocation as one of solar power developer namely Arina Solar private Limited has purported to terminate the PPA due to delay in getting approvals. Hence, the matter is under sub judice.</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JBVNL has executed three Power Supply Agreement (PSA) with SECI in the year 2017 &amp; 2018 for purchase of 500 MW Solar Power.</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JBVNL is receiving partial power from the allocated capacity as commissioning of projects are getting deferred due to delay in approvals and clearances.</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SECI and JBVNL signed a MOU in 2019 to set up 100 MW of floating solar power plant at Getalsud Dam. Commissioning of the project has been delayed and the project is under implementation. </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r>
                <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Solar Power &amp; Wind Power from the above-mentioned projects if available at full capacity, would increase JBVNL’s Solar RPO compliance by ~5% and Non-Solar RPO compliance by ~4%.</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endParaRPr kumimoji="0" lang="en-US" sz="12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endPar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0" name="Rectangle 29">
              <a:extLst>
                <a:ext uri="{FF2B5EF4-FFF2-40B4-BE49-F238E27FC236}">
                  <a16:creationId xmlns:a16="http://schemas.microsoft.com/office/drawing/2014/main" id="{6FA56363-A0B6-4F31-96E7-EC444718AA07}"/>
                </a:ext>
              </a:extLst>
            </p:cNvPr>
            <p:cNvSpPr/>
            <p:nvPr/>
          </p:nvSpPr>
          <p:spPr bwMode="gray">
            <a:xfrm>
              <a:off x="8243839" y="1361773"/>
              <a:ext cx="3527614" cy="438739"/>
            </a:xfrm>
            <a:prstGeom prst="rect">
              <a:avLst/>
            </a:prstGeom>
            <a:solidFill>
              <a:srgbClr val="0097A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Implementation under Competitive Bidding</a:t>
              </a:r>
            </a:p>
          </p:txBody>
        </p:sp>
      </p:grpSp>
      <p:sp>
        <p:nvSpPr>
          <p:cNvPr id="31" name="Text Placeholder 2">
            <a:extLst>
              <a:ext uri="{FF2B5EF4-FFF2-40B4-BE49-F238E27FC236}">
                <a16:creationId xmlns:a16="http://schemas.microsoft.com/office/drawing/2014/main" id="{A41C5D87-2E9E-48DE-AAB5-7A3EB6DC109A}"/>
              </a:ext>
            </a:extLst>
          </p:cNvPr>
          <p:cNvSpPr txBox="1">
            <a:spLocks/>
          </p:cNvSpPr>
          <p:nvPr/>
        </p:nvSpPr>
        <p:spPr>
          <a:xfrm>
            <a:off x="455925" y="55324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Verdana" panose="020B0604030504040204" pitchFamily="34" charset="0"/>
                <a:ea typeface="Verdana" panose="020B0604030504040204" pitchFamily="34" charset="0"/>
                <a:cs typeface="Calibri Light" panose="020F0302020204030204" pitchFamily="34" charset="0"/>
              </a:rPr>
              <a:t>Jharkhand Scenario</a:t>
            </a:r>
          </a:p>
        </p:txBody>
      </p:sp>
      <p:grpSp>
        <p:nvGrpSpPr>
          <p:cNvPr id="7" name="Group 6">
            <a:extLst>
              <a:ext uri="{FF2B5EF4-FFF2-40B4-BE49-F238E27FC236}">
                <a16:creationId xmlns:a16="http://schemas.microsoft.com/office/drawing/2014/main" id="{832DB9B7-419A-4DF0-B4B3-0BE3397D913C}"/>
              </a:ext>
            </a:extLst>
          </p:cNvPr>
          <p:cNvGrpSpPr/>
          <p:nvPr/>
        </p:nvGrpSpPr>
        <p:grpSpPr>
          <a:xfrm>
            <a:off x="6198781" y="1259600"/>
            <a:ext cx="5616721" cy="5173858"/>
            <a:chOff x="8243838" y="1361773"/>
            <a:chExt cx="3531082" cy="5453395"/>
          </a:xfrm>
        </p:grpSpPr>
        <p:sp>
          <p:nvSpPr>
            <p:cNvPr id="8" name="Rectangle 7">
              <a:extLst>
                <a:ext uri="{FF2B5EF4-FFF2-40B4-BE49-F238E27FC236}">
                  <a16:creationId xmlns:a16="http://schemas.microsoft.com/office/drawing/2014/main" id="{CF7D497A-E266-493B-B412-005F7B79A33C}"/>
                </a:ext>
              </a:extLst>
            </p:cNvPr>
            <p:cNvSpPr/>
            <p:nvPr/>
          </p:nvSpPr>
          <p:spPr bwMode="gray">
            <a:xfrm>
              <a:off x="8243838" y="1800512"/>
              <a:ext cx="3531082" cy="5014656"/>
            </a:xfrm>
            <a:prstGeom prst="rect">
              <a:avLst/>
            </a:prstGeom>
            <a:solidFill>
              <a:schemeClr val="bg1">
                <a:lumMod val="95000"/>
              </a:schemeClr>
            </a:solidFill>
            <a:ln w="6350" algn="ctr">
              <a:noFill/>
              <a:miter lim="800000"/>
              <a:headEnd/>
              <a:tailEnd/>
            </a:ln>
          </p:spPr>
          <p:txBody>
            <a:bodyPr wrap="square" lIns="88900" tIns="88900" rIns="88900" bIns="88900" rtlCol="0" anchor="t" anchorCtr="0"/>
            <a:lstStyle/>
            <a:p>
              <a:pPr marL="52388" marR="0" lvl="1" indent="0" algn="l" defTabSz="914400" rtl="0" eaLnBrk="1" fontAlgn="auto" latinLnBrk="0" hangingPunct="1">
                <a:lnSpc>
                  <a:spcPct val="100000"/>
                </a:lnSpc>
                <a:spcBef>
                  <a:spcPts val="0"/>
                </a:spcBef>
                <a:spcAft>
                  <a:spcPts val="1200"/>
                </a:spcAft>
                <a:buClrTx/>
                <a:buSzTx/>
                <a:buFontTx/>
                <a:buNone/>
                <a:tabLst>
                  <a:tab pos="88900" algn="l"/>
                </a:tabLst>
                <a:defRPr/>
              </a:pPr>
              <a:r>
                <a:rPr kumimoji="0" lang="en-US" sz="1200" b="0" i="1"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JBVNL has been undertaking the implementation of projects under CAPEX mode and have observed successful execution of targets under this model.</a:t>
              </a: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endPar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p>
              <a:pPr marL="171450" marR="0" lvl="1" indent="-1714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tab pos="88900" algn="l"/>
                </a:tabLst>
                <a:defRPr/>
              </a:pPr>
              <a:endParaRPr kumimoji="0" lang="en-US" sz="14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 name="Rectangle 8">
              <a:extLst>
                <a:ext uri="{FF2B5EF4-FFF2-40B4-BE49-F238E27FC236}">
                  <a16:creationId xmlns:a16="http://schemas.microsoft.com/office/drawing/2014/main" id="{C3ADB90B-FEB4-4BBC-B508-D77FE69CB22C}"/>
                </a:ext>
              </a:extLst>
            </p:cNvPr>
            <p:cNvSpPr/>
            <p:nvPr/>
          </p:nvSpPr>
          <p:spPr bwMode="gray">
            <a:xfrm>
              <a:off x="8243839" y="1361773"/>
              <a:ext cx="3527614" cy="438739"/>
            </a:xfrm>
            <a:prstGeom prst="rect">
              <a:avLst/>
            </a:prstGeom>
            <a:solidFill>
              <a:srgbClr val="009A44"/>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4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mn-cs"/>
                </a:rPr>
                <a:t>Implementation under CAPEX mode</a:t>
              </a:r>
            </a:p>
          </p:txBody>
        </p:sp>
      </p:grpSp>
      <p:graphicFrame>
        <p:nvGraphicFramePr>
          <p:cNvPr id="10" name="Table 3">
            <a:extLst>
              <a:ext uri="{FF2B5EF4-FFF2-40B4-BE49-F238E27FC236}">
                <a16:creationId xmlns:a16="http://schemas.microsoft.com/office/drawing/2014/main" id="{90FC4638-BA45-4EA4-B206-86962799EDF4}"/>
              </a:ext>
            </a:extLst>
          </p:cNvPr>
          <p:cNvGraphicFramePr>
            <a:graphicFrameLocks noGrp="1"/>
          </p:cNvGraphicFramePr>
          <p:nvPr>
            <p:extLst>
              <p:ext uri="{D42A27DB-BD31-4B8C-83A1-F6EECF244321}">
                <p14:modId xmlns:p14="http://schemas.microsoft.com/office/powerpoint/2010/main" val="3512776740"/>
              </p:ext>
            </p:extLst>
          </p:nvPr>
        </p:nvGraphicFramePr>
        <p:xfrm>
          <a:off x="6403867" y="2494911"/>
          <a:ext cx="5221559" cy="3809848"/>
        </p:xfrm>
        <a:graphic>
          <a:graphicData uri="http://schemas.openxmlformats.org/drawingml/2006/table">
            <a:tbl>
              <a:tblPr bandRow="1">
                <a:tableStyleId>{5C22544A-7EE6-4342-B048-85BDC9FD1C3A}</a:tableStyleId>
              </a:tblPr>
              <a:tblGrid>
                <a:gridCol w="1391097">
                  <a:extLst>
                    <a:ext uri="{9D8B030D-6E8A-4147-A177-3AD203B41FA5}">
                      <a16:colId xmlns:a16="http://schemas.microsoft.com/office/drawing/2014/main" val="762444767"/>
                    </a:ext>
                  </a:extLst>
                </a:gridCol>
                <a:gridCol w="1791186">
                  <a:extLst>
                    <a:ext uri="{9D8B030D-6E8A-4147-A177-3AD203B41FA5}">
                      <a16:colId xmlns:a16="http://schemas.microsoft.com/office/drawing/2014/main" val="4196053240"/>
                    </a:ext>
                  </a:extLst>
                </a:gridCol>
                <a:gridCol w="1345022">
                  <a:extLst>
                    <a:ext uri="{9D8B030D-6E8A-4147-A177-3AD203B41FA5}">
                      <a16:colId xmlns:a16="http://schemas.microsoft.com/office/drawing/2014/main" val="4158878507"/>
                    </a:ext>
                  </a:extLst>
                </a:gridCol>
                <a:gridCol w="694254">
                  <a:extLst>
                    <a:ext uri="{9D8B030D-6E8A-4147-A177-3AD203B41FA5}">
                      <a16:colId xmlns:a16="http://schemas.microsoft.com/office/drawing/2014/main" val="3044569510"/>
                    </a:ext>
                  </a:extLst>
                </a:gridCol>
              </a:tblGrid>
              <a:tr h="290789">
                <a:tc>
                  <a:txBody>
                    <a:bodyPr/>
                    <a:lstStyle/>
                    <a:p>
                      <a:pPr algn="l"/>
                      <a:r>
                        <a:rPr lang="en-US" sz="1000" b="1" i="0" dirty="0">
                          <a:latin typeface="Verdana" panose="020B0604030504040204" pitchFamily="34" charset="0"/>
                          <a:ea typeface="Verdana" panose="020B0604030504040204" pitchFamily="34" charset="0"/>
                        </a:rPr>
                        <a:t>Scheme</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b="1" i="0" dirty="0">
                          <a:latin typeface="Verdana" panose="020B0604030504040204" pitchFamily="34" charset="0"/>
                          <a:ea typeface="Verdana" panose="020B0604030504040204" pitchFamily="34" charset="0"/>
                        </a:rPr>
                        <a:t>Funding Mechanism</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l"/>
                      <a:r>
                        <a:rPr lang="en-US" sz="1000" b="1" i="0" dirty="0">
                          <a:latin typeface="Verdana" panose="020B0604030504040204" pitchFamily="34" charset="0"/>
                          <a:ea typeface="Verdana" panose="020B0604030504040204" pitchFamily="34" charset="0"/>
                        </a:rPr>
                        <a:t>Funding Arrangement</a:t>
                      </a: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3251519212"/>
                  </a:ext>
                </a:extLst>
              </a:tr>
              <a:tr h="290789">
                <a:tc rowSpan="2">
                  <a:txBody>
                    <a:bodyPr/>
                    <a:lstStyle/>
                    <a:p>
                      <a:r>
                        <a:rPr lang="en-US" sz="1000" b="1" i="0" kern="1200" dirty="0">
                          <a:solidFill>
                            <a:schemeClr val="dk1"/>
                          </a:solidFill>
                          <a:effectLst/>
                          <a:latin typeface="Verdana" panose="020B0604030504040204" pitchFamily="34" charset="0"/>
                          <a:ea typeface="Verdana" panose="020B0604030504040204" pitchFamily="34" charset="0"/>
                          <a:cs typeface="+mn-cs"/>
                        </a:rPr>
                        <a:t>DDUGJY</a:t>
                      </a:r>
                      <a:endParaRPr lang="en-US" sz="1000" b="1" dirty="0">
                        <a:latin typeface="Verdana" panose="020B0604030504040204" pitchFamily="34" charset="0"/>
                        <a:ea typeface="Verdana" panose="020B0604030504040204" pitchFamily="34" charset="0"/>
                      </a:endParaRP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r>
                        <a:rPr lang="en-US" sz="1000" b="1" dirty="0">
                          <a:latin typeface="Verdana" panose="020B0604030504040204" pitchFamily="34" charset="0"/>
                          <a:ea typeface="Verdana" panose="020B0604030504040204" pitchFamily="34" charset="0"/>
                        </a:rPr>
                        <a:t>Central and State Government</a:t>
                      </a:r>
                    </a:p>
                  </a:txBody>
                  <a:tcPr>
                    <a:lnL w="12700" cap="flat" cmpd="sng" algn="ctr">
                      <a:solidFill>
                        <a:schemeClr val="tx1">
                          <a:lumMod val="50000"/>
                          <a:lumOff val="50000"/>
                        </a:schemeClr>
                      </a:solidFill>
                      <a:prstDash val="sysDash"/>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REC (Grant)</a:t>
                      </a: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b="0" i="1" dirty="0">
                          <a:latin typeface="Verdana" panose="020B0604030504040204" pitchFamily="34" charset="0"/>
                          <a:ea typeface="Verdana" panose="020B0604030504040204" pitchFamily="34" charset="0"/>
                        </a:rPr>
                        <a:t>90 %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411539"/>
                  </a:ext>
                </a:extLst>
              </a:tr>
              <a:tr h="290789">
                <a:tc vMerge="1">
                  <a:txBody>
                    <a:bodyPr/>
                    <a:lstStyle/>
                    <a:p>
                      <a:endParaRPr lang="en-US"/>
                    </a:p>
                  </a:txBody>
                  <a:tcPr/>
                </a:tc>
                <a:tc vMerge="1">
                  <a:txBody>
                    <a:bodyPr/>
                    <a:lstStyle/>
                    <a:p>
                      <a:endParaRPr lang="en-US"/>
                    </a:p>
                  </a:txBody>
                  <a:tcPr/>
                </a:tc>
                <a:tc>
                  <a:txBody>
                    <a:bodyPr/>
                    <a:lstStyle/>
                    <a:p>
                      <a:pPr algn="l"/>
                      <a:r>
                        <a:rPr lang="en-US" sz="1000" i="1" dirty="0" err="1">
                          <a:latin typeface="Verdana" panose="020B0604030504040204" pitchFamily="34" charset="0"/>
                          <a:ea typeface="Verdana" panose="020B0604030504040204" pitchFamily="34" charset="0"/>
                        </a:rPr>
                        <a:t>GoJ</a:t>
                      </a:r>
                      <a:r>
                        <a:rPr lang="en-US" sz="1000" i="1" dirty="0">
                          <a:latin typeface="Verdana" panose="020B0604030504040204" pitchFamily="34" charset="0"/>
                          <a:ea typeface="Verdana" panose="020B0604030504040204" pitchFamily="34" charset="0"/>
                        </a:rPr>
                        <a:t> (Loan)</a:t>
                      </a: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10 %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7484876"/>
                  </a:ext>
                </a:extLst>
              </a:tr>
              <a:tr h="290789">
                <a:tc rowSpan="3">
                  <a:txBody>
                    <a:bodyPr/>
                    <a:lstStyle/>
                    <a:p>
                      <a:r>
                        <a:rPr lang="en-US" sz="1000" b="1" dirty="0">
                          <a:latin typeface="Verdana" panose="020B0604030504040204" pitchFamily="34" charset="0"/>
                          <a:ea typeface="Verdana" panose="020B0604030504040204" pitchFamily="34" charset="0"/>
                        </a:rPr>
                        <a:t>DDUGJY (New Scheme &amp; Addl. Infra)</a:t>
                      </a: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US" sz="1000" b="1" dirty="0">
                          <a:latin typeface="Verdana" panose="020B0604030504040204" pitchFamily="34" charset="0"/>
                          <a:ea typeface="Verdana" panose="020B0604030504040204" pitchFamily="34" charset="0"/>
                        </a:rPr>
                        <a:t>Central Government</a:t>
                      </a:r>
                    </a:p>
                    <a:p>
                      <a:r>
                        <a:rPr lang="en-US" sz="1000" b="1" dirty="0">
                          <a:latin typeface="Verdana" panose="020B0604030504040204" pitchFamily="34" charset="0"/>
                          <a:ea typeface="Verdana" panose="020B0604030504040204" pitchFamily="34" charset="0"/>
                        </a:rPr>
                        <a:t>State Government</a:t>
                      </a:r>
                    </a:p>
                  </a:txBody>
                  <a:tcPr>
                    <a:lnL w="12700" cap="flat" cmpd="sng" algn="ctr">
                      <a:solidFill>
                        <a:schemeClr val="tx1">
                          <a:lumMod val="50000"/>
                          <a:lumOff val="50000"/>
                        </a:schemeClr>
                      </a:solidFill>
                      <a:prstDash val="sysDash"/>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US" sz="1000" i="1" u="none" strike="noStrike" dirty="0">
                          <a:effectLst/>
                          <a:latin typeface="Verdana" panose="020B0604030504040204" pitchFamily="34" charset="0"/>
                          <a:ea typeface="Verdana" panose="020B0604030504040204" pitchFamily="34" charset="0"/>
                        </a:rPr>
                        <a:t>REC (Grant)</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60 %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3733816"/>
                  </a:ext>
                </a:extLst>
              </a:tr>
              <a:tr h="290789">
                <a:tc vMerge="1">
                  <a:txBody>
                    <a:bodyPr/>
                    <a:lstStyle/>
                    <a:p>
                      <a:endParaRPr lang="en-US" sz="1200" b="1" dirty="0">
                        <a:latin typeface="Verdana" panose="020B0604030504040204" pitchFamily="34" charset="0"/>
                        <a:ea typeface="Verdana" panose="020B060403050404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endParaRPr lang="en-US"/>
                    </a:p>
                  </a:txBody>
                  <a:tcPr/>
                </a:tc>
                <a:tc>
                  <a:txBody>
                    <a:bodyPr/>
                    <a:lstStyle/>
                    <a:p>
                      <a:pPr algn="l" fontAlgn="b"/>
                      <a:r>
                        <a:rPr lang="en-US" sz="1000" i="1" u="none" strike="noStrike" dirty="0" err="1">
                          <a:effectLst/>
                          <a:latin typeface="Verdana" panose="020B0604030504040204" pitchFamily="34" charset="0"/>
                          <a:ea typeface="Verdana" panose="020B0604030504040204" pitchFamily="34" charset="0"/>
                        </a:rPr>
                        <a:t>GoJ</a:t>
                      </a:r>
                      <a:r>
                        <a:rPr lang="en-US" sz="1000" i="1" u="none" strike="noStrike" dirty="0">
                          <a:effectLst/>
                          <a:latin typeface="Verdana" panose="020B0604030504040204" pitchFamily="34" charset="0"/>
                          <a:ea typeface="Verdana" panose="020B0604030504040204" pitchFamily="34" charset="0"/>
                        </a:rPr>
                        <a:t> (Grant)</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10 %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7370501"/>
                  </a:ext>
                </a:extLst>
              </a:tr>
              <a:tr h="290789">
                <a:tc vMerge="1">
                  <a:txBody>
                    <a:bodyPr/>
                    <a:lstStyle/>
                    <a:p>
                      <a:endParaRPr lang="en-US" sz="1200" b="1" dirty="0">
                        <a:latin typeface="Verdana" panose="020B0604030504040204" pitchFamily="34" charset="0"/>
                        <a:ea typeface="Verdana" panose="020B0604030504040204" pitchFamily="34" charset="0"/>
                      </a:endParaRPr>
                    </a:p>
                  </a:txBody>
                  <a:tcP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endParaRPr lang="en-US"/>
                    </a:p>
                  </a:txBody>
                  <a:tcPr/>
                </a:tc>
                <a:tc>
                  <a:txBody>
                    <a:bodyPr/>
                    <a:lstStyle/>
                    <a:p>
                      <a:pPr algn="l" fontAlgn="b"/>
                      <a:r>
                        <a:rPr lang="en-US" sz="1000" i="1" u="none" strike="noStrike" dirty="0">
                          <a:effectLst/>
                          <a:latin typeface="Verdana" panose="020B0604030504040204" pitchFamily="34" charset="0"/>
                          <a:ea typeface="Verdana" panose="020B0604030504040204" pitchFamily="34" charset="0"/>
                        </a:rPr>
                        <a:t>REC (Loan)</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30 %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41116685"/>
                  </a:ext>
                </a:extLst>
              </a:tr>
              <a:tr h="450979">
                <a:tc rowSpan="2">
                  <a:txBody>
                    <a:bodyPr/>
                    <a:lstStyle/>
                    <a:p>
                      <a:r>
                        <a:rPr lang="en-US" sz="1000" b="1" dirty="0">
                          <a:latin typeface="Verdana" panose="020B0604030504040204" pitchFamily="34" charset="0"/>
                          <a:ea typeface="Verdana" panose="020B0604030504040204" pitchFamily="34" charset="0"/>
                        </a:rPr>
                        <a:t>IPDS</a:t>
                      </a: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r>
                        <a:rPr lang="en-US" sz="1000" b="1" dirty="0">
                          <a:latin typeface="Verdana" panose="020B0604030504040204" pitchFamily="34" charset="0"/>
                          <a:ea typeface="Verdana" panose="020B0604030504040204" pitchFamily="34" charset="0"/>
                        </a:rPr>
                        <a:t>Central Government</a:t>
                      </a:r>
                    </a:p>
                    <a:p>
                      <a:r>
                        <a:rPr lang="en-US" sz="1000" b="1" dirty="0">
                          <a:latin typeface="Verdana" panose="020B0604030504040204" pitchFamily="34" charset="0"/>
                          <a:ea typeface="Verdana" panose="020B0604030504040204" pitchFamily="34" charset="0"/>
                        </a:rPr>
                        <a:t>State Government</a:t>
                      </a:r>
                    </a:p>
                  </a:txBody>
                  <a:tcPr>
                    <a:lnL w="12700" cap="flat" cmpd="sng" algn="ctr">
                      <a:solidFill>
                        <a:schemeClr val="tx1">
                          <a:lumMod val="50000"/>
                          <a:lumOff val="50000"/>
                        </a:schemeClr>
                      </a:solidFill>
                      <a:prstDash val="sysDash"/>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US" sz="1000" b="0" i="1" u="none" strike="noStrike" dirty="0">
                          <a:solidFill>
                            <a:srgbClr val="000000"/>
                          </a:solidFill>
                          <a:effectLst/>
                          <a:latin typeface="Verdana" panose="020B0604030504040204" pitchFamily="34" charset="0"/>
                          <a:ea typeface="Verdana" panose="020B0604030504040204" pitchFamily="34" charset="0"/>
                        </a:rPr>
                        <a:t>Central Government </a:t>
                      </a: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60 %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bg1"/>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16743181"/>
                  </a:ext>
                </a:extLst>
              </a:tr>
              <a:tr h="290789">
                <a:tc vMerge="1">
                  <a:txBody>
                    <a:bodyPr/>
                    <a:lstStyle/>
                    <a:p>
                      <a:endParaRPr lang="en-US" sz="1200" b="1" dirty="0">
                        <a:latin typeface="Verdana" panose="020B0604030504040204" pitchFamily="34" charset="0"/>
                        <a:ea typeface="Verdana" panose="020B0604030504040204" pitchFamily="34" charset="0"/>
                      </a:endParaRP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tc>
                  <a:txBody>
                    <a:bodyPr/>
                    <a:lstStyle/>
                    <a:p>
                      <a:pPr algn="l" fontAlgn="b"/>
                      <a:r>
                        <a:rPr lang="en-US" sz="1000" b="0" i="1" u="none" strike="noStrike" dirty="0" err="1">
                          <a:solidFill>
                            <a:srgbClr val="000000"/>
                          </a:solidFill>
                          <a:effectLst/>
                          <a:latin typeface="Verdana" panose="020B0604030504040204" pitchFamily="34" charset="0"/>
                          <a:ea typeface="Verdana" panose="020B0604030504040204" pitchFamily="34" charset="0"/>
                        </a:rPr>
                        <a:t>GoJ</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40 %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78356734"/>
                  </a:ext>
                </a:extLst>
              </a:tr>
              <a:tr h="450979">
                <a:tc rowSpan="3">
                  <a:txBody>
                    <a:bodyPr/>
                    <a:lstStyle/>
                    <a:p>
                      <a:r>
                        <a:rPr lang="en-US" sz="1000" b="1" dirty="0">
                          <a:latin typeface="Verdana" panose="020B0604030504040204" pitchFamily="34" charset="0"/>
                          <a:ea typeface="Verdana" panose="020B0604030504040204" pitchFamily="34" charset="0"/>
                        </a:rPr>
                        <a:t>JPSIP</a:t>
                      </a: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r>
                        <a:rPr lang="en-US" sz="1000" b="1" dirty="0">
                          <a:latin typeface="Verdana" panose="020B0604030504040204" pitchFamily="34" charset="0"/>
                          <a:ea typeface="Verdana" panose="020B0604030504040204" pitchFamily="34" charset="0"/>
                        </a:rPr>
                        <a:t>Central Government</a:t>
                      </a:r>
                    </a:p>
                    <a:p>
                      <a:r>
                        <a:rPr lang="en-US" sz="1000" b="1" dirty="0">
                          <a:latin typeface="Verdana" panose="020B0604030504040204" pitchFamily="34" charset="0"/>
                          <a:ea typeface="Verdana" panose="020B0604030504040204" pitchFamily="34" charset="0"/>
                        </a:rPr>
                        <a:t>State Government</a:t>
                      </a:r>
                    </a:p>
                    <a:p>
                      <a:r>
                        <a:rPr lang="en-US" sz="1000" b="1" dirty="0">
                          <a:latin typeface="Verdana" panose="020B0604030504040204" pitchFamily="34" charset="0"/>
                          <a:ea typeface="Verdana" panose="020B0604030504040204" pitchFamily="34" charset="0"/>
                        </a:rPr>
                        <a:t>Multi-Lateral Agencies</a:t>
                      </a:r>
                    </a:p>
                  </a:txBody>
                  <a:tcPr>
                    <a:lnL w="12700" cap="flat" cmpd="sng" algn="ctr">
                      <a:solidFill>
                        <a:schemeClr val="tx1">
                          <a:lumMod val="50000"/>
                          <a:lumOff val="50000"/>
                        </a:schemeClr>
                      </a:solidFill>
                      <a:prstDash val="sysDash"/>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US" sz="1000" b="0" i="1" u="none" strike="noStrike" dirty="0">
                          <a:solidFill>
                            <a:srgbClr val="000000"/>
                          </a:solidFill>
                          <a:effectLst/>
                          <a:latin typeface="Verdana" panose="020B0604030504040204" pitchFamily="34" charset="0"/>
                          <a:ea typeface="Verdana" panose="020B0604030504040204" pitchFamily="34" charset="0"/>
                        </a:rPr>
                        <a:t>Central Government</a:t>
                      </a: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11.4 %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2195104"/>
                  </a:ext>
                </a:extLst>
              </a:tr>
              <a:tr h="290789">
                <a:tc vMerge="1">
                  <a:txBody>
                    <a:bodyPr/>
                    <a:lstStyle/>
                    <a:p>
                      <a:endParaRPr lang="en-US"/>
                    </a:p>
                  </a:txBody>
                  <a:tcPr/>
                </a:tc>
                <a:tc vMerge="1">
                  <a:txBody>
                    <a:bodyPr/>
                    <a:lstStyle/>
                    <a:p>
                      <a:endParaRPr lang="en-US"/>
                    </a:p>
                  </a:txBody>
                  <a:tcPr/>
                </a:tc>
                <a:tc>
                  <a:txBody>
                    <a:bodyPr/>
                    <a:lstStyle/>
                    <a:p>
                      <a:pPr algn="l" fontAlgn="b"/>
                      <a:r>
                        <a:rPr lang="en-US" sz="1000" b="0" i="1" u="none" strike="noStrike" dirty="0" err="1">
                          <a:solidFill>
                            <a:srgbClr val="000000"/>
                          </a:solidFill>
                          <a:effectLst/>
                          <a:latin typeface="Verdana" panose="020B0604030504040204" pitchFamily="34" charset="0"/>
                          <a:ea typeface="Verdana" panose="020B0604030504040204" pitchFamily="34" charset="0"/>
                        </a:rPr>
                        <a:t>GoJ</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29.5 %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16526425"/>
                  </a:ext>
                </a:extLst>
              </a:tr>
              <a:tr h="290789">
                <a:tc vMerge="1">
                  <a:txBody>
                    <a:bodyPr/>
                    <a:lstStyle/>
                    <a:p>
                      <a:endParaRPr lang="en-US"/>
                    </a:p>
                  </a:txBody>
                  <a:tcPr/>
                </a:tc>
                <a:tc vMerge="1">
                  <a:txBody>
                    <a:bodyPr/>
                    <a:lstStyle/>
                    <a:p>
                      <a:endParaRPr lang="en-US"/>
                    </a:p>
                  </a:txBody>
                  <a:tcPr/>
                </a:tc>
                <a:tc>
                  <a:txBody>
                    <a:bodyPr/>
                    <a:lstStyle/>
                    <a:p>
                      <a:pPr algn="l" fontAlgn="b"/>
                      <a:r>
                        <a:rPr lang="en-US" sz="1000" b="0" i="1" u="none" strike="noStrike" dirty="0">
                          <a:solidFill>
                            <a:srgbClr val="000000"/>
                          </a:solidFill>
                          <a:effectLst/>
                          <a:latin typeface="Verdana" panose="020B0604030504040204" pitchFamily="34" charset="0"/>
                          <a:ea typeface="Verdana" panose="020B0604030504040204" pitchFamily="34" charset="0"/>
                        </a:rPr>
                        <a:t>World Bank</a:t>
                      </a: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58.94 %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48902"/>
                  </a:ext>
                </a:extLst>
              </a:tr>
              <a:tr h="290789">
                <a:tc>
                  <a:txBody>
                    <a:bodyPr/>
                    <a:lstStyle/>
                    <a:p>
                      <a:r>
                        <a:rPr lang="en-US" sz="1000" b="1" dirty="0">
                          <a:latin typeface="Verdana" panose="020B0604030504040204" pitchFamily="34" charset="0"/>
                          <a:ea typeface="Verdana" panose="020B0604030504040204" pitchFamily="34" charset="0"/>
                        </a:rPr>
                        <a:t>JSBAY</a:t>
                      </a:r>
                    </a:p>
                  </a:txBody>
                  <a:tcPr>
                    <a:lnL w="3175" cap="flat" cmpd="sng" algn="ctr">
                      <a:noFill/>
                      <a:prstDash val="solid"/>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000" b="1" dirty="0">
                          <a:latin typeface="Verdana" panose="020B0604030504040204" pitchFamily="34" charset="0"/>
                          <a:ea typeface="Verdana" panose="020B0604030504040204" pitchFamily="34" charset="0"/>
                        </a:rPr>
                        <a:t>State Government</a:t>
                      </a:r>
                    </a:p>
                  </a:txBody>
                  <a:tcPr>
                    <a:lnL w="12700" cap="flat" cmpd="sng" algn="ctr">
                      <a:solidFill>
                        <a:schemeClr val="tx1">
                          <a:lumMod val="50000"/>
                          <a:lumOff val="50000"/>
                        </a:schemeClr>
                      </a:solidFill>
                      <a:prstDash val="sysDash"/>
                      <a:round/>
                      <a:headEnd type="none" w="med" len="med"/>
                      <a:tailEnd type="none" w="med" len="med"/>
                    </a:lnL>
                    <a:lnR w="12700" cap="flat" cmpd="sng" algn="ctr">
                      <a:solidFill>
                        <a:schemeClr val="tx1">
                          <a:lumMod val="50000"/>
                          <a:lumOff val="50000"/>
                        </a:schemeClr>
                      </a:solidFill>
                      <a:prstDash val="sysDash"/>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r>
                        <a:rPr lang="en-US" sz="1000" b="0" i="1" u="none" strike="noStrike" dirty="0" err="1">
                          <a:solidFill>
                            <a:srgbClr val="000000"/>
                          </a:solidFill>
                          <a:effectLst/>
                          <a:latin typeface="Verdana" panose="020B0604030504040204" pitchFamily="34" charset="0"/>
                          <a:ea typeface="Verdana" panose="020B0604030504040204" pitchFamily="34" charset="0"/>
                        </a:rPr>
                        <a:t>GoJ</a:t>
                      </a:r>
                      <a:endParaRPr lang="en-US" sz="1000" b="0" i="1" u="none" strike="noStrike" dirty="0">
                        <a:solidFill>
                          <a:srgbClr val="000000"/>
                        </a:solidFill>
                        <a:effectLst/>
                        <a:latin typeface="Verdana" panose="020B0604030504040204" pitchFamily="34" charset="0"/>
                        <a:ea typeface="Verdana" panose="020B0604030504040204" pitchFamily="34" charset="0"/>
                      </a:endParaRPr>
                    </a:p>
                  </a:txBody>
                  <a:tcPr marL="45720" marR="45720">
                    <a:lnL w="12700" cap="flat" cmpd="sng" algn="ctr">
                      <a:solidFill>
                        <a:schemeClr val="tx1">
                          <a:lumMod val="50000"/>
                          <a:lumOff val="50000"/>
                        </a:schemeClr>
                      </a:solidFill>
                      <a:prstDash val="sysDash"/>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000" i="1" dirty="0">
                          <a:latin typeface="Verdana" panose="020B0604030504040204" pitchFamily="34" charset="0"/>
                          <a:ea typeface="Verdana" panose="020B0604030504040204" pitchFamily="34" charset="0"/>
                        </a:rPr>
                        <a:t>100 %</a:t>
                      </a:r>
                    </a:p>
                  </a:txBody>
                  <a:tcPr marL="45720" marR="4572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50000"/>
                          <a:lumOff val="50000"/>
                        </a:schemeClr>
                      </a:solidFill>
                      <a:prstDash val="sysDash"/>
                      <a:round/>
                      <a:headEnd type="none" w="med" len="med"/>
                      <a:tailEnd type="none" w="med" len="med"/>
                    </a:lnT>
                    <a:lnB w="12700" cap="flat" cmpd="sng" algn="ctr">
                      <a:solidFill>
                        <a:schemeClr val="tx1">
                          <a:lumMod val="50000"/>
                          <a:lumOff val="50000"/>
                        </a:schemeClr>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2230376"/>
                  </a:ext>
                </a:extLst>
              </a:tr>
            </a:tbl>
          </a:graphicData>
        </a:graphic>
      </p:graphicFrame>
    </p:spTree>
    <p:extLst>
      <p:ext uri="{BB962C8B-B14F-4D97-AF65-F5344CB8AC3E}">
        <p14:creationId xmlns:p14="http://schemas.microsoft.com/office/powerpoint/2010/main" val="32884557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2057" y="2279854"/>
            <a:ext cx="5353657" cy="3724096"/>
          </a:xfrm>
          <a:prstGeom prst="rect">
            <a:avLst/>
          </a:prstGeom>
        </p:spPr>
        <p:txBody>
          <a:bodyPr wrap="square">
            <a:spAutoFit/>
          </a:bodyPr>
          <a:lstStyle/>
          <a:p>
            <a:pPr defTabSz="1019175">
              <a:spcAft>
                <a:spcPts val="600"/>
              </a:spcAft>
              <a:buClr>
                <a:schemeClr val="tx1"/>
              </a:buClr>
              <a:buSzPct val="80000"/>
              <a:buFont typeface="Wingdings" pitchFamily="2" charset="2"/>
              <a:buNone/>
            </a:pPr>
            <a:r>
              <a:rPr lang="en-US" sz="900" noProof="1">
                <a:latin typeface="Verdana" panose="020B0604030504040204" pitchFamily="34" charset="0"/>
                <a:ea typeface="Verdana" panose="020B060403050404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defTabSz="1019175">
              <a:spcAft>
                <a:spcPts val="600"/>
              </a:spcAft>
              <a:buClr>
                <a:schemeClr val="tx1"/>
              </a:buClr>
              <a:buSzPct val="80000"/>
              <a:buFont typeface="Wingdings" pitchFamily="2" charset="2"/>
              <a:buNone/>
            </a:pPr>
            <a:r>
              <a:rPr lang="en-US" sz="900" noProof="1">
                <a:latin typeface="Verdana" panose="020B0604030504040204" pitchFamily="34" charset="0"/>
                <a:ea typeface="Verdana" panose="020B0604030504040204" pitchFamily="34" charset="0"/>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defTabSz="1019175">
              <a:spcAft>
                <a:spcPts val="600"/>
              </a:spcAft>
              <a:buClr>
                <a:schemeClr val="tx1"/>
              </a:buClr>
              <a:buSzPct val="80000"/>
              <a:buFont typeface="Wingdings" pitchFamily="2" charset="2"/>
              <a:buNone/>
            </a:pPr>
            <a:r>
              <a:rPr lang="en-US" sz="900" noProof="1">
                <a:latin typeface="Verdana" panose="020B0604030504040204" pitchFamily="34" charset="0"/>
                <a:ea typeface="Verdana" panose="020B0604030504040204" pitchFamily="34" charset="0"/>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defTabSz="1019175">
              <a:spcAft>
                <a:spcPts val="600"/>
              </a:spcAft>
              <a:buClr>
                <a:schemeClr val="tx1"/>
              </a:buClr>
              <a:buSzPct val="80000"/>
              <a:buFont typeface="Wingdings" pitchFamily="2" charset="2"/>
              <a:buNone/>
            </a:pPr>
            <a:r>
              <a:rPr lang="en-US" sz="900" noProof="1">
                <a:latin typeface="Verdana" panose="020B0604030504040204" pitchFamily="34" charset="0"/>
                <a:ea typeface="Verdana" panose="020B0604030504040204" pitchFamily="34" charset="0"/>
              </a:rPr>
              <a:t>©2022 Deloitte Touche Tohmatsu India LLP. Member of Deloitte Touche Tohmatsu Limited</a:t>
            </a:r>
          </a:p>
          <a:p>
            <a:pPr defTabSz="1019175">
              <a:spcAft>
                <a:spcPts val="600"/>
              </a:spcAft>
              <a:buClr>
                <a:schemeClr val="tx1"/>
              </a:buClr>
              <a:buSzPct val="80000"/>
              <a:buFont typeface="Wingdings" pitchFamily="2" charset="2"/>
              <a:buNone/>
            </a:pPr>
            <a:r>
              <a:rPr lang="en-US" sz="900" noProof="1">
                <a:latin typeface="Verdana" panose="020B0604030504040204" pitchFamily="34" charset="0"/>
                <a:ea typeface="Verdana" panose="020B0604030504040204" pitchFamily="34" charset="0"/>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pic>
        <p:nvPicPr>
          <p:cNvPr id="6" name="Picture Placeholder 2">
            <a:extLst>
              <a:ext uri="{FF2B5EF4-FFF2-40B4-BE49-F238E27FC236}">
                <a16:creationId xmlns:a16="http://schemas.microsoft.com/office/drawing/2014/main" id="{AC97750B-517E-487E-8526-A60BBE689403}"/>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rcRect t="12799" b="12799"/>
          <a:stretch>
            <a:fillRect/>
          </a:stretch>
        </p:blipFill>
        <p:spPr>
          <a:xfrm>
            <a:off x="6425995" y="2155371"/>
            <a:ext cx="5061271" cy="3635829"/>
          </a:xfrm>
        </p:spPr>
      </p:pic>
    </p:spTree>
    <p:custDataLst>
      <p:tags r:id="rId1"/>
    </p:custDataLst>
    <p:extLst>
      <p:ext uri="{BB962C8B-B14F-4D97-AF65-F5344CB8AC3E}">
        <p14:creationId xmlns:p14="http://schemas.microsoft.com/office/powerpoint/2010/main" val="310998949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A56C2F-0450-483B-86E7-A942B79CABF3}"/>
              </a:ext>
            </a:extLst>
          </p:cNvPr>
          <p:cNvSpPr>
            <a:spLocks noGrp="1"/>
          </p:cNvSpPr>
          <p:nvPr>
            <p:ph type="title"/>
          </p:nvPr>
        </p:nvSpPr>
        <p:spPr>
          <a:xfrm>
            <a:off x="455925" y="265217"/>
            <a:ext cx="11128668" cy="346004"/>
          </a:xfrm>
        </p:spPr>
        <p:txBody>
          <a:bodyPr/>
          <a:lstStyle/>
          <a:p>
            <a:r>
              <a:rPr lang="en-US" sz="1600" b="1" dirty="0">
                <a:latin typeface="Verdana" panose="020B0604030504040204" pitchFamily="34" charset="0"/>
                <a:ea typeface="Verdana" panose="020B0604030504040204" pitchFamily="34" charset="0"/>
              </a:rPr>
              <a:t>Competitive Bidding/Plug &amp; Play Model/OPEX (2/2) </a:t>
            </a:r>
          </a:p>
        </p:txBody>
      </p:sp>
      <p:sp>
        <p:nvSpPr>
          <p:cNvPr id="8" name="Text Placeholder 2">
            <a:extLst>
              <a:ext uri="{FF2B5EF4-FFF2-40B4-BE49-F238E27FC236}">
                <a16:creationId xmlns:a16="http://schemas.microsoft.com/office/drawing/2014/main" id="{6EA5F69A-4E76-489C-960A-A5FABDE236CC}"/>
              </a:ext>
            </a:extLst>
          </p:cNvPr>
          <p:cNvSpPr txBox="1">
            <a:spLocks/>
          </p:cNvSpPr>
          <p:nvPr/>
        </p:nvSpPr>
        <p:spPr>
          <a:xfrm>
            <a:off x="455925" y="65020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a:solidFill>
                  <a:schemeClr val="tx1">
                    <a:lumMod val="50000"/>
                    <a:lumOff val="50000"/>
                  </a:schemeClr>
                </a:solidFill>
                <a:latin typeface="Verdana" panose="020B0604030504040204" pitchFamily="34" charset="0"/>
                <a:ea typeface="Verdana" panose="020B0604030504040204" pitchFamily="34" charset="0"/>
              </a:rPr>
              <a:t>Financial Analysis</a:t>
            </a:r>
            <a:endParaRPr lang="en-US" sz="2000" dirty="0">
              <a:solidFill>
                <a:schemeClr val="tx1">
                  <a:lumMod val="50000"/>
                  <a:lumOff val="50000"/>
                </a:schemeClr>
              </a:solidFill>
              <a:latin typeface="Verdana" panose="020B0604030504040204" pitchFamily="34" charset="0"/>
              <a:ea typeface="Verdana" panose="020B0604030504040204" pitchFamily="34" charset="0"/>
            </a:endParaRPr>
          </a:p>
        </p:txBody>
      </p:sp>
      <p:graphicFrame>
        <p:nvGraphicFramePr>
          <p:cNvPr id="9" name="Table 8">
            <a:extLst>
              <a:ext uri="{FF2B5EF4-FFF2-40B4-BE49-F238E27FC236}">
                <a16:creationId xmlns:a16="http://schemas.microsoft.com/office/drawing/2014/main" id="{692E17D5-536F-417F-BA74-010A6005C82C}"/>
              </a:ext>
            </a:extLst>
          </p:cNvPr>
          <p:cNvGraphicFramePr>
            <a:graphicFrameLocks noGrp="1"/>
          </p:cNvGraphicFramePr>
          <p:nvPr/>
        </p:nvGraphicFramePr>
        <p:xfrm>
          <a:off x="455925" y="1051396"/>
          <a:ext cx="2592075" cy="3465186"/>
        </p:xfrm>
        <a:graphic>
          <a:graphicData uri="http://schemas.openxmlformats.org/drawingml/2006/table">
            <a:tbl>
              <a:tblPr firstRow="1" bandRow="1"/>
              <a:tblGrid>
                <a:gridCol w="1141966">
                  <a:extLst>
                    <a:ext uri="{9D8B030D-6E8A-4147-A177-3AD203B41FA5}">
                      <a16:colId xmlns:a16="http://schemas.microsoft.com/office/drawing/2014/main" val="1519637469"/>
                    </a:ext>
                  </a:extLst>
                </a:gridCol>
                <a:gridCol w="748145">
                  <a:extLst>
                    <a:ext uri="{9D8B030D-6E8A-4147-A177-3AD203B41FA5}">
                      <a16:colId xmlns:a16="http://schemas.microsoft.com/office/drawing/2014/main" val="679067988"/>
                    </a:ext>
                  </a:extLst>
                </a:gridCol>
                <a:gridCol w="701964">
                  <a:extLst>
                    <a:ext uri="{9D8B030D-6E8A-4147-A177-3AD203B41FA5}">
                      <a16:colId xmlns:a16="http://schemas.microsoft.com/office/drawing/2014/main" val="1869945321"/>
                    </a:ext>
                  </a:extLst>
                </a:gridCol>
              </a:tblGrid>
              <a:tr h="277199">
                <a:tc gridSpan="3">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Input Values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580859489"/>
                  </a:ext>
                </a:extLst>
              </a:tr>
              <a:tr h="277199">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824672536"/>
                  </a:ext>
                </a:extLst>
              </a:tr>
              <a:tr h="27719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Project Size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MW</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1,000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36803219"/>
                  </a:ext>
                </a:extLst>
              </a:tr>
              <a:tr h="46595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Competitive Tariff (PPA)</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KWh</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2.94</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66399209"/>
                  </a:ext>
                </a:extLst>
              </a:tr>
              <a:tr h="27719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CUF</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071017641"/>
                  </a:ext>
                </a:extLst>
              </a:tr>
              <a:tr h="46595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Degradation Factor</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0.50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3255544692"/>
                  </a:ext>
                </a:extLst>
              </a:tr>
              <a:tr h="46595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Lease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Cr/MW</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0.03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299069226"/>
                  </a:ext>
                </a:extLst>
              </a:tr>
              <a:tr h="465959">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Annual units Generated</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MUs</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1,743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12318963"/>
                  </a:ext>
                </a:extLst>
              </a:tr>
              <a:tr h="492554">
                <a:tc>
                  <a:txBody>
                    <a:bodyPr/>
                    <a:lstStyle/>
                    <a:p>
                      <a:pPr marL="91440" marR="0" algn="l">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PSA rate from DISCOM’s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KWh</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630584628"/>
                  </a:ext>
                </a:extLst>
              </a:tr>
            </a:tbl>
          </a:graphicData>
        </a:graphic>
      </p:graphicFrame>
      <p:graphicFrame>
        <p:nvGraphicFramePr>
          <p:cNvPr id="10" name="Table 9">
            <a:extLst>
              <a:ext uri="{FF2B5EF4-FFF2-40B4-BE49-F238E27FC236}">
                <a16:creationId xmlns:a16="http://schemas.microsoft.com/office/drawing/2014/main" id="{C163E4BC-E9AD-4EAB-82B6-471B0F7C3C5C}"/>
              </a:ext>
            </a:extLst>
          </p:cNvPr>
          <p:cNvGraphicFramePr>
            <a:graphicFrameLocks noGrp="1"/>
          </p:cNvGraphicFramePr>
          <p:nvPr/>
        </p:nvGraphicFramePr>
        <p:xfrm>
          <a:off x="455924" y="4734539"/>
          <a:ext cx="2592075" cy="1666253"/>
        </p:xfrm>
        <a:graphic>
          <a:graphicData uri="http://schemas.openxmlformats.org/drawingml/2006/table">
            <a:tbl>
              <a:tblPr firstRow="1" bandRow="1"/>
              <a:tblGrid>
                <a:gridCol w="1141966">
                  <a:extLst>
                    <a:ext uri="{9D8B030D-6E8A-4147-A177-3AD203B41FA5}">
                      <a16:colId xmlns:a16="http://schemas.microsoft.com/office/drawing/2014/main" val="863211157"/>
                    </a:ext>
                  </a:extLst>
                </a:gridCol>
                <a:gridCol w="748145">
                  <a:extLst>
                    <a:ext uri="{9D8B030D-6E8A-4147-A177-3AD203B41FA5}">
                      <a16:colId xmlns:a16="http://schemas.microsoft.com/office/drawing/2014/main" val="1030504356"/>
                    </a:ext>
                  </a:extLst>
                </a:gridCol>
                <a:gridCol w="701964">
                  <a:extLst>
                    <a:ext uri="{9D8B030D-6E8A-4147-A177-3AD203B41FA5}">
                      <a16:colId xmlns:a16="http://schemas.microsoft.com/office/drawing/2014/main" val="1625386413"/>
                    </a:ext>
                  </a:extLst>
                </a:gridCol>
              </a:tblGrid>
              <a:tr h="454797">
                <a:tc gridSpan="3">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Financials for Project Period of 25 Years</a:t>
                      </a:r>
                    </a:p>
                  </a:txBody>
                  <a:tcPr marL="0" marR="0" marT="35702" marB="35702" anchor="ctr">
                    <a:lnL>
                      <a:noFill/>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algn="ctr">
                        <a:lnSpc>
                          <a:spcPts val="1200"/>
                        </a:lnSpc>
                        <a:spcBef>
                          <a:spcPts val="300"/>
                        </a:spcBef>
                        <a:spcAft>
                          <a:spcPts val="300"/>
                        </a:spcAft>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hMerge="1">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endPar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endParaRP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78153968"/>
                  </a:ext>
                </a:extLst>
              </a:tr>
              <a:tr h="270559">
                <a:tc>
                  <a:txBody>
                    <a:bodyPr/>
                    <a:lstStyle/>
                    <a:p>
                      <a:pPr marL="91440" marR="0" algn="just">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Particulars</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Unit</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lvl="0" indent="0" algn="ctr" defTabSz="914400" rtl="0" eaLnBrk="1" fontAlgn="auto" latinLnBrk="0" hangingPunct="1">
                        <a:lnSpc>
                          <a:spcPts val="1200"/>
                        </a:lnSpc>
                        <a:spcBef>
                          <a:spcPts val="300"/>
                        </a:spcBef>
                        <a:spcAft>
                          <a:spcPts val="300"/>
                        </a:spcAft>
                        <a:buClrTx/>
                        <a:buSzTx/>
                        <a:buFontTx/>
                        <a:buNone/>
                        <a:tabLst/>
                        <a:defRPr/>
                      </a:pPr>
                      <a:r>
                        <a:rPr lang="en-US" sz="1000" b="1" dirty="0">
                          <a:solidFill>
                            <a:schemeClr val="accent4"/>
                          </a:solidFill>
                          <a:effectLst/>
                          <a:latin typeface="Verdana" panose="020B0604030504040204" pitchFamily="34" charset="0"/>
                          <a:ea typeface="Verdana" panose="020B0604030504040204" pitchFamily="34" charset="0"/>
                          <a:cs typeface="Times New Roman" panose="02020603050405020304" pitchFamily="18" charset="0"/>
                        </a:rPr>
                        <a:t>Values</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2153702510"/>
                  </a:ext>
                </a:extLst>
              </a:tr>
              <a:tr h="270559">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Expense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12,813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727257542"/>
                  </a:ext>
                </a:extLst>
              </a:tr>
              <a:tr h="399779">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Income</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15,733</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4039743086"/>
                  </a:ext>
                </a:extLst>
              </a:tr>
              <a:tr h="270559">
                <a:tc>
                  <a:txBody>
                    <a:bodyPr/>
                    <a:lstStyle/>
                    <a:p>
                      <a:pPr marL="91440" marR="0" algn="l">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Profit</a:t>
                      </a:r>
                    </a:p>
                  </a:txBody>
                  <a:tcPr marL="0" marR="0" marT="35702" marB="35702" anchor="ctr">
                    <a:lnL>
                      <a:noFill/>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Rs. Cr</a:t>
                      </a:r>
                    </a:p>
                  </a:txBody>
                  <a:tcPr marL="0" marR="0" marT="35702" marB="35702"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tc>
                  <a:txBody>
                    <a:bodyPr/>
                    <a:lstStyle/>
                    <a:p>
                      <a:pPr marL="91440" marR="0" algn="ctr">
                        <a:lnSpc>
                          <a:spcPts val="1200"/>
                        </a:lnSpc>
                        <a:spcBef>
                          <a:spcPts val="300"/>
                        </a:spcBef>
                        <a:spcAft>
                          <a:spcPts val="300"/>
                        </a:spcAft>
                      </a:pPr>
                      <a:r>
                        <a:rPr lang="en-US" sz="1000" b="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2,920</a:t>
                      </a:r>
                    </a:p>
                  </a:txBody>
                  <a:tcPr marL="0" marR="0" marT="35702" marB="35702" anchor="ctr">
                    <a:lnL w="12700" cap="flat" cmpd="sng" algn="ctr">
                      <a:solidFill>
                        <a:schemeClr val="accent4"/>
                      </a:solidFill>
                      <a:prstDash val="solid"/>
                      <a:round/>
                      <a:headEnd type="none" w="med" len="med"/>
                      <a:tailEnd type="none" w="med" len="med"/>
                    </a:lnL>
                    <a:lnR>
                      <a:noFill/>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tcPr>
                </a:tc>
                <a:extLst>
                  <a:ext uri="{0D108BD9-81ED-4DB2-BD59-A6C34878D82A}">
                    <a16:rowId xmlns:a16="http://schemas.microsoft.com/office/drawing/2014/main" val="1196723317"/>
                  </a:ext>
                </a:extLst>
              </a:tr>
            </a:tbl>
          </a:graphicData>
        </a:graphic>
      </p:graphicFrame>
      <p:graphicFrame>
        <p:nvGraphicFramePr>
          <p:cNvPr id="11" name="Group 3">
            <a:extLst>
              <a:ext uri="{FF2B5EF4-FFF2-40B4-BE49-F238E27FC236}">
                <a16:creationId xmlns:a16="http://schemas.microsoft.com/office/drawing/2014/main" id="{5AC86742-B03A-4A9D-9DA4-94A364E3DCE0}"/>
              </a:ext>
            </a:extLst>
          </p:cNvPr>
          <p:cNvGraphicFramePr>
            <a:graphicFrameLocks/>
          </p:cNvGraphicFramePr>
          <p:nvPr>
            <p:custDataLst>
              <p:tags r:id="rId1"/>
            </p:custDataLst>
          </p:nvPr>
        </p:nvGraphicFramePr>
        <p:xfrm>
          <a:off x="3290170" y="1069868"/>
          <a:ext cx="8643228" cy="1823040"/>
        </p:xfrm>
        <a:graphic>
          <a:graphicData uri="http://schemas.openxmlformats.org/drawingml/2006/table">
            <a:tbl>
              <a:tblPr/>
              <a:tblGrid>
                <a:gridCol w="1799066">
                  <a:extLst>
                    <a:ext uri="{9D8B030D-6E8A-4147-A177-3AD203B41FA5}">
                      <a16:colId xmlns:a16="http://schemas.microsoft.com/office/drawing/2014/main" val="20000"/>
                    </a:ext>
                  </a:extLst>
                </a:gridCol>
                <a:gridCol w="526474">
                  <a:extLst>
                    <a:ext uri="{9D8B030D-6E8A-4147-A177-3AD203B41FA5}">
                      <a16:colId xmlns:a16="http://schemas.microsoft.com/office/drawing/2014/main" val="20001"/>
                    </a:ext>
                  </a:extLst>
                </a:gridCol>
                <a:gridCol w="526474">
                  <a:extLst>
                    <a:ext uri="{9D8B030D-6E8A-4147-A177-3AD203B41FA5}">
                      <a16:colId xmlns:a16="http://schemas.microsoft.com/office/drawing/2014/main" val="3599062624"/>
                    </a:ext>
                  </a:extLst>
                </a:gridCol>
                <a:gridCol w="526474">
                  <a:extLst>
                    <a:ext uri="{9D8B030D-6E8A-4147-A177-3AD203B41FA5}">
                      <a16:colId xmlns:a16="http://schemas.microsoft.com/office/drawing/2014/main" val="3101773808"/>
                    </a:ext>
                  </a:extLst>
                </a:gridCol>
                <a:gridCol w="526474">
                  <a:extLst>
                    <a:ext uri="{9D8B030D-6E8A-4147-A177-3AD203B41FA5}">
                      <a16:colId xmlns:a16="http://schemas.microsoft.com/office/drawing/2014/main" val="1260203290"/>
                    </a:ext>
                  </a:extLst>
                </a:gridCol>
                <a:gridCol w="526474">
                  <a:extLst>
                    <a:ext uri="{9D8B030D-6E8A-4147-A177-3AD203B41FA5}">
                      <a16:colId xmlns:a16="http://schemas.microsoft.com/office/drawing/2014/main" val="399072540"/>
                    </a:ext>
                  </a:extLst>
                </a:gridCol>
                <a:gridCol w="526474">
                  <a:extLst>
                    <a:ext uri="{9D8B030D-6E8A-4147-A177-3AD203B41FA5}">
                      <a16:colId xmlns:a16="http://schemas.microsoft.com/office/drawing/2014/main" val="1221393853"/>
                    </a:ext>
                  </a:extLst>
                </a:gridCol>
                <a:gridCol w="526474">
                  <a:extLst>
                    <a:ext uri="{9D8B030D-6E8A-4147-A177-3AD203B41FA5}">
                      <a16:colId xmlns:a16="http://schemas.microsoft.com/office/drawing/2014/main" val="764624473"/>
                    </a:ext>
                  </a:extLst>
                </a:gridCol>
                <a:gridCol w="526474">
                  <a:extLst>
                    <a:ext uri="{9D8B030D-6E8A-4147-A177-3AD203B41FA5}">
                      <a16:colId xmlns:a16="http://schemas.microsoft.com/office/drawing/2014/main" val="3913509444"/>
                    </a:ext>
                  </a:extLst>
                </a:gridCol>
                <a:gridCol w="526474">
                  <a:extLst>
                    <a:ext uri="{9D8B030D-6E8A-4147-A177-3AD203B41FA5}">
                      <a16:colId xmlns:a16="http://schemas.microsoft.com/office/drawing/2014/main" val="415182970"/>
                    </a:ext>
                  </a:extLst>
                </a:gridCol>
                <a:gridCol w="526474">
                  <a:extLst>
                    <a:ext uri="{9D8B030D-6E8A-4147-A177-3AD203B41FA5}">
                      <a16:colId xmlns:a16="http://schemas.microsoft.com/office/drawing/2014/main" val="1069142456"/>
                    </a:ext>
                  </a:extLst>
                </a:gridCol>
                <a:gridCol w="526474">
                  <a:extLst>
                    <a:ext uri="{9D8B030D-6E8A-4147-A177-3AD203B41FA5}">
                      <a16:colId xmlns:a16="http://schemas.microsoft.com/office/drawing/2014/main" val="1725006996"/>
                    </a:ext>
                  </a:extLst>
                </a:gridCol>
                <a:gridCol w="526474">
                  <a:extLst>
                    <a:ext uri="{9D8B030D-6E8A-4147-A177-3AD203B41FA5}">
                      <a16:colId xmlns:a16="http://schemas.microsoft.com/office/drawing/2014/main" val="152118669"/>
                    </a:ext>
                  </a:extLst>
                </a:gridCol>
                <a:gridCol w="526474">
                  <a:extLst>
                    <a:ext uri="{9D8B030D-6E8A-4147-A177-3AD203B41FA5}">
                      <a16:colId xmlns:a16="http://schemas.microsoft.com/office/drawing/2014/main" val="1601102081"/>
                    </a:ext>
                  </a:extLst>
                </a:gridCol>
              </a:tblGrid>
              <a:tr h="36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accent1"/>
                          </a:solidFill>
                          <a:effectLst/>
                          <a:latin typeface="Verdana" panose="020B0604030504040204" pitchFamily="34" charset="0"/>
                          <a:ea typeface="Verdana" panose="020B0604030504040204" pitchFamily="34" charset="0"/>
                          <a:cs typeface="+mn-cs"/>
                        </a:rPr>
                        <a:t>Particulars</a:t>
                      </a:r>
                    </a:p>
                  </a:txBody>
                  <a:tcPr marL="91561" marR="91561" marT="91440" marB="9144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a:t>
                      </a:r>
                      <a:endPar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endParaRP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4</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6</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7</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8</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9</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10</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11</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(Rs. Cr)</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5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sale of power &amp; Lease (Rs.Cr)</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30000">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graphicFrame>
        <p:nvGraphicFramePr>
          <p:cNvPr id="12" name="Table 11">
            <a:extLst>
              <a:ext uri="{FF2B5EF4-FFF2-40B4-BE49-F238E27FC236}">
                <a16:creationId xmlns:a16="http://schemas.microsoft.com/office/drawing/2014/main" id="{767F1DD5-1F0E-4373-A889-427BD39354E2}"/>
              </a:ext>
            </a:extLst>
          </p:cNvPr>
          <p:cNvGraphicFramePr>
            <a:graphicFrameLocks noGrp="1"/>
          </p:cNvGraphicFramePr>
          <p:nvPr/>
        </p:nvGraphicFramePr>
        <p:xfrm>
          <a:off x="3290173" y="2949852"/>
          <a:ext cx="8643225" cy="1798320"/>
        </p:xfrm>
        <a:graphic>
          <a:graphicData uri="http://schemas.openxmlformats.org/drawingml/2006/table">
            <a:tbl>
              <a:tblPr/>
              <a:tblGrid>
                <a:gridCol w="1836009">
                  <a:extLst>
                    <a:ext uri="{9D8B030D-6E8A-4147-A177-3AD203B41FA5}">
                      <a16:colId xmlns:a16="http://schemas.microsoft.com/office/drawing/2014/main" val="3569502082"/>
                    </a:ext>
                  </a:extLst>
                </a:gridCol>
                <a:gridCol w="567268">
                  <a:extLst>
                    <a:ext uri="{9D8B030D-6E8A-4147-A177-3AD203B41FA5}">
                      <a16:colId xmlns:a16="http://schemas.microsoft.com/office/drawing/2014/main" val="3769989880"/>
                    </a:ext>
                  </a:extLst>
                </a:gridCol>
                <a:gridCol w="567268">
                  <a:extLst>
                    <a:ext uri="{9D8B030D-6E8A-4147-A177-3AD203B41FA5}">
                      <a16:colId xmlns:a16="http://schemas.microsoft.com/office/drawing/2014/main" val="2688439853"/>
                    </a:ext>
                  </a:extLst>
                </a:gridCol>
                <a:gridCol w="567268">
                  <a:extLst>
                    <a:ext uri="{9D8B030D-6E8A-4147-A177-3AD203B41FA5}">
                      <a16:colId xmlns:a16="http://schemas.microsoft.com/office/drawing/2014/main" val="2782662504"/>
                    </a:ext>
                  </a:extLst>
                </a:gridCol>
                <a:gridCol w="567268">
                  <a:extLst>
                    <a:ext uri="{9D8B030D-6E8A-4147-A177-3AD203B41FA5}">
                      <a16:colId xmlns:a16="http://schemas.microsoft.com/office/drawing/2014/main" val="775487047"/>
                    </a:ext>
                  </a:extLst>
                </a:gridCol>
                <a:gridCol w="567268">
                  <a:extLst>
                    <a:ext uri="{9D8B030D-6E8A-4147-A177-3AD203B41FA5}">
                      <a16:colId xmlns:a16="http://schemas.microsoft.com/office/drawing/2014/main" val="131298814"/>
                    </a:ext>
                  </a:extLst>
                </a:gridCol>
                <a:gridCol w="567268">
                  <a:extLst>
                    <a:ext uri="{9D8B030D-6E8A-4147-A177-3AD203B41FA5}">
                      <a16:colId xmlns:a16="http://schemas.microsoft.com/office/drawing/2014/main" val="1076192191"/>
                    </a:ext>
                  </a:extLst>
                </a:gridCol>
                <a:gridCol w="567268">
                  <a:extLst>
                    <a:ext uri="{9D8B030D-6E8A-4147-A177-3AD203B41FA5}">
                      <a16:colId xmlns:a16="http://schemas.microsoft.com/office/drawing/2014/main" val="2248460237"/>
                    </a:ext>
                  </a:extLst>
                </a:gridCol>
                <a:gridCol w="567268">
                  <a:extLst>
                    <a:ext uri="{9D8B030D-6E8A-4147-A177-3AD203B41FA5}">
                      <a16:colId xmlns:a16="http://schemas.microsoft.com/office/drawing/2014/main" val="2689429909"/>
                    </a:ext>
                  </a:extLst>
                </a:gridCol>
                <a:gridCol w="567268">
                  <a:extLst>
                    <a:ext uri="{9D8B030D-6E8A-4147-A177-3AD203B41FA5}">
                      <a16:colId xmlns:a16="http://schemas.microsoft.com/office/drawing/2014/main" val="1191778161"/>
                    </a:ext>
                  </a:extLst>
                </a:gridCol>
                <a:gridCol w="567268">
                  <a:extLst>
                    <a:ext uri="{9D8B030D-6E8A-4147-A177-3AD203B41FA5}">
                      <a16:colId xmlns:a16="http://schemas.microsoft.com/office/drawing/2014/main" val="4259231675"/>
                    </a:ext>
                  </a:extLst>
                </a:gridCol>
                <a:gridCol w="567268">
                  <a:extLst>
                    <a:ext uri="{9D8B030D-6E8A-4147-A177-3AD203B41FA5}">
                      <a16:colId xmlns:a16="http://schemas.microsoft.com/office/drawing/2014/main" val="1483519396"/>
                    </a:ext>
                  </a:extLst>
                </a:gridCol>
                <a:gridCol w="567268">
                  <a:extLst>
                    <a:ext uri="{9D8B030D-6E8A-4147-A177-3AD203B41FA5}">
                      <a16:colId xmlns:a16="http://schemas.microsoft.com/office/drawing/2014/main" val="3232366169"/>
                    </a:ext>
                  </a:extLst>
                </a:gridCol>
              </a:tblGrid>
              <a:tr h="281943">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kern="1200" cap="none" normalizeH="0" baseline="0" dirty="0">
                          <a:ln>
                            <a:noFill/>
                          </a:ln>
                          <a:solidFill>
                            <a:schemeClr val="accent1"/>
                          </a:solidFill>
                          <a:effectLst/>
                          <a:latin typeface="Verdana" panose="020B0604030504040204" pitchFamily="34" charset="0"/>
                          <a:ea typeface="Verdana" panose="020B0604030504040204" pitchFamily="34" charset="0"/>
                          <a:cs typeface="+mn-cs"/>
                        </a:rPr>
                        <a:t>Particulars</a:t>
                      </a:r>
                    </a:p>
                  </a:txBody>
                  <a:tcPr marL="91561" marR="91561" marT="91440" marB="91440" anchor="ctr" horzOverflow="overflow">
                    <a:lnL w="12700" cmpd="sng">
                      <a:noFill/>
                      <a:prstDash val="soli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14</a:t>
                      </a:r>
                      <a:endPar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endParaRP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16</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17</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18</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19</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20</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21</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22</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23</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24</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1" i="0" u="none" strike="noStrike" cap="none" normalizeH="0" baseline="0" dirty="0">
                          <a:ln>
                            <a:noFill/>
                          </a:ln>
                          <a:solidFill>
                            <a:schemeClr val="accent1"/>
                          </a:solidFill>
                          <a:effectLst/>
                          <a:latin typeface="Verdana" panose="020B0604030504040204" pitchFamily="34" charset="0"/>
                          <a:ea typeface="Verdana" panose="020B0604030504040204" pitchFamily="34" charset="0"/>
                        </a:rPr>
                        <a:t>25</a:t>
                      </a:r>
                    </a:p>
                  </a:txBody>
                  <a:tcPr marL="91561" marR="91561"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48544"/>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Payables (Rs. Cr)</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513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513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239630"/>
                  </a:ext>
                </a:extLst>
              </a:tr>
              <a:tr h="35242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Income from sale of power &amp; Lease (Rs.Cr)</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553</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553</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8248505"/>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76</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76</a:t>
                      </a:r>
                      <a:endPar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1258786"/>
                  </a:ext>
                </a:extLst>
              </a:tr>
              <a:tr h="258448">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Net Profit/(Loss)</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000" b="0"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ts val="0"/>
                        </a:spcBef>
                        <a:spcAft>
                          <a:spcPct val="0"/>
                        </a:spcAft>
                        <a:buClr>
                          <a:prstClr val="black"/>
                        </a:buClr>
                        <a:buSzTx/>
                        <a:buFont typeface="Arial" panose="020B0604020202020204" pitchFamily="34" charset="0"/>
                        <a:buNone/>
                        <a:tabLst/>
                        <a:defRPr/>
                      </a:pPr>
                      <a:r>
                        <a:rPr kumimoji="0" lang="en-US" sz="1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117</a:t>
                      </a:r>
                    </a:p>
                  </a:txBody>
                  <a:tcPr marL="91561" marR="91561" marT="91440" marB="91440" horzOverflow="overflow">
                    <a:lnL w="12700" cmpd="sng">
                      <a:noFill/>
                      <a:prstDash val="solid"/>
                    </a:lnL>
                    <a:lnR w="12700" cmpd="sng">
                      <a:noFill/>
                      <a:prstDash val="soli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755469"/>
                  </a:ext>
                </a:extLst>
              </a:tr>
            </a:tbl>
          </a:graphicData>
        </a:graphic>
      </p:graphicFrame>
      <p:graphicFrame>
        <p:nvGraphicFramePr>
          <p:cNvPr id="13" name="Chart 12">
            <a:extLst>
              <a:ext uri="{FF2B5EF4-FFF2-40B4-BE49-F238E27FC236}">
                <a16:creationId xmlns:a16="http://schemas.microsoft.com/office/drawing/2014/main" id="{9A22FDBF-CB5D-4463-8F9B-7E73F7136169}"/>
              </a:ext>
            </a:extLst>
          </p:cNvPr>
          <p:cNvGraphicFramePr/>
          <p:nvPr/>
        </p:nvGraphicFramePr>
        <p:xfrm>
          <a:off x="3080223" y="4700955"/>
          <a:ext cx="8853175" cy="1787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33004543"/>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
          <p:cNvGrpSpPr/>
          <p:nvPr/>
        </p:nvGrpSpPr>
        <p:grpSpPr>
          <a:xfrm>
            <a:off x="179160" y="1523089"/>
            <a:ext cx="2075544" cy="4161729"/>
            <a:chOff x="5043715" y="2553810"/>
            <a:chExt cx="2075544" cy="4161729"/>
          </a:xfrm>
          <a:solidFill>
            <a:srgbClr val="000000"/>
          </a:solidFill>
        </p:grpSpPr>
        <p:sp>
          <p:nvSpPr>
            <p:cNvPr id="94" name="Oval 93">
              <a:extLst>
                <a:ext uri="{FF2B5EF4-FFF2-40B4-BE49-F238E27FC236}">
                  <a16:creationId xmlns:a16="http://schemas.microsoft.com/office/drawing/2014/main" id="{3756122B-E38B-45CD-A9B8-A723926DC8EE}"/>
                </a:ext>
              </a:extLst>
            </p:cNvPr>
            <p:cNvSpPr/>
            <p:nvPr/>
          </p:nvSpPr>
          <p:spPr bwMode="gray">
            <a:xfrm>
              <a:off x="5043715" y="2553810"/>
              <a:ext cx="2075544" cy="2075544"/>
            </a:xfrm>
            <a:prstGeom prst="ellipse">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7" name="Rectangle 66">
              <a:extLst>
                <a:ext uri="{FF2B5EF4-FFF2-40B4-BE49-F238E27FC236}">
                  <a16:creationId xmlns:a16="http://schemas.microsoft.com/office/drawing/2014/main" id="{F5771899-808E-4FAA-B9F6-DDDE059D00EA}"/>
                </a:ext>
              </a:extLst>
            </p:cNvPr>
            <p:cNvSpPr/>
            <p:nvPr/>
          </p:nvSpPr>
          <p:spPr bwMode="gray">
            <a:xfrm>
              <a:off x="6040866" y="4629050"/>
              <a:ext cx="105935" cy="2012950"/>
            </a:xfrm>
            <a:prstGeom prst="rect">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8" name="Rectangle: Top Corners Rounded 67">
              <a:extLst>
                <a:ext uri="{FF2B5EF4-FFF2-40B4-BE49-F238E27FC236}">
                  <a16:creationId xmlns:a16="http://schemas.microsoft.com/office/drawing/2014/main" id="{CB2FCBAB-9DD6-4020-8DF2-4BBB2E6046A0}"/>
                </a:ext>
              </a:extLst>
            </p:cNvPr>
            <p:cNvSpPr/>
            <p:nvPr/>
          </p:nvSpPr>
          <p:spPr bwMode="gray">
            <a:xfrm>
              <a:off x="5568696" y="6572149"/>
              <a:ext cx="1025582" cy="143390"/>
            </a:xfrm>
            <a:prstGeom prst="round2SameRect">
              <a:avLst>
                <a:gd name="adj1" fmla="val 50000"/>
                <a:gd name="adj2" fmla="val 0"/>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sz="1600" b="1">
                <a:solidFill>
                  <a:schemeClr val="bg1"/>
                </a:solidFill>
              </a:endParaRPr>
            </a:p>
          </p:txBody>
        </p:sp>
      </p:grpSp>
      <p:grpSp>
        <p:nvGrpSpPr>
          <p:cNvPr id="3" name="Group 2"/>
          <p:cNvGrpSpPr/>
          <p:nvPr/>
        </p:nvGrpSpPr>
        <p:grpSpPr>
          <a:xfrm>
            <a:off x="437239" y="1799523"/>
            <a:ext cx="1559386" cy="1559386"/>
            <a:chOff x="5301794" y="2811889"/>
            <a:chExt cx="1559386" cy="1559386"/>
          </a:xfrm>
        </p:grpSpPr>
        <p:sp>
          <p:nvSpPr>
            <p:cNvPr id="95" name="Oval 94">
              <a:extLst>
                <a:ext uri="{FF2B5EF4-FFF2-40B4-BE49-F238E27FC236}">
                  <a16:creationId xmlns:a16="http://schemas.microsoft.com/office/drawing/2014/main" id="{67D62164-7AA9-4620-99CE-89E451FDB854}"/>
                </a:ext>
              </a:extLst>
            </p:cNvPr>
            <p:cNvSpPr/>
            <p:nvPr/>
          </p:nvSpPr>
          <p:spPr bwMode="gray">
            <a:xfrm>
              <a:off x="5301794" y="2811889"/>
              <a:ext cx="1559386" cy="1559386"/>
            </a:xfrm>
            <a:prstGeom prst="ellipse">
              <a:avLst/>
            </a:prstGeom>
            <a:solidFill>
              <a:srgbClr val="53565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96" name="Oval 95">
              <a:extLst>
                <a:ext uri="{FF2B5EF4-FFF2-40B4-BE49-F238E27FC236}">
                  <a16:creationId xmlns:a16="http://schemas.microsoft.com/office/drawing/2014/main" id="{6BC45D38-93D0-43F6-9E37-99671E1A8EEF}"/>
                </a:ext>
              </a:extLst>
            </p:cNvPr>
            <p:cNvSpPr/>
            <p:nvPr/>
          </p:nvSpPr>
          <p:spPr bwMode="gray">
            <a:xfrm>
              <a:off x="5597359" y="3107454"/>
              <a:ext cx="968256" cy="968256"/>
            </a:xfrm>
            <a:prstGeom prst="ellipse">
              <a:avLst/>
            </a:prstGeom>
            <a:solidFill>
              <a:srgbClr val="63666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97" name="Oval 96">
              <a:extLst>
                <a:ext uri="{FF2B5EF4-FFF2-40B4-BE49-F238E27FC236}">
                  <a16:creationId xmlns:a16="http://schemas.microsoft.com/office/drawing/2014/main" id="{CDC43865-8C5C-4F44-B0DD-0B8557C87DAE}"/>
                </a:ext>
              </a:extLst>
            </p:cNvPr>
            <p:cNvSpPr/>
            <p:nvPr/>
          </p:nvSpPr>
          <p:spPr bwMode="gray">
            <a:xfrm>
              <a:off x="5833053" y="3343148"/>
              <a:ext cx="496868" cy="496868"/>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98" name="Oval 97">
              <a:extLst>
                <a:ext uri="{FF2B5EF4-FFF2-40B4-BE49-F238E27FC236}">
                  <a16:creationId xmlns:a16="http://schemas.microsoft.com/office/drawing/2014/main" id="{E4841CC0-D56E-456D-9FF2-F87578F0B44D}"/>
                </a:ext>
              </a:extLst>
            </p:cNvPr>
            <p:cNvSpPr/>
            <p:nvPr/>
          </p:nvSpPr>
          <p:spPr bwMode="gray">
            <a:xfrm>
              <a:off x="6038809" y="3550961"/>
              <a:ext cx="81242" cy="81242"/>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grpSp>
        <p:nvGrpSpPr>
          <p:cNvPr id="7" name="Group 6">
            <a:extLst>
              <a:ext uri="{FF2B5EF4-FFF2-40B4-BE49-F238E27FC236}">
                <a16:creationId xmlns:a16="http://schemas.microsoft.com/office/drawing/2014/main" id="{B9C5F289-C228-44EE-BD1B-66A413F1D7EC}"/>
              </a:ext>
            </a:extLst>
          </p:cNvPr>
          <p:cNvGrpSpPr/>
          <p:nvPr/>
        </p:nvGrpSpPr>
        <p:grpSpPr>
          <a:xfrm>
            <a:off x="2507856" y="3790512"/>
            <a:ext cx="4578626" cy="2467370"/>
            <a:chOff x="531845" y="4360892"/>
            <a:chExt cx="4578626" cy="2467370"/>
          </a:xfrm>
        </p:grpSpPr>
        <p:sp>
          <p:nvSpPr>
            <p:cNvPr id="56" name="Rectangle: Top Corners Rounded 55">
              <a:extLst>
                <a:ext uri="{FF2B5EF4-FFF2-40B4-BE49-F238E27FC236}">
                  <a16:creationId xmlns:a16="http://schemas.microsoft.com/office/drawing/2014/main" id="{E3EC22F1-BF91-44BD-944A-DB611005824A}"/>
                </a:ext>
              </a:extLst>
            </p:cNvPr>
            <p:cNvSpPr/>
            <p:nvPr/>
          </p:nvSpPr>
          <p:spPr bwMode="gray">
            <a:xfrm>
              <a:off x="538228" y="4360892"/>
              <a:ext cx="4557422" cy="580594"/>
            </a:xfrm>
            <a:prstGeom prst="round2SameRect">
              <a:avLst>
                <a:gd name="adj1" fmla="val 0"/>
                <a:gd name="adj2" fmla="val 0"/>
              </a:avLst>
            </a:prstGeom>
            <a:solidFill>
              <a:schemeClr val="accent3"/>
            </a:solidFill>
            <a:ln w="19050" algn="ctr">
              <a:noFill/>
              <a:miter lim="800000"/>
              <a:headEnd/>
              <a:tailEnd/>
            </a:ln>
          </p:spPr>
          <p:txBody>
            <a:bodyPr wrap="square" lIns="45720" tIns="45720" rIns="0" bIns="0" rtlCol="0" anchor="t" anchorCtr="0"/>
            <a:lstStyle/>
            <a:p>
              <a:pPr>
                <a:buFont typeface="Wingdings 2" pitchFamily="18" charset="2"/>
                <a:buNone/>
              </a:pPr>
              <a:r>
                <a:rPr lang="da-DK" sz="1400" b="1" dirty="0">
                  <a:solidFill>
                    <a:prstClr val="white"/>
                  </a:solidFill>
                  <a:latin typeface="Verdana" panose="020B0604030504040204" pitchFamily="34" charset="0"/>
                  <a:ea typeface="Verdana" panose="020B0604030504040204" pitchFamily="34" charset="0"/>
                </a:rPr>
                <a:t>Collaboration</a:t>
              </a:r>
              <a:endParaRPr lang="en-GB" sz="1400" b="1" dirty="0">
                <a:solidFill>
                  <a:prstClr val="white"/>
                </a:solidFill>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17E042B4-E5E2-48F2-80A8-478D276234B0}"/>
                </a:ext>
              </a:extLst>
            </p:cNvPr>
            <p:cNvSpPr txBox="1"/>
            <p:nvPr/>
          </p:nvSpPr>
          <p:spPr>
            <a:xfrm>
              <a:off x="531845" y="4704604"/>
              <a:ext cx="4578626" cy="2123658"/>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CAPEX projects brings in an excellent opportunity to collaborate with multilateral agencies which enhances the quality and efficiency of the project due to the diverse experience of the agencies of working with various  entities in different countries.</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Also,  multilateral financing agencies helps organizations to build in house capacities with various training programmes and also supports the organization with various improvements in systems and processes. </a:t>
              </a:r>
            </a:p>
          </p:txBody>
        </p:sp>
        <p:sp>
          <p:nvSpPr>
            <p:cNvPr id="92" name="Oval 91">
              <a:extLst>
                <a:ext uri="{FF2B5EF4-FFF2-40B4-BE49-F238E27FC236}">
                  <a16:creationId xmlns:a16="http://schemas.microsoft.com/office/drawing/2014/main" id="{1E64D95E-E275-4554-B540-22F0F5FA0767}"/>
                </a:ext>
              </a:extLst>
            </p:cNvPr>
            <p:cNvSpPr/>
            <p:nvPr/>
          </p:nvSpPr>
          <p:spPr bwMode="gray">
            <a:xfrm>
              <a:off x="4429024" y="4361904"/>
              <a:ext cx="488823" cy="488823"/>
            </a:xfrm>
            <a:prstGeom prst="ellipse">
              <a:avLst/>
            </a:pr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93" name="Freeform 189">
              <a:extLst>
                <a:ext uri="{FF2B5EF4-FFF2-40B4-BE49-F238E27FC236}">
                  <a16:creationId xmlns:a16="http://schemas.microsoft.com/office/drawing/2014/main" id="{3956BC6C-32F1-4A1E-91EA-01621830D76F}"/>
                </a:ext>
              </a:extLst>
            </p:cNvPr>
            <p:cNvSpPr>
              <a:spLocks noEditPoints="1"/>
            </p:cNvSpPr>
            <p:nvPr/>
          </p:nvSpPr>
          <p:spPr bwMode="auto">
            <a:xfrm>
              <a:off x="4488736" y="4417506"/>
              <a:ext cx="382385" cy="382385"/>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grpSp>
        <p:nvGrpSpPr>
          <p:cNvPr id="79" name="Group 78">
            <a:extLst>
              <a:ext uri="{FF2B5EF4-FFF2-40B4-BE49-F238E27FC236}">
                <a16:creationId xmlns:a16="http://schemas.microsoft.com/office/drawing/2014/main" id="{875E33D9-43AC-4675-972A-A484A4781BAF}"/>
              </a:ext>
            </a:extLst>
          </p:cNvPr>
          <p:cNvGrpSpPr/>
          <p:nvPr/>
        </p:nvGrpSpPr>
        <p:grpSpPr>
          <a:xfrm rot="20528695">
            <a:off x="1319319" y="2533648"/>
            <a:ext cx="325887" cy="1696979"/>
            <a:chOff x="7491780" y="2505965"/>
            <a:chExt cx="394324" cy="2053345"/>
          </a:xfrm>
          <a:solidFill>
            <a:schemeClr val="accent3"/>
          </a:solidFill>
        </p:grpSpPr>
        <p:sp>
          <p:nvSpPr>
            <p:cNvPr id="80" name="Rectangle: Top Corners Rounded 79">
              <a:extLst>
                <a:ext uri="{FF2B5EF4-FFF2-40B4-BE49-F238E27FC236}">
                  <a16:creationId xmlns:a16="http://schemas.microsoft.com/office/drawing/2014/main" id="{84D13F68-9DDB-4ECC-9296-9DF880D8A6DB}"/>
                </a:ext>
              </a:extLst>
            </p:cNvPr>
            <p:cNvSpPr/>
            <p:nvPr/>
          </p:nvSpPr>
          <p:spPr bwMode="gray">
            <a:xfrm>
              <a:off x="7583714" y="2786743"/>
              <a:ext cx="210457" cy="340632"/>
            </a:xfrm>
            <a:prstGeom prst="round2SameRect">
              <a:avLst>
                <a:gd name="adj1" fmla="val 34771"/>
                <a:gd name="adj2" fmla="val 0"/>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81" name="Rectangle 80">
              <a:extLst>
                <a:ext uri="{FF2B5EF4-FFF2-40B4-BE49-F238E27FC236}">
                  <a16:creationId xmlns:a16="http://schemas.microsoft.com/office/drawing/2014/main" id="{17AEBA0C-15B3-4CB8-AD8F-0344D1DF911E}"/>
                </a:ext>
              </a:extLst>
            </p:cNvPr>
            <p:cNvSpPr/>
            <p:nvPr/>
          </p:nvSpPr>
          <p:spPr bwMode="gray">
            <a:xfrm>
              <a:off x="7646524" y="3127375"/>
              <a:ext cx="84835" cy="1362075"/>
            </a:xfrm>
            <a:prstGeom prst="rect">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82" name="Rectangle 81">
              <a:extLst>
                <a:ext uri="{FF2B5EF4-FFF2-40B4-BE49-F238E27FC236}">
                  <a16:creationId xmlns:a16="http://schemas.microsoft.com/office/drawing/2014/main" id="{EAED8C19-677D-4EB5-8EEB-D681CC2588BB}"/>
                </a:ext>
              </a:extLst>
            </p:cNvPr>
            <p:cNvSpPr/>
            <p:nvPr/>
          </p:nvSpPr>
          <p:spPr bwMode="gray">
            <a:xfrm>
              <a:off x="7653885" y="2686050"/>
              <a:ext cx="70112" cy="100693"/>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83" name="Parallelogram 82">
              <a:extLst>
                <a:ext uri="{FF2B5EF4-FFF2-40B4-BE49-F238E27FC236}">
                  <a16:creationId xmlns:a16="http://schemas.microsoft.com/office/drawing/2014/main" id="{EC321275-6C4F-4A14-ADC4-C7A1D8BF5A3E}"/>
                </a:ext>
              </a:extLst>
            </p:cNvPr>
            <p:cNvSpPr/>
            <p:nvPr/>
          </p:nvSpPr>
          <p:spPr bwMode="gray">
            <a:xfrm rot="5400000">
              <a:off x="7594814" y="4267274"/>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84" name="Parallelogram 83">
              <a:extLst>
                <a:ext uri="{FF2B5EF4-FFF2-40B4-BE49-F238E27FC236}">
                  <a16:creationId xmlns:a16="http://schemas.microsoft.com/office/drawing/2014/main" id="{31D25C54-562A-41FF-A87D-B6BAA5B14FCA}"/>
                </a:ext>
              </a:extLst>
            </p:cNvPr>
            <p:cNvSpPr/>
            <p:nvPr/>
          </p:nvSpPr>
          <p:spPr bwMode="gray">
            <a:xfrm rot="16200000" flipH="1">
              <a:off x="7356626" y="4268021"/>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85" name="Arrow: Pentagon 84">
              <a:extLst>
                <a:ext uri="{FF2B5EF4-FFF2-40B4-BE49-F238E27FC236}">
                  <a16:creationId xmlns:a16="http://schemas.microsoft.com/office/drawing/2014/main" id="{15059D5F-8355-4615-A5BC-6A184AB0BA9C}"/>
                </a:ext>
              </a:extLst>
            </p:cNvPr>
            <p:cNvSpPr/>
            <p:nvPr/>
          </p:nvSpPr>
          <p:spPr bwMode="gray">
            <a:xfrm rot="16200000">
              <a:off x="7598898" y="2573148"/>
              <a:ext cx="180085" cy="45719"/>
            </a:xfrm>
            <a:prstGeom prst="homePlat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grpSp>
        <p:nvGrpSpPr>
          <p:cNvPr id="4" name="Group 3">
            <a:extLst>
              <a:ext uri="{FF2B5EF4-FFF2-40B4-BE49-F238E27FC236}">
                <a16:creationId xmlns:a16="http://schemas.microsoft.com/office/drawing/2014/main" id="{61433C57-FC34-4CCD-8D2F-50EE43539A28}"/>
              </a:ext>
            </a:extLst>
          </p:cNvPr>
          <p:cNvGrpSpPr/>
          <p:nvPr/>
        </p:nvGrpSpPr>
        <p:grpSpPr>
          <a:xfrm>
            <a:off x="2512783" y="977113"/>
            <a:ext cx="4578627" cy="2618190"/>
            <a:chOff x="522013" y="1714500"/>
            <a:chExt cx="4578627" cy="2618190"/>
          </a:xfrm>
        </p:grpSpPr>
        <p:sp>
          <p:nvSpPr>
            <p:cNvPr id="58" name="Rectangle: Top Corners Rounded 57">
              <a:extLst>
                <a:ext uri="{FF2B5EF4-FFF2-40B4-BE49-F238E27FC236}">
                  <a16:creationId xmlns:a16="http://schemas.microsoft.com/office/drawing/2014/main" id="{DCDF8071-3FDE-4DD2-B004-686CF6C7A014}"/>
                </a:ext>
              </a:extLst>
            </p:cNvPr>
            <p:cNvSpPr/>
            <p:nvPr/>
          </p:nvSpPr>
          <p:spPr bwMode="gray">
            <a:xfrm>
              <a:off x="522014" y="1714500"/>
              <a:ext cx="4578626" cy="580594"/>
            </a:xfrm>
            <a:prstGeom prst="round2SameRect">
              <a:avLst>
                <a:gd name="adj1" fmla="val 0"/>
                <a:gd name="adj2" fmla="val 0"/>
              </a:avLst>
            </a:prstGeom>
            <a:solidFill>
              <a:srgbClr val="86BC25"/>
            </a:solidFill>
            <a:ln w="19050" algn="ctr">
              <a:noFill/>
              <a:miter lim="800000"/>
              <a:headEnd/>
              <a:tailEnd/>
            </a:ln>
          </p:spPr>
          <p:txBody>
            <a:bodyPr wrap="square" lIns="45720" tIns="45720" rIns="0" bIns="0" rtlCol="0" anchor="t" anchorCtr="0"/>
            <a:lstStyle/>
            <a:p>
              <a:pPr>
                <a:buFont typeface="Wingdings 2" pitchFamily="18" charset="2"/>
                <a:buNone/>
              </a:pPr>
              <a:r>
                <a:rPr lang="da-DK" sz="1400" b="1" dirty="0">
                  <a:solidFill>
                    <a:prstClr val="white"/>
                  </a:solidFill>
                  <a:latin typeface="Verdana" panose="020B0604030504040204" pitchFamily="34" charset="0"/>
                  <a:ea typeface="Verdana" panose="020B0604030504040204" pitchFamily="34" charset="0"/>
                </a:rPr>
                <a:t>Project Cost &amp; Financials</a:t>
              </a:r>
              <a:endParaRPr lang="en-GB" sz="1400" b="1" dirty="0">
                <a:solidFill>
                  <a:prstClr val="white"/>
                </a:solidFill>
                <a:latin typeface="Verdana" panose="020B0604030504040204" pitchFamily="34" charset="0"/>
                <a:ea typeface="Verdana" panose="020B0604030504040204" pitchFamily="34" charset="0"/>
              </a:endParaRPr>
            </a:p>
          </p:txBody>
        </p:sp>
        <p:sp>
          <p:nvSpPr>
            <p:cNvPr id="60" name="TextBox 59">
              <a:extLst>
                <a:ext uri="{FF2B5EF4-FFF2-40B4-BE49-F238E27FC236}">
                  <a16:creationId xmlns:a16="http://schemas.microsoft.com/office/drawing/2014/main" id="{3D3FC361-67BF-4C8C-A1EA-E0CDDF0274B8}"/>
                </a:ext>
              </a:extLst>
            </p:cNvPr>
            <p:cNvSpPr txBox="1"/>
            <p:nvPr/>
          </p:nvSpPr>
          <p:spPr>
            <a:xfrm>
              <a:off x="522013" y="2024366"/>
              <a:ext cx="4578626" cy="2308324"/>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Installation of Solar Projects under CAPEX mode is beneficial as it enhances the profitability and revenue potential of the project as the revenue and profit sharing of the project lies within a single entity.</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CAPEX attracts financial assistance from multilateral banks at nominal interest rates which in turn makes the project financially viable.</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The return on equity, Internal rate of return in CAPEX projects are higher leading to shorter payback periods.</a:t>
              </a:r>
            </a:p>
          </p:txBody>
        </p:sp>
        <p:sp>
          <p:nvSpPr>
            <p:cNvPr id="76" name="Oval 75">
              <a:extLst>
                <a:ext uri="{FF2B5EF4-FFF2-40B4-BE49-F238E27FC236}">
                  <a16:creationId xmlns:a16="http://schemas.microsoft.com/office/drawing/2014/main" id="{FC9C55DE-5F67-42DD-9825-FAAB496A2049}"/>
                </a:ext>
              </a:extLst>
            </p:cNvPr>
            <p:cNvSpPr/>
            <p:nvPr/>
          </p:nvSpPr>
          <p:spPr bwMode="gray">
            <a:xfrm>
              <a:off x="4488771" y="1723246"/>
              <a:ext cx="488823" cy="488823"/>
            </a:xfrm>
            <a:prstGeom prst="ellips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7" name="Freeform 783">
              <a:extLst>
                <a:ext uri="{FF2B5EF4-FFF2-40B4-BE49-F238E27FC236}">
                  <a16:creationId xmlns:a16="http://schemas.microsoft.com/office/drawing/2014/main" id="{8DCB21FE-3F48-4E00-924E-9A187D92400C}"/>
                </a:ext>
              </a:extLst>
            </p:cNvPr>
            <p:cNvSpPr>
              <a:spLocks noEditPoints="1"/>
            </p:cNvSpPr>
            <p:nvPr/>
          </p:nvSpPr>
          <p:spPr bwMode="auto">
            <a:xfrm>
              <a:off x="4547433" y="1772722"/>
              <a:ext cx="382385" cy="38238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6 w 512"/>
                <a:gd name="T11" fmla="*/ 266 h 512"/>
                <a:gd name="T12" fmla="*/ 405 w 512"/>
                <a:gd name="T13" fmla="*/ 277 h 512"/>
                <a:gd name="T14" fmla="*/ 394 w 512"/>
                <a:gd name="T15" fmla="*/ 277 h 512"/>
                <a:gd name="T16" fmla="*/ 394 w 512"/>
                <a:gd name="T17" fmla="*/ 373 h 512"/>
                <a:gd name="T18" fmla="*/ 384 w 512"/>
                <a:gd name="T19" fmla="*/ 384 h 512"/>
                <a:gd name="T20" fmla="*/ 128 w 512"/>
                <a:gd name="T21" fmla="*/ 384 h 512"/>
                <a:gd name="T22" fmla="*/ 117 w 512"/>
                <a:gd name="T23" fmla="*/ 373 h 512"/>
                <a:gd name="T24" fmla="*/ 117 w 512"/>
                <a:gd name="T25" fmla="*/ 277 h 512"/>
                <a:gd name="T26" fmla="*/ 106 w 512"/>
                <a:gd name="T27" fmla="*/ 277 h 512"/>
                <a:gd name="T28" fmla="*/ 96 w 512"/>
                <a:gd name="T29" fmla="*/ 266 h 512"/>
                <a:gd name="T30" fmla="*/ 96 w 512"/>
                <a:gd name="T31" fmla="*/ 160 h 512"/>
                <a:gd name="T32" fmla="*/ 106 w 512"/>
                <a:gd name="T33" fmla="*/ 149 h 512"/>
                <a:gd name="T34" fmla="*/ 202 w 512"/>
                <a:gd name="T35" fmla="*/ 149 h 512"/>
                <a:gd name="T36" fmla="*/ 202 w 512"/>
                <a:gd name="T37" fmla="*/ 117 h 512"/>
                <a:gd name="T38" fmla="*/ 213 w 512"/>
                <a:gd name="T39" fmla="*/ 106 h 512"/>
                <a:gd name="T40" fmla="*/ 298 w 512"/>
                <a:gd name="T41" fmla="*/ 106 h 512"/>
                <a:gd name="T42" fmla="*/ 309 w 512"/>
                <a:gd name="T43" fmla="*/ 117 h 512"/>
                <a:gd name="T44" fmla="*/ 309 w 512"/>
                <a:gd name="T45" fmla="*/ 149 h 512"/>
                <a:gd name="T46" fmla="*/ 405 w 512"/>
                <a:gd name="T47" fmla="*/ 149 h 512"/>
                <a:gd name="T48" fmla="*/ 416 w 512"/>
                <a:gd name="T49" fmla="*/ 160 h 512"/>
                <a:gd name="T50" fmla="*/ 416 w 512"/>
                <a:gd name="T51" fmla="*/ 266 h 512"/>
                <a:gd name="T52" fmla="*/ 330 w 512"/>
                <a:gd name="T53" fmla="*/ 277 h 512"/>
                <a:gd name="T54" fmla="*/ 373 w 512"/>
                <a:gd name="T55" fmla="*/ 277 h 512"/>
                <a:gd name="T56" fmla="*/ 373 w 512"/>
                <a:gd name="T57" fmla="*/ 362 h 512"/>
                <a:gd name="T58" fmla="*/ 138 w 512"/>
                <a:gd name="T59" fmla="*/ 362 h 512"/>
                <a:gd name="T60" fmla="*/ 138 w 512"/>
                <a:gd name="T61" fmla="*/ 277 h 512"/>
                <a:gd name="T62" fmla="*/ 181 w 512"/>
                <a:gd name="T63" fmla="*/ 277 h 512"/>
                <a:gd name="T64" fmla="*/ 181 w 512"/>
                <a:gd name="T65" fmla="*/ 288 h 512"/>
                <a:gd name="T66" fmla="*/ 192 w 512"/>
                <a:gd name="T67" fmla="*/ 298 h 512"/>
                <a:gd name="T68" fmla="*/ 202 w 512"/>
                <a:gd name="T69" fmla="*/ 288 h 512"/>
                <a:gd name="T70" fmla="*/ 202 w 512"/>
                <a:gd name="T71" fmla="*/ 277 h 512"/>
                <a:gd name="T72" fmla="*/ 309 w 512"/>
                <a:gd name="T73" fmla="*/ 277 h 512"/>
                <a:gd name="T74" fmla="*/ 309 w 512"/>
                <a:gd name="T75" fmla="*/ 288 h 512"/>
                <a:gd name="T76" fmla="*/ 320 w 512"/>
                <a:gd name="T77" fmla="*/ 298 h 512"/>
                <a:gd name="T78" fmla="*/ 330 w 512"/>
                <a:gd name="T79" fmla="*/ 288 h 512"/>
                <a:gd name="T80" fmla="*/ 330 w 512"/>
                <a:gd name="T81" fmla="*/ 277 h 512"/>
                <a:gd name="T82" fmla="*/ 288 w 512"/>
                <a:gd name="T83" fmla="*/ 149 h 512"/>
                <a:gd name="T84" fmla="*/ 224 w 512"/>
                <a:gd name="T85" fmla="*/ 149 h 512"/>
                <a:gd name="T86" fmla="*/ 224 w 512"/>
                <a:gd name="T87" fmla="*/ 128 h 512"/>
                <a:gd name="T88" fmla="*/ 288 w 512"/>
                <a:gd name="T89" fmla="*/ 128 h 512"/>
                <a:gd name="T90" fmla="*/ 288 w 512"/>
                <a:gd name="T91" fmla="*/ 149 h 512"/>
                <a:gd name="T92" fmla="*/ 117 w 512"/>
                <a:gd name="T93" fmla="*/ 170 h 512"/>
                <a:gd name="T94" fmla="*/ 394 w 512"/>
                <a:gd name="T95" fmla="*/ 170 h 512"/>
                <a:gd name="T96" fmla="*/ 394 w 512"/>
                <a:gd name="T97" fmla="*/ 256 h 512"/>
                <a:gd name="T98" fmla="*/ 330 w 512"/>
                <a:gd name="T99" fmla="*/ 256 h 512"/>
                <a:gd name="T100" fmla="*/ 330 w 512"/>
                <a:gd name="T101" fmla="*/ 245 h 512"/>
                <a:gd name="T102" fmla="*/ 320 w 512"/>
                <a:gd name="T103" fmla="*/ 234 h 512"/>
                <a:gd name="T104" fmla="*/ 309 w 512"/>
                <a:gd name="T105" fmla="*/ 245 h 512"/>
                <a:gd name="T106" fmla="*/ 309 w 512"/>
                <a:gd name="T107" fmla="*/ 256 h 512"/>
                <a:gd name="T108" fmla="*/ 202 w 512"/>
                <a:gd name="T109" fmla="*/ 256 h 512"/>
                <a:gd name="T110" fmla="*/ 202 w 512"/>
                <a:gd name="T111" fmla="*/ 245 h 512"/>
                <a:gd name="T112" fmla="*/ 192 w 512"/>
                <a:gd name="T113" fmla="*/ 234 h 512"/>
                <a:gd name="T114" fmla="*/ 181 w 512"/>
                <a:gd name="T115" fmla="*/ 245 h 512"/>
                <a:gd name="T116" fmla="*/ 181 w 512"/>
                <a:gd name="T117" fmla="*/ 256 h 512"/>
                <a:gd name="T118" fmla="*/ 117 w 512"/>
                <a:gd name="T119" fmla="*/ 256 h 512"/>
                <a:gd name="T120" fmla="*/ 117 w 512"/>
                <a:gd name="T12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266"/>
                  </a:moveTo>
                  <a:cubicBezTo>
                    <a:pt x="416" y="272"/>
                    <a:pt x="411" y="277"/>
                    <a:pt x="405" y="277"/>
                  </a:cubicBezTo>
                  <a:cubicBezTo>
                    <a:pt x="394" y="277"/>
                    <a:pt x="394" y="277"/>
                    <a:pt x="394" y="277"/>
                  </a:cubicBezTo>
                  <a:cubicBezTo>
                    <a:pt x="394" y="373"/>
                    <a:pt x="394" y="373"/>
                    <a:pt x="394" y="373"/>
                  </a:cubicBezTo>
                  <a:cubicBezTo>
                    <a:pt x="394" y="379"/>
                    <a:pt x="390" y="384"/>
                    <a:pt x="384" y="384"/>
                  </a:cubicBezTo>
                  <a:cubicBezTo>
                    <a:pt x="128" y="384"/>
                    <a:pt x="128" y="384"/>
                    <a:pt x="128" y="384"/>
                  </a:cubicBezTo>
                  <a:cubicBezTo>
                    <a:pt x="122" y="384"/>
                    <a:pt x="117" y="379"/>
                    <a:pt x="117" y="373"/>
                  </a:cubicBezTo>
                  <a:cubicBezTo>
                    <a:pt x="117" y="277"/>
                    <a:pt x="117" y="277"/>
                    <a:pt x="117" y="277"/>
                  </a:cubicBezTo>
                  <a:cubicBezTo>
                    <a:pt x="106" y="277"/>
                    <a:pt x="106" y="277"/>
                    <a:pt x="106" y="277"/>
                  </a:cubicBezTo>
                  <a:cubicBezTo>
                    <a:pt x="100" y="277"/>
                    <a:pt x="96" y="272"/>
                    <a:pt x="96" y="266"/>
                  </a:cubicBezTo>
                  <a:cubicBezTo>
                    <a:pt x="96" y="160"/>
                    <a:pt x="96" y="160"/>
                    <a:pt x="96" y="160"/>
                  </a:cubicBezTo>
                  <a:cubicBezTo>
                    <a:pt x="96" y="154"/>
                    <a:pt x="100" y="149"/>
                    <a:pt x="106" y="149"/>
                  </a:cubicBezTo>
                  <a:cubicBezTo>
                    <a:pt x="202" y="149"/>
                    <a:pt x="202" y="149"/>
                    <a:pt x="202" y="149"/>
                  </a:cubicBezTo>
                  <a:cubicBezTo>
                    <a:pt x="202" y="117"/>
                    <a:pt x="202" y="117"/>
                    <a:pt x="202" y="117"/>
                  </a:cubicBezTo>
                  <a:cubicBezTo>
                    <a:pt x="202" y="111"/>
                    <a:pt x="207" y="106"/>
                    <a:pt x="213" y="106"/>
                  </a:cubicBezTo>
                  <a:cubicBezTo>
                    <a:pt x="298" y="106"/>
                    <a:pt x="298" y="106"/>
                    <a:pt x="298" y="106"/>
                  </a:cubicBezTo>
                  <a:cubicBezTo>
                    <a:pt x="304" y="106"/>
                    <a:pt x="309" y="111"/>
                    <a:pt x="309" y="117"/>
                  </a:cubicBezTo>
                  <a:cubicBezTo>
                    <a:pt x="309" y="149"/>
                    <a:pt x="309" y="149"/>
                    <a:pt x="309" y="149"/>
                  </a:cubicBezTo>
                  <a:cubicBezTo>
                    <a:pt x="405" y="149"/>
                    <a:pt x="405" y="149"/>
                    <a:pt x="405" y="149"/>
                  </a:cubicBezTo>
                  <a:cubicBezTo>
                    <a:pt x="411" y="149"/>
                    <a:pt x="416" y="154"/>
                    <a:pt x="416" y="160"/>
                  </a:cubicBezTo>
                  <a:lnTo>
                    <a:pt x="416" y="266"/>
                  </a:lnTo>
                  <a:close/>
                  <a:moveTo>
                    <a:pt x="330" y="277"/>
                  </a:moveTo>
                  <a:cubicBezTo>
                    <a:pt x="373" y="277"/>
                    <a:pt x="373" y="277"/>
                    <a:pt x="373" y="277"/>
                  </a:cubicBezTo>
                  <a:cubicBezTo>
                    <a:pt x="373" y="362"/>
                    <a:pt x="373" y="362"/>
                    <a:pt x="373" y="362"/>
                  </a:cubicBezTo>
                  <a:cubicBezTo>
                    <a:pt x="138" y="362"/>
                    <a:pt x="138" y="362"/>
                    <a:pt x="138" y="362"/>
                  </a:cubicBezTo>
                  <a:cubicBezTo>
                    <a:pt x="138" y="277"/>
                    <a:pt x="138" y="277"/>
                    <a:pt x="138" y="277"/>
                  </a:cubicBezTo>
                  <a:cubicBezTo>
                    <a:pt x="181" y="277"/>
                    <a:pt x="181" y="277"/>
                    <a:pt x="181" y="277"/>
                  </a:cubicBezTo>
                  <a:cubicBezTo>
                    <a:pt x="181" y="288"/>
                    <a:pt x="181" y="288"/>
                    <a:pt x="181" y="288"/>
                  </a:cubicBezTo>
                  <a:cubicBezTo>
                    <a:pt x="181" y="294"/>
                    <a:pt x="186" y="298"/>
                    <a:pt x="192" y="298"/>
                  </a:cubicBezTo>
                  <a:cubicBezTo>
                    <a:pt x="198" y="298"/>
                    <a:pt x="202" y="294"/>
                    <a:pt x="202" y="288"/>
                  </a:cubicBezTo>
                  <a:cubicBezTo>
                    <a:pt x="202" y="277"/>
                    <a:pt x="202" y="277"/>
                    <a:pt x="202" y="277"/>
                  </a:cubicBezTo>
                  <a:cubicBezTo>
                    <a:pt x="309" y="277"/>
                    <a:pt x="309" y="277"/>
                    <a:pt x="309" y="277"/>
                  </a:cubicBezTo>
                  <a:cubicBezTo>
                    <a:pt x="309" y="288"/>
                    <a:pt x="309" y="288"/>
                    <a:pt x="309" y="288"/>
                  </a:cubicBezTo>
                  <a:cubicBezTo>
                    <a:pt x="309" y="294"/>
                    <a:pt x="314" y="298"/>
                    <a:pt x="320" y="298"/>
                  </a:cubicBezTo>
                  <a:cubicBezTo>
                    <a:pt x="326" y="298"/>
                    <a:pt x="330" y="294"/>
                    <a:pt x="330" y="288"/>
                  </a:cubicBezTo>
                  <a:lnTo>
                    <a:pt x="330" y="277"/>
                  </a:lnTo>
                  <a:close/>
                  <a:moveTo>
                    <a:pt x="288" y="149"/>
                  </a:moveTo>
                  <a:cubicBezTo>
                    <a:pt x="224" y="149"/>
                    <a:pt x="224" y="149"/>
                    <a:pt x="224" y="149"/>
                  </a:cubicBezTo>
                  <a:cubicBezTo>
                    <a:pt x="224" y="128"/>
                    <a:pt x="224" y="128"/>
                    <a:pt x="224" y="128"/>
                  </a:cubicBezTo>
                  <a:cubicBezTo>
                    <a:pt x="288" y="128"/>
                    <a:pt x="288" y="128"/>
                    <a:pt x="288" y="128"/>
                  </a:cubicBezTo>
                  <a:lnTo>
                    <a:pt x="288" y="149"/>
                  </a:lnTo>
                  <a:close/>
                  <a:moveTo>
                    <a:pt x="117" y="170"/>
                  </a:moveTo>
                  <a:cubicBezTo>
                    <a:pt x="394" y="170"/>
                    <a:pt x="394" y="170"/>
                    <a:pt x="394" y="170"/>
                  </a:cubicBezTo>
                  <a:cubicBezTo>
                    <a:pt x="394" y="256"/>
                    <a:pt x="394" y="256"/>
                    <a:pt x="394" y="256"/>
                  </a:cubicBezTo>
                  <a:cubicBezTo>
                    <a:pt x="330" y="256"/>
                    <a:pt x="330" y="256"/>
                    <a:pt x="330" y="256"/>
                  </a:cubicBezTo>
                  <a:cubicBezTo>
                    <a:pt x="330" y="245"/>
                    <a:pt x="330" y="245"/>
                    <a:pt x="330" y="245"/>
                  </a:cubicBezTo>
                  <a:cubicBezTo>
                    <a:pt x="330" y="239"/>
                    <a:pt x="326" y="234"/>
                    <a:pt x="320" y="234"/>
                  </a:cubicBezTo>
                  <a:cubicBezTo>
                    <a:pt x="314" y="234"/>
                    <a:pt x="309" y="239"/>
                    <a:pt x="309" y="245"/>
                  </a:cubicBezTo>
                  <a:cubicBezTo>
                    <a:pt x="309" y="256"/>
                    <a:pt x="309" y="256"/>
                    <a:pt x="309" y="256"/>
                  </a:cubicBezTo>
                  <a:cubicBezTo>
                    <a:pt x="202" y="256"/>
                    <a:pt x="202" y="256"/>
                    <a:pt x="202" y="256"/>
                  </a:cubicBezTo>
                  <a:cubicBezTo>
                    <a:pt x="202" y="245"/>
                    <a:pt x="202" y="245"/>
                    <a:pt x="202" y="245"/>
                  </a:cubicBezTo>
                  <a:cubicBezTo>
                    <a:pt x="202" y="239"/>
                    <a:pt x="198" y="234"/>
                    <a:pt x="192" y="234"/>
                  </a:cubicBezTo>
                  <a:cubicBezTo>
                    <a:pt x="186" y="234"/>
                    <a:pt x="181" y="239"/>
                    <a:pt x="181" y="245"/>
                  </a:cubicBezTo>
                  <a:cubicBezTo>
                    <a:pt x="181" y="256"/>
                    <a:pt x="181" y="256"/>
                    <a:pt x="181" y="256"/>
                  </a:cubicBezTo>
                  <a:cubicBezTo>
                    <a:pt x="117" y="256"/>
                    <a:pt x="117" y="256"/>
                    <a:pt x="117" y="256"/>
                  </a:cubicBezTo>
                  <a:lnTo>
                    <a:pt x="117" y="17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grpSp>
        <p:nvGrpSpPr>
          <p:cNvPr id="5" name="Group 4">
            <a:extLst>
              <a:ext uri="{FF2B5EF4-FFF2-40B4-BE49-F238E27FC236}">
                <a16:creationId xmlns:a16="http://schemas.microsoft.com/office/drawing/2014/main" id="{5D30B79E-FCC1-4CF1-8DFB-C12812B803CE}"/>
              </a:ext>
            </a:extLst>
          </p:cNvPr>
          <p:cNvGrpSpPr/>
          <p:nvPr/>
        </p:nvGrpSpPr>
        <p:grpSpPr>
          <a:xfrm>
            <a:off x="7231981" y="964667"/>
            <a:ext cx="4522780" cy="2616399"/>
            <a:chOff x="7178397" y="1712425"/>
            <a:chExt cx="4522780" cy="2616399"/>
          </a:xfrm>
        </p:grpSpPr>
        <p:sp>
          <p:nvSpPr>
            <p:cNvPr id="55" name="Rectangle: Top Corners Rounded 54">
              <a:extLst>
                <a:ext uri="{FF2B5EF4-FFF2-40B4-BE49-F238E27FC236}">
                  <a16:creationId xmlns:a16="http://schemas.microsoft.com/office/drawing/2014/main" id="{9711D32A-4F64-428B-9E0F-25D152FA3B84}"/>
                </a:ext>
              </a:extLst>
            </p:cNvPr>
            <p:cNvSpPr/>
            <p:nvPr/>
          </p:nvSpPr>
          <p:spPr bwMode="gray">
            <a:xfrm>
              <a:off x="7178397" y="1714500"/>
              <a:ext cx="4522780"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pPr>
                <a:buFont typeface="Wingdings 2" pitchFamily="18" charset="2"/>
                <a:buNone/>
              </a:pPr>
              <a:r>
                <a:rPr lang="da-DK" sz="1400" b="1" dirty="0">
                  <a:solidFill>
                    <a:prstClr val="white"/>
                  </a:solidFill>
                  <a:latin typeface="Verdana" panose="020B0604030504040204" pitchFamily="34" charset="0"/>
                  <a:ea typeface="Verdana" panose="020B0604030504040204" pitchFamily="34" charset="0"/>
                </a:rPr>
                <a:t>Project  Implementation</a:t>
              </a:r>
              <a:endParaRPr lang="en-GB" sz="1400" b="1" dirty="0">
                <a:solidFill>
                  <a:prstClr val="white"/>
                </a:solidFill>
                <a:latin typeface="Verdana" panose="020B0604030504040204" pitchFamily="34" charset="0"/>
                <a:ea typeface="Verdana" panose="020B0604030504040204" pitchFamily="34" charset="0"/>
              </a:endParaRPr>
            </a:p>
          </p:txBody>
        </p:sp>
        <p:sp>
          <p:nvSpPr>
            <p:cNvPr id="62" name="TextBox 61">
              <a:extLst>
                <a:ext uri="{FF2B5EF4-FFF2-40B4-BE49-F238E27FC236}">
                  <a16:creationId xmlns:a16="http://schemas.microsoft.com/office/drawing/2014/main" id="{1FB10A56-DF1F-49DF-9E61-6D19D0FE42AB}"/>
                </a:ext>
              </a:extLst>
            </p:cNvPr>
            <p:cNvSpPr txBox="1"/>
            <p:nvPr/>
          </p:nvSpPr>
          <p:spPr>
            <a:xfrm>
              <a:off x="7178397" y="2020500"/>
              <a:ext cx="4522780" cy="2308324"/>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Project Implementation under CAPEX mode is comparatively easier and better managed as the ownership of the project lies with a single entity.</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Quality of products, Technical standards of equipments, Feasibility analysis of the project is well taken care off under CAPEX projects as the responsibility of the entire project is under the ambit of a single umbrella .</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Planning , execution of project plans and timely completion of project is better streamlined under CAPEX mode.</a:t>
              </a:r>
            </a:p>
          </p:txBody>
        </p:sp>
        <p:sp>
          <p:nvSpPr>
            <p:cNvPr id="74" name="Oval 73">
              <a:extLst>
                <a:ext uri="{FF2B5EF4-FFF2-40B4-BE49-F238E27FC236}">
                  <a16:creationId xmlns:a16="http://schemas.microsoft.com/office/drawing/2014/main" id="{1382F7F3-A4AC-4811-BF5C-CCA571434C0F}"/>
                </a:ext>
              </a:extLst>
            </p:cNvPr>
            <p:cNvSpPr/>
            <p:nvPr/>
          </p:nvSpPr>
          <p:spPr bwMode="gray">
            <a:xfrm>
              <a:off x="11046010" y="1712425"/>
              <a:ext cx="488823" cy="488823"/>
            </a:xfrm>
            <a:prstGeom prst="ellipse">
              <a:avLst/>
            </a:prstGeom>
            <a:solidFill>
              <a:schemeClr val="accent2"/>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5" name="Freeform 751">
              <a:extLst>
                <a:ext uri="{FF2B5EF4-FFF2-40B4-BE49-F238E27FC236}">
                  <a16:creationId xmlns:a16="http://schemas.microsoft.com/office/drawing/2014/main" id="{96EAE4C9-6768-45FC-A15F-00BD25602B95}"/>
                </a:ext>
              </a:extLst>
            </p:cNvPr>
            <p:cNvSpPr>
              <a:spLocks noEditPoints="1"/>
            </p:cNvSpPr>
            <p:nvPr/>
          </p:nvSpPr>
          <p:spPr bwMode="auto">
            <a:xfrm>
              <a:off x="11104574" y="1761784"/>
              <a:ext cx="382385" cy="382385"/>
            </a:xfrm>
            <a:custGeom>
              <a:avLst/>
              <a:gdLst>
                <a:gd name="T0" fmla="*/ 256 w 512"/>
                <a:gd name="T1" fmla="*/ 512 h 512"/>
                <a:gd name="T2" fmla="*/ 165 w 512"/>
                <a:gd name="T3" fmla="*/ 158 h 512"/>
                <a:gd name="T4" fmla="*/ 207 w 512"/>
                <a:gd name="T5" fmla="*/ 162 h 512"/>
                <a:gd name="T6" fmla="*/ 160 w 512"/>
                <a:gd name="T7" fmla="*/ 172 h 512"/>
                <a:gd name="T8" fmla="*/ 174 w 512"/>
                <a:gd name="T9" fmla="*/ 206 h 512"/>
                <a:gd name="T10" fmla="*/ 203 w 512"/>
                <a:gd name="T11" fmla="*/ 242 h 512"/>
                <a:gd name="T12" fmla="*/ 160 w 512"/>
                <a:gd name="T13" fmla="*/ 212 h 512"/>
                <a:gd name="T14" fmla="*/ 128 w 512"/>
                <a:gd name="T15" fmla="*/ 245 h 512"/>
                <a:gd name="T16" fmla="*/ 106 w 512"/>
                <a:gd name="T17" fmla="*/ 277 h 512"/>
                <a:gd name="T18" fmla="*/ 136 w 512"/>
                <a:gd name="T19" fmla="*/ 351 h 512"/>
                <a:gd name="T20" fmla="*/ 106 w 512"/>
                <a:gd name="T21" fmla="*/ 330 h 512"/>
                <a:gd name="T22" fmla="*/ 128 w 512"/>
                <a:gd name="T23" fmla="*/ 309 h 512"/>
                <a:gd name="T24" fmla="*/ 145 w 512"/>
                <a:gd name="T25" fmla="*/ 346 h 512"/>
                <a:gd name="T26" fmla="*/ 132 w 512"/>
                <a:gd name="T27" fmla="*/ 210 h 512"/>
                <a:gd name="T28" fmla="*/ 117 w 512"/>
                <a:gd name="T29" fmla="*/ 224 h 512"/>
                <a:gd name="T30" fmla="*/ 113 w 512"/>
                <a:gd name="T31" fmla="*/ 182 h 512"/>
                <a:gd name="T32" fmla="*/ 142 w 512"/>
                <a:gd name="T33" fmla="*/ 192 h 512"/>
                <a:gd name="T34" fmla="*/ 203 w 512"/>
                <a:gd name="T35" fmla="*/ 387 h 512"/>
                <a:gd name="T36" fmla="*/ 160 w 512"/>
                <a:gd name="T37" fmla="*/ 354 h 512"/>
                <a:gd name="T38" fmla="*/ 213 w 512"/>
                <a:gd name="T39" fmla="*/ 382 h 512"/>
                <a:gd name="T40" fmla="*/ 260 w 512"/>
                <a:gd name="T41" fmla="*/ 415 h 512"/>
                <a:gd name="T42" fmla="*/ 232 w 512"/>
                <a:gd name="T43" fmla="*/ 404 h 512"/>
                <a:gd name="T44" fmla="*/ 245 w 512"/>
                <a:gd name="T45" fmla="*/ 387 h 512"/>
                <a:gd name="T46" fmla="*/ 266 w 512"/>
                <a:gd name="T47" fmla="*/ 384 h 512"/>
                <a:gd name="T48" fmla="*/ 285 w 512"/>
                <a:gd name="T49" fmla="*/ 392 h 512"/>
                <a:gd name="T50" fmla="*/ 245 w 512"/>
                <a:gd name="T51" fmla="*/ 320 h 512"/>
                <a:gd name="T52" fmla="*/ 266 w 512"/>
                <a:gd name="T53" fmla="*/ 352 h 512"/>
                <a:gd name="T54" fmla="*/ 280 w 512"/>
                <a:gd name="T55" fmla="*/ 256 h 512"/>
                <a:gd name="T56" fmla="*/ 256 w 512"/>
                <a:gd name="T57" fmla="*/ 288 h 512"/>
                <a:gd name="T58" fmla="*/ 232 w 512"/>
                <a:gd name="T59" fmla="*/ 256 h 512"/>
                <a:gd name="T60" fmla="*/ 256 w 512"/>
                <a:gd name="T61" fmla="*/ 244 h 512"/>
                <a:gd name="T62" fmla="*/ 280 w 512"/>
                <a:gd name="T63" fmla="*/ 256 h 512"/>
                <a:gd name="T64" fmla="*/ 271 w 512"/>
                <a:gd name="T65" fmla="*/ 146 h 512"/>
                <a:gd name="T66" fmla="*/ 227 w 512"/>
                <a:gd name="T67" fmla="*/ 141 h 512"/>
                <a:gd name="T68" fmla="*/ 260 w 512"/>
                <a:gd name="T69" fmla="*/ 118 h 512"/>
                <a:gd name="T70" fmla="*/ 346 w 512"/>
                <a:gd name="T71" fmla="*/ 375 h 512"/>
                <a:gd name="T72" fmla="*/ 299 w 512"/>
                <a:gd name="T73" fmla="*/ 385 h 512"/>
                <a:gd name="T74" fmla="*/ 351 w 512"/>
                <a:gd name="T75" fmla="*/ 361 h 512"/>
                <a:gd name="T76" fmla="*/ 313 w 512"/>
                <a:gd name="T77" fmla="*/ 241 h 512"/>
                <a:gd name="T78" fmla="*/ 304 w 512"/>
                <a:gd name="T79" fmla="*/ 222 h 512"/>
                <a:gd name="T80" fmla="*/ 346 w 512"/>
                <a:gd name="T81" fmla="*/ 226 h 512"/>
                <a:gd name="T82" fmla="*/ 337 w 512"/>
                <a:gd name="T83" fmla="*/ 177 h 512"/>
                <a:gd name="T84" fmla="*/ 313 w 512"/>
                <a:gd name="T85" fmla="*/ 142 h 512"/>
                <a:gd name="T86" fmla="*/ 405 w 512"/>
                <a:gd name="T87" fmla="*/ 341 h 512"/>
                <a:gd name="T88" fmla="*/ 375 w 512"/>
                <a:gd name="T89" fmla="*/ 361 h 512"/>
                <a:gd name="T90" fmla="*/ 384 w 512"/>
                <a:gd name="T91" fmla="*/ 334 h 512"/>
                <a:gd name="T92" fmla="*/ 405 w 512"/>
                <a:gd name="T93" fmla="*/ 320 h 512"/>
                <a:gd name="T94" fmla="*/ 394 w 512"/>
                <a:gd name="T95" fmla="*/ 298 h 512"/>
                <a:gd name="T96" fmla="*/ 394 w 512"/>
                <a:gd name="T97" fmla="*/ 245 h 512"/>
                <a:gd name="T98" fmla="*/ 405 w 512"/>
                <a:gd name="T99" fmla="*/ 213 h 512"/>
                <a:gd name="T100" fmla="*/ 384 w 512"/>
                <a:gd name="T101" fmla="*/ 208 h 512"/>
                <a:gd name="T102" fmla="*/ 365 w 512"/>
                <a:gd name="T103" fmla="*/ 205 h 512"/>
                <a:gd name="T104" fmla="*/ 379 w 512"/>
                <a:gd name="T105" fmla="*/ 173 h 512"/>
                <a:gd name="T106" fmla="*/ 405 w 512"/>
                <a:gd name="T107" fmla="*/ 213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65" y="158"/>
                  </a:moveTo>
                  <a:cubicBezTo>
                    <a:pt x="199" y="142"/>
                    <a:pt x="199" y="142"/>
                    <a:pt x="199" y="142"/>
                  </a:cubicBezTo>
                  <a:cubicBezTo>
                    <a:pt x="204" y="140"/>
                    <a:pt x="210" y="142"/>
                    <a:pt x="213" y="148"/>
                  </a:cubicBezTo>
                  <a:cubicBezTo>
                    <a:pt x="215" y="153"/>
                    <a:pt x="213" y="159"/>
                    <a:pt x="207" y="162"/>
                  </a:cubicBezTo>
                  <a:cubicBezTo>
                    <a:pt x="174" y="177"/>
                    <a:pt x="174" y="177"/>
                    <a:pt x="174" y="177"/>
                  </a:cubicBezTo>
                  <a:cubicBezTo>
                    <a:pt x="173" y="178"/>
                    <a:pt x="171" y="178"/>
                    <a:pt x="170" y="178"/>
                  </a:cubicBezTo>
                  <a:cubicBezTo>
                    <a:pt x="166" y="178"/>
                    <a:pt x="162" y="176"/>
                    <a:pt x="160" y="172"/>
                  </a:cubicBezTo>
                  <a:cubicBezTo>
                    <a:pt x="158" y="166"/>
                    <a:pt x="160" y="160"/>
                    <a:pt x="165" y="158"/>
                  </a:cubicBezTo>
                  <a:close/>
                  <a:moveTo>
                    <a:pt x="160" y="212"/>
                  </a:moveTo>
                  <a:cubicBezTo>
                    <a:pt x="162" y="206"/>
                    <a:pt x="169" y="204"/>
                    <a:pt x="174" y="206"/>
                  </a:cubicBezTo>
                  <a:cubicBezTo>
                    <a:pt x="207" y="222"/>
                    <a:pt x="207" y="222"/>
                    <a:pt x="207" y="222"/>
                  </a:cubicBezTo>
                  <a:cubicBezTo>
                    <a:pt x="213" y="224"/>
                    <a:pt x="215" y="230"/>
                    <a:pt x="213" y="236"/>
                  </a:cubicBezTo>
                  <a:cubicBezTo>
                    <a:pt x="211" y="240"/>
                    <a:pt x="207" y="242"/>
                    <a:pt x="203" y="242"/>
                  </a:cubicBezTo>
                  <a:cubicBezTo>
                    <a:pt x="201" y="242"/>
                    <a:pt x="200" y="242"/>
                    <a:pt x="199" y="241"/>
                  </a:cubicBezTo>
                  <a:cubicBezTo>
                    <a:pt x="165" y="226"/>
                    <a:pt x="165" y="226"/>
                    <a:pt x="165" y="226"/>
                  </a:cubicBezTo>
                  <a:cubicBezTo>
                    <a:pt x="160" y="223"/>
                    <a:pt x="158" y="217"/>
                    <a:pt x="160" y="212"/>
                  </a:cubicBezTo>
                  <a:close/>
                  <a:moveTo>
                    <a:pt x="106" y="245"/>
                  </a:moveTo>
                  <a:cubicBezTo>
                    <a:pt x="106" y="239"/>
                    <a:pt x="111" y="234"/>
                    <a:pt x="117" y="234"/>
                  </a:cubicBezTo>
                  <a:cubicBezTo>
                    <a:pt x="123" y="234"/>
                    <a:pt x="128" y="239"/>
                    <a:pt x="128" y="245"/>
                  </a:cubicBezTo>
                  <a:cubicBezTo>
                    <a:pt x="128" y="277"/>
                    <a:pt x="128" y="277"/>
                    <a:pt x="128" y="277"/>
                  </a:cubicBezTo>
                  <a:cubicBezTo>
                    <a:pt x="128" y="283"/>
                    <a:pt x="123" y="288"/>
                    <a:pt x="117" y="288"/>
                  </a:cubicBezTo>
                  <a:cubicBezTo>
                    <a:pt x="111" y="288"/>
                    <a:pt x="106" y="283"/>
                    <a:pt x="106" y="277"/>
                  </a:cubicBezTo>
                  <a:lnTo>
                    <a:pt x="106" y="245"/>
                  </a:lnTo>
                  <a:close/>
                  <a:moveTo>
                    <a:pt x="145" y="346"/>
                  </a:moveTo>
                  <a:cubicBezTo>
                    <a:pt x="143" y="349"/>
                    <a:pt x="140" y="351"/>
                    <a:pt x="136" y="351"/>
                  </a:cubicBezTo>
                  <a:cubicBezTo>
                    <a:pt x="134" y="351"/>
                    <a:pt x="132" y="351"/>
                    <a:pt x="131" y="350"/>
                  </a:cubicBezTo>
                  <a:cubicBezTo>
                    <a:pt x="112" y="340"/>
                    <a:pt x="112" y="340"/>
                    <a:pt x="112" y="340"/>
                  </a:cubicBezTo>
                  <a:cubicBezTo>
                    <a:pt x="108" y="338"/>
                    <a:pt x="106" y="334"/>
                    <a:pt x="106" y="330"/>
                  </a:cubicBezTo>
                  <a:cubicBezTo>
                    <a:pt x="106" y="309"/>
                    <a:pt x="106" y="309"/>
                    <a:pt x="106" y="309"/>
                  </a:cubicBezTo>
                  <a:cubicBezTo>
                    <a:pt x="106" y="303"/>
                    <a:pt x="111" y="298"/>
                    <a:pt x="117" y="298"/>
                  </a:cubicBezTo>
                  <a:cubicBezTo>
                    <a:pt x="123" y="298"/>
                    <a:pt x="128" y="303"/>
                    <a:pt x="128" y="309"/>
                  </a:cubicBezTo>
                  <a:cubicBezTo>
                    <a:pt x="128" y="324"/>
                    <a:pt x="128" y="324"/>
                    <a:pt x="128" y="324"/>
                  </a:cubicBezTo>
                  <a:cubicBezTo>
                    <a:pt x="141" y="331"/>
                    <a:pt x="141" y="331"/>
                    <a:pt x="141" y="331"/>
                  </a:cubicBezTo>
                  <a:cubicBezTo>
                    <a:pt x="146" y="334"/>
                    <a:pt x="148" y="340"/>
                    <a:pt x="145" y="346"/>
                  </a:cubicBezTo>
                  <a:close/>
                  <a:moveTo>
                    <a:pt x="146" y="205"/>
                  </a:moveTo>
                  <a:cubicBezTo>
                    <a:pt x="144" y="209"/>
                    <a:pt x="140" y="211"/>
                    <a:pt x="136" y="211"/>
                  </a:cubicBezTo>
                  <a:cubicBezTo>
                    <a:pt x="135" y="211"/>
                    <a:pt x="133" y="211"/>
                    <a:pt x="132" y="210"/>
                  </a:cubicBezTo>
                  <a:cubicBezTo>
                    <a:pt x="128" y="208"/>
                    <a:pt x="128" y="208"/>
                    <a:pt x="128" y="208"/>
                  </a:cubicBezTo>
                  <a:cubicBezTo>
                    <a:pt x="128" y="213"/>
                    <a:pt x="128" y="213"/>
                    <a:pt x="128" y="213"/>
                  </a:cubicBezTo>
                  <a:cubicBezTo>
                    <a:pt x="128" y="219"/>
                    <a:pt x="123" y="224"/>
                    <a:pt x="117" y="224"/>
                  </a:cubicBezTo>
                  <a:cubicBezTo>
                    <a:pt x="111" y="224"/>
                    <a:pt x="106" y="219"/>
                    <a:pt x="106" y="213"/>
                  </a:cubicBezTo>
                  <a:cubicBezTo>
                    <a:pt x="106" y="192"/>
                    <a:pt x="106" y="192"/>
                    <a:pt x="106" y="192"/>
                  </a:cubicBezTo>
                  <a:cubicBezTo>
                    <a:pt x="106" y="188"/>
                    <a:pt x="109" y="184"/>
                    <a:pt x="113" y="182"/>
                  </a:cubicBezTo>
                  <a:cubicBezTo>
                    <a:pt x="132" y="173"/>
                    <a:pt x="132" y="173"/>
                    <a:pt x="132" y="173"/>
                  </a:cubicBezTo>
                  <a:cubicBezTo>
                    <a:pt x="137" y="171"/>
                    <a:pt x="144" y="173"/>
                    <a:pt x="146" y="178"/>
                  </a:cubicBezTo>
                  <a:cubicBezTo>
                    <a:pt x="148" y="183"/>
                    <a:pt x="147" y="189"/>
                    <a:pt x="142" y="192"/>
                  </a:cubicBezTo>
                  <a:cubicBezTo>
                    <a:pt x="147" y="195"/>
                    <a:pt x="148" y="200"/>
                    <a:pt x="146" y="205"/>
                  </a:cubicBezTo>
                  <a:close/>
                  <a:moveTo>
                    <a:pt x="213" y="382"/>
                  </a:moveTo>
                  <a:cubicBezTo>
                    <a:pt x="211" y="385"/>
                    <a:pt x="207" y="387"/>
                    <a:pt x="203" y="387"/>
                  </a:cubicBezTo>
                  <a:cubicBezTo>
                    <a:pt x="201" y="387"/>
                    <a:pt x="200" y="387"/>
                    <a:pt x="198" y="386"/>
                  </a:cubicBezTo>
                  <a:cubicBezTo>
                    <a:pt x="164" y="368"/>
                    <a:pt x="164" y="368"/>
                    <a:pt x="164" y="368"/>
                  </a:cubicBezTo>
                  <a:cubicBezTo>
                    <a:pt x="159" y="365"/>
                    <a:pt x="157" y="359"/>
                    <a:pt x="160" y="354"/>
                  </a:cubicBezTo>
                  <a:cubicBezTo>
                    <a:pt x="163" y="348"/>
                    <a:pt x="169" y="346"/>
                    <a:pt x="175" y="349"/>
                  </a:cubicBezTo>
                  <a:cubicBezTo>
                    <a:pt x="208" y="367"/>
                    <a:pt x="208" y="367"/>
                    <a:pt x="208" y="367"/>
                  </a:cubicBezTo>
                  <a:cubicBezTo>
                    <a:pt x="213" y="370"/>
                    <a:pt x="215" y="377"/>
                    <a:pt x="213" y="382"/>
                  </a:cubicBezTo>
                  <a:close/>
                  <a:moveTo>
                    <a:pt x="280" y="406"/>
                  </a:moveTo>
                  <a:cubicBezTo>
                    <a:pt x="260" y="415"/>
                    <a:pt x="260" y="415"/>
                    <a:pt x="260" y="415"/>
                  </a:cubicBezTo>
                  <a:cubicBezTo>
                    <a:pt x="260" y="415"/>
                    <a:pt x="260" y="415"/>
                    <a:pt x="260" y="415"/>
                  </a:cubicBezTo>
                  <a:cubicBezTo>
                    <a:pt x="259" y="415"/>
                    <a:pt x="257" y="416"/>
                    <a:pt x="256" y="416"/>
                  </a:cubicBezTo>
                  <a:cubicBezTo>
                    <a:pt x="254" y="416"/>
                    <a:pt x="252" y="415"/>
                    <a:pt x="251" y="414"/>
                  </a:cubicBezTo>
                  <a:cubicBezTo>
                    <a:pt x="232" y="404"/>
                    <a:pt x="232" y="404"/>
                    <a:pt x="232" y="404"/>
                  </a:cubicBezTo>
                  <a:cubicBezTo>
                    <a:pt x="227" y="401"/>
                    <a:pt x="225" y="395"/>
                    <a:pt x="227" y="390"/>
                  </a:cubicBezTo>
                  <a:cubicBezTo>
                    <a:pt x="230" y="385"/>
                    <a:pt x="237" y="383"/>
                    <a:pt x="242" y="385"/>
                  </a:cubicBezTo>
                  <a:cubicBezTo>
                    <a:pt x="245" y="387"/>
                    <a:pt x="245" y="387"/>
                    <a:pt x="245" y="387"/>
                  </a:cubicBezTo>
                  <a:cubicBezTo>
                    <a:pt x="245" y="384"/>
                    <a:pt x="245" y="384"/>
                    <a:pt x="245" y="384"/>
                  </a:cubicBezTo>
                  <a:cubicBezTo>
                    <a:pt x="245" y="378"/>
                    <a:pt x="250" y="373"/>
                    <a:pt x="256" y="373"/>
                  </a:cubicBezTo>
                  <a:cubicBezTo>
                    <a:pt x="262" y="373"/>
                    <a:pt x="266" y="378"/>
                    <a:pt x="266" y="384"/>
                  </a:cubicBezTo>
                  <a:cubicBezTo>
                    <a:pt x="266" y="388"/>
                    <a:pt x="266" y="388"/>
                    <a:pt x="266" y="388"/>
                  </a:cubicBezTo>
                  <a:cubicBezTo>
                    <a:pt x="271" y="386"/>
                    <a:pt x="271" y="386"/>
                    <a:pt x="271" y="386"/>
                  </a:cubicBezTo>
                  <a:cubicBezTo>
                    <a:pt x="276" y="384"/>
                    <a:pt x="282" y="386"/>
                    <a:pt x="285" y="392"/>
                  </a:cubicBezTo>
                  <a:cubicBezTo>
                    <a:pt x="287" y="397"/>
                    <a:pt x="285" y="403"/>
                    <a:pt x="280" y="406"/>
                  </a:cubicBezTo>
                  <a:close/>
                  <a:moveTo>
                    <a:pt x="245" y="352"/>
                  </a:moveTo>
                  <a:cubicBezTo>
                    <a:pt x="245" y="320"/>
                    <a:pt x="245" y="320"/>
                    <a:pt x="245" y="320"/>
                  </a:cubicBezTo>
                  <a:cubicBezTo>
                    <a:pt x="245" y="314"/>
                    <a:pt x="250" y="309"/>
                    <a:pt x="256" y="309"/>
                  </a:cubicBezTo>
                  <a:cubicBezTo>
                    <a:pt x="262" y="309"/>
                    <a:pt x="266" y="314"/>
                    <a:pt x="266" y="320"/>
                  </a:cubicBezTo>
                  <a:cubicBezTo>
                    <a:pt x="266" y="352"/>
                    <a:pt x="266" y="352"/>
                    <a:pt x="266" y="352"/>
                  </a:cubicBezTo>
                  <a:cubicBezTo>
                    <a:pt x="266" y="358"/>
                    <a:pt x="262" y="362"/>
                    <a:pt x="256" y="362"/>
                  </a:cubicBezTo>
                  <a:cubicBezTo>
                    <a:pt x="250" y="362"/>
                    <a:pt x="245" y="358"/>
                    <a:pt x="245" y="352"/>
                  </a:cubicBezTo>
                  <a:close/>
                  <a:moveTo>
                    <a:pt x="280" y="256"/>
                  </a:moveTo>
                  <a:cubicBezTo>
                    <a:pt x="266" y="262"/>
                    <a:pt x="266" y="262"/>
                    <a:pt x="266" y="262"/>
                  </a:cubicBezTo>
                  <a:cubicBezTo>
                    <a:pt x="266" y="277"/>
                    <a:pt x="266" y="277"/>
                    <a:pt x="266" y="277"/>
                  </a:cubicBezTo>
                  <a:cubicBezTo>
                    <a:pt x="266" y="283"/>
                    <a:pt x="262" y="288"/>
                    <a:pt x="256" y="288"/>
                  </a:cubicBezTo>
                  <a:cubicBezTo>
                    <a:pt x="250" y="288"/>
                    <a:pt x="245" y="283"/>
                    <a:pt x="245" y="277"/>
                  </a:cubicBezTo>
                  <a:cubicBezTo>
                    <a:pt x="245" y="262"/>
                    <a:pt x="245" y="262"/>
                    <a:pt x="245" y="262"/>
                  </a:cubicBezTo>
                  <a:cubicBezTo>
                    <a:pt x="232" y="256"/>
                    <a:pt x="232" y="256"/>
                    <a:pt x="232" y="256"/>
                  </a:cubicBezTo>
                  <a:cubicBezTo>
                    <a:pt x="226" y="254"/>
                    <a:pt x="224" y="248"/>
                    <a:pt x="227" y="242"/>
                  </a:cubicBezTo>
                  <a:cubicBezTo>
                    <a:pt x="229" y="237"/>
                    <a:pt x="235" y="235"/>
                    <a:pt x="241" y="237"/>
                  </a:cubicBezTo>
                  <a:cubicBezTo>
                    <a:pt x="256" y="244"/>
                    <a:pt x="256" y="244"/>
                    <a:pt x="256" y="244"/>
                  </a:cubicBezTo>
                  <a:cubicBezTo>
                    <a:pt x="271" y="237"/>
                    <a:pt x="271" y="237"/>
                    <a:pt x="271" y="237"/>
                  </a:cubicBezTo>
                  <a:cubicBezTo>
                    <a:pt x="276" y="235"/>
                    <a:pt x="282" y="237"/>
                    <a:pt x="285" y="242"/>
                  </a:cubicBezTo>
                  <a:cubicBezTo>
                    <a:pt x="287" y="248"/>
                    <a:pt x="285" y="254"/>
                    <a:pt x="280" y="256"/>
                  </a:cubicBezTo>
                  <a:close/>
                  <a:moveTo>
                    <a:pt x="285" y="141"/>
                  </a:moveTo>
                  <a:cubicBezTo>
                    <a:pt x="283" y="145"/>
                    <a:pt x="279" y="147"/>
                    <a:pt x="275" y="147"/>
                  </a:cubicBezTo>
                  <a:cubicBezTo>
                    <a:pt x="274" y="147"/>
                    <a:pt x="272" y="147"/>
                    <a:pt x="271" y="146"/>
                  </a:cubicBezTo>
                  <a:cubicBezTo>
                    <a:pt x="256" y="139"/>
                    <a:pt x="256" y="139"/>
                    <a:pt x="256" y="139"/>
                  </a:cubicBezTo>
                  <a:cubicBezTo>
                    <a:pt x="241" y="146"/>
                    <a:pt x="241" y="146"/>
                    <a:pt x="241" y="146"/>
                  </a:cubicBezTo>
                  <a:cubicBezTo>
                    <a:pt x="235" y="149"/>
                    <a:pt x="229" y="146"/>
                    <a:pt x="227" y="141"/>
                  </a:cubicBezTo>
                  <a:cubicBezTo>
                    <a:pt x="224" y="136"/>
                    <a:pt x="226" y="129"/>
                    <a:pt x="232" y="127"/>
                  </a:cubicBezTo>
                  <a:cubicBezTo>
                    <a:pt x="251" y="118"/>
                    <a:pt x="251" y="118"/>
                    <a:pt x="251" y="118"/>
                  </a:cubicBezTo>
                  <a:cubicBezTo>
                    <a:pt x="254" y="117"/>
                    <a:pt x="257" y="117"/>
                    <a:pt x="260" y="118"/>
                  </a:cubicBezTo>
                  <a:cubicBezTo>
                    <a:pt x="280" y="127"/>
                    <a:pt x="280" y="127"/>
                    <a:pt x="280" y="127"/>
                  </a:cubicBezTo>
                  <a:cubicBezTo>
                    <a:pt x="285" y="129"/>
                    <a:pt x="287" y="136"/>
                    <a:pt x="285" y="141"/>
                  </a:cubicBezTo>
                  <a:close/>
                  <a:moveTo>
                    <a:pt x="346" y="375"/>
                  </a:moveTo>
                  <a:cubicBezTo>
                    <a:pt x="313" y="390"/>
                    <a:pt x="313" y="390"/>
                    <a:pt x="313" y="390"/>
                  </a:cubicBezTo>
                  <a:cubicBezTo>
                    <a:pt x="311" y="391"/>
                    <a:pt x="310" y="391"/>
                    <a:pt x="308" y="391"/>
                  </a:cubicBezTo>
                  <a:cubicBezTo>
                    <a:pt x="304" y="391"/>
                    <a:pt x="300" y="389"/>
                    <a:pt x="299" y="385"/>
                  </a:cubicBezTo>
                  <a:cubicBezTo>
                    <a:pt x="296" y="380"/>
                    <a:pt x="299" y="373"/>
                    <a:pt x="304" y="371"/>
                  </a:cubicBezTo>
                  <a:cubicBezTo>
                    <a:pt x="337" y="356"/>
                    <a:pt x="337" y="356"/>
                    <a:pt x="337" y="356"/>
                  </a:cubicBezTo>
                  <a:cubicBezTo>
                    <a:pt x="343" y="353"/>
                    <a:pt x="349" y="355"/>
                    <a:pt x="351" y="361"/>
                  </a:cubicBezTo>
                  <a:cubicBezTo>
                    <a:pt x="354" y="366"/>
                    <a:pt x="351" y="373"/>
                    <a:pt x="346" y="375"/>
                  </a:cubicBezTo>
                  <a:close/>
                  <a:moveTo>
                    <a:pt x="346" y="226"/>
                  </a:moveTo>
                  <a:cubicBezTo>
                    <a:pt x="313" y="241"/>
                    <a:pt x="313" y="241"/>
                    <a:pt x="313" y="241"/>
                  </a:cubicBezTo>
                  <a:cubicBezTo>
                    <a:pt x="311" y="242"/>
                    <a:pt x="310" y="242"/>
                    <a:pt x="308" y="242"/>
                  </a:cubicBezTo>
                  <a:cubicBezTo>
                    <a:pt x="304" y="242"/>
                    <a:pt x="300" y="240"/>
                    <a:pt x="299" y="236"/>
                  </a:cubicBezTo>
                  <a:cubicBezTo>
                    <a:pt x="296" y="230"/>
                    <a:pt x="299" y="224"/>
                    <a:pt x="304" y="222"/>
                  </a:cubicBezTo>
                  <a:cubicBezTo>
                    <a:pt x="337" y="206"/>
                    <a:pt x="337" y="206"/>
                    <a:pt x="337" y="206"/>
                  </a:cubicBezTo>
                  <a:cubicBezTo>
                    <a:pt x="343" y="204"/>
                    <a:pt x="349" y="206"/>
                    <a:pt x="351" y="212"/>
                  </a:cubicBezTo>
                  <a:cubicBezTo>
                    <a:pt x="354" y="217"/>
                    <a:pt x="351" y="223"/>
                    <a:pt x="346" y="226"/>
                  </a:cubicBezTo>
                  <a:close/>
                  <a:moveTo>
                    <a:pt x="351" y="172"/>
                  </a:moveTo>
                  <a:cubicBezTo>
                    <a:pt x="350" y="176"/>
                    <a:pt x="346" y="178"/>
                    <a:pt x="342" y="178"/>
                  </a:cubicBezTo>
                  <a:cubicBezTo>
                    <a:pt x="340" y="178"/>
                    <a:pt x="339" y="178"/>
                    <a:pt x="337" y="177"/>
                  </a:cubicBezTo>
                  <a:cubicBezTo>
                    <a:pt x="304" y="162"/>
                    <a:pt x="304" y="162"/>
                    <a:pt x="304" y="162"/>
                  </a:cubicBezTo>
                  <a:cubicBezTo>
                    <a:pt x="299" y="159"/>
                    <a:pt x="296" y="153"/>
                    <a:pt x="299" y="148"/>
                  </a:cubicBezTo>
                  <a:cubicBezTo>
                    <a:pt x="301" y="142"/>
                    <a:pt x="307" y="140"/>
                    <a:pt x="313" y="142"/>
                  </a:cubicBezTo>
                  <a:cubicBezTo>
                    <a:pt x="346" y="158"/>
                    <a:pt x="346" y="158"/>
                    <a:pt x="346" y="158"/>
                  </a:cubicBezTo>
                  <a:cubicBezTo>
                    <a:pt x="351" y="160"/>
                    <a:pt x="354" y="166"/>
                    <a:pt x="351" y="172"/>
                  </a:cubicBezTo>
                  <a:close/>
                  <a:moveTo>
                    <a:pt x="405" y="341"/>
                  </a:moveTo>
                  <a:cubicBezTo>
                    <a:pt x="405" y="345"/>
                    <a:pt x="403" y="349"/>
                    <a:pt x="399" y="351"/>
                  </a:cubicBezTo>
                  <a:cubicBezTo>
                    <a:pt x="379" y="360"/>
                    <a:pt x="379" y="360"/>
                    <a:pt x="379" y="360"/>
                  </a:cubicBezTo>
                  <a:cubicBezTo>
                    <a:pt x="378" y="360"/>
                    <a:pt x="376" y="361"/>
                    <a:pt x="375" y="361"/>
                  </a:cubicBezTo>
                  <a:cubicBezTo>
                    <a:pt x="371" y="361"/>
                    <a:pt x="367" y="358"/>
                    <a:pt x="365" y="354"/>
                  </a:cubicBezTo>
                  <a:cubicBezTo>
                    <a:pt x="363" y="349"/>
                    <a:pt x="365" y="343"/>
                    <a:pt x="370" y="340"/>
                  </a:cubicBezTo>
                  <a:cubicBezTo>
                    <a:pt x="384" y="334"/>
                    <a:pt x="384" y="334"/>
                    <a:pt x="384" y="334"/>
                  </a:cubicBezTo>
                  <a:cubicBezTo>
                    <a:pt x="384" y="320"/>
                    <a:pt x="384" y="320"/>
                    <a:pt x="384" y="320"/>
                  </a:cubicBezTo>
                  <a:cubicBezTo>
                    <a:pt x="384" y="314"/>
                    <a:pt x="388" y="309"/>
                    <a:pt x="394" y="309"/>
                  </a:cubicBezTo>
                  <a:cubicBezTo>
                    <a:pt x="400" y="309"/>
                    <a:pt x="405" y="314"/>
                    <a:pt x="405" y="320"/>
                  </a:cubicBezTo>
                  <a:lnTo>
                    <a:pt x="405" y="341"/>
                  </a:lnTo>
                  <a:close/>
                  <a:moveTo>
                    <a:pt x="405" y="288"/>
                  </a:moveTo>
                  <a:cubicBezTo>
                    <a:pt x="405" y="294"/>
                    <a:pt x="400" y="298"/>
                    <a:pt x="394" y="298"/>
                  </a:cubicBezTo>
                  <a:cubicBezTo>
                    <a:pt x="388" y="298"/>
                    <a:pt x="384" y="294"/>
                    <a:pt x="384" y="288"/>
                  </a:cubicBezTo>
                  <a:cubicBezTo>
                    <a:pt x="384" y="256"/>
                    <a:pt x="384" y="256"/>
                    <a:pt x="384" y="256"/>
                  </a:cubicBezTo>
                  <a:cubicBezTo>
                    <a:pt x="384" y="250"/>
                    <a:pt x="388" y="245"/>
                    <a:pt x="394" y="245"/>
                  </a:cubicBezTo>
                  <a:cubicBezTo>
                    <a:pt x="400" y="245"/>
                    <a:pt x="405" y="250"/>
                    <a:pt x="405" y="256"/>
                  </a:cubicBezTo>
                  <a:lnTo>
                    <a:pt x="405" y="288"/>
                  </a:lnTo>
                  <a:close/>
                  <a:moveTo>
                    <a:pt x="405" y="213"/>
                  </a:moveTo>
                  <a:cubicBezTo>
                    <a:pt x="405" y="219"/>
                    <a:pt x="400" y="224"/>
                    <a:pt x="394" y="224"/>
                  </a:cubicBezTo>
                  <a:cubicBezTo>
                    <a:pt x="388" y="224"/>
                    <a:pt x="384" y="219"/>
                    <a:pt x="384" y="213"/>
                  </a:cubicBezTo>
                  <a:cubicBezTo>
                    <a:pt x="384" y="208"/>
                    <a:pt x="384" y="208"/>
                    <a:pt x="384" y="208"/>
                  </a:cubicBezTo>
                  <a:cubicBezTo>
                    <a:pt x="379" y="210"/>
                    <a:pt x="379" y="210"/>
                    <a:pt x="379" y="210"/>
                  </a:cubicBezTo>
                  <a:cubicBezTo>
                    <a:pt x="378" y="211"/>
                    <a:pt x="376" y="211"/>
                    <a:pt x="375" y="211"/>
                  </a:cubicBezTo>
                  <a:cubicBezTo>
                    <a:pt x="371" y="211"/>
                    <a:pt x="367" y="209"/>
                    <a:pt x="365" y="205"/>
                  </a:cubicBezTo>
                  <a:cubicBezTo>
                    <a:pt x="363" y="200"/>
                    <a:pt x="365" y="195"/>
                    <a:pt x="369" y="192"/>
                  </a:cubicBezTo>
                  <a:cubicBezTo>
                    <a:pt x="365" y="189"/>
                    <a:pt x="363" y="183"/>
                    <a:pt x="365" y="178"/>
                  </a:cubicBezTo>
                  <a:cubicBezTo>
                    <a:pt x="368" y="173"/>
                    <a:pt x="374" y="171"/>
                    <a:pt x="379" y="173"/>
                  </a:cubicBezTo>
                  <a:cubicBezTo>
                    <a:pt x="399" y="182"/>
                    <a:pt x="399" y="182"/>
                    <a:pt x="399" y="182"/>
                  </a:cubicBezTo>
                  <a:cubicBezTo>
                    <a:pt x="403" y="184"/>
                    <a:pt x="405" y="188"/>
                    <a:pt x="405" y="192"/>
                  </a:cubicBezTo>
                  <a:lnTo>
                    <a:pt x="405" y="21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grpSp>
        <p:nvGrpSpPr>
          <p:cNvPr id="6" name="Group 5">
            <a:extLst>
              <a:ext uri="{FF2B5EF4-FFF2-40B4-BE49-F238E27FC236}">
                <a16:creationId xmlns:a16="http://schemas.microsoft.com/office/drawing/2014/main" id="{2AA92011-6A03-457E-AE46-997B6969FA4F}"/>
              </a:ext>
            </a:extLst>
          </p:cNvPr>
          <p:cNvGrpSpPr/>
          <p:nvPr/>
        </p:nvGrpSpPr>
        <p:grpSpPr>
          <a:xfrm>
            <a:off x="7252925" y="3808456"/>
            <a:ext cx="4501836" cy="2455528"/>
            <a:chOff x="7199341" y="4360893"/>
            <a:chExt cx="4501836" cy="2288397"/>
          </a:xfrm>
        </p:grpSpPr>
        <p:sp>
          <p:nvSpPr>
            <p:cNvPr id="54" name="Rectangle: Top Corners Rounded 53">
              <a:extLst>
                <a:ext uri="{FF2B5EF4-FFF2-40B4-BE49-F238E27FC236}">
                  <a16:creationId xmlns:a16="http://schemas.microsoft.com/office/drawing/2014/main" id="{01E85BC0-2693-4AB4-8D13-51AD94935617}"/>
                </a:ext>
              </a:extLst>
            </p:cNvPr>
            <p:cNvSpPr/>
            <p:nvPr/>
          </p:nvSpPr>
          <p:spPr bwMode="gray">
            <a:xfrm>
              <a:off x="7199342" y="4360893"/>
              <a:ext cx="4501835" cy="303591"/>
            </a:xfrm>
            <a:prstGeom prst="round2SameRect">
              <a:avLst>
                <a:gd name="adj1" fmla="val 0"/>
                <a:gd name="adj2" fmla="val 0"/>
              </a:avLst>
            </a:prstGeom>
            <a:solidFill>
              <a:srgbClr val="75787B"/>
            </a:solidFill>
            <a:ln w="19050" algn="ctr">
              <a:noFill/>
              <a:miter lim="800000"/>
              <a:headEnd/>
              <a:tailEnd/>
            </a:ln>
          </p:spPr>
          <p:txBody>
            <a:bodyPr wrap="square" lIns="45720" tIns="45720" rIns="0" bIns="0" rtlCol="0" anchor="t" anchorCtr="0"/>
            <a:lstStyle/>
            <a:p>
              <a:pPr>
                <a:buFont typeface="Wingdings 2" pitchFamily="18" charset="2"/>
                <a:buNone/>
              </a:pPr>
              <a:r>
                <a:rPr lang="da-DK" sz="1400" b="1" dirty="0">
                  <a:solidFill>
                    <a:prstClr val="white"/>
                  </a:solidFill>
                  <a:latin typeface="Verdana" panose="020B0604030504040204" pitchFamily="34" charset="0"/>
                  <a:ea typeface="Verdana" panose="020B0604030504040204" pitchFamily="34" charset="0"/>
                </a:rPr>
                <a:t>Risk</a:t>
              </a:r>
              <a:r>
                <a:rPr lang="da-DK" sz="1300" b="1" dirty="0">
                  <a:solidFill>
                    <a:prstClr val="white"/>
                  </a:solidFill>
                </a:rPr>
                <a:t> </a:t>
              </a:r>
              <a:r>
                <a:rPr lang="da-DK" sz="1400" b="1" dirty="0">
                  <a:solidFill>
                    <a:prstClr val="white"/>
                  </a:solidFill>
                  <a:latin typeface="Verdana" panose="020B0604030504040204" pitchFamily="34" charset="0"/>
                  <a:ea typeface="Verdana" panose="020B0604030504040204" pitchFamily="34" charset="0"/>
                </a:rPr>
                <a:t>Factor</a:t>
              </a:r>
              <a:endParaRPr lang="en-GB" sz="1400" b="1" dirty="0">
                <a:solidFill>
                  <a:prstClr val="white"/>
                </a:solidFill>
                <a:latin typeface="Verdana" panose="020B0604030504040204" pitchFamily="34" charset="0"/>
                <a:ea typeface="Verdana" panose="020B0604030504040204" pitchFamily="34" charset="0"/>
              </a:endParaRPr>
            </a:p>
          </p:txBody>
        </p:sp>
        <p:sp>
          <p:nvSpPr>
            <p:cNvPr id="61" name="TextBox 60">
              <a:extLst>
                <a:ext uri="{FF2B5EF4-FFF2-40B4-BE49-F238E27FC236}">
                  <a16:creationId xmlns:a16="http://schemas.microsoft.com/office/drawing/2014/main" id="{CE684630-677F-4E87-B492-6CEB7E0C2781}"/>
                </a:ext>
              </a:extLst>
            </p:cNvPr>
            <p:cNvSpPr txBox="1"/>
            <p:nvPr/>
          </p:nvSpPr>
          <p:spPr>
            <a:xfrm>
              <a:off x="7199341" y="4670175"/>
              <a:ext cx="4501835" cy="1979115"/>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It is considered that under PPP, private sector efficiencies are expected to keep the tariffs low, however such low tariffs become financially unviable over the project period, thus increasing the risk.</a:t>
              </a:r>
            </a:p>
            <a:p>
              <a:pPr marL="171450" indent="-171450">
                <a:buSzPct val="100000"/>
                <a:buFont typeface="Arial" panose="020B0604020202020204" pitchFamily="34" charset="0"/>
                <a:buChar char="•"/>
              </a:pPr>
              <a:r>
                <a:rPr lang="en-US" sz="1200" dirty="0">
                  <a:solidFill>
                    <a:prstClr val="black"/>
                  </a:solidFill>
                  <a:latin typeface="Verdana" panose="020B0604030504040204" pitchFamily="34" charset="0"/>
                  <a:ea typeface="Verdana" panose="020B0604030504040204" pitchFamily="34" charset="0"/>
                </a:rPr>
                <a:t>The success of PPP depends upon the risk appetite of investors and the State, hence higher the perceived risk, higher will be the return requirement of private investor, thus </a:t>
              </a:r>
              <a:r>
                <a:rPr lang="en-US" sz="1200">
                  <a:solidFill>
                    <a:prstClr val="black"/>
                  </a:solidFill>
                  <a:latin typeface="Verdana" panose="020B0604030504040204" pitchFamily="34" charset="0"/>
                  <a:ea typeface="Verdana" panose="020B0604030504040204" pitchFamily="34" charset="0"/>
                </a:rPr>
                <a:t>impacting tariff.</a:t>
              </a:r>
            </a:p>
            <a:p>
              <a:pPr>
                <a:buSzPct val="100000"/>
              </a:pPr>
              <a:endParaRPr lang="en-US" sz="1200" dirty="0">
                <a:solidFill>
                  <a:prstClr val="black"/>
                </a:solidFill>
                <a:latin typeface="Verdana" panose="020B0604030504040204" pitchFamily="34" charset="0"/>
                <a:ea typeface="Verdana" panose="020B0604030504040204" pitchFamily="34" charset="0"/>
              </a:endParaRPr>
            </a:p>
          </p:txBody>
        </p:sp>
        <p:sp>
          <p:nvSpPr>
            <p:cNvPr id="72" name="Oval 71">
              <a:extLst>
                <a:ext uri="{FF2B5EF4-FFF2-40B4-BE49-F238E27FC236}">
                  <a16:creationId xmlns:a16="http://schemas.microsoft.com/office/drawing/2014/main" id="{04F00C71-98B2-486C-94F8-53DF36FF2AB1}"/>
                </a:ext>
              </a:extLst>
            </p:cNvPr>
            <p:cNvSpPr/>
            <p:nvPr/>
          </p:nvSpPr>
          <p:spPr bwMode="gray">
            <a:xfrm>
              <a:off x="11045911" y="4369577"/>
              <a:ext cx="488823" cy="488823"/>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prstClr val="white"/>
                </a:solidFill>
              </a:endParaRPr>
            </a:p>
          </p:txBody>
        </p:sp>
        <p:sp>
          <p:nvSpPr>
            <p:cNvPr id="73" name="Freeform 575">
              <a:extLst>
                <a:ext uri="{FF2B5EF4-FFF2-40B4-BE49-F238E27FC236}">
                  <a16:creationId xmlns:a16="http://schemas.microsoft.com/office/drawing/2014/main" id="{30FD6902-B0CE-43C1-9922-17C374C08162}"/>
                </a:ext>
              </a:extLst>
            </p:cNvPr>
            <p:cNvSpPr>
              <a:spLocks noEditPoints="1"/>
            </p:cNvSpPr>
            <p:nvPr/>
          </p:nvSpPr>
          <p:spPr bwMode="auto">
            <a:xfrm>
              <a:off x="11105049" y="4420032"/>
              <a:ext cx="382385" cy="382385"/>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370 w 512"/>
                <a:gd name="T11" fmla="*/ 362 h 512"/>
                <a:gd name="T12" fmla="*/ 320 w 512"/>
                <a:gd name="T13" fmla="*/ 384 h 512"/>
                <a:gd name="T14" fmla="*/ 224 w 512"/>
                <a:gd name="T15" fmla="*/ 384 h 512"/>
                <a:gd name="T16" fmla="*/ 191 w 512"/>
                <a:gd name="T17" fmla="*/ 373 h 512"/>
                <a:gd name="T18" fmla="*/ 106 w 512"/>
                <a:gd name="T19" fmla="*/ 373 h 512"/>
                <a:gd name="T20" fmla="*/ 96 w 512"/>
                <a:gd name="T21" fmla="*/ 362 h 512"/>
                <a:gd name="T22" fmla="*/ 96 w 512"/>
                <a:gd name="T23" fmla="*/ 245 h 512"/>
                <a:gd name="T24" fmla="*/ 106 w 512"/>
                <a:gd name="T25" fmla="*/ 234 h 512"/>
                <a:gd name="T26" fmla="*/ 175 w 512"/>
                <a:gd name="T27" fmla="*/ 234 h 512"/>
                <a:gd name="T28" fmla="*/ 184 w 512"/>
                <a:gd name="T29" fmla="*/ 220 h 512"/>
                <a:gd name="T30" fmla="*/ 185 w 512"/>
                <a:gd name="T31" fmla="*/ 218 h 512"/>
                <a:gd name="T32" fmla="*/ 280 w 512"/>
                <a:gd name="T33" fmla="*/ 110 h 512"/>
                <a:gd name="T34" fmla="*/ 287 w 512"/>
                <a:gd name="T35" fmla="*/ 106 h 512"/>
                <a:gd name="T36" fmla="*/ 295 w 512"/>
                <a:gd name="T37" fmla="*/ 109 h 512"/>
                <a:gd name="T38" fmla="*/ 309 w 512"/>
                <a:gd name="T39" fmla="*/ 152 h 512"/>
                <a:gd name="T40" fmla="*/ 292 w 512"/>
                <a:gd name="T41" fmla="*/ 202 h 512"/>
                <a:gd name="T42" fmla="*/ 330 w 512"/>
                <a:gd name="T43" fmla="*/ 202 h 512"/>
                <a:gd name="T44" fmla="*/ 394 w 512"/>
                <a:gd name="T45" fmla="*/ 266 h 512"/>
                <a:gd name="T46" fmla="*/ 370 w 512"/>
                <a:gd name="T47" fmla="*/ 362 h 512"/>
                <a:gd name="T48" fmla="*/ 170 w 512"/>
                <a:gd name="T49" fmla="*/ 330 h 512"/>
                <a:gd name="T50" fmla="*/ 174 w 512"/>
                <a:gd name="T51" fmla="*/ 352 h 512"/>
                <a:gd name="T52" fmla="*/ 117 w 512"/>
                <a:gd name="T53" fmla="*/ 352 h 512"/>
                <a:gd name="T54" fmla="*/ 117 w 512"/>
                <a:gd name="T55" fmla="*/ 256 h 512"/>
                <a:gd name="T56" fmla="*/ 170 w 512"/>
                <a:gd name="T57" fmla="*/ 256 h 512"/>
                <a:gd name="T58" fmla="*/ 170 w 512"/>
                <a:gd name="T59" fmla="*/ 256 h 512"/>
                <a:gd name="T60" fmla="*/ 170 w 512"/>
                <a:gd name="T61" fmla="*/ 330 h 512"/>
                <a:gd name="T62" fmla="*/ 373 w 512"/>
                <a:gd name="T63" fmla="*/ 267 h 512"/>
                <a:gd name="T64" fmla="*/ 354 w 512"/>
                <a:gd name="T65" fmla="*/ 348 h 512"/>
                <a:gd name="T66" fmla="*/ 320 w 512"/>
                <a:gd name="T67" fmla="*/ 362 h 512"/>
                <a:gd name="T68" fmla="*/ 224 w 512"/>
                <a:gd name="T69" fmla="*/ 362 h 512"/>
                <a:gd name="T70" fmla="*/ 192 w 512"/>
                <a:gd name="T71" fmla="*/ 330 h 512"/>
                <a:gd name="T72" fmla="*/ 192 w 512"/>
                <a:gd name="T73" fmla="*/ 256 h 512"/>
                <a:gd name="T74" fmla="*/ 200 w 512"/>
                <a:gd name="T75" fmla="*/ 233 h 512"/>
                <a:gd name="T76" fmla="*/ 201 w 512"/>
                <a:gd name="T77" fmla="*/ 233 h 512"/>
                <a:gd name="T78" fmla="*/ 287 w 512"/>
                <a:gd name="T79" fmla="*/ 134 h 512"/>
                <a:gd name="T80" fmla="*/ 288 w 512"/>
                <a:gd name="T81" fmla="*/ 146 h 512"/>
                <a:gd name="T82" fmla="*/ 267 w 512"/>
                <a:gd name="T83" fmla="*/ 210 h 512"/>
                <a:gd name="T84" fmla="*/ 267 w 512"/>
                <a:gd name="T85" fmla="*/ 210 h 512"/>
                <a:gd name="T86" fmla="*/ 266 w 512"/>
                <a:gd name="T87" fmla="*/ 213 h 512"/>
                <a:gd name="T88" fmla="*/ 277 w 512"/>
                <a:gd name="T89" fmla="*/ 224 h 512"/>
                <a:gd name="T90" fmla="*/ 330 w 512"/>
                <a:gd name="T91" fmla="*/ 224 h 512"/>
                <a:gd name="T92" fmla="*/ 373 w 512"/>
                <a:gd name="T93" fmla="*/ 2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370" y="362"/>
                  </a:moveTo>
                  <a:cubicBezTo>
                    <a:pt x="357" y="377"/>
                    <a:pt x="340" y="384"/>
                    <a:pt x="320" y="384"/>
                  </a:cubicBezTo>
                  <a:cubicBezTo>
                    <a:pt x="224" y="384"/>
                    <a:pt x="224" y="384"/>
                    <a:pt x="224" y="384"/>
                  </a:cubicBezTo>
                  <a:cubicBezTo>
                    <a:pt x="211" y="384"/>
                    <a:pt x="200" y="380"/>
                    <a:pt x="191" y="373"/>
                  </a:cubicBezTo>
                  <a:cubicBezTo>
                    <a:pt x="106" y="373"/>
                    <a:pt x="106" y="373"/>
                    <a:pt x="106" y="373"/>
                  </a:cubicBezTo>
                  <a:cubicBezTo>
                    <a:pt x="100" y="373"/>
                    <a:pt x="96" y="368"/>
                    <a:pt x="96" y="362"/>
                  </a:cubicBezTo>
                  <a:cubicBezTo>
                    <a:pt x="96" y="245"/>
                    <a:pt x="96" y="245"/>
                    <a:pt x="96" y="245"/>
                  </a:cubicBezTo>
                  <a:cubicBezTo>
                    <a:pt x="96" y="239"/>
                    <a:pt x="100" y="234"/>
                    <a:pt x="106" y="234"/>
                  </a:cubicBezTo>
                  <a:cubicBezTo>
                    <a:pt x="175" y="234"/>
                    <a:pt x="175" y="234"/>
                    <a:pt x="175" y="234"/>
                  </a:cubicBezTo>
                  <a:cubicBezTo>
                    <a:pt x="177" y="229"/>
                    <a:pt x="180" y="224"/>
                    <a:pt x="184" y="220"/>
                  </a:cubicBezTo>
                  <a:cubicBezTo>
                    <a:pt x="185" y="218"/>
                    <a:pt x="185" y="218"/>
                    <a:pt x="185" y="218"/>
                  </a:cubicBezTo>
                  <a:cubicBezTo>
                    <a:pt x="280" y="110"/>
                    <a:pt x="280" y="110"/>
                    <a:pt x="280" y="110"/>
                  </a:cubicBezTo>
                  <a:cubicBezTo>
                    <a:pt x="282" y="108"/>
                    <a:pt x="284" y="106"/>
                    <a:pt x="287" y="106"/>
                  </a:cubicBezTo>
                  <a:cubicBezTo>
                    <a:pt x="290" y="106"/>
                    <a:pt x="293" y="107"/>
                    <a:pt x="295" y="109"/>
                  </a:cubicBezTo>
                  <a:cubicBezTo>
                    <a:pt x="296" y="110"/>
                    <a:pt x="315" y="129"/>
                    <a:pt x="309" y="152"/>
                  </a:cubicBezTo>
                  <a:cubicBezTo>
                    <a:pt x="292" y="202"/>
                    <a:pt x="292" y="202"/>
                    <a:pt x="292" y="202"/>
                  </a:cubicBezTo>
                  <a:cubicBezTo>
                    <a:pt x="330" y="202"/>
                    <a:pt x="330" y="202"/>
                    <a:pt x="330" y="202"/>
                  </a:cubicBezTo>
                  <a:cubicBezTo>
                    <a:pt x="361" y="202"/>
                    <a:pt x="394" y="235"/>
                    <a:pt x="394" y="266"/>
                  </a:cubicBezTo>
                  <a:cubicBezTo>
                    <a:pt x="395" y="268"/>
                    <a:pt x="400" y="329"/>
                    <a:pt x="370" y="362"/>
                  </a:cubicBezTo>
                  <a:close/>
                  <a:moveTo>
                    <a:pt x="170" y="330"/>
                  </a:moveTo>
                  <a:cubicBezTo>
                    <a:pt x="170" y="338"/>
                    <a:pt x="172" y="345"/>
                    <a:pt x="174" y="352"/>
                  </a:cubicBezTo>
                  <a:cubicBezTo>
                    <a:pt x="117" y="352"/>
                    <a:pt x="117" y="352"/>
                    <a:pt x="117" y="352"/>
                  </a:cubicBezTo>
                  <a:cubicBezTo>
                    <a:pt x="117" y="256"/>
                    <a:pt x="117" y="256"/>
                    <a:pt x="117" y="256"/>
                  </a:cubicBezTo>
                  <a:cubicBezTo>
                    <a:pt x="170" y="256"/>
                    <a:pt x="170" y="256"/>
                    <a:pt x="170" y="256"/>
                  </a:cubicBezTo>
                  <a:cubicBezTo>
                    <a:pt x="170" y="256"/>
                    <a:pt x="170" y="256"/>
                    <a:pt x="170" y="256"/>
                  </a:cubicBezTo>
                  <a:lnTo>
                    <a:pt x="170" y="330"/>
                  </a:lnTo>
                  <a:close/>
                  <a:moveTo>
                    <a:pt x="373" y="267"/>
                  </a:moveTo>
                  <a:cubicBezTo>
                    <a:pt x="373" y="268"/>
                    <a:pt x="378" y="322"/>
                    <a:pt x="354" y="348"/>
                  </a:cubicBezTo>
                  <a:cubicBezTo>
                    <a:pt x="346" y="358"/>
                    <a:pt x="334" y="362"/>
                    <a:pt x="320" y="362"/>
                  </a:cubicBezTo>
                  <a:cubicBezTo>
                    <a:pt x="224" y="362"/>
                    <a:pt x="224" y="362"/>
                    <a:pt x="224" y="362"/>
                  </a:cubicBezTo>
                  <a:cubicBezTo>
                    <a:pt x="205" y="362"/>
                    <a:pt x="192" y="349"/>
                    <a:pt x="192" y="330"/>
                  </a:cubicBezTo>
                  <a:cubicBezTo>
                    <a:pt x="192" y="256"/>
                    <a:pt x="192" y="256"/>
                    <a:pt x="192" y="256"/>
                  </a:cubicBezTo>
                  <a:cubicBezTo>
                    <a:pt x="192" y="248"/>
                    <a:pt x="195" y="240"/>
                    <a:pt x="200" y="233"/>
                  </a:cubicBezTo>
                  <a:cubicBezTo>
                    <a:pt x="201" y="233"/>
                    <a:pt x="201" y="233"/>
                    <a:pt x="201" y="233"/>
                  </a:cubicBezTo>
                  <a:cubicBezTo>
                    <a:pt x="287" y="134"/>
                    <a:pt x="287" y="134"/>
                    <a:pt x="287" y="134"/>
                  </a:cubicBezTo>
                  <a:cubicBezTo>
                    <a:pt x="288" y="138"/>
                    <a:pt x="289" y="142"/>
                    <a:pt x="288" y="146"/>
                  </a:cubicBezTo>
                  <a:cubicBezTo>
                    <a:pt x="267" y="210"/>
                    <a:pt x="267" y="210"/>
                    <a:pt x="267" y="210"/>
                  </a:cubicBezTo>
                  <a:cubicBezTo>
                    <a:pt x="267" y="210"/>
                    <a:pt x="267" y="210"/>
                    <a:pt x="267" y="210"/>
                  </a:cubicBezTo>
                  <a:cubicBezTo>
                    <a:pt x="267" y="211"/>
                    <a:pt x="266" y="212"/>
                    <a:pt x="266" y="213"/>
                  </a:cubicBezTo>
                  <a:cubicBezTo>
                    <a:pt x="266" y="219"/>
                    <a:pt x="271" y="224"/>
                    <a:pt x="277" y="224"/>
                  </a:cubicBezTo>
                  <a:cubicBezTo>
                    <a:pt x="330" y="224"/>
                    <a:pt x="330" y="224"/>
                    <a:pt x="330" y="224"/>
                  </a:cubicBezTo>
                  <a:cubicBezTo>
                    <a:pt x="349" y="224"/>
                    <a:pt x="373" y="247"/>
                    <a:pt x="373" y="26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grpSp>
      <p:sp>
        <p:nvSpPr>
          <p:cNvPr id="38" name="Title 1">
            <a:extLst>
              <a:ext uri="{FF2B5EF4-FFF2-40B4-BE49-F238E27FC236}">
                <a16:creationId xmlns:a16="http://schemas.microsoft.com/office/drawing/2014/main" id="{B78072F2-1D2F-4402-9EAA-3C6A0CC30459}"/>
              </a:ext>
            </a:extLst>
          </p:cNvPr>
          <p:cNvSpPr txBox="1">
            <a:spLocks/>
          </p:cNvSpPr>
          <p:nvPr/>
        </p:nvSpPr>
        <p:spPr>
          <a:xfrm>
            <a:off x="239722" y="255226"/>
            <a:ext cx="11128668" cy="346004"/>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r>
              <a:rPr lang="en-US" sz="1600" b="1" dirty="0">
                <a:latin typeface="Verdana" panose="020B0604030504040204" pitchFamily="34" charset="0"/>
                <a:ea typeface="Verdana" panose="020B0604030504040204" pitchFamily="34" charset="0"/>
              </a:rPr>
              <a:t>Key Insights:  CAPEX Vs Competitive Bidding</a:t>
            </a:r>
          </a:p>
        </p:txBody>
      </p:sp>
    </p:spTree>
    <p:custDataLst>
      <p:tags r:id="rId1"/>
    </p:custDataLst>
    <p:extLst>
      <p:ext uri="{BB962C8B-B14F-4D97-AF65-F5344CB8AC3E}">
        <p14:creationId xmlns:p14="http://schemas.microsoft.com/office/powerpoint/2010/main" val="384057346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B78072F2-1D2F-4402-9EAA-3C6A0CC30459}"/>
              </a:ext>
            </a:extLst>
          </p:cNvPr>
          <p:cNvSpPr txBox="1">
            <a:spLocks/>
          </p:cNvSpPr>
          <p:nvPr/>
        </p:nvSpPr>
        <p:spPr>
          <a:xfrm>
            <a:off x="239722" y="255226"/>
            <a:ext cx="11128668" cy="346004"/>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r>
              <a:rPr lang="en-US" sz="1600" b="1" dirty="0">
                <a:latin typeface="Verdana" panose="020B0604030504040204" pitchFamily="34" charset="0"/>
                <a:ea typeface="Verdana" panose="020B0604030504040204" pitchFamily="34" charset="0"/>
              </a:rPr>
              <a:t>Key Insights:  Benefits of CAPEX over Competitive Bidding/ PPP</a:t>
            </a:r>
          </a:p>
        </p:txBody>
      </p:sp>
      <p:sp>
        <p:nvSpPr>
          <p:cNvPr id="64" name="TextBox 63">
            <a:extLst>
              <a:ext uri="{FF2B5EF4-FFF2-40B4-BE49-F238E27FC236}">
                <a16:creationId xmlns:a16="http://schemas.microsoft.com/office/drawing/2014/main" id="{19BB59D7-9D3B-4725-8263-5F7DEB7472B9}"/>
              </a:ext>
            </a:extLst>
          </p:cNvPr>
          <p:cNvSpPr txBox="1"/>
          <p:nvPr/>
        </p:nvSpPr>
        <p:spPr>
          <a:xfrm>
            <a:off x="7883866" y="1157300"/>
            <a:ext cx="595618" cy="519512"/>
          </a:xfrm>
          <a:prstGeom prst="rect">
            <a:avLst/>
          </a:prstGeom>
          <a:noFill/>
        </p:spPr>
        <p:txBody>
          <a:bodyPr wrap="square" rtlCol="0">
            <a:spAutoFit/>
          </a:bodyPr>
          <a:lstStyle/>
          <a:p>
            <a:pPr algn="ctr"/>
            <a:r>
              <a:rPr lang="en-US" sz="2800" b="1" dirty="0">
                <a:solidFill>
                  <a:schemeClr val="bg1"/>
                </a:solidFill>
              </a:rPr>
              <a:t>03</a:t>
            </a:r>
          </a:p>
        </p:txBody>
      </p:sp>
      <p:sp>
        <p:nvSpPr>
          <p:cNvPr id="49" name="Rectangle: Rounded Corners 48">
            <a:extLst>
              <a:ext uri="{FF2B5EF4-FFF2-40B4-BE49-F238E27FC236}">
                <a16:creationId xmlns:a16="http://schemas.microsoft.com/office/drawing/2014/main" id="{6AADE106-0A54-4DA8-B41D-4863154BAA9B}"/>
              </a:ext>
            </a:extLst>
          </p:cNvPr>
          <p:cNvSpPr/>
          <p:nvPr/>
        </p:nvSpPr>
        <p:spPr>
          <a:xfrm>
            <a:off x="3236257" y="1157300"/>
            <a:ext cx="8134109" cy="106045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110203CF-E4D4-4F66-8866-5E3A51E4B3CF}"/>
              </a:ext>
            </a:extLst>
          </p:cNvPr>
          <p:cNvSpPr/>
          <p:nvPr/>
        </p:nvSpPr>
        <p:spPr bwMode="gray">
          <a:xfrm>
            <a:off x="3571050" y="1199832"/>
            <a:ext cx="6914025" cy="972357"/>
          </a:xfrm>
          <a:prstGeom prst="roundRect">
            <a:avLst>
              <a:gd name="adj" fmla="val 2529"/>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Enhanced profitability and revenue potential in CAPEX mode</a:t>
            </a:r>
          </a:p>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Financial assistance from multilateral banks at nominal interest rates</a:t>
            </a:r>
          </a:p>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Higher </a:t>
            </a:r>
            <a:r>
              <a:rPr kumimoji="0" lang="en-US" sz="1400" b="0" i="0" u="none" strike="noStrike" kern="1200" cap="none" spc="0" normalizeH="0" baseline="0" noProof="0" dirty="0" err="1">
                <a:ln>
                  <a:noFill/>
                </a:ln>
                <a:solidFill>
                  <a:sysClr val="windowText" lastClr="000000"/>
                </a:solidFill>
                <a:effectLst/>
                <a:uLnTx/>
                <a:uFillTx/>
                <a:latin typeface="Verdana" panose="020B0604030504040204" pitchFamily="34" charset="0"/>
                <a:ea typeface="Verdana" panose="020B0604030504040204" pitchFamily="34" charset="0"/>
              </a:rPr>
              <a:t>RoI</a:t>
            </a: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 and IRR leading to shorter payback periods</a:t>
            </a:r>
          </a:p>
        </p:txBody>
      </p:sp>
      <p:sp>
        <p:nvSpPr>
          <p:cNvPr id="62" name="Rectangle: Rounded Corners 61">
            <a:extLst>
              <a:ext uri="{FF2B5EF4-FFF2-40B4-BE49-F238E27FC236}">
                <a16:creationId xmlns:a16="http://schemas.microsoft.com/office/drawing/2014/main" id="{D55BD847-328C-449C-9205-6181663ED499}"/>
              </a:ext>
            </a:extLst>
          </p:cNvPr>
          <p:cNvSpPr/>
          <p:nvPr/>
        </p:nvSpPr>
        <p:spPr>
          <a:xfrm>
            <a:off x="959747" y="1157300"/>
            <a:ext cx="2173713" cy="1060450"/>
          </a:xfrm>
          <a:prstGeom prst="roundRect">
            <a:avLst>
              <a:gd name="adj" fmla="val 50000"/>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76F37B92-9442-4F50-84F6-C6823645409E}"/>
              </a:ext>
            </a:extLst>
          </p:cNvPr>
          <p:cNvSpPr txBox="1"/>
          <p:nvPr/>
        </p:nvSpPr>
        <p:spPr>
          <a:xfrm>
            <a:off x="1101979" y="1393622"/>
            <a:ext cx="1889248" cy="523220"/>
          </a:xfrm>
          <a:prstGeom prst="rect">
            <a:avLst/>
          </a:prstGeom>
          <a:noFill/>
        </p:spPr>
        <p:txBody>
          <a:bodyPr wrap="square">
            <a:spAutoFit/>
          </a:bodyPr>
          <a:lstStyle/>
          <a:p>
            <a:pPr algn="ctr"/>
            <a:r>
              <a:rPr lang="da-DK" sz="1400" b="1" dirty="0">
                <a:solidFill>
                  <a:schemeClr val="bg1"/>
                </a:solidFill>
                <a:latin typeface="Verdana" panose="020B0604030504040204" pitchFamily="34" charset="0"/>
                <a:ea typeface="Verdana" panose="020B0604030504040204" pitchFamily="34" charset="0"/>
              </a:rPr>
              <a:t>Financially Viable Project</a:t>
            </a:r>
            <a:endParaRPr lang="en-US" sz="1400" dirty="0">
              <a:solidFill>
                <a:schemeClr val="bg1"/>
              </a:solidFill>
            </a:endParaRPr>
          </a:p>
        </p:txBody>
      </p:sp>
      <p:sp>
        <p:nvSpPr>
          <p:cNvPr id="65" name="TextBox 64">
            <a:extLst>
              <a:ext uri="{FF2B5EF4-FFF2-40B4-BE49-F238E27FC236}">
                <a16:creationId xmlns:a16="http://schemas.microsoft.com/office/drawing/2014/main" id="{4C4B7945-5BA8-4DF8-A745-EDBDD5A33C41}"/>
              </a:ext>
            </a:extLst>
          </p:cNvPr>
          <p:cNvSpPr txBox="1"/>
          <p:nvPr/>
        </p:nvSpPr>
        <p:spPr>
          <a:xfrm>
            <a:off x="7883866" y="2454072"/>
            <a:ext cx="595618" cy="519512"/>
          </a:xfrm>
          <a:prstGeom prst="rect">
            <a:avLst/>
          </a:prstGeom>
          <a:noFill/>
        </p:spPr>
        <p:txBody>
          <a:bodyPr wrap="square" rtlCol="0">
            <a:spAutoFit/>
          </a:bodyPr>
          <a:lstStyle/>
          <a:p>
            <a:pPr algn="ctr"/>
            <a:r>
              <a:rPr lang="en-US" sz="2800" b="1" dirty="0">
                <a:solidFill>
                  <a:schemeClr val="bg1"/>
                </a:solidFill>
              </a:rPr>
              <a:t>03</a:t>
            </a:r>
          </a:p>
        </p:txBody>
      </p:sp>
      <p:sp>
        <p:nvSpPr>
          <p:cNvPr id="66" name="Rectangle: Rounded Corners 65">
            <a:extLst>
              <a:ext uri="{FF2B5EF4-FFF2-40B4-BE49-F238E27FC236}">
                <a16:creationId xmlns:a16="http://schemas.microsoft.com/office/drawing/2014/main" id="{EB9C3891-D73C-4CCD-928A-4247E37FDD02}"/>
              </a:ext>
            </a:extLst>
          </p:cNvPr>
          <p:cNvSpPr/>
          <p:nvPr/>
        </p:nvSpPr>
        <p:spPr>
          <a:xfrm>
            <a:off x="3236257" y="2454072"/>
            <a:ext cx="8134109" cy="106045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014D9837-5B42-4084-8383-3A57ECC9E12D}"/>
              </a:ext>
            </a:extLst>
          </p:cNvPr>
          <p:cNvSpPr/>
          <p:nvPr/>
        </p:nvSpPr>
        <p:spPr bwMode="gray">
          <a:xfrm>
            <a:off x="3571050" y="2496604"/>
            <a:ext cx="7481263" cy="972357"/>
          </a:xfrm>
          <a:prstGeom prst="roundRect">
            <a:avLst>
              <a:gd name="adj" fmla="val 2529"/>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Ownership of the project lies with a single entity</a:t>
            </a:r>
          </a:p>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Better Quality and Technical standards of products and Feasibility analysis</a:t>
            </a:r>
          </a:p>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lang="en-US" sz="1400" dirty="0">
                <a:solidFill>
                  <a:sysClr val="windowText" lastClr="000000"/>
                </a:solidFill>
                <a:latin typeface="Verdana" panose="020B0604030504040204" pitchFamily="34" charset="0"/>
                <a:ea typeface="Verdana" panose="020B0604030504040204" pitchFamily="34" charset="0"/>
              </a:rPr>
              <a:t>B</a:t>
            </a:r>
            <a:r>
              <a:rPr kumimoji="0" lang="en-US" sz="1400" b="0" i="0" u="none" strike="noStrike" kern="1200" cap="none" spc="0" normalizeH="0" baseline="0" noProof="0" dirty="0" err="1">
                <a:ln>
                  <a:noFill/>
                </a:ln>
                <a:solidFill>
                  <a:sysClr val="windowText" lastClr="000000"/>
                </a:solidFill>
                <a:effectLst/>
                <a:uLnTx/>
                <a:uFillTx/>
                <a:latin typeface="Verdana" panose="020B0604030504040204" pitchFamily="34" charset="0"/>
                <a:ea typeface="Verdana" panose="020B0604030504040204" pitchFamily="34" charset="0"/>
              </a:rPr>
              <a:t>etter</a:t>
            </a: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 streamlined planning, execution and timely completion of project</a:t>
            </a:r>
          </a:p>
        </p:txBody>
      </p:sp>
      <p:sp>
        <p:nvSpPr>
          <p:cNvPr id="68" name="Rectangle: Rounded Corners 67">
            <a:extLst>
              <a:ext uri="{FF2B5EF4-FFF2-40B4-BE49-F238E27FC236}">
                <a16:creationId xmlns:a16="http://schemas.microsoft.com/office/drawing/2014/main" id="{DDBE16A2-1E54-4D44-9BD2-E91C72720730}"/>
              </a:ext>
            </a:extLst>
          </p:cNvPr>
          <p:cNvSpPr/>
          <p:nvPr/>
        </p:nvSpPr>
        <p:spPr>
          <a:xfrm>
            <a:off x="959747" y="2454072"/>
            <a:ext cx="2173713" cy="1060450"/>
          </a:xfrm>
          <a:prstGeom prst="roundRect">
            <a:avLst>
              <a:gd name="adj" fmla="val 50000"/>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4D1573C0-E735-409C-ABB0-85F37B5F65C0}"/>
              </a:ext>
            </a:extLst>
          </p:cNvPr>
          <p:cNvSpPr txBox="1"/>
          <p:nvPr/>
        </p:nvSpPr>
        <p:spPr>
          <a:xfrm>
            <a:off x="1101979" y="2690394"/>
            <a:ext cx="1889248" cy="523220"/>
          </a:xfrm>
          <a:prstGeom prst="rect">
            <a:avLst/>
          </a:prstGeom>
          <a:noFill/>
        </p:spPr>
        <p:txBody>
          <a:bodyPr wrap="square">
            <a:spAutoFit/>
          </a:bodyPr>
          <a:lstStyle/>
          <a:p>
            <a:pPr algn="ctr"/>
            <a:r>
              <a:rPr lang="da-DK" sz="1400" b="1" dirty="0">
                <a:solidFill>
                  <a:schemeClr val="bg1"/>
                </a:solidFill>
                <a:latin typeface="Verdana" panose="020B0604030504040204" pitchFamily="34" charset="0"/>
                <a:ea typeface="Verdana" panose="020B0604030504040204" pitchFamily="34" charset="0"/>
              </a:rPr>
              <a:t>Better Project Implementation</a:t>
            </a:r>
            <a:endParaRPr lang="en-US" sz="1400" dirty="0">
              <a:solidFill>
                <a:schemeClr val="bg1"/>
              </a:solidFill>
            </a:endParaRPr>
          </a:p>
        </p:txBody>
      </p:sp>
      <p:sp>
        <p:nvSpPr>
          <p:cNvPr id="70" name="TextBox 69">
            <a:extLst>
              <a:ext uri="{FF2B5EF4-FFF2-40B4-BE49-F238E27FC236}">
                <a16:creationId xmlns:a16="http://schemas.microsoft.com/office/drawing/2014/main" id="{AD795380-69E6-4A68-9A9A-5C7A1FC20F33}"/>
              </a:ext>
            </a:extLst>
          </p:cNvPr>
          <p:cNvSpPr txBox="1"/>
          <p:nvPr/>
        </p:nvSpPr>
        <p:spPr>
          <a:xfrm>
            <a:off x="7883866" y="3775139"/>
            <a:ext cx="595618" cy="519512"/>
          </a:xfrm>
          <a:prstGeom prst="rect">
            <a:avLst/>
          </a:prstGeom>
          <a:noFill/>
        </p:spPr>
        <p:txBody>
          <a:bodyPr wrap="square" rtlCol="0">
            <a:spAutoFit/>
          </a:bodyPr>
          <a:lstStyle/>
          <a:p>
            <a:pPr algn="ctr"/>
            <a:r>
              <a:rPr lang="en-US" sz="2800" b="1" dirty="0">
                <a:solidFill>
                  <a:schemeClr val="bg1"/>
                </a:solidFill>
              </a:rPr>
              <a:t>03</a:t>
            </a:r>
          </a:p>
        </p:txBody>
      </p:sp>
      <p:sp>
        <p:nvSpPr>
          <p:cNvPr id="71" name="Rectangle: Rounded Corners 70">
            <a:extLst>
              <a:ext uri="{FF2B5EF4-FFF2-40B4-BE49-F238E27FC236}">
                <a16:creationId xmlns:a16="http://schemas.microsoft.com/office/drawing/2014/main" id="{16E86FA3-84BD-488C-AA88-C2DD26777AC9}"/>
              </a:ext>
            </a:extLst>
          </p:cNvPr>
          <p:cNvSpPr/>
          <p:nvPr/>
        </p:nvSpPr>
        <p:spPr>
          <a:xfrm>
            <a:off x="3236257" y="3775139"/>
            <a:ext cx="8134109" cy="106045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E7047966-D90B-44CC-ACEE-71C109C8D726}"/>
              </a:ext>
            </a:extLst>
          </p:cNvPr>
          <p:cNvSpPr/>
          <p:nvPr/>
        </p:nvSpPr>
        <p:spPr bwMode="gray">
          <a:xfrm>
            <a:off x="3571050" y="3817671"/>
            <a:ext cx="7481263" cy="972357"/>
          </a:xfrm>
          <a:prstGeom prst="roundRect">
            <a:avLst>
              <a:gd name="adj" fmla="val 2529"/>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Enhanced quality and efficiency of the project due to the experience of the agencies of working with diverse and international assignment. </a:t>
            </a:r>
          </a:p>
          <a:p>
            <a:pPr marL="171450" marR="0" lvl="0" indent="-171450" algn="just" defTabSz="914400" rtl="0" eaLnBrk="1" fontAlgn="auto" latinLnBrk="0" hangingPunct="1">
              <a:lnSpc>
                <a:spcPct val="100000"/>
              </a:lnSpc>
              <a:spcAft>
                <a:spcPts val="600"/>
              </a:spcAft>
              <a:buClrTx/>
              <a:buSzPct val="100000"/>
              <a:buFont typeface="Arial" panose="020B0604020202020204" pitchFamily="34" charset="0"/>
              <a:buChar char="•"/>
              <a:tabLst/>
              <a:defRPr/>
            </a:pPr>
            <a:r>
              <a:rPr kumimoji="0" lang="en-US" sz="1400" b="0" i="0" u="none" strike="noStrike" kern="1200" cap="none" spc="0" normalizeH="0" baseline="0" noProof="0" dirty="0">
                <a:ln>
                  <a:noFill/>
                </a:ln>
                <a:solidFill>
                  <a:sysClr val="windowText" lastClr="000000"/>
                </a:solidFill>
                <a:effectLst/>
                <a:uLnTx/>
                <a:uFillTx/>
                <a:latin typeface="Verdana" panose="020B0604030504040204" pitchFamily="34" charset="0"/>
                <a:ea typeface="Verdana" panose="020B0604030504040204" pitchFamily="34" charset="0"/>
              </a:rPr>
              <a:t>Also, multilateral agencies helps build in-house capabilities and improvements in system and processes</a:t>
            </a:r>
          </a:p>
        </p:txBody>
      </p:sp>
      <p:sp>
        <p:nvSpPr>
          <p:cNvPr id="73" name="Rectangle: Rounded Corners 72">
            <a:extLst>
              <a:ext uri="{FF2B5EF4-FFF2-40B4-BE49-F238E27FC236}">
                <a16:creationId xmlns:a16="http://schemas.microsoft.com/office/drawing/2014/main" id="{5B2C030D-3C75-47AF-9E1C-70971FB94918}"/>
              </a:ext>
            </a:extLst>
          </p:cNvPr>
          <p:cNvSpPr/>
          <p:nvPr/>
        </p:nvSpPr>
        <p:spPr>
          <a:xfrm>
            <a:off x="959747" y="3775139"/>
            <a:ext cx="2173713" cy="1060450"/>
          </a:xfrm>
          <a:prstGeom prst="roundRect">
            <a:avLst>
              <a:gd name="adj" fmla="val 50000"/>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72ECA6AC-1343-4AF3-A299-700C219D2D8F}"/>
              </a:ext>
            </a:extLst>
          </p:cNvPr>
          <p:cNvSpPr txBox="1"/>
          <p:nvPr/>
        </p:nvSpPr>
        <p:spPr>
          <a:xfrm>
            <a:off x="972999" y="3981887"/>
            <a:ext cx="2173713" cy="738664"/>
          </a:xfrm>
          <a:prstGeom prst="rect">
            <a:avLst/>
          </a:prstGeom>
          <a:noFill/>
        </p:spPr>
        <p:txBody>
          <a:bodyPr wrap="square">
            <a:spAutoFit/>
          </a:bodyPr>
          <a:lstStyle/>
          <a:p>
            <a:pPr algn="ctr"/>
            <a:r>
              <a:rPr lang="en-US" sz="1400" b="1" dirty="0">
                <a:solidFill>
                  <a:schemeClr val="bg1"/>
                </a:solidFill>
                <a:latin typeface="Verdana" panose="020B0604030504040204" pitchFamily="34" charset="0"/>
                <a:ea typeface="Verdana" panose="020B0604030504040204" pitchFamily="34" charset="0"/>
              </a:rPr>
              <a:t>Collaboration with multilateral agencies </a:t>
            </a:r>
            <a:endParaRPr lang="en-US" sz="1400" dirty="0">
              <a:solidFill>
                <a:schemeClr val="bg1"/>
              </a:solidFill>
            </a:endParaRPr>
          </a:p>
        </p:txBody>
      </p:sp>
      <p:sp>
        <p:nvSpPr>
          <p:cNvPr id="75" name="TextBox 74">
            <a:extLst>
              <a:ext uri="{FF2B5EF4-FFF2-40B4-BE49-F238E27FC236}">
                <a16:creationId xmlns:a16="http://schemas.microsoft.com/office/drawing/2014/main" id="{7F1E4940-40CE-49EC-9D4F-475C5FE73763}"/>
              </a:ext>
            </a:extLst>
          </p:cNvPr>
          <p:cNvSpPr txBox="1"/>
          <p:nvPr/>
        </p:nvSpPr>
        <p:spPr>
          <a:xfrm>
            <a:off x="7883866" y="5093177"/>
            <a:ext cx="595618" cy="519512"/>
          </a:xfrm>
          <a:prstGeom prst="rect">
            <a:avLst/>
          </a:prstGeom>
          <a:noFill/>
        </p:spPr>
        <p:txBody>
          <a:bodyPr wrap="square" rtlCol="0">
            <a:spAutoFit/>
          </a:bodyPr>
          <a:lstStyle/>
          <a:p>
            <a:pPr algn="ctr"/>
            <a:r>
              <a:rPr lang="en-US" sz="2800" b="1" dirty="0">
                <a:solidFill>
                  <a:schemeClr val="bg1"/>
                </a:solidFill>
              </a:rPr>
              <a:t>03</a:t>
            </a:r>
          </a:p>
        </p:txBody>
      </p:sp>
      <p:sp>
        <p:nvSpPr>
          <p:cNvPr id="76" name="Rectangle: Rounded Corners 75">
            <a:extLst>
              <a:ext uri="{FF2B5EF4-FFF2-40B4-BE49-F238E27FC236}">
                <a16:creationId xmlns:a16="http://schemas.microsoft.com/office/drawing/2014/main" id="{9ED7AC7D-FDB6-4D1B-A782-7F7B598CD31B}"/>
              </a:ext>
            </a:extLst>
          </p:cNvPr>
          <p:cNvSpPr/>
          <p:nvPr/>
        </p:nvSpPr>
        <p:spPr>
          <a:xfrm>
            <a:off x="3236257" y="5093177"/>
            <a:ext cx="8134109" cy="1060450"/>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Rounded Corners 76">
            <a:extLst>
              <a:ext uri="{FF2B5EF4-FFF2-40B4-BE49-F238E27FC236}">
                <a16:creationId xmlns:a16="http://schemas.microsoft.com/office/drawing/2014/main" id="{23A60F5D-4F3A-487B-91D2-8E41FB6F2D32}"/>
              </a:ext>
            </a:extLst>
          </p:cNvPr>
          <p:cNvSpPr/>
          <p:nvPr/>
        </p:nvSpPr>
        <p:spPr bwMode="gray">
          <a:xfrm>
            <a:off x="3571050" y="5135709"/>
            <a:ext cx="7719802" cy="972357"/>
          </a:xfrm>
          <a:prstGeom prst="roundRect">
            <a:avLst>
              <a:gd name="adj" fmla="val 2529"/>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lIns="88900" tIns="88900" rIns="88900" bIns="88900" rtlCol="0" anchor="ctr"/>
          <a:lstStyle/>
          <a:p>
            <a:pPr marL="171450" indent="-171450">
              <a:spcAft>
                <a:spcPts val="600"/>
              </a:spcAft>
              <a:buSzPct val="100000"/>
              <a:buFont typeface="Arial" panose="020B0604020202020204" pitchFamily="34" charset="0"/>
              <a:buChar char="•"/>
            </a:pPr>
            <a:r>
              <a:rPr lang="en-US" sz="1400" dirty="0">
                <a:solidFill>
                  <a:prstClr val="black"/>
                </a:solidFill>
                <a:latin typeface="Verdana" panose="020B0604030504040204" pitchFamily="34" charset="0"/>
                <a:ea typeface="Verdana" panose="020B0604030504040204" pitchFamily="34" charset="0"/>
              </a:rPr>
              <a:t>Considering the risk appetite of investors and the State, higher the perceived risk, higher the return requirement of private investor, thus impacting tariff.</a:t>
            </a:r>
          </a:p>
          <a:p>
            <a:pPr marL="171450" indent="-171450">
              <a:spcAft>
                <a:spcPts val="600"/>
              </a:spcAft>
              <a:buSzPct val="100000"/>
              <a:buFont typeface="Arial" panose="020B0604020202020204" pitchFamily="34" charset="0"/>
              <a:buChar char="•"/>
            </a:pPr>
            <a:r>
              <a:rPr lang="en-US" sz="1400" dirty="0">
                <a:solidFill>
                  <a:prstClr val="black"/>
                </a:solidFill>
                <a:latin typeface="Verdana" panose="020B0604030504040204" pitchFamily="34" charset="0"/>
                <a:ea typeface="Verdana" panose="020B0604030504040204" pitchFamily="34" charset="0"/>
              </a:rPr>
              <a:t>Private sector efficiencies are expected to keep the tariffs low, however low tariffs become financially unviable over the project period, thus increasing the risk.</a:t>
            </a:r>
          </a:p>
        </p:txBody>
      </p:sp>
      <p:sp>
        <p:nvSpPr>
          <p:cNvPr id="78" name="Rectangle: Rounded Corners 77">
            <a:extLst>
              <a:ext uri="{FF2B5EF4-FFF2-40B4-BE49-F238E27FC236}">
                <a16:creationId xmlns:a16="http://schemas.microsoft.com/office/drawing/2014/main" id="{B1782ECF-75AB-4800-953B-9E727CE43B09}"/>
              </a:ext>
            </a:extLst>
          </p:cNvPr>
          <p:cNvSpPr/>
          <p:nvPr/>
        </p:nvSpPr>
        <p:spPr>
          <a:xfrm>
            <a:off x="959747" y="5093177"/>
            <a:ext cx="2173713" cy="1060450"/>
          </a:xfrm>
          <a:prstGeom prst="roundRect">
            <a:avLst>
              <a:gd name="adj" fmla="val 50000"/>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89748DD0-53B3-423F-A127-50BD67B69AE8}"/>
              </a:ext>
            </a:extLst>
          </p:cNvPr>
          <p:cNvSpPr txBox="1"/>
          <p:nvPr/>
        </p:nvSpPr>
        <p:spPr>
          <a:xfrm>
            <a:off x="1076093" y="5388296"/>
            <a:ext cx="1889248" cy="523220"/>
          </a:xfrm>
          <a:prstGeom prst="rect">
            <a:avLst/>
          </a:prstGeom>
          <a:noFill/>
        </p:spPr>
        <p:txBody>
          <a:bodyPr wrap="square">
            <a:spAutoFit/>
          </a:bodyPr>
          <a:lstStyle/>
          <a:p>
            <a:pPr algn="ctr"/>
            <a:r>
              <a:rPr lang="da-DK" sz="1400" b="1" dirty="0">
                <a:solidFill>
                  <a:schemeClr val="bg1"/>
                </a:solidFill>
                <a:latin typeface="Verdana" panose="020B0604030504040204" pitchFamily="34" charset="0"/>
                <a:ea typeface="Verdana" panose="020B0604030504040204" pitchFamily="34" charset="0"/>
              </a:rPr>
              <a:t>Risk with PPP mode</a:t>
            </a:r>
            <a:endParaRPr lang="en-US" sz="1400" dirty="0">
              <a:solidFill>
                <a:schemeClr val="bg1"/>
              </a:solidFill>
            </a:endParaRPr>
          </a:p>
        </p:txBody>
      </p:sp>
      <p:sp>
        <p:nvSpPr>
          <p:cNvPr id="3" name="Rectangle 2">
            <a:extLst>
              <a:ext uri="{FF2B5EF4-FFF2-40B4-BE49-F238E27FC236}">
                <a16:creationId xmlns:a16="http://schemas.microsoft.com/office/drawing/2014/main" id="{A3651A78-5A8D-4211-A0AE-83FCA8918144}"/>
              </a:ext>
            </a:extLst>
          </p:cNvPr>
          <p:cNvSpPr/>
          <p:nvPr/>
        </p:nvSpPr>
        <p:spPr bwMode="gray">
          <a:xfrm>
            <a:off x="200167" y="1251257"/>
            <a:ext cx="866981" cy="79983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latin typeface="Verdana" panose="020B0604030504040204" pitchFamily="34" charset="0"/>
                <a:ea typeface="Verdana" panose="020B0604030504040204" pitchFamily="34" charset="0"/>
              </a:rPr>
              <a:t>1</a:t>
            </a:r>
          </a:p>
        </p:txBody>
      </p:sp>
      <p:sp>
        <p:nvSpPr>
          <p:cNvPr id="26" name="Rectangle 25">
            <a:extLst>
              <a:ext uri="{FF2B5EF4-FFF2-40B4-BE49-F238E27FC236}">
                <a16:creationId xmlns:a16="http://schemas.microsoft.com/office/drawing/2014/main" id="{A57A7A2A-2428-4D24-8BA1-C9D3747DB12A}"/>
              </a:ext>
            </a:extLst>
          </p:cNvPr>
          <p:cNvSpPr/>
          <p:nvPr/>
        </p:nvSpPr>
        <p:spPr bwMode="gray">
          <a:xfrm>
            <a:off x="200166" y="2573667"/>
            <a:ext cx="866981" cy="79983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latin typeface="Verdana" panose="020B0604030504040204" pitchFamily="34" charset="0"/>
                <a:ea typeface="Verdana" panose="020B0604030504040204" pitchFamily="34" charset="0"/>
              </a:rPr>
              <a:t>2</a:t>
            </a:r>
          </a:p>
        </p:txBody>
      </p:sp>
      <p:sp>
        <p:nvSpPr>
          <p:cNvPr id="27" name="Rectangle 26">
            <a:extLst>
              <a:ext uri="{FF2B5EF4-FFF2-40B4-BE49-F238E27FC236}">
                <a16:creationId xmlns:a16="http://schemas.microsoft.com/office/drawing/2014/main" id="{A78D36BF-527C-4B27-A12C-CCCB80DA722D}"/>
              </a:ext>
            </a:extLst>
          </p:cNvPr>
          <p:cNvSpPr/>
          <p:nvPr/>
        </p:nvSpPr>
        <p:spPr bwMode="gray">
          <a:xfrm>
            <a:off x="208494" y="3920718"/>
            <a:ext cx="866981" cy="79983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latin typeface="Verdana" panose="020B0604030504040204" pitchFamily="34" charset="0"/>
                <a:ea typeface="Verdana" panose="020B0604030504040204" pitchFamily="34" charset="0"/>
              </a:rPr>
              <a:t>3</a:t>
            </a:r>
          </a:p>
        </p:txBody>
      </p:sp>
      <p:sp>
        <p:nvSpPr>
          <p:cNvPr id="28" name="Rectangle 27">
            <a:extLst>
              <a:ext uri="{FF2B5EF4-FFF2-40B4-BE49-F238E27FC236}">
                <a16:creationId xmlns:a16="http://schemas.microsoft.com/office/drawing/2014/main" id="{B4E996BE-000C-439A-B737-941449901CA0}"/>
              </a:ext>
            </a:extLst>
          </p:cNvPr>
          <p:cNvSpPr/>
          <p:nvPr/>
        </p:nvSpPr>
        <p:spPr bwMode="gray">
          <a:xfrm>
            <a:off x="208493" y="5243128"/>
            <a:ext cx="866981" cy="799833"/>
          </a:xfrm>
          <a:prstGeom prst="rect">
            <a:avLst/>
          </a:prstGeom>
          <a:no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3200" b="1" dirty="0">
                <a:latin typeface="Verdana" panose="020B0604030504040204" pitchFamily="34" charset="0"/>
                <a:ea typeface="Verdana" panose="020B0604030504040204" pitchFamily="34" charset="0"/>
              </a:rPr>
              <a:t>4</a:t>
            </a:r>
          </a:p>
        </p:txBody>
      </p:sp>
    </p:spTree>
    <p:custDataLst>
      <p:tags r:id="rId1"/>
    </p:custDataLst>
    <p:extLst>
      <p:ext uri="{BB962C8B-B14F-4D97-AF65-F5344CB8AC3E}">
        <p14:creationId xmlns:p14="http://schemas.microsoft.com/office/powerpoint/2010/main" val="37982995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F55AF75-6519-4763-AAFD-E9DBF8672EA9}"/>
              </a:ext>
            </a:extLst>
          </p:cNvPr>
          <p:cNvSpPr>
            <a:spLocks noGrp="1"/>
          </p:cNvSpPr>
          <p:nvPr>
            <p:ph type="body" sz="quarter" idx="13"/>
          </p:nvPr>
        </p:nvSpPr>
        <p:spPr>
          <a:xfrm>
            <a:off x="427559" y="209096"/>
            <a:ext cx="11409210" cy="453612"/>
          </a:xfrm>
        </p:spPr>
        <p:txBody>
          <a:bodyPr/>
          <a:lstStyle/>
          <a:p>
            <a:r>
              <a:rPr lang="en-US" sz="1600" b="1" dirty="0">
                <a:latin typeface="Verdana" panose="020B0604030504040204" pitchFamily="34" charset="0"/>
                <a:ea typeface="Verdana" panose="020B0604030504040204" pitchFamily="34" charset="0"/>
              </a:rPr>
              <a:t>State Solar Policy (2/3)</a:t>
            </a:r>
            <a:endParaRPr lang="en-US" sz="1600" dirty="0">
              <a:solidFill>
                <a:schemeClr val="tx1">
                  <a:lumMod val="50000"/>
                  <a:lumOff val="50000"/>
                </a:schemeClr>
              </a:solidFill>
              <a:latin typeface="Verdana" panose="020B0604030504040204" pitchFamily="34" charset="0"/>
              <a:ea typeface="Verdana" panose="020B0604030504040204" pitchFamily="34" charset="0"/>
            </a:endParaRPr>
          </a:p>
        </p:txBody>
      </p:sp>
      <p:sp>
        <p:nvSpPr>
          <p:cNvPr id="31" name="Text Placeholder 2">
            <a:extLst>
              <a:ext uri="{FF2B5EF4-FFF2-40B4-BE49-F238E27FC236}">
                <a16:creationId xmlns:a16="http://schemas.microsoft.com/office/drawing/2014/main" id="{A41C5D87-2E9E-48DE-AAB5-7A3EB6DC109A}"/>
              </a:ext>
            </a:extLst>
          </p:cNvPr>
          <p:cNvSpPr txBox="1">
            <a:spLocks/>
          </p:cNvSpPr>
          <p:nvPr/>
        </p:nvSpPr>
        <p:spPr>
          <a:xfrm>
            <a:off x="455925" y="59577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Jharkhand Solar Policy 2022 – Key Features</a:t>
            </a:r>
          </a:p>
        </p:txBody>
      </p:sp>
      <p:grpSp>
        <p:nvGrpSpPr>
          <p:cNvPr id="2" name="Group 1">
            <a:extLst>
              <a:ext uri="{FF2B5EF4-FFF2-40B4-BE49-F238E27FC236}">
                <a16:creationId xmlns:a16="http://schemas.microsoft.com/office/drawing/2014/main" id="{5AD76E93-E59D-4981-81A4-90A4937367ED}"/>
              </a:ext>
            </a:extLst>
          </p:cNvPr>
          <p:cNvGrpSpPr/>
          <p:nvPr/>
        </p:nvGrpSpPr>
        <p:grpSpPr>
          <a:xfrm>
            <a:off x="455925" y="1263610"/>
            <a:ext cx="5465075" cy="2008396"/>
            <a:chOff x="470090" y="2877061"/>
            <a:chExt cx="3687240" cy="1650028"/>
          </a:xfrm>
        </p:grpSpPr>
        <p:sp>
          <p:nvSpPr>
            <p:cNvPr id="14" name="Text Box 10">
              <a:extLst>
                <a:ext uri="{FF2B5EF4-FFF2-40B4-BE49-F238E27FC236}">
                  <a16:creationId xmlns:a16="http://schemas.microsoft.com/office/drawing/2014/main" id="{A63BBA50-88F9-4195-9760-9A18A066C45B}"/>
                </a:ext>
              </a:extLst>
            </p:cNvPr>
            <p:cNvSpPr txBox="1">
              <a:spLocks noChangeArrowheads="1"/>
            </p:cNvSpPr>
            <p:nvPr/>
          </p:nvSpPr>
          <p:spPr bwMode="auto">
            <a:xfrm>
              <a:off x="470090" y="2877061"/>
              <a:ext cx="3687240" cy="297579"/>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defTabSz="957263"/>
              <a:r>
                <a:rPr lang="en-US" sz="1300" b="1" dirty="0">
                  <a:solidFill>
                    <a:schemeClr val="bg1"/>
                  </a:solidFill>
                  <a:latin typeface="Verdana" panose="020B0604030504040204" pitchFamily="34" charset="0"/>
                  <a:ea typeface="Verdana" panose="020B0604030504040204" pitchFamily="34" charset="0"/>
                  <a:cs typeface="Arial" pitchFamily="34" charset="0"/>
                </a:rPr>
                <a:t>LAND</a:t>
              </a:r>
            </a:p>
          </p:txBody>
        </p:sp>
        <p:sp>
          <p:nvSpPr>
            <p:cNvPr id="15" name="Rectangle 11">
              <a:extLst>
                <a:ext uri="{FF2B5EF4-FFF2-40B4-BE49-F238E27FC236}">
                  <a16:creationId xmlns:a16="http://schemas.microsoft.com/office/drawing/2014/main" id="{5D9C6580-63DF-44B3-BEA7-5D74A356D907}"/>
                </a:ext>
              </a:extLst>
            </p:cNvPr>
            <p:cNvSpPr>
              <a:spLocks noChangeArrowheads="1"/>
            </p:cNvSpPr>
            <p:nvPr/>
          </p:nvSpPr>
          <p:spPr bwMode="auto">
            <a:xfrm>
              <a:off x="470090" y="3174639"/>
              <a:ext cx="3687240" cy="1352450"/>
            </a:xfrm>
            <a:prstGeom prst="rect">
              <a:avLst/>
            </a:prstGeom>
            <a:noFill/>
            <a:ln w="12700" algn="ctr">
              <a:solidFill>
                <a:srgbClr val="009A44"/>
              </a:solidFill>
              <a:miter lim="800000"/>
              <a:headEnd/>
              <a:tailEnd/>
            </a:ln>
          </p:spPr>
          <p:txBody>
            <a:bodyPr lIns="88900" tIns="88900" rIns="88900" bIns="88900" anchor="t" anchorCtr="0"/>
            <a:lstStyle/>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Suitable land/ dam/ canal parcels will be converted into a land/ dam/ canal bank for solar deployment under the provisions of Land Acquisition Act for a period of 30 years</a:t>
              </a:r>
            </a:p>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There shall be 100% exemption of stamp duty and a 100% waiver on land use conversion charges/fees</a:t>
              </a:r>
            </a:p>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Solar installations for EV charging on government land will also be eligible for an additional 50% concession on land lease payment. </a:t>
              </a:r>
            </a:p>
          </p:txBody>
        </p:sp>
      </p:grpSp>
      <p:grpSp>
        <p:nvGrpSpPr>
          <p:cNvPr id="28" name="Group 27">
            <a:extLst>
              <a:ext uri="{FF2B5EF4-FFF2-40B4-BE49-F238E27FC236}">
                <a16:creationId xmlns:a16="http://schemas.microsoft.com/office/drawing/2014/main" id="{8C2DE5CC-27DD-458C-942F-BF5FB8F20624}"/>
              </a:ext>
            </a:extLst>
          </p:cNvPr>
          <p:cNvGrpSpPr/>
          <p:nvPr/>
        </p:nvGrpSpPr>
        <p:grpSpPr>
          <a:xfrm>
            <a:off x="6192250" y="1263611"/>
            <a:ext cx="5465075" cy="2008395"/>
            <a:chOff x="470090" y="2877061"/>
            <a:chExt cx="3687240" cy="1650027"/>
          </a:xfrm>
        </p:grpSpPr>
        <p:sp>
          <p:nvSpPr>
            <p:cNvPr id="29" name="Text Box 10">
              <a:extLst>
                <a:ext uri="{FF2B5EF4-FFF2-40B4-BE49-F238E27FC236}">
                  <a16:creationId xmlns:a16="http://schemas.microsoft.com/office/drawing/2014/main" id="{865A0910-93B1-494E-8F26-5DEC3A5F60D2}"/>
                </a:ext>
              </a:extLst>
            </p:cNvPr>
            <p:cNvSpPr txBox="1">
              <a:spLocks noChangeArrowheads="1"/>
            </p:cNvSpPr>
            <p:nvPr/>
          </p:nvSpPr>
          <p:spPr bwMode="auto">
            <a:xfrm>
              <a:off x="470090" y="2877061"/>
              <a:ext cx="3687240" cy="297579"/>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defTabSz="957263"/>
              <a:r>
                <a:rPr lang="en-US" sz="1300" b="1" dirty="0">
                  <a:solidFill>
                    <a:schemeClr val="bg1"/>
                  </a:solidFill>
                  <a:latin typeface="Verdana" panose="020B0604030504040204" pitchFamily="34" charset="0"/>
                  <a:ea typeface="Verdana" panose="020B0604030504040204" pitchFamily="34" charset="0"/>
                  <a:cs typeface="Arial" pitchFamily="34" charset="0"/>
                </a:rPr>
                <a:t>POWER PURCHASE</a:t>
              </a:r>
            </a:p>
          </p:txBody>
        </p:sp>
        <p:sp>
          <p:nvSpPr>
            <p:cNvPr id="30" name="Rectangle 11">
              <a:extLst>
                <a:ext uri="{FF2B5EF4-FFF2-40B4-BE49-F238E27FC236}">
                  <a16:creationId xmlns:a16="http://schemas.microsoft.com/office/drawing/2014/main" id="{A022F50A-FF53-4580-9EDA-41EBFBCD6357}"/>
                </a:ext>
              </a:extLst>
            </p:cNvPr>
            <p:cNvSpPr>
              <a:spLocks noChangeArrowheads="1"/>
            </p:cNvSpPr>
            <p:nvPr/>
          </p:nvSpPr>
          <p:spPr bwMode="auto">
            <a:xfrm>
              <a:off x="470090" y="3174640"/>
              <a:ext cx="3687240" cy="1352448"/>
            </a:xfrm>
            <a:prstGeom prst="rect">
              <a:avLst/>
            </a:prstGeom>
            <a:noFill/>
            <a:ln w="12700" algn="ctr">
              <a:solidFill>
                <a:srgbClr val="009A44"/>
              </a:solidFill>
              <a:miter lim="800000"/>
              <a:headEnd/>
              <a:tailEnd/>
            </a:ln>
          </p:spPr>
          <p:txBody>
            <a:bodyPr lIns="88900" tIns="88900" rIns="88900" bIns="88900" anchor="t" anchorCtr="0"/>
            <a:lstStyle/>
            <a:p>
              <a:pPr marL="171450" indent="-171450">
                <a:spcBef>
                  <a:spcPts val="300"/>
                </a:spcBef>
                <a:buFont typeface="Arial" panose="020B0604020202020204" pitchFamily="34" charset="0"/>
                <a:buChar char="•"/>
              </a:pPr>
              <a:r>
                <a:rPr lang="en-US" sz="1200" dirty="0">
                  <a:latin typeface="Verdana" panose="020B0604030504040204" pitchFamily="34" charset="0"/>
                  <a:ea typeface="Verdana" panose="020B0604030504040204" pitchFamily="34" charset="0"/>
                </a:rPr>
                <a:t>Competitive bidding guidelines shall be followed for procurement of power from RE sources and </a:t>
              </a:r>
              <a:r>
                <a:rPr lang="en-US" sz="1200" b="0" i="0" u="none" strike="noStrike" baseline="0" dirty="0">
                  <a:latin typeface="Verdana" panose="020B0604030504040204" pitchFamily="34" charset="0"/>
                  <a:ea typeface="Verdana" panose="020B0604030504040204" pitchFamily="34" charset="0"/>
                </a:rPr>
                <a:t>the DISCOMs shall determine the appropriate ceiling tariff</a:t>
              </a:r>
            </a:p>
            <a:p>
              <a:pPr marL="171450" indent="-171450">
                <a:spcBef>
                  <a:spcPts val="300"/>
                </a:spcBef>
                <a:buFont typeface="Arial" panose="020B0604020202020204" pitchFamily="34" charset="0"/>
                <a:buChar char="•"/>
              </a:pPr>
              <a:r>
                <a:rPr lang="en-US" sz="1200" i="1" u="none" strike="noStrike" baseline="0" dirty="0">
                  <a:latin typeface="Verdana" panose="020B0604030504040204" pitchFamily="34" charset="0"/>
                  <a:ea typeface="Verdana" panose="020B0604030504040204" pitchFamily="34" charset="0"/>
                </a:rPr>
                <a:t>Green tariff </a:t>
              </a:r>
              <a:r>
                <a:rPr lang="en-US" sz="1200" b="0" i="0" u="none" strike="noStrike" baseline="0" dirty="0">
                  <a:latin typeface="Verdana" panose="020B0604030504040204" pitchFamily="34" charset="0"/>
                  <a:ea typeface="Verdana" panose="020B0604030504040204" pitchFamily="34" charset="0"/>
                </a:rPr>
                <a:t>rate shall be either lower than or equivalent to the average pooled power purchase cost of non-conventional sources of energy of DISCOM to encourage early movers</a:t>
              </a:r>
            </a:p>
            <a:p>
              <a:pPr marL="171450" indent="-171450">
                <a:spcBef>
                  <a:spcPts val="300"/>
                </a:spcBef>
                <a:buFont typeface="Arial" panose="020B0604020202020204" pitchFamily="34" charset="0"/>
                <a:buChar char="•"/>
              </a:pPr>
              <a:r>
                <a:rPr lang="en-US" sz="1200" dirty="0">
                  <a:latin typeface="Verdana" panose="020B0604030504040204" pitchFamily="34" charset="0"/>
                  <a:ea typeface="Verdana" panose="020B0604030504040204" pitchFamily="34" charset="0"/>
                </a:rPr>
                <a:t>SLDC may ensure ‘Must Run’ Status of Solar Plants in the State</a:t>
              </a:r>
            </a:p>
            <a:p>
              <a:pPr marL="171450" indent="-171450">
                <a:buFont typeface="Arial" panose="020B0604020202020204" pitchFamily="34" charset="0"/>
                <a:buChar char="•"/>
              </a:pPr>
              <a:endParaRPr lang="en-US" sz="1200" dirty="0">
                <a:latin typeface="Verdana" panose="020B0604030504040204" pitchFamily="34" charset="0"/>
                <a:ea typeface="Verdana" panose="020B0604030504040204" pitchFamily="34" charset="0"/>
              </a:endParaRPr>
            </a:p>
          </p:txBody>
        </p:sp>
      </p:grpSp>
      <p:grpSp>
        <p:nvGrpSpPr>
          <p:cNvPr id="32" name="Group 31">
            <a:extLst>
              <a:ext uri="{FF2B5EF4-FFF2-40B4-BE49-F238E27FC236}">
                <a16:creationId xmlns:a16="http://schemas.microsoft.com/office/drawing/2014/main" id="{50D55E71-EC28-4278-9064-D32A6554DE0D}"/>
              </a:ext>
            </a:extLst>
          </p:cNvPr>
          <p:cNvGrpSpPr/>
          <p:nvPr/>
        </p:nvGrpSpPr>
        <p:grpSpPr>
          <a:xfrm>
            <a:off x="455925" y="3645990"/>
            <a:ext cx="5465075" cy="2402268"/>
            <a:chOff x="470090" y="2877061"/>
            <a:chExt cx="3687240" cy="1973620"/>
          </a:xfrm>
        </p:grpSpPr>
        <p:sp>
          <p:nvSpPr>
            <p:cNvPr id="33" name="Text Box 10">
              <a:extLst>
                <a:ext uri="{FF2B5EF4-FFF2-40B4-BE49-F238E27FC236}">
                  <a16:creationId xmlns:a16="http://schemas.microsoft.com/office/drawing/2014/main" id="{E157DF73-C261-4A57-8401-93BC346E21CC}"/>
                </a:ext>
              </a:extLst>
            </p:cNvPr>
            <p:cNvSpPr txBox="1">
              <a:spLocks noChangeArrowheads="1"/>
            </p:cNvSpPr>
            <p:nvPr/>
          </p:nvSpPr>
          <p:spPr bwMode="auto">
            <a:xfrm>
              <a:off x="470090" y="2877061"/>
              <a:ext cx="3687240" cy="297579"/>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defTabSz="957263"/>
              <a:r>
                <a:rPr lang="en-US" sz="1300" b="1" dirty="0">
                  <a:solidFill>
                    <a:schemeClr val="bg1"/>
                  </a:solidFill>
                  <a:latin typeface="Verdana" panose="020B0604030504040204" pitchFamily="34" charset="0"/>
                  <a:ea typeface="Verdana" panose="020B0604030504040204" pitchFamily="34" charset="0"/>
                  <a:cs typeface="Arial" pitchFamily="34" charset="0"/>
                </a:rPr>
                <a:t>INCENTIVES</a:t>
              </a:r>
            </a:p>
          </p:txBody>
        </p:sp>
        <p:sp>
          <p:nvSpPr>
            <p:cNvPr id="34" name="Rectangle 11">
              <a:extLst>
                <a:ext uri="{FF2B5EF4-FFF2-40B4-BE49-F238E27FC236}">
                  <a16:creationId xmlns:a16="http://schemas.microsoft.com/office/drawing/2014/main" id="{D5168663-8DA5-4E2C-9DB3-387C33315D62}"/>
                </a:ext>
              </a:extLst>
            </p:cNvPr>
            <p:cNvSpPr>
              <a:spLocks noChangeArrowheads="1"/>
            </p:cNvSpPr>
            <p:nvPr/>
          </p:nvSpPr>
          <p:spPr bwMode="auto">
            <a:xfrm>
              <a:off x="470090" y="3174640"/>
              <a:ext cx="3687240" cy="1676041"/>
            </a:xfrm>
            <a:prstGeom prst="rect">
              <a:avLst/>
            </a:prstGeom>
            <a:noFill/>
            <a:ln w="12700" algn="ctr">
              <a:solidFill>
                <a:srgbClr val="009A44"/>
              </a:solidFill>
              <a:miter lim="800000"/>
              <a:headEnd/>
              <a:tailEnd/>
            </a:ln>
          </p:spPr>
          <p:txBody>
            <a:bodyPr lIns="88900" tIns="88900" rIns="88900" bIns="88900" anchor="t" anchorCtr="0"/>
            <a:lstStyle/>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Electricity duty and SGST shall be exempted/reimbursed for 5 years from COD</a:t>
              </a:r>
            </a:p>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All costs of building/ augmenting necessary grid infrastructure for connectivity shall be borne by the State Government</a:t>
              </a:r>
            </a:p>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The state subsidy shall be available over and above the central subsidy.</a:t>
              </a:r>
            </a:p>
            <a:p>
              <a:pPr marL="114300" lvl="1" indent="-114300" defTabSz="957263">
                <a:spcBef>
                  <a:spcPts val="200"/>
                </a:spcBef>
                <a:spcAft>
                  <a:spcPts val="300"/>
                </a:spcAft>
                <a:buSzPct val="100000"/>
                <a:buFont typeface="Arial"/>
                <a:buChar char="•"/>
              </a:pPr>
              <a:r>
                <a:rPr lang="en-US" sz="1200" dirty="0">
                  <a:latin typeface="Verdana" panose="020B0604030504040204" pitchFamily="34" charset="0"/>
                  <a:ea typeface="Verdana" panose="020B0604030504040204" pitchFamily="34" charset="0"/>
                  <a:cs typeface="Arial" pitchFamily="34" charset="0"/>
                </a:rPr>
                <a:t>If project is completed and commissioned within the scheduled period, then exemption on electricity duty and banking charges for 10 years</a:t>
              </a:r>
            </a:p>
            <a:p>
              <a:pPr marL="114300" lvl="1" indent="-114300" defTabSz="957263">
                <a:spcBef>
                  <a:spcPts val="200"/>
                </a:spcBef>
                <a:spcAft>
                  <a:spcPts val="300"/>
                </a:spcAft>
                <a:buSzPct val="100000"/>
                <a:buFont typeface="Arial"/>
                <a:buChar char="•"/>
              </a:pPr>
              <a:endParaRPr lang="en-US" sz="1200" dirty="0">
                <a:latin typeface="Verdana" panose="020B0604030504040204" pitchFamily="34" charset="0"/>
                <a:ea typeface="Verdana" panose="020B0604030504040204" pitchFamily="34" charset="0"/>
                <a:cs typeface="Arial" pitchFamily="34" charset="0"/>
              </a:endParaRPr>
            </a:p>
          </p:txBody>
        </p:sp>
      </p:grpSp>
      <p:grpSp>
        <p:nvGrpSpPr>
          <p:cNvPr id="35" name="Group 34">
            <a:extLst>
              <a:ext uri="{FF2B5EF4-FFF2-40B4-BE49-F238E27FC236}">
                <a16:creationId xmlns:a16="http://schemas.microsoft.com/office/drawing/2014/main" id="{0CE26BB2-7071-44A0-9AF1-2F47A596AA9D}"/>
              </a:ext>
            </a:extLst>
          </p:cNvPr>
          <p:cNvGrpSpPr/>
          <p:nvPr/>
        </p:nvGrpSpPr>
        <p:grpSpPr>
          <a:xfrm>
            <a:off x="6192250" y="3645993"/>
            <a:ext cx="5465075" cy="2402264"/>
            <a:chOff x="470090" y="2877061"/>
            <a:chExt cx="3687240" cy="1863254"/>
          </a:xfrm>
        </p:grpSpPr>
        <p:sp>
          <p:nvSpPr>
            <p:cNvPr id="36" name="Text Box 10">
              <a:extLst>
                <a:ext uri="{FF2B5EF4-FFF2-40B4-BE49-F238E27FC236}">
                  <a16:creationId xmlns:a16="http://schemas.microsoft.com/office/drawing/2014/main" id="{9461C369-4D11-4C4D-9266-3DF17FE3A0E1}"/>
                </a:ext>
              </a:extLst>
            </p:cNvPr>
            <p:cNvSpPr txBox="1">
              <a:spLocks noChangeArrowheads="1"/>
            </p:cNvSpPr>
            <p:nvPr/>
          </p:nvSpPr>
          <p:spPr bwMode="auto">
            <a:xfrm>
              <a:off x="470090" y="2877061"/>
              <a:ext cx="3687240" cy="297579"/>
            </a:xfrm>
            <a:prstGeom prst="rect">
              <a:avLst/>
            </a:prstGeom>
            <a:solidFill>
              <a:srgbClr val="009A44"/>
            </a:solidFill>
            <a:ln w="12700" algn="ctr">
              <a:solidFill>
                <a:srgbClr val="009A44"/>
              </a:solidFill>
              <a:miter lim="800000"/>
              <a:headEnd/>
              <a:tailEnd type="none" w="sm" len="med"/>
            </a:ln>
          </p:spPr>
          <p:txBody>
            <a:bodyPr lIns="88900" tIns="88900" rIns="88900" bIns="88900" anchor="ctr" anchorCtr="0"/>
            <a:lstStyle/>
            <a:p>
              <a:pPr defTabSz="957263"/>
              <a:r>
                <a:rPr lang="en-US" sz="1300" b="1" dirty="0">
                  <a:solidFill>
                    <a:schemeClr val="bg1"/>
                  </a:solidFill>
                  <a:latin typeface="Verdana" panose="020B0604030504040204" pitchFamily="34" charset="0"/>
                  <a:ea typeface="Verdana" panose="020B0604030504040204" pitchFamily="34" charset="0"/>
                  <a:cs typeface="Arial" pitchFamily="34" charset="0"/>
                </a:rPr>
                <a:t>OPEN ACCESS</a:t>
              </a:r>
            </a:p>
          </p:txBody>
        </p:sp>
        <p:sp>
          <p:nvSpPr>
            <p:cNvPr id="37" name="Rectangle 11">
              <a:extLst>
                <a:ext uri="{FF2B5EF4-FFF2-40B4-BE49-F238E27FC236}">
                  <a16:creationId xmlns:a16="http://schemas.microsoft.com/office/drawing/2014/main" id="{A67CDF95-D515-4F96-9798-A64C0CF5DD54}"/>
                </a:ext>
              </a:extLst>
            </p:cNvPr>
            <p:cNvSpPr>
              <a:spLocks noChangeArrowheads="1"/>
            </p:cNvSpPr>
            <p:nvPr/>
          </p:nvSpPr>
          <p:spPr bwMode="auto">
            <a:xfrm>
              <a:off x="470090" y="3174639"/>
              <a:ext cx="3687240" cy="1565676"/>
            </a:xfrm>
            <a:prstGeom prst="rect">
              <a:avLst/>
            </a:prstGeom>
            <a:noFill/>
            <a:ln w="12700" algn="ctr">
              <a:solidFill>
                <a:srgbClr val="009A44"/>
              </a:solidFill>
              <a:miter lim="800000"/>
              <a:headEnd/>
              <a:tailEnd/>
            </a:ln>
          </p:spPr>
          <p:txBody>
            <a:bodyPr lIns="88900" tIns="88900" rIns="88900" bIns="88900" anchor="t" anchorCtr="0"/>
            <a:lstStyle/>
            <a:p>
              <a:pPr marL="171450" indent="-171450">
                <a:spcBef>
                  <a:spcPts val="300"/>
                </a:spcBef>
                <a:buFont typeface="Arial" panose="020B0604020202020204" pitchFamily="34" charset="0"/>
                <a:buChar char="•"/>
              </a:pPr>
              <a:r>
                <a:rPr lang="en-US" sz="1200" dirty="0">
                  <a:latin typeface="Verdana" panose="020B0604030504040204" pitchFamily="34" charset="0"/>
                  <a:ea typeface="Verdana" panose="020B0604030504040204" pitchFamily="34" charset="0"/>
                </a:rPr>
                <a:t>For intra-state Open Access, Grid-connected solar power projects with storage systems selling power shall attract 100% exemption from transmission and wheeling charges for a period of 10 years</a:t>
              </a:r>
            </a:p>
            <a:p>
              <a:pPr marL="171450" indent="-171450">
                <a:spcBef>
                  <a:spcPts val="300"/>
                </a:spcBef>
                <a:buFont typeface="Arial" panose="020B0604020202020204" pitchFamily="34" charset="0"/>
                <a:buChar char="•"/>
              </a:pPr>
              <a:r>
                <a:rPr lang="en-US" sz="1200" dirty="0">
                  <a:latin typeface="Verdana" panose="020B0604030504040204" pitchFamily="34" charset="0"/>
                  <a:ea typeface="Verdana" panose="020B0604030504040204" pitchFamily="34" charset="0"/>
                </a:rPr>
                <a:t>Cross-subsidy surcharge and additional surcharge shall be exempted solar power projects set up for third party sale within the state (less than 25 MW) and captive solar projects</a:t>
              </a:r>
            </a:p>
            <a:p>
              <a:pPr marL="171450" indent="-171450">
                <a:spcBef>
                  <a:spcPts val="300"/>
                </a:spcBef>
                <a:buFont typeface="Arial" panose="020B0604020202020204" pitchFamily="34" charset="0"/>
                <a:buChar char="•"/>
              </a:pPr>
              <a:r>
                <a:rPr lang="en-US" sz="1200" dirty="0">
                  <a:latin typeface="Verdana" panose="020B0604030504040204" pitchFamily="34" charset="0"/>
                  <a:ea typeface="Verdana" panose="020B0604030504040204" pitchFamily="34" charset="0"/>
                </a:rPr>
                <a:t>Banking of 100% of energy shall be permitted during all 12 months of the year</a:t>
              </a:r>
            </a:p>
          </p:txBody>
        </p:sp>
      </p:grpSp>
    </p:spTree>
    <p:extLst>
      <p:ext uri="{BB962C8B-B14F-4D97-AF65-F5344CB8AC3E}">
        <p14:creationId xmlns:p14="http://schemas.microsoft.com/office/powerpoint/2010/main" val="22759901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Group 8">
            <a:extLst>
              <a:ext uri="{FF2B5EF4-FFF2-40B4-BE49-F238E27FC236}">
                <a16:creationId xmlns:a16="http://schemas.microsoft.com/office/drawing/2014/main" id="{E3E3D34D-05D1-4E18-8DDF-A7F0C43A9F06}"/>
              </a:ext>
            </a:extLst>
          </p:cNvPr>
          <p:cNvGraphicFramePr>
            <a:graphicFrameLocks noGrp="1"/>
          </p:cNvGraphicFramePr>
          <p:nvPr>
            <p:extLst>
              <p:ext uri="{D42A27DB-BD31-4B8C-83A1-F6EECF244321}">
                <p14:modId xmlns:p14="http://schemas.microsoft.com/office/powerpoint/2010/main" val="2035645623"/>
              </p:ext>
            </p:extLst>
          </p:nvPr>
        </p:nvGraphicFramePr>
        <p:xfrm>
          <a:off x="349600" y="1003298"/>
          <a:ext cx="11284918" cy="4558888"/>
        </p:xfrm>
        <a:graphic>
          <a:graphicData uri="http://schemas.openxmlformats.org/drawingml/2006/table">
            <a:tbl>
              <a:tblPr/>
              <a:tblGrid>
                <a:gridCol w="2679634">
                  <a:extLst>
                    <a:ext uri="{9D8B030D-6E8A-4147-A177-3AD203B41FA5}">
                      <a16:colId xmlns:a16="http://schemas.microsoft.com/office/drawing/2014/main" val="20000"/>
                    </a:ext>
                  </a:extLst>
                </a:gridCol>
                <a:gridCol w="3492706">
                  <a:extLst>
                    <a:ext uri="{9D8B030D-6E8A-4147-A177-3AD203B41FA5}">
                      <a16:colId xmlns:a16="http://schemas.microsoft.com/office/drawing/2014/main" val="20001"/>
                    </a:ext>
                  </a:extLst>
                </a:gridCol>
                <a:gridCol w="2930719">
                  <a:extLst>
                    <a:ext uri="{9D8B030D-6E8A-4147-A177-3AD203B41FA5}">
                      <a16:colId xmlns:a16="http://schemas.microsoft.com/office/drawing/2014/main" val="20002"/>
                    </a:ext>
                  </a:extLst>
                </a:gridCol>
                <a:gridCol w="2181859">
                  <a:extLst>
                    <a:ext uri="{9D8B030D-6E8A-4147-A177-3AD203B41FA5}">
                      <a16:colId xmlns:a16="http://schemas.microsoft.com/office/drawing/2014/main" val="20003"/>
                    </a:ext>
                  </a:extLst>
                </a:gridCol>
              </a:tblGrid>
              <a:tr h="348204">
                <a:tc>
                  <a:txBody>
                    <a:bodyPr/>
                    <a:lstStyle/>
                    <a:p>
                      <a:pPr marL="0" marR="0" lvl="0" indent="0" algn="l"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Particulars</a:t>
                      </a:r>
                    </a:p>
                  </a:txBody>
                  <a:tcPr marT="91440" marB="91440" anchor="ctr" horzOverflow="overflow">
                    <a:lnL cap="flat">
                      <a:noFill/>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Competitive Bidding: Model 1</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Competitive Bidding: Model 2</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6000"/>
                        </a:lnSpc>
                        <a:spcBef>
                          <a:spcPct val="50000"/>
                        </a:spcBef>
                        <a:spcAft>
                          <a:spcPct val="0"/>
                        </a:spcAft>
                        <a:buClrTx/>
                        <a:buSzTx/>
                        <a:buFont typeface="Arial" panose="020B0604020202020204" pitchFamily="34" charset="0"/>
                        <a:buNone/>
                        <a:tabLst/>
                      </a:pPr>
                      <a:r>
                        <a:rPr kumimoji="0" lang="en-US" sz="1200" b="1" i="0" u="none" strike="noStrike" cap="none" normalizeH="0" baseline="0" dirty="0">
                          <a:ln>
                            <a:noFill/>
                          </a:ln>
                          <a:solidFill>
                            <a:schemeClr val="bg1"/>
                          </a:solidFill>
                          <a:effectLst/>
                          <a:latin typeface="Verdana" panose="020B0604030504040204" pitchFamily="34" charset="0"/>
                          <a:ea typeface="Verdana" panose="020B0604030504040204" pitchFamily="34" charset="0"/>
                        </a:rPr>
                        <a:t>CAPEX</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50129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defRPr/>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Up-front Equity Infusion by GoJ</a:t>
                      </a:r>
                    </a:p>
                  </a:txBody>
                  <a:tcPr marT="91440" marB="91440" anchor="ctr" horzOverflow="overflow">
                    <a:lnL cap="flat">
                      <a:noFill/>
                    </a:lnL>
                    <a:lnR w="762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r>
                        <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p>
                  </a:txBody>
                  <a:tcPr marT="91440" marB="91440" anchor="ctr" horzOverflow="overflow">
                    <a:lnL w="762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no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8204">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Liability on GOJ</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9810015"/>
                  </a:ext>
                </a:extLst>
              </a:tr>
              <a:tr h="348204">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Profitability</a:t>
                      </a:r>
                      <a:endPar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326">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u="none" strike="noStrike" cap="none" normalizeH="0" baseline="0" dirty="0">
                          <a:ln>
                            <a:noFill/>
                          </a:ln>
                          <a:solidFill>
                            <a:schemeClr val="tx1"/>
                          </a:solidFill>
                          <a:effectLst/>
                          <a:latin typeface="Verdana" panose="020B0604030504040204" pitchFamily="34" charset="0"/>
                          <a:ea typeface="Verdana" panose="020B0604030504040204" pitchFamily="34" charset="0"/>
                        </a:rPr>
                        <a:t>Savings in PPC of JBVNL</a:t>
                      </a:r>
                      <a:endPar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6616">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Fulfillment of RPO Obligation</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9601">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Financially Viable Competitive Tariff</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8528">
                <a:tc>
                  <a:txBody>
                    <a:bodyPr/>
                    <a:lstStyle/>
                    <a:p>
                      <a:pPr marL="0" marR="0" lvl="0" indent="0" algn="l" defTabSz="914400" rtl="0" eaLnBrk="1" fontAlgn="base" latinLnBrk="0" hangingPunct="1">
                        <a:lnSpc>
                          <a:spcPct val="106000"/>
                        </a:lnSpc>
                        <a:spcBef>
                          <a:spcPct val="50000"/>
                        </a:spcBef>
                        <a:spcAft>
                          <a:spcPct val="0"/>
                        </a:spcAft>
                        <a:buClr>
                          <a:schemeClr val="tx1"/>
                        </a:buClr>
                        <a:buSzTx/>
                        <a:buFont typeface="Arial" panose="020B0604020202020204" pitchFamily="34" charset="0"/>
                        <a:buNone/>
                        <a:tabLst/>
                        <a:defRPr/>
                      </a:pPr>
                      <a:r>
                        <a:rPr kumimoji="0" lang="en-US" sz="11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Risk of Project Completion/Stranded PPA</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91307405"/>
                  </a:ext>
                </a:extLst>
              </a:tr>
              <a:tr h="501295">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Capacity Building &amp; Other Benefits</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1226222"/>
                  </a:ext>
                </a:extLst>
              </a:tr>
              <a:tr h="663479">
                <a:tc>
                  <a:txBody>
                    <a:bodyPr/>
                    <a:lstStyle/>
                    <a:p>
                      <a:pPr marL="0" marR="0" lvl="0" indent="0" algn="l" defTabSz="914400" rtl="0" eaLnBrk="1" fontAlgn="base" latinLnBrk="0" hangingPunct="1">
                        <a:lnSpc>
                          <a:spcPct val="100000"/>
                        </a:lnSpc>
                        <a:spcBef>
                          <a:spcPts val="0"/>
                        </a:spcBef>
                        <a:spcAft>
                          <a:spcPct val="0"/>
                        </a:spcAft>
                        <a:buClr>
                          <a:schemeClr val="tx1"/>
                        </a:buClr>
                        <a:buSzTx/>
                        <a:buFont typeface="Arial" panose="020B0604020202020204" pitchFamily="34" charset="0"/>
                        <a:buNone/>
                        <a:tabLst/>
                      </a:pPr>
                      <a:r>
                        <a:rPr kumimoji="0" lang="en-US" sz="1100" b="1" i="0" u="none" strike="noStrike" kern="1200" cap="none" normalizeH="0" baseline="0" dirty="0">
                          <a:ln>
                            <a:noFill/>
                          </a:ln>
                          <a:solidFill>
                            <a:schemeClr val="tx1"/>
                          </a:solidFill>
                          <a:effectLst/>
                          <a:latin typeface="Verdana" panose="020B0604030504040204" pitchFamily="34" charset="0"/>
                          <a:ea typeface="Verdana" panose="020B0604030504040204" pitchFamily="34" charset="0"/>
                          <a:cs typeface="+mn-cs"/>
                        </a:rPr>
                        <a:t>Manufacturing &amp; Employment generation</a:t>
                      </a:r>
                    </a:p>
                  </a:txBody>
                  <a:tcPr marT="91440" marB="91440" anchor="ctr" horzOverflow="overflow">
                    <a:lnL cap="flat">
                      <a:noFill/>
                    </a:lnL>
                    <a:lnR w="7620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w="76200" cap="flat" cmpd="sng" algn="ctr">
                      <a:noFill/>
                      <a:prstDash val="solid"/>
                      <a:round/>
                      <a:headEnd type="none" w="med" len="med"/>
                      <a:tailEnd type="none" w="med" len="med"/>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50000"/>
                        </a:spcBef>
                        <a:spcAft>
                          <a:spcPct val="0"/>
                        </a:spcAft>
                        <a:buClr>
                          <a:schemeClr val="tx1"/>
                        </a:buClr>
                        <a:buSzTx/>
                        <a:buFont typeface="Wingdings 2" pitchFamily="18" charset="2"/>
                        <a:buNone/>
                        <a:tabLst/>
                      </a:pPr>
                      <a:endParaRPr kumimoji="0" lang="en-US" sz="1200" b="1" i="0" u="none" strike="noStrike" cap="none" normalizeH="0" baseline="0" dirty="0">
                        <a:ln>
                          <a:noFill/>
                        </a:ln>
                        <a:solidFill>
                          <a:schemeClr val="tx1"/>
                        </a:solidFill>
                        <a:effectLst/>
                        <a:latin typeface="Verdana" panose="020B0604030504040204" pitchFamily="34" charset="0"/>
                        <a:ea typeface="Verdana" panose="020B0604030504040204" pitchFamily="34" charset="0"/>
                      </a:endParaRPr>
                    </a:p>
                  </a:txBody>
                  <a:tcPr marT="91440" marB="91440" anchor="ctr" horzOverflow="overflow">
                    <a:lnL>
                      <a:noFill/>
                    </a:lnL>
                    <a:lnR>
                      <a:noFill/>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72259295"/>
                  </a:ext>
                </a:extLst>
              </a:tr>
            </a:tbl>
          </a:graphicData>
        </a:graphic>
      </p:graphicFrame>
      <p:sp>
        <p:nvSpPr>
          <p:cNvPr id="3" name="Title 1">
            <a:extLst>
              <a:ext uri="{FF2B5EF4-FFF2-40B4-BE49-F238E27FC236}">
                <a16:creationId xmlns:a16="http://schemas.microsoft.com/office/drawing/2014/main" id="{1AD8A98E-B76C-4CA9-9057-3F481DC6C4D3}"/>
              </a:ext>
            </a:extLst>
          </p:cNvPr>
          <p:cNvSpPr txBox="1">
            <a:spLocks/>
          </p:cNvSpPr>
          <p:nvPr/>
        </p:nvSpPr>
        <p:spPr>
          <a:xfrm>
            <a:off x="239722" y="255226"/>
            <a:ext cx="11128668" cy="346004"/>
          </a:xfrm>
          <a:prstGeom prst="rect">
            <a:avLst/>
          </a:prstGeom>
        </p:spPr>
        <p:txBody>
          <a:bodyPr/>
          <a:lst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a:lstStyle>
          <a:p>
            <a:r>
              <a:rPr lang="en-US" sz="1600" b="1" dirty="0">
                <a:latin typeface="Verdana" panose="020B0604030504040204" pitchFamily="34" charset="0"/>
                <a:ea typeface="Verdana" panose="020B0604030504040204" pitchFamily="34" charset="0"/>
              </a:rPr>
              <a:t>Key Insights:  Benefits of CAPEX over Competitive Bidding/ PPP (1/4)</a:t>
            </a:r>
          </a:p>
        </p:txBody>
      </p:sp>
      <p:sp>
        <p:nvSpPr>
          <p:cNvPr id="4" name="Text Placeholder 2">
            <a:extLst>
              <a:ext uri="{FF2B5EF4-FFF2-40B4-BE49-F238E27FC236}">
                <a16:creationId xmlns:a16="http://schemas.microsoft.com/office/drawing/2014/main" id="{FE077443-A8FB-4F0D-AD49-FE76813D4FBB}"/>
              </a:ext>
            </a:extLst>
          </p:cNvPr>
          <p:cNvSpPr txBox="1">
            <a:spLocks/>
          </p:cNvSpPr>
          <p:nvPr/>
        </p:nvSpPr>
        <p:spPr>
          <a:xfrm>
            <a:off x="349600" y="651503"/>
            <a:ext cx="11201400" cy="362210"/>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2000" dirty="0">
                <a:solidFill>
                  <a:schemeClr val="tx1">
                    <a:lumMod val="50000"/>
                    <a:lumOff val="50000"/>
                  </a:schemeClr>
                </a:solidFill>
                <a:latin typeface="Verdana" panose="020B0604030504040204" pitchFamily="34" charset="0"/>
                <a:ea typeface="Verdana" panose="020B0604030504040204" pitchFamily="34" charset="0"/>
              </a:rPr>
              <a:t>Evaluation Matrix</a:t>
            </a:r>
          </a:p>
        </p:txBody>
      </p:sp>
      <p:sp>
        <p:nvSpPr>
          <p:cNvPr id="42" name="Oval 41">
            <a:extLst>
              <a:ext uri="{FF2B5EF4-FFF2-40B4-BE49-F238E27FC236}">
                <a16:creationId xmlns:a16="http://schemas.microsoft.com/office/drawing/2014/main" id="{A660128B-2C32-467E-8A4A-E1D554B43B11}"/>
              </a:ext>
            </a:extLst>
          </p:cNvPr>
          <p:cNvSpPr/>
          <p:nvPr/>
        </p:nvSpPr>
        <p:spPr bwMode="gray">
          <a:xfrm>
            <a:off x="4782540" y="1504391"/>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3" name="Oval 42">
            <a:extLst>
              <a:ext uri="{FF2B5EF4-FFF2-40B4-BE49-F238E27FC236}">
                <a16:creationId xmlns:a16="http://schemas.microsoft.com/office/drawing/2014/main" id="{A83231F1-059B-4DF9-A094-43E0B9DF3E76}"/>
              </a:ext>
            </a:extLst>
          </p:cNvPr>
          <p:cNvSpPr/>
          <p:nvPr/>
        </p:nvSpPr>
        <p:spPr bwMode="gray">
          <a:xfrm>
            <a:off x="4778141" y="4027557"/>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4" name="Oval 43">
            <a:extLst>
              <a:ext uri="{FF2B5EF4-FFF2-40B4-BE49-F238E27FC236}">
                <a16:creationId xmlns:a16="http://schemas.microsoft.com/office/drawing/2014/main" id="{8B92EBEF-A0AF-461C-A6EC-2A920ADC8735}"/>
              </a:ext>
            </a:extLst>
          </p:cNvPr>
          <p:cNvSpPr/>
          <p:nvPr/>
        </p:nvSpPr>
        <p:spPr bwMode="gray">
          <a:xfrm>
            <a:off x="7977331" y="2285184"/>
            <a:ext cx="283167" cy="27432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5" name="Oval 44">
            <a:extLst>
              <a:ext uri="{FF2B5EF4-FFF2-40B4-BE49-F238E27FC236}">
                <a16:creationId xmlns:a16="http://schemas.microsoft.com/office/drawing/2014/main" id="{59CA0E04-53DE-49A7-BC67-AD25E5C71057}"/>
              </a:ext>
            </a:extLst>
          </p:cNvPr>
          <p:cNvSpPr/>
          <p:nvPr/>
        </p:nvSpPr>
        <p:spPr bwMode="gray">
          <a:xfrm>
            <a:off x="4782540" y="1928568"/>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6" name="Oval 45">
            <a:extLst>
              <a:ext uri="{FF2B5EF4-FFF2-40B4-BE49-F238E27FC236}">
                <a16:creationId xmlns:a16="http://schemas.microsoft.com/office/drawing/2014/main" id="{3C50226D-9F67-46F7-B3E6-CBC122BAA2CF}"/>
              </a:ext>
            </a:extLst>
          </p:cNvPr>
          <p:cNvSpPr/>
          <p:nvPr/>
        </p:nvSpPr>
        <p:spPr bwMode="gray">
          <a:xfrm>
            <a:off x="7977332" y="1490588"/>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7" name="Oval 46">
            <a:extLst>
              <a:ext uri="{FF2B5EF4-FFF2-40B4-BE49-F238E27FC236}">
                <a16:creationId xmlns:a16="http://schemas.microsoft.com/office/drawing/2014/main" id="{FCDA7D13-4D6B-4176-96A5-D442164BAD93}"/>
              </a:ext>
            </a:extLst>
          </p:cNvPr>
          <p:cNvSpPr/>
          <p:nvPr/>
        </p:nvSpPr>
        <p:spPr bwMode="gray">
          <a:xfrm>
            <a:off x="10549650" y="1490588"/>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48" name="Oval 47">
            <a:extLst>
              <a:ext uri="{FF2B5EF4-FFF2-40B4-BE49-F238E27FC236}">
                <a16:creationId xmlns:a16="http://schemas.microsoft.com/office/drawing/2014/main" id="{8312FE09-CFB5-4E38-9244-601B5CB14797}"/>
              </a:ext>
            </a:extLst>
          </p:cNvPr>
          <p:cNvSpPr/>
          <p:nvPr/>
        </p:nvSpPr>
        <p:spPr bwMode="gray">
          <a:xfrm>
            <a:off x="4782638" y="2285184"/>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3" name="Oval 52">
            <a:extLst>
              <a:ext uri="{FF2B5EF4-FFF2-40B4-BE49-F238E27FC236}">
                <a16:creationId xmlns:a16="http://schemas.microsoft.com/office/drawing/2014/main" id="{BCAA0F40-EBF2-432D-AEE1-8C98B33DFC86}"/>
              </a:ext>
            </a:extLst>
          </p:cNvPr>
          <p:cNvSpPr/>
          <p:nvPr/>
        </p:nvSpPr>
        <p:spPr bwMode="gray">
          <a:xfrm>
            <a:off x="4782540" y="2659437"/>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4" name="Oval 53">
            <a:extLst>
              <a:ext uri="{FF2B5EF4-FFF2-40B4-BE49-F238E27FC236}">
                <a16:creationId xmlns:a16="http://schemas.microsoft.com/office/drawing/2014/main" id="{C867E6B7-C6E5-4C61-A013-29D8F1FF0043}"/>
              </a:ext>
            </a:extLst>
          </p:cNvPr>
          <p:cNvSpPr/>
          <p:nvPr/>
        </p:nvSpPr>
        <p:spPr bwMode="gray">
          <a:xfrm>
            <a:off x="4778143" y="3033691"/>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5" name="Oval 54">
            <a:extLst>
              <a:ext uri="{FF2B5EF4-FFF2-40B4-BE49-F238E27FC236}">
                <a16:creationId xmlns:a16="http://schemas.microsoft.com/office/drawing/2014/main" id="{B58770BD-6F4B-4D38-8125-555B65AAE216}"/>
              </a:ext>
            </a:extLst>
          </p:cNvPr>
          <p:cNvSpPr/>
          <p:nvPr/>
        </p:nvSpPr>
        <p:spPr bwMode="gray">
          <a:xfrm>
            <a:off x="4778142" y="3490240"/>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6" name="Oval 55">
            <a:extLst>
              <a:ext uri="{FF2B5EF4-FFF2-40B4-BE49-F238E27FC236}">
                <a16:creationId xmlns:a16="http://schemas.microsoft.com/office/drawing/2014/main" id="{96B50708-05FA-4D48-8A10-5746F6CB3B64}"/>
              </a:ext>
            </a:extLst>
          </p:cNvPr>
          <p:cNvSpPr/>
          <p:nvPr/>
        </p:nvSpPr>
        <p:spPr bwMode="gray">
          <a:xfrm>
            <a:off x="4778141" y="4534030"/>
            <a:ext cx="283167" cy="27432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7" name="Oval 56">
            <a:extLst>
              <a:ext uri="{FF2B5EF4-FFF2-40B4-BE49-F238E27FC236}">
                <a16:creationId xmlns:a16="http://schemas.microsoft.com/office/drawing/2014/main" id="{CD2688B0-EE53-4BA1-8386-8331E6B3D93F}"/>
              </a:ext>
            </a:extLst>
          </p:cNvPr>
          <p:cNvSpPr/>
          <p:nvPr/>
        </p:nvSpPr>
        <p:spPr bwMode="gray">
          <a:xfrm>
            <a:off x="1454193" y="5707127"/>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8" name="Oval 57">
            <a:extLst>
              <a:ext uri="{FF2B5EF4-FFF2-40B4-BE49-F238E27FC236}">
                <a16:creationId xmlns:a16="http://schemas.microsoft.com/office/drawing/2014/main" id="{2E8ABB58-01A2-403D-8193-6CCC1FB1A9E5}"/>
              </a:ext>
            </a:extLst>
          </p:cNvPr>
          <p:cNvSpPr/>
          <p:nvPr/>
        </p:nvSpPr>
        <p:spPr bwMode="gray">
          <a:xfrm>
            <a:off x="7977331" y="1928568"/>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9" name="Oval 58">
            <a:extLst>
              <a:ext uri="{FF2B5EF4-FFF2-40B4-BE49-F238E27FC236}">
                <a16:creationId xmlns:a16="http://schemas.microsoft.com/office/drawing/2014/main" id="{D6B4BF0D-55A8-4077-BE6C-5B21141A7CEA}"/>
              </a:ext>
            </a:extLst>
          </p:cNvPr>
          <p:cNvSpPr/>
          <p:nvPr/>
        </p:nvSpPr>
        <p:spPr bwMode="gray">
          <a:xfrm>
            <a:off x="7982079" y="2659437"/>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0" name="Oval 59">
            <a:extLst>
              <a:ext uri="{FF2B5EF4-FFF2-40B4-BE49-F238E27FC236}">
                <a16:creationId xmlns:a16="http://schemas.microsoft.com/office/drawing/2014/main" id="{05404842-41EE-4FB5-BB5F-85CB0856B950}"/>
              </a:ext>
            </a:extLst>
          </p:cNvPr>
          <p:cNvSpPr/>
          <p:nvPr/>
        </p:nvSpPr>
        <p:spPr bwMode="gray">
          <a:xfrm>
            <a:off x="7986220" y="3044263"/>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1" name="Oval 60">
            <a:extLst>
              <a:ext uri="{FF2B5EF4-FFF2-40B4-BE49-F238E27FC236}">
                <a16:creationId xmlns:a16="http://schemas.microsoft.com/office/drawing/2014/main" id="{3656ACE5-06B5-419B-86CA-E543A8F1B99D}"/>
              </a:ext>
            </a:extLst>
          </p:cNvPr>
          <p:cNvSpPr/>
          <p:nvPr/>
        </p:nvSpPr>
        <p:spPr bwMode="gray">
          <a:xfrm>
            <a:off x="7982079" y="3490240"/>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2" name="Oval 61">
            <a:extLst>
              <a:ext uri="{FF2B5EF4-FFF2-40B4-BE49-F238E27FC236}">
                <a16:creationId xmlns:a16="http://schemas.microsoft.com/office/drawing/2014/main" id="{B59CA576-3427-4337-850E-1A92B11A7A2B}"/>
              </a:ext>
            </a:extLst>
          </p:cNvPr>
          <p:cNvSpPr/>
          <p:nvPr/>
        </p:nvSpPr>
        <p:spPr bwMode="gray">
          <a:xfrm>
            <a:off x="7999762" y="4023488"/>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3" name="Oval 62">
            <a:extLst>
              <a:ext uri="{FF2B5EF4-FFF2-40B4-BE49-F238E27FC236}">
                <a16:creationId xmlns:a16="http://schemas.microsoft.com/office/drawing/2014/main" id="{4D629765-D1B1-469C-9F06-138A20925D99}"/>
              </a:ext>
            </a:extLst>
          </p:cNvPr>
          <p:cNvSpPr/>
          <p:nvPr/>
        </p:nvSpPr>
        <p:spPr bwMode="gray">
          <a:xfrm>
            <a:off x="7995971" y="4498761"/>
            <a:ext cx="283167" cy="27432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Oval 63">
            <a:extLst>
              <a:ext uri="{FF2B5EF4-FFF2-40B4-BE49-F238E27FC236}">
                <a16:creationId xmlns:a16="http://schemas.microsoft.com/office/drawing/2014/main" id="{B1412F77-357A-40BA-BF31-301BC84D6850}"/>
              </a:ext>
            </a:extLst>
          </p:cNvPr>
          <p:cNvSpPr/>
          <p:nvPr/>
        </p:nvSpPr>
        <p:spPr bwMode="gray">
          <a:xfrm>
            <a:off x="7995970" y="5075503"/>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5" name="Oval 64">
            <a:extLst>
              <a:ext uri="{FF2B5EF4-FFF2-40B4-BE49-F238E27FC236}">
                <a16:creationId xmlns:a16="http://schemas.microsoft.com/office/drawing/2014/main" id="{004FC963-4E00-4573-893D-9872866D6258}"/>
              </a:ext>
            </a:extLst>
          </p:cNvPr>
          <p:cNvSpPr/>
          <p:nvPr/>
        </p:nvSpPr>
        <p:spPr bwMode="gray">
          <a:xfrm>
            <a:off x="10549649" y="1928568"/>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6" name="Oval 65">
            <a:extLst>
              <a:ext uri="{FF2B5EF4-FFF2-40B4-BE49-F238E27FC236}">
                <a16:creationId xmlns:a16="http://schemas.microsoft.com/office/drawing/2014/main" id="{A12511E2-0EC3-4857-ACDC-5A86D58F5040}"/>
              </a:ext>
            </a:extLst>
          </p:cNvPr>
          <p:cNvSpPr/>
          <p:nvPr/>
        </p:nvSpPr>
        <p:spPr bwMode="gray">
          <a:xfrm>
            <a:off x="10542401" y="2659437"/>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7" name="Oval 66">
            <a:extLst>
              <a:ext uri="{FF2B5EF4-FFF2-40B4-BE49-F238E27FC236}">
                <a16:creationId xmlns:a16="http://schemas.microsoft.com/office/drawing/2014/main" id="{B83C20C0-F8F6-4DF7-86C7-8009EB4C6FCA}"/>
              </a:ext>
            </a:extLst>
          </p:cNvPr>
          <p:cNvSpPr/>
          <p:nvPr/>
        </p:nvSpPr>
        <p:spPr bwMode="gray">
          <a:xfrm>
            <a:off x="10549648" y="2285184"/>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8" name="Oval 67">
            <a:extLst>
              <a:ext uri="{FF2B5EF4-FFF2-40B4-BE49-F238E27FC236}">
                <a16:creationId xmlns:a16="http://schemas.microsoft.com/office/drawing/2014/main" id="{83EE698B-9490-45F3-AA58-5054486D335D}"/>
              </a:ext>
            </a:extLst>
          </p:cNvPr>
          <p:cNvSpPr/>
          <p:nvPr/>
        </p:nvSpPr>
        <p:spPr bwMode="gray">
          <a:xfrm>
            <a:off x="10549648" y="3490240"/>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9" name="Oval 68">
            <a:extLst>
              <a:ext uri="{FF2B5EF4-FFF2-40B4-BE49-F238E27FC236}">
                <a16:creationId xmlns:a16="http://schemas.microsoft.com/office/drawing/2014/main" id="{DE5059EE-E18B-4D47-BD5F-D0F580A3D3DD}"/>
              </a:ext>
            </a:extLst>
          </p:cNvPr>
          <p:cNvSpPr/>
          <p:nvPr/>
        </p:nvSpPr>
        <p:spPr bwMode="gray">
          <a:xfrm>
            <a:off x="10549648" y="4033723"/>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0" name="Oval 69">
            <a:extLst>
              <a:ext uri="{FF2B5EF4-FFF2-40B4-BE49-F238E27FC236}">
                <a16:creationId xmlns:a16="http://schemas.microsoft.com/office/drawing/2014/main" id="{5CA627D5-A0FE-46A6-9E8B-C86263F671B1}"/>
              </a:ext>
            </a:extLst>
          </p:cNvPr>
          <p:cNvSpPr/>
          <p:nvPr/>
        </p:nvSpPr>
        <p:spPr bwMode="gray">
          <a:xfrm>
            <a:off x="10542400" y="3043485"/>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4" name="Oval 73">
            <a:extLst>
              <a:ext uri="{FF2B5EF4-FFF2-40B4-BE49-F238E27FC236}">
                <a16:creationId xmlns:a16="http://schemas.microsoft.com/office/drawing/2014/main" id="{926A29A7-E633-4AAE-B52A-741790E3EF16}"/>
              </a:ext>
            </a:extLst>
          </p:cNvPr>
          <p:cNvSpPr/>
          <p:nvPr/>
        </p:nvSpPr>
        <p:spPr bwMode="gray">
          <a:xfrm>
            <a:off x="10542399" y="4543087"/>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6" name="Oval 75">
            <a:extLst>
              <a:ext uri="{FF2B5EF4-FFF2-40B4-BE49-F238E27FC236}">
                <a16:creationId xmlns:a16="http://schemas.microsoft.com/office/drawing/2014/main" id="{ACC8107A-E323-471F-A022-9A15F90C4D80}"/>
              </a:ext>
            </a:extLst>
          </p:cNvPr>
          <p:cNvSpPr/>
          <p:nvPr/>
        </p:nvSpPr>
        <p:spPr bwMode="gray">
          <a:xfrm>
            <a:off x="10549648" y="5085103"/>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4" name="Oval 33">
            <a:extLst>
              <a:ext uri="{FF2B5EF4-FFF2-40B4-BE49-F238E27FC236}">
                <a16:creationId xmlns:a16="http://schemas.microsoft.com/office/drawing/2014/main" id="{6A9F6BBB-9823-4883-BC9F-33C36FBA85B1}"/>
              </a:ext>
            </a:extLst>
          </p:cNvPr>
          <p:cNvSpPr/>
          <p:nvPr/>
        </p:nvSpPr>
        <p:spPr bwMode="gray">
          <a:xfrm>
            <a:off x="535327" y="5707127"/>
            <a:ext cx="283167" cy="274320"/>
          </a:xfrm>
          <a:prstGeom prst="ellipse">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5" name="TextBox 4">
            <a:extLst>
              <a:ext uri="{FF2B5EF4-FFF2-40B4-BE49-F238E27FC236}">
                <a16:creationId xmlns:a16="http://schemas.microsoft.com/office/drawing/2014/main" id="{1CD79A0A-EC53-4214-9608-32C558A8A2F8}"/>
              </a:ext>
            </a:extLst>
          </p:cNvPr>
          <p:cNvSpPr txBox="1"/>
          <p:nvPr/>
        </p:nvSpPr>
        <p:spPr>
          <a:xfrm>
            <a:off x="905256" y="5751954"/>
            <a:ext cx="832104"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Verdana" panose="020B0604030504040204" pitchFamily="34" charset="0"/>
                <a:ea typeface="Verdana" panose="020B0604030504040204" pitchFamily="34" charset="0"/>
              </a:rPr>
              <a:t>Yes</a:t>
            </a:r>
          </a:p>
        </p:txBody>
      </p:sp>
      <p:sp>
        <p:nvSpPr>
          <p:cNvPr id="36" name="TextBox 35">
            <a:extLst>
              <a:ext uri="{FF2B5EF4-FFF2-40B4-BE49-F238E27FC236}">
                <a16:creationId xmlns:a16="http://schemas.microsoft.com/office/drawing/2014/main" id="{250E9923-0FE4-461C-A063-F5A2B41A0294}"/>
              </a:ext>
            </a:extLst>
          </p:cNvPr>
          <p:cNvSpPr txBox="1"/>
          <p:nvPr/>
        </p:nvSpPr>
        <p:spPr>
          <a:xfrm>
            <a:off x="1870245" y="5751954"/>
            <a:ext cx="832104"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Verdana" panose="020B0604030504040204" pitchFamily="34" charset="0"/>
                <a:ea typeface="Verdana" panose="020B0604030504040204" pitchFamily="34" charset="0"/>
              </a:rPr>
              <a:t>Maybe</a:t>
            </a:r>
          </a:p>
        </p:txBody>
      </p:sp>
      <p:sp>
        <p:nvSpPr>
          <p:cNvPr id="37" name="Oval 36">
            <a:extLst>
              <a:ext uri="{FF2B5EF4-FFF2-40B4-BE49-F238E27FC236}">
                <a16:creationId xmlns:a16="http://schemas.microsoft.com/office/drawing/2014/main" id="{21B230F0-B9B4-48C5-B450-12F6EA86529A}"/>
              </a:ext>
            </a:extLst>
          </p:cNvPr>
          <p:cNvSpPr/>
          <p:nvPr/>
        </p:nvSpPr>
        <p:spPr bwMode="gray">
          <a:xfrm>
            <a:off x="4778141" y="5075503"/>
            <a:ext cx="283167" cy="274320"/>
          </a:xfrm>
          <a:prstGeom prst="ellipse">
            <a:avLst/>
          </a:prstGeom>
          <a:solidFill>
            <a:srgbClr val="ED8B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8" name="Oval 37">
            <a:extLst>
              <a:ext uri="{FF2B5EF4-FFF2-40B4-BE49-F238E27FC236}">
                <a16:creationId xmlns:a16="http://schemas.microsoft.com/office/drawing/2014/main" id="{D6A6B793-7369-4F53-A310-E8BA307B3822}"/>
              </a:ext>
            </a:extLst>
          </p:cNvPr>
          <p:cNvSpPr/>
          <p:nvPr/>
        </p:nvSpPr>
        <p:spPr bwMode="gray">
          <a:xfrm>
            <a:off x="2665154" y="5707127"/>
            <a:ext cx="283167" cy="274320"/>
          </a:xfrm>
          <a:prstGeom prst="ellipse">
            <a:avLst/>
          </a:prstGeom>
          <a:solidFill>
            <a:srgbClr val="DA291C"/>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9" name="TextBox 38">
            <a:extLst>
              <a:ext uri="{FF2B5EF4-FFF2-40B4-BE49-F238E27FC236}">
                <a16:creationId xmlns:a16="http://schemas.microsoft.com/office/drawing/2014/main" id="{24F4E26D-BE9F-4FD0-9B7F-70974C336332}"/>
              </a:ext>
            </a:extLst>
          </p:cNvPr>
          <p:cNvSpPr txBox="1"/>
          <p:nvPr/>
        </p:nvSpPr>
        <p:spPr>
          <a:xfrm>
            <a:off x="3081206" y="5762369"/>
            <a:ext cx="832104" cy="184666"/>
          </a:xfrm>
          <a:prstGeom prst="rect">
            <a:avLst/>
          </a:prstGeom>
          <a:noFill/>
        </p:spPr>
        <p:txBody>
          <a:bodyPr wrap="square" lIns="0" tIns="0" rIns="0" bIns="0" rtlCol="0">
            <a:spAutoFit/>
          </a:bodyPr>
          <a:lstStyle/>
          <a:p>
            <a:pPr>
              <a:spcBef>
                <a:spcPts val="600"/>
              </a:spcBef>
              <a:buSzPct val="100000"/>
            </a:pPr>
            <a:r>
              <a:rPr lang="en-US" sz="1200" b="1" dirty="0">
                <a:solidFill>
                  <a:srgbClr val="313131"/>
                </a:solidFill>
                <a:latin typeface="Verdana" panose="020B0604030504040204" pitchFamily="34" charset="0"/>
                <a:ea typeface="Verdana" panose="020B0604030504040204" pitchFamily="34" charset="0"/>
              </a:rPr>
              <a:t>No</a:t>
            </a:r>
          </a:p>
        </p:txBody>
      </p:sp>
    </p:spTree>
    <p:extLst>
      <p:ext uri="{BB962C8B-B14F-4D97-AF65-F5344CB8AC3E}">
        <p14:creationId xmlns:p14="http://schemas.microsoft.com/office/powerpoint/2010/main" val="119895817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xI7QwSDGFEKBDcoj1l7Sd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I7QwSDGFEKBDcoj1l7SdA"/>
</p:tagLst>
</file>

<file path=ppt/tags/tag5.xml><?xml version="1.0" encoding="utf-8"?>
<p:tagLst xmlns:a="http://schemas.openxmlformats.org/drawingml/2006/main" xmlns:r="http://schemas.openxmlformats.org/officeDocument/2006/relationships" xmlns:p="http://schemas.openxmlformats.org/presentationml/2006/main">
  <p:tag name="TEMPLAFYSLIDEID" val="637649844348926787"/>
</p:tagLst>
</file>

<file path=ppt/tags/tag6.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xI7QwSDGFEKBDcoj1l7SdA"/>
</p:tagLst>
</file>

<file path=ppt/tags/tag8.xml><?xml version="1.0" encoding="utf-8"?>
<p:tagLst xmlns:a="http://schemas.openxmlformats.org/drawingml/2006/main" xmlns:r="http://schemas.openxmlformats.org/officeDocument/2006/relationships" xmlns:p="http://schemas.openxmlformats.org/presentationml/2006/main">
  <p:tag name="TEMPLAFYSLIDEID" val="637649844348926787"/>
</p:tagLst>
</file>

<file path=ppt/tags/tag9.xml><?xml version="1.0" encoding="utf-8"?>
<p:tagLst xmlns:a="http://schemas.openxmlformats.org/drawingml/2006/main" xmlns:r="http://schemas.openxmlformats.org/officeDocument/2006/relationships" xmlns:p="http://schemas.openxmlformats.org/presentationml/2006/main">
  <p:tag name="TEMPLAFYSLIDEID" val="637649844348926787"/>
</p:tagLst>
</file>

<file path=ppt/theme/theme1.xml><?xml version="1.0" encoding="utf-8"?>
<a:theme xmlns:a="http://schemas.openxmlformats.org/drawingml/2006/main" name="1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Deloitte_UK_Onscreen">
  <a:themeElements>
    <a:clrScheme name="Deloitte colors">
      <a:dk1>
        <a:srgbClr val="000000"/>
      </a:dk1>
      <a:lt1>
        <a:srgbClr val="FFFFFF"/>
      </a:lt1>
      <a:dk2>
        <a:srgbClr val="44546A"/>
      </a:dk2>
      <a:lt2>
        <a:srgbClr val="E7E6E6"/>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solidFill>
            <a:schemeClr val="accent3"/>
          </a:solidFill>
          <a:miter lim="800000"/>
          <a:headEnd/>
          <a:tailEnd/>
        </a:ln>
      </a:spPr>
      <a:bodyPr wrap="square" lIns="88900" tIns="88900" rIns="88900" bIns="88900" rtlCol="0" anchor="ctr"/>
      <a:lstStyle>
        <a:defPPr algn="ctr">
          <a:lnSpc>
            <a:spcPct val="106000"/>
          </a:lnSpc>
          <a:buFont typeface="Wingdings 2" pitchFamily="18" charset="2"/>
          <a:buNone/>
          <a:defRPr sz="1600" b="1" noProof="0" dirty="0" err="1">
            <a:solidFill>
              <a:schemeClr val="bg1"/>
            </a:solidFill>
          </a:defRPr>
        </a:defPPr>
      </a:lstStyle>
    </a:spDef>
    <a:lnDef>
      <a:spPr>
        <a:ln>
          <a:solidFill>
            <a:srgbClr val="44546A"/>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34000" indent="-234000">
          <a:spcBef>
            <a:spcPts val="0"/>
          </a:spcBef>
          <a:spcAft>
            <a:spcPts val="1333"/>
          </a:spcAft>
          <a:buSzPct val="100000"/>
          <a:buFont typeface="Arial"/>
          <a:buChar char="•"/>
          <a:defRPr sz="1200" noProof="0" dirty="0" err="1">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 widescreen (16-9).potx" id="{D15CC715-B911-44C1-9E94-DDBA3AD356C4}" vid="{6A3836AB-5DCF-4D2F-8285-FE1EF7A8334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06B4065-8FE6-4B83-87B9-56C4A910067C}"/>
</file>

<file path=customXml/itemProps2.xml><?xml version="1.0" encoding="utf-8"?>
<ds:datastoreItem xmlns:ds="http://schemas.openxmlformats.org/officeDocument/2006/customXml" ds:itemID="{CC3EEB78-A7B5-4BD4-BC57-76E2380F8AA5}"/>
</file>

<file path=customXml/itemProps3.xml><?xml version="1.0" encoding="utf-8"?>
<ds:datastoreItem xmlns:ds="http://schemas.openxmlformats.org/officeDocument/2006/customXml" ds:itemID="{EF36B107-407E-43D1-89C4-E0688319E850}"/>
</file>

<file path=docProps/app.xml><?xml version="1.0" encoding="utf-8"?>
<Properties xmlns="http://schemas.openxmlformats.org/officeDocument/2006/extended-properties" xmlns:vt="http://schemas.openxmlformats.org/officeDocument/2006/docPropsVTypes">
  <TotalTime>3025</TotalTime>
  <Words>4959</Words>
  <Application>Microsoft Office PowerPoint</Application>
  <PresentationFormat>Widescreen</PresentationFormat>
  <Paragraphs>1048</Paragraphs>
  <Slides>18</Slides>
  <Notes>1</Notes>
  <HiddenSlides>5</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18</vt:i4>
      </vt:variant>
    </vt:vector>
  </HeadingPairs>
  <TitlesOfParts>
    <vt:vector size="27" baseType="lpstr">
      <vt:lpstr>Arial</vt:lpstr>
      <vt:lpstr>Calibri</vt:lpstr>
      <vt:lpstr>Calibri Light</vt:lpstr>
      <vt:lpstr>Verdana</vt:lpstr>
      <vt:lpstr>Wingdings</vt:lpstr>
      <vt:lpstr>Wingdings 2</vt:lpstr>
      <vt:lpstr>1_Deloitte Brand Theme</vt:lpstr>
      <vt:lpstr>Deloitte_UK_Onscreen</vt:lpstr>
      <vt:lpstr>think-cell Slide</vt:lpstr>
      <vt:lpstr>PowerPoint Presentation</vt:lpstr>
      <vt:lpstr>PowerPoint Presentation</vt:lpstr>
      <vt:lpstr>PowerPoint Presentation</vt:lpstr>
      <vt:lpstr>Competitive Bidding/Plug &amp; Play Model/OPEX (1/4)</vt:lpstr>
      <vt:lpstr>Competitive Bidding/Plug &amp; Play Model/OPEX (2/4) </vt:lpstr>
      <vt:lpstr>Competitive Bidding/Plug &amp; Play Model/OPEX (3/4) </vt:lpstr>
      <vt:lpstr>Competitive Bidding/Plug &amp; Play Model/OPEX (4/4)</vt:lpstr>
      <vt:lpstr>PowerPoint Presentation</vt:lpstr>
      <vt:lpstr>PowerPoint Presentation</vt:lpstr>
      <vt:lpstr>PowerPoint Presentation</vt:lpstr>
      <vt:lpstr>PowerPoint Presentation</vt:lpstr>
      <vt:lpstr>PowerPoint Presentation</vt:lpstr>
      <vt:lpstr>PowerPoint Presentation</vt:lpstr>
      <vt:lpstr>Competitive Bidding/Plug &amp; Play Model/OPEX (2/2)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Chatterjee, Rishi</dc:creator>
  <cp:lastModifiedBy>Mallick, Tanudeep</cp:lastModifiedBy>
  <cp:revision>212</cp:revision>
  <dcterms:created xsi:type="dcterms:W3CDTF">2021-11-02T04:16:36Z</dcterms:created>
  <dcterms:modified xsi:type="dcterms:W3CDTF">2022-09-20T04:38:09Z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2021-11-02T04:16:36Z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5be03e39-3e69-42e0-8008-7f1a1131fdc9</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